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28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Accounting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Ratios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four-stage journey from financial statements to executive recommendation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645920" cy="640080"/>
          </a:xfrm>
          <a:prstGeom prst="rect">
            <a:avLst/>
          </a:prstGeom>
          <a:solidFill>
            <a:srgbClr val="36454F"/>
          </a:solidFill>
          <a:ln w="635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3749040"/>
            <a:ext cx="1645920" cy="640080"/>
          </a:xfrm>
          <a:prstGeom prst="rect">
            <a:avLst/>
          </a:prstGeom>
          <a:solidFill>
            <a:srgbClr val="36454F"/>
          </a:solidFill>
          <a:ln w="635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748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749040"/>
            <a:ext cx="1645920" cy="640080"/>
          </a:xfrm>
          <a:prstGeom prst="rect">
            <a:avLst/>
          </a:prstGeom>
          <a:solidFill>
            <a:srgbClr val="36454F"/>
          </a:solidFill>
          <a:ln w="635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3749040"/>
            <a:ext cx="1645920" cy="640080"/>
          </a:xfrm>
          <a:prstGeom prst="rect">
            <a:avLst/>
          </a:prstGeom>
          <a:solidFill>
            <a:srgbClr val="B8975C"/>
          </a:solidFill>
          <a:ln w="635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 W. Stauffer  |  Shidler College of Business  |  University of Hawaiʻi at Mānoa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This Project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analysis is how professionals diagnose a company’s financial health. This project teaches you to pull data from real 10-K filings and convert it into actionable insights for the CFO.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9659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workflow mirrors what FP&amp;A analysts, equity researchers, and auditors actually do when evaluating public companies.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Fluency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learn to write machine-readable prompts that regenerate your model — a core competency in modern corporate finance.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Artifact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703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four-stage deliverable you can show in interviews: memo, model, spec, and AI-powered executive recommendation.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6454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“Incomplete understanding is normal. Playing with AI tools is more than half the battle. We’re all figuring this out together.”</a:t>
            </a:r>
            <a:r>
              <a:rPr lang="en-US" sz="11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— Instructor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Overview — Four Stages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 →  DOCUMENT  →  ANALYZE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874520" cy="5029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Memo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286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 the problem: identify the company, explain why ratio analysis matters, and preview your analytical approach for the CFO.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1-page .md memo committed to GitHub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13258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88920" y="1325880"/>
            <a:ext cx="1874520" cy="5029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0360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9864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 Model 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2286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working spreadsheet with financial statement data, 25+ ratios across 6 categories, named ranges, and color-coded cells.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98648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.xlsx workbook with inputs, formulas, outputs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325880"/>
            <a:ext cx="1874520" cy="5029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Spec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2286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what you built and articulate an improved design — precise enough for another analyst or an AI to reconstruct.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2–3 page .md specification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325880"/>
            <a:ext cx="1874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03720" y="1325880"/>
            <a:ext cx="1874520" cy="5029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1344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1344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Analysis + AI Prompt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13448" y="2286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 ratios, write a structured AI prompt to regenerate your model, and deliver strategic recommendations.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13448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2–4 page .md final deliverable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 — Executive Memo  |  4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 Write a 300–400 word memo to your CFO using _templates/template-decision-memo.md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the company, industry, one-sentence business description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Ratio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ratios reveal that raw financial statements alone do not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Ratio Categories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Performance, Profitability, Efficiency, Leverage, Liquidity, Du Pont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 EDGAR 10-K, Yahoo Finance, company investor relations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Preview Stages 2–4 so the CFO sees the full analytical plan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Deliverable: lastname-first-stage1-memo.md  |  Commit to GitHub  |  Save to docs/decisions/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 — Excel Model Build  |  6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 Build a working Excel model using your assigned scenario workbook and the template from Lamaku.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4864" cy="109728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Statements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 (current + prior year), Income Statement, Cash Flow Statement with named ranges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54864" cy="109728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25+ Ratios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Performance, Profitability, Efficiency, Leverage, Liquidity, Du Pont decomposition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54864" cy="109728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Ranges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063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BAL_, INC_, CASH_, RATIO_ prefixes — standardized for auditability and AI prompts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2651760"/>
            <a:ext cx="54864" cy="109728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Sensitivity &amp; Checks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063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 Pont cross-check, Balance Sheet balance, formula consistency verification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1874520" cy="320040"/>
          </a:xfrm>
          <a:prstGeom prst="rect">
            <a:avLst/>
          </a:prstGeom>
          <a:solidFill>
            <a:srgbClr val="FF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Yellow = Inputs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4251960"/>
            <a:ext cx="1874520" cy="320040"/>
          </a:xfrm>
          <a:prstGeom prst="rect">
            <a:avLst/>
          </a:prstGeom>
          <a:solidFill>
            <a:srgbClr val="BDD7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889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 = Assumptions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4251960"/>
            <a:ext cx="1874520" cy="320040"/>
          </a:xfrm>
          <a:prstGeom prst="rect">
            <a:avLst/>
          </a:prstGeom>
          <a:solidFill>
            <a:srgbClr val="C6EF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= Formulas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4251960"/>
            <a:ext cx="1874520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 = Outputs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 — Technical Specification  |  4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 Using _templates/template-spec.md, produce a 2–3 page spec another analyst or AI could use to rebuild your model.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Company, fiscal year, analytical objective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Inputs (Named Variables)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variable: name, value, unit, source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Assumptions &amp; Constraints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Rate basis, data simplifications, exclusions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Calculation 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Step-by-step logic for each ratio category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Tables, charts, and summary sections expected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worked, what to improve next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54864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What’s excluded; how this feeds Stage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Rubric (4 pts):  Clarity &amp; Professionalism  |  Analytical Logic  |  Completeness  |  Reproducibility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 — Final Analysis + AI Prompt  |  10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 Deliver a polished executive memo with strategic recommendations, plus a structured AI prompt that could regenerate your model.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 Sections (A–E)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1848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 &amp; Data Summary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Results by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2423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Interpretation &amp; Key Findings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5292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 Pont Decomposition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64408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F — AI Prompt (Required)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financial data explicitly stated (no inferring)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ranges matching BAL_, INC_, CASH_ conventions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 coding: Yellow / Blue / Green / Gray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Hierarchical headers: # GOAL → # DATA → # RATIOS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6 ratio categories + Du Pont decomposition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Verification: BS balance, Du Pont cross-check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Rubric: Interpretation 2 | Recommendation 2 | Du Pont 1 | AI Prompt 2 | Communication 1 | Output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 EC  Discuss AI Automation, Multi-File Reasoning, GitHub audit trails, or Accounting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Analyst-to-Automation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97280" cy="1097280"/>
          </a:xfrm>
          <a:prstGeom prst="ellipse">
            <a:avLst/>
          </a:prstGeom>
          <a:solidFill>
            <a:srgbClr val="36454F"/>
          </a:solidFill>
          <a:ln w="635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097280" cy="1097280"/>
          </a:xfrm>
          <a:prstGeom prst="ellipse">
            <a:avLst/>
          </a:prstGeom>
          <a:solidFill>
            <a:srgbClr val="36454F"/>
          </a:solidFill>
          <a:ln w="635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317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06240" y="1280160"/>
            <a:ext cx="1097280" cy="1097280"/>
          </a:xfrm>
          <a:prstGeom prst="ellipse">
            <a:avLst/>
          </a:prstGeom>
          <a:solidFill>
            <a:srgbClr val="36454F"/>
          </a:solidFill>
          <a:ln w="635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90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1280160"/>
            <a:ext cx="1097280" cy="1097280"/>
          </a:xfrm>
          <a:prstGeom prst="ellipse">
            <a:avLst/>
          </a:prstGeom>
          <a:solidFill>
            <a:srgbClr val="36454F"/>
          </a:solidFill>
          <a:ln w="635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Prompt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&amp;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80960" y="1280160"/>
            <a:ext cx="1097280" cy="1097280"/>
          </a:xfrm>
          <a:prstGeom prst="ellipse">
            <a:avLst/>
          </a:prstGeom>
          <a:solidFill>
            <a:srgbClr val="B8975C"/>
          </a:solidFill>
          <a:ln w="635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1417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438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017520"/>
            <a:ext cx="2468880" cy="16459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3017520"/>
            <a:ext cx="246888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First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the model before writing the spec gives you real knowledge of which inputs matter most.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017520"/>
            <a:ext cx="2468880" cy="16459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0" y="3017520"/>
            <a:ext cx="246888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 After Build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118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Post-build specs are more precise because you know where judgment calls were required.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017520"/>
            <a:ext cx="2468880" cy="16459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3017520"/>
            <a:ext cx="246888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= Machine Instructions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3474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spec’s named ranges and calculation flow translate directly into an AI-executable prompt.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Assigned Scenario — U.S. Public Companies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student is assigned one of five company scenarios with pre-populated financial statement data from the most recent 10-K filing.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AAPL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Apple Inc.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4884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4884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4884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MSFT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4028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Corp.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&amp; Cloud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4028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4028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4028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4028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WMT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3192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Walmart Inc.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3192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3192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3192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3212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53212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3212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XOM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3212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2356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Exxon Mobil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2356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Energy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2356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2356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2356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23760" y="13716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223760" y="1371600"/>
            <a:ext cx="1508760" cy="5943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23760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23760" y="1737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FY2024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Caterpillar Inc.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1520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Sheet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 years)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 Statement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0" y="3291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Ratios (blank)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rates, prices, and quotes as of market close on the day you begin Stage 2. Record date and source.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— Version Control Is a Professional Skill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to Save Deliverables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 Memo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docs/decisions/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 Excel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docs/templates/excel/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 Spec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docs/specs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 Final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docs/ or project root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Workflow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5389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453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.md file from template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86537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in recommended directory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7685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add &lt;file&gt;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8833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commit -m 'Stage X deliverable'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09981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511296"/>
            <a:ext cx="256032" cy="256032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file is visible on GitHub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6454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control is not just submission — it is a core professional skill practiced throughout this project.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Use Policy + Prompt Engineering Best Practices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Is Encouraged — With Accountability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Clarify theory or extend readings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73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Gather data, statistics, examples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020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arguments with counterarguments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368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 scenarios, brainstorm responses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Practice clear communication in prompts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  </a:t>
            </a: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 ALL AI use in your Prompt 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  </a:t>
            </a: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outputs against trusted sources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!  </a:t>
            </a:r>
            <a:r>
              <a:rPr lang="en-US" sz="10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supplements — not replaces — your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Rules for Great AI Prompts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34416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307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specific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 every financial line item. AI does not infer missing data.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98424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0" y="1947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named ranges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let AI invent its own naming convention.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62432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# GOAL → # DATA → # RATIOS → # VERIFY as headers.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26440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3227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 formatting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 codes, sections, layout — be explicit.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904488"/>
            <a:ext cx="256032" cy="256032"/>
          </a:xfrm>
          <a:prstGeom prst="ellips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3867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context files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links to your spec are the most efficient approach.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Career Relevance — Where This Gets 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skills built in this project appear directly in job descriptions for these roles: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5146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FP&amp;A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trend analysis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benchmarking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variance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280160"/>
            <a:ext cx="25146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 Finance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structure optimization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Liquidity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Investor relations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25146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 Banking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Comparable company analysis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Credit analysis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Valuation multiples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374904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Accounting &amp; Audit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Analytical procedures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controls evaluation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statement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310896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20440" y="3108960"/>
            <a:ext cx="374904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&amp; AI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5661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Spec-to-prompt pipelines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version control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AI-assisted modeling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a portfolio-ready artifact for internships, jobs, and graduate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Let’s Begin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goal isn’t perfection — it’s exploration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3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Experiment with prompts, iterate on your spec, ask AI for help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3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 every deliverable to GitHub — version control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3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We’re all learning in real-time. Your uncertainty is shared by everyone.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Shidler College of Business  |  University of Hawaiʻi at Mānoa  |  adamstau@hawaii.edu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&amp; AI Tools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Guide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you need to create a GitHub account, install Git,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 your work, and use AI tools for this project.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0040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GitHub &amp; Why Does It Matter?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is a cloud platform for version control. Think of it as Google Docs for code and documents — every change is tracked, reversible, and visible to your instructor.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History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save (commit) is permanent. You can always go back to a previous version if something breaks.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Artifact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GitHub profile becomes a professional portfolio. Employers and grad schools check GitHub.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Submission &amp; Grading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stage deliverables are submitted by committing to GitHub. Your commit history IS your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GitHub Account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to github.com and click Sign 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your @hawaii.edu email (gets free GitHub Pro)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a professional username (e.g., firstname-lastname)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your email address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your GitHub username with the instructor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280160"/>
            <a:ext cx="31089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46304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1264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Tips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15000" y="192024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Username matters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Employers see it. Avoid gamer tags or joke names.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Student Developer Pack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education.github.com — free Pro features, Copilot access, and more with your .edu email.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Profile photo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Optional but professional. Headshot or avatar helps your instructor identify you.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Git on Your Computer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is the software that tracks changes. GitHub is the website that hosts your repository. You need both.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git-scm.com/download/win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installer — accept all defaults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Git Bash (installed automatically)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  to confirm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Terminal (Applications → Utilities)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not installed, macOS will prompt you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 Install to add Xcode Command Line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30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Setup (run these two commands once):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6304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"your@hawaii.edu"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Clone the Repository &amp; Open 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Cloning downloads a full copy of the project to your computer. You only do this once.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the clone URL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the repository page, click the green Code button → copy the HTTPS URL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your terminal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Bash (Windows) or Terminal (Mac). Navigate to where you want the folder.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clone command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273552"/>
            <a:ext cx="6858000" cy="27432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https://github.com/instructor/repo-name.git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in your editor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new folder in VS Code, or your preferred text editor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solidFill>
            <a:srgbClr val="EBF5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cloning, run  cd repo-name  to enter the project folder before doing anything else.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4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Git Workflow: Add, Commit, Push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three commands are all you need. Run them every time you finish work on a deliverable.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Tells Git which files to include in the next save. The dot means all changed files.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48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18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"Stage 1 memo"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 permanent snapshot with a descriptive message. This is your save point.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780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Uploads your commits to GitHub so they are visible online and to your instructor.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315968"/>
            <a:ext cx="7680960" cy="457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Prefer a Visual Interface? Use GitHub Desktop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Desktop is a free app that does the same thing as the command line but with buttons instead of typing. Either approach is fine for this course.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&amp; Connect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desktop.github.com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 in with your GitHub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06324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→ Clone Repository → paste URL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where to save on your computer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463040"/>
            <a:ext cx="34747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Workflow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205740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Changes tab  </a:t>
            </a:r>
            <a:r>
              <a:rPr lang="en-US" sz="1100" dirty="0">
                <a:solidFill>
                  <a:srgbClr val="5A6B7A"/>
                </a:solidFill>
              </a:rPr>
              <a:t>— shows modified files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256032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Summary box  </a:t>
            </a:r>
            <a:r>
              <a:rPr lang="en-US" sz="1100" dirty="0">
                <a:solidFill>
                  <a:srgbClr val="5A6B7A"/>
                </a:solidFill>
              </a:rPr>
              <a:t>— type your commit message (e.g., "Stage 2 Excel model")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06324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Commit button  </a:t>
            </a:r>
            <a:r>
              <a:rPr lang="en-US" sz="1100" dirty="0">
                <a:solidFill>
                  <a:srgbClr val="5A6B7A"/>
                </a:solidFill>
              </a:rPr>
              <a:t>— saves the snapshot locally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356616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Push Origin  </a:t>
            </a:r>
            <a:r>
              <a:rPr lang="en-US" sz="1100" dirty="0">
                <a:solidFill>
                  <a:srgbClr val="5A6B7A"/>
                </a:solidFill>
              </a:rPr>
              <a:t>— uploads to GitHub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to Save Each Deliverable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your files in the right directory, then commit and push. The file naming convention is shown below.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Deliverable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File Name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Directory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Executive Memo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lastname-stage1-memo.md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docs/decisions/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Excel Model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lastname-stage2-model.xlsx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docs/templates/excel/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Technical Spec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lastname-stage3-spec.md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Final Analysis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lastname-stage4-final.md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9BA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 Log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prompt-log.md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deliverables/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96012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submitting Stage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docs/decisions/stauffer-stage1-memo.md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"Stage 1: executive memo for AAPL ratio analysis"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 Git Mistakes &amp; How to Fix Them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978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"Everything up-to-date" but nothing pushed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forgot  git add  before committing.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add .  then  git commit  then  git push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"fatal: not a git repository"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terminal is not inside the project folder.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719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cd repo-name  to navigate into the cloned folder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86584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Accidentally edited the wrong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worries — Git tracks everything.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4323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checkout -- filename  reverts to last commit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"rejected — failed to push"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Someone (or you on another device) pushed first.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145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pull  then  git push  to sync and re-upload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13048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831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Forgot to write a commit message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105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text editor opened and you're stuck.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Type your message, then press Esc, type  :wq  and press Enter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AI Tools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GitHub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use ChatGPT and Claude as analytical partners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your ratio analysis project.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01752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ChatGPT for This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chatgpt.com  |  Free tier is sufficient. GPT-4o is recommended if you have Plus.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ChatGPT Does Well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Explaining ratio formulas and what they mean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Drafting memo language and executive summaries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Generating Excel formulas from plain English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Reviewing your spec for clarity and completeness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structured AI prompts (Stage 4)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Brainstorming strategic recommendations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0" y="1280160"/>
            <a:ext cx="34747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173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206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can invent financial data that looks real but isn't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206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formulas may be subtly wrong — always verify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1206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doesn't know YOUR company's specific numbers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1206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range conventions must be given to it explicitly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206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paste sensitive personal data into prompts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Claude for This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claude.ai  |  Free tier available. Pro gives extended thinking and longer conversations.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Strengths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Longer context window — paste entire specs or data 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at structured document generation (memos, specs)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32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Careful reasoning for multi-step ratio calculations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read uploaded files (PDF, Excel, images)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Claude with 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Paste your GitHub file links as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 Claude to generate Markdown for your memos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432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your .xlsx and ask for ratio verification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Claude to draft your Stage 4 AI prompt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7680960" cy="10058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188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Prompt for Stage 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3931920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"I'm writing a 300-400 word executive memo for my CFO about Apple Inc. (AAPL). The memo should cover: why ratio analysis matters, the six ratio categories (Performance, Profitability, Efficiency, Leverage, Liquidity, Du Pont), and a preview of my analytical plan. Use professional finance language."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Patterns That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these templates as starting points. Adapt them to your company and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 It a Role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r>
              <a:rPr lang="en-US" sz="1000" i="1" dirty="0">
                <a:solidFill>
                  <a:srgbClr val="8A9BAD"/>
                </a:solidFill>
              </a:rPr>
              <a:t>"Help me with ratios"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r>
              <a:rPr lang="en-US" sz="1000" dirty="0">
                <a:solidFill>
                  <a:srgbClr val="5A6B7A"/>
                </a:solidFill>
              </a:rPr>
              <a:t>"You are an FP&amp;A analyst at Apple. Calculate the current ratio from these balance sheet figures..."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the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r>
              <a:rPr lang="en-US" sz="1000" i="1" dirty="0">
                <a:solidFill>
                  <a:srgbClr val="8A9BAD"/>
                </a:solidFill>
              </a:rPr>
              <a:t>"What is AAPL's ROE?"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r>
              <a:rPr lang="en-US" sz="1000" dirty="0">
                <a:solidFill>
                  <a:srgbClr val="5A6B7A"/>
                </a:solidFill>
              </a:rPr>
              <a:t>"Net Income: $93.7B. Shareholder Equity: $56.9B. Calculate ROE and explain what it means for Apple."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2907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 the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r>
              <a:rPr lang="en-US" sz="1000" i="1" dirty="0">
                <a:solidFill>
                  <a:srgbClr val="8A9BAD"/>
                </a:solidFill>
              </a:rPr>
              <a:t>"Analyze these ratios"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r>
              <a:rPr lang="en-US" sz="1000" dirty="0">
                <a:solidFill>
                  <a:srgbClr val="5A6B7A"/>
                </a:solidFill>
              </a:rPr>
              <a:t>"Present results in a Markdown table with columns: Ratio Name, Formula, Value, Interpretation. Use 2 decimal places."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Verification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r>
              <a:rPr lang="en-US" sz="1000" i="1" dirty="0">
                <a:solidFill>
                  <a:srgbClr val="8A9BAD"/>
                </a:solidFill>
              </a:rPr>
              <a:t>"Is this right?"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3749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r>
              <a:rPr lang="en-US" sz="1000" dirty="0">
                <a:solidFill>
                  <a:srgbClr val="5A6B7A"/>
                </a:solidFill>
              </a:rPr>
              <a:t>"Cross-check: ROE should equal Profit Margin × Asset Turnover × Equity Multiplier via Du Pont. Show the math."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Putting It All Together: AI + GitHub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to draft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 or spec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2024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19456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188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28600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Revise in your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editor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93192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188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2336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02336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the .md or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.xlsx file locally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39496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66928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88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add + commit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clear message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13232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40664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1887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49808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push to upload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GitHub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31520" y="3200400"/>
            <a:ext cx="76809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31520" y="3200400"/>
            <a:ext cx="54864" cy="123444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32918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716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Don’t Forget Your Prompt Log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960120" y="3657600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Every meaningful AI interaction should be logged in </a:t>
            </a:r>
            <a:r>
              <a:rPr lang="en-US" sz="1100" b="1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deliverables/prompt-log.md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For each entry, record: 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530"/>
                </a:solidFill>
              </a:rPr>
              <a:t>the prompt you used</a:t>
            </a:r>
            <a:r>
              <a:rPr lang="en-US" sz="1100" dirty="0">
                <a:solidFill>
                  <a:srgbClr val="5A6B7A"/>
                </a:solidFill>
              </a:rPr>
              <a:t>, </a:t>
            </a:r>
            <a:r>
              <a:rPr lang="en-US" sz="1100" b="1" dirty="0">
                <a:solidFill>
                  <a:srgbClr val="1E2530"/>
                </a:solidFill>
              </a:rPr>
              <a:t>the key output</a:t>
            </a:r>
            <a:r>
              <a:rPr lang="en-US" sz="1100" dirty="0">
                <a:solidFill>
                  <a:srgbClr val="5A6B7A"/>
                </a:solidFill>
              </a:rPr>
              <a:t>, and </a:t>
            </a:r>
            <a:r>
              <a:rPr lang="en-US" sz="1100" b="1" dirty="0">
                <a:solidFill>
                  <a:srgbClr val="1E2530"/>
                </a:solidFill>
              </a:rPr>
              <a:t>whether you used/modified/rejected it</a:t>
            </a:r>
            <a:r>
              <a:rPr lang="en-US" sz="1100" dirty="0">
                <a:solidFill>
                  <a:srgbClr val="5A6B7A"/>
                </a:solidFill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Reference Cheat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Commands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repository for the first 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what files have changed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57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59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all changes for commit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596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a snapshot with a message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commits to GitHub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latest changes from GitHub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commit history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868680"/>
            <a:ext cx="18288" cy="347472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Useful Links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account &amp; view repositories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desktop.github.com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Desktop (visual Git client)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157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chatgpt.com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359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 (OpenAI)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596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(Anthropic)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035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education.github.com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36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Developer Pack (free Pro)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code.visualstudio.com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(free text editor)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git-scm.com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Git download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Shidler College of Business  |  University of Hawaiʻi at Mānoa  |  adamstau@hawaii.edu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4284</TotalTime>
  <Words>3328</Words>
  <Application>Microsoft Office PowerPoint</Application>
  <PresentationFormat>On-screen Show (16:9)</PresentationFormat>
  <Paragraphs>557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Consolas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BUS-314 Accounting &amp; Performance Ratios — AI-Powered Project</dc:title>
  <dc:subject>PptxGenJS Presentation</dc:subject>
  <dc:creator>Adam W. Stauffer</dc:creator>
  <cp:lastModifiedBy>Adam Stauffer</cp:lastModifiedBy>
  <cp:revision>3</cp:revision>
  <dcterms:created xsi:type="dcterms:W3CDTF">2026-03-25T18:57:12Z</dcterms:created>
  <dcterms:modified xsi:type="dcterms:W3CDTF">2026-04-01T17:51:30Z</dcterms:modified>
</cp:coreProperties>
</file>
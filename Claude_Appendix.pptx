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7.xml" ContentType="application/vnd.openxmlformats-officedocument.presentationml.slide+xml"/>
  <Override PartName="/ppt/slides/slide18.xml" ContentType="application/vnd.openxmlformats-officedocument.presentationml.slide+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71" r:id="rId5"/>
    <p:sldId id="259" r:id="rId6"/>
    <p:sldId id="260" r:id="rId7"/>
    <p:sldId id="261" r:id="rId8"/>
    <p:sldId id="262" r:id="rId9"/>
    <p:sldId id="263" r:id="rId10"/>
    <p:sldId id="264" r:id="rId11"/>
    <p:sldId id="265" r:id="rId12"/>
    <p:sldId id="266" r:id="rId13"/>
    <p:sldId id="267" r:id="rId14"/>
    <p:sldId id="268" r:id="rId15"/>
    <p:sldId id="269" r:id="rId16"/>
    <p:sldId id="272" r:id="rId23"/>
    <p:sldId id="273" r:id="rId24"/>
    <p:sldId id="270"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1" d="100"/>
          <a:sy n="131" d="100"/>
        </p:scale>
        <p:origin x="428" y="30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 Id="rId23" Type="http://schemas.openxmlformats.org/officeDocument/2006/relationships/slide" Target="slides/slide17.xml"/><Relationship Id="rId24" Type="http://schemas.openxmlformats.org/officeDocument/2006/relationships/slide" Target="slides/slide18.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6384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3"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530"/>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Text 1"/>
          <p:cNvSpPr/>
          <p:nvPr/>
        </p:nvSpPr>
        <p:spPr>
          <a:xfrm>
            <a:off x="731520" y="548640"/>
            <a:ext cx="7680960" cy="365760"/>
          </a:xfrm>
          <a:prstGeom prst="rect">
            <a:avLst/>
          </a:prstGeom>
          <a:noFill/>
          <a:ln/>
        </p:spPr>
        <p:txBody>
          <a:bodyPr wrap="square" lIns="0" tIns="0" rIns="0" bIns="0" rtlCol="0" anchor="ctr"/>
          <a:lstStyle/>
          <a:p>
            <a:pPr marL="0" indent="0">
              <a:buNone/>
            </a:pPr>
            <a:r>
              <a:rPr lang="en-US" sz="1400" b="1" kern="0" spc="600" dirty="0">
                <a:solidFill>
                  <a:srgbClr val="B8975C"/>
                </a:solidFill>
                <a:latin typeface="Open Sans" pitchFamily="34" charset="0"/>
                <a:ea typeface="Open Sans" pitchFamily="34" charset="-122"/>
                <a:cs typeface="Open Sans" pitchFamily="34" charset="-120"/>
              </a:rPr>
              <a:t>APPENDIX</a:t>
            </a:r>
            <a:endParaRPr lang="en-US" sz="1400" dirty="0"/>
          </a:p>
        </p:txBody>
      </p:sp>
      <p:sp>
        <p:nvSpPr>
          <p:cNvPr id="4" name="Text 2"/>
          <p:cNvSpPr/>
          <p:nvPr/>
        </p:nvSpPr>
        <p:spPr>
          <a:xfrm>
            <a:off x="731520" y="1097280"/>
            <a:ext cx="7680960" cy="1828800"/>
          </a:xfrm>
          <a:prstGeom prst="rect">
            <a:avLst/>
          </a:prstGeom>
          <a:noFill/>
          <a:ln/>
        </p:spPr>
        <p:txBody>
          <a:bodyPr wrap="square" lIns="0" tIns="0" rIns="0" bIns="0" rtlCol="0" anchor="ctr"/>
          <a:lstStyle/>
          <a:p>
            <a:pPr marL="0" indent="0">
              <a:lnSpc>
                <a:spcPct val="110000"/>
              </a:lnSpc>
              <a:buNone/>
            </a:pPr>
            <a:r>
              <a:rPr lang="en-US" sz="4000" b="1" dirty="0">
                <a:solidFill>
                  <a:srgbClr val="FFFFFF"/>
                </a:solidFill>
                <a:latin typeface="Open Sans" pitchFamily="34" charset="0"/>
                <a:ea typeface="Open Sans" pitchFamily="34" charset="-122"/>
                <a:cs typeface="Open Sans" pitchFamily="34" charset="-120"/>
              </a:rPr>
              <a:t>Using Claude</a:t>
            </a:r>
            <a:endParaRPr lang="en-US" sz="4000" dirty="0"/>
          </a:p>
          <a:p>
            <a:pPr marL="0" indent="0">
              <a:lnSpc>
                <a:spcPct val="110000"/>
              </a:lnSpc>
              <a:buNone/>
            </a:pPr>
            <a:r>
              <a:rPr lang="en-US" sz="4000" b="1" dirty="0">
                <a:solidFill>
                  <a:srgbClr val="FFFFFF"/>
                </a:solidFill>
                <a:latin typeface="Open Sans" pitchFamily="34" charset="0"/>
                <a:ea typeface="Open Sans" pitchFamily="34" charset="-122"/>
                <a:cs typeface="Open Sans" pitchFamily="34" charset="-120"/>
              </a:rPr>
              <a:t>for Your Project</a:t>
            </a:r>
            <a:endParaRPr lang="en-US" sz="4000" dirty="0"/>
          </a:p>
        </p:txBody>
      </p:sp>
      <p:sp>
        <p:nvSpPr>
          <p:cNvPr id="5" name="Shape 3"/>
          <p:cNvSpPr/>
          <p:nvPr/>
        </p:nvSpPr>
        <p:spPr>
          <a:xfrm>
            <a:off x="731520" y="3108960"/>
            <a:ext cx="1828800" cy="36576"/>
          </a:xfrm>
          <a:prstGeom prst="rect">
            <a:avLst/>
          </a:prstGeom>
          <a:solidFill>
            <a:srgbClr val="B8975C"/>
          </a:solidFill>
          <a:ln/>
        </p:spPr>
        <p:txBody>
          <a:bodyPr/>
          <a:lstStyle/>
          <a:p>
            <a:endParaRPr lang="en-US"/>
          </a:p>
        </p:txBody>
      </p:sp>
      <p:sp>
        <p:nvSpPr>
          <p:cNvPr id="6" name="Text 4"/>
          <p:cNvSpPr/>
          <p:nvPr/>
        </p:nvSpPr>
        <p:spPr>
          <a:xfrm>
            <a:off x="731520" y="3337560"/>
            <a:ext cx="6400800" cy="731520"/>
          </a:xfrm>
          <a:prstGeom prst="rect">
            <a:avLst/>
          </a:prstGeom>
          <a:noFill/>
          <a:ln/>
        </p:spPr>
        <p:txBody>
          <a:bodyPr wrap="square" lIns="0" tIns="0" rIns="0" bIns="0" rtlCol="0" anchor="ctr"/>
          <a:lstStyle/>
          <a:p>
            <a:pPr marL="0" indent="0">
              <a:lnSpc>
                <a:spcPct val="140000"/>
              </a:lnSpc>
              <a:buNone/>
            </a:pPr>
            <a:r>
              <a:rPr lang="en-US" sz="1400" dirty="0">
                <a:solidFill>
                  <a:srgbClr val="8A9BAD"/>
                </a:solidFill>
                <a:latin typeface="Open Sans" pitchFamily="34" charset="0"/>
                <a:ea typeface="Open Sans" pitchFamily="34" charset="-122"/>
                <a:cs typeface="Open Sans" pitchFamily="34" charset="-120"/>
              </a:rPr>
              <a:t>A standalone guide to Claude — on the web, in the app,</a:t>
            </a:r>
            <a:endParaRPr lang="en-US" sz="1400" dirty="0"/>
          </a:p>
          <a:p>
            <a:pPr marL="0" indent="0">
              <a:lnSpc>
                <a:spcPct val="140000"/>
              </a:lnSpc>
              <a:buNone/>
            </a:pPr>
            <a:r>
              <a:rPr lang="en-US" sz="1400" dirty="0">
                <a:solidFill>
                  <a:srgbClr val="8A9BAD"/>
                </a:solidFill>
                <a:latin typeface="Open Sans" pitchFamily="34" charset="0"/>
                <a:ea typeface="Open Sans" pitchFamily="34" charset="-122"/>
                <a:cs typeface="Open Sans" pitchFamily="34" charset="-120"/>
              </a:rPr>
              <a:t>and in your terminal. No prior AI experience required.</a:t>
            </a:r>
            <a:endParaRPr lang="en-US" sz="1400" dirty="0"/>
          </a:p>
        </p:txBody>
      </p:sp>
      <p:pic>
        <p:nvPicPr>
          <p:cNvPr id="7" name="Image 0" descr="preencoded.png"/>
          <p:cNvPicPr>
            <a:picLocks noChangeAspect="1"/>
          </p:cNvPicPr>
          <p:nvPr/>
        </p:nvPicPr>
        <p:blipFill>
          <a:blip r:embed="rId3"/>
          <a:stretch>
            <a:fillRect/>
          </a:stretch>
        </p:blipFill>
        <p:spPr>
          <a:xfrm>
            <a:off x="7132320" y="3200400"/>
            <a:ext cx="1097280" cy="1097280"/>
          </a:xfrm>
          <a:prstGeom prst="rect">
            <a:avLst/>
          </a:prstGeom>
        </p:spPr>
      </p:pic>
      <p:sp>
        <p:nvSpPr>
          <p:cNvPr id="8" name="Text 5"/>
          <p:cNvSpPr/>
          <p:nvPr/>
        </p:nvSpPr>
        <p:spPr>
          <a:xfrm>
            <a:off x="457200" y="4663440"/>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What Is Claude?</a:t>
            </a:r>
            <a:endParaRPr lang="en-US" sz="2800" dirty="0"/>
          </a:p>
        </p:txBody>
      </p:sp>
      <p:sp>
        <p:nvSpPr>
          <p:cNvPr id="6" name="Text 4"/>
          <p:cNvSpPr/>
          <p:nvPr/>
        </p:nvSpPr>
        <p:spPr>
          <a:xfrm>
            <a:off x="731520" y="868680"/>
            <a:ext cx="7680960" cy="548640"/>
          </a:xfrm>
          <a:prstGeom prst="rect">
            <a:avLst/>
          </a:prstGeom>
          <a:noFill/>
          <a:ln/>
        </p:spPr>
        <p:txBody>
          <a:bodyPr wrap="square" lIns="0" tIns="0" rIns="0" bIns="0" rtlCol="0" anchor="ctr"/>
          <a:lstStyle/>
          <a:p>
            <a:pPr marL="0" indent="0">
              <a:lnSpc>
                <a:spcPct val="130000"/>
              </a:lnSpc>
              <a:buNone/>
            </a:pPr>
            <a:r>
              <a:rPr lang="en-US" sz="1300" dirty="0">
                <a:solidFill>
                  <a:srgbClr val="5A6B7A"/>
                </a:solidFill>
                <a:latin typeface="Open Sans" pitchFamily="34" charset="0"/>
                <a:ea typeface="Open Sans" pitchFamily="34" charset="-122"/>
                <a:cs typeface="Open Sans" pitchFamily="34" charset="-120"/>
              </a:rPr>
              <a:t>Claude is an AI assistant made by Anthropic. Like ChatGPT, it can help you write, analyze data, explain concepts, and review your work — but it has a few distinct strengths that make it especially useful for this course.</a:t>
            </a:r>
            <a:endParaRPr lang="en-US" sz="1300" dirty="0"/>
          </a:p>
        </p:txBody>
      </p:sp>
      <p:sp>
        <p:nvSpPr>
          <p:cNvPr id="7" name="Shape 5"/>
          <p:cNvSpPr/>
          <p:nvPr/>
        </p:nvSpPr>
        <p:spPr>
          <a:xfrm>
            <a:off x="73152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1600200" y="1920240"/>
            <a:ext cx="457200" cy="457200"/>
          </a:xfrm>
          <a:prstGeom prst="rect">
            <a:avLst/>
          </a:prstGeom>
        </p:spPr>
      </p:pic>
      <p:sp>
        <p:nvSpPr>
          <p:cNvPr id="9" name="Text 6"/>
          <p:cNvSpPr/>
          <p:nvPr/>
        </p:nvSpPr>
        <p:spPr>
          <a:xfrm>
            <a:off x="86868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Long Documents</a:t>
            </a:r>
            <a:endParaRPr lang="en-US" sz="1400" dirty="0"/>
          </a:p>
        </p:txBody>
      </p:sp>
      <p:sp>
        <p:nvSpPr>
          <p:cNvPr id="10" name="Text 7"/>
          <p:cNvSpPr/>
          <p:nvPr/>
        </p:nvSpPr>
        <p:spPr>
          <a:xfrm>
            <a:off x="868680" y="2880360"/>
            <a:ext cx="2103120" cy="1188720"/>
          </a:xfrm>
          <a:prstGeom prst="rect">
            <a:avLst/>
          </a:prstGeom>
          <a:noFill/>
          <a:ln/>
        </p:spPr>
        <p:txBody>
          <a:bodyPr wrap="square" lIns="0" tIns="0" rIns="0" bIns="0" rtlCol="0" anchor="ctr"/>
          <a:lstStyle/>
          <a:p>
            <a:pPr marL="0" indent="0" algn="l">
              <a:lnSpc>
                <a:spcPct val="140000"/>
              </a:lnSpc>
              <a:buNone/>
            </a:pPr>
            <a:r>
              <a:rPr lang="en-US" sz="1100" dirty="0">
                <a:solidFill>
                  <a:srgbClr val="5A6B7A"/>
                </a:solidFill>
                <a:latin typeface="Open Sans" pitchFamily="34" charset="0"/>
                <a:ea typeface="Open Sans" pitchFamily="34" charset="-122"/>
                <a:cs typeface="Open Sans" pitchFamily="34" charset="-120"/>
              </a:rPr>
              <a:t>Claude can process very long inputs — paste your entire spec, memo, or data set and it keeps track of everything.</a:t>
            </a:r>
            <a:endParaRPr lang="en-US" sz="1100" dirty="0"/>
          </a:p>
        </p:txBody>
      </p:sp>
      <p:sp>
        <p:nvSpPr>
          <p:cNvPr id="11" name="Shape 8"/>
          <p:cNvSpPr/>
          <p:nvPr/>
        </p:nvSpPr>
        <p:spPr>
          <a:xfrm>
            <a:off x="338328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4251960" y="1920240"/>
            <a:ext cx="457200" cy="457200"/>
          </a:xfrm>
          <a:prstGeom prst="rect">
            <a:avLst/>
          </a:prstGeom>
        </p:spPr>
      </p:pic>
      <p:sp>
        <p:nvSpPr>
          <p:cNvPr id="13" name="Text 9"/>
          <p:cNvSpPr/>
          <p:nvPr/>
        </p:nvSpPr>
        <p:spPr>
          <a:xfrm>
            <a:off x="352044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Careful Reasoning</a:t>
            </a:r>
            <a:endParaRPr lang="en-US" sz="1400" dirty="0"/>
          </a:p>
        </p:txBody>
      </p:sp>
      <p:sp>
        <p:nvSpPr>
          <p:cNvPr id="14" name="Text 10"/>
          <p:cNvSpPr/>
          <p:nvPr/>
        </p:nvSpPr>
        <p:spPr>
          <a:xfrm>
            <a:off x="3520440" y="2880360"/>
            <a:ext cx="2103120" cy="1188720"/>
          </a:xfrm>
          <a:prstGeom prst="rect">
            <a:avLst/>
          </a:prstGeom>
          <a:noFill/>
          <a:ln/>
        </p:spPr>
        <p:txBody>
          <a:bodyPr wrap="square" lIns="0" tIns="0" rIns="0" bIns="0" rtlCol="0" anchor="ctr"/>
          <a:lstStyle/>
          <a:p>
            <a:pPr marL="0" indent="0" algn="l">
              <a:lnSpc>
                <a:spcPct val="140000"/>
              </a:lnSpc>
              <a:buNone/>
            </a:pPr>
            <a:r>
              <a:rPr lang="en-US" sz="1100" dirty="0">
                <a:solidFill>
                  <a:srgbClr val="5A6B7A"/>
                </a:solidFill>
                <a:latin typeface="Open Sans" pitchFamily="34" charset="0"/>
                <a:ea typeface="Open Sans" pitchFamily="34" charset="-122"/>
                <a:cs typeface="Open Sans" pitchFamily="34" charset="-120"/>
              </a:rPr>
              <a:t>Particularly strong at multi-step calculations like ratio analysis, hedge math, and Du Pont decomposition.</a:t>
            </a:r>
            <a:endParaRPr lang="en-US" sz="1100" dirty="0"/>
          </a:p>
        </p:txBody>
      </p:sp>
      <p:sp>
        <p:nvSpPr>
          <p:cNvPr id="15" name="Shape 11"/>
          <p:cNvSpPr/>
          <p:nvPr/>
        </p:nvSpPr>
        <p:spPr>
          <a:xfrm>
            <a:off x="6035040" y="1691640"/>
            <a:ext cx="2377440" cy="2606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6903720" y="1920240"/>
            <a:ext cx="457200" cy="457200"/>
          </a:xfrm>
          <a:prstGeom prst="rect">
            <a:avLst/>
          </a:prstGeom>
        </p:spPr>
      </p:pic>
      <p:sp>
        <p:nvSpPr>
          <p:cNvPr id="17" name="Text 12"/>
          <p:cNvSpPr/>
          <p:nvPr/>
        </p:nvSpPr>
        <p:spPr>
          <a:xfrm>
            <a:off x="6172200" y="2514600"/>
            <a:ext cx="210312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File Uploads</a:t>
            </a:r>
            <a:endParaRPr lang="en-US" sz="1400" dirty="0"/>
          </a:p>
        </p:txBody>
      </p:sp>
      <p:sp>
        <p:nvSpPr>
          <p:cNvPr id="18" name="Text 13"/>
          <p:cNvSpPr/>
          <p:nvPr/>
        </p:nvSpPr>
        <p:spPr>
          <a:xfrm>
            <a:off x="6172200" y="2880360"/>
            <a:ext cx="2103120" cy="1188720"/>
          </a:xfrm>
          <a:prstGeom prst="rect">
            <a:avLst/>
          </a:prstGeom>
          <a:noFill/>
          <a:ln/>
        </p:spPr>
        <p:txBody>
          <a:bodyPr wrap="square" lIns="0" tIns="0" rIns="0" bIns="0" rtlCol="0" anchor="ctr"/>
          <a:lstStyle/>
          <a:p>
            <a:pPr marL="0" indent="0" algn="l">
              <a:lnSpc>
                <a:spcPct val="140000"/>
              </a:lnSpc>
              <a:buNone/>
            </a:pPr>
            <a:r>
              <a:rPr lang="en-US" sz="1100" dirty="0">
                <a:solidFill>
                  <a:srgbClr val="5A6B7A"/>
                </a:solidFill>
                <a:latin typeface="Open Sans" pitchFamily="34" charset="0"/>
                <a:ea typeface="Open Sans" pitchFamily="34" charset="-122"/>
                <a:cs typeface="Open Sans" pitchFamily="34" charset="-120"/>
              </a:rPr>
              <a:t>Upload Excel workbooks, PDFs, and images directly. Claude reads the content and can verify your formulas.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Claude vs ChatGPT — Both Are Useful</a:t>
            </a:r>
            <a:endParaRPr lang="en-US" sz="2800" dirty="0"/>
          </a:p>
        </p:txBody>
      </p:sp>
      <p:sp>
        <p:nvSpPr>
          <p:cNvPr id="6" name="Text 4"/>
          <p:cNvSpPr/>
          <p:nvPr/>
        </p:nvSpPr>
        <p:spPr>
          <a:xfrm>
            <a:off x="731520" y="868680"/>
            <a:ext cx="7680960" cy="365760"/>
          </a:xfrm>
          <a:prstGeom prst="rect">
            <a:avLst/>
          </a:prstGeom>
          <a:noFill/>
          <a:ln/>
        </p:spPr>
        <p:txBody>
          <a:bodyPr wrap="square" lIns="0" tIns="0" rIns="0" bIns="0" rtlCol="0" anchor="ctr"/>
          <a:lstStyle/>
          <a:p>
            <a:pPr marL="0" indent="0">
              <a:buNone/>
            </a:pPr>
            <a:r>
              <a:rPr lang="en-US" sz="1300" dirty="0">
                <a:solidFill>
                  <a:srgbClr val="5A6B7A"/>
                </a:solidFill>
                <a:latin typeface="Open Sans" pitchFamily="34" charset="0"/>
                <a:ea typeface="Open Sans" pitchFamily="34" charset="-122"/>
                <a:cs typeface="Open Sans" pitchFamily="34" charset="-120"/>
              </a:rPr>
              <a:t>You are welcome to use either tool (or both). Here’s when each one shines.</a:t>
            </a:r>
            <a:endParaRPr lang="en-US" sz="1300" dirty="0"/>
          </a:p>
        </p:txBody>
      </p:sp>
      <p:sp>
        <p:nvSpPr>
          <p:cNvPr id="7" name="Shape 5"/>
          <p:cNvSpPr/>
          <p:nvPr/>
        </p:nvSpPr>
        <p:spPr>
          <a:xfrm>
            <a:off x="731520" y="1463040"/>
            <a:ext cx="3566160" cy="310896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731520" y="1463040"/>
            <a:ext cx="3566160" cy="457200"/>
          </a:xfrm>
          <a:prstGeom prst="rect">
            <a:avLst/>
          </a:prstGeom>
          <a:solidFill>
            <a:srgbClr val="1E2530"/>
          </a:solidFill>
          <a:ln/>
        </p:spPr>
        <p:txBody>
          <a:bodyPr/>
          <a:lstStyle/>
          <a:p>
            <a:endParaRPr lang="en-US"/>
          </a:p>
        </p:txBody>
      </p:sp>
      <p:sp>
        <p:nvSpPr>
          <p:cNvPr id="9" name="Text 7"/>
          <p:cNvSpPr/>
          <p:nvPr/>
        </p:nvSpPr>
        <p:spPr>
          <a:xfrm>
            <a:off x="731520" y="1463040"/>
            <a:ext cx="356616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Claude</a:t>
            </a:r>
            <a:endParaRPr lang="en-US" sz="1600" dirty="0"/>
          </a:p>
        </p:txBody>
      </p:sp>
      <p:sp>
        <p:nvSpPr>
          <p:cNvPr id="10" name="Text 8"/>
          <p:cNvSpPr/>
          <p:nvPr/>
        </p:nvSpPr>
        <p:spPr>
          <a:xfrm>
            <a:off x="914400" y="2057400"/>
            <a:ext cx="3200400" cy="2286000"/>
          </a:xfrm>
          <a:prstGeom prst="rect">
            <a:avLst/>
          </a:prstGeom>
          <a:noFill/>
          <a:ln/>
        </p:spPr>
        <p:txBody>
          <a:bodyPr wrap="square" lIns="0" tIns="0" rIns="0" bIns="0" rtlCol="0" anchor="t"/>
          <a:lstStyle/>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Long context window — paste entire specs or data sets</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Strong structured output (memos, tables, Markdown)</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File uploads: Excel, PDF, images</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Careful multi-step reasoning and math</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Projects feature keeps course files as persistent context</a:t>
            </a:r>
            <a:endParaRPr lang="en-US" sz="1100" dirty="0"/>
          </a:p>
        </p:txBody>
      </p:sp>
      <p:sp>
        <p:nvSpPr>
          <p:cNvPr id="11" name="Shape 9"/>
          <p:cNvSpPr/>
          <p:nvPr/>
        </p:nvSpPr>
        <p:spPr>
          <a:xfrm>
            <a:off x="4846320" y="1463040"/>
            <a:ext cx="3566160" cy="310896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2" name="Shape 10"/>
          <p:cNvSpPr/>
          <p:nvPr/>
        </p:nvSpPr>
        <p:spPr>
          <a:xfrm>
            <a:off x="4846320" y="1463040"/>
            <a:ext cx="3566160" cy="457200"/>
          </a:xfrm>
          <a:prstGeom prst="rect">
            <a:avLst/>
          </a:prstGeom>
          <a:solidFill>
            <a:srgbClr val="36454F"/>
          </a:solidFill>
          <a:ln/>
        </p:spPr>
        <p:txBody>
          <a:bodyPr/>
          <a:lstStyle/>
          <a:p>
            <a:endParaRPr lang="en-US"/>
          </a:p>
        </p:txBody>
      </p:sp>
      <p:sp>
        <p:nvSpPr>
          <p:cNvPr id="13" name="Text 11"/>
          <p:cNvSpPr/>
          <p:nvPr/>
        </p:nvSpPr>
        <p:spPr>
          <a:xfrm>
            <a:off x="4846320" y="1463040"/>
            <a:ext cx="356616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ChatGPT</a:t>
            </a:r>
            <a:endParaRPr lang="en-US" sz="1600" dirty="0"/>
          </a:p>
        </p:txBody>
      </p:sp>
      <p:sp>
        <p:nvSpPr>
          <p:cNvPr id="14" name="Text 12"/>
          <p:cNvSpPr/>
          <p:nvPr/>
        </p:nvSpPr>
        <p:spPr>
          <a:xfrm>
            <a:off x="5029200" y="2057400"/>
            <a:ext cx="3200400" cy="2286000"/>
          </a:xfrm>
          <a:prstGeom prst="rect">
            <a:avLst/>
          </a:prstGeom>
          <a:noFill/>
          <a:ln/>
        </p:spPr>
        <p:txBody>
          <a:bodyPr wrap="square" lIns="0" tIns="0" rIns="0" bIns="0" rtlCol="0" anchor="t"/>
          <a:lstStyle/>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Web browsing and real-time search built in</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DALL·E image generation</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Code Interpreter runs Python in-browser</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Large plugin / GPT Store ecosystem</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Widely used — more community tutorials available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000" b="1" dirty="0">
                <a:solidFill>
                  <a:srgbClr val="1E2530"/>
                </a:solidFill>
                <a:latin typeface="Open Sans" pitchFamily="34" charset="0"/>
                <a:ea typeface="Open Sans" pitchFamily="34" charset="-122"/>
                <a:cs typeface="Open Sans" pitchFamily="34" charset="-120"/>
              </a:rPr>
              <a:t>Chat vs Code — Why “Code” Versions Are a Superpower</a:t>
            </a:r>
            <a:endParaRPr lang="en-US" sz="2000" dirty="0"/>
          </a:p>
        </p:txBody>
      </p:sp>
      <p:sp>
        <p:nvSpPr>
          <p:cNvPr id="6" name="Text 4"/>
          <p:cNvSpPr/>
          <p:nvPr/>
        </p:nvSpPr>
        <p:spPr>
          <a:xfrm>
            <a:off x="731520" y="820000"/>
            <a:ext cx="7680960" cy="548640"/>
          </a:xfrm>
          <a:prstGeom prst="rect">
            <a:avLst/>
          </a:prstGeom>
          <a:noFill/>
          <a:ln/>
        </p:spPr>
        <p:txBody>
          <a:bodyPr wrap="square" lIns="0" tIns="0" rIns="0" bIns="0" rtlCol="0" anchor="ctr"/>
          <a:lstStyle/>
          <a:p>
            <a:pPr marL="0" indent="0">
              <a:buNone/>
            </a:pPr>
            <a:r>
              <a:rPr lang="en-US" sz="1300" dirty="0">
                <a:solidFill>
                  <a:srgbClr val="5A6B7A"/>
                </a:solidFill>
                <a:latin typeface="Open Sans" pitchFamily="34" charset="0"/>
                <a:ea typeface="Open Sans" pitchFamily="34" charset="-122"/>
                <a:cs typeface="Open Sans" pitchFamily="34" charset="-120"/>
              </a:rPr>
              <a:t>Both Claude and ChatGPT have “code” variants that run in a harness — a program that wraps the AI, giving it tools to read files, run commands, and take action on your computer. Chat answers questions. Code does work.</a:t>
            </a:r>
            <a:endParaRPr lang="en-US" sz="1300" dirty="0"/>
          </a:p>
        </p:txBody>
      </p:sp>
      <p:sp>
        <p:nvSpPr>
          <p:cNvPr id="7" name="Shape 5"/>
          <p:cNvSpPr/>
          <p:nvPr/>
        </p:nvSpPr>
        <p:spPr>
          <a:xfrm>
            <a:off x="731520" y="1463040"/>
            <a:ext cx="3566160" cy="310896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731520" y="1463040"/>
            <a:ext cx="3566160" cy="457200"/>
          </a:xfrm>
          <a:prstGeom prst="rect">
            <a:avLst/>
          </a:prstGeom>
          <a:solidFill>
            <a:srgbClr val="1E2530"/>
          </a:solidFill>
          <a:ln/>
        </p:spPr>
        <p:txBody>
          <a:bodyPr/>
          <a:lstStyle/>
          <a:p>
            <a:endParaRPr lang="en-US"/>
          </a:p>
        </p:txBody>
      </p:sp>
      <p:sp>
        <p:nvSpPr>
          <p:cNvPr id="9" name="Text 7"/>
          <p:cNvSpPr/>
          <p:nvPr/>
        </p:nvSpPr>
        <p:spPr>
          <a:xfrm>
            <a:off x="731520" y="1463040"/>
            <a:ext cx="356616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Claude Code (Anthropic)</a:t>
            </a:r>
            <a:endParaRPr lang="en-US" sz="1600" dirty="0"/>
          </a:p>
        </p:txBody>
      </p:sp>
      <p:sp>
        <p:nvSpPr>
          <p:cNvPr id="10" name="Text 8"/>
          <p:cNvSpPr/>
          <p:nvPr/>
        </p:nvSpPr>
        <p:spPr>
          <a:xfrm>
            <a:off x="914400" y="2057400"/>
            <a:ext cx="3200400" cy="2286000"/>
          </a:xfrm>
          <a:prstGeom prst="rect">
            <a:avLst/>
          </a:prstGeom>
          <a:noFill/>
          <a:ln/>
        </p:spPr>
        <p:txBody>
          <a:bodyPr wrap="square" lIns="0" tIns="0" rIns="0" bIns="0" rtlCol="0" anchor="t"/>
          <a:lstStyle/>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Runs in your terminal — reads and writes files directly in your repo</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Executes Git commands, edits files, runs scripts — with your approval</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Sees your entire project: specs, Excel, memos, folder structure</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Free to use (requires Anthropic account); install via npm</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Best for: building deliverables, verifying models, committing to GitHub</a:t>
            </a:r>
            <a:endParaRPr lang="en-US" sz="1100" dirty="0"/>
          </a:p>
        </p:txBody>
      </p:sp>
      <p:sp>
        <p:nvSpPr>
          <p:cNvPr id="11" name="Shape 9"/>
          <p:cNvSpPr/>
          <p:nvPr/>
        </p:nvSpPr>
        <p:spPr>
          <a:xfrm>
            <a:off x="4846320" y="1463040"/>
            <a:ext cx="3566160" cy="310896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2" name="Shape 10"/>
          <p:cNvSpPr/>
          <p:nvPr/>
        </p:nvSpPr>
        <p:spPr>
          <a:xfrm>
            <a:off x="4846320" y="1463040"/>
            <a:ext cx="3566160" cy="457200"/>
          </a:xfrm>
          <a:prstGeom prst="rect">
            <a:avLst/>
          </a:prstGeom>
          <a:solidFill>
            <a:srgbClr val="36454F"/>
          </a:solidFill>
          <a:ln/>
        </p:spPr>
        <p:txBody>
          <a:bodyPr/>
          <a:lstStyle/>
          <a:p>
            <a:endParaRPr lang="en-US"/>
          </a:p>
        </p:txBody>
      </p:sp>
      <p:sp>
        <p:nvSpPr>
          <p:cNvPr id="13" name="Text 11"/>
          <p:cNvSpPr/>
          <p:nvPr/>
        </p:nvSpPr>
        <p:spPr>
          <a:xfrm>
            <a:off x="4846320" y="1463040"/>
            <a:ext cx="356616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Codex (OpenAI)</a:t>
            </a:r>
            <a:endParaRPr lang="en-US" sz="1600" dirty="0"/>
          </a:p>
        </p:txBody>
      </p:sp>
      <p:sp>
        <p:nvSpPr>
          <p:cNvPr id="14" name="Text 12"/>
          <p:cNvSpPr/>
          <p:nvPr/>
        </p:nvSpPr>
        <p:spPr>
          <a:xfrm>
            <a:off x="5029200" y="2057400"/>
            <a:ext cx="3200400" cy="2286000"/>
          </a:xfrm>
          <a:prstGeom prst="rect">
            <a:avLst/>
          </a:prstGeom>
          <a:noFill/>
          <a:ln/>
        </p:spPr>
        <p:txBody>
          <a:bodyPr wrap="square" lIns="0" tIns="0" rIns="0" bIns="0" rtlCol="0" anchor="t"/>
          <a:lstStyle/>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OpenAI’s coding agent — runs tasks in a cloud sandbox environment</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Connects to your GitHub repos and works asynchronously on tasks</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Writes code, creates PRs, and runs tests in an isolated environment</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Requires ChatGPT Pro ($200/mo); accessed via chatgpt.com</a:t>
            </a:r>
            <a:endParaRPr lang="en-US" sz="1100" dirty="0"/>
          </a:p>
          <a:p>
            <a:pPr marL="342900" indent="-342900">
              <a:lnSpc>
                <a:spcPct val="150000"/>
              </a:lnSpc>
              <a:buSzPct val="100000"/>
              <a:buChar char="•"/>
            </a:pPr>
            <a:r>
              <a:rPr lang="en-US" sz="1100" dirty="0">
                <a:solidFill>
                  <a:srgbClr val="5A6B7A"/>
                </a:solidFill>
                <a:latin typeface="Open Sans" pitchFamily="34" charset="0"/>
                <a:ea typeface="Open Sans" pitchFamily="34" charset="-122"/>
                <a:cs typeface="Open Sans" pitchFamily="34" charset="-120"/>
              </a:rPr>
              <a:t>Best for: automated coding tasks, background work, PR creation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Key Concepts Before You Start</a:t>
            </a:r>
            <a:endParaRPr lang="en-US" sz="2800" dirty="0"/>
          </a:p>
        </p:txBody>
      </p:sp>
      <p:sp>
        <p:nvSpPr>
          <p:cNvPr id="6" name="Shape 4"/>
          <p:cNvSpPr/>
          <p:nvPr/>
        </p:nvSpPr>
        <p:spPr>
          <a:xfrm>
            <a:off x="731520" y="1051560"/>
            <a:ext cx="3749040" cy="1463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914400" y="1325880"/>
            <a:ext cx="411480" cy="411480"/>
          </a:xfrm>
          <a:prstGeom prst="rect">
            <a:avLst/>
          </a:prstGeom>
        </p:spPr>
      </p:pic>
      <p:sp>
        <p:nvSpPr>
          <p:cNvPr id="8" name="Text 5"/>
          <p:cNvSpPr/>
          <p:nvPr/>
        </p:nvSpPr>
        <p:spPr>
          <a:xfrm>
            <a:off x="1463040" y="1234440"/>
            <a:ext cx="28346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Conversations</a:t>
            </a:r>
            <a:endParaRPr lang="en-US" sz="1400" dirty="0"/>
          </a:p>
        </p:txBody>
      </p:sp>
      <p:sp>
        <p:nvSpPr>
          <p:cNvPr id="9" name="Text 6"/>
          <p:cNvSpPr/>
          <p:nvPr/>
        </p:nvSpPr>
        <p:spPr>
          <a:xfrm>
            <a:off x="1463040" y="1600200"/>
            <a:ext cx="2834640" cy="777240"/>
          </a:xfrm>
          <a:prstGeom prst="rect">
            <a:avLst/>
          </a:prstGeom>
          <a:noFill/>
          <a:ln/>
        </p:spPr>
        <p:txBody>
          <a:bodyPr wrap="square" lIns="0" tIns="0" rIns="0" bIns="0" rtlCol="0" anchor="ctr"/>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Each chat is independent. Claude does not remember previous conversations unless you provide context.</a:t>
            </a:r>
            <a:endParaRPr lang="en-US" sz="1100" dirty="0"/>
          </a:p>
        </p:txBody>
      </p:sp>
      <p:sp>
        <p:nvSpPr>
          <p:cNvPr id="10" name="Shape 7"/>
          <p:cNvSpPr/>
          <p:nvPr/>
        </p:nvSpPr>
        <p:spPr>
          <a:xfrm>
            <a:off x="4846320" y="1051560"/>
            <a:ext cx="3749040" cy="1463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5029200" y="1325880"/>
            <a:ext cx="411480" cy="411480"/>
          </a:xfrm>
          <a:prstGeom prst="rect">
            <a:avLst/>
          </a:prstGeom>
        </p:spPr>
      </p:pic>
      <p:sp>
        <p:nvSpPr>
          <p:cNvPr id="12" name="Text 8"/>
          <p:cNvSpPr/>
          <p:nvPr/>
        </p:nvSpPr>
        <p:spPr>
          <a:xfrm>
            <a:off x="5577840" y="1234440"/>
            <a:ext cx="28346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Context Is Everything</a:t>
            </a:r>
            <a:endParaRPr lang="en-US" sz="1400" dirty="0"/>
          </a:p>
        </p:txBody>
      </p:sp>
      <p:sp>
        <p:nvSpPr>
          <p:cNvPr id="13" name="Text 9"/>
          <p:cNvSpPr/>
          <p:nvPr/>
        </p:nvSpPr>
        <p:spPr>
          <a:xfrm>
            <a:off x="5577840" y="1600200"/>
            <a:ext cx="2834640" cy="777240"/>
          </a:xfrm>
          <a:prstGeom prst="rect">
            <a:avLst/>
          </a:prstGeom>
          <a:noFill/>
          <a:ln/>
        </p:spPr>
        <p:txBody>
          <a:bodyPr wrap="square" lIns="0" tIns="0" rIns="0" bIns="0" rtlCol="0" anchor="ctr"/>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The more specific your input, the better the output. Paste your spec, state your variables, name your company.</a:t>
            </a:r>
            <a:endParaRPr lang="en-US" sz="1100" dirty="0"/>
          </a:p>
        </p:txBody>
      </p:sp>
      <p:sp>
        <p:nvSpPr>
          <p:cNvPr id="14" name="Shape 10"/>
          <p:cNvSpPr/>
          <p:nvPr/>
        </p:nvSpPr>
        <p:spPr>
          <a:xfrm>
            <a:off x="731520" y="2788920"/>
            <a:ext cx="3749040" cy="1463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5" name="Image 2" descr="preencoded.png"/>
          <p:cNvPicPr>
            <a:picLocks noChangeAspect="1"/>
          </p:cNvPicPr>
          <p:nvPr/>
        </p:nvPicPr>
        <p:blipFill>
          <a:blip r:embed="rId5"/>
          <a:stretch>
            <a:fillRect/>
          </a:stretch>
        </p:blipFill>
        <p:spPr>
          <a:xfrm>
            <a:off x="914400" y="3063240"/>
            <a:ext cx="411480" cy="411480"/>
          </a:xfrm>
          <a:prstGeom prst="rect">
            <a:avLst/>
          </a:prstGeom>
        </p:spPr>
      </p:pic>
      <p:sp>
        <p:nvSpPr>
          <p:cNvPr id="16" name="Text 11"/>
          <p:cNvSpPr/>
          <p:nvPr/>
        </p:nvSpPr>
        <p:spPr>
          <a:xfrm>
            <a:off x="1463040" y="2971800"/>
            <a:ext cx="28346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Verify, Don’t Trust</a:t>
            </a:r>
            <a:endParaRPr lang="en-US" sz="1400" dirty="0"/>
          </a:p>
        </p:txBody>
      </p:sp>
      <p:sp>
        <p:nvSpPr>
          <p:cNvPr id="17" name="Text 12"/>
          <p:cNvSpPr/>
          <p:nvPr/>
        </p:nvSpPr>
        <p:spPr>
          <a:xfrm>
            <a:off x="1463040" y="3337560"/>
            <a:ext cx="2834640" cy="777240"/>
          </a:xfrm>
          <a:prstGeom prst="rect">
            <a:avLst/>
          </a:prstGeom>
          <a:noFill/>
          <a:ln/>
        </p:spPr>
        <p:txBody>
          <a:bodyPr wrap="square" lIns="0" tIns="0" rIns="0" bIns="0" rtlCol="0" anchor="ctr"/>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AI can produce plausible-sounding errors. Always cross-check formulas, numbers, and ratio definitions against your textbook or SEC filing.</a:t>
            </a:r>
            <a:endParaRPr lang="en-US" sz="1100" dirty="0"/>
          </a:p>
        </p:txBody>
      </p:sp>
      <p:sp>
        <p:nvSpPr>
          <p:cNvPr id="18" name="Shape 13"/>
          <p:cNvSpPr/>
          <p:nvPr/>
        </p:nvSpPr>
        <p:spPr>
          <a:xfrm>
            <a:off x="4846320" y="2788920"/>
            <a:ext cx="3749040" cy="1463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9" name="Image 3" descr="preencoded.png"/>
          <p:cNvPicPr>
            <a:picLocks noChangeAspect="1"/>
          </p:cNvPicPr>
          <p:nvPr/>
        </p:nvPicPr>
        <p:blipFill>
          <a:blip r:embed="rId6"/>
          <a:stretch>
            <a:fillRect/>
          </a:stretch>
        </p:blipFill>
        <p:spPr>
          <a:xfrm>
            <a:off x="5029200" y="3063240"/>
            <a:ext cx="411480" cy="411480"/>
          </a:xfrm>
          <a:prstGeom prst="rect">
            <a:avLst/>
          </a:prstGeom>
        </p:spPr>
      </p:pic>
      <p:sp>
        <p:nvSpPr>
          <p:cNvPr id="20" name="Text 14"/>
          <p:cNvSpPr/>
          <p:nvPr/>
        </p:nvSpPr>
        <p:spPr>
          <a:xfrm>
            <a:off x="5577840" y="2971800"/>
            <a:ext cx="28346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Iterate</a:t>
            </a:r>
            <a:endParaRPr lang="en-US" sz="1400" dirty="0"/>
          </a:p>
        </p:txBody>
      </p:sp>
      <p:sp>
        <p:nvSpPr>
          <p:cNvPr id="21" name="Text 15"/>
          <p:cNvSpPr/>
          <p:nvPr/>
        </p:nvSpPr>
        <p:spPr>
          <a:xfrm>
            <a:off x="5577840" y="3337560"/>
            <a:ext cx="2834640" cy="777240"/>
          </a:xfrm>
          <a:prstGeom prst="rect">
            <a:avLst/>
          </a:prstGeom>
          <a:noFill/>
          <a:ln/>
        </p:spPr>
        <p:txBody>
          <a:bodyPr wrap="square" lIns="0" tIns="0" rIns="0" bIns="0" rtlCol="0" anchor="ctr"/>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Your first prompt rarely gives the final answer. Refine: “Make this more concise,” “Add the Du Pont breakdown,” “Format as Markdown table.”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E2530"/>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Text 1"/>
          <p:cNvSpPr/>
          <p:nvPr/>
        </p:nvSpPr>
        <p:spPr>
          <a:xfrm>
            <a:off x="731520" y="731520"/>
            <a:ext cx="7680960" cy="365760"/>
          </a:xfrm>
          <a:prstGeom prst="rect">
            <a:avLst/>
          </a:prstGeom>
          <a:noFill/>
          <a:ln/>
        </p:spPr>
        <p:txBody>
          <a:bodyPr wrap="square" lIns="0" tIns="0" rIns="0" bIns="0" rtlCol="0" anchor="ctr"/>
          <a:lstStyle/>
          <a:p>
            <a:pPr marL="0" indent="0">
              <a:buNone/>
            </a:pPr>
            <a:r>
              <a:rPr lang="en-US" sz="1400" b="1" kern="0" spc="600" dirty="0">
                <a:solidFill>
                  <a:srgbClr val="B8975C"/>
                </a:solidFill>
                <a:latin typeface="Open Sans" pitchFamily="34" charset="0"/>
                <a:ea typeface="Open Sans" pitchFamily="34" charset="-122"/>
                <a:cs typeface="Open Sans" pitchFamily="34" charset="-120"/>
              </a:rPr>
              <a:t>PART 1</a:t>
            </a:r>
            <a:endParaRPr lang="en-US" sz="1400" dirty="0"/>
          </a:p>
        </p:txBody>
      </p:sp>
      <p:sp>
        <p:nvSpPr>
          <p:cNvPr id="4" name="Text 2"/>
          <p:cNvSpPr/>
          <p:nvPr/>
        </p:nvSpPr>
        <p:spPr>
          <a:xfrm>
            <a:off x="731520" y="1280160"/>
            <a:ext cx="7680960" cy="1645920"/>
          </a:xfrm>
          <a:prstGeom prst="rect">
            <a:avLst/>
          </a:prstGeom>
          <a:noFill/>
          <a:ln/>
        </p:spPr>
        <p:txBody>
          <a:bodyPr wrap="square" lIns="0" tIns="0" rIns="0" bIns="0" rtlCol="0" anchor="ctr"/>
          <a:lstStyle/>
          <a:p>
            <a:pPr marL="0" indent="0">
              <a:lnSpc>
                <a:spcPct val="110000"/>
              </a:lnSpc>
              <a:buNone/>
            </a:pPr>
            <a:r>
              <a:rPr lang="en-US" sz="4000" b="1" dirty="0">
                <a:solidFill>
                  <a:srgbClr val="FFFFFF"/>
                </a:solidFill>
                <a:latin typeface="Open Sans" pitchFamily="34" charset="0"/>
                <a:ea typeface="Open Sans" pitchFamily="34" charset="-122"/>
                <a:cs typeface="Open Sans" pitchFamily="34" charset="-120"/>
              </a:rPr>
              <a:t>Claude on the Web</a:t>
            </a:r>
            <a:endParaRPr lang="en-US" sz="4000" dirty="0"/>
          </a:p>
          <a:p>
            <a:pPr marL="0" indent="0">
              <a:lnSpc>
                <a:spcPct val="110000"/>
              </a:lnSpc>
              <a:buNone/>
            </a:pPr>
            <a:r>
              <a:rPr lang="en-US" sz="4000" b="1" dirty="0">
                <a:solidFill>
                  <a:srgbClr val="FFFFFF"/>
                </a:solidFill>
                <a:latin typeface="Open Sans" pitchFamily="34" charset="0"/>
                <a:ea typeface="Open Sans" pitchFamily="34" charset="-122"/>
                <a:cs typeface="Open Sans" pitchFamily="34" charset="-120"/>
              </a:rPr>
              <a:t>&amp; Desktop App</a:t>
            </a:r>
            <a:endParaRPr lang="en-US" sz="4000" dirty="0"/>
          </a:p>
        </p:txBody>
      </p:sp>
      <p:sp>
        <p:nvSpPr>
          <p:cNvPr id="5" name="Shape 3"/>
          <p:cNvSpPr/>
          <p:nvPr/>
        </p:nvSpPr>
        <p:spPr>
          <a:xfrm>
            <a:off x="731520" y="3108960"/>
            <a:ext cx="1828800" cy="36576"/>
          </a:xfrm>
          <a:prstGeom prst="rect">
            <a:avLst/>
          </a:prstGeom>
          <a:solidFill>
            <a:srgbClr val="B8975C"/>
          </a:solidFill>
          <a:ln/>
        </p:spPr>
        <p:txBody>
          <a:bodyPr/>
          <a:lstStyle/>
          <a:p>
            <a:endParaRPr lang="en-US"/>
          </a:p>
        </p:txBody>
      </p:sp>
      <p:sp>
        <p:nvSpPr>
          <p:cNvPr id="6" name="Text 4"/>
          <p:cNvSpPr/>
          <p:nvPr/>
        </p:nvSpPr>
        <p:spPr>
          <a:xfrm>
            <a:off x="731520" y="3337560"/>
            <a:ext cx="6400800" cy="640080"/>
          </a:xfrm>
          <a:prstGeom prst="rect">
            <a:avLst/>
          </a:prstGeom>
          <a:noFill/>
          <a:ln/>
        </p:spPr>
        <p:txBody>
          <a:bodyPr wrap="square" lIns="0" tIns="0" rIns="0" bIns="0" rtlCol="0" anchor="ctr"/>
          <a:lstStyle/>
          <a:p>
            <a:pPr marL="0" indent="0">
              <a:lnSpc>
                <a:spcPct val="140000"/>
              </a:lnSpc>
              <a:buNone/>
            </a:pPr>
            <a:r>
              <a:rPr lang="en-US" sz="1400" dirty="0">
                <a:solidFill>
                  <a:srgbClr val="8A9BAD"/>
                </a:solidFill>
                <a:latin typeface="Open Sans" pitchFamily="34" charset="0"/>
                <a:ea typeface="Open Sans" pitchFamily="34" charset="-122"/>
                <a:cs typeface="Open Sans" pitchFamily="34" charset="-120"/>
              </a:rPr>
              <a:t>How to use claude.ai for drafting memos, verifying formulas,</a:t>
            </a:r>
            <a:endParaRPr lang="en-US" sz="1400" dirty="0"/>
          </a:p>
          <a:p>
            <a:pPr marL="0" indent="0">
              <a:lnSpc>
                <a:spcPct val="140000"/>
              </a:lnSpc>
              <a:buNone/>
            </a:pPr>
            <a:r>
              <a:rPr lang="en-US" sz="1400" dirty="0">
                <a:solidFill>
                  <a:srgbClr val="8A9BAD"/>
                </a:solidFill>
                <a:latin typeface="Open Sans" pitchFamily="34" charset="0"/>
                <a:ea typeface="Open Sans" pitchFamily="34" charset="-122"/>
                <a:cs typeface="Open Sans" pitchFamily="34" charset="-120"/>
              </a:rPr>
              <a:t>and building your Stage 4 AI prompt.</a:t>
            </a:r>
            <a:endParaRPr lang="en-US" sz="1400" dirty="0"/>
          </a:p>
        </p:txBody>
      </p:sp>
      <p:pic>
        <p:nvPicPr>
          <p:cNvPr id="7" name="Image 0" descr="preencoded.png"/>
          <p:cNvPicPr>
            <a:picLocks noChangeAspect="1"/>
          </p:cNvPicPr>
          <p:nvPr/>
        </p:nvPicPr>
        <p:blipFill>
          <a:blip r:embed="rId3"/>
          <a:stretch>
            <a:fillRect/>
          </a:stretch>
        </p:blipFill>
        <p:spPr>
          <a:xfrm>
            <a:off x="7132320" y="3017520"/>
            <a:ext cx="1097280" cy="1097280"/>
          </a:xfrm>
          <a:prstGeom prst="rect">
            <a:avLst/>
          </a:prstGeom>
        </p:spPr>
      </p:pic>
      <p:sp>
        <p:nvSpPr>
          <p:cNvPr id="8" name="Text 5"/>
          <p:cNvSpPr/>
          <p:nvPr/>
        </p:nvSpPr>
        <p:spPr>
          <a:xfrm>
            <a:off x="457200" y="4663440"/>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Getting Started with claude.ai</a:t>
            </a:r>
            <a:endParaRPr lang="en-US" sz="2800" dirty="0"/>
          </a:p>
        </p:txBody>
      </p:sp>
      <p:sp>
        <p:nvSpPr>
          <p:cNvPr id="6" name="Text 4"/>
          <p:cNvSpPr/>
          <p:nvPr/>
        </p:nvSpPr>
        <p:spPr>
          <a:xfrm>
            <a:off x="731520" y="868680"/>
            <a:ext cx="7680960" cy="365760"/>
          </a:xfrm>
          <a:prstGeom prst="rect">
            <a:avLst/>
          </a:prstGeom>
          <a:noFill/>
          <a:ln/>
        </p:spPr>
        <p:txBody>
          <a:bodyPr wrap="square" lIns="0" tIns="0" rIns="0" bIns="0" rtlCol="0" anchor="ctr"/>
          <a:lstStyle/>
          <a:p>
            <a:pPr marL="0" indent="0">
              <a:buNone/>
            </a:pPr>
            <a:r>
              <a:rPr lang="en-US" sz="1300" dirty="0">
                <a:solidFill>
                  <a:srgbClr val="5A6B7A"/>
                </a:solidFill>
                <a:latin typeface="Open Sans" pitchFamily="34" charset="0"/>
                <a:ea typeface="Open Sans" pitchFamily="34" charset="-122"/>
                <a:cs typeface="Open Sans" pitchFamily="34" charset="-120"/>
              </a:rPr>
              <a:t>claude.ai  |  Free tier is sufficient. Pro ($20/mo) gives extended thinking and longer conversations.</a:t>
            </a:r>
            <a:endParaRPr lang="en-US" sz="1300" dirty="0"/>
          </a:p>
        </p:txBody>
      </p:sp>
      <p:sp>
        <p:nvSpPr>
          <p:cNvPr id="7" name="Shape 5"/>
          <p:cNvSpPr/>
          <p:nvPr/>
        </p:nvSpPr>
        <p:spPr>
          <a:xfrm>
            <a:off x="731520" y="1417320"/>
            <a:ext cx="411480" cy="411480"/>
          </a:xfrm>
          <a:prstGeom prst="rect">
            <a:avLst/>
          </a:prstGeom>
          <a:solidFill>
            <a:srgbClr val="1E2530"/>
          </a:solidFill>
          <a:ln/>
        </p:spPr>
        <p:txBody>
          <a:bodyPr/>
          <a:lstStyle/>
          <a:p>
            <a:endParaRPr lang="en-US"/>
          </a:p>
        </p:txBody>
      </p:sp>
      <p:sp>
        <p:nvSpPr>
          <p:cNvPr id="8" name="Text 6"/>
          <p:cNvSpPr/>
          <p:nvPr/>
        </p:nvSpPr>
        <p:spPr>
          <a:xfrm>
            <a:off x="731520" y="14173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1</a:t>
            </a:r>
            <a:endParaRPr lang="en-US" sz="1400" dirty="0"/>
          </a:p>
        </p:txBody>
      </p:sp>
      <p:sp>
        <p:nvSpPr>
          <p:cNvPr id="9" name="Text 7"/>
          <p:cNvSpPr/>
          <p:nvPr/>
        </p:nvSpPr>
        <p:spPr>
          <a:xfrm>
            <a:off x="1325880" y="1417320"/>
            <a:ext cx="3749040" cy="41148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Go to claude.ai and click Sign Up</a:t>
            </a:r>
            <a:endParaRPr lang="en-US" sz="1300" dirty="0"/>
          </a:p>
        </p:txBody>
      </p:sp>
      <p:sp>
        <p:nvSpPr>
          <p:cNvPr id="10" name="Shape 8"/>
          <p:cNvSpPr/>
          <p:nvPr/>
        </p:nvSpPr>
        <p:spPr>
          <a:xfrm>
            <a:off x="731520" y="1965960"/>
            <a:ext cx="411480" cy="411480"/>
          </a:xfrm>
          <a:prstGeom prst="rect">
            <a:avLst/>
          </a:prstGeom>
          <a:solidFill>
            <a:srgbClr val="1E2530"/>
          </a:solidFill>
          <a:ln/>
        </p:spPr>
        <p:txBody>
          <a:bodyPr/>
          <a:lstStyle/>
          <a:p>
            <a:endParaRPr lang="en-US"/>
          </a:p>
        </p:txBody>
      </p:sp>
      <p:sp>
        <p:nvSpPr>
          <p:cNvPr id="11" name="Text 9"/>
          <p:cNvSpPr/>
          <p:nvPr/>
        </p:nvSpPr>
        <p:spPr>
          <a:xfrm>
            <a:off x="731520" y="196596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2</a:t>
            </a:r>
            <a:endParaRPr lang="en-US" sz="1400" dirty="0"/>
          </a:p>
        </p:txBody>
      </p:sp>
      <p:sp>
        <p:nvSpPr>
          <p:cNvPr id="12" name="Text 10"/>
          <p:cNvSpPr/>
          <p:nvPr/>
        </p:nvSpPr>
        <p:spPr>
          <a:xfrm>
            <a:off x="1325880" y="1965960"/>
            <a:ext cx="3749040" cy="41148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Create an account with your @hawaii.edu email</a:t>
            </a:r>
            <a:endParaRPr lang="en-US" sz="1300" dirty="0"/>
          </a:p>
        </p:txBody>
      </p:sp>
      <p:sp>
        <p:nvSpPr>
          <p:cNvPr id="13" name="Shape 11"/>
          <p:cNvSpPr/>
          <p:nvPr/>
        </p:nvSpPr>
        <p:spPr>
          <a:xfrm>
            <a:off x="731520" y="2514600"/>
            <a:ext cx="411480" cy="411480"/>
          </a:xfrm>
          <a:prstGeom prst="rect">
            <a:avLst/>
          </a:prstGeom>
          <a:solidFill>
            <a:srgbClr val="1E2530"/>
          </a:solidFill>
          <a:ln/>
        </p:spPr>
        <p:txBody>
          <a:bodyPr/>
          <a:lstStyle/>
          <a:p>
            <a:endParaRPr lang="en-US"/>
          </a:p>
        </p:txBody>
      </p:sp>
      <p:sp>
        <p:nvSpPr>
          <p:cNvPr id="14" name="Text 12"/>
          <p:cNvSpPr/>
          <p:nvPr/>
        </p:nvSpPr>
        <p:spPr>
          <a:xfrm>
            <a:off x="731520" y="251460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3</a:t>
            </a:r>
            <a:endParaRPr lang="en-US" sz="1400" dirty="0"/>
          </a:p>
        </p:txBody>
      </p:sp>
      <p:sp>
        <p:nvSpPr>
          <p:cNvPr id="15" name="Text 13"/>
          <p:cNvSpPr/>
          <p:nvPr/>
        </p:nvSpPr>
        <p:spPr>
          <a:xfrm>
            <a:off x="1325880" y="2514600"/>
            <a:ext cx="3749040" cy="41148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Start a new conversation — type your question in the message box</a:t>
            </a:r>
            <a:endParaRPr lang="en-US" sz="1300" dirty="0"/>
          </a:p>
        </p:txBody>
      </p:sp>
      <p:sp>
        <p:nvSpPr>
          <p:cNvPr id="16" name="Shape 14"/>
          <p:cNvSpPr/>
          <p:nvPr/>
        </p:nvSpPr>
        <p:spPr>
          <a:xfrm>
            <a:off x="731520" y="3063240"/>
            <a:ext cx="411480" cy="411480"/>
          </a:xfrm>
          <a:prstGeom prst="rect">
            <a:avLst/>
          </a:prstGeom>
          <a:solidFill>
            <a:srgbClr val="1E2530"/>
          </a:solidFill>
          <a:ln/>
        </p:spPr>
        <p:txBody>
          <a:bodyPr/>
          <a:lstStyle/>
          <a:p>
            <a:endParaRPr lang="en-US"/>
          </a:p>
        </p:txBody>
      </p:sp>
      <p:sp>
        <p:nvSpPr>
          <p:cNvPr id="17" name="Text 15"/>
          <p:cNvSpPr/>
          <p:nvPr/>
        </p:nvSpPr>
        <p:spPr>
          <a:xfrm>
            <a:off x="731520" y="30632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4</a:t>
            </a:r>
            <a:endParaRPr lang="en-US" sz="1400" dirty="0"/>
          </a:p>
        </p:txBody>
      </p:sp>
      <p:sp>
        <p:nvSpPr>
          <p:cNvPr id="18" name="Text 16"/>
          <p:cNvSpPr/>
          <p:nvPr/>
        </p:nvSpPr>
        <p:spPr>
          <a:xfrm>
            <a:off x="1325880" y="3063240"/>
            <a:ext cx="3749040" cy="41148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Upload files with the paperclip icon (Excel, PDF, images)</a:t>
            </a:r>
            <a:endParaRPr lang="en-US" sz="1300" dirty="0"/>
          </a:p>
        </p:txBody>
      </p:sp>
      <p:sp>
        <p:nvSpPr>
          <p:cNvPr id="19" name="Shape 17"/>
          <p:cNvSpPr/>
          <p:nvPr/>
        </p:nvSpPr>
        <p:spPr>
          <a:xfrm>
            <a:off x="731520" y="3611880"/>
            <a:ext cx="411480" cy="411480"/>
          </a:xfrm>
          <a:prstGeom prst="rect">
            <a:avLst/>
          </a:prstGeom>
          <a:solidFill>
            <a:srgbClr val="1E2530"/>
          </a:solidFill>
          <a:ln/>
        </p:spPr>
        <p:txBody>
          <a:bodyPr/>
          <a:lstStyle/>
          <a:p>
            <a:endParaRPr lang="en-US"/>
          </a:p>
        </p:txBody>
      </p:sp>
      <p:sp>
        <p:nvSpPr>
          <p:cNvPr id="20" name="Text 18"/>
          <p:cNvSpPr/>
          <p:nvPr/>
        </p:nvSpPr>
        <p:spPr>
          <a:xfrm>
            <a:off x="731520" y="36118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5</a:t>
            </a:r>
            <a:endParaRPr lang="en-US" sz="1400" dirty="0"/>
          </a:p>
        </p:txBody>
      </p:sp>
      <p:sp>
        <p:nvSpPr>
          <p:cNvPr id="21" name="Text 19"/>
          <p:cNvSpPr/>
          <p:nvPr/>
        </p:nvSpPr>
        <p:spPr>
          <a:xfrm>
            <a:off x="1325880" y="3611880"/>
            <a:ext cx="3749040" cy="411480"/>
          </a:xfrm>
          <a:prstGeom prst="rect">
            <a:avLst/>
          </a:prstGeom>
          <a:noFill/>
          <a:ln/>
        </p:spPr>
        <p:txBody>
          <a:bodyPr wrap="square" lIns="0" tIns="0" rIns="0" bIns="0" rtlCol="0" anchor="ctr"/>
          <a:lstStyle/>
          <a:p>
            <a:pPr marL="0" indent="0">
              <a:buNone/>
            </a:pPr>
            <a:r>
              <a:rPr lang="en-US" sz="1300" dirty="0">
                <a:solidFill>
                  <a:srgbClr val="1E2530"/>
                </a:solidFill>
                <a:latin typeface="Open Sans" pitchFamily="34" charset="0"/>
                <a:ea typeface="Open Sans" pitchFamily="34" charset="-122"/>
                <a:cs typeface="Open Sans" pitchFamily="34" charset="-120"/>
              </a:rPr>
              <a:t>Download the desktop app for Mac or Windows (same account)</a:t>
            </a:r>
            <a:endParaRPr lang="en-US" sz="1300" dirty="0"/>
          </a:p>
        </p:txBody>
      </p:sp>
      <p:sp>
        <p:nvSpPr>
          <p:cNvPr id="22" name="Shape 20"/>
          <p:cNvSpPr/>
          <p:nvPr/>
        </p:nvSpPr>
        <p:spPr>
          <a:xfrm>
            <a:off x="5303520" y="1417320"/>
            <a:ext cx="3200400" cy="292608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23" name="Image 0" descr="preencoded.png"/>
          <p:cNvPicPr>
            <a:picLocks noChangeAspect="1"/>
          </p:cNvPicPr>
          <p:nvPr/>
        </p:nvPicPr>
        <p:blipFill>
          <a:blip r:embed="rId3"/>
          <a:stretch>
            <a:fillRect/>
          </a:stretch>
        </p:blipFill>
        <p:spPr>
          <a:xfrm>
            <a:off x="5532120" y="1600200"/>
            <a:ext cx="320040" cy="320040"/>
          </a:xfrm>
          <a:prstGeom prst="rect">
            <a:avLst/>
          </a:prstGeom>
        </p:spPr>
      </p:pic>
      <p:sp>
        <p:nvSpPr>
          <p:cNvPr id="24" name="Text 21"/>
          <p:cNvSpPr/>
          <p:nvPr/>
        </p:nvSpPr>
        <p:spPr>
          <a:xfrm>
            <a:off x="5943600" y="1600200"/>
            <a:ext cx="23774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Pro Tips</a:t>
            </a:r>
            <a:endParaRPr lang="en-US" sz="1400" dirty="0"/>
          </a:p>
        </p:txBody>
      </p:sp>
      <p:sp>
        <p:nvSpPr>
          <p:cNvPr id="25" name="Text 22"/>
          <p:cNvSpPr/>
          <p:nvPr/>
        </p:nvSpPr>
        <p:spPr>
          <a:xfrm>
            <a:off x="5532120" y="2103120"/>
            <a:ext cx="2743200" cy="685800"/>
          </a:xfrm>
          <a:prstGeom prst="rect">
            <a:avLst/>
          </a:prstGeom>
          <a:noFill/>
          <a:ln/>
        </p:spPr>
        <p:txBody>
          <a:bodyPr wrap="square" lIns="0" tIns="0" rIns="0" bIns="0" rtlCol="0" anchor="ctr"/>
          <a:lstStyle/>
          <a:p>
            <a:pPr marL="0" indent="0">
              <a:lnSpc>
                <a:spcPct val="135000"/>
              </a:lnSpc>
              <a:buNone/>
            </a:pPr>
            <a:r>
              <a:rPr lang="en-US" sz="1000" b="1" dirty="0">
                <a:solidFill>
                  <a:srgbClr val="5A6B7A"/>
                </a:solidFill>
                <a:latin typeface="Open Sans" pitchFamily="34" charset="0"/>
                <a:ea typeface="Open Sans" pitchFamily="34" charset="-122"/>
                <a:cs typeface="Open Sans" pitchFamily="34" charset="-120"/>
              </a:rPr>
              <a:t>Desktop app</a:t>
            </a:r>
            <a:endParaRPr lang="en-US" sz="1000" dirty="0"/>
          </a:p>
          <a:p>
            <a:pPr marL="0" indent="0">
              <a:lnSpc>
                <a:spcPct val="135000"/>
              </a:lnSpc>
              <a:buNone/>
            </a:pPr>
            <a:r>
              <a:rPr lang="en-US" sz="1000" dirty="0">
                <a:solidFill>
                  <a:srgbClr val="5A6B7A"/>
                </a:solidFill>
                <a:latin typeface="Open Sans" pitchFamily="34" charset="0"/>
                <a:ea typeface="Open Sans" pitchFamily="34" charset="-122"/>
                <a:cs typeface="Open Sans" pitchFamily="34" charset="-120"/>
              </a:rPr>
              <a:t>Same as the website but runs in its own window. Great for split-screen with Excel.</a:t>
            </a:r>
            <a:endParaRPr lang="en-US" sz="1000" dirty="0"/>
          </a:p>
        </p:txBody>
      </p:sp>
      <p:sp>
        <p:nvSpPr>
          <p:cNvPr id="26" name="Text 23"/>
          <p:cNvSpPr/>
          <p:nvPr/>
        </p:nvSpPr>
        <p:spPr>
          <a:xfrm>
            <a:off x="5532120" y="2834640"/>
            <a:ext cx="2743200" cy="685800"/>
          </a:xfrm>
          <a:prstGeom prst="rect">
            <a:avLst/>
          </a:prstGeom>
          <a:noFill/>
          <a:ln/>
        </p:spPr>
        <p:txBody>
          <a:bodyPr wrap="square" lIns="0" tIns="0" rIns="0" bIns="0" rtlCol="0" anchor="ctr"/>
          <a:lstStyle/>
          <a:p>
            <a:pPr marL="0" indent="0">
              <a:lnSpc>
                <a:spcPct val="135000"/>
              </a:lnSpc>
              <a:buNone/>
            </a:pPr>
            <a:r>
              <a:rPr lang="en-US" sz="1000" b="1" dirty="0">
                <a:solidFill>
                  <a:srgbClr val="5A6B7A"/>
                </a:solidFill>
                <a:latin typeface="Open Sans" pitchFamily="34" charset="0"/>
                <a:ea typeface="Open Sans" pitchFamily="34" charset="-122"/>
                <a:cs typeface="Open Sans" pitchFamily="34" charset="-120"/>
              </a:rPr>
              <a:t>Free vs Pro</a:t>
            </a:r>
            <a:endParaRPr lang="en-US" sz="1000" dirty="0"/>
          </a:p>
          <a:p>
            <a:pPr marL="0" indent="0">
              <a:lnSpc>
                <a:spcPct val="135000"/>
              </a:lnSpc>
              <a:buNone/>
            </a:pPr>
            <a:r>
              <a:rPr lang="en-US" sz="1000" dirty="0">
                <a:solidFill>
                  <a:srgbClr val="5A6B7A"/>
                </a:solidFill>
                <a:latin typeface="Open Sans" pitchFamily="34" charset="0"/>
                <a:ea typeface="Open Sans" pitchFamily="34" charset="-122"/>
                <a:cs typeface="Open Sans" pitchFamily="34" charset="-120"/>
              </a:rPr>
              <a:t>Free tier has daily message limits. Pro gives higher limits, extended thinking, and priority access.</a:t>
            </a:r>
            <a:endParaRPr lang="en-US" sz="1000" dirty="0"/>
          </a:p>
        </p:txBody>
      </p:sp>
      <p:sp>
        <p:nvSpPr>
          <p:cNvPr id="27" name="Text 24"/>
          <p:cNvSpPr/>
          <p:nvPr/>
        </p:nvSpPr>
        <p:spPr>
          <a:xfrm>
            <a:off x="5532120" y="3566160"/>
            <a:ext cx="2743200" cy="685800"/>
          </a:xfrm>
          <a:prstGeom prst="rect">
            <a:avLst/>
          </a:prstGeom>
          <a:noFill/>
          <a:ln/>
        </p:spPr>
        <p:txBody>
          <a:bodyPr wrap="square" lIns="0" tIns="0" rIns="0" bIns="0" rtlCol="0" anchor="ctr"/>
          <a:lstStyle/>
          <a:p>
            <a:pPr marL="0" indent="0">
              <a:lnSpc>
                <a:spcPct val="135000"/>
              </a:lnSpc>
              <a:buNone/>
            </a:pPr>
            <a:r>
              <a:rPr lang="en-US" sz="1000" b="1" dirty="0">
                <a:solidFill>
                  <a:srgbClr val="5A6B7A"/>
                </a:solidFill>
                <a:latin typeface="Open Sans" pitchFamily="34" charset="0"/>
                <a:ea typeface="Open Sans" pitchFamily="34" charset="-122"/>
                <a:cs typeface="Open Sans" pitchFamily="34" charset="-120"/>
              </a:rPr>
              <a:t>Privacy</a:t>
            </a:r>
            <a:endParaRPr lang="en-US" sz="1000" dirty="0"/>
          </a:p>
          <a:p>
            <a:pPr marL="0" indent="0">
              <a:lnSpc>
                <a:spcPct val="135000"/>
              </a:lnSpc>
              <a:buNone/>
            </a:pPr>
            <a:r>
              <a:rPr lang="en-US" sz="1000" dirty="0">
                <a:solidFill>
                  <a:srgbClr val="5A6B7A"/>
                </a:solidFill>
                <a:latin typeface="Open Sans" pitchFamily="34" charset="0"/>
                <a:ea typeface="Open Sans" pitchFamily="34" charset="-122"/>
                <a:cs typeface="Open Sans" pitchFamily="34" charset="-120"/>
              </a:rPr>
              <a:t>Don’t paste sensitive personal data. Course materials and public financial data are fine.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Uploading Files &amp; Using Projects</a:t>
            </a:r>
            <a:endParaRPr lang="en-US" sz="2800" dirty="0"/>
          </a:p>
        </p:txBody>
      </p:sp>
      <p:sp>
        <p:nvSpPr>
          <p:cNvPr id="6" name="Shape 4"/>
          <p:cNvSpPr/>
          <p:nvPr/>
        </p:nvSpPr>
        <p:spPr>
          <a:xfrm>
            <a:off x="731520" y="1005840"/>
            <a:ext cx="3749040" cy="342900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914400" y="1188720"/>
            <a:ext cx="365760" cy="365760"/>
          </a:xfrm>
          <a:prstGeom prst="rect">
            <a:avLst/>
          </a:prstGeom>
        </p:spPr>
      </p:pic>
      <p:sp>
        <p:nvSpPr>
          <p:cNvPr id="8" name="Text 5"/>
          <p:cNvSpPr/>
          <p:nvPr/>
        </p:nvSpPr>
        <p:spPr>
          <a:xfrm>
            <a:off x="1371600" y="1188720"/>
            <a:ext cx="2926080" cy="365760"/>
          </a:xfrm>
          <a:prstGeom prst="rect">
            <a:avLst/>
          </a:prstGeom>
          <a:noFill/>
          <a:ln/>
        </p:spPr>
        <p:txBody>
          <a:bodyPr wrap="square" lIns="0" tIns="0" rIns="0" bIns="0" rtlCol="0" anchor="ctr"/>
          <a:lstStyle/>
          <a:p>
            <a:pPr marL="0" indent="0">
              <a:buNone/>
            </a:pPr>
            <a:r>
              <a:rPr lang="en-US" sz="1600" b="1" dirty="0">
                <a:solidFill>
                  <a:srgbClr val="1E2530"/>
                </a:solidFill>
                <a:latin typeface="Open Sans" pitchFamily="34" charset="0"/>
                <a:ea typeface="Open Sans" pitchFamily="34" charset="-122"/>
                <a:cs typeface="Open Sans" pitchFamily="34" charset="-120"/>
              </a:rPr>
              <a:t>File Uploads</a:t>
            </a:r>
            <a:endParaRPr lang="en-US" sz="1600" dirty="0"/>
          </a:p>
        </p:txBody>
      </p:sp>
      <p:sp>
        <p:nvSpPr>
          <p:cNvPr id="9" name="Text 6"/>
          <p:cNvSpPr/>
          <p:nvPr/>
        </p:nvSpPr>
        <p:spPr>
          <a:xfrm>
            <a:off x="914400" y="1737360"/>
            <a:ext cx="3383280" cy="2377440"/>
          </a:xfrm>
          <a:prstGeom prst="rect">
            <a:avLst/>
          </a:prstGeom>
          <a:noFill/>
          <a:ln/>
        </p:spPr>
        <p:txBody>
          <a:bodyPr wrap="square" lIns="0" tIns="0" rIns="0" bIns="0" rtlCol="0" anchor="ctr"/>
          <a:lstStyle/>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Click the paperclip icon or drag and drop</a:t>
            </a:r>
            <a:endParaRPr lang="en-US" sz="1100" dirty="0"/>
          </a:p>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Supported: .xlsx, .pdf, .csv, .png, .jpg, .md</a:t>
            </a:r>
            <a:endParaRPr lang="en-US" sz="1100" dirty="0"/>
          </a:p>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Claude reads the actual content — not just the filename</a:t>
            </a:r>
            <a:endParaRPr lang="en-US" sz="1100" dirty="0"/>
          </a:p>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Upload your Stage 2 Excel to verify ratios</a:t>
            </a:r>
            <a:endParaRPr lang="en-US" sz="1100" dirty="0"/>
          </a:p>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Upload your Stage 3 spec as context for Stage 4</a:t>
            </a:r>
            <a:endParaRPr lang="en-US" sz="1100" dirty="0"/>
          </a:p>
        </p:txBody>
      </p:sp>
      <p:sp>
        <p:nvSpPr>
          <p:cNvPr id="10" name="Shape 7"/>
          <p:cNvSpPr/>
          <p:nvPr/>
        </p:nvSpPr>
        <p:spPr>
          <a:xfrm>
            <a:off x="4663440" y="1005840"/>
            <a:ext cx="3749040" cy="342900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4846320" y="1188720"/>
            <a:ext cx="365760" cy="365760"/>
          </a:xfrm>
          <a:prstGeom prst="rect">
            <a:avLst/>
          </a:prstGeom>
        </p:spPr>
      </p:pic>
      <p:sp>
        <p:nvSpPr>
          <p:cNvPr id="12" name="Text 8"/>
          <p:cNvSpPr/>
          <p:nvPr/>
        </p:nvSpPr>
        <p:spPr>
          <a:xfrm>
            <a:off x="5303520" y="1188720"/>
            <a:ext cx="2926080" cy="365760"/>
          </a:xfrm>
          <a:prstGeom prst="rect">
            <a:avLst/>
          </a:prstGeom>
          <a:noFill/>
          <a:ln/>
        </p:spPr>
        <p:txBody>
          <a:bodyPr wrap="square" lIns="0" tIns="0" rIns="0" bIns="0" rtlCol="0" anchor="ctr"/>
          <a:lstStyle/>
          <a:p>
            <a:pPr marL="0" indent="0">
              <a:buNone/>
            </a:pPr>
            <a:r>
              <a:rPr lang="en-US" sz="1600" b="1" dirty="0">
                <a:solidFill>
                  <a:srgbClr val="1E2530"/>
                </a:solidFill>
                <a:latin typeface="Open Sans" pitchFamily="34" charset="0"/>
                <a:ea typeface="Open Sans" pitchFamily="34" charset="-122"/>
                <a:cs typeface="Open Sans" pitchFamily="34" charset="-120"/>
              </a:rPr>
              <a:t>Projects (Pro Feature)</a:t>
            </a:r>
            <a:endParaRPr lang="en-US" sz="1600" dirty="0"/>
          </a:p>
        </p:txBody>
      </p:sp>
      <p:sp>
        <p:nvSpPr>
          <p:cNvPr id="13" name="Text 9"/>
          <p:cNvSpPr/>
          <p:nvPr/>
        </p:nvSpPr>
        <p:spPr>
          <a:xfrm>
            <a:off x="4846320" y="1737360"/>
            <a:ext cx="3383280" cy="2377440"/>
          </a:xfrm>
          <a:prstGeom prst="rect">
            <a:avLst/>
          </a:prstGeom>
          <a:noFill/>
          <a:ln/>
        </p:spPr>
        <p:txBody>
          <a:bodyPr wrap="square" lIns="0" tIns="0" rIns="0" bIns="0" rtlCol="0" anchor="ctr"/>
          <a:lstStyle/>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Create a project and attach your spec, rubric, and data files</a:t>
            </a:r>
            <a:endParaRPr lang="en-US" sz="1100" dirty="0"/>
          </a:p>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Every conversation in that project automatically sees those files</a:t>
            </a:r>
            <a:endParaRPr lang="en-US" sz="1100" dirty="0"/>
          </a:p>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No need to re-upload each session</a:t>
            </a:r>
            <a:endParaRPr lang="en-US" sz="1100" dirty="0"/>
          </a:p>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Add custom instructions: “Always use BUS-314 named range conventions”</a:t>
            </a:r>
            <a:endParaRPr lang="en-US" sz="1100" dirty="0"/>
          </a:p>
          <a:p>
            <a:pPr marL="342900" indent="-342900">
              <a:lnSpc>
                <a:spcPct val="160000"/>
              </a:lnSpc>
              <a:buSzPct val="100000"/>
              <a:buChar char="•"/>
            </a:pPr>
            <a:r>
              <a:rPr lang="en-US" sz="1100" dirty="0">
                <a:solidFill>
                  <a:srgbClr val="5A6B7A"/>
                </a:solidFill>
                <a:latin typeface="Open Sans" pitchFamily="34" charset="0"/>
                <a:ea typeface="Open Sans" pitchFamily="34" charset="-122"/>
                <a:cs typeface="Open Sans" pitchFamily="34" charset="-120"/>
              </a:rPr>
              <a:t>Great for multi-session work across stages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Artifacts</a:t>
            </a:r>
            <a:endParaRPr lang="en-US" sz="2800" dirty="0"/>
          </a:p>
        </p:txBody>
      </p:sp>
      <p:sp>
        <p:nvSpPr>
          <p:cNvPr id="6" name="Text 4"/>
          <p:cNvSpPr/>
          <p:nvPr/>
        </p:nvSpPr>
        <p:spPr>
          <a:xfrm>
            <a:off x="731520" y="868680"/>
            <a:ext cx="7680960" cy="457200"/>
          </a:xfrm>
          <a:prstGeom prst="rect">
            <a:avLst/>
          </a:prstGeom>
          <a:noFill/>
          <a:ln/>
        </p:spPr>
        <p:txBody>
          <a:bodyPr wrap="square" lIns="0" tIns="0" rIns="0" bIns="0" rtlCol="0" anchor="ctr"/>
          <a:lstStyle/>
          <a:p>
            <a:pPr marL="0" indent="0">
              <a:lnSpc>
                <a:spcPct val="130000"/>
              </a:lnSpc>
              <a:buNone/>
            </a:pPr>
            <a:r>
              <a:rPr lang="en-US" sz="1300" dirty="0">
                <a:solidFill>
                  <a:srgbClr val="5A6B7A"/>
                </a:solidFill>
                <a:latin typeface="Open Sans" pitchFamily="34" charset="0"/>
                <a:ea typeface="Open Sans" pitchFamily="34" charset="-122"/>
                <a:cs typeface="Open Sans" pitchFamily="34" charset="-120"/>
              </a:rPr>
              <a:t>When Claude generates a memo, table, or code block, it appears in an Artifact panel — a side-by-side document you can copy, edit, or download directly.</a:t>
            </a:r>
            <a:endParaRPr lang="en-US" sz="1300" dirty="0"/>
          </a:p>
        </p:txBody>
      </p:sp>
      <p:sp>
        <p:nvSpPr>
          <p:cNvPr id="7" name="Shape 5"/>
          <p:cNvSpPr/>
          <p:nvPr/>
        </p:nvSpPr>
        <p:spPr>
          <a:xfrm>
            <a:off x="731520" y="1554480"/>
            <a:ext cx="2514600" cy="25603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1645920" y="1783080"/>
            <a:ext cx="457200" cy="457200"/>
          </a:xfrm>
          <a:prstGeom prst="rect">
            <a:avLst/>
          </a:prstGeom>
        </p:spPr>
      </p:pic>
      <p:sp>
        <p:nvSpPr>
          <p:cNvPr id="9" name="Text 6"/>
          <p:cNvSpPr/>
          <p:nvPr/>
        </p:nvSpPr>
        <p:spPr>
          <a:xfrm>
            <a:off x="868680" y="2377440"/>
            <a:ext cx="224028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Markdown Memos</a:t>
            </a:r>
            <a:endParaRPr lang="en-US" sz="1400" dirty="0"/>
          </a:p>
        </p:txBody>
      </p:sp>
      <p:sp>
        <p:nvSpPr>
          <p:cNvPr id="10" name="Text 7"/>
          <p:cNvSpPr/>
          <p:nvPr/>
        </p:nvSpPr>
        <p:spPr>
          <a:xfrm>
            <a:off x="868680" y="2743200"/>
            <a:ext cx="2240280" cy="1188720"/>
          </a:xfrm>
          <a:prstGeom prst="rect">
            <a:avLst/>
          </a:prstGeom>
          <a:noFill/>
          <a:ln/>
        </p:spPr>
        <p:txBody>
          <a:bodyPr wrap="square" lIns="0" tIns="0" rIns="0" bIns="0" rtlCol="0" anchor="ctr"/>
          <a:lstStyle/>
          <a:p>
            <a:pPr marL="0" indent="0" algn="l">
              <a:lnSpc>
                <a:spcPct val="140000"/>
              </a:lnSpc>
              <a:buNone/>
            </a:pPr>
            <a:r>
              <a:rPr lang="en-US" sz="1100" dirty="0">
                <a:solidFill>
                  <a:srgbClr val="5A6B7A"/>
                </a:solidFill>
                <a:latin typeface="Open Sans" pitchFamily="34" charset="0"/>
                <a:ea typeface="Open Sans" pitchFamily="34" charset="-122"/>
                <a:cs typeface="Open Sans" pitchFamily="34" charset="-120"/>
              </a:rPr>
              <a:t>Ask Claude to draft your Stage 1 or Stage 4 memo. It appears as an editable Artifact you can copy into your .md file.</a:t>
            </a:r>
            <a:endParaRPr lang="en-US" sz="1100" dirty="0"/>
          </a:p>
        </p:txBody>
      </p:sp>
      <p:sp>
        <p:nvSpPr>
          <p:cNvPr id="11" name="Shape 8"/>
          <p:cNvSpPr/>
          <p:nvPr/>
        </p:nvSpPr>
        <p:spPr>
          <a:xfrm>
            <a:off x="3566160" y="1554480"/>
            <a:ext cx="2514600" cy="25603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4480560" y="1783080"/>
            <a:ext cx="457200" cy="457200"/>
          </a:xfrm>
          <a:prstGeom prst="rect">
            <a:avLst/>
          </a:prstGeom>
        </p:spPr>
      </p:pic>
      <p:sp>
        <p:nvSpPr>
          <p:cNvPr id="13" name="Text 9"/>
          <p:cNvSpPr/>
          <p:nvPr/>
        </p:nvSpPr>
        <p:spPr>
          <a:xfrm>
            <a:off x="3703320" y="2377440"/>
            <a:ext cx="224028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Tables &amp; Charts</a:t>
            </a:r>
            <a:endParaRPr lang="en-US" sz="1400" dirty="0"/>
          </a:p>
        </p:txBody>
      </p:sp>
      <p:sp>
        <p:nvSpPr>
          <p:cNvPr id="14" name="Text 10"/>
          <p:cNvSpPr/>
          <p:nvPr/>
        </p:nvSpPr>
        <p:spPr>
          <a:xfrm>
            <a:off x="3703320" y="2743200"/>
            <a:ext cx="2240280" cy="1188720"/>
          </a:xfrm>
          <a:prstGeom prst="rect">
            <a:avLst/>
          </a:prstGeom>
          <a:noFill/>
          <a:ln/>
        </p:spPr>
        <p:txBody>
          <a:bodyPr wrap="square" lIns="0" tIns="0" rIns="0" bIns="0" rtlCol="0" anchor="ctr"/>
          <a:lstStyle/>
          <a:p>
            <a:pPr marL="0" indent="0" algn="l">
              <a:lnSpc>
                <a:spcPct val="140000"/>
              </a:lnSpc>
              <a:buNone/>
            </a:pPr>
            <a:r>
              <a:rPr lang="en-US" sz="1100" dirty="0">
                <a:solidFill>
                  <a:srgbClr val="5A6B7A"/>
                </a:solidFill>
                <a:latin typeface="Open Sans" pitchFamily="34" charset="0"/>
                <a:ea typeface="Open Sans" pitchFamily="34" charset="-122"/>
                <a:cs typeface="Open Sans" pitchFamily="34" charset="-120"/>
              </a:rPr>
              <a:t>Claude can generate Markdown tables, HTML previews, and structured data. Perfect for ratio summaries.</a:t>
            </a:r>
            <a:endParaRPr lang="en-US" sz="1100" dirty="0"/>
          </a:p>
        </p:txBody>
      </p:sp>
      <p:sp>
        <p:nvSpPr>
          <p:cNvPr id="15" name="Shape 11"/>
          <p:cNvSpPr/>
          <p:nvPr/>
        </p:nvSpPr>
        <p:spPr>
          <a:xfrm>
            <a:off x="6400800" y="1554480"/>
            <a:ext cx="2514600" cy="25603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7315200" y="1783080"/>
            <a:ext cx="457200" cy="457200"/>
          </a:xfrm>
          <a:prstGeom prst="rect">
            <a:avLst/>
          </a:prstGeom>
        </p:spPr>
      </p:pic>
      <p:sp>
        <p:nvSpPr>
          <p:cNvPr id="17" name="Text 12"/>
          <p:cNvSpPr/>
          <p:nvPr/>
        </p:nvSpPr>
        <p:spPr>
          <a:xfrm>
            <a:off x="6537960" y="2377440"/>
            <a:ext cx="2240280" cy="320040"/>
          </a:xfrm>
          <a:prstGeom prst="rect">
            <a:avLst/>
          </a:prstGeom>
          <a:noFill/>
          <a:ln/>
        </p:spPr>
        <p:txBody>
          <a:bodyPr wrap="square" lIns="0" tIns="0" rIns="0" bIns="0" rtlCol="0" anchor="ctr"/>
          <a:lstStyle/>
          <a:p>
            <a:pPr marL="0" indent="0" algn="ctr">
              <a:buNone/>
            </a:pPr>
            <a:r>
              <a:rPr lang="en-US" sz="1400" b="1" dirty="0">
                <a:solidFill>
                  <a:srgbClr val="1E2530"/>
                </a:solidFill>
                <a:latin typeface="Open Sans" pitchFamily="34" charset="0"/>
                <a:ea typeface="Open Sans" pitchFamily="34" charset="-122"/>
                <a:cs typeface="Open Sans" pitchFamily="34" charset="-120"/>
              </a:rPr>
              <a:t>Code &amp; Formulas</a:t>
            </a:r>
            <a:endParaRPr lang="en-US" sz="1400" dirty="0"/>
          </a:p>
        </p:txBody>
      </p:sp>
      <p:sp>
        <p:nvSpPr>
          <p:cNvPr id="18" name="Text 13"/>
          <p:cNvSpPr/>
          <p:nvPr/>
        </p:nvSpPr>
        <p:spPr>
          <a:xfrm>
            <a:off x="6537960" y="2743200"/>
            <a:ext cx="2240280" cy="1188720"/>
          </a:xfrm>
          <a:prstGeom prst="rect">
            <a:avLst/>
          </a:prstGeom>
          <a:noFill/>
          <a:ln/>
        </p:spPr>
        <p:txBody>
          <a:bodyPr wrap="square" lIns="0" tIns="0" rIns="0" bIns="0" rtlCol="0" anchor="ctr"/>
          <a:lstStyle/>
          <a:p>
            <a:pPr marL="0" indent="0" algn="l">
              <a:lnSpc>
                <a:spcPct val="140000"/>
              </a:lnSpc>
              <a:buNone/>
            </a:pPr>
            <a:r>
              <a:rPr lang="en-US" sz="1100" dirty="0">
                <a:solidFill>
                  <a:srgbClr val="5A6B7A"/>
                </a:solidFill>
                <a:latin typeface="Open Sans" pitchFamily="34" charset="0"/>
                <a:ea typeface="Open Sans" pitchFamily="34" charset="-122"/>
                <a:cs typeface="Open Sans" pitchFamily="34" charset="-120"/>
              </a:rPr>
              <a:t>Request Excel formulas or Python scripts. Artifacts let you preview and iterate without leaving the conversation.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Example: Using Claude for Stage 4</a:t>
            </a:r>
            <a:endParaRPr lang="en-US" sz="2800" dirty="0"/>
          </a:p>
        </p:txBody>
      </p:sp>
      <p:sp>
        <p:nvSpPr>
          <p:cNvPr id="6" name="Shape 4"/>
          <p:cNvSpPr/>
          <p:nvPr/>
        </p:nvSpPr>
        <p:spPr>
          <a:xfrm>
            <a:off x="731520" y="1005840"/>
            <a:ext cx="457200" cy="457200"/>
          </a:xfrm>
          <a:prstGeom prst="rect">
            <a:avLst/>
          </a:prstGeom>
          <a:solidFill>
            <a:srgbClr val="1E2530"/>
          </a:solidFill>
          <a:ln/>
        </p:spPr>
        <p:txBody>
          <a:bodyPr/>
          <a:lstStyle/>
          <a:p>
            <a:endParaRPr lang="en-US"/>
          </a:p>
        </p:txBody>
      </p:sp>
      <p:sp>
        <p:nvSpPr>
          <p:cNvPr id="7" name="Text 5"/>
          <p:cNvSpPr/>
          <p:nvPr/>
        </p:nvSpPr>
        <p:spPr>
          <a:xfrm>
            <a:off x="731520" y="1005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1</a:t>
            </a:r>
            <a:endParaRPr lang="en-US" sz="1600" dirty="0"/>
          </a:p>
        </p:txBody>
      </p:sp>
      <p:sp>
        <p:nvSpPr>
          <p:cNvPr id="8" name="Text 6"/>
          <p:cNvSpPr/>
          <p:nvPr/>
        </p:nvSpPr>
        <p:spPr>
          <a:xfrm>
            <a:off x="1371600" y="1005840"/>
            <a:ext cx="1828800" cy="45720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Upload Context</a:t>
            </a:r>
            <a:endParaRPr lang="en-US" sz="1400" dirty="0"/>
          </a:p>
        </p:txBody>
      </p:sp>
      <p:sp>
        <p:nvSpPr>
          <p:cNvPr id="9" name="Text 7"/>
          <p:cNvSpPr/>
          <p:nvPr/>
        </p:nvSpPr>
        <p:spPr>
          <a:xfrm>
            <a:off x="3200400" y="1005840"/>
            <a:ext cx="5303520" cy="640080"/>
          </a:xfrm>
          <a:prstGeom prst="rect">
            <a:avLst/>
          </a:prstGeom>
          <a:noFill/>
          <a:ln/>
        </p:spPr>
        <p:txBody>
          <a:bodyPr wrap="square" lIns="0" tIns="0" rIns="0" bIns="0" rtlCol="0" anchor="ctr"/>
          <a:lstStyle/>
          <a:p>
            <a:pPr marL="0" indent="0">
              <a:lnSpc>
                <a:spcPct val="130000"/>
              </a:lnSpc>
              <a:buNone/>
            </a:pPr>
            <a:r>
              <a:rPr lang="en-US" sz="1200" dirty="0">
                <a:solidFill>
                  <a:srgbClr val="5A6B7A"/>
                </a:solidFill>
                <a:latin typeface="Open Sans" pitchFamily="34" charset="0"/>
                <a:ea typeface="Open Sans" pitchFamily="34" charset="-122"/>
                <a:cs typeface="Open Sans" pitchFamily="34" charset="-120"/>
              </a:rPr>
              <a:t>Upload your Stage 3 spec (.md) and Stage 2 Excel (.xlsx) to Claude.</a:t>
            </a:r>
            <a:endParaRPr lang="en-US" sz="1200" dirty="0"/>
          </a:p>
        </p:txBody>
      </p:sp>
      <p:sp>
        <p:nvSpPr>
          <p:cNvPr id="10" name="Shape 8"/>
          <p:cNvSpPr/>
          <p:nvPr/>
        </p:nvSpPr>
        <p:spPr>
          <a:xfrm>
            <a:off x="731520" y="1920240"/>
            <a:ext cx="457200" cy="457200"/>
          </a:xfrm>
          <a:prstGeom prst="rect">
            <a:avLst/>
          </a:prstGeom>
          <a:solidFill>
            <a:srgbClr val="1E2530"/>
          </a:solidFill>
          <a:ln/>
        </p:spPr>
        <p:txBody>
          <a:bodyPr/>
          <a:lstStyle/>
          <a:p>
            <a:endParaRPr lang="en-US"/>
          </a:p>
        </p:txBody>
      </p:sp>
      <p:sp>
        <p:nvSpPr>
          <p:cNvPr id="11" name="Text 9"/>
          <p:cNvSpPr/>
          <p:nvPr/>
        </p:nvSpPr>
        <p:spPr>
          <a:xfrm>
            <a:off x="731520" y="19202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2</a:t>
            </a:r>
            <a:endParaRPr lang="en-US" sz="1600" dirty="0"/>
          </a:p>
        </p:txBody>
      </p:sp>
      <p:sp>
        <p:nvSpPr>
          <p:cNvPr id="12" name="Text 10"/>
          <p:cNvSpPr/>
          <p:nvPr/>
        </p:nvSpPr>
        <p:spPr>
          <a:xfrm>
            <a:off x="1371600" y="1920240"/>
            <a:ext cx="1828800" cy="45720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Give the Prompt</a:t>
            </a:r>
            <a:endParaRPr lang="en-US" sz="1400" dirty="0"/>
          </a:p>
        </p:txBody>
      </p:sp>
      <p:sp>
        <p:nvSpPr>
          <p:cNvPr id="13" name="Text 11"/>
          <p:cNvSpPr/>
          <p:nvPr/>
        </p:nvSpPr>
        <p:spPr>
          <a:xfrm>
            <a:off x="3200400" y="1920240"/>
            <a:ext cx="5303520" cy="640080"/>
          </a:xfrm>
          <a:prstGeom prst="rect">
            <a:avLst/>
          </a:prstGeom>
          <a:noFill/>
          <a:ln/>
        </p:spPr>
        <p:txBody>
          <a:bodyPr wrap="square" lIns="0" tIns="0" rIns="0" bIns="0" rtlCol="0" anchor="ctr"/>
          <a:lstStyle/>
          <a:p>
            <a:pPr marL="0" indent="0">
              <a:lnSpc>
                <a:spcPct val="130000"/>
              </a:lnSpc>
              <a:buNone/>
            </a:pPr>
            <a:r>
              <a:rPr lang="en-US" sz="1200" dirty="0">
                <a:solidFill>
                  <a:srgbClr val="5A6B7A"/>
                </a:solidFill>
                <a:latin typeface="Open Sans" pitchFamily="34" charset="0"/>
                <a:ea typeface="Open Sans" pitchFamily="34" charset="-122"/>
                <a:cs typeface="Open Sans" pitchFamily="34" charset="-120"/>
              </a:rPr>
              <a:t>“Using the attached spec, write a structured AI prompt that could regenerate my Excel model. Use # GOAL → # DATA → # RATIOS → # VERIFY headers.”</a:t>
            </a:r>
            <a:endParaRPr lang="en-US" sz="1200" dirty="0"/>
          </a:p>
        </p:txBody>
      </p:sp>
      <p:sp>
        <p:nvSpPr>
          <p:cNvPr id="14" name="Shape 12"/>
          <p:cNvSpPr/>
          <p:nvPr/>
        </p:nvSpPr>
        <p:spPr>
          <a:xfrm>
            <a:off x="731520" y="2834640"/>
            <a:ext cx="457200" cy="457200"/>
          </a:xfrm>
          <a:prstGeom prst="rect">
            <a:avLst/>
          </a:prstGeom>
          <a:solidFill>
            <a:srgbClr val="1E2530"/>
          </a:solidFill>
          <a:ln/>
        </p:spPr>
        <p:txBody>
          <a:bodyPr/>
          <a:lstStyle/>
          <a:p>
            <a:endParaRPr lang="en-US"/>
          </a:p>
        </p:txBody>
      </p:sp>
      <p:sp>
        <p:nvSpPr>
          <p:cNvPr id="15" name="Text 13"/>
          <p:cNvSpPr/>
          <p:nvPr/>
        </p:nvSpPr>
        <p:spPr>
          <a:xfrm>
            <a:off x="731520" y="28346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3</a:t>
            </a:r>
            <a:endParaRPr lang="en-US" sz="1600" dirty="0"/>
          </a:p>
        </p:txBody>
      </p:sp>
      <p:sp>
        <p:nvSpPr>
          <p:cNvPr id="16" name="Text 14"/>
          <p:cNvSpPr/>
          <p:nvPr/>
        </p:nvSpPr>
        <p:spPr>
          <a:xfrm>
            <a:off x="1371600" y="2834640"/>
            <a:ext cx="1828800" cy="45720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Review &amp; Refine</a:t>
            </a:r>
            <a:endParaRPr lang="en-US" sz="1400" dirty="0"/>
          </a:p>
        </p:txBody>
      </p:sp>
      <p:sp>
        <p:nvSpPr>
          <p:cNvPr id="17" name="Text 15"/>
          <p:cNvSpPr/>
          <p:nvPr/>
        </p:nvSpPr>
        <p:spPr>
          <a:xfrm>
            <a:off x="3200400" y="2834640"/>
            <a:ext cx="5303520" cy="640080"/>
          </a:xfrm>
          <a:prstGeom prst="rect">
            <a:avLst/>
          </a:prstGeom>
          <a:noFill/>
          <a:ln/>
        </p:spPr>
        <p:txBody>
          <a:bodyPr wrap="square" lIns="0" tIns="0" rIns="0" bIns="0" rtlCol="0" anchor="ctr"/>
          <a:lstStyle/>
          <a:p>
            <a:pPr marL="0" indent="0">
              <a:lnSpc>
                <a:spcPct val="130000"/>
              </a:lnSpc>
              <a:buNone/>
            </a:pPr>
            <a:r>
              <a:rPr lang="en-US" sz="1200" dirty="0">
                <a:solidFill>
                  <a:srgbClr val="5A6B7A"/>
                </a:solidFill>
                <a:latin typeface="Open Sans" pitchFamily="34" charset="0"/>
                <a:ea typeface="Open Sans" pitchFamily="34" charset="-122"/>
                <a:cs typeface="Open Sans" pitchFamily="34" charset="-120"/>
              </a:rPr>
              <a:t>Check that every named range appears. Ask: “Add the Du Pont cross-check step” or “Include color-coding instructions.”</a:t>
            </a:r>
            <a:endParaRPr lang="en-US" sz="1200" dirty="0"/>
          </a:p>
        </p:txBody>
      </p:sp>
      <p:sp>
        <p:nvSpPr>
          <p:cNvPr id="18" name="Shape 16"/>
          <p:cNvSpPr/>
          <p:nvPr/>
        </p:nvSpPr>
        <p:spPr>
          <a:xfrm>
            <a:off x="731520" y="3749040"/>
            <a:ext cx="457200" cy="457200"/>
          </a:xfrm>
          <a:prstGeom prst="rect">
            <a:avLst/>
          </a:prstGeom>
          <a:solidFill>
            <a:srgbClr val="1E2530"/>
          </a:solidFill>
          <a:ln/>
        </p:spPr>
        <p:txBody>
          <a:bodyPr/>
          <a:lstStyle/>
          <a:p>
            <a:endParaRPr lang="en-US"/>
          </a:p>
        </p:txBody>
      </p:sp>
      <p:sp>
        <p:nvSpPr>
          <p:cNvPr id="19" name="Text 17"/>
          <p:cNvSpPr/>
          <p:nvPr/>
        </p:nvSpPr>
        <p:spPr>
          <a:xfrm>
            <a:off x="731520" y="3749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Open Sans" pitchFamily="34" charset="0"/>
                <a:ea typeface="Open Sans" pitchFamily="34" charset="-122"/>
                <a:cs typeface="Open Sans" pitchFamily="34" charset="-120"/>
              </a:rPr>
              <a:t>4</a:t>
            </a:r>
            <a:endParaRPr lang="en-US" sz="1600" dirty="0"/>
          </a:p>
        </p:txBody>
      </p:sp>
      <p:sp>
        <p:nvSpPr>
          <p:cNvPr id="20" name="Text 18"/>
          <p:cNvSpPr/>
          <p:nvPr/>
        </p:nvSpPr>
        <p:spPr>
          <a:xfrm>
            <a:off x="1371600" y="3749040"/>
            <a:ext cx="1828800" cy="45720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Export</a:t>
            </a:r>
            <a:endParaRPr lang="en-US" sz="1400" dirty="0"/>
          </a:p>
        </p:txBody>
      </p:sp>
      <p:sp>
        <p:nvSpPr>
          <p:cNvPr id="21" name="Text 19"/>
          <p:cNvSpPr/>
          <p:nvPr/>
        </p:nvSpPr>
        <p:spPr>
          <a:xfrm>
            <a:off x="3200400" y="3749040"/>
            <a:ext cx="5303520" cy="640080"/>
          </a:xfrm>
          <a:prstGeom prst="rect">
            <a:avLst/>
          </a:prstGeom>
          <a:noFill/>
          <a:ln/>
        </p:spPr>
        <p:txBody>
          <a:bodyPr wrap="square" lIns="0" tIns="0" rIns="0" bIns="0" rtlCol="0" anchor="ctr"/>
          <a:lstStyle/>
          <a:p>
            <a:pPr marL="0" indent="0">
              <a:lnSpc>
                <a:spcPct val="130000"/>
              </a:lnSpc>
              <a:buNone/>
            </a:pPr>
            <a:r>
              <a:rPr lang="en-US" sz="1200" dirty="0">
                <a:solidFill>
                  <a:srgbClr val="5A6B7A"/>
                </a:solidFill>
                <a:latin typeface="Open Sans" pitchFamily="34" charset="0"/>
                <a:ea typeface="Open Sans" pitchFamily="34" charset="-122"/>
                <a:cs typeface="Open Sans" pitchFamily="34" charset="-120"/>
              </a:rPr>
              <a:t>Copy the Artifact into your Stage 4 deliverable. Commit to GitHub.</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E2530"/>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Text 1"/>
          <p:cNvSpPr/>
          <p:nvPr/>
        </p:nvSpPr>
        <p:spPr>
          <a:xfrm>
            <a:off x="731520" y="731520"/>
            <a:ext cx="7680960" cy="365760"/>
          </a:xfrm>
          <a:prstGeom prst="rect">
            <a:avLst/>
          </a:prstGeom>
          <a:noFill/>
          <a:ln/>
        </p:spPr>
        <p:txBody>
          <a:bodyPr wrap="square" lIns="0" tIns="0" rIns="0" bIns="0" rtlCol="0" anchor="ctr"/>
          <a:lstStyle/>
          <a:p>
            <a:pPr marL="0" indent="0">
              <a:buNone/>
            </a:pPr>
            <a:r>
              <a:rPr lang="en-US" sz="1400" b="1" kern="0" spc="600" dirty="0">
                <a:solidFill>
                  <a:srgbClr val="B8975C"/>
                </a:solidFill>
                <a:latin typeface="Open Sans" pitchFamily="34" charset="0"/>
                <a:ea typeface="Open Sans" pitchFamily="34" charset="-122"/>
                <a:cs typeface="Open Sans" pitchFamily="34" charset="-120"/>
              </a:rPr>
              <a:t>PART 2</a:t>
            </a:r>
            <a:endParaRPr lang="en-US" sz="1400" dirty="0"/>
          </a:p>
        </p:txBody>
      </p:sp>
      <p:sp>
        <p:nvSpPr>
          <p:cNvPr id="4" name="Text 2"/>
          <p:cNvSpPr/>
          <p:nvPr/>
        </p:nvSpPr>
        <p:spPr>
          <a:xfrm>
            <a:off x="731520" y="1280160"/>
            <a:ext cx="7680960" cy="1645920"/>
          </a:xfrm>
          <a:prstGeom prst="rect">
            <a:avLst/>
          </a:prstGeom>
          <a:noFill/>
          <a:ln/>
        </p:spPr>
        <p:txBody>
          <a:bodyPr wrap="square" lIns="0" tIns="0" rIns="0" bIns="0" rtlCol="0" anchor="ctr"/>
          <a:lstStyle/>
          <a:p>
            <a:pPr marL="0" indent="0">
              <a:lnSpc>
                <a:spcPct val="110000"/>
              </a:lnSpc>
              <a:buNone/>
            </a:pPr>
            <a:r>
              <a:rPr lang="en-US" sz="4000" b="1" dirty="0">
                <a:solidFill>
                  <a:srgbClr val="FFFFFF"/>
                </a:solidFill>
                <a:latin typeface="Open Sans" pitchFamily="34" charset="0"/>
                <a:ea typeface="Open Sans" pitchFamily="34" charset="-122"/>
                <a:cs typeface="Open Sans" pitchFamily="34" charset="-120"/>
              </a:rPr>
              <a:t>Claude Code</a:t>
            </a:r>
            <a:endParaRPr lang="en-US" sz="4000" dirty="0"/>
          </a:p>
          <a:p>
            <a:pPr marL="0" indent="0">
              <a:lnSpc>
                <a:spcPct val="110000"/>
              </a:lnSpc>
              <a:buNone/>
            </a:pPr>
            <a:r>
              <a:rPr lang="en-US" sz="4000" b="1" dirty="0">
                <a:solidFill>
                  <a:srgbClr val="FFFFFF"/>
                </a:solidFill>
                <a:latin typeface="Open Sans" pitchFamily="34" charset="0"/>
                <a:ea typeface="Open Sans" pitchFamily="34" charset="-122"/>
                <a:cs typeface="Open Sans" pitchFamily="34" charset="-120"/>
              </a:rPr>
              <a:t>in Your Terminal</a:t>
            </a:r>
            <a:endParaRPr lang="en-US" sz="4000" dirty="0"/>
          </a:p>
        </p:txBody>
      </p:sp>
      <p:sp>
        <p:nvSpPr>
          <p:cNvPr id="5" name="Shape 3"/>
          <p:cNvSpPr/>
          <p:nvPr/>
        </p:nvSpPr>
        <p:spPr>
          <a:xfrm>
            <a:off x="731520" y="3108960"/>
            <a:ext cx="1828800" cy="36576"/>
          </a:xfrm>
          <a:prstGeom prst="rect">
            <a:avLst/>
          </a:prstGeom>
          <a:solidFill>
            <a:srgbClr val="B8975C"/>
          </a:solidFill>
          <a:ln/>
        </p:spPr>
        <p:txBody>
          <a:bodyPr/>
          <a:lstStyle/>
          <a:p>
            <a:endParaRPr lang="en-US"/>
          </a:p>
        </p:txBody>
      </p:sp>
      <p:sp>
        <p:nvSpPr>
          <p:cNvPr id="6" name="Text 4"/>
          <p:cNvSpPr/>
          <p:nvPr/>
        </p:nvSpPr>
        <p:spPr>
          <a:xfrm>
            <a:off x="731520" y="3337560"/>
            <a:ext cx="6400800" cy="640080"/>
          </a:xfrm>
          <a:prstGeom prst="rect">
            <a:avLst/>
          </a:prstGeom>
          <a:noFill/>
          <a:ln/>
        </p:spPr>
        <p:txBody>
          <a:bodyPr wrap="square" lIns="0" tIns="0" rIns="0" bIns="0" rtlCol="0" anchor="ctr"/>
          <a:lstStyle/>
          <a:p>
            <a:pPr marL="0" indent="0">
              <a:lnSpc>
                <a:spcPct val="140000"/>
              </a:lnSpc>
              <a:buNone/>
            </a:pPr>
            <a:r>
              <a:rPr lang="en-US" sz="1400" dirty="0">
                <a:solidFill>
                  <a:srgbClr val="8A9BAD"/>
                </a:solidFill>
                <a:latin typeface="Open Sans" pitchFamily="34" charset="0"/>
                <a:ea typeface="Open Sans" pitchFamily="34" charset="-122"/>
                <a:cs typeface="Open Sans" pitchFamily="34" charset="-120"/>
              </a:rPr>
              <a:t>Claude that lives in your terminal, reads your files,</a:t>
            </a:r>
            <a:endParaRPr lang="en-US" sz="1400" dirty="0"/>
          </a:p>
          <a:p>
            <a:pPr marL="0" indent="0">
              <a:lnSpc>
                <a:spcPct val="140000"/>
              </a:lnSpc>
              <a:buNone/>
            </a:pPr>
            <a:r>
              <a:rPr lang="en-US" sz="1400" dirty="0">
                <a:solidFill>
                  <a:srgbClr val="8A9BAD"/>
                </a:solidFill>
                <a:latin typeface="Open Sans" pitchFamily="34" charset="0"/>
                <a:ea typeface="Open Sans" pitchFamily="34" charset="-122"/>
                <a:cs typeface="Open Sans" pitchFamily="34" charset="-120"/>
              </a:rPr>
              <a:t>and works alongside Git. The power-user option.</a:t>
            </a:r>
            <a:endParaRPr lang="en-US" sz="1400" dirty="0"/>
          </a:p>
        </p:txBody>
      </p:sp>
      <p:pic>
        <p:nvPicPr>
          <p:cNvPr id="7" name="Image 0" descr="preencoded.png"/>
          <p:cNvPicPr>
            <a:picLocks noChangeAspect="1"/>
          </p:cNvPicPr>
          <p:nvPr/>
        </p:nvPicPr>
        <p:blipFill>
          <a:blip r:embed="rId3"/>
          <a:stretch>
            <a:fillRect/>
          </a:stretch>
        </p:blipFill>
        <p:spPr>
          <a:xfrm>
            <a:off x="7132320" y="3017520"/>
            <a:ext cx="1097280" cy="1097280"/>
          </a:xfrm>
          <a:prstGeom prst="rect">
            <a:avLst/>
          </a:prstGeom>
        </p:spPr>
      </p:pic>
      <p:sp>
        <p:nvSpPr>
          <p:cNvPr id="8" name="Text 5"/>
          <p:cNvSpPr/>
          <p:nvPr/>
        </p:nvSpPr>
        <p:spPr>
          <a:xfrm>
            <a:off x="457200" y="4663440"/>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What Is Claude Code?</a:t>
            </a:r>
            <a:endParaRPr lang="en-US" sz="2800" dirty="0"/>
          </a:p>
        </p:txBody>
      </p:sp>
      <p:sp>
        <p:nvSpPr>
          <p:cNvPr id="6" name="Text 4"/>
          <p:cNvSpPr/>
          <p:nvPr/>
        </p:nvSpPr>
        <p:spPr>
          <a:xfrm>
            <a:off x="731520" y="868680"/>
            <a:ext cx="7680960" cy="502920"/>
          </a:xfrm>
          <a:prstGeom prst="rect">
            <a:avLst/>
          </a:prstGeom>
          <a:noFill/>
          <a:ln/>
        </p:spPr>
        <p:txBody>
          <a:bodyPr wrap="square" lIns="0" tIns="0" rIns="0" bIns="0" rtlCol="0" anchor="ctr"/>
          <a:lstStyle/>
          <a:p>
            <a:pPr marL="0" indent="0">
              <a:lnSpc>
                <a:spcPct val="130000"/>
              </a:lnSpc>
              <a:buNone/>
            </a:pPr>
            <a:r>
              <a:rPr lang="en-US" sz="1300" dirty="0">
                <a:solidFill>
                  <a:srgbClr val="5A6B7A"/>
                </a:solidFill>
                <a:latin typeface="Open Sans" pitchFamily="34" charset="0"/>
                <a:ea typeface="Open Sans" pitchFamily="34" charset="-122"/>
                <a:cs typeface="Open Sans" pitchFamily="34" charset="-120"/>
              </a:rPr>
              <a:t>Claude Code is a command-line tool that runs Claude directly in your terminal. It can read and write files in your repository, run Git commands, and help you build deliverables without leaving the command line.</a:t>
            </a:r>
            <a:endParaRPr lang="en-US" sz="1300" dirty="0"/>
          </a:p>
        </p:txBody>
      </p:sp>
      <p:sp>
        <p:nvSpPr>
          <p:cNvPr id="7" name="Shape 5"/>
          <p:cNvSpPr/>
          <p:nvPr/>
        </p:nvSpPr>
        <p:spPr>
          <a:xfrm>
            <a:off x="731520" y="1600200"/>
            <a:ext cx="3749040" cy="11887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914400" y="1828800"/>
            <a:ext cx="365760" cy="365760"/>
          </a:xfrm>
          <a:prstGeom prst="rect">
            <a:avLst/>
          </a:prstGeom>
        </p:spPr>
      </p:pic>
      <p:sp>
        <p:nvSpPr>
          <p:cNvPr id="9" name="Text 6"/>
          <p:cNvSpPr/>
          <p:nvPr/>
        </p:nvSpPr>
        <p:spPr>
          <a:xfrm>
            <a:off x="1417320" y="1737360"/>
            <a:ext cx="288036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Reads Your Repo</a:t>
            </a:r>
            <a:endParaRPr lang="en-US" sz="1300" dirty="0"/>
          </a:p>
        </p:txBody>
      </p:sp>
      <p:sp>
        <p:nvSpPr>
          <p:cNvPr id="10" name="Text 7"/>
          <p:cNvSpPr/>
          <p:nvPr/>
        </p:nvSpPr>
        <p:spPr>
          <a:xfrm>
            <a:off x="1417320" y="2057400"/>
            <a:ext cx="2880360" cy="640080"/>
          </a:xfrm>
          <a:prstGeom prst="rect">
            <a:avLst/>
          </a:prstGeom>
          <a:noFill/>
          <a:ln/>
        </p:spPr>
        <p:txBody>
          <a:bodyPr wrap="square" lIns="0" tIns="0" rIns="0" bIns="0" rtlCol="0" anchor="ctr"/>
          <a:lstStyle/>
          <a:p>
            <a:pPr marL="0" indent="0">
              <a:lnSpc>
                <a:spcPct val="135000"/>
              </a:lnSpc>
              <a:buNone/>
            </a:pPr>
            <a:r>
              <a:rPr lang="en-US" sz="1050" dirty="0">
                <a:solidFill>
                  <a:srgbClr val="5A6B7A"/>
                </a:solidFill>
                <a:latin typeface="Open Sans" pitchFamily="34" charset="0"/>
                <a:ea typeface="Open Sans" pitchFamily="34" charset="-122"/>
                <a:cs typeface="Open Sans" pitchFamily="34" charset="-120"/>
              </a:rPr>
              <a:t>Claude Code sees every file in your project. Ask about your spec, your Excel, your memo — it reads them directly.</a:t>
            </a:r>
            <a:endParaRPr lang="en-US" sz="1050" dirty="0"/>
          </a:p>
        </p:txBody>
      </p:sp>
      <p:sp>
        <p:nvSpPr>
          <p:cNvPr id="11" name="Shape 8"/>
          <p:cNvSpPr/>
          <p:nvPr/>
        </p:nvSpPr>
        <p:spPr>
          <a:xfrm>
            <a:off x="4846320" y="1600200"/>
            <a:ext cx="3749040" cy="11887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5029200" y="1828800"/>
            <a:ext cx="365760" cy="365760"/>
          </a:xfrm>
          <a:prstGeom prst="rect">
            <a:avLst/>
          </a:prstGeom>
        </p:spPr>
      </p:pic>
      <p:sp>
        <p:nvSpPr>
          <p:cNvPr id="13" name="Text 9"/>
          <p:cNvSpPr/>
          <p:nvPr/>
        </p:nvSpPr>
        <p:spPr>
          <a:xfrm>
            <a:off x="5532120" y="1737360"/>
            <a:ext cx="288036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Runs Commands</a:t>
            </a:r>
            <a:endParaRPr lang="en-US" sz="1300" dirty="0"/>
          </a:p>
        </p:txBody>
      </p:sp>
      <p:sp>
        <p:nvSpPr>
          <p:cNvPr id="14" name="Text 10"/>
          <p:cNvSpPr/>
          <p:nvPr/>
        </p:nvSpPr>
        <p:spPr>
          <a:xfrm>
            <a:off x="5532120" y="2057400"/>
            <a:ext cx="2880360" cy="640080"/>
          </a:xfrm>
          <a:prstGeom prst="rect">
            <a:avLst/>
          </a:prstGeom>
          <a:noFill/>
          <a:ln/>
        </p:spPr>
        <p:txBody>
          <a:bodyPr wrap="square" lIns="0" tIns="0" rIns="0" bIns="0" rtlCol="0" anchor="ctr"/>
          <a:lstStyle/>
          <a:p>
            <a:pPr marL="0" indent="0">
              <a:lnSpc>
                <a:spcPct val="135000"/>
              </a:lnSpc>
              <a:buNone/>
            </a:pPr>
            <a:r>
              <a:rPr lang="en-US" sz="1050" dirty="0">
                <a:solidFill>
                  <a:srgbClr val="5A6B7A"/>
                </a:solidFill>
                <a:latin typeface="Open Sans" pitchFamily="34" charset="0"/>
                <a:ea typeface="Open Sans" pitchFamily="34" charset="-122"/>
                <a:cs typeface="Open Sans" pitchFamily="34" charset="-120"/>
              </a:rPr>
              <a:t>It can execute Git commands, run scripts, and make file edits — all with your approval.</a:t>
            </a:r>
            <a:endParaRPr lang="en-US" sz="1050" dirty="0"/>
          </a:p>
        </p:txBody>
      </p:sp>
      <p:sp>
        <p:nvSpPr>
          <p:cNvPr id="15" name="Shape 11"/>
          <p:cNvSpPr/>
          <p:nvPr/>
        </p:nvSpPr>
        <p:spPr>
          <a:xfrm>
            <a:off x="731520" y="3063240"/>
            <a:ext cx="3749040" cy="11887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914400" y="3291840"/>
            <a:ext cx="365760" cy="365760"/>
          </a:xfrm>
          <a:prstGeom prst="rect">
            <a:avLst/>
          </a:prstGeom>
        </p:spPr>
      </p:pic>
      <p:sp>
        <p:nvSpPr>
          <p:cNvPr id="17" name="Text 12"/>
          <p:cNvSpPr/>
          <p:nvPr/>
        </p:nvSpPr>
        <p:spPr>
          <a:xfrm>
            <a:off x="1417320" y="3200400"/>
            <a:ext cx="288036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Git Integration</a:t>
            </a:r>
            <a:endParaRPr lang="en-US" sz="1300" dirty="0"/>
          </a:p>
        </p:txBody>
      </p:sp>
      <p:sp>
        <p:nvSpPr>
          <p:cNvPr id="18" name="Text 13"/>
          <p:cNvSpPr/>
          <p:nvPr/>
        </p:nvSpPr>
        <p:spPr>
          <a:xfrm>
            <a:off x="1417320" y="3520440"/>
            <a:ext cx="2880360" cy="640080"/>
          </a:xfrm>
          <a:prstGeom prst="rect">
            <a:avLst/>
          </a:prstGeom>
          <a:noFill/>
          <a:ln/>
        </p:spPr>
        <p:txBody>
          <a:bodyPr wrap="square" lIns="0" tIns="0" rIns="0" bIns="0" rtlCol="0" anchor="ctr"/>
          <a:lstStyle/>
          <a:p>
            <a:pPr marL="0" indent="0">
              <a:lnSpc>
                <a:spcPct val="135000"/>
              </a:lnSpc>
              <a:buNone/>
            </a:pPr>
            <a:r>
              <a:rPr lang="en-US" sz="1050" dirty="0">
                <a:solidFill>
                  <a:srgbClr val="5A6B7A"/>
                </a:solidFill>
                <a:latin typeface="Open Sans" pitchFamily="34" charset="0"/>
                <a:ea typeface="Open Sans" pitchFamily="34" charset="-122"/>
                <a:cs typeface="Open Sans" pitchFamily="34" charset="-120"/>
              </a:rPr>
              <a:t>Commit, push, create branches, and review diffs without switching tools.</a:t>
            </a:r>
            <a:endParaRPr lang="en-US" sz="1050" dirty="0"/>
          </a:p>
        </p:txBody>
      </p:sp>
      <p:sp>
        <p:nvSpPr>
          <p:cNvPr id="19" name="Shape 14"/>
          <p:cNvSpPr/>
          <p:nvPr/>
        </p:nvSpPr>
        <p:spPr>
          <a:xfrm>
            <a:off x="4846320" y="3063240"/>
            <a:ext cx="3749040" cy="11887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20" name="Image 3" descr="preencoded.png"/>
          <p:cNvPicPr>
            <a:picLocks noChangeAspect="1"/>
          </p:cNvPicPr>
          <p:nvPr/>
        </p:nvPicPr>
        <p:blipFill>
          <a:blip r:embed="rId6"/>
          <a:stretch>
            <a:fillRect/>
          </a:stretch>
        </p:blipFill>
        <p:spPr>
          <a:xfrm>
            <a:off x="5029200" y="3291840"/>
            <a:ext cx="365760" cy="365760"/>
          </a:xfrm>
          <a:prstGeom prst="rect">
            <a:avLst/>
          </a:prstGeom>
        </p:spPr>
      </p:pic>
      <p:sp>
        <p:nvSpPr>
          <p:cNvPr id="21" name="Text 15"/>
          <p:cNvSpPr/>
          <p:nvPr/>
        </p:nvSpPr>
        <p:spPr>
          <a:xfrm>
            <a:off x="5532120" y="3200400"/>
            <a:ext cx="288036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Project Context</a:t>
            </a:r>
            <a:endParaRPr lang="en-US" sz="1300" dirty="0"/>
          </a:p>
        </p:txBody>
      </p:sp>
      <p:sp>
        <p:nvSpPr>
          <p:cNvPr id="22" name="Text 16"/>
          <p:cNvSpPr/>
          <p:nvPr/>
        </p:nvSpPr>
        <p:spPr>
          <a:xfrm>
            <a:off x="5532120" y="3520440"/>
            <a:ext cx="2880360" cy="640080"/>
          </a:xfrm>
          <a:prstGeom prst="rect">
            <a:avLst/>
          </a:prstGeom>
          <a:noFill/>
          <a:ln/>
        </p:spPr>
        <p:txBody>
          <a:bodyPr wrap="square" lIns="0" tIns="0" rIns="0" bIns="0" rtlCol="0" anchor="ctr"/>
          <a:lstStyle/>
          <a:p>
            <a:pPr marL="0" indent="0">
              <a:lnSpc>
                <a:spcPct val="135000"/>
              </a:lnSpc>
              <a:buNone/>
            </a:pPr>
            <a:r>
              <a:rPr lang="en-US" sz="1050" dirty="0">
                <a:solidFill>
                  <a:srgbClr val="5A6B7A"/>
                </a:solidFill>
                <a:latin typeface="Open Sans" pitchFamily="34" charset="0"/>
                <a:ea typeface="Open Sans" pitchFamily="34" charset="-122"/>
                <a:cs typeface="Open Sans" pitchFamily="34" charset="-120"/>
              </a:rPr>
              <a:t>When you launch Claude Code from your repo folder, it automatically understands your project structure.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Installing Claude Code</a:t>
            </a:r>
            <a:endParaRPr lang="en-US" sz="2800" dirty="0"/>
          </a:p>
        </p:txBody>
      </p:sp>
      <p:sp>
        <p:nvSpPr>
          <p:cNvPr id="6" name="Text 4"/>
          <p:cNvSpPr/>
          <p:nvPr/>
        </p:nvSpPr>
        <p:spPr>
          <a:xfrm>
            <a:off x="731520" y="868680"/>
            <a:ext cx="7680960" cy="320040"/>
          </a:xfrm>
          <a:prstGeom prst="rect">
            <a:avLst/>
          </a:prstGeom>
          <a:noFill/>
          <a:ln/>
        </p:spPr>
        <p:txBody>
          <a:bodyPr wrap="square" lIns="0" tIns="0" rIns="0" bIns="0" rtlCol="0" anchor="ctr"/>
          <a:lstStyle/>
          <a:p>
            <a:pPr marL="0" indent="0">
              <a:buNone/>
            </a:pPr>
            <a:r>
              <a:rPr lang="en-US" sz="1300" dirty="0">
                <a:solidFill>
                  <a:srgbClr val="5A6B7A"/>
                </a:solidFill>
                <a:latin typeface="Open Sans" pitchFamily="34" charset="0"/>
                <a:ea typeface="Open Sans" pitchFamily="34" charset="-122"/>
                <a:cs typeface="Open Sans" pitchFamily="34" charset="-120"/>
              </a:rPr>
              <a:t>Claude Code requires Node.js (v18+). If you already installed Git, you have a terminal ready.</a:t>
            </a:r>
            <a:endParaRPr lang="en-US" sz="1300" dirty="0"/>
          </a:p>
        </p:txBody>
      </p:sp>
      <p:sp>
        <p:nvSpPr>
          <p:cNvPr id="7" name="Shape 5"/>
          <p:cNvSpPr/>
          <p:nvPr/>
        </p:nvSpPr>
        <p:spPr>
          <a:xfrm>
            <a:off x="731520" y="1417320"/>
            <a:ext cx="3749040" cy="228600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731520" y="1417320"/>
            <a:ext cx="3749040" cy="411480"/>
          </a:xfrm>
          <a:prstGeom prst="rect">
            <a:avLst/>
          </a:prstGeom>
          <a:solidFill>
            <a:srgbClr val="1E2530"/>
          </a:solidFill>
          <a:ln/>
        </p:spPr>
        <p:txBody>
          <a:bodyPr/>
          <a:lstStyle/>
          <a:p>
            <a:endParaRPr lang="en-US"/>
          </a:p>
        </p:txBody>
      </p:sp>
      <p:sp>
        <p:nvSpPr>
          <p:cNvPr id="9" name="Text 7"/>
          <p:cNvSpPr/>
          <p:nvPr/>
        </p:nvSpPr>
        <p:spPr>
          <a:xfrm>
            <a:off x="731520" y="1417320"/>
            <a:ext cx="374904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Windows</a:t>
            </a:r>
            <a:endParaRPr lang="en-US" sz="1400" dirty="0"/>
          </a:p>
        </p:txBody>
      </p:sp>
      <p:sp>
        <p:nvSpPr>
          <p:cNvPr id="10" name="Text 8"/>
          <p:cNvSpPr/>
          <p:nvPr/>
        </p:nvSpPr>
        <p:spPr>
          <a:xfrm>
            <a:off x="914400" y="1965960"/>
            <a:ext cx="3383280" cy="1554480"/>
          </a:xfrm>
          <a:prstGeom prst="rect">
            <a:avLst/>
          </a:prstGeom>
          <a:noFill/>
          <a:ln/>
        </p:spPr>
        <p:txBody>
          <a:bodyPr wrap="square" lIns="0" tIns="0" rIns="0" bIns="0" rtlCol="0" anchor="ctr"/>
          <a:lstStyle/>
          <a:p>
            <a:pPr marL="342900" indent="-342900">
              <a:lnSpc>
                <a:spcPct val="160000"/>
              </a:lnSpc>
              <a:buSzPct val="100000"/>
              <a:buFont typeface="+mj-lt"/>
              <a:buAutoNum type="arabicPeriod"/>
            </a:pPr>
            <a:r>
              <a:rPr lang="en-US" sz="1200" dirty="0">
                <a:solidFill>
                  <a:srgbClr val="5A6B7A"/>
                </a:solidFill>
                <a:latin typeface="Open Sans" pitchFamily="34" charset="0"/>
                <a:ea typeface="Open Sans" pitchFamily="34" charset="-122"/>
                <a:cs typeface="Open Sans" pitchFamily="34" charset="-120"/>
              </a:rPr>
              <a:t>Install Node.js from nodejs.org</a:t>
            </a:r>
            <a:endParaRPr lang="en-US" sz="1200" dirty="0"/>
          </a:p>
          <a:p>
            <a:pPr marL="342900" indent="-342900">
              <a:lnSpc>
                <a:spcPct val="160000"/>
              </a:lnSpc>
              <a:buSzPct val="100000"/>
              <a:buFont typeface="+mj-lt"/>
              <a:buAutoNum type="arabicPeriod"/>
            </a:pPr>
            <a:r>
              <a:rPr lang="en-US" sz="1200" dirty="0">
                <a:solidFill>
                  <a:srgbClr val="5A6B7A"/>
                </a:solidFill>
                <a:latin typeface="Open Sans" pitchFamily="34" charset="0"/>
                <a:ea typeface="Open Sans" pitchFamily="34" charset="-122"/>
                <a:cs typeface="Open Sans" pitchFamily="34" charset="-120"/>
              </a:rPr>
              <a:t>Open Git Bash or PowerShell</a:t>
            </a:r>
            <a:endParaRPr lang="en-US" sz="1200" dirty="0"/>
          </a:p>
          <a:p>
            <a:pPr marL="342900" indent="-342900">
              <a:lnSpc>
                <a:spcPct val="160000"/>
              </a:lnSpc>
              <a:buSzPct val="100000"/>
              <a:buFont typeface="+mj-lt"/>
              <a:buAutoNum type="arabicPeriod"/>
            </a:pPr>
            <a:r>
              <a:rPr lang="en-US" sz="1200" dirty="0">
                <a:solidFill>
                  <a:srgbClr val="5A6B7A"/>
                </a:solidFill>
                <a:latin typeface="Open Sans" pitchFamily="34" charset="0"/>
                <a:ea typeface="Open Sans" pitchFamily="34" charset="-122"/>
                <a:cs typeface="Open Sans" pitchFamily="34" charset="-120"/>
              </a:rPr>
              <a:t>Run:  npm install -g @anthropic-ai/claude-code</a:t>
            </a:r>
            <a:endParaRPr lang="en-US" sz="1200" dirty="0"/>
          </a:p>
          <a:p>
            <a:pPr marL="342900" indent="-342900">
              <a:lnSpc>
                <a:spcPct val="160000"/>
              </a:lnSpc>
              <a:buSzPct val="100000"/>
              <a:buFont typeface="+mj-lt"/>
              <a:buAutoNum type="arabicPeriod"/>
            </a:pPr>
            <a:r>
              <a:rPr lang="en-US" sz="1200" dirty="0">
                <a:solidFill>
                  <a:srgbClr val="5A6B7A"/>
                </a:solidFill>
                <a:latin typeface="Open Sans" pitchFamily="34" charset="0"/>
                <a:ea typeface="Open Sans" pitchFamily="34" charset="-122"/>
                <a:cs typeface="Open Sans" pitchFamily="34" charset="-120"/>
              </a:rPr>
              <a:t>Type:  claude  to start</a:t>
            </a:r>
            <a:endParaRPr lang="en-US" sz="1200" dirty="0"/>
          </a:p>
        </p:txBody>
      </p:sp>
      <p:sp>
        <p:nvSpPr>
          <p:cNvPr id="11" name="Shape 9"/>
          <p:cNvSpPr/>
          <p:nvPr/>
        </p:nvSpPr>
        <p:spPr>
          <a:xfrm>
            <a:off x="4663440" y="1417320"/>
            <a:ext cx="3749040" cy="228600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2" name="Shape 10"/>
          <p:cNvSpPr/>
          <p:nvPr/>
        </p:nvSpPr>
        <p:spPr>
          <a:xfrm>
            <a:off x="4663440" y="1417320"/>
            <a:ext cx="3749040" cy="411480"/>
          </a:xfrm>
          <a:prstGeom prst="rect">
            <a:avLst/>
          </a:prstGeom>
          <a:solidFill>
            <a:srgbClr val="36454F"/>
          </a:solidFill>
          <a:ln/>
        </p:spPr>
        <p:txBody>
          <a:bodyPr/>
          <a:lstStyle/>
          <a:p>
            <a:endParaRPr lang="en-US"/>
          </a:p>
        </p:txBody>
      </p:sp>
      <p:sp>
        <p:nvSpPr>
          <p:cNvPr id="13" name="Text 11"/>
          <p:cNvSpPr/>
          <p:nvPr/>
        </p:nvSpPr>
        <p:spPr>
          <a:xfrm>
            <a:off x="4663440" y="1417320"/>
            <a:ext cx="374904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Open Sans" pitchFamily="34" charset="0"/>
                <a:ea typeface="Open Sans" pitchFamily="34" charset="-122"/>
                <a:cs typeface="Open Sans" pitchFamily="34" charset="-120"/>
              </a:rPr>
              <a:t>Mac</a:t>
            </a:r>
            <a:endParaRPr lang="en-US" sz="1400" dirty="0"/>
          </a:p>
        </p:txBody>
      </p:sp>
      <p:sp>
        <p:nvSpPr>
          <p:cNvPr id="14" name="Text 12"/>
          <p:cNvSpPr/>
          <p:nvPr/>
        </p:nvSpPr>
        <p:spPr>
          <a:xfrm>
            <a:off x="4846320" y="1965960"/>
            <a:ext cx="3383280" cy="1554480"/>
          </a:xfrm>
          <a:prstGeom prst="rect">
            <a:avLst/>
          </a:prstGeom>
          <a:noFill/>
          <a:ln/>
        </p:spPr>
        <p:txBody>
          <a:bodyPr wrap="square" lIns="0" tIns="0" rIns="0" bIns="0" rtlCol="0" anchor="ctr"/>
          <a:lstStyle/>
          <a:p>
            <a:pPr marL="342900" indent="-342900">
              <a:lnSpc>
                <a:spcPct val="160000"/>
              </a:lnSpc>
              <a:buSzPct val="100000"/>
              <a:buFont typeface="+mj-lt"/>
              <a:buAutoNum type="arabicPeriod"/>
            </a:pPr>
            <a:r>
              <a:rPr lang="en-US" sz="1200" dirty="0">
                <a:solidFill>
                  <a:srgbClr val="5A6B7A"/>
                </a:solidFill>
                <a:latin typeface="Open Sans" pitchFamily="34" charset="0"/>
                <a:ea typeface="Open Sans" pitchFamily="34" charset="-122"/>
                <a:cs typeface="Open Sans" pitchFamily="34" charset="-120"/>
              </a:rPr>
              <a:t>Install Node.js:  brew install node  (or nodejs.org)</a:t>
            </a:r>
            <a:endParaRPr lang="en-US" sz="1200" dirty="0"/>
          </a:p>
          <a:p>
            <a:pPr marL="342900" indent="-342900">
              <a:lnSpc>
                <a:spcPct val="160000"/>
              </a:lnSpc>
              <a:buSzPct val="100000"/>
              <a:buFont typeface="+mj-lt"/>
              <a:buAutoNum type="arabicPeriod"/>
            </a:pPr>
            <a:r>
              <a:rPr lang="en-US" sz="1200" dirty="0">
                <a:solidFill>
                  <a:srgbClr val="5A6B7A"/>
                </a:solidFill>
                <a:latin typeface="Open Sans" pitchFamily="34" charset="0"/>
                <a:ea typeface="Open Sans" pitchFamily="34" charset="-122"/>
                <a:cs typeface="Open Sans" pitchFamily="34" charset="-120"/>
              </a:rPr>
              <a:t>Open Terminal</a:t>
            </a:r>
            <a:endParaRPr lang="en-US" sz="1200" dirty="0"/>
          </a:p>
          <a:p>
            <a:pPr marL="342900" indent="-342900">
              <a:lnSpc>
                <a:spcPct val="160000"/>
              </a:lnSpc>
              <a:buSzPct val="100000"/>
              <a:buFont typeface="+mj-lt"/>
              <a:buAutoNum type="arabicPeriod"/>
            </a:pPr>
            <a:r>
              <a:rPr lang="en-US" sz="1200" dirty="0">
                <a:solidFill>
                  <a:srgbClr val="5A6B7A"/>
                </a:solidFill>
                <a:latin typeface="Open Sans" pitchFamily="34" charset="0"/>
                <a:ea typeface="Open Sans" pitchFamily="34" charset="-122"/>
                <a:cs typeface="Open Sans" pitchFamily="34" charset="-120"/>
              </a:rPr>
              <a:t>Run:  npm install -g @anthropic-ai/claude-code</a:t>
            </a:r>
            <a:endParaRPr lang="en-US" sz="1200" dirty="0"/>
          </a:p>
          <a:p>
            <a:pPr marL="342900" indent="-342900">
              <a:lnSpc>
                <a:spcPct val="160000"/>
              </a:lnSpc>
              <a:buSzPct val="100000"/>
              <a:buFont typeface="+mj-lt"/>
              <a:buAutoNum type="arabicPeriod"/>
            </a:pPr>
            <a:r>
              <a:rPr lang="en-US" sz="1200" dirty="0">
                <a:solidFill>
                  <a:srgbClr val="5A6B7A"/>
                </a:solidFill>
                <a:latin typeface="Open Sans" pitchFamily="34" charset="0"/>
                <a:ea typeface="Open Sans" pitchFamily="34" charset="-122"/>
                <a:cs typeface="Open Sans" pitchFamily="34" charset="-120"/>
              </a:rPr>
              <a:t>Type:  claude  to start</a:t>
            </a:r>
            <a:endParaRPr lang="en-US" sz="1200" dirty="0"/>
          </a:p>
        </p:txBody>
      </p:sp>
      <p:sp>
        <p:nvSpPr>
          <p:cNvPr id="15" name="Text 13"/>
          <p:cNvSpPr/>
          <p:nvPr/>
        </p:nvSpPr>
        <p:spPr>
          <a:xfrm>
            <a:off x="731520" y="3977640"/>
            <a:ext cx="7680960" cy="365760"/>
          </a:xfrm>
          <a:prstGeom prst="rect">
            <a:avLst/>
          </a:prstGeom>
          <a:noFill/>
          <a:ln/>
        </p:spPr>
        <p:txBody>
          <a:bodyPr wrap="square" lIns="0" tIns="0" rIns="0" bIns="0" rtlCol="0" anchor="ctr"/>
          <a:lstStyle/>
          <a:p>
            <a:pPr marL="0" indent="0">
              <a:buNone/>
            </a:pPr>
            <a:r>
              <a:rPr lang="en-US" sz="1200" i="1" dirty="0">
                <a:solidFill>
                  <a:srgbClr val="8A9BAD"/>
                </a:solidFill>
                <a:latin typeface="Open Sans" pitchFamily="34" charset="0"/>
                <a:ea typeface="Open Sans" pitchFamily="34" charset="-122"/>
                <a:cs typeface="Open Sans" pitchFamily="34" charset="-120"/>
              </a:rPr>
              <a:t>First-time setup:  Claude Code will prompt you to sign in with your Anthropic account (free tier works).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The Claude Code Workflow</a:t>
            </a:r>
            <a:endParaRPr lang="en-US" sz="2800" dirty="0"/>
          </a:p>
        </p:txBody>
      </p:sp>
      <p:sp>
        <p:nvSpPr>
          <p:cNvPr id="6" name="Text 4"/>
          <p:cNvSpPr/>
          <p:nvPr/>
        </p:nvSpPr>
        <p:spPr>
          <a:xfrm>
            <a:off x="731520" y="868680"/>
            <a:ext cx="7680960" cy="320040"/>
          </a:xfrm>
          <a:prstGeom prst="rect">
            <a:avLst/>
          </a:prstGeom>
          <a:noFill/>
          <a:ln/>
        </p:spPr>
        <p:txBody>
          <a:bodyPr wrap="square" lIns="0" tIns="0" rIns="0" bIns="0" rtlCol="0" anchor="ctr"/>
          <a:lstStyle/>
          <a:p>
            <a:pPr marL="0" indent="0">
              <a:buNone/>
            </a:pPr>
            <a:r>
              <a:rPr lang="en-US" sz="1300" dirty="0">
                <a:solidFill>
                  <a:srgbClr val="5A6B7A"/>
                </a:solidFill>
                <a:latin typeface="Open Sans" pitchFamily="34" charset="0"/>
                <a:ea typeface="Open Sans" pitchFamily="34" charset="-122"/>
                <a:cs typeface="Open Sans" pitchFamily="34" charset="-120"/>
              </a:rPr>
              <a:t>Navigate to your repo, type claude, and ask for help in plain English.</a:t>
            </a:r>
            <a:endParaRPr lang="en-US" sz="1300" dirty="0"/>
          </a:p>
        </p:txBody>
      </p:sp>
      <p:sp>
        <p:nvSpPr>
          <p:cNvPr id="7" name="Shape 5"/>
          <p:cNvSpPr/>
          <p:nvPr/>
        </p:nvSpPr>
        <p:spPr>
          <a:xfrm>
            <a:off x="731520" y="1417320"/>
            <a:ext cx="7680960" cy="86868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731520" y="1417320"/>
            <a:ext cx="502920" cy="868680"/>
          </a:xfrm>
          <a:prstGeom prst="rect">
            <a:avLst/>
          </a:prstGeom>
          <a:solidFill>
            <a:srgbClr val="1E2530"/>
          </a:solidFill>
          <a:ln/>
        </p:spPr>
        <p:txBody>
          <a:bodyPr/>
          <a:lstStyle/>
          <a:p>
            <a:endParaRPr lang="en-US"/>
          </a:p>
        </p:txBody>
      </p:sp>
      <p:sp>
        <p:nvSpPr>
          <p:cNvPr id="9" name="Text 7"/>
          <p:cNvSpPr/>
          <p:nvPr/>
        </p:nvSpPr>
        <p:spPr>
          <a:xfrm>
            <a:off x="731520" y="1417320"/>
            <a:ext cx="502920" cy="868680"/>
          </a:xfrm>
          <a:prstGeom prst="rect">
            <a:avLst/>
          </a:prstGeom>
          <a:noFill/>
          <a:ln/>
        </p:spPr>
        <p:txBody>
          <a:bodyPr wrap="square" lIns="0" tIns="0" rIns="0" bIns="0" rtlCol="0" anchor="ctr"/>
          <a:lstStyle/>
          <a:p>
            <a:pPr marL="0" indent="0" algn="ctr">
              <a:buNone/>
            </a:pPr>
            <a:r>
              <a:rPr lang="en-US" sz="1800" b="1" dirty="0">
                <a:solidFill>
                  <a:srgbClr val="FFFFFF"/>
                </a:solidFill>
                <a:latin typeface="Open Sans" pitchFamily="34" charset="0"/>
                <a:ea typeface="Open Sans" pitchFamily="34" charset="-122"/>
                <a:cs typeface="Open Sans" pitchFamily="34" charset="-120"/>
              </a:rPr>
              <a:t>1</a:t>
            </a:r>
            <a:endParaRPr lang="en-US" sz="1800" dirty="0"/>
          </a:p>
        </p:txBody>
      </p:sp>
      <p:sp>
        <p:nvSpPr>
          <p:cNvPr id="10" name="Text 8"/>
          <p:cNvSpPr/>
          <p:nvPr/>
        </p:nvSpPr>
        <p:spPr>
          <a:xfrm>
            <a:off x="1417320" y="1490472"/>
            <a:ext cx="118872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Navigate</a:t>
            </a:r>
            <a:endParaRPr lang="en-US" sz="1400" dirty="0"/>
          </a:p>
        </p:txBody>
      </p:sp>
      <p:sp>
        <p:nvSpPr>
          <p:cNvPr id="11" name="Text 9"/>
          <p:cNvSpPr/>
          <p:nvPr/>
        </p:nvSpPr>
        <p:spPr>
          <a:xfrm>
            <a:off x="2606040" y="1490472"/>
            <a:ext cx="5394960" cy="320040"/>
          </a:xfrm>
          <a:prstGeom prst="rect">
            <a:avLst/>
          </a:prstGeom>
          <a:noFill/>
          <a:ln/>
        </p:spPr>
        <p:txBody>
          <a:bodyPr wrap="square" lIns="0" tIns="0" rIns="0" bIns="0" rtlCol="0" anchor="ctr"/>
          <a:lstStyle/>
          <a:p>
            <a:pPr marL="0" indent="0">
              <a:buNone/>
            </a:pPr>
            <a:r>
              <a:rPr lang="en-US" sz="1200" dirty="0">
                <a:solidFill>
                  <a:srgbClr val="B8975C"/>
                </a:solidFill>
                <a:latin typeface="Consolas" pitchFamily="34" charset="0"/>
                <a:ea typeface="Consolas" pitchFamily="34" charset="-122"/>
                <a:cs typeface="Consolas" pitchFamily="34" charset="-120"/>
              </a:rPr>
              <a:t>cd ~/GitHub/shidler</a:t>
            </a:r>
            <a:endParaRPr lang="en-US" sz="1200" dirty="0"/>
          </a:p>
        </p:txBody>
      </p:sp>
      <p:sp>
        <p:nvSpPr>
          <p:cNvPr id="12" name="Text 10"/>
          <p:cNvSpPr/>
          <p:nvPr/>
        </p:nvSpPr>
        <p:spPr>
          <a:xfrm>
            <a:off x="1417320" y="1856232"/>
            <a:ext cx="6812280" cy="320040"/>
          </a:xfrm>
          <a:prstGeom prst="rect">
            <a:avLst/>
          </a:prstGeom>
          <a:noFill/>
          <a:ln/>
        </p:spPr>
        <p:txBody>
          <a:bodyPr wrap="square" lIns="0" tIns="0" rIns="0" bIns="0" rtlCol="0" anchor="ctr"/>
          <a:lstStyle/>
          <a:p>
            <a:pPr marL="0" indent="0">
              <a:buNone/>
            </a:pPr>
            <a:r>
              <a:rPr lang="en-US" sz="1100" dirty="0">
                <a:solidFill>
                  <a:srgbClr val="5A6B7A"/>
                </a:solidFill>
                <a:latin typeface="Open Sans" pitchFamily="34" charset="0"/>
                <a:ea typeface="Open Sans" pitchFamily="34" charset="-122"/>
                <a:cs typeface="Open Sans" pitchFamily="34" charset="-120"/>
              </a:rPr>
              <a:t>Open your terminal and navigate to the cloned repo folder.</a:t>
            </a:r>
            <a:endParaRPr lang="en-US" sz="1100" dirty="0"/>
          </a:p>
        </p:txBody>
      </p:sp>
      <p:sp>
        <p:nvSpPr>
          <p:cNvPr id="13" name="Shape 11"/>
          <p:cNvSpPr/>
          <p:nvPr/>
        </p:nvSpPr>
        <p:spPr>
          <a:xfrm>
            <a:off x="731520" y="2606040"/>
            <a:ext cx="7680960" cy="86868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4" name="Shape 12"/>
          <p:cNvSpPr/>
          <p:nvPr/>
        </p:nvSpPr>
        <p:spPr>
          <a:xfrm>
            <a:off x="731520" y="2606040"/>
            <a:ext cx="502920" cy="868680"/>
          </a:xfrm>
          <a:prstGeom prst="rect">
            <a:avLst/>
          </a:prstGeom>
          <a:solidFill>
            <a:srgbClr val="1E2530"/>
          </a:solidFill>
          <a:ln/>
        </p:spPr>
        <p:txBody>
          <a:bodyPr/>
          <a:lstStyle/>
          <a:p>
            <a:endParaRPr lang="en-US"/>
          </a:p>
        </p:txBody>
      </p:sp>
      <p:sp>
        <p:nvSpPr>
          <p:cNvPr id="15" name="Text 13"/>
          <p:cNvSpPr/>
          <p:nvPr/>
        </p:nvSpPr>
        <p:spPr>
          <a:xfrm>
            <a:off x="731520" y="2606040"/>
            <a:ext cx="502920" cy="868680"/>
          </a:xfrm>
          <a:prstGeom prst="rect">
            <a:avLst/>
          </a:prstGeom>
          <a:noFill/>
          <a:ln/>
        </p:spPr>
        <p:txBody>
          <a:bodyPr wrap="square" lIns="0" tIns="0" rIns="0" bIns="0" rtlCol="0" anchor="ctr"/>
          <a:lstStyle/>
          <a:p>
            <a:pPr marL="0" indent="0" algn="ctr">
              <a:buNone/>
            </a:pPr>
            <a:r>
              <a:rPr lang="en-US" sz="1800" b="1" dirty="0">
                <a:solidFill>
                  <a:srgbClr val="FFFFFF"/>
                </a:solidFill>
                <a:latin typeface="Open Sans" pitchFamily="34" charset="0"/>
                <a:ea typeface="Open Sans" pitchFamily="34" charset="-122"/>
                <a:cs typeface="Open Sans" pitchFamily="34" charset="-120"/>
              </a:rPr>
              <a:t>2</a:t>
            </a:r>
            <a:endParaRPr lang="en-US" sz="1800" dirty="0"/>
          </a:p>
        </p:txBody>
      </p:sp>
      <p:sp>
        <p:nvSpPr>
          <p:cNvPr id="16" name="Text 14"/>
          <p:cNvSpPr/>
          <p:nvPr/>
        </p:nvSpPr>
        <p:spPr>
          <a:xfrm>
            <a:off x="1417320" y="2679192"/>
            <a:ext cx="118872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Launch</a:t>
            </a:r>
            <a:endParaRPr lang="en-US" sz="1400" dirty="0"/>
          </a:p>
        </p:txBody>
      </p:sp>
      <p:sp>
        <p:nvSpPr>
          <p:cNvPr id="17" name="Text 15"/>
          <p:cNvSpPr/>
          <p:nvPr/>
        </p:nvSpPr>
        <p:spPr>
          <a:xfrm>
            <a:off x="2606040" y="2679192"/>
            <a:ext cx="5394960" cy="320040"/>
          </a:xfrm>
          <a:prstGeom prst="rect">
            <a:avLst/>
          </a:prstGeom>
          <a:noFill/>
          <a:ln/>
        </p:spPr>
        <p:txBody>
          <a:bodyPr wrap="square" lIns="0" tIns="0" rIns="0" bIns="0" rtlCol="0" anchor="ctr"/>
          <a:lstStyle/>
          <a:p>
            <a:pPr marL="0" indent="0">
              <a:buNone/>
            </a:pPr>
            <a:r>
              <a:rPr lang="en-US" sz="1200" dirty="0">
                <a:solidFill>
                  <a:srgbClr val="B8975C"/>
                </a:solidFill>
                <a:latin typeface="Consolas" pitchFamily="34" charset="0"/>
                <a:ea typeface="Consolas" pitchFamily="34" charset="-122"/>
                <a:cs typeface="Consolas" pitchFamily="34" charset="-120"/>
              </a:rPr>
              <a:t>claude</a:t>
            </a:r>
            <a:endParaRPr lang="en-US" sz="1200" dirty="0"/>
          </a:p>
        </p:txBody>
      </p:sp>
      <p:sp>
        <p:nvSpPr>
          <p:cNvPr id="18" name="Text 16"/>
          <p:cNvSpPr/>
          <p:nvPr/>
        </p:nvSpPr>
        <p:spPr>
          <a:xfrm>
            <a:off x="1417320" y="3044952"/>
            <a:ext cx="6812280" cy="320040"/>
          </a:xfrm>
          <a:prstGeom prst="rect">
            <a:avLst/>
          </a:prstGeom>
          <a:noFill/>
          <a:ln/>
        </p:spPr>
        <p:txBody>
          <a:bodyPr wrap="square" lIns="0" tIns="0" rIns="0" bIns="0" rtlCol="0" anchor="ctr"/>
          <a:lstStyle/>
          <a:p>
            <a:pPr marL="0" indent="0">
              <a:buNone/>
            </a:pPr>
            <a:r>
              <a:rPr lang="en-US" sz="1100" dirty="0">
                <a:solidFill>
                  <a:srgbClr val="5A6B7A"/>
                </a:solidFill>
                <a:latin typeface="Open Sans" pitchFamily="34" charset="0"/>
                <a:ea typeface="Open Sans" pitchFamily="34" charset="-122"/>
                <a:cs typeface="Open Sans" pitchFamily="34" charset="-120"/>
              </a:rPr>
              <a:t>Start Claude Code. It reads your project files and understands the structure.</a:t>
            </a:r>
            <a:endParaRPr lang="en-US" sz="1100" dirty="0"/>
          </a:p>
        </p:txBody>
      </p:sp>
      <p:sp>
        <p:nvSpPr>
          <p:cNvPr id="19" name="Shape 17"/>
          <p:cNvSpPr/>
          <p:nvPr/>
        </p:nvSpPr>
        <p:spPr>
          <a:xfrm>
            <a:off x="731520" y="3794760"/>
            <a:ext cx="7680960" cy="86868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20" name="Shape 18"/>
          <p:cNvSpPr/>
          <p:nvPr/>
        </p:nvSpPr>
        <p:spPr>
          <a:xfrm>
            <a:off x="731520" y="3794760"/>
            <a:ext cx="502920" cy="868680"/>
          </a:xfrm>
          <a:prstGeom prst="rect">
            <a:avLst/>
          </a:prstGeom>
          <a:solidFill>
            <a:srgbClr val="1E2530"/>
          </a:solidFill>
          <a:ln/>
        </p:spPr>
        <p:txBody>
          <a:bodyPr/>
          <a:lstStyle/>
          <a:p>
            <a:endParaRPr lang="en-US"/>
          </a:p>
        </p:txBody>
      </p:sp>
      <p:sp>
        <p:nvSpPr>
          <p:cNvPr id="21" name="Text 19"/>
          <p:cNvSpPr/>
          <p:nvPr/>
        </p:nvSpPr>
        <p:spPr>
          <a:xfrm>
            <a:off x="731520" y="3794760"/>
            <a:ext cx="502920" cy="868680"/>
          </a:xfrm>
          <a:prstGeom prst="rect">
            <a:avLst/>
          </a:prstGeom>
          <a:noFill/>
          <a:ln/>
        </p:spPr>
        <p:txBody>
          <a:bodyPr wrap="square" lIns="0" tIns="0" rIns="0" bIns="0" rtlCol="0" anchor="ctr"/>
          <a:lstStyle/>
          <a:p>
            <a:pPr marL="0" indent="0" algn="ctr">
              <a:buNone/>
            </a:pPr>
            <a:r>
              <a:rPr lang="en-US" sz="1800" b="1" dirty="0">
                <a:solidFill>
                  <a:srgbClr val="FFFFFF"/>
                </a:solidFill>
                <a:latin typeface="Open Sans" pitchFamily="34" charset="0"/>
                <a:ea typeface="Open Sans" pitchFamily="34" charset="-122"/>
                <a:cs typeface="Open Sans" pitchFamily="34" charset="-120"/>
              </a:rPr>
              <a:t>3</a:t>
            </a:r>
            <a:endParaRPr lang="en-US" sz="1800" dirty="0"/>
          </a:p>
        </p:txBody>
      </p:sp>
      <p:sp>
        <p:nvSpPr>
          <p:cNvPr id="22" name="Text 20"/>
          <p:cNvSpPr/>
          <p:nvPr/>
        </p:nvSpPr>
        <p:spPr>
          <a:xfrm>
            <a:off x="1417320" y="3867912"/>
            <a:ext cx="118872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Ask</a:t>
            </a:r>
            <a:endParaRPr lang="en-US" sz="1400" dirty="0"/>
          </a:p>
        </p:txBody>
      </p:sp>
      <p:sp>
        <p:nvSpPr>
          <p:cNvPr id="23" name="Text 21"/>
          <p:cNvSpPr/>
          <p:nvPr/>
        </p:nvSpPr>
        <p:spPr>
          <a:xfrm>
            <a:off x="2606040" y="3867912"/>
            <a:ext cx="5394960" cy="320040"/>
          </a:xfrm>
          <a:prstGeom prst="rect">
            <a:avLst/>
          </a:prstGeom>
          <a:noFill/>
          <a:ln/>
        </p:spPr>
        <p:txBody>
          <a:bodyPr wrap="square" lIns="0" tIns="0" rIns="0" bIns="0" rtlCol="0" anchor="ctr"/>
          <a:lstStyle/>
          <a:p>
            <a:pPr marL="0" indent="0">
              <a:buNone/>
            </a:pPr>
            <a:r>
              <a:rPr lang="en-US" sz="1200" dirty="0">
                <a:solidFill>
                  <a:srgbClr val="B8975C"/>
                </a:solidFill>
                <a:latin typeface="Consolas" pitchFamily="34" charset="0"/>
                <a:ea typeface="Consolas" pitchFamily="34" charset="-122"/>
                <a:cs typeface="Consolas" pitchFamily="34" charset="-120"/>
              </a:rPr>
              <a:t>“Review my Stage 3 spec for completeness”</a:t>
            </a:r>
            <a:endParaRPr lang="en-US" sz="1200" dirty="0"/>
          </a:p>
        </p:txBody>
      </p:sp>
      <p:sp>
        <p:nvSpPr>
          <p:cNvPr id="24" name="Text 22"/>
          <p:cNvSpPr/>
          <p:nvPr/>
        </p:nvSpPr>
        <p:spPr>
          <a:xfrm>
            <a:off x="1417320" y="4233672"/>
            <a:ext cx="6812280" cy="320040"/>
          </a:xfrm>
          <a:prstGeom prst="rect">
            <a:avLst/>
          </a:prstGeom>
          <a:noFill/>
          <a:ln/>
        </p:spPr>
        <p:txBody>
          <a:bodyPr wrap="square" lIns="0" tIns="0" rIns="0" bIns="0" rtlCol="0" anchor="ctr"/>
          <a:lstStyle/>
          <a:p>
            <a:pPr marL="0" indent="0">
              <a:buNone/>
            </a:pPr>
            <a:r>
              <a:rPr lang="en-US" sz="1100" dirty="0">
                <a:solidFill>
                  <a:srgbClr val="5A6B7A"/>
                </a:solidFill>
                <a:latin typeface="Open Sans" pitchFamily="34" charset="0"/>
                <a:ea typeface="Open Sans" pitchFamily="34" charset="-122"/>
                <a:cs typeface="Open Sans" pitchFamily="34" charset="-120"/>
              </a:rPr>
              <a:t>Type your request in natural language. Claude reads your files and responds.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Power Moves with Claude Code</a:t>
            </a:r>
            <a:endParaRPr lang="en-US" sz="2800" dirty="0"/>
          </a:p>
        </p:txBody>
      </p:sp>
      <p:sp>
        <p:nvSpPr>
          <p:cNvPr id="6" name="Text 4"/>
          <p:cNvSpPr/>
          <p:nvPr/>
        </p:nvSpPr>
        <p:spPr>
          <a:xfrm>
            <a:off x="731520" y="868680"/>
            <a:ext cx="7680960" cy="320040"/>
          </a:xfrm>
          <a:prstGeom prst="rect">
            <a:avLst/>
          </a:prstGeom>
          <a:noFill/>
          <a:ln/>
        </p:spPr>
        <p:txBody>
          <a:bodyPr wrap="square" lIns="0" tIns="0" rIns="0" bIns="0" rtlCol="0" anchor="ctr"/>
          <a:lstStyle/>
          <a:p>
            <a:pPr marL="0" indent="0">
              <a:buNone/>
            </a:pPr>
            <a:r>
              <a:rPr lang="en-US" sz="1300" dirty="0">
                <a:solidFill>
                  <a:srgbClr val="5A6B7A"/>
                </a:solidFill>
                <a:latin typeface="Open Sans" pitchFamily="34" charset="0"/>
                <a:ea typeface="Open Sans" pitchFamily="34" charset="-122"/>
                <a:cs typeface="Open Sans" pitchFamily="34" charset="-120"/>
              </a:rPr>
              <a:t>Once you’re comfortable with the basics, try these.</a:t>
            </a:r>
            <a:endParaRPr lang="en-US" sz="1300" dirty="0"/>
          </a:p>
        </p:txBody>
      </p:sp>
      <p:sp>
        <p:nvSpPr>
          <p:cNvPr id="7" name="Shape 5"/>
          <p:cNvSpPr/>
          <p:nvPr/>
        </p:nvSpPr>
        <p:spPr>
          <a:xfrm>
            <a:off x="731520" y="1371600"/>
            <a:ext cx="7680960" cy="658368"/>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731520" y="1371600"/>
            <a:ext cx="73152" cy="658368"/>
          </a:xfrm>
          <a:prstGeom prst="rect">
            <a:avLst/>
          </a:prstGeom>
          <a:solidFill>
            <a:srgbClr val="B8975C"/>
          </a:solidFill>
          <a:ln/>
        </p:spPr>
        <p:txBody>
          <a:bodyPr/>
          <a:lstStyle/>
          <a:p>
            <a:endParaRPr lang="en-US"/>
          </a:p>
        </p:txBody>
      </p:sp>
      <p:sp>
        <p:nvSpPr>
          <p:cNvPr id="9" name="Text 7"/>
          <p:cNvSpPr/>
          <p:nvPr/>
        </p:nvSpPr>
        <p:spPr>
          <a:xfrm>
            <a:off x="1005840" y="1417320"/>
            <a:ext cx="237744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Verify Your Model</a:t>
            </a:r>
            <a:endParaRPr lang="en-US" sz="1300" dirty="0"/>
          </a:p>
        </p:txBody>
      </p:sp>
      <p:sp>
        <p:nvSpPr>
          <p:cNvPr id="10" name="Text 8"/>
          <p:cNvSpPr/>
          <p:nvPr/>
        </p:nvSpPr>
        <p:spPr>
          <a:xfrm>
            <a:off x="1005840" y="1691640"/>
            <a:ext cx="7223760" cy="274320"/>
          </a:xfrm>
          <a:prstGeom prst="rect">
            <a:avLst/>
          </a:prstGeom>
          <a:noFill/>
          <a:ln/>
        </p:spPr>
        <p:txBody>
          <a:bodyPr wrap="square" lIns="0" tIns="0" rIns="0" bIns="0" rtlCol="0" anchor="ctr"/>
          <a:lstStyle/>
          <a:p>
            <a:pPr marL="0" indent="0">
              <a:buNone/>
            </a:pPr>
            <a:r>
              <a:rPr lang="en-US" sz="1150" i="1" dirty="0">
                <a:solidFill>
                  <a:srgbClr val="5A6B7A"/>
                </a:solidFill>
                <a:latin typeface="Open Sans" pitchFamily="34" charset="0"/>
                <a:ea typeface="Open Sans" pitchFamily="34" charset="-122"/>
                <a:cs typeface="Open Sans" pitchFamily="34" charset="-120"/>
              </a:rPr>
              <a:t>“Read my Stage 2 Excel and check if all 25 ratios are present.”</a:t>
            </a:r>
            <a:endParaRPr lang="en-US" sz="1150" dirty="0"/>
          </a:p>
        </p:txBody>
      </p:sp>
      <p:sp>
        <p:nvSpPr>
          <p:cNvPr id="11" name="Shape 9"/>
          <p:cNvSpPr/>
          <p:nvPr/>
        </p:nvSpPr>
        <p:spPr>
          <a:xfrm>
            <a:off x="731520" y="2194560"/>
            <a:ext cx="7680960" cy="658368"/>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2" name="Shape 10"/>
          <p:cNvSpPr/>
          <p:nvPr/>
        </p:nvSpPr>
        <p:spPr>
          <a:xfrm>
            <a:off x="731520" y="2194560"/>
            <a:ext cx="73152" cy="658368"/>
          </a:xfrm>
          <a:prstGeom prst="rect">
            <a:avLst/>
          </a:prstGeom>
          <a:solidFill>
            <a:srgbClr val="B8975C"/>
          </a:solidFill>
          <a:ln/>
        </p:spPr>
        <p:txBody>
          <a:bodyPr/>
          <a:lstStyle/>
          <a:p>
            <a:endParaRPr lang="en-US"/>
          </a:p>
        </p:txBody>
      </p:sp>
      <p:sp>
        <p:nvSpPr>
          <p:cNvPr id="13" name="Text 11"/>
          <p:cNvSpPr/>
          <p:nvPr/>
        </p:nvSpPr>
        <p:spPr>
          <a:xfrm>
            <a:off x="1005840" y="2240280"/>
            <a:ext cx="237744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Git Without Leaving</a:t>
            </a:r>
            <a:endParaRPr lang="en-US" sz="1300" dirty="0"/>
          </a:p>
        </p:txBody>
      </p:sp>
      <p:sp>
        <p:nvSpPr>
          <p:cNvPr id="14" name="Text 12"/>
          <p:cNvSpPr/>
          <p:nvPr/>
        </p:nvSpPr>
        <p:spPr>
          <a:xfrm>
            <a:off x="1005840" y="2514600"/>
            <a:ext cx="7223760" cy="274320"/>
          </a:xfrm>
          <a:prstGeom prst="rect">
            <a:avLst/>
          </a:prstGeom>
          <a:noFill/>
          <a:ln/>
        </p:spPr>
        <p:txBody>
          <a:bodyPr wrap="square" lIns="0" tIns="0" rIns="0" bIns="0" rtlCol="0" anchor="ctr"/>
          <a:lstStyle/>
          <a:p>
            <a:pPr marL="0" indent="0">
              <a:buNone/>
            </a:pPr>
            <a:r>
              <a:rPr lang="en-US" sz="1150" i="1" dirty="0">
                <a:solidFill>
                  <a:srgbClr val="5A6B7A"/>
                </a:solidFill>
                <a:latin typeface="Open Sans" pitchFamily="34" charset="0"/>
                <a:ea typeface="Open Sans" pitchFamily="34" charset="-122"/>
                <a:cs typeface="Open Sans" pitchFamily="34" charset="-120"/>
              </a:rPr>
              <a:t>“Draft a commit message for my Stage 3 spec and push to GitHub.”</a:t>
            </a:r>
            <a:endParaRPr lang="en-US" sz="1150" dirty="0"/>
          </a:p>
        </p:txBody>
      </p:sp>
      <p:sp>
        <p:nvSpPr>
          <p:cNvPr id="15" name="Shape 13"/>
          <p:cNvSpPr/>
          <p:nvPr/>
        </p:nvSpPr>
        <p:spPr>
          <a:xfrm>
            <a:off x="731520" y="3017520"/>
            <a:ext cx="7680960" cy="658368"/>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6" name="Shape 14"/>
          <p:cNvSpPr/>
          <p:nvPr/>
        </p:nvSpPr>
        <p:spPr>
          <a:xfrm>
            <a:off x="731520" y="3017520"/>
            <a:ext cx="73152" cy="658368"/>
          </a:xfrm>
          <a:prstGeom prst="rect">
            <a:avLst/>
          </a:prstGeom>
          <a:solidFill>
            <a:srgbClr val="B8975C"/>
          </a:solidFill>
          <a:ln/>
        </p:spPr>
        <p:txBody>
          <a:bodyPr/>
          <a:lstStyle/>
          <a:p>
            <a:endParaRPr lang="en-US"/>
          </a:p>
        </p:txBody>
      </p:sp>
      <p:sp>
        <p:nvSpPr>
          <p:cNvPr id="17" name="Text 15"/>
          <p:cNvSpPr/>
          <p:nvPr/>
        </p:nvSpPr>
        <p:spPr>
          <a:xfrm>
            <a:off x="1005840" y="3063240"/>
            <a:ext cx="237744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Rubric Check</a:t>
            </a:r>
            <a:endParaRPr lang="en-US" sz="1300" dirty="0"/>
          </a:p>
        </p:txBody>
      </p:sp>
      <p:sp>
        <p:nvSpPr>
          <p:cNvPr id="18" name="Text 16"/>
          <p:cNvSpPr/>
          <p:nvPr/>
        </p:nvSpPr>
        <p:spPr>
          <a:xfrm>
            <a:off x="1005840" y="3337560"/>
            <a:ext cx="7223760" cy="274320"/>
          </a:xfrm>
          <a:prstGeom prst="rect">
            <a:avLst/>
          </a:prstGeom>
          <a:noFill/>
          <a:ln/>
        </p:spPr>
        <p:txBody>
          <a:bodyPr wrap="square" lIns="0" tIns="0" rIns="0" bIns="0" rtlCol="0" anchor="ctr"/>
          <a:lstStyle/>
          <a:p>
            <a:pPr marL="0" indent="0">
              <a:buNone/>
            </a:pPr>
            <a:r>
              <a:rPr lang="en-US" sz="1150" i="1" dirty="0">
                <a:solidFill>
                  <a:srgbClr val="5A6B7A"/>
                </a:solidFill>
                <a:latin typeface="Open Sans" pitchFamily="34" charset="0"/>
                <a:ea typeface="Open Sans" pitchFamily="34" charset="-122"/>
                <a:cs typeface="Open Sans" pitchFamily="34" charset="-120"/>
              </a:rPr>
              <a:t>“Compare my Stage 1 memo to the rubric and suggest improvements.”</a:t>
            </a:r>
            <a:endParaRPr lang="en-US" sz="1150" dirty="0"/>
          </a:p>
        </p:txBody>
      </p:sp>
      <p:sp>
        <p:nvSpPr>
          <p:cNvPr id="19" name="Shape 17"/>
          <p:cNvSpPr/>
          <p:nvPr/>
        </p:nvSpPr>
        <p:spPr>
          <a:xfrm>
            <a:off x="731520" y="3840480"/>
            <a:ext cx="7680960" cy="658368"/>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20" name="Shape 18"/>
          <p:cNvSpPr/>
          <p:nvPr/>
        </p:nvSpPr>
        <p:spPr>
          <a:xfrm>
            <a:off x="731520" y="3840480"/>
            <a:ext cx="73152" cy="658368"/>
          </a:xfrm>
          <a:prstGeom prst="rect">
            <a:avLst/>
          </a:prstGeom>
          <a:solidFill>
            <a:srgbClr val="B8975C"/>
          </a:solidFill>
          <a:ln/>
        </p:spPr>
        <p:txBody>
          <a:bodyPr/>
          <a:lstStyle/>
          <a:p>
            <a:endParaRPr lang="en-US"/>
          </a:p>
        </p:txBody>
      </p:sp>
      <p:sp>
        <p:nvSpPr>
          <p:cNvPr id="21" name="Text 19"/>
          <p:cNvSpPr/>
          <p:nvPr/>
        </p:nvSpPr>
        <p:spPr>
          <a:xfrm>
            <a:off x="1005840" y="3886200"/>
            <a:ext cx="237744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Auto-Generate Prompt</a:t>
            </a:r>
            <a:endParaRPr lang="en-US" sz="1300" dirty="0"/>
          </a:p>
        </p:txBody>
      </p:sp>
      <p:sp>
        <p:nvSpPr>
          <p:cNvPr id="22" name="Text 20"/>
          <p:cNvSpPr/>
          <p:nvPr/>
        </p:nvSpPr>
        <p:spPr>
          <a:xfrm>
            <a:off x="1005840" y="4160520"/>
            <a:ext cx="7223760" cy="274320"/>
          </a:xfrm>
          <a:prstGeom prst="rect">
            <a:avLst/>
          </a:prstGeom>
          <a:noFill/>
          <a:ln/>
        </p:spPr>
        <p:txBody>
          <a:bodyPr wrap="square" lIns="0" tIns="0" rIns="0" bIns="0" rtlCol="0" anchor="ctr"/>
          <a:lstStyle/>
          <a:p>
            <a:pPr marL="0" indent="0">
              <a:buNone/>
            </a:pPr>
            <a:r>
              <a:rPr lang="en-US" sz="1150" i="1" dirty="0">
                <a:solidFill>
                  <a:srgbClr val="5A6B7A"/>
                </a:solidFill>
                <a:latin typeface="Open Sans" pitchFamily="34" charset="0"/>
                <a:ea typeface="Open Sans" pitchFamily="34" charset="-122"/>
                <a:cs typeface="Open Sans" pitchFamily="34" charset="-120"/>
              </a:rPr>
              <a:t>“Generate the Stage 4 AI prompt using my spec as the template.”</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E2530"/>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Text 1"/>
          <p:cNvSpPr/>
          <p:nvPr/>
        </p:nvSpPr>
        <p:spPr>
          <a:xfrm>
            <a:off x="731520" y="411480"/>
            <a:ext cx="7680960" cy="457200"/>
          </a:xfrm>
          <a:prstGeom prst="rect">
            <a:avLst/>
          </a:prstGeom>
          <a:noFill/>
          <a:ln/>
        </p:spPr>
        <p:txBody>
          <a:bodyPr wrap="square" lIns="0" tIns="0" rIns="0" bIns="0" rtlCol="0" anchor="ctr"/>
          <a:lstStyle/>
          <a:p>
            <a:pPr marL="0" indent="0">
              <a:buNone/>
            </a:pPr>
            <a:r>
              <a:rPr lang="en-US" sz="2800" b="1" dirty="0">
                <a:solidFill>
                  <a:srgbClr val="FFFFFF"/>
                </a:solidFill>
                <a:latin typeface="Open Sans" pitchFamily="34" charset="0"/>
                <a:ea typeface="Open Sans" pitchFamily="34" charset="-122"/>
                <a:cs typeface="Open Sans" pitchFamily="34" charset="-120"/>
              </a:rPr>
              <a:t>Quick Reference</a:t>
            </a:r>
            <a:endParaRPr lang="en-US" sz="2800" dirty="0"/>
          </a:p>
        </p:txBody>
      </p:sp>
      <p:sp>
        <p:nvSpPr>
          <p:cNvPr id="4" name="Text 2"/>
          <p:cNvSpPr/>
          <p:nvPr/>
        </p:nvSpPr>
        <p:spPr>
          <a:xfrm>
            <a:off x="731520" y="1051560"/>
            <a:ext cx="3657600" cy="320040"/>
          </a:xfrm>
          <a:prstGeom prst="rect">
            <a:avLst/>
          </a:prstGeom>
          <a:noFill/>
          <a:ln/>
        </p:spPr>
        <p:txBody>
          <a:bodyPr wrap="square" lIns="0" tIns="0" rIns="0" bIns="0" rtlCol="0" anchor="ctr"/>
          <a:lstStyle/>
          <a:p>
            <a:pPr marL="0" indent="0">
              <a:buNone/>
            </a:pPr>
            <a:r>
              <a:rPr lang="en-US" sz="1400" b="1" dirty="0">
                <a:solidFill>
                  <a:srgbClr val="B8975C"/>
                </a:solidFill>
                <a:latin typeface="Open Sans" pitchFamily="34" charset="0"/>
                <a:ea typeface="Open Sans" pitchFamily="34" charset="-122"/>
                <a:cs typeface="Open Sans" pitchFamily="34" charset="-120"/>
              </a:rPr>
              <a:t>Useful Links</a:t>
            </a:r>
            <a:endParaRPr lang="en-US" sz="1400" dirty="0"/>
          </a:p>
        </p:txBody>
      </p:sp>
      <p:sp>
        <p:nvSpPr>
          <p:cNvPr id="5" name="Text 3"/>
          <p:cNvSpPr/>
          <p:nvPr/>
        </p:nvSpPr>
        <p:spPr>
          <a:xfrm>
            <a:off x="731520" y="1508760"/>
            <a:ext cx="27432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claude.ai</a:t>
            </a:r>
            <a:endParaRPr lang="en-US" sz="1100" dirty="0"/>
          </a:p>
        </p:txBody>
      </p:sp>
      <p:sp>
        <p:nvSpPr>
          <p:cNvPr id="6" name="Text 4"/>
          <p:cNvSpPr/>
          <p:nvPr/>
        </p:nvSpPr>
        <p:spPr>
          <a:xfrm>
            <a:off x="731520" y="169164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Web interface (free sign-up)</a:t>
            </a:r>
            <a:endParaRPr lang="en-US" sz="1000" dirty="0"/>
          </a:p>
        </p:txBody>
      </p:sp>
      <p:sp>
        <p:nvSpPr>
          <p:cNvPr id="7" name="Text 5"/>
          <p:cNvSpPr/>
          <p:nvPr/>
        </p:nvSpPr>
        <p:spPr>
          <a:xfrm>
            <a:off x="731520" y="1920240"/>
            <a:ext cx="27432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claude.ai/download</a:t>
            </a:r>
            <a:endParaRPr lang="en-US" sz="1100" dirty="0"/>
          </a:p>
        </p:txBody>
      </p:sp>
      <p:sp>
        <p:nvSpPr>
          <p:cNvPr id="8" name="Text 6"/>
          <p:cNvSpPr/>
          <p:nvPr/>
        </p:nvSpPr>
        <p:spPr>
          <a:xfrm>
            <a:off x="731520" y="210312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Desktop app (Mac &amp; Windows)</a:t>
            </a:r>
            <a:endParaRPr lang="en-US" sz="1000" dirty="0"/>
          </a:p>
        </p:txBody>
      </p:sp>
      <p:sp>
        <p:nvSpPr>
          <p:cNvPr id="9" name="Text 7"/>
          <p:cNvSpPr/>
          <p:nvPr/>
        </p:nvSpPr>
        <p:spPr>
          <a:xfrm>
            <a:off x="731520" y="2331720"/>
            <a:ext cx="27432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docs.anthropic.com</a:t>
            </a:r>
            <a:endParaRPr lang="en-US" sz="1100" dirty="0"/>
          </a:p>
        </p:txBody>
      </p:sp>
      <p:sp>
        <p:nvSpPr>
          <p:cNvPr id="10" name="Text 8"/>
          <p:cNvSpPr/>
          <p:nvPr/>
        </p:nvSpPr>
        <p:spPr>
          <a:xfrm>
            <a:off x="731520" y="251460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Official Claude documentation</a:t>
            </a:r>
            <a:endParaRPr lang="en-US" sz="1000" dirty="0"/>
          </a:p>
        </p:txBody>
      </p:sp>
      <p:sp>
        <p:nvSpPr>
          <p:cNvPr id="11" name="Text 9"/>
          <p:cNvSpPr/>
          <p:nvPr/>
        </p:nvSpPr>
        <p:spPr>
          <a:xfrm>
            <a:off x="731520" y="2743200"/>
            <a:ext cx="27432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claude.ai/code</a:t>
            </a:r>
            <a:endParaRPr lang="en-US" sz="1100" dirty="0"/>
          </a:p>
        </p:txBody>
      </p:sp>
      <p:sp>
        <p:nvSpPr>
          <p:cNvPr id="12" name="Text 10"/>
          <p:cNvSpPr/>
          <p:nvPr/>
        </p:nvSpPr>
        <p:spPr>
          <a:xfrm>
            <a:off x="731520" y="292608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Claude Code (CLI tool)</a:t>
            </a:r>
            <a:endParaRPr lang="en-US" sz="1000" dirty="0"/>
          </a:p>
        </p:txBody>
      </p:sp>
      <p:sp>
        <p:nvSpPr>
          <p:cNvPr id="13" name="Text 11"/>
          <p:cNvSpPr/>
          <p:nvPr/>
        </p:nvSpPr>
        <p:spPr>
          <a:xfrm>
            <a:off x="731520" y="3154680"/>
            <a:ext cx="27432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npmjs.com/package/@anthropic-ai/claude-code</a:t>
            </a:r>
            <a:endParaRPr lang="en-US" sz="1100" dirty="0"/>
          </a:p>
        </p:txBody>
      </p:sp>
      <p:sp>
        <p:nvSpPr>
          <p:cNvPr id="14" name="Text 12"/>
          <p:cNvSpPr/>
          <p:nvPr/>
        </p:nvSpPr>
        <p:spPr>
          <a:xfrm>
            <a:off x="731520" y="333756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Claude Code npm package</a:t>
            </a:r>
            <a:endParaRPr lang="en-US" sz="1000" dirty="0"/>
          </a:p>
        </p:txBody>
      </p:sp>
      <p:sp>
        <p:nvSpPr>
          <p:cNvPr id="15" name="Text 13"/>
          <p:cNvSpPr/>
          <p:nvPr/>
        </p:nvSpPr>
        <p:spPr>
          <a:xfrm>
            <a:off x="4846320" y="1051560"/>
            <a:ext cx="3657600" cy="320040"/>
          </a:xfrm>
          <a:prstGeom prst="rect">
            <a:avLst/>
          </a:prstGeom>
          <a:noFill/>
          <a:ln/>
        </p:spPr>
        <p:txBody>
          <a:bodyPr wrap="square" lIns="0" tIns="0" rIns="0" bIns="0" rtlCol="0" anchor="ctr"/>
          <a:lstStyle/>
          <a:p>
            <a:pPr marL="0" indent="0">
              <a:buNone/>
            </a:pPr>
            <a:r>
              <a:rPr lang="en-US" sz="1400" b="1" dirty="0">
                <a:solidFill>
                  <a:srgbClr val="B8975C"/>
                </a:solidFill>
                <a:latin typeface="Open Sans" pitchFamily="34" charset="0"/>
                <a:ea typeface="Open Sans" pitchFamily="34" charset="-122"/>
                <a:cs typeface="Open Sans" pitchFamily="34" charset="-120"/>
              </a:rPr>
              <a:t>Claude Code Commands</a:t>
            </a:r>
            <a:endParaRPr lang="en-US" sz="1400" dirty="0"/>
          </a:p>
        </p:txBody>
      </p:sp>
      <p:sp>
        <p:nvSpPr>
          <p:cNvPr id="16" name="Text 14"/>
          <p:cNvSpPr/>
          <p:nvPr/>
        </p:nvSpPr>
        <p:spPr>
          <a:xfrm>
            <a:off x="4846320" y="1508760"/>
            <a:ext cx="32004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claude</a:t>
            </a:r>
            <a:endParaRPr lang="en-US" sz="1100" dirty="0"/>
          </a:p>
        </p:txBody>
      </p:sp>
      <p:sp>
        <p:nvSpPr>
          <p:cNvPr id="17" name="Text 15"/>
          <p:cNvSpPr/>
          <p:nvPr/>
        </p:nvSpPr>
        <p:spPr>
          <a:xfrm>
            <a:off x="4846320" y="169164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Start Claude Code in current directory</a:t>
            </a:r>
            <a:endParaRPr lang="en-US" sz="1000" dirty="0"/>
          </a:p>
        </p:txBody>
      </p:sp>
      <p:sp>
        <p:nvSpPr>
          <p:cNvPr id="18" name="Text 16"/>
          <p:cNvSpPr/>
          <p:nvPr/>
        </p:nvSpPr>
        <p:spPr>
          <a:xfrm>
            <a:off x="4846320" y="1920240"/>
            <a:ext cx="32004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/help</a:t>
            </a:r>
            <a:endParaRPr lang="en-US" sz="1100" dirty="0"/>
          </a:p>
        </p:txBody>
      </p:sp>
      <p:sp>
        <p:nvSpPr>
          <p:cNvPr id="19" name="Text 17"/>
          <p:cNvSpPr/>
          <p:nvPr/>
        </p:nvSpPr>
        <p:spPr>
          <a:xfrm>
            <a:off x="4846320" y="210312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Show available commands</a:t>
            </a:r>
            <a:endParaRPr lang="en-US" sz="1000" dirty="0"/>
          </a:p>
        </p:txBody>
      </p:sp>
      <p:sp>
        <p:nvSpPr>
          <p:cNvPr id="20" name="Text 18"/>
          <p:cNvSpPr/>
          <p:nvPr/>
        </p:nvSpPr>
        <p:spPr>
          <a:xfrm>
            <a:off x="4846320" y="2331720"/>
            <a:ext cx="32004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/clear</a:t>
            </a:r>
            <a:endParaRPr lang="en-US" sz="1100" dirty="0"/>
          </a:p>
        </p:txBody>
      </p:sp>
      <p:sp>
        <p:nvSpPr>
          <p:cNvPr id="21" name="Text 19"/>
          <p:cNvSpPr/>
          <p:nvPr/>
        </p:nvSpPr>
        <p:spPr>
          <a:xfrm>
            <a:off x="4846320" y="251460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Clear conversation context</a:t>
            </a:r>
            <a:endParaRPr lang="en-US" sz="1000" dirty="0"/>
          </a:p>
        </p:txBody>
      </p:sp>
      <p:sp>
        <p:nvSpPr>
          <p:cNvPr id="22" name="Text 20"/>
          <p:cNvSpPr/>
          <p:nvPr/>
        </p:nvSpPr>
        <p:spPr>
          <a:xfrm>
            <a:off x="4846320" y="2743200"/>
            <a:ext cx="32004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Ctrl+C</a:t>
            </a:r>
            <a:endParaRPr lang="en-US" sz="1100" dirty="0"/>
          </a:p>
        </p:txBody>
      </p:sp>
      <p:sp>
        <p:nvSpPr>
          <p:cNvPr id="23" name="Text 21"/>
          <p:cNvSpPr/>
          <p:nvPr/>
        </p:nvSpPr>
        <p:spPr>
          <a:xfrm>
            <a:off x="4846320" y="292608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Cancel current operation</a:t>
            </a:r>
            <a:endParaRPr lang="en-US" sz="1000" dirty="0"/>
          </a:p>
        </p:txBody>
      </p:sp>
      <p:sp>
        <p:nvSpPr>
          <p:cNvPr id="24" name="Text 22"/>
          <p:cNvSpPr/>
          <p:nvPr/>
        </p:nvSpPr>
        <p:spPr>
          <a:xfrm>
            <a:off x="4846320" y="3154680"/>
            <a:ext cx="3200400" cy="182880"/>
          </a:xfrm>
          <a:prstGeom prst="rect">
            <a:avLst/>
          </a:prstGeom>
          <a:noFill/>
          <a:ln/>
        </p:spPr>
        <p:txBody>
          <a:bodyPr wrap="square" lIns="0" tIns="0" rIns="0" bIns="0" rtlCol="0" anchor="ctr"/>
          <a:lstStyle/>
          <a:p>
            <a:pPr marL="0" indent="0">
              <a:buNone/>
            </a:pPr>
            <a:r>
              <a:rPr lang="en-US" sz="1100" dirty="0">
                <a:solidFill>
                  <a:srgbClr val="B8975C"/>
                </a:solidFill>
                <a:latin typeface="Consolas" pitchFamily="34" charset="0"/>
                <a:ea typeface="Consolas" pitchFamily="34" charset="-122"/>
                <a:cs typeface="Consolas" pitchFamily="34" charset="-120"/>
              </a:rPr>
              <a:t>Type your request</a:t>
            </a:r>
            <a:endParaRPr lang="en-US" sz="1100" dirty="0"/>
          </a:p>
        </p:txBody>
      </p:sp>
      <p:sp>
        <p:nvSpPr>
          <p:cNvPr id="25" name="Text 23"/>
          <p:cNvSpPr/>
          <p:nvPr/>
        </p:nvSpPr>
        <p:spPr>
          <a:xfrm>
            <a:off x="4846320" y="3337560"/>
            <a:ext cx="3657600" cy="182880"/>
          </a:xfrm>
          <a:prstGeom prst="rect">
            <a:avLst/>
          </a:prstGeom>
          <a:noFill/>
          <a:ln/>
        </p:spPr>
        <p:txBody>
          <a:bodyPr wrap="square" lIns="0" tIns="0" rIns="0" bIns="0" rtlCol="0" anchor="ctr"/>
          <a:lstStyle/>
          <a:p>
            <a:pPr marL="0" indent="0">
              <a:buNone/>
            </a:pPr>
            <a:r>
              <a:rPr lang="en-US" sz="1000" dirty="0">
                <a:solidFill>
                  <a:srgbClr val="8A9BAD"/>
                </a:solidFill>
                <a:latin typeface="Open Sans" pitchFamily="34" charset="0"/>
                <a:ea typeface="Open Sans" pitchFamily="34" charset="-122"/>
                <a:cs typeface="Open Sans" pitchFamily="34" charset="-120"/>
              </a:rPr>
              <a:t>Claude reads your files and responds</a:t>
            </a:r>
            <a:endParaRPr lang="en-US" sz="1000" dirty="0"/>
          </a:p>
        </p:txBody>
      </p:sp>
      <p:sp>
        <p:nvSpPr>
          <p:cNvPr id="26" name="Shape 24"/>
          <p:cNvSpPr/>
          <p:nvPr/>
        </p:nvSpPr>
        <p:spPr>
          <a:xfrm>
            <a:off x="731520" y="3931920"/>
            <a:ext cx="1828800" cy="36576"/>
          </a:xfrm>
          <a:prstGeom prst="rect">
            <a:avLst/>
          </a:prstGeom>
          <a:solidFill>
            <a:srgbClr val="B8975C"/>
          </a:solidFill>
          <a:ln/>
        </p:spPr>
        <p:txBody>
          <a:bodyPr/>
          <a:lstStyle/>
          <a:p>
            <a:endParaRPr lang="en-US"/>
          </a:p>
        </p:txBody>
      </p:sp>
      <p:sp>
        <p:nvSpPr>
          <p:cNvPr id="27" name="Text 25"/>
          <p:cNvSpPr/>
          <p:nvPr/>
        </p:nvSpPr>
        <p:spPr>
          <a:xfrm>
            <a:off x="731520" y="4114800"/>
            <a:ext cx="7680960" cy="274320"/>
          </a:xfrm>
          <a:prstGeom prst="rect">
            <a:avLst/>
          </a:prstGeom>
          <a:noFill/>
          <a:ln/>
        </p:spPr>
        <p:txBody>
          <a:bodyPr wrap="square" lIns="0" tIns="0" rIns="0" bIns="0" rtlCol="0" anchor="ctr"/>
          <a:lstStyle/>
          <a:p>
            <a:pPr marL="0" indent="0">
              <a:buNone/>
            </a:pPr>
            <a:r>
              <a:rPr lang="en-US" sz="1300" dirty="0">
                <a:solidFill>
                  <a:srgbClr val="8A9BAD"/>
                </a:solidFill>
                <a:latin typeface="Open Sans" pitchFamily="34" charset="0"/>
                <a:ea typeface="Open Sans" pitchFamily="34" charset="-122"/>
                <a:cs typeface="Open Sans" pitchFamily="34" charset="-120"/>
              </a:rPr>
              <a:t>Start with the web app. Graduate to Claude Code when you’re ready.</a:t>
            </a:r>
            <a:endParaRPr lang="en-US" sz="1300" dirty="0"/>
          </a:p>
        </p:txBody>
      </p:sp>
      <p:sp>
        <p:nvSpPr>
          <p:cNvPr id="28" name="Text 26"/>
          <p:cNvSpPr/>
          <p:nvPr/>
        </p:nvSpPr>
        <p:spPr>
          <a:xfrm>
            <a:off x="457200" y="4663440"/>
            <a:ext cx="8229600" cy="320040"/>
          </a:xfrm>
          <a:prstGeom prst="rect">
            <a:avLst/>
          </a:prstGeom>
          <a:noFill/>
          <a:ln/>
        </p:spPr>
        <p:txBody>
          <a:bodyPr wrap="square" lIns="0" tIns="0" rIns="0" bIns="0" rtlCol="0" anchor="ctr"/>
          <a:lstStyle/>
          <a:p>
            <a:pPr marL="0" indent="0" algn="ctr">
              <a:buNone/>
            </a:pPr>
            <a:r>
              <a:rPr lang="en-US" sz="1000" dirty="0">
                <a:solidFill>
                  <a:srgbClr val="5A6B7A"/>
                </a:solidFill>
                <a:latin typeface="Open Sans" pitchFamily="34" charset="0"/>
                <a:ea typeface="Open Sans" pitchFamily="34" charset="-122"/>
                <a:cs typeface="Open Sans" pitchFamily="34" charset="-120"/>
              </a:rPr>
              <a:t>Shidler College of Business  |  University of Hawaiʻi at Mānoa  |  adamstau@hawaii.edu</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Skills &amp; Slash Commands</a:t>
            </a:r>
            <a:endParaRPr lang="en-US" sz="2800" dirty="0"/>
          </a:p>
        </p:txBody>
      </p:sp>
      <p:sp>
        <p:nvSpPr>
          <p:cNvPr id="6" name="Text 4"/>
          <p:cNvSpPr/>
          <p:nvPr/>
        </p:nvSpPr>
        <p:spPr>
          <a:xfrm>
            <a:off x="731520" y="868680"/>
            <a:ext cx="7680960" cy="320040"/>
          </a:xfrm>
          <a:prstGeom prst="rect">
            <a:avLst/>
          </a:prstGeom>
          <a:noFill/>
          <a:ln/>
        </p:spPr>
        <p:txBody>
          <a:bodyPr wrap="square" lIns="0" tIns="0" rIns="0" bIns="0" rtlCol="0" anchor="ctr"/>
          <a:lstStyle/>
          <a:p>
            <a:pPr marL="0" indent="0">
              <a:buNone/>
            </a:pPr>
            <a:r>
              <a:rPr lang="en-US" sz="1300" dirty="0">
                <a:solidFill>
                  <a:srgbClr val="5A6B7A"/>
                </a:solidFill>
                <a:latin typeface="Open Sans" pitchFamily="34" charset="0"/>
                <a:ea typeface="Open Sans" pitchFamily="34" charset="-122"/>
                <a:cs typeface="Open Sans" pitchFamily="34" charset="-120"/>
              </a:rPr>
              <a:t>Claude Code supports custom skills and /commands that extend its capabilities for your project.</a:t>
            </a:r>
            <a:endParaRPr lang="en-US" sz="1300" dirty="0"/>
          </a:p>
        </p:txBody>
      </p:sp>
      <p:sp>
        <p:nvSpPr>
          <p:cNvPr id="7" name="Shape 5"/>
          <p:cNvSpPr/>
          <p:nvPr/>
        </p:nvSpPr>
        <p:spPr>
          <a:xfrm>
            <a:off x="731520" y="1371600"/>
            <a:ext cx="7680960" cy="658368"/>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731520" y="1371600"/>
            <a:ext cx="73152" cy="658368"/>
          </a:xfrm>
          <a:prstGeom prst="rect">
            <a:avLst/>
          </a:prstGeom>
          <a:solidFill>
            <a:srgbClr val="B8975C"/>
          </a:solidFill>
          <a:ln/>
        </p:spPr>
        <p:txBody>
          <a:bodyPr/>
          <a:lstStyle/>
          <a:p>
            <a:endParaRPr lang="en-US"/>
          </a:p>
        </p:txBody>
      </p:sp>
      <p:sp>
        <p:nvSpPr>
          <p:cNvPr id="9" name="Text 7"/>
          <p:cNvSpPr/>
          <p:nvPr/>
        </p:nvSpPr>
        <p:spPr>
          <a:xfrm>
            <a:off x="1005840" y="1417320"/>
            <a:ext cx="237744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What Are Skills?</a:t>
            </a:r>
            <a:endParaRPr lang="en-US" sz="1300" dirty="0"/>
          </a:p>
        </p:txBody>
      </p:sp>
      <p:sp>
        <p:nvSpPr>
          <p:cNvPr id="10" name="Text 8"/>
          <p:cNvSpPr/>
          <p:nvPr/>
        </p:nvSpPr>
        <p:spPr>
          <a:xfrm>
            <a:off x="1005840" y="1691640"/>
            <a:ext cx="7223760" cy="274320"/>
          </a:xfrm>
          <a:prstGeom prst="rect">
            <a:avLst/>
          </a:prstGeom>
          <a:noFill/>
          <a:ln/>
        </p:spPr>
        <p:txBody>
          <a:bodyPr wrap="square" lIns="0" tIns="0" rIns="0" bIns="0" rtlCol="0" anchor="ctr"/>
          <a:lstStyle/>
          <a:p>
            <a:pPr marL="0" indent="0">
              <a:buNone/>
            </a:pPr>
            <a:r>
              <a:rPr lang="en-US" sz="1150" i="1" dirty="0">
                <a:solidFill>
                  <a:srgbClr val="5A6B7A"/>
                </a:solidFill>
                <a:latin typeface="Open Sans" pitchFamily="34" charset="0"/>
                <a:ea typeface="Open Sans" pitchFamily="34" charset="-122"/>
                <a:cs typeface="Open Sans" pitchFamily="34" charset="-120"/>
              </a:rPr>
              <a:t>“Skills are reusable instruction sets in .claude/skills/. They teach Claude domain knowledge — like how to build Excel models or apply UH branding.”</a:t>
            </a:r>
            <a:endParaRPr lang="en-US" sz="1150" dirty="0"/>
          </a:p>
        </p:txBody>
      </p:sp>
      <p:sp>
        <p:nvSpPr>
          <p:cNvPr id="11" name="Shape 9"/>
          <p:cNvSpPr/>
          <p:nvPr/>
        </p:nvSpPr>
        <p:spPr>
          <a:xfrm>
            <a:off x="731520" y="2194560"/>
            <a:ext cx="7680960" cy="658368"/>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2" name="Shape 10"/>
          <p:cNvSpPr/>
          <p:nvPr/>
        </p:nvSpPr>
        <p:spPr>
          <a:xfrm>
            <a:off x="731520" y="2194560"/>
            <a:ext cx="73152" cy="658368"/>
          </a:xfrm>
          <a:prstGeom prst="rect">
            <a:avLst/>
          </a:prstGeom>
          <a:solidFill>
            <a:srgbClr val="B8975C"/>
          </a:solidFill>
          <a:ln/>
        </p:spPr>
        <p:txBody>
          <a:bodyPr/>
          <a:lstStyle/>
          <a:p>
            <a:endParaRPr lang="en-US"/>
          </a:p>
        </p:txBody>
      </p:sp>
      <p:sp>
        <p:nvSpPr>
          <p:cNvPr id="13" name="Text 11"/>
          <p:cNvSpPr/>
          <p:nvPr/>
        </p:nvSpPr>
        <p:spPr>
          <a:xfrm>
            <a:off x="1005840" y="2240280"/>
            <a:ext cx="237744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Using /Commands</a:t>
            </a:r>
            <a:endParaRPr lang="en-US" sz="1300" dirty="0"/>
          </a:p>
        </p:txBody>
      </p:sp>
      <p:sp>
        <p:nvSpPr>
          <p:cNvPr id="14" name="Text 12"/>
          <p:cNvSpPr/>
          <p:nvPr/>
        </p:nvSpPr>
        <p:spPr>
          <a:xfrm>
            <a:off x="1005840" y="2514600"/>
            <a:ext cx="7223760" cy="274320"/>
          </a:xfrm>
          <a:prstGeom prst="rect">
            <a:avLst/>
          </a:prstGeom>
          <a:noFill/>
          <a:ln/>
        </p:spPr>
        <p:txBody>
          <a:bodyPr wrap="square" lIns="0" tIns="0" rIns="0" bIns="0" rtlCol="0" anchor="ctr"/>
          <a:lstStyle/>
          <a:p>
            <a:pPr marL="0" indent="0">
              <a:buNone/>
            </a:pPr>
            <a:r>
              <a:rPr lang="en-US" sz="1150" i="1" dirty="0">
                <a:solidFill>
                  <a:srgbClr val="5A6B7A"/>
                </a:solidFill>
                <a:latin typeface="Open Sans" pitchFamily="34" charset="0"/>
                <a:ea typeface="Open Sans" pitchFamily="34" charset="-122"/>
                <a:cs typeface="Open Sans" pitchFamily="34" charset="-120"/>
              </a:rPr>
              <a:t>“Type /pptx, /xlsx, /docx, /brand-guidelines, or /pdf to activate a skill. Claude loads specialized instructions and produces higher-quality output.”</a:t>
            </a:r>
            <a:endParaRPr lang="en-US" sz="1150" dirty="0"/>
          </a:p>
        </p:txBody>
      </p:sp>
      <p:sp>
        <p:nvSpPr>
          <p:cNvPr id="15" name="Shape 13"/>
          <p:cNvSpPr/>
          <p:nvPr/>
        </p:nvSpPr>
        <p:spPr>
          <a:xfrm>
            <a:off x="731520" y="3017520"/>
            <a:ext cx="7680960" cy="658368"/>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6" name="Shape 14"/>
          <p:cNvSpPr/>
          <p:nvPr/>
        </p:nvSpPr>
        <p:spPr>
          <a:xfrm>
            <a:off x="731520" y="3017520"/>
            <a:ext cx="73152" cy="658368"/>
          </a:xfrm>
          <a:prstGeom prst="rect">
            <a:avLst/>
          </a:prstGeom>
          <a:solidFill>
            <a:srgbClr val="B8975C"/>
          </a:solidFill>
          <a:ln/>
        </p:spPr>
        <p:txBody>
          <a:bodyPr/>
          <a:lstStyle/>
          <a:p>
            <a:endParaRPr lang="en-US"/>
          </a:p>
        </p:txBody>
      </p:sp>
      <p:sp>
        <p:nvSpPr>
          <p:cNvPr id="17" name="Text 15"/>
          <p:cNvSpPr/>
          <p:nvPr/>
        </p:nvSpPr>
        <p:spPr>
          <a:xfrm>
            <a:off x="1005840" y="3063240"/>
            <a:ext cx="237744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Installing Skills</a:t>
            </a:r>
            <a:endParaRPr lang="en-US" sz="1300" dirty="0"/>
          </a:p>
        </p:txBody>
      </p:sp>
      <p:sp>
        <p:nvSpPr>
          <p:cNvPr id="18" name="Text 16"/>
          <p:cNvSpPr/>
          <p:nvPr/>
        </p:nvSpPr>
        <p:spPr>
          <a:xfrm>
            <a:off x="1005840" y="3337560"/>
            <a:ext cx="7223760" cy="274320"/>
          </a:xfrm>
          <a:prstGeom prst="rect">
            <a:avLst/>
          </a:prstGeom>
          <a:noFill/>
          <a:ln/>
        </p:spPr>
        <p:txBody>
          <a:bodyPr wrap="square" lIns="0" tIns="0" rIns="0" bIns="0" rtlCol="0" anchor="ctr"/>
          <a:lstStyle/>
          <a:p>
            <a:pPr marL="0" indent="0">
              <a:buNone/>
            </a:pPr>
            <a:r>
              <a:rPr lang="en-US" sz="1150" i="1" dirty="0">
                <a:solidFill>
                  <a:srgbClr val="5A6B7A"/>
                </a:solidFill>
                <a:latin typeface="Open Sans" pitchFamily="34" charset="0"/>
                <a:ea typeface="Open Sans" pitchFamily="34" charset="-122"/>
                <a:cs typeface="Open Sans" pitchFamily="34" charset="-120"/>
              </a:rPr>
              <a:t>“Skills live in .claude/skills/ folders. Clone the repo and they’re ready — no separate install. Claude Code detects them automatically.”</a:t>
            </a:r>
            <a:endParaRPr lang="en-US" sz="1150" dirty="0"/>
          </a:p>
        </p:txBody>
      </p:sp>
      <p:sp>
        <p:nvSpPr>
          <p:cNvPr id="19" name="Shape 17"/>
          <p:cNvSpPr/>
          <p:nvPr/>
        </p:nvSpPr>
        <p:spPr>
          <a:xfrm>
            <a:off x="731520" y="3840480"/>
            <a:ext cx="7680960" cy="658368"/>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20" name="Shape 18"/>
          <p:cNvSpPr/>
          <p:nvPr/>
        </p:nvSpPr>
        <p:spPr>
          <a:xfrm>
            <a:off x="731520" y="3840480"/>
            <a:ext cx="73152" cy="658368"/>
          </a:xfrm>
          <a:prstGeom prst="rect">
            <a:avLst/>
          </a:prstGeom>
          <a:solidFill>
            <a:srgbClr val="B8975C"/>
          </a:solidFill>
          <a:ln/>
        </p:spPr>
        <p:txBody>
          <a:bodyPr/>
          <a:lstStyle/>
          <a:p>
            <a:endParaRPr lang="en-US"/>
          </a:p>
        </p:txBody>
      </p:sp>
      <p:sp>
        <p:nvSpPr>
          <p:cNvPr id="21" name="Text 19"/>
          <p:cNvSpPr/>
          <p:nvPr/>
        </p:nvSpPr>
        <p:spPr>
          <a:xfrm>
            <a:off x="1005840" y="3886200"/>
            <a:ext cx="2377440" cy="274320"/>
          </a:xfrm>
          <a:prstGeom prst="rect">
            <a:avLst/>
          </a:prstGeom>
          <a:noFill/>
          <a:ln/>
        </p:spPr>
        <p:txBody>
          <a:bodyPr wrap="square" lIns="0" tIns="0" rIns="0" bIns="0" rtlCol="0" anchor="ctr"/>
          <a:lstStyle/>
          <a:p>
            <a:pPr marL="0" indent="0">
              <a:buNone/>
            </a:pPr>
            <a:r>
              <a:rPr lang="en-US" sz="1300" b="1" dirty="0">
                <a:solidFill>
                  <a:srgbClr val="1E2530"/>
                </a:solidFill>
                <a:latin typeface="Open Sans" pitchFamily="34" charset="0"/>
                <a:ea typeface="Open Sans" pitchFamily="34" charset="-122"/>
                <a:cs typeface="Open Sans" pitchFamily="34" charset="-120"/>
              </a:rPr>
              <a:t>Available in This Repo</a:t>
            </a:r>
            <a:endParaRPr lang="en-US" sz="1300" dirty="0"/>
          </a:p>
        </p:txBody>
      </p:sp>
      <p:sp>
        <p:nvSpPr>
          <p:cNvPr id="22" name="Text 20"/>
          <p:cNvSpPr/>
          <p:nvPr/>
        </p:nvSpPr>
        <p:spPr>
          <a:xfrm>
            <a:off x="1005840" y="4160520"/>
            <a:ext cx="7223760" cy="274320"/>
          </a:xfrm>
          <a:prstGeom prst="rect">
            <a:avLst/>
          </a:prstGeom>
          <a:noFill/>
          <a:ln/>
        </p:spPr>
        <p:txBody>
          <a:bodyPr wrap="square" lIns="0" tIns="0" rIns="0" bIns="0" rtlCol="0" anchor="ctr"/>
          <a:lstStyle/>
          <a:p>
            <a:pPr marL="0" indent="0">
              <a:buNone/>
            </a:pPr>
            <a:r>
              <a:rPr lang="en-US" sz="1150" i="1" dirty="0">
                <a:solidFill>
                  <a:srgbClr val="5A6B7A"/>
                </a:solidFill>
                <a:latin typeface="Open Sans" pitchFamily="34" charset="0"/>
                <a:ea typeface="Open Sans" pitchFamily="34" charset="-122"/>
                <a:cs typeface="Open Sans" pitchFamily="34" charset="-120"/>
              </a:rPr>
              <a:t>“brand-guidelines, bus314-accounting-ratios, docx, xlsx, pptx, pdf, internal-comms, skill-creator — type /help to see all.”</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4">
    <p:bg>
      <p:bgPr>
        <a:solidFill>
          <a:srgbClr val="FA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975C"/>
          </a:solidFill>
          <a:ln/>
        </p:spPr>
        <p:txBody>
          <a:bodyPr/>
          <a:lstStyle/>
          <a:p>
            <a:endParaRPr lang="en-US"/>
          </a:p>
        </p:txBody>
      </p:sp>
      <p:sp>
        <p:nvSpPr>
          <p:cNvPr id="3" name="Shape 1"/>
          <p:cNvSpPr/>
          <p:nvPr/>
        </p:nvSpPr>
        <p:spPr>
          <a:xfrm>
            <a:off x="0" y="4709160"/>
            <a:ext cx="9144000" cy="434340"/>
          </a:xfrm>
          <a:prstGeom prst="rect">
            <a:avLst/>
          </a:prstGeom>
          <a:solidFill>
            <a:srgbClr val="36454F"/>
          </a:solidFill>
          <a:ln/>
        </p:spPr>
        <p:txBody>
          <a:bodyPr/>
          <a:lstStyle/>
          <a:p>
            <a:endParaRPr lang="en-US"/>
          </a:p>
        </p:txBody>
      </p:sp>
      <p:sp>
        <p:nvSpPr>
          <p:cNvPr id="4" name="Text 2"/>
          <p:cNvSpPr/>
          <p:nvPr/>
        </p:nvSpPr>
        <p:spPr>
          <a:xfrm>
            <a:off x="457200" y="4745736"/>
            <a:ext cx="8229600" cy="320040"/>
          </a:xfrm>
          <a:prstGeom prst="rect">
            <a:avLst/>
          </a:prstGeom>
          <a:noFill/>
          <a:ln/>
        </p:spPr>
        <p:txBody>
          <a:bodyPr wrap="square" lIns="0" tIns="0" rIns="0" bIns="0" rtlCol="0" anchor="ctr"/>
          <a:lstStyle/>
          <a:p>
            <a:pPr marL="0" indent="0" algn="ctr">
              <a:buNone/>
            </a:pPr>
            <a:r>
              <a:rPr lang="en-US" sz="900" dirty="0">
                <a:solidFill>
                  <a:srgbClr val="8A9BAD"/>
                </a:solidFill>
                <a:latin typeface="Open Sans" pitchFamily="34" charset="0"/>
                <a:ea typeface="Open Sans" pitchFamily="34" charset="-122"/>
                <a:cs typeface="Open Sans" pitchFamily="34" charset="-120"/>
              </a:rPr>
              <a:t>Appendix: Using Claude  |  Shidler College of Business</a:t>
            </a:r>
            <a:endParaRPr lang="en-US" sz="900" dirty="0"/>
          </a:p>
        </p:txBody>
      </p:sp>
      <p:sp>
        <p:nvSpPr>
          <p:cNvPr id="5" name="Text 3"/>
          <p:cNvSpPr/>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530"/>
                </a:solidFill>
                <a:latin typeface="Open Sans" pitchFamily="34" charset="0"/>
                <a:ea typeface="Open Sans" pitchFamily="34" charset="-122"/>
                <a:cs typeface="Open Sans" pitchFamily="34" charset="-120"/>
              </a:rPr>
              <a:t>The Design System</a:t>
            </a:r>
            <a:endParaRPr lang="en-US" sz="2800" dirty="0"/>
          </a:p>
        </p:txBody>
      </p:sp>
      <p:sp>
        <p:nvSpPr>
          <p:cNvPr id="6" name="Shape 4"/>
          <p:cNvSpPr/>
          <p:nvPr/>
        </p:nvSpPr>
        <p:spPr>
          <a:xfrm>
            <a:off x="731520" y="1051560"/>
            <a:ext cx="3749040" cy="1463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914400" y="1325880"/>
            <a:ext cx="411480" cy="411480"/>
          </a:xfrm>
          <a:prstGeom prst="rect">
            <a:avLst/>
          </a:prstGeom>
        </p:spPr>
      </p:pic>
      <p:sp>
        <p:nvSpPr>
          <p:cNvPr id="8" name="Text 5"/>
          <p:cNvSpPr/>
          <p:nvPr/>
        </p:nvSpPr>
        <p:spPr>
          <a:xfrm>
            <a:off x="1463040" y="1234440"/>
            <a:ext cx="28346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design.json</a:t>
            </a:r>
            <a:endParaRPr lang="en-US" sz="1400" dirty="0"/>
          </a:p>
        </p:txBody>
      </p:sp>
      <p:sp>
        <p:nvSpPr>
          <p:cNvPr id="9" name="Text 6"/>
          <p:cNvSpPr/>
          <p:nvPr/>
        </p:nvSpPr>
        <p:spPr>
          <a:xfrm>
            <a:off x="1463040" y="1600200"/>
            <a:ext cx="2834640" cy="777240"/>
          </a:xfrm>
          <a:prstGeom prst="rect">
            <a:avLst/>
          </a:prstGeom>
          <a:noFill/>
          <a:ln/>
        </p:spPr>
        <p:txBody>
          <a:bodyPr wrap="square" lIns="0" tIns="0" rIns="0" bIns="0" rtlCol="0" anchor="ctr"/>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Machine-readable design tokens: colors, typography, spacing, components. Claude reads this file to apply UH branding to any artifact automatically.</a:t>
            </a:r>
            <a:endParaRPr lang="en-US" sz="1100" dirty="0"/>
          </a:p>
        </p:txBody>
      </p:sp>
      <p:sp>
        <p:nvSpPr>
          <p:cNvPr id="10" name="Shape 7"/>
          <p:cNvSpPr/>
          <p:nvPr/>
        </p:nvSpPr>
        <p:spPr>
          <a:xfrm>
            <a:off x="4846320" y="1051560"/>
            <a:ext cx="3749040" cy="1463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5029200" y="1325880"/>
            <a:ext cx="411480" cy="411480"/>
          </a:xfrm>
          <a:prstGeom prst="rect">
            <a:avLst/>
          </a:prstGeom>
        </p:spPr>
      </p:pic>
      <p:sp>
        <p:nvSpPr>
          <p:cNvPr id="12" name="Text 8"/>
          <p:cNvSpPr/>
          <p:nvPr/>
        </p:nvSpPr>
        <p:spPr>
          <a:xfrm>
            <a:off x="5577840" y="1234440"/>
            <a:ext cx="28346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design-system.html</a:t>
            </a:r>
            <a:endParaRPr lang="en-US" sz="1400" dirty="0"/>
          </a:p>
        </p:txBody>
      </p:sp>
      <p:sp>
        <p:nvSpPr>
          <p:cNvPr id="13" name="Text 9"/>
          <p:cNvSpPr/>
          <p:nvPr/>
        </p:nvSpPr>
        <p:spPr>
          <a:xfrm>
            <a:off x="5577840" y="1600200"/>
            <a:ext cx="2834640" cy="777240"/>
          </a:xfrm>
          <a:prstGeom prst="rect">
            <a:avLst/>
          </a:prstGeom>
          <a:noFill/>
          <a:ln/>
        </p:spPr>
        <p:txBody>
          <a:bodyPr wrap="square" lIns="0" tIns="0" rIns="0" bIns="0" rtlCol="0" anchor="ctr"/>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Human-readable visual reference. Open in a browser to see the full color palette, typography scale, component examples, and spacing rules.</a:t>
            </a:r>
            <a:endParaRPr lang="en-US" sz="1100" dirty="0"/>
          </a:p>
        </p:txBody>
      </p:sp>
      <p:sp>
        <p:nvSpPr>
          <p:cNvPr id="14" name="Shape 10"/>
          <p:cNvSpPr/>
          <p:nvPr/>
        </p:nvSpPr>
        <p:spPr>
          <a:xfrm>
            <a:off x="731520" y="2788920"/>
            <a:ext cx="3749040" cy="1463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5" name="Image 2" descr="preencoded.png"/>
          <p:cNvPicPr>
            <a:picLocks noChangeAspect="1"/>
          </p:cNvPicPr>
          <p:nvPr/>
        </p:nvPicPr>
        <p:blipFill>
          <a:blip r:embed="rId5"/>
          <a:stretch>
            <a:fillRect/>
          </a:stretch>
        </p:blipFill>
        <p:spPr>
          <a:xfrm>
            <a:off x="914400" y="3063240"/>
            <a:ext cx="411480" cy="411480"/>
          </a:xfrm>
          <a:prstGeom prst="rect">
            <a:avLst/>
          </a:prstGeom>
        </p:spPr>
      </p:pic>
      <p:sp>
        <p:nvSpPr>
          <p:cNvPr id="16" name="Text 11"/>
          <p:cNvSpPr/>
          <p:nvPr/>
        </p:nvSpPr>
        <p:spPr>
          <a:xfrm>
            <a:off x="1463040" y="2971800"/>
            <a:ext cx="28346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How Claude Uses It</a:t>
            </a:r>
            <a:endParaRPr lang="en-US" sz="1400" dirty="0"/>
          </a:p>
        </p:txBody>
      </p:sp>
      <p:sp>
        <p:nvSpPr>
          <p:cNvPr id="17" name="Text 12"/>
          <p:cNvSpPr/>
          <p:nvPr/>
        </p:nvSpPr>
        <p:spPr>
          <a:xfrm>
            <a:off x="1463040" y="3337560"/>
            <a:ext cx="2834640" cy="777240"/>
          </a:xfrm>
          <a:prstGeom prst="rect">
            <a:avLst/>
          </a:prstGeom>
          <a:noFill/>
          <a:ln/>
        </p:spPr>
        <p:txBody>
          <a:bodyPr wrap="square" lIns="0" tIns="0" rIns="0" bIns="0" rtlCol="0" anchor="ctr"/>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When you invoke /brand-guidelines or ask Claude to format a document, it reads design.json for exact hex codes, font names, and sizing rules.</a:t>
            </a:r>
            <a:endParaRPr lang="en-US" sz="1100" dirty="0"/>
          </a:p>
        </p:txBody>
      </p:sp>
      <p:sp>
        <p:nvSpPr>
          <p:cNvPr id="18" name="Shape 13"/>
          <p:cNvSpPr/>
          <p:nvPr/>
        </p:nvSpPr>
        <p:spPr>
          <a:xfrm>
            <a:off x="4846320" y="2788920"/>
            <a:ext cx="3749040" cy="14630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9" name="Image 3" descr="preencoded.png"/>
          <p:cNvPicPr>
            <a:picLocks noChangeAspect="1"/>
          </p:cNvPicPr>
          <p:nvPr/>
        </p:nvPicPr>
        <p:blipFill>
          <a:blip r:embed="rId6"/>
          <a:stretch>
            <a:fillRect/>
          </a:stretch>
        </p:blipFill>
        <p:spPr>
          <a:xfrm>
            <a:off x="5029200" y="3063240"/>
            <a:ext cx="411480" cy="411480"/>
          </a:xfrm>
          <a:prstGeom prst="rect">
            <a:avLst/>
          </a:prstGeom>
        </p:spPr>
      </p:pic>
      <p:sp>
        <p:nvSpPr>
          <p:cNvPr id="20" name="Text 14"/>
          <p:cNvSpPr/>
          <p:nvPr/>
        </p:nvSpPr>
        <p:spPr>
          <a:xfrm>
            <a:off x="5577840" y="2971800"/>
            <a:ext cx="2834640" cy="320040"/>
          </a:xfrm>
          <a:prstGeom prst="rect">
            <a:avLst/>
          </a:prstGeom>
          <a:noFill/>
          <a:ln/>
        </p:spPr>
        <p:txBody>
          <a:bodyPr wrap="square" lIns="0" tIns="0" rIns="0" bIns="0" rtlCol="0" anchor="ctr"/>
          <a:lstStyle/>
          <a:p>
            <a:pPr marL="0" indent="0">
              <a:buNone/>
            </a:pPr>
            <a:r>
              <a:rPr lang="en-US" sz="1400" b="1" dirty="0">
                <a:solidFill>
                  <a:srgbClr val="1E2530"/>
                </a:solidFill>
                <a:latin typeface="Open Sans" pitchFamily="34" charset="0"/>
                <a:ea typeface="Open Sans" pitchFamily="34" charset="-122"/>
                <a:cs typeface="Open Sans" pitchFamily="34" charset="-120"/>
              </a:rPr>
              <a:t>Where to Find Them</a:t>
            </a:r>
            <a:endParaRPr lang="en-US" sz="1400" dirty="0"/>
          </a:p>
        </p:txBody>
      </p:sp>
      <p:sp>
        <p:nvSpPr>
          <p:cNvPr id="21" name="Text 15"/>
          <p:cNvSpPr/>
          <p:nvPr/>
        </p:nvSpPr>
        <p:spPr>
          <a:xfrm>
            <a:off x="5577840" y="3337560"/>
            <a:ext cx="2834640" cy="777240"/>
          </a:xfrm>
          <a:prstGeom prst="rect">
            <a:avLst/>
          </a:prstGeom>
          <a:noFill/>
          <a:ln/>
        </p:spPr>
        <p:txBody>
          <a:bodyPr wrap="square" lIns="0" tIns="0" rIns="0" bIns="0" rtlCol="0" anchor="ctr"/>
          <a:lstStyle/>
          <a:p>
            <a:pPr marL="0" indent="0">
              <a:lnSpc>
                <a:spcPct val="140000"/>
              </a:lnSpc>
              <a:buNone/>
            </a:pPr>
            <a:r>
              <a:rPr lang="en-US" sz="1100" dirty="0">
                <a:solidFill>
                  <a:srgbClr val="5A6B7A"/>
                </a:solidFill>
                <a:latin typeface="Open Sans" pitchFamily="34" charset="0"/>
                <a:ea typeface="Open Sans" pitchFamily="34" charset="-122"/>
                <a:cs typeface="Open Sans" pitchFamily="34" charset="-120"/>
              </a:rPr>
              <a:t>Both files live at docs/_branding/. The JSON is the source of truth; the HTML is for your visual review. Keep them in sync.</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1768</Words>
  <Application>Microsoft Office PowerPoint</Application>
  <PresentationFormat>On-screen Show (16:9)</PresentationFormat>
  <Paragraphs>215</Paragraphs>
  <Slides>16</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Consolas</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Claude — Appendix</dc:title>
  <dc:subject>PptxGenJS Presentation</dc:subject>
  <dc:creator>Adam W. Stauffer</dc:creator>
  <cp:lastModifiedBy>Adam Stauffer</cp:lastModifiedBy>
  <cp:revision>2</cp:revision>
  <cp:lastPrinted>2026-04-02T22:40:21Z</cp:lastPrinted>
  <dcterms:created xsi:type="dcterms:W3CDTF">2026-04-01T18:51:51Z</dcterms:created>
  <dcterms:modified xsi:type="dcterms:W3CDTF">2026-04-02T22:40:26Z</dcterms:modified>
</cp:coreProperties>
</file>
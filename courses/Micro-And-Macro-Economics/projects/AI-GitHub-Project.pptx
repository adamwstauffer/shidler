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34" d="100"/>
          <a:sy n="134" d="100"/>
        </p:scale>
        <p:origin x="348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66928"/>
            <a:ext cx="54864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A6F3A"/>
                </a:solidFill>
                <a:latin typeface="Open Sans"/>
              </a:rPr>
              <a:t>BUS 620  ·  SHIDLER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024128"/>
            <a:ext cx="8046720" cy="9144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Open Sans"/>
              </a:rPr>
              <a:t>AI + 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20240"/>
            <a:ext cx="8046720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8A6F3A"/>
                </a:solidFill>
                <a:latin typeface="Open Sans"/>
              </a:rPr>
              <a:t>Three Case Projects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697480"/>
            <a:ext cx="6583680" cy="5486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7C8A8C"/>
                </a:solidFill>
                <a:latin typeface="Open Sans"/>
              </a:rPr>
              <a:t>Competition → market power → where the profits hide. One repo, all term.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3401568"/>
            <a:ext cx="2011680" cy="786384"/>
          </a:xfrm>
          <a:prstGeom prst="rect">
            <a:avLst/>
          </a:prstGeom>
          <a:solidFill>
            <a:srgbClr val="2A33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" y="3520440"/>
            <a:ext cx="17373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CASE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712463"/>
            <a:ext cx="1737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Open Sans"/>
              </a:rPr>
              <a:t>Perfect Competition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34640" y="3401568"/>
            <a:ext cx="2011680" cy="786384"/>
          </a:xfrm>
          <a:prstGeom prst="rect">
            <a:avLst/>
          </a:prstGeom>
          <a:solidFill>
            <a:srgbClr val="2A33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99232" y="3520440"/>
            <a:ext cx="17373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CASE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712463"/>
            <a:ext cx="1737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Open Sans"/>
              </a:rPr>
              <a:t>Imperfect Competition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74920" y="3401568"/>
            <a:ext cx="2011680" cy="786384"/>
          </a:xfrm>
          <a:prstGeom prst="rect">
            <a:avLst/>
          </a:prstGeom>
          <a:solidFill>
            <a:srgbClr val="2A33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39512" y="3520440"/>
            <a:ext cx="173736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CASE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9512" y="3712463"/>
            <a:ext cx="17373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FFFFFF"/>
                </a:solidFill>
                <a:latin typeface="Open Sans"/>
              </a:rPr>
              <a:t>Economic Profit &amp; Rent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17720"/>
            <a:ext cx="7955279" cy="3200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Adam W. Stauffer  ·  Shidler College of Business  ·  University of Hawaiʻi at Mānoa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ORIENTATION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Reading a chapter is not doing economics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You already know how to read an economics chapter. This is about doing something with it that survives contact with a real decision — and leaving evidence you can show someone.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257860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29968"/>
            <a:ext cx="32004" cy="230428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212848"/>
            <a:ext cx="2121408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Economics You Can Defend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578608"/>
            <a:ext cx="2121408" cy="1389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>
                <a:solidFill>
                  <a:srgbClr val="4A6274"/>
                </a:solidFill>
                <a:latin typeface="Open Sans"/>
              </a:rPr>
              <a:t>Every case ends in a number someone could act on, and you have to say why it's right. Check figures are published, so you verify yourself before I 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4023360"/>
            <a:ext cx="2121408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P = MC · MR = MC · economic rent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64408" y="2029968"/>
            <a:ext cx="257860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64408" y="2029968"/>
            <a:ext cx="32004" cy="230428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502152" y="2212848"/>
            <a:ext cx="2121408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AI Fluency That Transfers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2578608"/>
            <a:ext cx="2121408" cy="1389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>
                <a:solidFill>
                  <a:srgbClr val="4A6274"/>
                </a:solidFill>
                <a:latin typeface="Open Sans"/>
              </a:rPr>
              <a:t>You write the specification; AI builds the workbook; you audit what comes back. Specifying precisely and auditing ruthlessly are the two things that stay yours.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4023360"/>
            <a:ext cx="2121408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spec → build → audit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25896" y="2029968"/>
            <a:ext cx="2578608" cy="230428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025896" y="2029968"/>
            <a:ext cx="32004" cy="230428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263640" y="2212848"/>
            <a:ext cx="2121408" cy="384721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dirty="0">
                <a:solidFill>
                  <a:srgbClr val="1C2733"/>
                </a:solidFill>
                <a:latin typeface="Open Sans"/>
              </a:rPr>
              <a:t>A Portfolio That Outlives </a:t>
            </a:r>
            <a:r>
              <a:rPr lang="en-US" sz="1250" b="1" dirty="0">
                <a:solidFill>
                  <a:srgbClr val="1C2733"/>
                </a:solidFill>
                <a:latin typeface="Open Sans"/>
              </a:rPr>
              <a:t>This Course</a:t>
            </a:r>
            <a:endParaRPr sz="1250" b="1" dirty="0">
              <a:solidFill>
                <a:srgbClr val="1E2530"/>
              </a:solidFill>
              <a:latin typeface="Open San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63640" y="2578608"/>
            <a:ext cx="2121408" cy="138988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80" b="0">
                <a:solidFill>
                  <a:srgbClr val="4A6274"/>
                </a:solidFill>
                <a:latin typeface="Open Sans"/>
              </a:rPr>
              <a:t>One public repository, organized by capability rather than by course. It keeps accumulating after this class ends — and it has a URL you can send.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023360"/>
            <a:ext cx="2121408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github.com/your-name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498848"/>
            <a:ext cx="813816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>
                <a:solidFill>
                  <a:srgbClr val="1C2733"/>
                </a:solidFill>
                <a:latin typeface="Georgia"/>
              </a:rPr>
              <a:t>“Incomplete understanding is normal. Playing with the tools is more than half the battle.”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THE 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Three Cases, One Argument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Each case is a two-week Excel and AI engagement. Together they trace what happens to profit as market power appears — and then where that profit actually ends up.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257860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29968"/>
            <a:ext cx="2578608" cy="50292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" y="2212848"/>
            <a:ext cx="210312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A6F3A"/>
                </a:solidFill>
                <a:latin typeface="Open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487168"/>
            <a:ext cx="2103120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C2733"/>
                </a:solidFill>
                <a:latin typeface="Open Sans"/>
              </a:rPr>
              <a:t>Perfect Competition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" y="290779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B5E40"/>
                </a:solidFill>
                <a:latin typeface="Open Sans"/>
              </a:rPr>
              <a:t>Decision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" y="3163824"/>
            <a:ext cx="210312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A 1.5-acre market garden picks its crop mix. Prices are given; marginal cost rises. Find P = MC, then let Solver pick the mix.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" y="4133087"/>
            <a:ext cx="21031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capabilities/marginal-analysis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64408" y="2029968"/>
            <a:ext cx="257860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264408" y="2029968"/>
            <a:ext cx="2578608" cy="50292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02152" y="2212848"/>
            <a:ext cx="210312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A6F3A"/>
                </a:solidFill>
                <a:latin typeface="Open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2487168"/>
            <a:ext cx="2103120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C2733"/>
                </a:solidFill>
                <a:latin typeface="Open Sans"/>
              </a:rPr>
              <a:t>Imperfect Competition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02152" y="290779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B5E40"/>
                </a:solidFill>
                <a:latin typeface="Open Sans"/>
              </a:rPr>
              <a:t>Pricing Power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2152" y="3163824"/>
            <a:ext cx="210312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One seed company, two market structures. Same crop, same fixed costs — and an ~83× difference in profit. MR = MC, and the welfare loss.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2152" y="4133087"/>
            <a:ext cx="21031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capabilities/pricing-power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25896" y="2029968"/>
            <a:ext cx="2578608" cy="23957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25896" y="2029968"/>
            <a:ext cx="2578608" cy="50292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63640" y="2212848"/>
            <a:ext cx="210312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8A6F3A"/>
                </a:solidFill>
                <a:latin typeface="Open Sans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487168"/>
            <a:ext cx="2103120" cy="40233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C2733"/>
                </a:solidFill>
                <a:latin typeface="Open Sans"/>
              </a:rPr>
              <a:t>Economic Profit &amp; Rent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90779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1B5E40"/>
                </a:solidFill>
                <a:latin typeface="Open Sans"/>
              </a:rPr>
              <a:t>Earnings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3163824"/>
            <a:ext cx="2103120" cy="100584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Four drivers, one question: who is actually making money? Accounting profit says yes; opportunity cost says no. The rent hides in the medallion.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133087"/>
            <a:ext cx="2103120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capabilities/economic-profit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THE LOOP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How Every Case Runs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The same three stages every time. Case 1 adds Stage 0 once, to stand up the repository you will use for the rest of the term.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1883664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84831"/>
            <a:ext cx="1883664" cy="45720"/>
          </a:xfrm>
          <a:prstGeom prst="rect">
            <a:avLst/>
          </a:prstGeom>
          <a:solidFill>
            <a:srgbClr val="7C8A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2249424"/>
            <a:ext cx="1554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C8A8C"/>
                </a:solidFill>
                <a:latin typeface="Open Sans"/>
              </a:rPr>
              <a:t>STAGE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46888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733"/>
                </a:solidFill>
                <a:latin typeface="Open Sans"/>
              </a:rPr>
              <a:t>Repo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816352"/>
            <a:ext cx="1517904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Stand up your public portfolio repository. Case 1 only — it is the container for everything after.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3913632"/>
            <a:ext cx="1517904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2971800"/>
            <a:ext cx="2011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9463" y="2084831"/>
            <a:ext cx="1883664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569463" y="2084831"/>
            <a:ext cx="1883664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770632" y="2249424"/>
            <a:ext cx="1554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STAGE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246888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733"/>
                </a:solidFill>
                <a:latin typeface="Open Sans"/>
              </a:rPr>
              <a:t>Brief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2816352"/>
            <a:ext cx="1517904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Frame the engagement. What decision is on the table, what data settles it, what model gets you there.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0632" y="3913632"/>
            <a:ext cx="1517904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docs/briefs/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7" y="2971800"/>
            <a:ext cx="2011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6007" y="2084831"/>
            <a:ext cx="1883664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636007" y="2084831"/>
            <a:ext cx="1883664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37175" y="2249424"/>
            <a:ext cx="1554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STAGE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37175" y="246888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733"/>
                </a:solidFill>
                <a:latin typeface="Open Sans"/>
              </a:rP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7175" y="2816352"/>
            <a:ext cx="1517904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Write the spec first. An AI builds the workbook from it. Then you audit every formula it produced.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37175" y="3913632"/>
            <a:ext cx="1517904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capabilities/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19671" y="2971800"/>
            <a:ext cx="201168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02551" y="2084831"/>
            <a:ext cx="1883664" cy="2139696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702551" y="2084831"/>
            <a:ext cx="1883664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903719" y="2249424"/>
            <a:ext cx="155448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STAGE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19" y="2468880"/>
            <a:ext cx="155448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1C2733"/>
                </a:solidFill>
                <a:latin typeface="Open Sans"/>
              </a:rPr>
              <a:t>Report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19" y="2816352"/>
            <a:ext cx="1517904" cy="10972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Analysis, figures, a decision memo, and your prompt log. Say what you'd do and what would change your mind.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19" y="3913632"/>
            <a:ext cx="1517904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Consolas"/>
              </a:rPr>
              <a:t>analysis/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407408"/>
            <a:ext cx="81381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1C2733"/>
                </a:solidFill>
                <a:latin typeface="Open Sans"/>
              </a:rPr>
              <a:t>There is no student template. Your specification is the template.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YOUR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Organised by capability, not by course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Organized by capability and engagement — not by course. Someone landing on it should see what you can do, not which classes you took.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3977639" cy="2395728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176272"/>
            <a:ext cx="3575303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CANONICAL SKELETON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50592"/>
            <a:ext cx="3575303" cy="19385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E6F2EF"/>
                </a:solidFill>
                <a:latin typeface="Consolas"/>
              </a:rPr>
              <a:t>your-name/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README.md        ← bio; seen first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RESUME.md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prompt-log.md    ← every AI prompt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capabilities/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│   └── marginal-analysis/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│       ├── spec.md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│       └── model.xlsx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├── analysis/figures/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└── docs/briefs/  docs/decisions/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29968"/>
            <a:ext cx="3886200" cy="9875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754880" y="2029968"/>
            <a:ext cx="32004" cy="987552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992624" y="2212848"/>
            <a:ext cx="34290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Why not folders named BUS 620?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92624" y="2578608"/>
            <a:ext cx="342900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4A6274"/>
                </a:solidFill>
                <a:latin typeface="Open Sans"/>
              </a:rPr>
              <a:t>A hiring manager does not care which course you took. Capability folders keep their meaning after you graduate.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3127248"/>
            <a:ext cx="38862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754880" y="3127248"/>
            <a:ext cx="32004" cy="1280160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992624" y="3310128"/>
            <a:ext cx="342900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Public, and that is the 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92624" y="3675887"/>
            <a:ext cx="3429000" cy="365759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50" b="0">
                <a:solidFill>
                  <a:srgbClr val="4A6274"/>
                </a:solidFill>
                <a:latin typeface="Open Sans"/>
              </a:rPr>
              <a:t>A portfolio artifact, not a submission box. Add adamwstauffer as a collaborator so I can review your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92624" y="4096512"/>
            <a:ext cx="3429000" cy="23774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5E40"/>
                </a:solidFill>
                <a:latin typeface="Open Sans"/>
              </a:rPr>
              <a:t>Stage 0 checklist item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Full standard: /portfolio-repo.html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CHOOSING YOUR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Three Ways to Use GitHub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Same repository, three front doors. You are not required to use the command line in this course — but you should know what it is, because it is the one professionals reach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578608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578608" cy="45720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5E40"/>
                </a:solidFill>
                <a:latin typeface="Open Sans"/>
              </a:rPr>
              <a:t>BROWSER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68880"/>
            <a:ext cx="213969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C2733"/>
                </a:solidFill>
                <a:latin typeface="Open Sans"/>
              </a:rPr>
              <a:t>github.com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852928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Nothing to install. Edit a file, write a commit message, save. Works from any machine, including a lab computer or a phone.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931920"/>
            <a:ext cx="2139696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1">
                <a:solidFill>
                  <a:srgbClr val="1B5E40"/>
                </a:solidFill>
                <a:latin typeface="Open Sans"/>
              </a:rPr>
              <a:t>Best for: quick edits, reading, review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21991" y="2231136"/>
            <a:ext cx="731520" cy="219456"/>
          </a:xfrm>
          <a:prstGeom prst="rect">
            <a:avLst/>
          </a:prstGeom>
          <a:solidFill>
            <a:srgbClr val="F0EEE9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221991" y="2274112"/>
            <a:ext cx="7315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1C2733"/>
                </a:solidFill>
                <a:latin typeface="Open Sans"/>
              </a:rPr>
              <a:t>Easiest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2103120"/>
            <a:ext cx="2578608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64408" y="2103120"/>
            <a:ext cx="2578608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83864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DESKTOP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2468880"/>
            <a:ext cx="213969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C2733"/>
                </a:solidFill>
                <a:latin typeface="Open Sans"/>
              </a:rPr>
              <a:t>GitHub Desktop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83864" y="2852928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A free app that shows changed files and a Commit button. Drag an .xlsx in, see it appear, commit it. This is the course default.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83864" y="3931920"/>
            <a:ext cx="2139696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1">
                <a:solidFill>
                  <a:srgbClr val="8A6F3A"/>
                </a:solidFill>
                <a:latin typeface="Open Sans"/>
              </a:rPr>
              <a:t>Best for: everything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2231136"/>
            <a:ext cx="731520" cy="219456"/>
          </a:xfrm>
          <a:prstGeom prst="rect">
            <a:avLst/>
          </a:prstGeom>
          <a:solidFill>
            <a:srgbClr val="F0EEE9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983480" y="2274112"/>
            <a:ext cx="7315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1C2733"/>
                </a:solidFill>
                <a:latin typeface="Open Sans"/>
              </a:rPr>
              <a:t>Default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25896" y="2103120"/>
            <a:ext cx="2578608" cy="226771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25896" y="2103120"/>
            <a:ext cx="2578608" cy="45720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45352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COMMAND 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45352" y="2468880"/>
            <a:ext cx="2139696" cy="29260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>
                <a:solidFill>
                  <a:srgbClr val="1C2733"/>
                </a:solidFill>
                <a:latin typeface="Open Sans"/>
              </a:rPr>
              <a:t>git / Claude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5352" y="2852928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Typed commands in a terminal. Steeper, faster, scriptable — and the only one an AI agent can drive on your behalf.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3931920"/>
            <a:ext cx="2139696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60" b="1">
                <a:solidFill>
                  <a:srgbClr val="1C2733"/>
                </a:solidFill>
                <a:latin typeface="Open Sans"/>
              </a:rPr>
              <a:t>Best for: speed, automation, agents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44967" y="2231136"/>
            <a:ext cx="731520" cy="219456"/>
          </a:xfrm>
          <a:prstGeom prst="rect">
            <a:avLst/>
          </a:prstGeom>
          <a:solidFill>
            <a:srgbClr val="F0EEE9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44967" y="2274112"/>
            <a:ext cx="731520" cy="164592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700" b="1">
                <a:solidFill>
                  <a:srgbClr val="1C2733"/>
                </a:solidFill>
                <a:latin typeface="Open Sans"/>
              </a:rPr>
              <a:t>Advanced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Pick one and stick with it for a whole case before switching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OPTION 1 · EASIEST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GitHub in the Browser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Everything happens on github.com. No install, no setup — you are committing within a minute of making an account.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074920" cy="2395728"/>
          </a:xfrm>
          <a:prstGeom prst="rect">
            <a:avLst/>
          </a:prstGeom>
          <a:solidFill>
            <a:srgbClr val="EFEEEA"/>
          </a:solidFill>
          <a:ln w="12700">
            <a:solidFill>
              <a:srgbClr val="7C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074920" cy="237744"/>
          </a:xfrm>
          <a:prstGeom prst="rect">
            <a:avLst/>
          </a:prstGeom>
          <a:solidFill>
            <a:srgbClr val="DEDCD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2082088"/>
            <a:ext cx="96012" cy="96012"/>
          </a:xfrm>
          <a:prstGeom prst="ellipse">
            <a:avLst/>
          </a:prstGeom>
          <a:solidFill>
            <a:srgbClr val="E07A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6948" y="2082088"/>
            <a:ext cx="96012" cy="96012"/>
          </a:xfrm>
          <a:prstGeom prst="ellipse">
            <a:avLst/>
          </a:prstGeom>
          <a:solidFill>
            <a:srgbClr val="E3C1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" y="2082088"/>
            <a:ext cx="96012" cy="96012"/>
          </a:xfrm>
          <a:prstGeom prst="ellipse">
            <a:avLst/>
          </a:prstGeom>
          <a:solidFill>
            <a:srgbClr val="8FB58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052828"/>
            <a:ext cx="44348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github.com — edit file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53512"/>
            <a:ext cx="5074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C8A8C"/>
                </a:solidFill>
                <a:latin typeface="Open Sans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27832"/>
            <a:ext cx="507492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7C8A8C"/>
                </a:solidFill>
                <a:latin typeface="Open Sans"/>
              </a:rPr>
              <a:t>Repo → file → pencil icon → edit → Commit changes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011680"/>
            <a:ext cx="28346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2011680"/>
            <a:ext cx="32004" cy="1207008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44183" y="2194560"/>
            <a:ext cx="23774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Use it when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3" y="2560320"/>
            <a:ext cx="237744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Fixing a typo, writing a short memo, or reviewing what changed. Also the fallback on a machine that is not yours.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3346704"/>
            <a:ext cx="28346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3346704"/>
            <a:ext cx="32004" cy="1207008"/>
          </a:xfrm>
          <a:prstGeom prst="rect">
            <a:avLst/>
          </a:prstGeom>
          <a:solidFill>
            <a:srgbClr val="7C8A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44183" y="3529584"/>
            <a:ext cx="23774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It falls down when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3" y="3895344"/>
            <a:ext cx="237744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You need to upload a workbook you just rebuilt, or move several files at once.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OPTION 2 · THE COURSE DEFAULT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GitHub Desktop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A free app. Your repository is a normal folder on your computer; the app watches it and shows you what changed.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5074920" cy="2395728"/>
          </a:xfrm>
          <a:prstGeom prst="rect">
            <a:avLst/>
          </a:prstGeom>
          <a:solidFill>
            <a:srgbClr val="EFEEEA"/>
          </a:solidFill>
          <a:ln w="12700">
            <a:solidFill>
              <a:srgbClr val="7C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074920" cy="237744"/>
          </a:xfrm>
          <a:prstGeom prst="rect">
            <a:avLst/>
          </a:prstGeom>
          <a:solidFill>
            <a:srgbClr val="DEDCD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94360" y="2082088"/>
            <a:ext cx="96012" cy="96012"/>
          </a:xfrm>
          <a:prstGeom prst="ellipse">
            <a:avLst/>
          </a:prstGeom>
          <a:solidFill>
            <a:srgbClr val="E07A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26948" y="2082088"/>
            <a:ext cx="96012" cy="96012"/>
          </a:xfrm>
          <a:prstGeom prst="ellipse">
            <a:avLst/>
          </a:prstGeom>
          <a:solidFill>
            <a:srgbClr val="E3C1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" y="2082088"/>
            <a:ext cx="96012" cy="96012"/>
          </a:xfrm>
          <a:prstGeom prst="ellipse">
            <a:avLst/>
          </a:prstGeom>
          <a:solidFill>
            <a:srgbClr val="8FB58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5840" y="2052828"/>
            <a:ext cx="443484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GitHub Desktop — Changes 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53512"/>
            <a:ext cx="507492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C8A8C"/>
                </a:solidFill>
                <a:latin typeface="Open Sans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27832"/>
            <a:ext cx="507492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7C8A8C"/>
                </a:solidFill>
                <a:latin typeface="Open Sans"/>
              </a:rPr>
              <a:t>Changed files on the left · diff on the right · Commit at the bottom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011680"/>
            <a:ext cx="28346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806440" y="2011680"/>
            <a:ext cx="32004" cy="120700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44183" y="2194560"/>
            <a:ext cx="23774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The whole loop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44183" y="2560320"/>
            <a:ext cx="237744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Save in Excel as usual. Switch to Desktop. Type what you changed. Commit, then Push.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06440" y="3346704"/>
            <a:ext cx="2834640" cy="12070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806440" y="3346704"/>
            <a:ext cx="32004" cy="1207008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44183" y="3529584"/>
            <a:ext cx="2377440" cy="3657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>
                <a:solidFill>
                  <a:srgbClr val="1C2733"/>
                </a:solidFill>
                <a:latin typeface="Open Sans"/>
              </a:rPr>
              <a:t>Why we default here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44183" y="3895344"/>
            <a:ext cx="2377440" cy="49377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Workbooks are the main deliverable, and dragging a rebuilt .xlsx into a watched folder beats a browser upload.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Install: desktop.github.com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OPTION 3 · MOST POWERFUL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The Command 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Not required in this course. Worth twenty minutes anyway — it is what the tooling underneath Desktop is actually doing, and it is how AI agents work on a repo.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11680"/>
            <a:ext cx="4160520" cy="2121408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4088" y="2157984"/>
            <a:ext cx="3758183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32304"/>
            <a:ext cx="3758183" cy="1664207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0">
                <a:solidFill>
                  <a:srgbClr val="E6F2EF"/>
                </a:solidFill>
                <a:latin typeface="Consolas"/>
              </a:rPr>
              <a:t>$ git add analysis/figures/mc-curve.png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$ git commit -m "Add marginal cost chart"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$ git push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endParaRPr sz="900" b="0">
              <a:solidFill>
                <a:srgbClr val="E8E6E1"/>
              </a:solidFill>
              <a:latin typeface="Consolas"/>
            </a:endParaRP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$ claude                      # Claude Code</a:t>
            </a:r>
          </a:p>
          <a:p>
            <a:pPr algn="l">
              <a:lnSpc>
                <a:spcPct val="128000"/>
              </a:lnSpc>
              <a:spcBef>
                <a:spcPts val="200"/>
              </a:spcBef>
            </a:pPr>
            <a:r>
              <a:rPr sz="900" b="0">
                <a:solidFill>
                  <a:srgbClr val="E6F2EF"/>
                </a:solidFill>
                <a:latin typeface="Consolas"/>
              </a:rPr>
              <a:t>&gt; read my spec and audit model.xlsx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92040" y="2011680"/>
            <a:ext cx="3749039" cy="2121408"/>
          </a:xfrm>
          <a:prstGeom prst="rect">
            <a:avLst/>
          </a:prstGeom>
          <a:solidFill>
            <a:srgbClr val="EFEEEA"/>
          </a:solidFill>
          <a:ln w="12700">
            <a:solidFill>
              <a:srgbClr val="7C8A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892040" y="2011680"/>
            <a:ext cx="3749039" cy="237744"/>
          </a:xfrm>
          <a:prstGeom prst="rect">
            <a:avLst/>
          </a:prstGeom>
          <a:solidFill>
            <a:srgbClr val="DEDCD6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983479" y="2082088"/>
            <a:ext cx="96012" cy="96012"/>
          </a:xfrm>
          <a:prstGeom prst="ellipse">
            <a:avLst/>
          </a:prstGeom>
          <a:solidFill>
            <a:srgbClr val="E07A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116067" y="2082088"/>
            <a:ext cx="96012" cy="96012"/>
          </a:xfrm>
          <a:prstGeom prst="ellipse">
            <a:avLst/>
          </a:prstGeom>
          <a:solidFill>
            <a:srgbClr val="E3C16E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248655" y="2082088"/>
            <a:ext cx="96012" cy="96012"/>
          </a:xfrm>
          <a:prstGeom prst="ellipse">
            <a:avLst/>
          </a:prstGeom>
          <a:solidFill>
            <a:srgbClr val="8FB58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94959" y="2052828"/>
            <a:ext cx="3108959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Claude Code in a terminal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816352"/>
            <a:ext cx="3749039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7C8A8C"/>
                </a:solidFill>
                <a:latin typeface="Open Sans"/>
              </a:rPr>
              <a:t>[ screenshot 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92040" y="3090672"/>
            <a:ext cx="3749039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850" b="0">
                <a:solidFill>
                  <a:srgbClr val="7C8A8C"/>
                </a:solidFill>
                <a:latin typeface="Open Sans"/>
              </a:rPr>
              <a:t>An agent that can read and edit files in your repo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24528"/>
            <a:ext cx="8138160" cy="512064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" y="4343400"/>
            <a:ext cx="7680960" cy="31089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Open Sans"/>
              </a:rPr>
              <a:t>Desktop just presses these three buttons for you — but only the command line can be driven by an AI agent.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DECISION 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Which One Should You Use?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A rough rule: browser for words, Desktop for files, command line when you want an AI to do the 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29968"/>
            <a:ext cx="8138160" cy="310896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103120"/>
            <a:ext cx="48463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2103120"/>
            <a:ext cx="274320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REACH FOR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40864"/>
            <a:ext cx="8138160" cy="36576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13232" y="244144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Fixing a typo in your 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4144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5E40"/>
                </a:solidFill>
                <a:latin typeface="Open Sans"/>
              </a:rPr>
              <a:t>Browser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06624"/>
            <a:ext cx="8138160" cy="36576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280720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Committing a rebuilt model.xlsx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80720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6F3A"/>
                </a:solidFill>
                <a:latin typeface="Open Sans"/>
              </a:rPr>
              <a:t>Desktop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72384"/>
            <a:ext cx="8138160" cy="36576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232" y="317296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Uploading a folder of figures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317296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6F3A"/>
                </a:solidFill>
                <a:latin typeface="Open Sans"/>
              </a:rPr>
              <a:t>Desktop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438144"/>
            <a:ext cx="8138160" cy="36576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2" y="353872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Writing your Stage 1 brief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53872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B5E40"/>
                </a:solidFill>
                <a:latin typeface="Open Sans"/>
              </a:rPr>
              <a:t>Browser or your editor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803904"/>
            <a:ext cx="8138160" cy="365760"/>
          </a:xfrm>
          <a:prstGeom prst="rect">
            <a:avLst/>
          </a:prstGeom>
          <a:solidFill>
            <a:srgbClr val="FFFFFF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" y="390448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Having AI audit your workbook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90448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1C2733"/>
                </a:solidFill>
                <a:latin typeface="Open Sans"/>
              </a:rPr>
              <a:t>Command 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169664"/>
            <a:ext cx="8138160" cy="36576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13232" y="4270248"/>
            <a:ext cx="49377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1C2733"/>
                </a:solidFill>
                <a:latin typeface="Open Sans"/>
              </a:rPr>
              <a:t>You have no idea and want one answer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27024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6F3A"/>
                </a:solidFill>
                <a:latin typeface="Open Sans"/>
              </a:rPr>
              <a:t>GitHub Desktop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You can switch later — nothing you commit is locked to a tool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WORKING WITH CLAUDE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AI: Web, Desktop, or CLI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A paid Claude plan is preferred for this course — the case builds assume sustained access, and free tiers throttle exactly when you are mid-build.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257860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578608" cy="45720"/>
          </a:xfrm>
          <a:prstGeom prst="rect">
            <a:avLst/>
          </a:prstGeom>
          <a:solidFill>
            <a:srgbClr val="1B5E40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B5E40"/>
                </a:solidFill>
                <a:latin typeface="Open Sans"/>
              </a:rPr>
              <a:t>WEB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68880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claude.ai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834640"/>
            <a:ext cx="2139696" cy="9601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Paste your spec, get a workbook plan or a draft back. Nothing installed. You copy results into your own files.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877056"/>
            <a:ext cx="2139696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1B5E40"/>
                </a:solidFill>
                <a:latin typeface="Open Sans"/>
              </a:rPr>
              <a:t>Fine for briefs and drafting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2103120"/>
            <a:ext cx="257860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4408" y="2103120"/>
            <a:ext cx="2578608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3864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DESKTOP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468880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Claude Desktop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834640"/>
            <a:ext cx="2139696" cy="9601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Same conversation, plus it can work with files on your machine. The middle ground most students land 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83864" y="3877056"/>
            <a:ext cx="2139696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8A6F3A"/>
                </a:solidFill>
                <a:latin typeface="Open Sans"/>
              </a:rPr>
              <a:t>Good for building a workbook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5896" y="2103120"/>
            <a:ext cx="2578608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2103120"/>
            <a:ext cx="2578608" cy="45720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2267712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1C2733"/>
                </a:solidFill>
                <a:latin typeface="Open Sans"/>
              </a:rPr>
              <a:t>CLI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468880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Claude Code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834640"/>
            <a:ext cx="2139696" cy="9601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19" b="0">
                <a:solidFill>
                  <a:srgbClr val="4A6274"/>
                </a:solidFill>
                <a:latin typeface="Open Sans"/>
              </a:rPr>
              <a:t>Runs in a terminal inside your repo. Reads your spec, edits files, commits. Closest to how this is done professionally.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5352" y="3877056"/>
            <a:ext cx="2139696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60" b="1">
                <a:solidFill>
                  <a:srgbClr val="1C2733"/>
                </a:solidFill>
                <a:latin typeface="Open Sans"/>
              </a:rPr>
              <a:t>Best for audit + repo 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4352544"/>
            <a:ext cx="8138160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Drop a screenshot of each in here for the live walk-through.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Whatever you use, log it in prompt-log.md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You Specify. AI Builds. You Audit.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This is the whole pedagogical bet. Anyone can ask a chatbot for a spreadsheet. The two skills that matter are on either end of that.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084831"/>
            <a:ext cx="2578608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2084831"/>
            <a:ext cx="2578608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2249424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50592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Write the spec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816352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Inputs, named ranges, every formula, and the checks that prove it works. Precise enough that someone who never saw your case could build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9815" y="2907792"/>
            <a:ext cx="164592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64408" y="2084831"/>
            <a:ext cx="2578608" cy="1938528"/>
          </a:xfrm>
          <a:prstGeom prst="rect">
            <a:avLst/>
          </a:prstGeom>
          <a:solidFill>
            <a:srgbClr val="F0F2F5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64408" y="2084831"/>
            <a:ext cx="2578608" cy="45720"/>
          </a:xfrm>
          <a:prstGeom prst="rect">
            <a:avLst/>
          </a:prstGeom>
          <a:solidFill>
            <a:srgbClr val="7C8A8C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83864" y="2249424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7C8A8C"/>
                </a:solidFill>
                <a:latin typeface="Open Sans"/>
              </a:rPr>
              <a:t>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3864" y="2450592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Build the workbook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816352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Hand the spec over. If the spec was vague, you find out now — the build comes back wrong in a way you can point 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61304" y="2907792"/>
            <a:ext cx="164592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8A6F3A"/>
                </a:solidFill>
                <a:latin typeface="Open Sans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25896" y="2084831"/>
            <a:ext cx="2578608" cy="1938528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025896" y="2084831"/>
            <a:ext cx="2578608" cy="45720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45352" y="2249424"/>
            <a:ext cx="21031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45352" y="2450592"/>
            <a:ext cx="2139696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1C2733"/>
                </a:solidFill>
                <a:latin typeface="Open Sans"/>
              </a:rPr>
              <a:t>Audit the result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2816352"/>
            <a:ext cx="2139696" cy="105156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930" b="0">
                <a:solidFill>
                  <a:srgbClr val="4A6274"/>
                </a:solidFill>
                <a:latin typeface="Open Sans"/>
              </a:rPr>
              <a:t>Check every formula against your spec. Find what it got wrong. Write down what you found and fixed.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169663"/>
            <a:ext cx="8138160" cy="566928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297680"/>
            <a:ext cx="7680960" cy="329184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Open Sans"/>
              </a:rPr>
              <a:t>A pasted number where a formula belongs is not acceptable — and it is checked mechanically.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7C8A8C"/>
                </a:solidFill>
                <a:latin typeface="Open Sans"/>
              </a:rPr>
              <a:t>BUS 620 · AI + GitHub Project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2F5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813816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1">
                <a:solidFill>
                  <a:srgbClr val="8A6F3A"/>
                </a:solidFill>
                <a:latin typeface="Open Sans"/>
              </a:rPr>
              <a:t>LOGISTICS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12064"/>
            <a:ext cx="8138160" cy="56692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C2733"/>
                </a:solidFill>
                <a:latin typeface="Open Sans"/>
              </a:rPr>
              <a:t>The detail lives on the site, not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658368" cy="41148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298448"/>
            <a:ext cx="813816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4A6274"/>
                </a:solidFill>
                <a:latin typeface="Open Sans"/>
              </a:rPr>
              <a:t>The site carries the detail: every stage brief, the check figures, the templates. These slides are the orientation.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628900" y="2048256"/>
            <a:ext cx="3886200" cy="2359152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57500" y="2231136"/>
            <a:ext cx="34747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>
                <a:solidFill>
                  <a:srgbClr val="8A6F3A"/>
                </a:solidFill>
                <a:latin typeface="Open Sans"/>
              </a:rPr>
              <a:t>ON THE SITE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57500" y="2523744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Course hub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7500" y="2688336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/micro-and-macro-economics.html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57500" y="2889503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Case 1 · Perfect Competition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57500" y="3054096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/case-perfect-competition.html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57500" y="3255263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Case 2 · Imperfect Competition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57500" y="3419856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/case-imperfect-competition.html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57500" y="3621024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Case 3 · Economic Profit &amp; Rent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57500" y="3785615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/case-economic-profit.html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57500" y="3986783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>
                <a:solidFill>
                  <a:srgbClr val="1C2733"/>
                </a:solidFill>
                <a:latin typeface="Open Sans"/>
              </a:rPr>
              <a:t>Portfolio repo standard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57500" y="4151375"/>
            <a:ext cx="3474720" cy="1828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>
                <a:solidFill>
                  <a:srgbClr val="1B5E40"/>
                </a:solidFill>
                <a:latin typeface="Consolas"/>
              </a:rPr>
              <a:t>/portfolio-repo.html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69080" y="4736592"/>
            <a:ext cx="4572000" cy="2286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800" b="0">
                <a:solidFill>
                  <a:srgbClr val="7C8A8C"/>
                </a:solidFill>
                <a:latin typeface="Open Sans"/>
              </a:rPr>
              <a:t>adamwstauffer.github.io/ai-lms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733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7955279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>
                <a:solidFill>
                  <a:srgbClr val="8A6F3A"/>
                </a:solidFill>
                <a:latin typeface="Open Sans"/>
              </a:rPr>
              <a:t>BEFORE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41248"/>
            <a:ext cx="7955279" cy="64008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Open Sans"/>
              </a:rPr>
              <a:t>A Two-Hour Head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6949440" cy="45720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7C8A8C"/>
                </a:solidFill>
                <a:latin typeface="Open Sans"/>
              </a:rPr>
              <a:t>Entirely optional. Do it and Stage 0 becomes a twenty-minute task instead of an evening.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212848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281428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5" y="2226564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Create a GitHub account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2240279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Any email works. GitHub Education benefits are optional and never graded.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2697480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2766060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5" y="2711196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Install GitHub Desktop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24912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desktop.github.com. No command line needed.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3182112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250692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5" y="3195828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Make a test repo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209544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Commit a README.md. Break it. It does not matter.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3666744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3735324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0459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Run the loop once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3694176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Edit → commit → push → see the change on github.com.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4151376"/>
            <a:ext cx="310896" cy="310896"/>
          </a:xfrm>
          <a:prstGeom prst="rect">
            <a:avLst/>
          </a:prstGeom>
          <a:solidFill>
            <a:srgbClr val="8A6F3A"/>
          </a:solidFill>
          <a:ln>
            <a:solid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219956"/>
            <a:ext cx="310896" cy="201168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1C2733"/>
                </a:solidFill>
                <a:latin typeface="Open San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5" y="4165091"/>
            <a:ext cx="274320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Set up Claude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178808"/>
            <a:ext cx="4846320" cy="219456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>
                <a:solidFill>
                  <a:srgbClr val="7C8A8C"/>
                </a:solidFill>
                <a:latin typeface="Open Sans"/>
              </a:rPr>
              <a:t>A paid plan is preferred; free tiers throttle mid-build.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681728"/>
            <a:ext cx="7955279" cy="274320"/>
          </a:xfrm>
          <a:prstGeom prst="rect">
            <a:avLst/>
          </a:prstGeom>
          <a:noFill/>
          <a:ln>
            <a:solidFill/>
          </a:ln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8A6F3A"/>
                </a:solidFill>
                <a:latin typeface="Open Sans"/>
              </a:rPr>
              <a:t>Nothing here is required. Bring what breaks to the first class.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1991</Words>
  <Application>Microsoft Office PowerPoint</Application>
  <PresentationFormat>On-screen Show (16:9)</PresentationFormat>
  <Paragraphs>262</Paragraphs>
  <Slides>14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Adam Stauffer</cp:lastModifiedBy>
  <cp:revision>2</cp:revision>
  <dcterms:created xsi:type="dcterms:W3CDTF">2013-01-27T09:14:16Z</dcterms:created>
  <dcterms:modified xsi:type="dcterms:W3CDTF">2026-08-11T19:45:54Z</dcterms:modified>
  <cp:category/>
</cp:coreProperties>
</file>
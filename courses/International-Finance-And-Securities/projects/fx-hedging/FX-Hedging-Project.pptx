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4" r:id="rId35"/>
    <p:sldId id="259" r:id="rId5"/>
    <p:sldId id="260" r:id="rId6"/>
    <p:sldId id="261" r:id="rId7"/>
    <p:sldId id="285" r:id="rId36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266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E253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B8975C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47472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530"/>
                </a:solidFill>
              </a:rPr>
              <a:t>FIN-321 · SHIDLER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-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FX Hedging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8A9B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Project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A"/>
                </a:solidFill>
              </a:rPr>
              <a:t>A six-stage journey from business problem to executive recommendation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</a:rPr>
              <a:t>Adam W. Stauffer  ·  Shidler College of Business  ·  University of Hawaiʻi at Mānoa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1188720" cy="749808"/>
          </a:xfrm>
          <a:prstGeom prst="roundRect">
            <a:avLst>
              <a:gd name="adj" fmla="val 14634"/>
            </a:avLst>
          </a:prstGeom>
          <a:solidFill>
            <a:srgbClr val="5A6B7A">
              <a:alpha val="75000"/>
            </a:srgbClr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84248" y="3474720"/>
            <a:ext cx="1188720" cy="749808"/>
          </a:xfrm>
          <a:prstGeom prst="roundRect">
            <a:avLst>
              <a:gd name="adj" fmla="val 14634"/>
            </a:avLst>
          </a:prstGeom>
          <a:solidFill>
            <a:srgbClr val="B8975C">
              <a:alpha val="75000"/>
            </a:srgbClr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84248" y="347472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74136" y="3474720"/>
            <a:ext cx="1188720" cy="749808"/>
          </a:xfrm>
          <a:prstGeom prst="roundRect">
            <a:avLst>
              <a:gd name="adj" fmla="val 14634"/>
            </a:avLst>
          </a:prstGeom>
          <a:solidFill>
            <a:srgbClr val="6B8FA3">
              <a:alpha val="75000"/>
            </a:srgbClr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74136" y="347472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64024" y="3474720"/>
            <a:ext cx="1188720" cy="749808"/>
          </a:xfrm>
          <a:prstGeom prst="roundRect">
            <a:avLst>
              <a:gd name="adj" fmla="val 14634"/>
            </a:avLst>
          </a:prstGeom>
          <a:solidFill>
            <a:srgbClr val="B8975C">
              <a:alpha val="75000"/>
            </a:srgbClr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64024" y="347472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Build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3912" y="3474720"/>
            <a:ext cx="1188720" cy="749808"/>
          </a:xfrm>
          <a:prstGeom prst="roundRect">
            <a:avLst>
              <a:gd name="adj" fmla="val 14634"/>
            </a:avLst>
          </a:prstGeom>
          <a:solidFill>
            <a:srgbClr val="5A6B7A">
              <a:alpha val="75000"/>
            </a:srgbClr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53912" y="347472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43800" y="3474720"/>
            <a:ext cx="1188720" cy="749808"/>
          </a:xfrm>
          <a:prstGeom prst="roundRect">
            <a:avLst>
              <a:gd name="adj" fmla="val 14634"/>
            </a:avLst>
          </a:prstGeom>
          <a:solidFill>
            <a:srgbClr val="B8975C">
              <a:alpha val="75000"/>
            </a:srgbClr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43800" y="3474720"/>
            <a:ext cx="1188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 Matters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6454F"/>
                </a:solidFill>
              </a:rPr>
              <a:t>FX risk is real. Multinational firms lose — and gain — millions based on currency moves they don't control. This project teaches you to quantify that exposure and decide what to do about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06040" cy="201168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Real-World 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6454F"/>
                </a:solidFill>
              </a:rPr>
              <a:t>The workflow mirrors what treasury analysts, FP&amp;A managers, and investment bankers actually do when advising the CFO.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92024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920240"/>
            <a:ext cx="2606040" cy="20116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2176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AI Fluency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6454F"/>
                </a:solidFill>
              </a:rPr>
              <a:t>You learn to write machine-readable instructions — a core competency in modern finance that separates analysts from operators.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92024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71616" y="1920240"/>
            <a:ext cx="2606040" cy="20116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71616" y="2176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Portfolio Artifact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08776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6454F"/>
                </a:solidFill>
              </a:rPr>
              <a:t>A six-stage repo you can show in interviews: memo, spec, AI-built model, live data, validated recommendation.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530"/>
                </a:solidFill>
              </a:rPr>
              <a:t>"Incomplete understanding is normal. Playing with AI tools is more than half the battle. We're all figuring this out together."  — Instructor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— Six Stages, 100%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B8975C"/>
                </a:solidFill>
              </a:rPr>
              <a:t>DESIGN  →  BUILD  →  VALIDATE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12573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1257300" cy="54864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07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Portfolio Repository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10744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Stand up your public GitHub portfolio repo: canonical skeleton, bio, resume, prompt log.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107442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10744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repo URL, graded by inspection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41932" y="1645920"/>
            <a:ext cx="12573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41932" y="1645920"/>
            <a:ext cx="1257300" cy="5486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41932" y="164592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41932" y="192024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33372" y="2267712"/>
            <a:ext cx="107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Executive Memo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33372" y="2788920"/>
            <a:ext cx="10744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Frame the FX exposure for the CFO and weigh three hedge families with honest pros and cons.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33372" y="4160520"/>
            <a:ext cx="107442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33372" y="4160520"/>
            <a:ext cx="10744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1-page .md memo in docs/decisions/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9544" y="1645920"/>
            <a:ext cx="12573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9544" y="1645920"/>
            <a:ext cx="1257300" cy="54864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9544" y="164592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9544" y="192024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21%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00984" y="2267712"/>
            <a:ext cx="107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Model Specification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00984" y="2788920"/>
            <a:ext cx="10744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Design the workbook before Excel exists — named ranges, tabs, formulas, checks. The spec is the prompt.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00984" y="4160520"/>
            <a:ext cx="107442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00984" y="4160520"/>
            <a:ext cx="10744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2–3 page .md specification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77156" y="1645920"/>
            <a:ext cx="12573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77156" y="1645920"/>
            <a:ext cx="1257300" cy="5486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77156" y="164592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77156" y="192024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17%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68596" y="2267712"/>
            <a:ext cx="107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AI Build + Audit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68596" y="2788920"/>
            <a:ext cx="10744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An AI builds the workbook from your spec; you audit it against the build contract.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68596" y="4160520"/>
            <a:ext cx="107442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68596" y="4160520"/>
            <a:ext cx="10744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.xlsx build + ≥3-finding audit note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531620" y="2971800"/>
            <a:ext cx="21031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999232" y="2971800"/>
            <a:ext cx="21031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66844" y="2971800"/>
            <a:ext cx="21031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41"/>
          <p:cNvSpPr/>
          <p:nvPr/>
        </p:nvSpPr>
        <p:spPr>
          <a:xfrm>
            <a:off x="6144768" y="1645920"/>
            <a:ext cx="12573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2"/>
          <p:cNvSpPr/>
          <p:nvPr/>
        </p:nvSpPr>
        <p:spPr>
          <a:xfrm>
            <a:off x="6144768" y="1645920"/>
            <a:ext cx="1257300" cy="54864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3"/>
          <p:cNvSpPr/>
          <p:nvPr/>
        </p:nvSpPr>
        <p:spPr>
          <a:xfrm>
            <a:off x="6144768" y="164592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</a:t>
            </a:r>
            <a:endParaRPr lang="en-US" sz="1000" dirty="0"/>
          </a:p>
        </p:txBody>
      </p:sp>
      <p:sp>
        <p:nvSpPr>
          <p:cNvPr id="44" name="Text 44"/>
          <p:cNvSpPr/>
          <p:nvPr/>
        </p:nvSpPr>
        <p:spPr>
          <a:xfrm>
            <a:off x="6144768" y="192024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12%</a:t>
            </a:r>
            <a:endParaRPr lang="en-US" sz="1200" dirty="0"/>
          </a:p>
        </p:txBody>
      </p:sp>
      <p:sp>
        <p:nvSpPr>
          <p:cNvPr id="45" name="Text 45"/>
          <p:cNvSpPr/>
          <p:nvPr/>
        </p:nvSpPr>
        <p:spPr>
          <a:xfrm>
            <a:off x="6236208" y="2267712"/>
            <a:ext cx="107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Market Data</a:t>
            </a:r>
            <a:endParaRPr lang="en-US" sz="1200" dirty="0"/>
          </a:p>
        </p:txBody>
      </p:sp>
      <p:sp>
        <p:nvSpPr>
          <p:cNvPr id="46" name="Text 46"/>
          <p:cNvSpPr/>
          <p:nvPr/>
        </p:nvSpPr>
        <p:spPr>
          <a:xfrm>
            <a:off x="6236208" y="2788920"/>
            <a:ext cx="10744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Replace placeholders with live, sourced data. The model must survive it; cross-check vs the FX Lab.</a:t>
            </a:r>
            <a:endParaRPr lang="en-US" sz="1000" dirty="0"/>
          </a:p>
        </p:txBody>
      </p:sp>
      <p:sp>
        <p:nvSpPr>
          <p:cNvPr id="47" name="Shape 47"/>
          <p:cNvSpPr/>
          <p:nvPr/>
        </p:nvSpPr>
        <p:spPr>
          <a:xfrm>
            <a:off x="6236208" y="4160520"/>
            <a:ext cx="107442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8"/>
          <p:cNvSpPr/>
          <p:nvPr/>
        </p:nvSpPr>
        <p:spPr>
          <a:xfrm>
            <a:off x="6236208" y="4160520"/>
            <a:ext cx="10744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data memo + updated model</a:t>
            </a:r>
            <a:endParaRPr lang="en-US" sz="850" dirty="0"/>
          </a:p>
        </p:txBody>
      </p:sp>
      <p:sp>
        <p:nvSpPr>
          <p:cNvPr id="49" name="Shape 49"/>
          <p:cNvSpPr/>
          <p:nvPr/>
        </p:nvSpPr>
        <p:spPr>
          <a:xfrm>
            <a:off x="7612380" y="1645920"/>
            <a:ext cx="12573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50"/>
          <p:cNvSpPr/>
          <p:nvPr/>
        </p:nvSpPr>
        <p:spPr>
          <a:xfrm>
            <a:off x="7612380" y="1645920"/>
            <a:ext cx="1257300" cy="5486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51"/>
          <p:cNvSpPr/>
          <p:nvPr/>
        </p:nvSpPr>
        <p:spPr>
          <a:xfrm>
            <a:off x="7612380" y="164592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5</a:t>
            </a:r>
            <a:endParaRPr lang="en-US" sz="1000" dirty="0"/>
          </a:p>
        </p:txBody>
      </p:sp>
      <p:sp>
        <p:nvSpPr>
          <p:cNvPr id="52" name="Text 52"/>
          <p:cNvSpPr/>
          <p:nvPr/>
        </p:nvSpPr>
        <p:spPr>
          <a:xfrm>
            <a:off x="7612380" y="1920240"/>
            <a:ext cx="125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25%</a:t>
            </a:r>
            <a:endParaRPr lang="en-US" sz="1200" dirty="0"/>
          </a:p>
        </p:txBody>
      </p:sp>
      <p:sp>
        <p:nvSpPr>
          <p:cNvPr id="53" name="Text 53"/>
          <p:cNvSpPr/>
          <p:nvPr/>
        </p:nvSpPr>
        <p:spPr>
          <a:xfrm>
            <a:off x="7703820" y="2267712"/>
            <a:ext cx="1074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530"/>
                </a:solidFill>
              </a:rPr>
              <a:t>LLM Validation</a:t>
            </a:r>
            <a:endParaRPr lang="en-US" sz="1200" dirty="0"/>
          </a:p>
        </p:txBody>
      </p:sp>
      <p:sp>
        <p:nvSpPr>
          <p:cNvPr id="54" name="Text 54"/>
          <p:cNvSpPr/>
          <p:nvPr/>
        </p:nvSpPr>
        <p:spPr>
          <a:xfrm>
            <a:off x="7703820" y="2788920"/>
            <a:ext cx="10744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A fresh LLM runs your docs. You hand-verify, reconcile, and recommend.</a:t>
            </a:r>
            <a:endParaRPr lang="en-US" sz="1000" dirty="0"/>
          </a:p>
        </p:txBody>
      </p:sp>
      <p:sp>
        <p:nvSpPr>
          <p:cNvPr id="55" name="Shape 55"/>
          <p:cNvSpPr/>
          <p:nvPr/>
        </p:nvSpPr>
        <p:spPr>
          <a:xfrm>
            <a:off x="7703820" y="4160520"/>
            <a:ext cx="1074420" cy="347472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6"/>
          <p:cNvSpPr/>
          <p:nvPr/>
        </p:nvSpPr>
        <p:spPr>
          <a:xfrm>
            <a:off x="7703820" y="4160520"/>
            <a:ext cx="10744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2530"/>
                </a:solidFill>
              </a:rPr>
              <a:t>validation doc + rec memo</a:t>
            </a:r>
            <a:endParaRPr lang="en-US" sz="850" dirty="0"/>
          </a:p>
        </p:txBody>
      </p:sp>
      <p:sp>
        <p:nvSpPr>
          <p:cNvPr id="57" name="Shape 57"/>
          <p:cNvSpPr/>
          <p:nvPr/>
        </p:nvSpPr>
        <p:spPr>
          <a:xfrm>
            <a:off x="5934456" y="2971800"/>
            <a:ext cx="210312" cy="0"/>
          </a:xfrm>
          <a:prstGeom prst="line">
            <a:avLst/>
          </a:prstGeom>
          <a:noFill/>
          <a:ln w="19050">
            <a:solidFill>
              <a:srgbClr val="C9CFD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8"/>
          <p:cNvSpPr/>
          <p:nvPr/>
        </p:nvSpPr>
        <p:spPr>
          <a:xfrm>
            <a:off x="7402068" y="2971800"/>
            <a:ext cx="210312" cy="0"/>
          </a:xfrm>
          <a:prstGeom prst="line">
            <a:avLst/>
          </a:prstGeom>
          <a:noFill/>
          <a:ln w="19050">
            <a:solidFill>
              <a:srgbClr val="C9CFD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Executive Memo  ·  17% of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FAF9F7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Write a 300–400 word memo to your CFO using the template in _templates/template-decision-memo.md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A"/>
                </a:solidFill>
              </a:rPr>
              <a:t>What to Include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Exposure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2240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Currency, amount, and settlement date of your receivable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The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8072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What could go wrong — how a USD/EUR move hurts proceeds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374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Three Hedge Families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3374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Forward, Money Market, Options — quick pros &amp; cons 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41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65960" y="39410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Preview Stages 2–5 (spec → AI build → live data → validation)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810512"/>
            <a:ext cx="3931920" cy="288036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810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75C"/>
                </a:solidFill>
              </a:rPr>
              <a:t>Tips for Success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23042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Write for a non-technical executive — no jargon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7614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Use the decision-memo template exactly as structured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2186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Be specific: name the currency, amount, and timing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675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Log any AI drafting help in prompt-log.md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1330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Save to docs/decisions/ in your portfolio repo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4389120" cy="438912"/>
          </a:xfrm>
          <a:prstGeom prst="rect">
            <a:avLst/>
          </a:prstGeom>
          <a:solidFill>
            <a:srgbClr val="F5F5F3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6177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530"/>
                </a:solidFill>
              </a:rPr>
              <a:t>📄  Deliverable: docs/decisions/YYYY-MM-DD-lastname-scenario-hedge-framing.md  |  Commit + push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Model Specification  ·  21% of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FAF9F7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Using _templates/template-spec.md, write a 2–3 page spec for your workbook — before any Excel exists. Precise enough that an AI could build it from this document alone. In Stage 3, that literally happens.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146304" cy="128016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Named-Range Contract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Every input with name, placeholder value, unit, and Stage-4 data source: FC_AMT, S0_in, F0_in, R_USD, R_FC, K_PUT, K_CALL, PREM_PUT, PREM_CALL, T_DAYS.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81051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810512"/>
            <a:ext cx="146304" cy="128016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Tabs + Calculation 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Name every tab and its purpose. Formula logic in named-range notation, never cell addresses: forward lock-in, 3-step money market with parity check, option payoffs vs S_T. Apply the color key below on every tab.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146304" cy="128016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Validation &amp; Sensitivity Plan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8444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Check figures the finished workbook must pass: parity within rounding, no error cells, every output a formula. Sensitivity: S_T from 0.95×S0 to 1.05×S0 in 1% steps, plus one comparison chart.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20040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146304" cy="128016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The Spec Is the Prompt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58444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LLM drafts, you edit — log at least one gap you found and fixed in prompt-log.md. Scenario values are placeholders flagged ‘indicative — replaced with live data at Stage 4.’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FAF9F7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201168" cy="201168"/>
          </a:xfrm>
          <a:prstGeom prst="rect">
            <a:avLst/>
          </a:prstGeom>
          <a:solidFill>
            <a:srgbClr val="FFFF00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4718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Yellow = Inputs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4736592"/>
            <a:ext cx="201168" cy="201168"/>
          </a:xfrm>
          <a:prstGeom prst="rect">
            <a:avLst/>
          </a:prstGeom>
          <a:solidFill>
            <a:srgbClr val="BDD7EE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16352" y="4718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Blue = Assumptions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4736592"/>
            <a:ext cx="201168" cy="201168"/>
          </a:xfrm>
          <a:prstGeom prst="rect">
            <a:avLst/>
          </a:prstGeom>
          <a:solidFill>
            <a:srgbClr val="C6EFCE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4718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Green = Formulas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4736592"/>
            <a:ext cx="201168" cy="201168"/>
          </a:xfrm>
          <a:prstGeom prst="rect">
            <a:avLst/>
          </a:prstGeom>
          <a:solidFill>
            <a:srgbClr val="D9D9D9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22592" y="471830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Gray = Outputs / KPIs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 — AI-Assisted Build + Audit  ·  17% of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F5F5F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Generate the workbook from your Stage 2 spec — any AI tool or by hand — then audit the result. The graded skill is specifying precisely and auditing ruthlessly. No starter template: your spec is the template.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FA3"/>
                </a:solidFill>
              </a:rPr>
              <a:t>The Build Contract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25856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All 10 Named Ranges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48716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Each attached to the right cell, exactly per the contract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87121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Cover Page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09981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Scenario, author, date, data-provenance block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465576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48386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Three Hedge Families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1246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Forward; money market in 3 explicit steps; put and call vs S_T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78224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09651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Live Validation 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325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Parity + your spec’s check figures, computed, visible, passing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240280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240280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0328" y="225856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Formulas, Never Values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0328" y="248716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A pasted number where a formula belongs scores zero — checked mechanically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852928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2852928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0328" y="287121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Legend/Key Tab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309981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Color convention applied throughout the workbook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4069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3465576"/>
            <a:ext cx="109728" cy="521208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0328" y="348386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Sensitivity Table + Chart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371246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±5% in 1% steps, formula-driven — no hand-typed rows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Audit note required (≥3 findings)  ·  Rubric: Contract Compliance 50%  ·  Structure &amp; Presentation 25%  ·  Audit Note 25%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5 — LLM Analysis &amp; Validation  ·  25%  ·  Capstone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Feed your spec and market-data memo — and nothing else — to a fresh LLM and let it produce the full analysis. Then verify by hand, reconcile differences, and deliver the recommendation.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</a:rPr>
              <a:t>Memo Sections (A–E)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Exposure 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Currency, amount, timing, business risk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706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Hedge Outcomes 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706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Forward, MM, Put, Call, No-Hedge — insight not math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Sensitivity Interpretation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EUR depreciation vs appreciation scenarios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694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Strategic Recommendation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694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One strategy (or combination), supported by your live-data numbers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Executive Justification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187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Cash flow, certainty, optionality, cost, accounting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783080"/>
            <a:ext cx="3977640" cy="288036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75C"/>
                </a:solidFill>
              </a:rPr>
              <a:t>The Validation Work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22860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Fresh LLM session — spec + data memo only; no coaching, log the prompt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268833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Comparison table: LLM vs workbook per strategy; diagnose every gap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090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Hand-verify ≥3 outcomes with arithmetic shown — no Excel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4930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Recommendation memo (A–E) built on the verified numbers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389534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Spec retrospective: what the LLM had to guess — candor is graded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4297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Repo polish: README, prompt log, public repo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4160520" cy="384048"/>
          </a:xfrm>
          <a:prstGeom prst="rect">
            <a:avLst/>
          </a:prstGeom>
          <a:solidFill>
            <a:srgbClr val="FAF9F7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6451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530"/>
                </a:solidFill>
              </a:rPr>
              <a:t>⭐  Optional further study (ungraded): AI automation  ·  multi-file reasoning  ·  GitHub as audit evidence  ·  hedge accounting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645152"/>
            <a:ext cx="3977640" cy="384048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46451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Rubric (% of stage): LLM Run &amp; Comparison 25  ·  Hand Verification 25  ·  Recommendation 25  ·  Retrospective 17  ·  Repo Polish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Analyst-to-Automation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00200" y="2423160"/>
            <a:ext cx="621792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22677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75C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960120" cy="960120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2423160"/>
            <a:ext cx="621792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36392" y="22677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75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21992" y="1828800"/>
            <a:ext cx="960120" cy="960120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21992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30552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2423160"/>
            <a:ext cx="621792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18304" y="22677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75C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03904" y="1828800"/>
            <a:ext cx="960120" cy="960120"/>
          </a:xfrm>
          <a:prstGeom prst="ellipse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03904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Build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12464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45936" y="2423160"/>
            <a:ext cx="621792" cy="0"/>
          </a:xfrm>
          <a:prstGeom prst="line">
            <a:avLst/>
          </a:prstGeom>
          <a:noFill/>
          <a:ln w="254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0216" y="226771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975C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85816" y="1828800"/>
            <a:ext cx="960120" cy="960120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85816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Market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94376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67728" y="1828800"/>
            <a:ext cx="960120" cy="960120"/>
          </a:xfrm>
          <a:prstGeom prst="ellipse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67728" y="1828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76288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Stage 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2697480" cy="1508760"/>
          </a:xfrm>
          <a:prstGeom prst="rect">
            <a:avLst/>
          </a:prstGeom>
          <a:solidFill>
            <a:srgbClr val="1E2530"/>
          </a:solidFill>
          <a:ln w="12700">
            <a:solidFill>
              <a:srgbClr val="B897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337560"/>
            <a:ext cx="2697480" cy="54864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9768" y="34290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</a:rPr>
              <a:t>Spec Before Build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" y="38039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</a:rPr>
              <a:t>You design the workbook — named ranges, tabs, formula plan — before any Excel exists. The build then tests your own design.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337560"/>
            <a:ext cx="2697480" cy="1508760"/>
          </a:xfrm>
          <a:prstGeom prst="rect">
            <a:avLst/>
          </a:prstGeom>
          <a:solidFill>
            <a:srgbClr val="1E2530"/>
          </a:solidFill>
          <a:ln w="12700">
            <a:solidFill>
              <a:srgbClr val="6B8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3337560"/>
            <a:ext cx="2697480" cy="54864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0128" y="34290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8FA3"/>
                </a:solidFill>
              </a:rPr>
              <a:t>AI Generates, You Audit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10128" y="38039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</a:rPr>
              <a:t>AI does the assembly from your spec. The graded skill is auditing the output — the thing an analyst still owns.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3337560"/>
            <a:ext cx="2697480" cy="1508760"/>
          </a:xfrm>
          <a:prstGeom prst="rect">
            <a:avLst/>
          </a:prstGeom>
          <a:solidFill>
            <a:srgbClr val="1E2530"/>
          </a:solidFill>
          <a:ln w="12700">
            <a:solidFill>
              <a:srgbClr val="B897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0760" y="3337560"/>
            <a:ext cx="2697480" cy="54864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90488" y="34290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</a:rPr>
              <a:t>Data After Structure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0488" y="3803904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</a:rPr>
              <a:t>Live market data lands last, as a robustness test: a model that breaks when fresh prices load had the wrong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Assigned Scenario — EUR Receivable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6454F"/>
                </a:solidFill>
              </a:rPr>
              <a:t>Each student is assigned one of four firm scenarios. All involve a USD-based firm expecting a large EUR receivable in 1 year.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1965960" cy="45720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Solar Equipment Importer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614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Receivable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6B7A"/>
                </a:solidFill>
              </a:rPr>
              <a:t>$4.5M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3383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Forward Rate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3593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1.0875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96312" y="1664208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96312" y="1664208"/>
            <a:ext cx="1965960" cy="45720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96312" y="1664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87752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Pharma Exporter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87752" y="27614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Receivable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7752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75C"/>
                </a:solidFill>
              </a:rPr>
              <a:t>$8.0M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87752" y="3383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Forward Rate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7752" y="3593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1.0890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45152" y="1664208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45152" y="1664208"/>
            <a:ext cx="1965960" cy="45720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45152" y="1664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Tech Services Firm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27614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Receivable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8FA3"/>
                </a:solidFill>
              </a:rPr>
              <a:t>$12.5M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36592" y="3383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Forward Rate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6592" y="3593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1.0910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93992" y="1664208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93992" y="1664208"/>
            <a:ext cx="1965960" cy="45720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93992" y="1664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85432" y="21945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Aerospace Manufacturer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85432" y="27614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Receivable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85432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75C"/>
                </a:solidFill>
              </a:rPr>
              <a:t>$20.0M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85432" y="33832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</a:rPr>
              <a:t>Forward Rate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85432" y="3593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</a:rPr>
              <a:t>1.0935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47472" y="4370832"/>
            <a:ext cx="8449056" cy="64008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3708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📌  Market data to look up:  </a:t>
            </a:r>
            <a:r>
              <a:rPr lang="en-US" sz="1100" dirty="0">
                <a:solidFill>
                  <a:srgbClr val="8A9BAD"/>
                </a:solidFill>
              </a:rPr>
              <a:t>Current EURUSD spot · USD 1-year interest rate · EUR 1-year interest rate  |  Indicative placeholders in your Stage 2 spec; live values with source + timestamp at Stage 4.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— Version Control Is a Professional Skill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</a:rPr>
              <a:t>Where to Save Deliverables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280160" cy="329184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 + 5 Memos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docs/decisions/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1280160" cy="329184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 Spec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3500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docs/specs/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1280160" cy="329184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998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 Workbook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099816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models/builds/ + analysis/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1280160" cy="329184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496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 Data + 5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849624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 ·  analysis/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73168" y="1097280"/>
            <a:ext cx="4023360" cy="384048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11430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</a:rPr>
              <a:t>Git Workflow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600200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0368" y="160020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.md file from template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112264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0368" y="211226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in recommended directory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624328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2624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26243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136392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30368" y="31363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'Stage X deliverable'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648456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648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364845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160520"/>
            <a:ext cx="256032" cy="256032"/>
          </a:xfrm>
          <a:prstGeom prst="ellipse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530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41605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file is visible on GitHub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6634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A"/>
                </a:solidFill>
              </a:rPr>
              <a:t>Version control is not just submission — it is a core professional skill practiced throughout this project.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Use Policy + Prompt Engineering Best Practices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</a:rPr>
              <a:t>AI Is Encouraged — With Accountability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Clarify theory or extend readings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Gather data, statistics, examples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Test arguments with counterarguments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Simulate scenarios, brainstorm responses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36976"/>
            <a:ext cx="274320" cy="274320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236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Practice clear communication in prompts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3931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Log ALL AI use in your Prompt Log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041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Verify outputs against trusted sources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43984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443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4439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454F"/>
                </a:solidFill>
              </a:rPr>
              <a:t>AI supplements — not replaces — your analysis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1097280"/>
            <a:ext cx="4041648" cy="384048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11430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975C"/>
                </a:solidFill>
              </a:rPr>
              <a:t>5 Rules for Great AI Prompts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162763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1627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Be specific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19019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State every variable value. AI does not infer missing data.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226771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2267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Use named ranges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25420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Never let AI invent its own naming convention.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290779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29077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Add structure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182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Use # GOAL · # INPUTS · # LOGIC · # VERIFY as headers.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54787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3547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Specify formatting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38221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Color codes, sections, layout — be explicit.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92040" y="4187952"/>
            <a:ext cx="274320" cy="27432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57800" y="4187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AD"/>
                </a:solidFill>
              </a:rPr>
              <a:t>Link context files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57800" y="44622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GitHub links to your spec are the most efficient approach.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Relevance — Where This Gets Used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6454F"/>
                </a:solidFill>
              </a:rPr>
              <a:t>The skills built in this project appear directly in job descriptions for these roles: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06040" cy="347472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Corporate Treasury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A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FX exposure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A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Hedge design &amp; performance testing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A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AI-augmented scenario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1600200"/>
            <a:ext cx="2606040" cy="347472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72968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Investment Banking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9842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Cross-border deal modeling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64408" y="23042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FX-sensitive valuation adjustments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4408" y="26243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Structured product design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25896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25896" y="1600200"/>
            <a:ext cx="2606040" cy="347472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25896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FP&amp;A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17336" y="19842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Cash flow forecasting under FX uncertainty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17336" y="23042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Scenario building &amp; budget risk assessment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17336" y="26243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Board-level sensitivity reporting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72768" y="32004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72768" y="3200400"/>
            <a:ext cx="2606040" cy="347472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72768" y="3200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&amp; AI 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64208" y="35844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Spec-to-model-to-prompt pipelines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64208" y="39044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GitHub version control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64208" y="42245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AI-assisted financial modeling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25696" y="32004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F9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25696" y="3200400"/>
            <a:ext cx="2606040" cy="347472"/>
          </a:xfrm>
          <a:prstGeom prst="rect">
            <a:avLst/>
          </a:prstGeom>
          <a:solidFill>
            <a:srgbClr val="6B8FA3"/>
          </a:solidFill>
          <a:ln w="12700">
            <a:solidFill>
              <a:srgbClr val="6B8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25696" y="3200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Accounting &amp; Audit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17136" y="358444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OCI vs P&amp;L hedge accounting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17136" y="390448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Hedge effectiveness documentation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17136" y="42245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FA3"/>
                </a:solidFill>
              </a:rPr>
              <a:t xml:space="preserve">· </a:t>
            </a:r>
            <a:r>
              <a:rPr lang="en-US" sz="1000" dirty="0">
                <a:solidFill>
                  <a:srgbClr val="36454F"/>
                </a:solidFill>
              </a:rPr>
              <a:t>Version-controlled audit trails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82296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530"/>
                </a:solidFill>
              </a:rPr>
              <a:t>This is a portfolio-ready artifact for internships, jobs, and graduate programs.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548640"/>
            <a:ext cx="2286000" cy="2286000"/>
          </a:xfrm>
          <a:prstGeom prst="ellipse">
            <a:avLst/>
          </a:prstGeom>
          <a:solidFill>
            <a:srgbClr val="1E2530">
              <a:alpha val="60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21040" y="-91440"/>
            <a:ext cx="1371600" cy="1371600"/>
          </a:xfrm>
          <a:prstGeom prst="ellipse">
            <a:avLst/>
          </a:prstGeom>
          <a:solidFill>
            <a:srgbClr val="B8975C">
              <a:alpha val="35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A9BAD"/>
                </a:solidFill>
              </a:rPr>
              <a:t>The goal isn't perfection — it's exploration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542032"/>
            <a:ext cx="6400800" cy="548640"/>
          </a:xfrm>
          <a:prstGeom prst="rect">
            <a:avLst/>
          </a:prstGeom>
          <a:solidFill>
            <a:srgbClr val="1E2530">
              <a:alpha val="70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25420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D"/>
                </a:solidFill>
              </a:rPr>
              <a:t>🧪  Experiment with prompts, iterate on your spec, ask AI for help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solidFill>
            <a:srgbClr val="1E2530">
              <a:alpha val="70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32004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D"/>
                </a:solidFill>
              </a:rPr>
              <a:t>📂  Commit every deliverable to GitHub — version control matters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858768"/>
            <a:ext cx="6400800" cy="548640"/>
          </a:xfrm>
          <a:prstGeom prst="rect">
            <a:avLst/>
          </a:prstGeom>
          <a:solidFill>
            <a:srgbClr val="1E2530">
              <a:alpha val="70000"/>
            </a:srgbClr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385876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D"/>
                </a:solidFill>
              </a:rPr>
              <a:t>🤝  We're all learning in real-time. Your uncertainty is shared by everyone.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AD"/>
                </a:solidFill>
              </a:rPr>
              <a:t>FIN-321  ·  Shidler College of Business  ·  University of Hawaiʻi at Mānoa  ·  adamstau@hawaii.edu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&amp; AI Tools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Guide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you need to create a GitHub account, install Git,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 your work, and use AI tools for this project.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0040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GitHub &amp; Why Does It Matter?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is a cloud platform for version control. Think of it as Google Docs for code and documents — every change is tracked, reversible, and visible to your instructor.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History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save (commit) is permanent. You can always go back to a previous version if something breaks.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Artifact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GitHub profile becomes a professional portfolio. Employers and grad schools check GitHub.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23774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Submission &amp; Grading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stage deliverables are submitted by committing to GitHub. Your commit history IS your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GitHub Account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to github.com and click Sign Up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your @hawaii.edu email (gets free GitHub Pro)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a professional username (e.g., firstname-lastname)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 your email address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your GitHub username with the instructor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1280160"/>
            <a:ext cx="31089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46304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1264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Tips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15000" y="192024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Username matters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Employers see it. Avoid gamer tags or joke names.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Student Developer Pack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education.github.com — free Pro features, Copilot access, and more with your .edu email.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Profile photo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Optional but professional. Headshot or avatar helps your instructor identify you.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Git on Your Computer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is the software that tracks changes. GitHub is the website that hosts your repository. You need both.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git-scm.com/download/win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installer — accept all defaults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Git Bash (installed automatically)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  to confirm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691640"/>
            <a:ext cx="38404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Terminal (Applications → Utilities)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Type:  git --version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not installed, macOS will prompt you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 Install to add Xcode Command Line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7680960" cy="8229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630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Setup (run these two commands once):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6304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"Your Name"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"your@hawaii.edu"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Clone the Repository &amp; Open 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Cloning downloads a full copy of the project to your computer. You only do this once.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the clone URL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the repository page, click the green Code button → copy the HTTPS URL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317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your terminal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560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Bash (Windows) or Terminal (Mac). Navigate to where you want the folder.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clone command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273552"/>
            <a:ext cx="6858000" cy="27432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https://github.com/instructor/repo-name.git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320040" cy="32004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in your editor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new folder in VS Code, or your preferred text editor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solidFill>
            <a:srgbClr val="EBF5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cloning, run  cd repo-name  to enter the project folder before doing anything else.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4 OF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Git Workflow: Add, Commit, Push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three commands are all you need. Run them every time you finish work on a deliverable.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Tells Git which files to include in the next save. The dot means all changed files.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48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18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"Stage 1 memo"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 permanent snapshot with a descriptive message. This is your save point.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4688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78040" y="1691640"/>
            <a:ext cx="365760" cy="36576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2514600"/>
            <a:ext cx="2194560" cy="36576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Uploads your commits to GitHub so they are visible online and to your instructor.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315968"/>
            <a:ext cx="7680960" cy="457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Prefer a Visual Interface? Use GitHub Desktop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Desktop is a free app that does the same thing as the command line but with buttons instead of typing. Either approach is fine for this course.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&amp; Connect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from desktop.github.com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 in with your GitHub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06324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→ Clone Repository → paste URL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where to save on your computer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463040"/>
            <a:ext cx="34747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Workflow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205740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 xml:space="preserve">Changes tab  </a:t>
            </a:r>
            <a:r>
              <a:rPr lang="en-US" sz="1100" dirty="0">
                <a:solidFill>
                  <a:srgbClr val="5A6B7A"/>
                </a:solidFill>
              </a:rPr>
              <a:t>— shows modified files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256032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 xml:space="preserve">Summary box  </a:t>
            </a:r>
            <a:r>
              <a:rPr lang="en-US" sz="1100" dirty="0">
                <a:solidFill>
                  <a:srgbClr val="5A6B7A"/>
                </a:solidFill>
              </a:rPr>
              <a:t>— type your commit message (e.g., "Stage 2 Excel model")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06324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 xml:space="preserve">Commit button  </a:t>
            </a:r>
            <a:r>
              <a:rPr lang="en-US" sz="1100" dirty="0">
                <a:solidFill>
                  <a:srgbClr val="5A6B7A"/>
                </a:solidFill>
              </a:rPr>
              <a:t>— saves the snapshot locally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3566160"/>
            <a:ext cx="274320" cy="274320"/>
          </a:xfrm>
          <a:prstGeom prst="line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 xml:space="preserve">Push Origin  </a:t>
            </a:r>
            <a:r>
              <a:rPr lang="en-US" sz="1100" dirty="0">
                <a:solidFill>
                  <a:srgbClr val="5A6B7A"/>
                </a:solidFill>
              </a:rPr>
              <a:t>— uploads to GitHub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to Save Each Deliverable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each file in the right directory, then commit and push. Plus: prompt-log.md at the repo root, updated every stage.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Stage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Deliverable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File Name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Directory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Repo skeleton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 root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Executive memo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YYYY-MM-DD-lastname-scenario-hedge-framing.md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docs/decisions/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Model spec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YYYY-MM-DD-lastname-scenario-spec.md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docs/specs/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3+4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Workbook · audit · data memo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...-model.xlsx · ...-build-audit.md · ...-market-data.md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models/builds/ · analysis/ · data/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53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Validation · recommendation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897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...-validation.md · ...-hedge-recommendation.md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analysis/ · docs/decisions/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3794760"/>
            <a:ext cx="7680960" cy="86868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96012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submitting Stage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40965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docs/decisions/2026-08-24-stauffer-solar-importer-hedge-framing.md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"Stage 1: hedge framing memo"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 Git Mistakes &amp; How to Fix Them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978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"Everything up-to-date" but nothing pushed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forgot  git add  before committing.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add .  then  git commit  then  git push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"fatal: not a git repository"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terminal is not inside the project folder.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719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cd repo-name  to navigate into the cloned folder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86584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Accidentally edited the wrong 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worries — Git tracks everything.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4323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checkout -- filename  reverts to last commit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"rejected — failed to push"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Someone (or you on another device) pushed first.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1455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git pull  then  git push  to sync and re-upload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13048"/>
            <a:ext cx="768096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3831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Forgot to write a commit message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105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text editor opened and you're stuck.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858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Type your message, then press Esc, type  :wq  and press Enter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AI Tools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GitHub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use ChatGPT and Claude as analytical partners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your FX hedging project.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01752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Shidler College of Business  |  University of Hawaiʻi at Mānoa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ChatGPT for This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chatgpt.com  |  Free tier is sufficient. GPT-4o is recommended if you have Plus.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ChatGPT Does Well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Explaining hedge mechanics and what they mean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Drafting memo language and executive summaries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Generating Excel formulas from plain English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Reviewing your spec for clarity and completeness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Drafting the spec and validation prompts (Stages 2–5)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Brainstorming strategic recommendations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0" y="1280160"/>
            <a:ext cx="34747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173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206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can invent financial data that looks real but isn't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206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Hedge formulas may be subtly wrong — always verify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1206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doesn't know YOUR company's specific numbers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1206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Named range conventions must be given to it explicitly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206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 paste sensitive personal data into prompts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Claude for This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claude.ai  |  Free tier available. Pro gives extended thinking and longer conversations.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Strengths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Longer context window — paste entire specs or data 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at structured document generation (memos, specs)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32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Careful reasoning for multi-step hedge calculations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read uploaded files (PDF, Excel, images)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28016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Claude with 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Paste your GitHub file links as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Ask Claude to generate Markdown for your memos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4323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your .xlsx and ask for a hedge-math audit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Claude to draft your Stage 2 spec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7680960" cy="10058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1188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Prompt for Stage 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3931920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"I'm writing a 300-400 word executive memo for my CFO about our EUR 8M receivable due in one year. Cover: the FX exposure, what a EURUSD move does to USD proceeds, three hedge families (forward, money market, options) with quick pros/cons, and a preview of my Stages 2–5 plan. Professional finance language."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Patterns That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these templates as starting points. Adapt them to your company and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 It a Role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 xml:space="preserve">Vague:  </a:t>
            </a:r>
            <a:r>
              <a:rPr lang="en-US" sz="1000" i="1" dirty="0">
                <a:solidFill>
                  <a:srgbClr val="8A9BAD"/>
                </a:solidFill>
              </a:rPr>
              <a:t>"Help me with hedging"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280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 xml:space="preserve">Better:  </a:t>
            </a:r>
            <a:r>
              <a:rPr lang="en-US" sz="1000" dirty="0">
                <a:solidFill>
                  <a:srgbClr val="5A6B7A"/>
                </a:solidFill>
              </a:rPr>
              <a:t>"You are a treasury analyst at a U.S. exporter. Compute the forward-hedge proceeds for this EUR receivable..."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the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 xml:space="preserve">Vague:  </a:t>
            </a:r>
            <a:r>
              <a:rPr lang="en-US" sz="1000" i="1" dirty="0">
                <a:solidFill>
                  <a:srgbClr val="8A9BAD"/>
                </a:solidFill>
              </a:rPr>
              <a:t>"What does the forward hedge pay?"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 xml:space="preserve">Better:  </a:t>
            </a:r>
            <a:r>
              <a:rPr lang="en-US" sz="1000" dirty="0">
                <a:solidFill>
                  <a:srgbClr val="5A6B7A"/>
                </a:solidFill>
              </a:rPr>
              <a:t>"FC_AMT: EUR 8,000,000. F0_in: 1.0890. Compute the locked-in USD proceeds and explain what locking in means."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80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2907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 the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227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 xml:space="preserve">Vague:  </a:t>
            </a:r>
            <a:r>
              <a:rPr lang="en-US" sz="1000" i="1" dirty="0">
                <a:solidFill>
                  <a:srgbClr val="8A9BAD"/>
                </a:solidFill>
              </a:rPr>
              <a:t>"Analyze these hedges"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 xml:space="preserve">Better:  </a:t>
            </a:r>
            <a:r>
              <a:rPr lang="en-US" sz="1000" dirty="0">
                <a:solidFill>
                  <a:srgbClr val="5A6B7A"/>
                </a:solidFill>
              </a:rPr>
              <a:t>"Present results in a Markdown table with columns: Strategy, USD Proceeds, Pros, Cons. Use 2 decimal places."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54864" cy="73152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Verification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4444"/>
                </a:solidFill>
              </a:rPr>
              <a:t xml:space="preserve">Vague:  </a:t>
            </a:r>
            <a:r>
              <a:rPr lang="en-US" sz="1000" i="1" dirty="0">
                <a:solidFill>
                  <a:srgbClr val="8A9BAD"/>
                </a:solidFill>
              </a:rPr>
              <a:t>"Is this right?"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3749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5E40"/>
                </a:solidFill>
              </a:rPr>
              <a:t xml:space="preserve">Better:  </a:t>
            </a:r>
            <a:r>
              <a:rPr lang="en-US" sz="1000" dirty="0">
                <a:solidFill>
                  <a:srgbClr val="5A6B7A"/>
                </a:solidFill>
              </a:rPr>
              <a:t>"Cross-check: the money-market hedge should equal the forward within rounding (covered interest parity). Show the math."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Appendix: GitHub &amp; AI Setup Guide  |  Shidler College of Business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Putting It All Together: AI + GitHub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AI to draft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 or spec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2024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19456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188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28600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Revise in your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editor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93192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188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2336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02336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the .md or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.xlsx file locally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39496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66928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88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add + commit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clear message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13232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7406640" y="105156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1887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498080" y="1965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push to upload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GitHub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31520" y="3200400"/>
            <a:ext cx="54864" cy="1371600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32918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716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5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Don’t Forget Your Prompt Log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960120" y="3657600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 xml:space="preserve">Every meaningful AI interaction should be logged in </a:t>
            </a:r>
            <a:r>
              <a:rPr lang="en-US" sz="1100" b="1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prompt-log.md (repo root)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B7A"/>
                </a:solidFill>
              </a:rPr>
              <a:t xml:space="preserve">For each entry, record: 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530"/>
                </a:solidFill>
              </a:rPr>
              <a:t>the prompt you used</a:t>
            </a:r>
            <a:r>
              <a:rPr lang="en-US" sz="1100" dirty="0">
                <a:solidFill>
                  <a:srgbClr val="5A6B7A"/>
                </a:solidFill>
              </a:rPr>
              <a:t xml:space="preserve">, </a:t>
            </a:r>
            <a:r>
              <a:rPr lang="en-US" sz="1100" b="1" dirty="0">
                <a:solidFill>
                  <a:srgbClr val="1E2530"/>
                </a:solidFill>
              </a:rPr>
              <a:t>the key output</a:t>
            </a:r>
            <a:r>
              <a:rPr lang="en-US" sz="1100" dirty="0">
                <a:solidFill>
                  <a:srgbClr val="5A6B7A"/>
                </a:solidFill>
              </a:rPr>
              <a:t xml:space="preserve">, and </a:t>
            </a:r>
            <a:r>
              <a:rPr lang="en-US" sz="1100" b="1" dirty="0">
                <a:solidFill>
                  <a:srgbClr val="1E2530"/>
                </a:solidFill>
              </a:rPr>
              <a:t>whether you used/modified/rejected it</a:t>
            </a:r>
            <a:r>
              <a:rPr lang="en-US" sz="1100" dirty="0">
                <a:solidFill>
                  <a:srgbClr val="5A6B7A"/>
                </a:solidFill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Reference Cheat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Commands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repository for the first 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what files have changed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57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59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all changes for commit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596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98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a snapshot with a message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commits to GitHub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latest changes from GitHub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9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commit history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868680"/>
            <a:ext cx="18288" cy="347472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7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Useful Links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account &amp; view repositories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desktop.github.com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Desktop (visual Git client)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157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chatgpt.com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359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 (OpenAI)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596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claude.ai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(Anthropic)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035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education.github.com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36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Developer Pack (free Pro)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code.visualstudio.com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(free text editor)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913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git-scm.com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Git download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B897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FIN-321  |  Shidler College of Business  |  University of Hawaiʻi at Mānoa  |  adamstau@hawaii.edu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 — Portfolio Repository  ·  8% of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30352"/>
          </a:xfrm>
          <a:prstGeom prst="rect">
            <a:avLst/>
          </a:prstGeom>
          <a:solidFill>
            <a:srgbClr val="FAF9F7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Stand up (or restructure) your public GitHub portfolio repo before analytical work begins — every later deliverable is committed here.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A"/>
                </a:solidFill>
              </a:rPr>
              <a:t>What to Include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Account &amp; Username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2240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Use your .edu email (GitHub Education); professional firstname-lastname repo 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Canonical Skeleton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8072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docs/decisions · docs/specs · models/builds · data · analysis — stub README in every folder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374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Bio &amp; Resume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3374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README.md bio + RESUME.md — LLM as drafter, you as editor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292608" cy="292608"/>
          </a:xfrm>
          <a:prstGeom prst="ellipse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41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530"/>
                </a:solidFill>
              </a:rPr>
              <a:t>Prompt 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65960" y="39410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prompt-log.md at the repo root, updated at every stage that uses AI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810512"/>
            <a:ext cx="3931920" cy="288036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810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75C"/>
                </a:solidFill>
              </a:rPr>
              <a:t>Tips for Success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23042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Public is the point — verify in an incognito window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7614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Name the repo for the person, not the course — it outlives every class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2186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Already have a BUS 313/314 repo? Restructure it — don’t start over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675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≥2 meaningful commits with descriptive messages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1330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75C"/>
                </a:solidFill>
              </a:rPr>
              <a:t>▸  </a:t>
            </a:r>
            <a:r>
              <a:rPr lang="en-US" sz="1100" dirty="0">
                <a:solidFill>
                  <a:srgbClr val="8A9BAD"/>
                </a:solidFill>
              </a:rPr>
              <a:t>Don’t copy course templates in — link to them from a stub README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4389120" cy="438912"/>
          </a:xfrm>
          <a:prstGeom prst="rect">
            <a:avLst/>
          </a:prstGeom>
          <a:solidFill>
            <a:srgbClr val="F5F5F3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6177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530"/>
                </a:solidFill>
              </a:rPr>
              <a:t>📄  Deliverable: your repo URL via Lamaku  |  Graded by direct repo inspection  |  Rubric: 4 × 25%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 — Market Data + Population  ·  12% of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solidFill>
            <a:srgbClr val="F5F5F3"/>
          </a:solidFill>
          <a:ln w="12700">
            <a:solidFill>
              <a:srgbClr val="8A9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530"/>
                </a:solidFill>
              </a:rPr>
              <a:t>🎯  GOAL  Replace placeholders with live market data, document where every number came from, and confirm the model survives contact with reality. Everyone pulls on their own date — your numbers are unique, on purpose.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530"/>
                </a:solidFill>
              </a:rPr>
              <a:t>Retrieve (record source + timestamp)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Spot — S0_in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Any reputable source: Yahoo Finance, investing.com, ECB fix, a Bloomberg terminal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706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Rates — R_USD, R_FC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706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1-year government yield or reference rate per currency — document which and why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Forward — F0_in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Live quote if you can find one; otherwise CIP-implied from spot + rates — and say so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694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Strikes — K_PUT, K_CALL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694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Set at or near your live spot, per the scenario convention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320040" cy="320040"/>
          </a:xfrm>
          <a:prstGeom prst="rect">
            <a:avLst/>
          </a:prstGeom>
          <a:solidFill>
            <a:srgbClr val="B8975C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530"/>
                </a:solidFill>
              </a:rPr>
              <a:t>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530"/>
                </a:solidFill>
              </a:rPr>
              <a:t>Premiums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41879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</a:rPr>
              <a:t>Keep the scenario premiums; note this explicitly as an assumption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783080"/>
            <a:ext cx="3977640" cy="288036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75C"/>
                </a:solidFill>
              </a:rPr>
              <a:t>Then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22860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Market-data memo in data/ — value, source, timestamp, proxy logic for every input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268833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Populate through the named ranges — nothing else should need to change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090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If something breaks, the structure was wrong — fixing it is the exercise, not a penalty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4930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Re-run the checks: parity passes, sensitivity recalculates around the new spot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389534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✓  </a:t>
            </a:r>
            <a:r>
              <a:rPr lang="en-US" sz="1050" dirty="0">
                <a:solidFill>
                  <a:srgbClr val="8A9BAD"/>
                </a:solidFill>
              </a:rPr>
              <a:t>Cross-check against the course website’s FX Hedging Lab; resolve any disagreement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42976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B7A"/>
                </a:solidFill>
              </a:rPr>
              <a:t>   </a:t>
            </a:r>
            <a:r>
              <a:rPr lang="en-US" sz="1050" dirty="0">
                <a:solidFill>
                  <a:srgbClr val="8A9BAD"/>
                </a:solidFill>
              </a:rPr>
              <a:t> 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4160520" cy="384048"/>
          </a:xfrm>
          <a:prstGeom prst="rect">
            <a:avLst/>
          </a:prstGeom>
          <a:solidFill>
            <a:srgbClr val="FAF9F7"/>
          </a:solidFill>
          <a:ln w="12700">
            <a:solidFill>
              <a:srgbClr val="B897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6451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530"/>
                </a:solidFill>
              </a:rPr>
              <a:t>From here, feedback may arrive as a pull request — read the diff, merge, edit on top, or push back with reasons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645152"/>
            <a:ext cx="3977640" cy="384048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46451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Rubric (% of stage): Data Quality &amp; Provenance 50  ·  Model Resolves Cleanly 33  ·  Lab Cross-Check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3524</Words>
  <Application>Microsoft Office PowerPoint</Application>
  <PresentationFormat>On-screen Show (16:9)</PresentationFormat>
  <Paragraphs>557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FIN-321: AI FX Hedging Project</dc:title>
  <dc:subject>PptxGenJS Presentation</dc:subject>
  <dc:creator>Adam W. Stauffer</dc:creator>
  <cp:lastModifiedBy>Adam Stauffer</cp:lastModifiedBy>
  <cp:revision>2</cp:revision>
  <dcterms:created xsi:type="dcterms:W3CDTF">2026-03-25T18:10:27Z</dcterms:created>
  <dcterms:modified xsi:type="dcterms:W3CDTF">2026-04-01T17:50:15Z</dcterms:modified>
</cp:coreProperties>
</file>
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4731"/>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DA78F"/>
          </a:solidFill>
          <a:ln/>
        </p:spPr>
      </p:sp>
      <p:sp>
        <p:nvSpPr>
          <p:cNvPr id="3" name="Shape 1"/>
          <p:cNvSpPr/>
          <p:nvPr/>
        </p:nvSpPr>
        <p:spPr>
          <a:xfrm>
            <a:off x="6858000" y="0"/>
            <a:ext cx="2286000" cy="5143500"/>
          </a:xfrm>
          <a:prstGeom prst="rect">
            <a:avLst/>
          </a:prstGeom>
          <a:solidFill>
            <a:srgbClr val="01362A">
              <a:alpha val="60000"/>
            </a:srgbClr>
          </a:solidFill>
          <a:ln/>
        </p:spPr>
      </p:sp>
      <p:sp>
        <p:nvSpPr>
          <p:cNvPr id="4" name="Text 2"/>
          <p:cNvSpPr/>
          <p:nvPr/>
        </p:nvSpPr>
        <p:spPr>
          <a:xfrm>
            <a:off x="640080" y="548640"/>
            <a:ext cx="5943600" cy="822960"/>
          </a:xfrm>
          <a:prstGeom prst="rect">
            <a:avLst/>
          </a:prstGeom>
          <a:noFill/>
          <a:ln/>
        </p:spPr>
        <p:txBody>
          <a:bodyPr wrap="square" rtlCol="0" anchor="ctr"/>
          <a:lstStyle/>
          <a:p>
            <a:pPr indent="0" marL="0">
              <a:buNone/>
            </a:pPr>
            <a:r>
              <a:rPr lang="en-US" sz="4800" b="1" spc="400" kern="0" dirty="0">
                <a:solidFill>
                  <a:srgbClr val="FFFFFF"/>
                </a:solidFill>
                <a:latin typeface="Open Sans" pitchFamily="34" charset="0"/>
                <a:ea typeface="Open Sans" pitchFamily="34" charset="-122"/>
                <a:cs typeface="Open Sans" pitchFamily="34" charset="-120"/>
              </a:rPr>
              <a:t>BUS-629</a:t>
            </a:r>
            <a:endParaRPr lang="en-US" sz="4800" dirty="0"/>
          </a:p>
        </p:txBody>
      </p:sp>
      <p:sp>
        <p:nvSpPr>
          <p:cNvPr id="5" name="Text 3"/>
          <p:cNvSpPr/>
          <p:nvPr/>
        </p:nvSpPr>
        <p:spPr>
          <a:xfrm>
            <a:off x="640080" y="1371600"/>
            <a:ext cx="5943600" cy="1097280"/>
          </a:xfrm>
          <a:prstGeom prst="rect">
            <a:avLst/>
          </a:prstGeom>
          <a:noFill/>
          <a:ln/>
        </p:spPr>
        <p:txBody>
          <a:bodyPr wrap="square" rtlCol="0" anchor="ctr"/>
          <a:lstStyle/>
          <a:p>
            <a:pPr indent="0" marL="0">
              <a:buNone/>
            </a:pPr>
            <a:r>
              <a:rPr lang="en-US" sz="3200" b="1" dirty="0">
                <a:solidFill>
                  <a:srgbClr val="B8DDD1"/>
                </a:solidFill>
                <a:latin typeface="Open Sans" pitchFamily="34" charset="0"/>
                <a:ea typeface="Open Sans" pitchFamily="34" charset="-122"/>
                <a:cs typeface="Open Sans" pitchFamily="34" charset="-120"/>
              </a:rPr>
              <a:t>Accounting &amp;</a:t>
            </a:r>
            <a:endParaRPr lang="en-US" sz="3200" dirty="0"/>
          </a:p>
          <a:p>
            <a:pPr indent="0" marL="0">
              <a:buNone/>
            </a:pPr>
            <a:r>
              <a:rPr lang="en-US" sz="3200" b="1" dirty="0">
                <a:solidFill>
                  <a:srgbClr val="B8DDD1"/>
                </a:solidFill>
                <a:latin typeface="Open Sans" pitchFamily="34" charset="0"/>
                <a:ea typeface="Open Sans" pitchFamily="34" charset="-122"/>
                <a:cs typeface="Open Sans" pitchFamily="34" charset="-120"/>
              </a:rPr>
              <a:t>Performance Ratios</a:t>
            </a:r>
            <a:endParaRPr lang="en-US" sz="3200" dirty="0"/>
          </a:p>
        </p:txBody>
      </p:sp>
      <p:sp>
        <p:nvSpPr>
          <p:cNvPr id="6" name="Text 4"/>
          <p:cNvSpPr/>
          <p:nvPr/>
        </p:nvSpPr>
        <p:spPr>
          <a:xfrm>
            <a:off x="640080" y="2560320"/>
            <a:ext cx="5943600" cy="548640"/>
          </a:xfrm>
          <a:prstGeom prst="rect">
            <a:avLst/>
          </a:prstGeom>
          <a:noFill/>
          <a:ln/>
        </p:spPr>
        <p:txBody>
          <a:bodyPr wrap="square" rtlCol="0" anchor="ctr"/>
          <a:lstStyle/>
          <a:p>
            <a:pPr indent="0" marL="0">
              <a:buNone/>
            </a:pPr>
            <a:r>
              <a:rPr lang="en-US" sz="2000" i="1" dirty="0">
                <a:solidFill>
                  <a:srgbClr val="4DA78F"/>
                </a:solidFill>
                <a:latin typeface="Open Sans" pitchFamily="34" charset="0"/>
                <a:ea typeface="Open Sans" pitchFamily="34" charset="-122"/>
                <a:cs typeface="Open Sans" pitchFamily="34" charset="-120"/>
              </a:rPr>
              <a:t>Spec-Driven Design Project</a:t>
            </a:r>
            <a:endParaRPr lang="en-US" sz="2000" dirty="0"/>
          </a:p>
        </p:txBody>
      </p:sp>
      <p:sp>
        <p:nvSpPr>
          <p:cNvPr id="7" name="Shape 5"/>
          <p:cNvSpPr/>
          <p:nvPr/>
        </p:nvSpPr>
        <p:spPr>
          <a:xfrm>
            <a:off x="640080" y="3474720"/>
            <a:ext cx="411480" cy="411480"/>
          </a:xfrm>
          <a:prstGeom prst="ellipse">
            <a:avLst/>
          </a:prstGeom>
          <a:solidFill>
            <a:srgbClr val="4DA78F"/>
          </a:solidFill>
          <a:ln/>
        </p:spPr>
      </p:sp>
      <p:sp>
        <p:nvSpPr>
          <p:cNvPr id="8" name="Text 6"/>
          <p:cNvSpPr/>
          <p:nvPr/>
        </p:nvSpPr>
        <p:spPr>
          <a:xfrm>
            <a:off x="640080" y="3474720"/>
            <a:ext cx="411480" cy="411480"/>
          </a:xfrm>
          <a:prstGeom prst="rect">
            <a:avLst/>
          </a:prstGeom>
          <a:noFill/>
          <a:ln/>
        </p:spPr>
        <p:txBody>
          <a:bodyPr wrap="square" rtlCol="0" anchor="ctr"/>
          <a:lstStyle/>
          <a:p>
            <a:pPr algn="ctr" indent="0" marL="0">
              <a:buNone/>
            </a:pPr>
            <a:r>
              <a:rPr lang="en-US" sz="1400" b="1" dirty="0">
                <a:solidFill>
                  <a:srgbClr val="024731"/>
                </a:solidFill>
                <a:latin typeface="Open Sans" pitchFamily="34" charset="0"/>
                <a:ea typeface="Open Sans" pitchFamily="34" charset="-122"/>
                <a:cs typeface="Open Sans" pitchFamily="34" charset="-120"/>
              </a:rPr>
              <a:t>0</a:t>
            </a:r>
            <a:endParaRPr lang="en-US" sz="1400" dirty="0"/>
          </a:p>
        </p:txBody>
      </p:sp>
      <p:sp>
        <p:nvSpPr>
          <p:cNvPr id="9" name="Text 7"/>
          <p:cNvSpPr/>
          <p:nvPr/>
        </p:nvSpPr>
        <p:spPr>
          <a:xfrm>
            <a:off x="457200" y="3931920"/>
            <a:ext cx="777240" cy="274320"/>
          </a:xfrm>
          <a:prstGeom prst="rect">
            <a:avLst/>
          </a:prstGeom>
          <a:noFill/>
          <a:ln/>
        </p:spPr>
        <p:txBody>
          <a:bodyPr wrap="square" rtlCol="0" anchor="ctr"/>
          <a:lstStyle/>
          <a:p>
            <a:pPr algn="ctr" indent="0" marL="0">
              <a:buNone/>
            </a:pPr>
            <a:r>
              <a:rPr lang="en-US" sz="900" dirty="0">
                <a:solidFill>
                  <a:srgbClr val="B8DDD1"/>
                </a:solidFill>
                <a:latin typeface="Open Sans" pitchFamily="34" charset="0"/>
                <a:ea typeface="Open Sans" pitchFamily="34" charset="-122"/>
                <a:cs typeface="Open Sans" pitchFamily="34" charset="-120"/>
              </a:rPr>
              <a:t>Setup</a:t>
            </a:r>
            <a:endParaRPr lang="en-US" sz="900" dirty="0"/>
          </a:p>
        </p:txBody>
      </p:sp>
      <p:sp>
        <p:nvSpPr>
          <p:cNvPr id="10" name="Shape 8"/>
          <p:cNvSpPr/>
          <p:nvPr/>
        </p:nvSpPr>
        <p:spPr>
          <a:xfrm>
            <a:off x="1097280" y="3680460"/>
            <a:ext cx="731520" cy="0"/>
          </a:xfrm>
          <a:prstGeom prst="line">
            <a:avLst/>
          </a:prstGeom>
          <a:noFill/>
          <a:ln w="19050">
            <a:solidFill>
              <a:srgbClr val="4DA78F"/>
            </a:solidFill>
            <a:prstDash val="dash"/>
          </a:ln>
        </p:spPr>
      </p:sp>
      <p:sp>
        <p:nvSpPr>
          <p:cNvPr id="11" name="Shape 9"/>
          <p:cNvSpPr/>
          <p:nvPr/>
        </p:nvSpPr>
        <p:spPr>
          <a:xfrm>
            <a:off x="1874520" y="3474720"/>
            <a:ext cx="411480" cy="411480"/>
          </a:xfrm>
          <a:prstGeom prst="ellipse">
            <a:avLst/>
          </a:prstGeom>
          <a:solidFill>
            <a:srgbClr val="4DA78F"/>
          </a:solidFill>
          <a:ln/>
        </p:spPr>
      </p:sp>
      <p:sp>
        <p:nvSpPr>
          <p:cNvPr id="12" name="Text 10"/>
          <p:cNvSpPr/>
          <p:nvPr/>
        </p:nvSpPr>
        <p:spPr>
          <a:xfrm>
            <a:off x="1874520" y="3474720"/>
            <a:ext cx="411480" cy="411480"/>
          </a:xfrm>
          <a:prstGeom prst="rect">
            <a:avLst/>
          </a:prstGeom>
          <a:noFill/>
          <a:ln/>
        </p:spPr>
        <p:txBody>
          <a:bodyPr wrap="square" rtlCol="0" anchor="ctr"/>
          <a:lstStyle/>
          <a:p>
            <a:pPr algn="ctr" indent="0" marL="0">
              <a:buNone/>
            </a:pPr>
            <a:r>
              <a:rPr lang="en-US" sz="1400" b="1" dirty="0">
                <a:solidFill>
                  <a:srgbClr val="024731"/>
                </a:solidFill>
                <a:latin typeface="Open Sans" pitchFamily="34" charset="0"/>
                <a:ea typeface="Open Sans" pitchFamily="34" charset="-122"/>
                <a:cs typeface="Open Sans" pitchFamily="34" charset="-120"/>
              </a:rPr>
              <a:t>1</a:t>
            </a:r>
            <a:endParaRPr lang="en-US" sz="1400" dirty="0"/>
          </a:p>
        </p:txBody>
      </p:sp>
      <p:sp>
        <p:nvSpPr>
          <p:cNvPr id="13" name="Text 11"/>
          <p:cNvSpPr/>
          <p:nvPr/>
        </p:nvSpPr>
        <p:spPr>
          <a:xfrm>
            <a:off x="1691640" y="3931920"/>
            <a:ext cx="777240" cy="274320"/>
          </a:xfrm>
          <a:prstGeom prst="rect">
            <a:avLst/>
          </a:prstGeom>
          <a:noFill/>
          <a:ln/>
        </p:spPr>
        <p:txBody>
          <a:bodyPr wrap="square" rtlCol="0" anchor="ctr"/>
          <a:lstStyle/>
          <a:p>
            <a:pPr algn="ctr" indent="0" marL="0">
              <a:buNone/>
            </a:pPr>
            <a:r>
              <a:rPr lang="en-US" sz="900" dirty="0">
                <a:solidFill>
                  <a:srgbClr val="B8DDD1"/>
                </a:solidFill>
                <a:latin typeface="Open Sans" pitchFamily="34" charset="0"/>
                <a:ea typeface="Open Sans" pitchFamily="34" charset="-122"/>
                <a:cs typeface="Open Sans" pitchFamily="34" charset="-120"/>
              </a:rPr>
              <a:t>Build</a:t>
            </a:r>
            <a:endParaRPr lang="en-US" sz="900" dirty="0"/>
          </a:p>
        </p:txBody>
      </p:sp>
      <p:sp>
        <p:nvSpPr>
          <p:cNvPr id="14" name="Shape 12"/>
          <p:cNvSpPr/>
          <p:nvPr/>
        </p:nvSpPr>
        <p:spPr>
          <a:xfrm>
            <a:off x="2331720" y="3680460"/>
            <a:ext cx="731520" cy="0"/>
          </a:xfrm>
          <a:prstGeom prst="line">
            <a:avLst/>
          </a:prstGeom>
          <a:noFill/>
          <a:ln w="19050">
            <a:solidFill>
              <a:srgbClr val="4DA78F"/>
            </a:solidFill>
            <a:prstDash val="dash"/>
          </a:ln>
        </p:spPr>
      </p:sp>
      <p:sp>
        <p:nvSpPr>
          <p:cNvPr id="15" name="Shape 13"/>
          <p:cNvSpPr/>
          <p:nvPr/>
        </p:nvSpPr>
        <p:spPr>
          <a:xfrm>
            <a:off x="3108960" y="3474720"/>
            <a:ext cx="411480" cy="411480"/>
          </a:xfrm>
          <a:prstGeom prst="ellipse">
            <a:avLst/>
          </a:prstGeom>
          <a:solidFill>
            <a:srgbClr val="4DA78F"/>
          </a:solidFill>
          <a:ln/>
        </p:spPr>
      </p:sp>
      <p:sp>
        <p:nvSpPr>
          <p:cNvPr id="16" name="Text 14"/>
          <p:cNvSpPr/>
          <p:nvPr/>
        </p:nvSpPr>
        <p:spPr>
          <a:xfrm>
            <a:off x="3108960" y="3474720"/>
            <a:ext cx="411480" cy="411480"/>
          </a:xfrm>
          <a:prstGeom prst="rect">
            <a:avLst/>
          </a:prstGeom>
          <a:noFill/>
          <a:ln/>
        </p:spPr>
        <p:txBody>
          <a:bodyPr wrap="square" rtlCol="0" anchor="ctr"/>
          <a:lstStyle/>
          <a:p>
            <a:pPr algn="ctr" indent="0" marL="0">
              <a:buNone/>
            </a:pPr>
            <a:r>
              <a:rPr lang="en-US" sz="1400" b="1" dirty="0">
                <a:solidFill>
                  <a:srgbClr val="024731"/>
                </a:solidFill>
                <a:latin typeface="Open Sans" pitchFamily="34" charset="0"/>
                <a:ea typeface="Open Sans" pitchFamily="34" charset="-122"/>
                <a:cs typeface="Open Sans" pitchFamily="34" charset="-120"/>
              </a:rPr>
              <a:t>2</a:t>
            </a:r>
            <a:endParaRPr lang="en-US" sz="1400" dirty="0"/>
          </a:p>
        </p:txBody>
      </p:sp>
      <p:sp>
        <p:nvSpPr>
          <p:cNvPr id="17" name="Text 15"/>
          <p:cNvSpPr/>
          <p:nvPr/>
        </p:nvSpPr>
        <p:spPr>
          <a:xfrm>
            <a:off x="2926080" y="3931920"/>
            <a:ext cx="777240" cy="274320"/>
          </a:xfrm>
          <a:prstGeom prst="rect">
            <a:avLst/>
          </a:prstGeom>
          <a:noFill/>
          <a:ln/>
        </p:spPr>
        <p:txBody>
          <a:bodyPr wrap="square" rtlCol="0" anchor="ctr"/>
          <a:lstStyle/>
          <a:p>
            <a:pPr algn="ctr" indent="0" marL="0">
              <a:buNone/>
            </a:pPr>
            <a:r>
              <a:rPr lang="en-US" sz="900" dirty="0">
                <a:solidFill>
                  <a:srgbClr val="B8DDD1"/>
                </a:solidFill>
                <a:latin typeface="Open Sans" pitchFamily="34" charset="0"/>
                <a:ea typeface="Open Sans" pitchFamily="34" charset="-122"/>
                <a:cs typeface="Open Sans" pitchFamily="34" charset="-120"/>
              </a:rPr>
              <a:t>Memo</a:t>
            </a:r>
            <a:endParaRPr lang="en-US" sz="900" dirty="0"/>
          </a:p>
        </p:txBody>
      </p:sp>
      <p:sp>
        <p:nvSpPr>
          <p:cNvPr id="18" name="Shape 16"/>
          <p:cNvSpPr/>
          <p:nvPr/>
        </p:nvSpPr>
        <p:spPr>
          <a:xfrm>
            <a:off x="3566160" y="3680460"/>
            <a:ext cx="731520" cy="0"/>
          </a:xfrm>
          <a:prstGeom prst="line">
            <a:avLst/>
          </a:prstGeom>
          <a:noFill/>
          <a:ln w="19050">
            <a:solidFill>
              <a:srgbClr val="4DA78F"/>
            </a:solidFill>
            <a:prstDash val="dash"/>
          </a:ln>
        </p:spPr>
      </p:sp>
      <p:sp>
        <p:nvSpPr>
          <p:cNvPr id="19" name="Shape 17"/>
          <p:cNvSpPr/>
          <p:nvPr/>
        </p:nvSpPr>
        <p:spPr>
          <a:xfrm>
            <a:off x="4343400" y="3474720"/>
            <a:ext cx="411480" cy="411480"/>
          </a:xfrm>
          <a:prstGeom prst="ellipse">
            <a:avLst/>
          </a:prstGeom>
          <a:solidFill>
            <a:srgbClr val="4DA78F"/>
          </a:solidFill>
          <a:ln/>
        </p:spPr>
      </p:sp>
      <p:sp>
        <p:nvSpPr>
          <p:cNvPr id="20" name="Text 18"/>
          <p:cNvSpPr/>
          <p:nvPr/>
        </p:nvSpPr>
        <p:spPr>
          <a:xfrm>
            <a:off x="4343400" y="3474720"/>
            <a:ext cx="411480" cy="411480"/>
          </a:xfrm>
          <a:prstGeom prst="rect">
            <a:avLst/>
          </a:prstGeom>
          <a:noFill/>
          <a:ln/>
        </p:spPr>
        <p:txBody>
          <a:bodyPr wrap="square" rtlCol="0" anchor="ctr"/>
          <a:lstStyle/>
          <a:p>
            <a:pPr algn="ctr" indent="0" marL="0">
              <a:buNone/>
            </a:pPr>
            <a:r>
              <a:rPr lang="en-US" sz="1400" b="1" dirty="0">
                <a:solidFill>
                  <a:srgbClr val="024731"/>
                </a:solidFill>
                <a:latin typeface="Open Sans" pitchFamily="34" charset="0"/>
                <a:ea typeface="Open Sans" pitchFamily="34" charset="-122"/>
                <a:cs typeface="Open Sans" pitchFamily="34" charset="-120"/>
              </a:rPr>
              <a:t>3</a:t>
            </a:r>
            <a:endParaRPr lang="en-US" sz="1400" dirty="0"/>
          </a:p>
        </p:txBody>
      </p:sp>
      <p:sp>
        <p:nvSpPr>
          <p:cNvPr id="21" name="Text 19"/>
          <p:cNvSpPr/>
          <p:nvPr/>
        </p:nvSpPr>
        <p:spPr>
          <a:xfrm>
            <a:off x="4160520" y="3931920"/>
            <a:ext cx="777240" cy="274320"/>
          </a:xfrm>
          <a:prstGeom prst="rect">
            <a:avLst/>
          </a:prstGeom>
          <a:noFill/>
          <a:ln/>
        </p:spPr>
        <p:txBody>
          <a:bodyPr wrap="square" rtlCol="0" anchor="ctr"/>
          <a:lstStyle/>
          <a:p>
            <a:pPr algn="ctr" indent="0" marL="0">
              <a:buNone/>
            </a:pPr>
            <a:r>
              <a:rPr lang="en-US" sz="900" dirty="0">
                <a:solidFill>
                  <a:srgbClr val="B8DDD1"/>
                </a:solidFill>
                <a:latin typeface="Open Sans" pitchFamily="34" charset="0"/>
                <a:ea typeface="Open Sans" pitchFamily="34" charset="-122"/>
                <a:cs typeface="Open Sans" pitchFamily="34" charset="-120"/>
              </a:rPr>
              <a:t>Model</a:t>
            </a:r>
            <a:endParaRPr lang="en-US" sz="900" dirty="0"/>
          </a:p>
        </p:txBody>
      </p:sp>
      <p:sp>
        <p:nvSpPr>
          <p:cNvPr id="22" name="Shape 20"/>
          <p:cNvSpPr/>
          <p:nvPr/>
        </p:nvSpPr>
        <p:spPr>
          <a:xfrm>
            <a:off x="4800600" y="3680460"/>
            <a:ext cx="731520" cy="0"/>
          </a:xfrm>
          <a:prstGeom prst="line">
            <a:avLst/>
          </a:prstGeom>
          <a:noFill/>
          <a:ln w="19050">
            <a:solidFill>
              <a:srgbClr val="4DA78F"/>
            </a:solidFill>
            <a:prstDash val="dash"/>
          </a:ln>
        </p:spPr>
      </p:sp>
      <p:sp>
        <p:nvSpPr>
          <p:cNvPr id="23" name="Shape 21"/>
          <p:cNvSpPr/>
          <p:nvPr/>
        </p:nvSpPr>
        <p:spPr>
          <a:xfrm>
            <a:off x="5577840" y="3474720"/>
            <a:ext cx="411480" cy="411480"/>
          </a:xfrm>
          <a:prstGeom prst="ellipse">
            <a:avLst/>
          </a:prstGeom>
          <a:solidFill>
            <a:srgbClr val="C9A84C"/>
          </a:solidFill>
          <a:ln/>
        </p:spPr>
      </p:sp>
      <p:sp>
        <p:nvSpPr>
          <p:cNvPr id="24" name="Text 22"/>
          <p:cNvSpPr/>
          <p:nvPr/>
        </p:nvSpPr>
        <p:spPr>
          <a:xfrm>
            <a:off x="5577840" y="3474720"/>
            <a:ext cx="411480" cy="411480"/>
          </a:xfrm>
          <a:prstGeom prst="rect">
            <a:avLst/>
          </a:prstGeom>
          <a:noFill/>
          <a:ln/>
        </p:spPr>
        <p:txBody>
          <a:bodyPr wrap="square" rtlCol="0" anchor="ctr"/>
          <a:lstStyle/>
          <a:p>
            <a:pPr algn="ctr" indent="0" marL="0">
              <a:buNone/>
            </a:pPr>
            <a:r>
              <a:rPr lang="en-US" sz="1400" b="1" dirty="0">
                <a:solidFill>
                  <a:srgbClr val="024731"/>
                </a:solidFill>
                <a:latin typeface="Open Sans" pitchFamily="34" charset="0"/>
                <a:ea typeface="Open Sans" pitchFamily="34" charset="-122"/>
                <a:cs typeface="Open Sans" pitchFamily="34" charset="-120"/>
              </a:rPr>
              <a:t>4</a:t>
            </a:r>
            <a:endParaRPr lang="en-US" sz="1400" dirty="0"/>
          </a:p>
        </p:txBody>
      </p:sp>
      <p:sp>
        <p:nvSpPr>
          <p:cNvPr id="25" name="Text 23"/>
          <p:cNvSpPr/>
          <p:nvPr/>
        </p:nvSpPr>
        <p:spPr>
          <a:xfrm>
            <a:off x="5394960" y="3931920"/>
            <a:ext cx="777240" cy="274320"/>
          </a:xfrm>
          <a:prstGeom prst="rect">
            <a:avLst/>
          </a:prstGeom>
          <a:noFill/>
          <a:ln/>
        </p:spPr>
        <p:txBody>
          <a:bodyPr wrap="square" rtlCol="0" anchor="ctr"/>
          <a:lstStyle/>
          <a:p>
            <a:pPr algn="ctr" indent="0" marL="0">
              <a:buNone/>
            </a:pPr>
            <a:r>
              <a:rPr lang="en-US" sz="900" dirty="0">
                <a:solidFill>
                  <a:srgbClr val="B8DDD1"/>
                </a:solidFill>
                <a:latin typeface="Open Sans" pitchFamily="34" charset="0"/>
                <a:ea typeface="Open Sans" pitchFamily="34" charset="-122"/>
                <a:cs typeface="Open Sans" pitchFamily="34" charset="-120"/>
              </a:rPr>
              <a:t>Spec</a:t>
            </a:r>
            <a:endParaRPr lang="en-US" sz="900" dirty="0"/>
          </a:p>
        </p:txBody>
      </p:sp>
      <p:sp>
        <p:nvSpPr>
          <p:cNvPr id="26" name="Shape 24"/>
          <p:cNvSpPr/>
          <p:nvPr/>
        </p:nvSpPr>
        <p:spPr>
          <a:xfrm>
            <a:off x="6035040" y="3680460"/>
            <a:ext cx="731520" cy="0"/>
          </a:xfrm>
          <a:prstGeom prst="line">
            <a:avLst/>
          </a:prstGeom>
          <a:noFill/>
          <a:ln w="19050">
            <a:solidFill>
              <a:srgbClr val="4DA78F"/>
            </a:solidFill>
            <a:prstDash val="dash"/>
          </a:ln>
        </p:spPr>
      </p:sp>
      <p:sp>
        <p:nvSpPr>
          <p:cNvPr id="27" name="Shape 25"/>
          <p:cNvSpPr/>
          <p:nvPr/>
        </p:nvSpPr>
        <p:spPr>
          <a:xfrm>
            <a:off x="6812280" y="3474720"/>
            <a:ext cx="411480" cy="411480"/>
          </a:xfrm>
          <a:prstGeom prst="ellipse">
            <a:avLst/>
          </a:prstGeom>
          <a:solidFill>
            <a:srgbClr val="4DA78F"/>
          </a:solidFill>
          <a:ln/>
        </p:spPr>
      </p:sp>
      <p:sp>
        <p:nvSpPr>
          <p:cNvPr id="28" name="Text 26"/>
          <p:cNvSpPr/>
          <p:nvPr/>
        </p:nvSpPr>
        <p:spPr>
          <a:xfrm>
            <a:off x="6812280" y="3474720"/>
            <a:ext cx="411480" cy="411480"/>
          </a:xfrm>
          <a:prstGeom prst="rect">
            <a:avLst/>
          </a:prstGeom>
          <a:noFill/>
          <a:ln/>
        </p:spPr>
        <p:txBody>
          <a:bodyPr wrap="square" rtlCol="0" anchor="ctr"/>
          <a:lstStyle/>
          <a:p>
            <a:pPr algn="ctr" indent="0" marL="0">
              <a:buNone/>
            </a:pPr>
            <a:r>
              <a:rPr lang="en-US" sz="1400" b="1" dirty="0">
                <a:solidFill>
                  <a:srgbClr val="024731"/>
                </a:solidFill>
                <a:latin typeface="Open Sans" pitchFamily="34" charset="0"/>
                <a:ea typeface="Open Sans" pitchFamily="34" charset="-122"/>
                <a:cs typeface="Open Sans" pitchFamily="34" charset="-120"/>
              </a:rPr>
              <a:t>5</a:t>
            </a:r>
            <a:endParaRPr lang="en-US" sz="1400" dirty="0"/>
          </a:p>
        </p:txBody>
      </p:sp>
      <p:sp>
        <p:nvSpPr>
          <p:cNvPr id="29" name="Text 27"/>
          <p:cNvSpPr/>
          <p:nvPr/>
        </p:nvSpPr>
        <p:spPr>
          <a:xfrm>
            <a:off x="6629400" y="3931920"/>
            <a:ext cx="777240" cy="274320"/>
          </a:xfrm>
          <a:prstGeom prst="rect">
            <a:avLst/>
          </a:prstGeom>
          <a:noFill/>
          <a:ln/>
        </p:spPr>
        <p:txBody>
          <a:bodyPr wrap="square" rtlCol="0" anchor="ctr"/>
          <a:lstStyle/>
          <a:p>
            <a:pPr algn="ctr" indent="0" marL="0">
              <a:buNone/>
            </a:pPr>
            <a:r>
              <a:rPr lang="en-US" sz="900" dirty="0">
                <a:solidFill>
                  <a:srgbClr val="B8DDD1"/>
                </a:solidFill>
                <a:latin typeface="Open Sans" pitchFamily="34" charset="0"/>
                <a:ea typeface="Open Sans" pitchFamily="34" charset="-122"/>
                <a:cs typeface="Open Sans" pitchFamily="34" charset="-120"/>
              </a:rPr>
              <a:t>Evaluate</a:t>
            </a:r>
            <a:endParaRPr lang="en-US" sz="900" dirty="0"/>
          </a:p>
        </p:txBody>
      </p:sp>
      <p:sp>
        <p:nvSpPr>
          <p:cNvPr id="30" name="Text 28"/>
          <p:cNvSpPr/>
          <p:nvPr/>
        </p:nvSpPr>
        <p:spPr>
          <a:xfrm>
            <a:off x="640080" y="4663440"/>
            <a:ext cx="7772400" cy="274320"/>
          </a:xfrm>
          <a:prstGeom prst="rect">
            <a:avLst/>
          </a:prstGeom>
          <a:noFill/>
          <a:ln/>
        </p:spPr>
        <p:txBody>
          <a:bodyPr wrap="square" rtlCol="0" anchor="ctr"/>
          <a:lstStyle/>
          <a:p>
            <a:pPr indent="0" marL="0">
              <a:buNone/>
            </a:pPr>
            <a:r>
              <a:rPr lang="en-US" sz="1000" dirty="0">
                <a:solidFill>
                  <a:srgbClr val="B8DDD1"/>
                </a:solidFill>
                <a:latin typeface="Open Sans" pitchFamily="34" charset="0"/>
                <a:ea typeface="Open Sans" pitchFamily="34" charset="-122"/>
                <a:cs typeface="Open Sans" pitchFamily="34" charset="-120"/>
              </a:rPr>
              <a:t>Adam W. Stauffer  |  Shidler College of Business  |  University of Hawaiʻi at Mānoa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20040"/>
            <a:ext cx="8229600" cy="594360"/>
          </a:xfrm>
          <a:prstGeom prst="rect">
            <a:avLst/>
          </a:prstGeom>
          <a:noFill/>
          <a:ln/>
        </p:spPr>
        <p:txBody>
          <a:bodyPr wrap="square" lIns="0" tIns="0" rIns="0" bIns="0" rtlCol="0" anchor="ctr"/>
          <a:lstStyle/>
          <a:p>
            <a:pPr indent="0" marL="0">
              <a:buNone/>
            </a:pPr>
            <a:r>
              <a:rPr lang="en-US" sz="3000" b="1" dirty="0">
                <a:solidFill>
                  <a:srgbClr val="024731"/>
                </a:solidFill>
                <a:latin typeface="Open Sans" pitchFamily="34" charset="0"/>
                <a:ea typeface="Open Sans" pitchFamily="34" charset="-122"/>
                <a:cs typeface="Open Sans" pitchFamily="34" charset="-120"/>
              </a:rPr>
              <a:t>Why This Project Matters</a:t>
            </a:r>
            <a:endParaRPr lang="en-US" sz="3000" dirty="0"/>
          </a:p>
        </p:txBody>
      </p:sp>
      <p:sp>
        <p:nvSpPr>
          <p:cNvPr id="3" name="Text 1"/>
          <p:cNvSpPr/>
          <p:nvPr/>
        </p:nvSpPr>
        <p:spPr>
          <a:xfrm>
            <a:off x="548640" y="960120"/>
            <a:ext cx="8046720" cy="548640"/>
          </a:xfrm>
          <a:prstGeom prst="rect">
            <a:avLst/>
          </a:prstGeom>
          <a:noFill/>
          <a:ln/>
        </p:spPr>
        <p:txBody>
          <a:bodyPr wrap="square" rtlCol="0" anchor="ctr"/>
          <a:lstStyle/>
          <a:p>
            <a:pPr indent="0" marL="0">
              <a:buNone/>
            </a:pPr>
            <a:r>
              <a:rPr lang="en-US" sz="1200" dirty="0">
                <a:solidFill>
                  <a:srgbClr val="6B7280"/>
                </a:solidFill>
                <a:latin typeface="Open Sans" pitchFamily="34" charset="0"/>
                <a:ea typeface="Open Sans" pitchFamily="34" charset="-122"/>
                <a:cs typeface="Open Sans" pitchFamily="34" charset="-120"/>
              </a:rPr>
              <a:t>This project teaches you to specify analytical work precisely enough that any competent executor — human or AI — can produce correct output. That is a more valuable skill than doing the analysis yourself.</a:t>
            </a:r>
            <a:endParaRPr lang="en-US" sz="1200" dirty="0"/>
          </a:p>
        </p:txBody>
      </p:sp>
      <p:sp>
        <p:nvSpPr>
          <p:cNvPr id="4" name="Shape 2"/>
          <p:cNvSpPr/>
          <p:nvPr/>
        </p:nvSpPr>
        <p:spPr>
          <a:xfrm>
            <a:off x="548640" y="1737360"/>
            <a:ext cx="3931920" cy="128016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5" name="Shape 3"/>
          <p:cNvSpPr/>
          <p:nvPr/>
        </p:nvSpPr>
        <p:spPr>
          <a:xfrm>
            <a:off x="548640" y="1737360"/>
            <a:ext cx="54864" cy="1280160"/>
          </a:xfrm>
          <a:prstGeom prst="rect">
            <a:avLst/>
          </a:prstGeom>
          <a:solidFill>
            <a:srgbClr val="024731"/>
          </a:solidFill>
          <a:ln/>
        </p:spPr>
      </p:sp>
      <p:sp>
        <p:nvSpPr>
          <p:cNvPr id="6" name="Shape 4"/>
          <p:cNvSpPr/>
          <p:nvPr/>
        </p:nvSpPr>
        <p:spPr>
          <a:xfrm>
            <a:off x="777240" y="1965960"/>
            <a:ext cx="457200" cy="457200"/>
          </a:xfrm>
          <a:prstGeom prst="ellipse">
            <a:avLst/>
          </a:prstGeom>
          <a:solidFill>
            <a:srgbClr val="E6F2EF"/>
          </a:solidFill>
          <a:ln/>
        </p:spPr>
      </p:sp>
      <p:pic>
        <p:nvPicPr>
          <p:cNvPr id="7" name="Image 0" descr="preencoded.png"/>
          <p:cNvPicPr>
            <a:picLocks noChangeAspect="1"/>
          </p:cNvPicPr>
          <p:nvPr/>
        </p:nvPicPr>
        <p:blipFill>
          <a:blip r:embed="rId1"/>
          <a:stretch>
            <a:fillRect/>
          </a:stretch>
        </p:blipFill>
        <p:spPr>
          <a:xfrm>
            <a:off x="877824" y="2066544"/>
            <a:ext cx="256032" cy="256032"/>
          </a:xfrm>
          <a:prstGeom prst="rect">
            <a:avLst/>
          </a:prstGeom>
        </p:spPr>
      </p:pic>
      <p:sp>
        <p:nvSpPr>
          <p:cNvPr id="8" name="Text 5"/>
          <p:cNvSpPr/>
          <p:nvPr/>
        </p:nvSpPr>
        <p:spPr>
          <a:xfrm>
            <a:off x="1371600" y="1920240"/>
            <a:ext cx="2926080" cy="320040"/>
          </a:xfrm>
          <a:prstGeom prst="rect">
            <a:avLst/>
          </a:prstGeom>
          <a:noFill/>
          <a:ln/>
        </p:spPr>
        <p:txBody>
          <a:bodyPr wrap="square" lIns="0" tIns="0" rIns="0" bIns="0" rtlCol="0" anchor="ctr"/>
          <a:lstStyle/>
          <a:p>
            <a:pPr indent="0" marL="0">
              <a:buNone/>
            </a:pPr>
            <a:r>
              <a:rPr lang="en-US" sz="1400" b="1" dirty="0">
                <a:solidFill>
                  <a:srgbClr val="024731"/>
                </a:solidFill>
                <a:latin typeface="Open Sans" pitchFamily="34" charset="0"/>
                <a:ea typeface="Open Sans" pitchFamily="34" charset="-122"/>
                <a:cs typeface="Open Sans" pitchFamily="34" charset="-120"/>
              </a:rPr>
              <a:t>Spec-Driven Design</a:t>
            </a:r>
            <a:endParaRPr lang="en-US" sz="1400" dirty="0"/>
          </a:p>
        </p:txBody>
      </p:sp>
      <p:sp>
        <p:nvSpPr>
          <p:cNvPr id="9" name="Text 6"/>
          <p:cNvSpPr/>
          <p:nvPr/>
        </p:nvSpPr>
        <p:spPr>
          <a:xfrm>
            <a:off x="1371600" y="2240280"/>
            <a:ext cx="2926080" cy="64008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Write specifications precise enough to delegate. The spec is the central artifact — not the spreadsheet, not the prompt.</a:t>
            </a:r>
            <a:endParaRPr lang="en-US" sz="1000" dirty="0"/>
          </a:p>
        </p:txBody>
      </p:sp>
      <p:sp>
        <p:nvSpPr>
          <p:cNvPr id="10" name="Shape 7"/>
          <p:cNvSpPr/>
          <p:nvPr/>
        </p:nvSpPr>
        <p:spPr>
          <a:xfrm>
            <a:off x="4754880" y="1737360"/>
            <a:ext cx="3931920" cy="128016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11" name="Shape 8"/>
          <p:cNvSpPr/>
          <p:nvPr/>
        </p:nvSpPr>
        <p:spPr>
          <a:xfrm>
            <a:off x="4754880" y="1737360"/>
            <a:ext cx="54864" cy="1280160"/>
          </a:xfrm>
          <a:prstGeom prst="rect">
            <a:avLst/>
          </a:prstGeom>
          <a:solidFill>
            <a:srgbClr val="024731"/>
          </a:solidFill>
          <a:ln/>
        </p:spPr>
      </p:sp>
      <p:sp>
        <p:nvSpPr>
          <p:cNvPr id="12" name="Shape 9"/>
          <p:cNvSpPr/>
          <p:nvPr/>
        </p:nvSpPr>
        <p:spPr>
          <a:xfrm>
            <a:off x="4983480" y="1965960"/>
            <a:ext cx="457200" cy="457200"/>
          </a:xfrm>
          <a:prstGeom prst="ellipse">
            <a:avLst/>
          </a:prstGeom>
          <a:solidFill>
            <a:srgbClr val="E6F2EF"/>
          </a:solidFill>
          <a:ln/>
        </p:spPr>
      </p:sp>
      <p:pic>
        <p:nvPicPr>
          <p:cNvPr id="13" name="Image 1" descr="preencoded.png"/>
          <p:cNvPicPr>
            <a:picLocks noChangeAspect="1"/>
          </p:cNvPicPr>
          <p:nvPr/>
        </p:nvPicPr>
        <p:blipFill>
          <a:blip r:embed="rId2"/>
          <a:stretch>
            <a:fillRect/>
          </a:stretch>
        </p:blipFill>
        <p:spPr>
          <a:xfrm>
            <a:off x="5084064" y="2066544"/>
            <a:ext cx="256032" cy="256032"/>
          </a:xfrm>
          <a:prstGeom prst="rect">
            <a:avLst/>
          </a:prstGeom>
        </p:spPr>
      </p:pic>
      <p:sp>
        <p:nvSpPr>
          <p:cNvPr id="14" name="Text 10"/>
          <p:cNvSpPr/>
          <p:nvPr/>
        </p:nvSpPr>
        <p:spPr>
          <a:xfrm>
            <a:off x="5577840" y="1920240"/>
            <a:ext cx="2926080" cy="320040"/>
          </a:xfrm>
          <a:prstGeom prst="rect">
            <a:avLst/>
          </a:prstGeom>
          <a:noFill/>
          <a:ln/>
        </p:spPr>
        <p:txBody>
          <a:bodyPr wrap="square" lIns="0" tIns="0" rIns="0" bIns="0" rtlCol="0" anchor="ctr"/>
          <a:lstStyle/>
          <a:p>
            <a:pPr indent="0" marL="0">
              <a:buNone/>
            </a:pPr>
            <a:r>
              <a:rPr lang="en-US" sz="1400" b="1" dirty="0">
                <a:solidFill>
                  <a:srgbClr val="024731"/>
                </a:solidFill>
                <a:latin typeface="Open Sans" pitchFamily="34" charset="0"/>
                <a:ea typeface="Open Sans" pitchFamily="34" charset="-122"/>
                <a:cs typeface="Open Sans" pitchFamily="34" charset="-120"/>
              </a:rPr>
              <a:t>Real-World Skills</a:t>
            </a:r>
            <a:endParaRPr lang="en-US" sz="1400" dirty="0"/>
          </a:p>
        </p:txBody>
      </p:sp>
      <p:sp>
        <p:nvSpPr>
          <p:cNvPr id="15" name="Text 11"/>
          <p:cNvSpPr/>
          <p:nvPr/>
        </p:nvSpPr>
        <p:spPr>
          <a:xfrm>
            <a:off x="5577840" y="2240280"/>
            <a:ext cx="2926080" cy="64008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Build financial models, validate data, interpret ratios. The same workflow used by FP&amp;A analysts, equity researchers, and auditors.</a:t>
            </a:r>
            <a:endParaRPr lang="en-US" sz="1000" dirty="0"/>
          </a:p>
        </p:txBody>
      </p:sp>
      <p:sp>
        <p:nvSpPr>
          <p:cNvPr id="16" name="Shape 12"/>
          <p:cNvSpPr/>
          <p:nvPr/>
        </p:nvSpPr>
        <p:spPr>
          <a:xfrm>
            <a:off x="548640" y="3200400"/>
            <a:ext cx="3931920" cy="128016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17" name="Shape 13"/>
          <p:cNvSpPr/>
          <p:nvPr/>
        </p:nvSpPr>
        <p:spPr>
          <a:xfrm>
            <a:off x="548640" y="3200400"/>
            <a:ext cx="54864" cy="1280160"/>
          </a:xfrm>
          <a:prstGeom prst="rect">
            <a:avLst/>
          </a:prstGeom>
          <a:solidFill>
            <a:srgbClr val="024731"/>
          </a:solidFill>
          <a:ln/>
        </p:spPr>
      </p:sp>
      <p:sp>
        <p:nvSpPr>
          <p:cNvPr id="18" name="Shape 14"/>
          <p:cNvSpPr/>
          <p:nvPr/>
        </p:nvSpPr>
        <p:spPr>
          <a:xfrm>
            <a:off x="777240" y="3429000"/>
            <a:ext cx="457200" cy="457200"/>
          </a:xfrm>
          <a:prstGeom prst="ellipse">
            <a:avLst/>
          </a:prstGeom>
          <a:solidFill>
            <a:srgbClr val="E6F2EF"/>
          </a:solidFill>
          <a:ln/>
        </p:spPr>
      </p:sp>
      <p:pic>
        <p:nvPicPr>
          <p:cNvPr id="19" name="Image 2" descr="preencoded.png"/>
          <p:cNvPicPr>
            <a:picLocks noChangeAspect="1"/>
          </p:cNvPicPr>
          <p:nvPr/>
        </p:nvPicPr>
        <p:blipFill>
          <a:blip r:embed="rId3"/>
          <a:stretch>
            <a:fillRect/>
          </a:stretch>
        </p:blipFill>
        <p:spPr>
          <a:xfrm>
            <a:off x="877824" y="3529584"/>
            <a:ext cx="256032" cy="256032"/>
          </a:xfrm>
          <a:prstGeom prst="rect">
            <a:avLst/>
          </a:prstGeom>
        </p:spPr>
      </p:pic>
      <p:sp>
        <p:nvSpPr>
          <p:cNvPr id="20" name="Text 15"/>
          <p:cNvSpPr/>
          <p:nvPr/>
        </p:nvSpPr>
        <p:spPr>
          <a:xfrm>
            <a:off x="1371600" y="3383280"/>
            <a:ext cx="2926080" cy="320040"/>
          </a:xfrm>
          <a:prstGeom prst="rect">
            <a:avLst/>
          </a:prstGeom>
          <a:noFill/>
          <a:ln/>
        </p:spPr>
        <p:txBody>
          <a:bodyPr wrap="square" lIns="0" tIns="0" rIns="0" bIns="0" rtlCol="0" anchor="ctr"/>
          <a:lstStyle/>
          <a:p>
            <a:pPr indent="0" marL="0">
              <a:buNone/>
            </a:pPr>
            <a:r>
              <a:rPr lang="en-US" sz="1400" b="1" dirty="0">
                <a:solidFill>
                  <a:srgbClr val="024731"/>
                </a:solidFill>
                <a:latin typeface="Open Sans" pitchFamily="34" charset="0"/>
                <a:ea typeface="Open Sans" pitchFamily="34" charset="-122"/>
                <a:cs typeface="Open Sans" pitchFamily="34" charset="-120"/>
              </a:rPr>
              <a:t>Critical AI Literacy</a:t>
            </a:r>
            <a:endParaRPr lang="en-US" sz="1400" dirty="0"/>
          </a:p>
        </p:txBody>
      </p:sp>
      <p:sp>
        <p:nvSpPr>
          <p:cNvPr id="21" name="Text 16"/>
          <p:cNvSpPr/>
          <p:nvPr/>
        </p:nvSpPr>
        <p:spPr>
          <a:xfrm>
            <a:off x="1371600" y="3703320"/>
            <a:ext cx="2926080" cy="64008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Don’t just use AI — evaluate its output. Identify what it gets right, what it misses, and what only a human expert catches.</a:t>
            </a:r>
            <a:endParaRPr lang="en-US" sz="1000" dirty="0"/>
          </a:p>
        </p:txBody>
      </p:sp>
      <p:sp>
        <p:nvSpPr>
          <p:cNvPr id="22" name="Shape 17"/>
          <p:cNvSpPr/>
          <p:nvPr/>
        </p:nvSpPr>
        <p:spPr>
          <a:xfrm>
            <a:off x="4754880" y="3200400"/>
            <a:ext cx="3931920" cy="128016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23" name="Shape 18"/>
          <p:cNvSpPr/>
          <p:nvPr/>
        </p:nvSpPr>
        <p:spPr>
          <a:xfrm>
            <a:off x="4754880" y="3200400"/>
            <a:ext cx="54864" cy="1280160"/>
          </a:xfrm>
          <a:prstGeom prst="rect">
            <a:avLst/>
          </a:prstGeom>
          <a:solidFill>
            <a:srgbClr val="024731"/>
          </a:solidFill>
          <a:ln/>
        </p:spPr>
      </p:sp>
      <p:sp>
        <p:nvSpPr>
          <p:cNvPr id="24" name="Shape 19"/>
          <p:cNvSpPr/>
          <p:nvPr/>
        </p:nvSpPr>
        <p:spPr>
          <a:xfrm>
            <a:off x="4983480" y="3429000"/>
            <a:ext cx="457200" cy="457200"/>
          </a:xfrm>
          <a:prstGeom prst="ellipse">
            <a:avLst/>
          </a:prstGeom>
          <a:solidFill>
            <a:srgbClr val="E6F2EF"/>
          </a:solidFill>
          <a:ln/>
        </p:spPr>
      </p:sp>
      <p:pic>
        <p:nvPicPr>
          <p:cNvPr id="25" name="Image 3" descr="preencoded.png"/>
          <p:cNvPicPr>
            <a:picLocks noChangeAspect="1"/>
          </p:cNvPicPr>
          <p:nvPr/>
        </p:nvPicPr>
        <p:blipFill>
          <a:blip r:embed="rId4"/>
          <a:stretch>
            <a:fillRect/>
          </a:stretch>
        </p:blipFill>
        <p:spPr>
          <a:xfrm>
            <a:off x="5084064" y="3529584"/>
            <a:ext cx="256032" cy="256032"/>
          </a:xfrm>
          <a:prstGeom prst="rect">
            <a:avLst/>
          </a:prstGeom>
        </p:spPr>
      </p:pic>
      <p:sp>
        <p:nvSpPr>
          <p:cNvPr id="26" name="Text 20"/>
          <p:cNvSpPr/>
          <p:nvPr/>
        </p:nvSpPr>
        <p:spPr>
          <a:xfrm>
            <a:off x="5577840" y="3383280"/>
            <a:ext cx="2926080" cy="320040"/>
          </a:xfrm>
          <a:prstGeom prst="rect">
            <a:avLst/>
          </a:prstGeom>
          <a:noFill/>
          <a:ln/>
        </p:spPr>
        <p:txBody>
          <a:bodyPr wrap="square" lIns="0" tIns="0" rIns="0" bIns="0" rtlCol="0" anchor="ctr"/>
          <a:lstStyle/>
          <a:p>
            <a:pPr indent="0" marL="0">
              <a:buNone/>
            </a:pPr>
            <a:r>
              <a:rPr lang="en-US" sz="1400" b="1" dirty="0">
                <a:solidFill>
                  <a:srgbClr val="024731"/>
                </a:solidFill>
                <a:latin typeface="Open Sans" pitchFamily="34" charset="0"/>
                <a:ea typeface="Open Sans" pitchFamily="34" charset="-122"/>
                <a:cs typeface="Open Sans" pitchFamily="34" charset="-120"/>
              </a:rPr>
              <a:t>Portfolio Artifact</a:t>
            </a:r>
            <a:endParaRPr lang="en-US" sz="1400" dirty="0"/>
          </a:p>
        </p:txBody>
      </p:sp>
      <p:sp>
        <p:nvSpPr>
          <p:cNvPr id="27" name="Text 21"/>
          <p:cNvSpPr/>
          <p:nvPr/>
        </p:nvSpPr>
        <p:spPr>
          <a:xfrm>
            <a:off x="5577840" y="3703320"/>
            <a:ext cx="2926080" cy="64008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A six-stage deliverable for interviews: repo setup, model, memo, spec, LLM analysis, and executive evaluation.</a:t>
            </a:r>
            <a:endParaRPr lang="en-US" sz="1000" dirty="0"/>
          </a:p>
        </p:txBody>
      </p:sp>
      <p:sp>
        <p:nvSpPr>
          <p:cNvPr id="28" name="Text 22"/>
          <p:cNvSpPr/>
          <p:nvPr/>
        </p:nvSpPr>
        <p:spPr>
          <a:xfrm>
            <a:off x="548640" y="4617720"/>
            <a:ext cx="8046720" cy="365760"/>
          </a:xfrm>
          <a:prstGeom prst="rect">
            <a:avLst/>
          </a:prstGeom>
          <a:noFill/>
          <a:ln/>
        </p:spPr>
        <p:txBody>
          <a:bodyPr wrap="square" rtlCol="0" anchor="ctr"/>
          <a:lstStyle/>
          <a:p>
            <a:pPr indent="0" marL="0">
              <a:buNone/>
            </a:pPr>
            <a:r>
              <a:rPr lang="en-US" sz="1000" i="1" dirty="0">
                <a:solidFill>
                  <a:srgbClr val="6B7280"/>
                </a:solidFill>
                <a:latin typeface="Open Sans" pitchFamily="34" charset="0"/>
                <a:ea typeface="Open Sans" pitchFamily="34" charset="-122"/>
                <a:cs typeface="Open Sans" pitchFamily="34" charset="-120"/>
              </a:rPr>
              <a:t>“Incomplete understanding is normal. Playing with AI tools is more than half the battle. We’re all figuring this out together.”</a:t>
            </a:r>
            <a:pPr indent="0" marL="0">
              <a:buNone/>
            </a:pPr>
            <a:r>
              <a:rPr lang="en-US" sz="1000" b="1" dirty="0">
                <a:solidFill>
                  <a:srgbClr val="6B7280"/>
                </a:solidFill>
                <a:latin typeface="Open Sans" pitchFamily="34" charset="0"/>
                <a:ea typeface="Open Sans" pitchFamily="34" charset="-122"/>
                <a:cs typeface="Open Sans" pitchFamily="34" charset="-120"/>
              </a:rPr>
              <a:t xml:space="preserve">  — Instructor</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indent="0" marL="0">
              <a:buNone/>
            </a:pPr>
            <a:r>
              <a:rPr lang="en-US" sz="2800" b="1" dirty="0">
                <a:solidFill>
                  <a:srgbClr val="024731"/>
                </a:solidFill>
                <a:latin typeface="Open Sans" pitchFamily="34" charset="0"/>
                <a:ea typeface="Open Sans" pitchFamily="34" charset="-122"/>
                <a:cs typeface="Open Sans" pitchFamily="34" charset="-120"/>
              </a:rPr>
              <a:t>Project Overview — Six Stages</a:t>
            </a:r>
            <a:endParaRPr lang="en-US" sz="2800" dirty="0"/>
          </a:p>
        </p:txBody>
      </p:sp>
      <p:sp>
        <p:nvSpPr>
          <p:cNvPr id="3" name="Text 1"/>
          <p:cNvSpPr/>
          <p:nvPr/>
        </p:nvSpPr>
        <p:spPr>
          <a:xfrm>
            <a:off x="548640" y="777240"/>
            <a:ext cx="8229600" cy="274320"/>
          </a:xfrm>
          <a:prstGeom prst="rect">
            <a:avLst/>
          </a:prstGeom>
          <a:noFill/>
          <a:ln/>
        </p:spPr>
        <p:txBody>
          <a:bodyPr wrap="square" rtlCol="0" anchor="ctr"/>
          <a:lstStyle/>
          <a:p>
            <a:pPr indent="0" marL="0">
              <a:buNone/>
            </a:pPr>
            <a:r>
              <a:rPr lang="en-US" sz="1100" b="1" spc="200" kern="0" dirty="0">
                <a:solidFill>
                  <a:srgbClr val="4DA78F"/>
                </a:solidFill>
                <a:latin typeface="Open Sans" pitchFamily="34" charset="0"/>
                <a:ea typeface="Open Sans" pitchFamily="34" charset="-122"/>
                <a:cs typeface="Open Sans" pitchFamily="34" charset="-120"/>
              </a:rPr>
              <a:t>SETUP  →  TEMPLATE  →  FRAME  →  POPULATE  →  SPECIFY  →  EVALUATE</a:t>
            </a:r>
            <a:endParaRPr lang="en-US" sz="1100" dirty="0"/>
          </a:p>
        </p:txBody>
      </p:sp>
      <p:sp>
        <p:nvSpPr>
          <p:cNvPr id="4" name="Shape 2"/>
          <p:cNvSpPr/>
          <p:nvPr/>
        </p:nvSpPr>
        <p:spPr>
          <a:xfrm>
            <a:off x="548640" y="1234440"/>
            <a:ext cx="2606040" cy="169164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5" name="Shape 3"/>
          <p:cNvSpPr/>
          <p:nvPr/>
        </p:nvSpPr>
        <p:spPr>
          <a:xfrm>
            <a:off x="685800" y="1371600"/>
            <a:ext cx="384048" cy="384048"/>
          </a:xfrm>
          <a:prstGeom prst="ellipse">
            <a:avLst/>
          </a:prstGeom>
          <a:solidFill>
            <a:srgbClr val="024731"/>
          </a:solidFill>
          <a:ln/>
        </p:spPr>
      </p:sp>
      <p:sp>
        <p:nvSpPr>
          <p:cNvPr id="6" name="Text 4"/>
          <p:cNvSpPr/>
          <p:nvPr/>
        </p:nvSpPr>
        <p:spPr>
          <a:xfrm>
            <a:off x="685800" y="1371600"/>
            <a:ext cx="384048" cy="384048"/>
          </a:xfrm>
          <a:prstGeom prst="rect">
            <a:avLst/>
          </a:prstGeom>
          <a:noFill/>
          <a:ln/>
        </p:spPr>
        <p:txBody>
          <a:bodyPr wrap="square" rtlCol="0" anchor="ctr"/>
          <a:lstStyle/>
          <a:p>
            <a:pPr algn="ctr" indent="0" marL="0">
              <a:buNone/>
            </a:pPr>
            <a:r>
              <a:rPr lang="en-US" sz="1600" b="1" dirty="0">
                <a:solidFill>
                  <a:srgbClr val="FFFFFF"/>
                </a:solidFill>
                <a:latin typeface="Open Sans" pitchFamily="34" charset="0"/>
                <a:ea typeface="Open Sans" pitchFamily="34" charset="-122"/>
                <a:cs typeface="Open Sans" pitchFamily="34" charset="-120"/>
              </a:rPr>
              <a:t>0</a:t>
            </a:r>
            <a:endParaRPr lang="en-US" sz="1600" dirty="0"/>
          </a:p>
        </p:txBody>
      </p:sp>
      <p:sp>
        <p:nvSpPr>
          <p:cNvPr id="7" name="Text 5"/>
          <p:cNvSpPr/>
          <p:nvPr/>
        </p:nvSpPr>
        <p:spPr>
          <a:xfrm>
            <a:off x="2423160" y="1399032"/>
            <a:ext cx="594360" cy="274320"/>
          </a:xfrm>
          <a:prstGeom prst="rect">
            <a:avLst/>
          </a:prstGeom>
          <a:noFill/>
          <a:ln/>
        </p:spPr>
        <p:txBody>
          <a:bodyPr wrap="square" lIns="0" tIns="0" rIns="0" bIns="0" rtlCol="0" anchor="ctr"/>
          <a:lstStyle/>
          <a:p>
            <a:pPr algn="r" indent="0" marL="0">
              <a:buNone/>
            </a:pPr>
            <a:r>
              <a:rPr lang="en-US" sz="1100" b="1" dirty="0">
                <a:solidFill>
                  <a:srgbClr val="024731"/>
                </a:solidFill>
                <a:latin typeface="Open Sans" pitchFamily="34" charset="0"/>
                <a:ea typeface="Open Sans" pitchFamily="34" charset="-122"/>
                <a:cs typeface="Open Sans" pitchFamily="34" charset="-120"/>
              </a:rPr>
              <a:t>5%</a:t>
            </a:r>
            <a:endParaRPr lang="en-US" sz="1100" dirty="0"/>
          </a:p>
        </p:txBody>
      </p:sp>
      <p:sp>
        <p:nvSpPr>
          <p:cNvPr id="8" name="Text 6"/>
          <p:cNvSpPr/>
          <p:nvPr/>
        </p:nvSpPr>
        <p:spPr>
          <a:xfrm>
            <a:off x="1188720" y="1399032"/>
            <a:ext cx="1371600" cy="320040"/>
          </a:xfrm>
          <a:prstGeom prst="rect">
            <a:avLst/>
          </a:prstGeom>
          <a:noFill/>
          <a:ln/>
        </p:spPr>
        <p:txBody>
          <a:bodyPr wrap="square" lIns="0" tIns="0" rIns="0" bIns="0" rtlCol="0" anchor="ctr"/>
          <a:lstStyle/>
          <a:p>
            <a:pPr indent="0" marL="0">
              <a:buNone/>
            </a:pPr>
            <a:r>
              <a:rPr lang="en-US" sz="1200" b="1" dirty="0">
                <a:solidFill>
                  <a:srgbClr val="0D0D0D"/>
                </a:solidFill>
                <a:latin typeface="Open Sans" pitchFamily="34" charset="0"/>
                <a:ea typeface="Open Sans" pitchFamily="34" charset="-122"/>
                <a:cs typeface="Open Sans" pitchFamily="34" charset="-120"/>
              </a:rPr>
              <a:t>Repo Setup</a:t>
            </a:r>
            <a:endParaRPr lang="en-US" sz="1200" dirty="0"/>
          </a:p>
        </p:txBody>
      </p:sp>
      <p:sp>
        <p:nvSpPr>
          <p:cNvPr id="9" name="Text 7"/>
          <p:cNvSpPr/>
          <p:nvPr/>
        </p:nvSpPr>
        <p:spPr>
          <a:xfrm>
            <a:off x="685800" y="1874520"/>
            <a:ext cx="2331720" cy="91440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Create GitHub repo with IB-style directory structure. Learn Git, Markdown, READMEs.</a:t>
            </a:r>
            <a:endParaRPr lang="en-US" sz="1000" dirty="0"/>
          </a:p>
        </p:txBody>
      </p:sp>
      <p:sp>
        <p:nvSpPr>
          <p:cNvPr id="10" name="Shape 8"/>
          <p:cNvSpPr/>
          <p:nvPr/>
        </p:nvSpPr>
        <p:spPr>
          <a:xfrm>
            <a:off x="3383280" y="1234440"/>
            <a:ext cx="2606040" cy="169164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11" name="Shape 9"/>
          <p:cNvSpPr/>
          <p:nvPr/>
        </p:nvSpPr>
        <p:spPr>
          <a:xfrm>
            <a:off x="3520440" y="1371600"/>
            <a:ext cx="384048" cy="384048"/>
          </a:xfrm>
          <a:prstGeom prst="ellipse">
            <a:avLst/>
          </a:prstGeom>
          <a:solidFill>
            <a:srgbClr val="024731"/>
          </a:solidFill>
          <a:ln/>
        </p:spPr>
      </p:sp>
      <p:sp>
        <p:nvSpPr>
          <p:cNvPr id="12" name="Text 10"/>
          <p:cNvSpPr/>
          <p:nvPr/>
        </p:nvSpPr>
        <p:spPr>
          <a:xfrm>
            <a:off x="3520440" y="1371600"/>
            <a:ext cx="384048" cy="384048"/>
          </a:xfrm>
          <a:prstGeom prst="rect">
            <a:avLst/>
          </a:prstGeom>
          <a:noFill/>
          <a:ln/>
        </p:spPr>
        <p:txBody>
          <a:bodyPr wrap="square" rtlCol="0" anchor="ctr"/>
          <a:lstStyle/>
          <a:p>
            <a:pPr algn="ctr" indent="0" marL="0">
              <a:buNone/>
            </a:pPr>
            <a:r>
              <a:rPr lang="en-US" sz="1600" b="1" dirty="0">
                <a:solidFill>
                  <a:srgbClr val="FFFFFF"/>
                </a:solidFill>
                <a:latin typeface="Open Sans" pitchFamily="34" charset="0"/>
                <a:ea typeface="Open Sans" pitchFamily="34" charset="-122"/>
                <a:cs typeface="Open Sans" pitchFamily="34" charset="-120"/>
              </a:rPr>
              <a:t>1</a:t>
            </a:r>
            <a:endParaRPr lang="en-US" sz="1600" dirty="0"/>
          </a:p>
        </p:txBody>
      </p:sp>
      <p:sp>
        <p:nvSpPr>
          <p:cNvPr id="13" name="Text 11"/>
          <p:cNvSpPr/>
          <p:nvPr/>
        </p:nvSpPr>
        <p:spPr>
          <a:xfrm>
            <a:off x="5257800" y="1399032"/>
            <a:ext cx="594360" cy="274320"/>
          </a:xfrm>
          <a:prstGeom prst="rect">
            <a:avLst/>
          </a:prstGeom>
          <a:noFill/>
          <a:ln/>
        </p:spPr>
        <p:txBody>
          <a:bodyPr wrap="square" lIns="0" tIns="0" rIns="0" bIns="0" rtlCol="0" anchor="ctr"/>
          <a:lstStyle/>
          <a:p>
            <a:pPr algn="r" indent="0" marL="0">
              <a:buNone/>
            </a:pPr>
            <a:r>
              <a:rPr lang="en-US" sz="1100" b="1" dirty="0">
                <a:solidFill>
                  <a:srgbClr val="024731"/>
                </a:solidFill>
                <a:latin typeface="Open Sans" pitchFamily="34" charset="0"/>
                <a:ea typeface="Open Sans" pitchFamily="34" charset="-122"/>
                <a:cs typeface="Open Sans" pitchFamily="34" charset="-120"/>
              </a:rPr>
              <a:t>20%</a:t>
            </a:r>
            <a:endParaRPr lang="en-US" sz="1100" dirty="0"/>
          </a:p>
        </p:txBody>
      </p:sp>
      <p:sp>
        <p:nvSpPr>
          <p:cNvPr id="14" name="Text 12"/>
          <p:cNvSpPr/>
          <p:nvPr/>
        </p:nvSpPr>
        <p:spPr>
          <a:xfrm>
            <a:off x="4023360" y="1399032"/>
            <a:ext cx="1371600" cy="320040"/>
          </a:xfrm>
          <a:prstGeom prst="rect">
            <a:avLst/>
          </a:prstGeom>
          <a:noFill/>
          <a:ln/>
        </p:spPr>
        <p:txBody>
          <a:bodyPr wrap="square" lIns="0" tIns="0" rIns="0" bIns="0" rtlCol="0" anchor="ctr"/>
          <a:lstStyle/>
          <a:p>
            <a:pPr indent="0" marL="0">
              <a:buNone/>
            </a:pPr>
            <a:r>
              <a:rPr lang="en-US" sz="1200" b="1" dirty="0">
                <a:solidFill>
                  <a:srgbClr val="0D0D0D"/>
                </a:solidFill>
                <a:latin typeface="Open Sans" pitchFamily="34" charset="0"/>
                <a:ea typeface="Open Sans" pitchFamily="34" charset="-122"/>
                <a:cs typeface="Open Sans" pitchFamily="34" charset="-120"/>
              </a:rPr>
              <a:t>Ratios Template Upload</a:t>
            </a:r>
            <a:endParaRPr lang="en-US" sz="1200" dirty="0"/>
          </a:p>
        </p:txBody>
      </p:sp>
      <p:sp>
        <p:nvSpPr>
          <p:cNvPr id="15" name="Text 13"/>
          <p:cNvSpPr/>
          <p:nvPr/>
        </p:nvSpPr>
        <p:spPr>
          <a:xfrm>
            <a:off x="3520440" y="1874520"/>
            <a:ext cx="2331720" cy="91440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Use the provided ratios template. Upload an unmodified copy and study its structure.</a:t>
            </a:r>
            <a:endParaRPr lang="en-US" sz="1000" dirty="0"/>
          </a:p>
        </p:txBody>
      </p:sp>
      <p:sp>
        <p:nvSpPr>
          <p:cNvPr id="16" name="Shape 14"/>
          <p:cNvSpPr/>
          <p:nvPr/>
        </p:nvSpPr>
        <p:spPr>
          <a:xfrm>
            <a:off x="6217920" y="1234440"/>
            <a:ext cx="2606040" cy="169164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17" name="Shape 15"/>
          <p:cNvSpPr/>
          <p:nvPr/>
        </p:nvSpPr>
        <p:spPr>
          <a:xfrm>
            <a:off x="6355080" y="1371600"/>
            <a:ext cx="384048" cy="384048"/>
          </a:xfrm>
          <a:prstGeom prst="ellipse">
            <a:avLst/>
          </a:prstGeom>
          <a:solidFill>
            <a:srgbClr val="024731"/>
          </a:solidFill>
          <a:ln/>
        </p:spPr>
      </p:sp>
      <p:sp>
        <p:nvSpPr>
          <p:cNvPr id="18" name="Text 16"/>
          <p:cNvSpPr/>
          <p:nvPr/>
        </p:nvSpPr>
        <p:spPr>
          <a:xfrm>
            <a:off x="6355080" y="1371600"/>
            <a:ext cx="384048" cy="384048"/>
          </a:xfrm>
          <a:prstGeom prst="rect">
            <a:avLst/>
          </a:prstGeom>
          <a:noFill/>
          <a:ln/>
        </p:spPr>
        <p:txBody>
          <a:bodyPr wrap="square" rtlCol="0" anchor="ctr"/>
          <a:lstStyle/>
          <a:p>
            <a:pPr algn="ctr" indent="0" marL="0">
              <a:buNone/>
            </a:pPr>
            <a:r>
              <a:rPr lang="en-US" sz="1600" b="1" dirty="0">
                <a:solidFill>
                  <a:srgbClr val="FFFFFF"/>
                </a:solidFill>
                <a:latin typeface="Open Sans" pitchFamily="34" charset="0"/>
                <a:ea typeface="Open Sans" pitchFamily="34" charset="-122"/>
                <a:cs typeface="Open Sans" pitchFamily="34" charset="-120"/>
              </a:rPr>
              <a:t>2</a:t>
            </a:r>
            <a:endParaRPr lang="en-US" sz="1600" dirty="0"/>
          </a:p>
        </p:txBody>
      </p:sp>
      <p:sp>
        <p:nvSpPr>
          <p:cNvPr id="19" name="Text 17"/>
          <p:cNvSpPr/>
          <p:nvPr/>
        </p:nvSpPr>
        <p:spPr>
          <a:xfrm>
            <a:off x="8092440" y="1399032"/>
            <a:ext cx="594360" cy="274320"/>
          </a:xfrm>
          <a:prstGeom prst="rect">
            <a:avLst/>
          </a:prstGeom>
          <a:noFill/>
          <a:ln/>
        </p:spPr>
        <p:txBody>
          <a:bodyPr wrap="square" lIns="0" tIns="0" rIns="0" bIns="0" rtlCol="0" anchor="ctr"/>
          <a:lstStyle/>
          <a:p>
            <a:pPr algn="r" indent="0" marL="0">
              <a:buNone/>
            </a:pPr>
            <a:r>
              <a:rPr lang="en-US" sz="1100" b="1" dirty="0">
                <a:solidFill>
                  <a:srgbClr val="024731"/>
                </a:solidFill>
                <a:latin typeface="Open Sans" pitchFamily="34" charset="0"/>
                <a:ea typeface="Open Sans" pitchFamily="34" charset="-122"/>
                <a:cs typeface="Open Sans" pitchFamily="34" charset="-120"/>
              </a:rPr>
              <a:t>10%</a:t>
            </a:r>
            <a:endParaRPr lang="en-US" sz="1100" dirty="0"/>
          </a:p>
        </p:txBody>
      </p:sp>
      <p:sp>
        <p:nvSpPr>
          <p:cNvPr id="20" name="Text 18"/>
          <p:cNvSpPr/>
          <p:nvPr/>
        </p:nvSpPr>
        <p:spPr>
          <a:xfrm>
            <a:off x="6858000" y="1399032"/>
            <a:ext cx="1371600" cy="320040"/>
          </a:xfrm>
          <a:prstGeom prst="rect">
            <a:avLst/>
          </a:prstGeom>
          <a:noFill/>
          <a:ln/>
        </p:spPr>
        <p:txBody>
          <a:bodyPr wrap="square" lIns="0" tIns="0" rIns="0" bIns="0" rtlCol="0" anchor="ctr"/>
          <a:lstStyle/>
          <a:p>
            <a:pPr indent="0" marL="0">
              <a:buNone/>
            </a:pPr>
            <a:r>
              <a:rPr lang="en-US" sz="1200" b="1" dirty="0">
                <a:solidFill>
                  <a:srgbClr val="0D0D0D"/>
                </a:solidFill>
                <a:latin typeface="Open Sans" pitchFamily="34" charset="0"/>
                <a:ea typeface="Open Sans" pitchFamily="34" charset="-122"/>
                <a:cs typeface="Open Sans" pitchFamily="34" charset="-120"/>
              </a:rPr>
              <a:t>Company Selection Memo</a:t>
            </a:r>
            <a:endParaRPr lang="en-US" sz="1200" dirty="0"/>
          </a:p>
        </p:txBody>
      </p:sp>
      <p:sp>
        <p:nvSpPr>
          <p:cNvPr id="21" name="Text 19"/>
          <p:cNvSpPr/>
          <p:nvPr/>
        </p:nvSpPr>
        <p:spPr>
          <a:xfrm>
            <a:off x="6355080" y="1874520"/>
            <a:ext cx="2331720" cy="91440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Choose your company, frame the analysis, identify data sources and hypotheses.</a:t>
            </a:r>
            <a:endParaRPr lang="en-US" sz="1000" dirty="0"/>
          </a:p>
        </p:txBody>
      </p:sp>
      <p:sp>
        <p:nvSpPr>
          <p:cNvPr id="22" name="Shape 20"/>
          <p:cNvSpPr/>
          <p:nvPr/>
        </p:nvSpPr>
        <p:spPr>
          <a:xfrm>
            <a:off x="548640" y="3108960"/>
            <a:ext cx="2606040" cy="169164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23" name="Shape 21"/>
          <p:cNvSpPr/>
          <p:nvPr/>
        </p:nvSpPr>
        <p:spPr>
          <a:xfrm>
            <a:off x="685800" y="3246120"/>
            <a:ext cx="384048" cy="384048"/>
          </a:xfrm>
          <a:prstGeom prst="ellipse">
            <a:avLst/>
          </a:prstGeom>
          <a:solidFill>
            <a:srgbClr val="024731"/>
          </a:solidFill>
          <a:ln/>
        </p:spPr>
      </p:sp>
      <p:sp>
        <p:nvSpPr>
          <p:cNvPr id="24" name="Text 22"/>
          <p:cNvSpPr/>
          <p:nvPr/>
        </p:nvSpPr>
        <p:spPr>
          <a:xfrm>
            <a:off x="685800" y="3246120"/>
            <a:ext cx="384048" cy="384048"/>
          </a:xfrm>
          <a:prstGeom prst="rect">
            <a:avLst/>
          </a:prstGeom>
          <a:noFill/>
          <a:ln/>
        </p:spPr>
        <p:txBody>
          <a:bodyPr wrap="square" rtlCol="0" anchor="ctr"/>
          <a:lstStyle/>
          <a:p>
            <a:pPr algn="ctr" indent="0" marL="0">
              <a:buNone/>
            </a:pPr>
            <a:r>
              <a:rPr lang="en-US" sz="1600" b="1" dirty="0">
                <a:solidFill>
                  <a:srgbClr val="FFFFFF"/>
                </a:solidFill>
                <a:latin typeface="Open Sans" pitchFamily="34" charset="0"/>
                <a:ea typeface="Open Sans" pitchFamily="34" charset="-122"/>
                <a:cs typeface="Open Sans" pitchFamily="34" charset="-120"/>
              </a:rPr>
              <a:t>3</a:t>
            </a:r>
            <a:endParaRPr lang="en-US" sz="1600" dirty="0"/>
          </a:p>
        </p:txBody>
      </p:sp>
      <p:sp>
        <p:nvSpPr>
          <p:cNvPr id="25" name="Text 23"/>
          <p:cNvSpPr/>
          <p:nvPr/>
        </p:nvSpPr>
        <p:spPr>
          <a:xfrm>
            <a:off x="2423160" y="3273552"/>
            <a:ext cx="594360" cy="274320"/>
          </a:xfrm>
          <a:prstGeom prst="rect">
            <a:avLst/>
          </a:prstGeom>
          <a:noFill/>
          <a:ln/>
        </p:spPr>
        <p:txBody>
          <a:bodyPr wrap="square" lIns="0" tIns="0" rIns="0" bIns="0" rtlCol="0" anchor="ctr"/>
          <a:lstStyle/>
          <a:p>
            <a:pPr algn="r" indent="0" marL="0">
              <a:buNone/>
            </a:pPr>
            <a:r>
              <a:rPr lang="en-US" sz="1100" b="1" dirty="0">
                <a:solidFill>
                  <a:srgbClr val="024731"/>
                </a:solidFill>
                <a:latin typeface="Open Sans" pitchFamily="34" charset="0"/>
                <a:ea typeface="Open Sans" pitchFamily="34" charset="-122"/>
                <a:cs typeface="Open Sans" pitchFamily="34" charset="-120"/>
              </a:rPr>
              <a:t>20%</a:t>
            </a:r>
            <a:endParaRPr lang="en-US" sz="1100" dirty="0"/>
          </a:p>
        </p:txBody>
      </p:sp>
      <p:sp>
        <p:nvSpPr>
          <p:cNvPr id="26" name="Text 24"/>
          <p:cNvSpPr/>
          <p:nvPr/>
        </p:nvSpPr>
        <p:spPr>
          <a:xfrm>
            <a:off x="1188720" y="3273552"/>
            <a:ext cx="1371600" cy="320040"/>
          </a:xfrm>
          <a:prstGeom prst="rect">
            <a:avLst/>
          </a:prstGeom>
          <a:noFill/>
          <a:ln/>
        </p:spPr>
        <p:txBody>
          <a:bodyPr wrap="square" lIns="0" tIns="0" rIns="0" bIns="0" rtlCol="0" anchor="ctr"/>
          <a:lstStyle/>
          <a:p>
            <a:pPr indent="0" marL="0">
              <a:buNone/>
            </a:pPr>
            <a:r>
              <a:rPr lang="en-US" sz="1200" b="1" dirty="0">
                <a:solidFill>
                  <a:srgbClr val="0D0D0D"/>
                </a:solidFill>
                <a:latin typeface="Open Sans" pitchFamily="34" charset="0"/>
                <a:ea typeface="Open Sans" pitchFamily="34" charset="-122"/>
                <a:cs typeface="Open Sans" pitchFamily="34" charset="-120"/>
              </a:rPr>
              <a:t>Model Population &amp; Validation</a:t>
            </a:r>
            <a:endParaRPr lang="en-US" sz="1200" dirty="0"/>
          </a:p>
        </p:txBody>
      </p:sp>
      <p:sp>
        <p:nvSpPr>
          <p:cNvPr id="27" name="Text 25"/>
          <p:cNvSpPr/>
          <p:nvPr/>
        </p:nvSpPr>
        <p:spPr>
          <a:xfrm>
            <a:off x="685800" y="3749040"/>
            <a:ext cx="2331720" cy="91440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Populate the template with real financials. Ratios auto-compute. Self-audit with Big 4-style checklist.</a:t>
            </a:r>
            <a:endParaRPr lang="en-US" sz="1000" dirty="0"/>
          </a:p>
        </p:txBody>
      </p:sp>
      <p:sp>
        <p:nvSpPr>
          <p:cNvPr id="28" name="Shape 26"/>
          <p:cNvSpPr/>
          <p:nvPr/>
        </p:nvSpPr>
        <p:spPr>
          <a:xfrm>
            <a:off x="3383280" y="3108960"/>
            <a:ext cx="2606040" cy="169164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29" name="Shape 27"/>
          <p:cNvSpPr/>
          <p:nvPr/>
        </p:nvSpPr>
        <p:spPr>
          <a:xfrm>
            <a:off x="3520440" y="3246120"/>
            <a:ext cx="384048" cy="384048"/>
          </a:xfrm>
          <a:prstGeom prst="ellipse">
            <a:avLst/>
          </a:prstGeom>
          <a:solidFill>
            <a:srgbClr val="C9A84C"/>
          </a:solidFill>
          <a:ln/>
        </p:spPr>
      </p:sp>
      <p:sp>
        <p:nvSpPr>
          <p:cNvPr id="30" name="Text 28"/>
          <p:cNvSpPr/>
          <p:nvPr/>
        </p:nvSpPr>
        <p:spPr>
          <a:xfrm>
            <a:off x="3520440" y="3246120"/>
            <a:ext cx="384048" cy="384048"/>
          </a:xfrm>
          <a:prstGeom prst="rect">
            <a:avLst/>
          </a:prstGeom>
          <a:noFill/>
          <a:ln/>
        </p:spPr>
        <p:txBody>
          <a:bodyPr wrap="square" rtlCol="0" anchor="ctr"/>
          <a:lstStyle/>
          <a:p>
            <a:pPr algn="ctr" indent="0" marL="0">
              <a:buNone/>
            </a:pPr>
            <a:r>
              <a:rPr lang="en-US" sz="1600" b="1" dirty="0">
                <a:solidFill>
                  <a:srgbClr val="FFFFFF"/>
                </a:solidFill>
                <a:latin typeface="Open Sans" pitchFamily="34" charset="0"/>
                <a:ea typeface="Open Sans" pitchFamily="34" charset="-122"/>
                <a:cs typeface="Open Sans" pitchFamily="34" charset="-120"/>
              </a:rPr>
              <a:t>4</a:t>
            </a:r>
            <a:endParaRPr lang="en-US" sz="1600" dirty="0"/>
          </a:p>
        </p:txBody>
      </p:sp>
      <p:sp>
        <p:nvSpPr>
          <p:cNvPr id="31" name="Text 29"/>
          <p:cNvSpPr/>
          <p:nvPr/>
        </p:nvSpPr>
        <p:spPr>
          <a:xfrm>
            <a:off x="5257800" y="3273552"/>
            <a:ext cx="594360" cy="274320"/>
          </a:xfrm>
          <a:prstGeom prst="rect">
            <a:avLst/>
          </a:prstGeom>
          <a:noFill/>
          <a:ln/>
        </p:spPr>
        <p:txBody>
          <a:bodyPr wrap="square" lIns="0" tIns="0" rIns="0" bIns="0" rtlCol="0" anchor="ctr"/>
          <a:lstStyle/>
          <a:p>
            <a:pPr algn="r" indent="0" marL="0">
              <a:buNone/>
            </a:pPr>
            <a:r>
              <a:rPr lang="en-US" sz="1100" b="1" dirty="0">
                <a:solidFill>
                  <a:srgbClr val="024731"/>
                </a:solidFill>
                <a:latin typeface="Open Sans" pitchFamily="34" charset="0"/>
                <a:ea typeface="Open Sans" pitchFamily="34" charset="-122"/>
                <a:cs typeface="Open Sans" pitchFamily="34" charset="-120"/>
              </a:rPr>
              <a:t>20%</a:t>
            </a:r>
            <a:endParaRPr lang="en-US" sz="1100" dirty="0"/>
          </a:p>
        </p:txBody>
      </p:sp>
      <p:sp>
        <p:nvSpPr>
          <p:cNvPr id="32" name="Text 30"/>
          <p:cNvSpPr/>
          <p:nvPr/>
        </p:nvSpPr>
        <p:spPr>
          <a:xfrm>
            <a:off x="4023360" y="3273552"/>
            <a:ext cx="1371600" cy="320040"/>
          </a:xfrm>
          <a:prstGeom prst="rect">
            <a:avLst/>
          </a:prstGeom>
          <a:noFill/>
          <a:ln/>
        </p:spPr>
        <p:txBody>
          <a:bodyPr wrap="square" lIns="0" tIns="0" rIns="0" bIns="0" rtlCol="0" anchor="ctr"/>
          <a:lstStyle/>
          <a:p>
            <a:pPr indent="0" marL="0">
              <a:buNone/>
            </a:pPr>
            <a:r>
              <a:rPr lang="en-US" sz="1200" b="1" dirty="0">
                <a:solidFill>
                  <a:srgbClr val="0D0D0D"/>
                </a:solidFill>
                <a:latin typeface="Open Sans" pitchFamily="34" charset="0"/>
                <a:ea typeface="Open Sans" pitchFamily="34" charset="-122"/>
                <a:cs typeface="Open Sans" pitchFamily="34" charset="-120"/>
              </a:rPr>
              <a:t>Technical Specification</a:t>
            </a:r>
            <a:endParaRPr lang="en-US" sz="1200" dirty="0"/>
          </a:p>
        </p:txBody>
      </p:sp>
      <p:sp>
        <p:nvSpPr>
          <p:cNvPr id="33" name="Text 31"/>
          <p:cNvSpPr/>
          <p:nvPr/>
        </p:nvSpPr>
        <p:spPr>
          <a:xfrm>
            <a:off x="3520440" y="3749040"/>
            <a:ext cx="2331720" cy="91440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Use an LLM to draft a spec defining the model AND the analysis. Edit, refine, and log every prompt.</a:t>
            </a:r>
            <a:endParaRPr lang="en-US" sz="1000" dirty="0"/>
          </a:p>
        </p:txBody>
      </p:sp>
      <p:sp>
        <p:nvSpPr>
          <p:cNvPr id="34" name="Shape 32"/>
          <p:cNvSpPr/>
          <p:nvPr/>
        </p:nvSpPr>
        <p:spPr>
          <a:xfrm>
            <a:off x="6217920" y="3108960"/>
            <a:ext cx="2606040" cy="169164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35" name="Shape 33"/>
          <p:cNvSpPr/>
          <p:nvPr/>
        </p:nvSpPr>
        <p:spPr>
          <a:xfrm>
            <a:off x="6355080" y="3246120"/>
            <a:ext cx="384048" cy="384048"/>
          </a:xfrm>
          <a:prstGeom prst="ellipse">
            <a:avLst/>
          </a:prstGeom>
          <a:solidFill>
            <a:srgbClr val="024731"/>
          </a:solidFill>
          <a:ln/>
        </p:spPr>
      </p:sp>
      <p:sp>
        <p:nvSpPr>
          <p:cNvPr id="36" name="Text 34"/>
          <p:cNvSpPr/>
          <p:nvPr/>
        </p:nvSpPr>
        <p:spPr>
          <a:xfrm>
            <a:off x="6355080" y="3246120"/>
            <a:ext cx="384048" cy="384048"/>
          </a:xfrm>
          <a:prstGeom prst="rect">
            <a:avLst/>
          </a:prstGeom>
          <a:noFill/>
          <a:ln/>
        </p:spPr>
        <p:txBody>
          <a:bodyPr wrap="square" rtlCol="0" anchor="ctr"/>
          <a:lstStyle/>
          <a:p>
            <a:pPr algn="ctr" indent="0" marL="0">
              <a:buNone/>
            </a:pPr>
            <a:r>
              <a:rPr lang="en-US" sz="1600" b="1" dirty="0">
                <a:solidFill>
                  <a:srgbClr val="FFFFFF"/>
                </a:solidFill>
                <a:latin typeface="Open Sans" pitchFamily="34" charset="0"/>
                <a:ea typeface="Open Sans" pitchFamily="34" charset="-122"/>
                <a:cs typeface="Open Sans" pitchFamily="34" charset="-120"/>
              </a:rPr>
              <a:t>5</a:t>
            </a:r>
            <a:endParaRPr lang="en-US" sz="1600" dirty="0"/>
          </a:p>
        </p:txBody>
      </p:sp>
      <p:sp>
        <p:nvSpPr>
          <p:cNvPr id="37" name="Text 35"/>
          <p:cNvSpPr/>
          <p:nvPr/>
        </p:nvSpPr>
        <p:spPr>
          <a:xfrm>
            <a:off x="8092440" y="3273552"/>
            <a:ext cx="594360" cy="274320"/>
          </a:xfrm>
          <a:prstGeom prst="rect">
            <a:avLst/>
          </a:prstGeom>
          <a:noFill/>
          <a:ln/>
        </p:spPr>
        <p:txBody>
          <a:bodyPr wrap="square" lIns="0" tIns="0" rIns="0" bIns="0" rtlCol="0" anchor="ctr"/>
          <a:lstStyle/>
          <a:p>
            <a:pPr algn="r" indent="0" marL="0">
              <a:buNone/>
            </a:pPr>
            <a:r>
              <a:rPr lang="en-US" sz="1100" b="1" dirty="0">
                <a:solidFill>
                  <a:srgbClr val="024731"/>
                </a:solidFill>
                <a:latin typeface="Open Sans" pitchFamily="34" charset="0"/>
                <a:ea typeface="Open Sans" pitchFamily="34" charset="-122"/>
                <a:cs typeface="Open Sans" pitchFamily="34" charset="-120"/>
              </a:rPr>
              <a:t>25%</a:t>
            </a:r>
            <a:endParaRPr lang="en-US" sz="1100" dirty="0"/>
          </a:p>
        </p:txBody>
      </p:sp>
      <p:sp>
        <p:nvSpPr>
          <p:cNvPr id="38" name="Text 36"/>
          <p:cNvSpPr/>
          <p:nvPr/>
        </p:nvSpPr>
        <p:spPr>
          <a:xfrm>
            <a:off x="6858000" y="3273552"/>
            <a:ext cx="1371600" cy="320040"/>
          </a:xfrm>
          <a:prstGeom prst="rect">
            <a:avLst/>
          </a:prstGeom>
          <a:noFill/>
          <a:ln/>
        </p:spPr>
        <p:txBody>
          <a:bodyPr wrap="square" lIns="0" tIns="0" rIns="0" bIns="0" rtlCol="0" anchor="ctr"/>
          <a:lstStyle/>
          <a:p>
            <a:pPr indent="0" marL="0">
              <a:buNone/>
            </a:pPr>
            <a:r>
              <a:rPr lang="en-US" sz="1200" b="1" dirty="0">
                <a:solidFill>
                  <a:srgbClr val="0D0D0D"/>
                </a:solidFill>
                <a:latin typeface="Open Sans" pitchFamily="34" charset="0"/>
                <a:ea typeface="Open Sans" pitchFamily="34" charset="-122"/>
                <a:cs typeface="Open Sans" pitchFamily="34" charset="-120"/>
              </a:rPr>
              <a:t>LLM Analysis &amp; Evaluation</a:t>
            </a:r>
            <a:endParaRPr lang="en-US" sz="1200" dirty="0"/>
          </a:p>
        </p:txBody>
      </p:sp>
      <p:sp>
        <p:nvSpPr>
          <p:cNvPr id="39" name="Text 37"/>
          <p:cNvSpPr/>
          <p:nvPr/>
        </p:nvSpPr>
        <p:spPr>
          <a:xfrm>
            <a:off x="6355080" y="3749040"/>
            <a:ext cx="2331720" cy="91440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Execute the spec, write the full analysis, evaluate AI output, polish your repo. Own the final product.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24731"/>
        </a:solidFill>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Open Sans" pitchFamily="34" charset="0"/>
                <a:ea typeface="Open Sans" pitchFamily="34" charset="-122"/>
                <a:cs typeface="Open Sans" pitchFamily="34" charset="-120"/>
              </a:rPr>
              <a:t>The Spec-Driven Design Arc</a:t>
            </a:r>
            <a:endParaRPr lang="en-US" sz="2800" dirty="0"/>
          </a:p>
        </p:txBody>
      </p:sp>
      <p:sp>
        <p:nvSpPr>
          <p:cNvPr id="3" name="Shape 1"/>
          <p:cNvSpPr/>
          <p:nvPr/>
        </p:nvSpPr>
        <p:spPr>
          <a:xfrm>
            <a:off x="548640" y="1051560"/>
            <a:ext cx="3840480" cy="365760"/>
          </a:xfrm>
          <a:prstGeom prst="rect">
            <a:avLst/>
          </a:prstGeom>
          <a:solidFill>
            <a:srgbClr val="4DA78F">
              <a:alpha val="70000"/>
            </a:srgbClr>
          </a:solidFill>
          <a:ln/>
        </p:spPr>
      </p:sp>
      <p:sp>
        <p:nvSpPr>
          <p:cNvPr id="4" name="Text 2"/>
          <p:cNvSpPr/>
          <p:nvPr/>
        </p:nvSpPr>
        <p:spPr>
          <a:xfrm>
            <a:off x="548640" y="1051560"/>
            <a:ext cx="3840480" cy="365760"/>
          </a:xfrm>
          <a:prstGeom prst="rect">
            <a:avLst/>
          </a:prstGeom>
          <a:noFill/>
          <a:ln/>
        </p:spPr>
        <p:txBody>
          <a:bodyPr wrap="square" rtlCol="0" anchor="ctr"/>
          <a:lstStyle/>
          <a:p>
            <a:pPr algn="ctr" indent="0" marL="0">
              <a:buNone/>
            </a:pPr>
            <a:r>
              <a:rPr lang="en-US" sz="1100" b="1" spc="150" kern="0" dirty="0">
                <a:solidFill>
                  <a:srgbClr val="FFFFFF"/>
                </a:solidFill>
                <a:latin typeface="Open Sans" pitchFamily="34" charset="0"/>
                <a:ea typeface="Open Sans" pitchFamily="34" charset="-122"/>
                <a:cs typeface="Open Sans" pitchFamily="34" charset="-120"/>
              </a:rPr>
              <a:t>TACIT KNOWLEDGE ACQUISITION</a:t>
            </a:r>
            <a:endParaRPr lang="en-US" sz="1100" dirty="0"/>
          </a:p>
        </p:txBody>
      </p:sp>
      <p:sp>
        <p:nvSpPr>
          <p:cNvPr id="5" name="Shape 3"/>
          <p:cNvSpPr/>
          <p:nvPr/>
        </p:nvSpPr>
        <p:spPr>
          <a:xfrm>
            <a:off x="4754880" y="1051560"/>
            <a:ext cx="3840480" cy="365760"/>
          </a:xfrm>
          <a:prstGeom prst="rect">
            <a:avLst/>
          </a:prstGeom>
          <a:solidFill>
            <a:srgbClr val="C9A84C">
              <a:alpha val="70000"/>
            </a:srgbClr>
          </a:solidFill>
          <a:ln/>
        </p:spPr>
      </p:sp>
      <p:sp>
        <p:nvSpPr>
          <p:cNvPr id="6" name="Text 4"/>
          <p:cNvSpPr/>
          <p:nvPr/>
        </p:nvSpPr>
        <p:spPr>
          <a:xfrm>
            <a:off x="4754880" y="1051560"/>
            <a:ext cx="3840480" cy="365760"/>
          </a:xfrm>
          <a:prstGeom prst="rect">
            <a:avLst/>
          </a:prstGeom>
          <a:noFill/>
          <a:ln/>
        </p:spPr>
        <p:txBody>
          <a:bodyPr wrap="square" rtlCol="0" anchor="ctr"/>
          <a:lstStyle/>
          <a:p>
            <a:pPr algn="ctr" indent="0" marL="0">
              <a:buNone/>
            </a:pPr>
            <a:r>
              <a:rPr lang="en-US" sz="1100" b="1" spc="150" kern="0" dirty="0">
                <a:solidFill>
                  <a:srgbClr val="FFFFFF"/>
                </a:solidFill>
                <a:latin typeface="Open Sans" pitchFamily="34" charset="0"/>
                <a:ea typeface="Open Sans" pitchFamily="34" charset="-122"/>
                <a:cs typeface="Open Sans" pitchFamily="34" charset="-120"/>
              </a:rPr>
              <a:t>KNOWLEDGE EXTERNALIZATION</a:t>
            </a:r>
            <a:endParaRPr lang="en-US" sz="1100" dirty="0"/>
          </a:p>
        </p:txBody>
      </p:sp>
      <p:sp>
        <p:nvSpPr>
          <p:cNvPr id="7" name="Shape 5"/>
          <p:cNvSpPr/>
          <p:nvPr/>
        </p:nvSpPr>
        <p:spPr>
          <a:xfrm>
            <a:off x="731520" y="1737360"/>
            <a:ext cx="502920" cy="502920"/>
          </a:xfrm>
          <a:prstGeom prst="ellipse">
            <a:avLst/>
          </a:prstGeom>
          <a:solidFill>
            <a:srgbClr val="4DA78F"/>
          </a:solidFill>
          <a:ln/>
        </p:spPr>
      </p:sp>
      <p:sp>
        <p:nvSpPr>
          <p:cNvPr id="8" name="Text 6"/>
          <p:cNvSpPr/>
          <p:nvPr/>
        </p:nvSpPr>
        <p:spPr>
          <a:xfrm>
            <a:off x="731520" y="1737360"/>
            <a:ext cx="502920" cy="502920"/>
          </a:xfrm>
          <a:prstGeom prst="rect">
            <a:avLst/>
          </a:prstGeom>
          <a:noFill/>
          <a:ln/>
        </p:spPr>
        <p:txBody>
          <a:bodyPr wrap="square" rtlCol="0" anchor="ctr"/>
          <a:lstStyle/>
          <a:p>
            <a:pPr algn="ctr" indent="0" marL="0">
              <a:buNone/>
            </a:pPr>
            <a:r>
              <a:rPr lang="en-US" sz="1800" b="1" dirty="0">
                <a:solidFill>
                  <a:srgbClr val="024731"/>
                </a:solidFill>
                <a:latin typeface="Open Sans" pitchFamily="34" charset="0"/>
                <a:ea typeface="Open Sans" pitchFamily="34" charset="-122"/>
                <a:cs typeface="Open Sans" pitchFamily="34" charset="-120"/>
              </a:rPr>
              <a:t>0</a:t>
            </a:r>
            <a:endParaRPr lang="en-US" sz="1800" dirty="0"/>
          </a:p>
        </p:txBody>
      </p:sp>
      <p:sp>
        <p:nvSpPr>
          <p:cNvPr id="9" name="Shape 7"/>
          <p:cNvSpPr/>
          <p:nvPr/>
        </p:nvSpPr>
        <p:spPr>
          <a:xfrm>
            <a:off x="1280160" y="1988820"/>
            <a:ext cx="777240" cy="0"/>
          </a:xfrm>
          <a:prstGeom prst="line">
            <a:avLst/>
          </a:prstGeom>
          <a:noFill/>
          <a:ln w="25400">
            <a:solidFill>
              <a:srgbClr val="4DA78F"/>
            </a:solidFill>
            <a:prstDash val="dash"/>
          </a:ln>
        </p:spPr>
      </p:sp>
      <p:sp>
        <p:nvSpPr>
          <p:cNvPr id="10" name="Text 8"/>
          <p:cNvSpPr/>
          <p:nvPr/>
        </p:nvSpPr>
        <p:spPr>
          <a:xfrm>
            <a:off x="457200" y="2331720"/>
            <a:ext cx="1051560" cy="502920"/>
          </a:xfrm>
          <a:prstGeom prst="rect">
            <a:avLst/>
          </a:prstGeom>
          <a:noFill/>
          <a:ln/>
        </p:spPr>
        <p:txBody>
          <a:bodyPr wrap="square" rtlCol="0" anchor="ctr"/>
          <a:lstStyle/>
          <a:p>
            <a:pPr algn="ctr" indent="0" marL="0">
              <a:buNone/>
            </a:pPr>
            <a:r>
              <a:rPr lang="en-US" sz="1000" dirty="0">
                <a:solidFill>
                  <a:srgbClr val="B8DDD1"/>
                </a:solidFill>
                <a:latin typeface="Open Sans" pitchFamily="34" charset="0"/>
                <a:ea typeface="Open Sans" pitchFamily="34" charset="-122"/>
                <a:cs typeface="Open Sans" pitchFamily="34" charset="-120"/>
              </a:rPr>
              <a:t>Set up the</a:t>
            </a:r>
            <a:endParaRPr lang="en-US" sz="1000" dirty="0"/>
          </a:p>
          <a:p>
            <a:pPr algn="ctr" indent="0" marL="0">
              <a:buNone/>
            </a:pPr>
            <a:r>
              <a:rPr lang="en-US" sz="1000" dirty="0">
                <a:solidFill>
                  <a:srgbClr val="B8DDD1"/>
                </a:solidFill>
                <a:latin typeface="Open Sans" pitchFamily="34" charset="0"/>
                <a:ea typeface="Open Sans" pitchFamily="34" charset="-122"/>
                <a:cs typeface="Open Sans" pitchFamily="34" charset="-120"/>
              </a:rPr>
              <a:t>workspace</a:t>
            </a:r>
            <a:endParaRPr lang="en-US" sz="1000" dirty="0"/>
          </a:p>
        </p:txBody>
      </p:sp>
      <p:sp>
        <p:nvSpPr>
          <p:cNvPr id="11" name="Text 9"/>
          <p:cNvSpPr/>
          <p:nvPr/>
        </p:nvSpPr>
        <p:spPr>
          <a:xfrm>
            <a:off x="457200" y="2834640"/>
            <a:ext cx="1051560" cy="320040"/>
          </a:xfrm>
          <a:prstGeom prst="rect">
            <a:avLst/>
          </a:prstGeom>
          <a:noFill/>
          <a:ln/>
        </p:spPr>
        <p:txBody>
          <a:bodyPr wrap="square" rtlCol="0" anchor="ctr"/>
          <a:lstStyle/>
          <a:p>
            <a:pPr algn="ctr" indent="0" marL="0">
              <a:buNone/>
            </a:pPr>
            <a:r>
              <a:rPr lang="en-US" sz="900" i="1" dirty="0">
                <a:solidFill>
                  <a:srgbClr val="4DA78F"/>
                </a:solidFill>
                <a:latin typeface="Open Sans" pitchFamily="34" charset="0"/>
                <a:ea typeface="Open Sans" pitchFamily="34" charset="-122"/>
                <a:cs typeface="Open Sans" pitchFamily="34" charset="-120"/>
              </a:rPr>
              <a:t>“We organized it”</a:t>
            </a:r>
            <a:endParaRPr lang="en-US" sz="900" dirty="0"/>
          </a:p>
        </p:txBody>
      </p:sp>
      <p:sp>
        <p:nvSpPr>
          <p:cNvPr id="12" name="Shape 10"/>
          <p:cNvSpPr/>
          <p:nvPr/>
        </p:nvSpPr>
        <p:spPr>
          <a:xfrm>
            <a:off x="2103120" y="1737360"/>
            <a:ext cx="502920" cy="502920"/>
          </a:xfrm>
          <a:prstGeom prst="ellipse">
            <a:avLst/>
          </a:prstGeom>
          <a:solidFill>
            <a:srgbClr val="4DA78F"/>
          </a:solidFill>
          <a:ln/>
        </p:spPr>
      </p:sp>
      <p:sp>
        <p:nvSpPr>
          <p:cNvPr id="13" name="Text 11"/>
          <p:cNvSpPr/>
          <p:nvPr/>
        </p:nvSpPr>
        <p:spPr>
          <a:xfrm>
            <a:off x="2103120" y="1737360"/>
            <a:ext cx="502920" cy="502920"/>
          </a:xfrm>
          <a:prstGeom prst="rect">
            <a:avLst/>
          </a:prstGeom>
          <a:noFill/>
          <a:ln/>
        </p:spPr>
        <p:txBody>
          <a:bodyPr wrap="square" rtlCol="0" anchor="ctr"/>
          <a:lstStyle/>
          <a:p>
            <a:pPr algn="ctr" indent="0" marL="0">
              <a:buNone/>
            </a:pPr>
            <a:r>
              <a:rPr lang="en-US" sz="1800" b="1" dirty="0">
                <a:solidFill>
                  <a:srgbClr val="024731"/>
                </a:solidFill>
                <a:latin typeface="Open Sans" pitchFamily="34" charset="0"/>
                <a:ea typeface="Open Sans" pitchFamily="34" charset="-122"/>
                <a:cs typeface="Open Sans" pitchFamily="34" charset="-120"/>
              </a:rPr>
              <a:t>1</a:t>
            </a:r>
            <a:endParaRPr lang="en-US" sz="1800" dirty="0"/>
          </a:p>
        </p:txBody>
      </p:sp>
      <p:sp>
        <p:nvSpPr>
          <p:cNvPr id="14" name="Shape 12"/>
          <p:cNvSpPr/>
          <p:nvPr/>
        </p:nvSpPr>
        <p:spPr>
          <a:xfrm>
            <a:off x="2651760" y="1988820"/>
            <a:ext cx="777240" cy="0"/>
          </a:xfrm>
          <a:prstGeom prst="line">
            <a:avLst/>
          </a:prstGeom>
          <a:noFill/>
          <a:ln w="25400">
            <a:solidFill>
              <a:srgbClr val="4DA78F"/>
            </a:solidFill>
            <a:prstDash val="dash"/>
          </a:ln>
        </p:spPr>
      </p:sp>
      <p:sp>
        <p:nvSpPr>
          <p:cNvPr id="15" name="Text 13"/>
          <p:cNvSpPr/>
          <p:nvPr/>
        </p:nvSpPr>
        <p:spPr>
          <a:xfrm>
            <a:off x="1828800" y="2331720"/>
            <a:ext cx="1051560" cy="502920"/>
          </a:xfrm>
          <a:prstGeom prst="rect">
            <a:avLst/>
          </a:prstGeom>
          <a:noFill/>
          <a:ln/>
        </p:spPr>
        <p:txBody>
          <a:bodyPr wrap="square" rtlCol="0" anchor="ctr"/>
          <a:lstStyle/>
          <a:p>
            <a:pPr algn="ctr" indent="0" marL="0">
              <a:buNone/>
            </a:pPr>
            <a:r>
              <a:rPr lang="en-US" sz="1000" dirty="0">
                <a:solidFill>
                  <a:srgbClr val="B8DDD1"/>
                </a:solidFill>
                <a:latin typeface="Open Sans" pitchFamily="34" charset="0"/>
                <a:ea typeface="Open Sans" pitchFamily="34" charset="-122"/>
                <a:cs typeface="Open Sans" pitchFamily="34" charset="-120"/>
              </a:rPr>
              <a:t>Study the</a:t>
            </a:r>
            <a:endParaRPr lang="en-US" sz="1000" dirty="0"/>
          </a:p>
          <a:p>
            <a:pPr algn="ctr" indent="0" marL="0">
              <a:buNone/>
            </a:pPr>
            <a:r>
              <a:rPr lang="en-US" sz="1000" dirty="0">
                <a:solidFill>
                  <a:srgbClr val="B8DDD1"/>
                </a:solidFill>
                <a:latin typeface="Open Sans" pitchFamily="34" charset="0"/>
                <a:ea typeface="Open Sans" pitchFamily="34" charset="-122"/>
                <a:cs typeface="Open Sans" pitchFamily="34" charset="-120"/>
              </a:rPr>
              <a:t>container</a:t>
            </a:r>
            <a:endParaRPr lang="en-US" sz="1000" dirty="0"/>
          </a:p>
        </p:txBody>
      </p:sp>
      <p:sp>
        <p:nvSpPr>
          <p:cNvPr id="16" name="Text 14"/>
          <p:cNvSpPr/>
          <p:nvPr/>
        </p:nvSpPr>
        <p:spPr>
          <a:xfrm>
            <a:off x="1828800" y="2834640"/>
            <a:ext cx="1051560" cy="320040"/>
          </a:xfrm>
          <a:prstGeom prst="rect">
            <a:avLst/>
          </a:prstGeom>
          <a:noFill/>
          <a:ln/>
        </p:spPr>
        <p:txBody>
          <a:bodyPr wrap="square" rtlCol="0" anchor="ctr"/>
          <a:lstStyle/>
          <a:p>
            <a:pPr algn="ctr" indent="0" marL="0">
              <a:buNone/>
            </a:pPr>
            <a:r>
              <a:rPr lang="en-US" sz="900" i="1" dirty="0">
                <a:solidFill>
                  <a:srgbClr val="4DA78F"/>
                </a:solidFill>
                <a:latin typeface="Open Sans" pitchFamily="34" charset="0"/>
                <a:ea typeface="Open Sans" pitchFamily="34" charset="-122"/>
                <a:cs typeface="Open Sans" pitchFamily="34" charset="-120"/>
              </a:rPr>
              <a:t>“I see how it’s built”</a:t>
            </a:r>
            <a:endParaRPr lang="en-US" sz="900" dirty="0"/>
          </a:p>
        </p:txBody>
      </p:sp>
      <p:sp>
        <p:nvSpPr>
          <p:cNvPr id="17" name="Shape 15"/>
          <p:cNvSpPr/>
          <p:nvPr/>
        </p:nvSpPr>
        <p:spPr>
          <a:xfrm>
            <a:off x="3474720" y="1737360"/>
            <a:ext cx="502920" cy="502920"/>
          </a:xfrm>
          <a:prstGeom prst="ellipse">
            <a:avLst/>
          </a:prstGeom>
          <a:solidFill>
            <a:srgbClr val="4DA78F"/>
          </a:solidFill>
          <a:ln/>
        </p:spPr>
      </p:sp>
      <p:sp>
        <p:nvSpPr>
          <p:cNvPr id="18" name="Text 16"/>
          <p:cNvSpPr/>
          <p:nvPr/>
        </p:nvSpPr>
        <p:spPr>
          <a:xfrm>
            <a:off x="3474720" y="1737360"/>
            <a:ext cx="502920" cy="502920"/>
          </a:xfrm>
          <a:prstGeom prst="rect">
            <a:avLst/>
          </a:prstGeom>
          <a:noFill/>
          <a:ln/>
        </p:spPr>
        <p:txBody>
          <a:bodyPr wrap="square" rtlCol="0" anchor="ctr"/>
          <a:lstStyle/>
          <a:p>
            <a:pPr algn="ctr" indent="0" marL="0">
              <a:buNone/>
            </a:pPr>
            <a:r>
              <a:rPr lang="en-US" sz="1800" b="1" dirty="0">
                <a:solidFill>
                  <a:srgbClr val="024731"/>
                </a:solidFill>
                <a:latin typeface="Open Sans" pitchFamily="34" charset="0"/>
                <a:ea typeface="Open Sans" pitchFamily="34" charset="-122"/>
                <a:cs typeface="Open Sans" pitchFamily="34" charset="-120"/>
              </a:rPr>
              <a:t>2</a:t>
            </a:r>
            <a:endParaRPr lang="en-US" sz="1800" dirty="0"/>
          </a:p>
        </p:txBody>
      </p:sp>
      <p:sp>
        <p:nvSpPr>
          <p:cNvPr id="19" name="Shape 17"/>
          <p:cNvSpPr/>
          <p:nvPr/>
        </p:nvSpPr>
        <p:spPr>
          <a:xfrm>
            <a:off x="4023360" y="1988820"/>
            <a:ext cx="777240" cy="0"/>
          </a:xfrm>
          <a:prstGeom prst="line">
            <a:avLst/>
          </a:prstGeom>
          <a:noFill/>
          <a:ln w="25400">
            <a:solidFill>
              <a:srgbClr val="4DA78F"/>
            </a:solidFill>
            <a:prstDash val="dash"/>
          </a:ln>
        </p:spPr>
      </p:sp>
      <p:sp>
        <p:nvSpPr>
          <p:cNvPr id="20" name="Text 18"/>
          <p:cNvSpPr/>
          <p:nvPr/>
        </p:nvSpPr>
        <p:spPr>
          <a:xfrm>
            <a:off x="3200400" y="2331720"/>
            <a:ext cx="1051560" cy="502920"/>
          </a:xfrm>
          <a:prstGeom prst="rect">
            <a:avLst/>
          </a:prstGeom>
          <a:noFill/>
          <a:ln/>
        </p:spPr>
        <p:txBody>
          <a:bodyPr wrap="square" rtlCol="0" anchor="ctr"/>
          <a:lstStyle/>
          <a:p>
            <a:pPr algn="ctr" indent="0" marL="0">
              <a:buNone/>
            </a:pPr>
            <a:r>
              <a:rPr lang="en-US" sz="1000" dirty="0">
                <a:solidFill>
                  <a:srgbClr val="B8DDD1"/>
                </a:solidFill>
                <a:latin typeface="Open Sans" pitchFamily="34" charset="0"/>
                <a:ea typeface="Open Sans" pitchFamily="34" charset="-122"/>
                <a:cs typeface="Open Sans" pitchFamily="34" charset="-120"/>
              </a:rPr>
              <a:t>Frame the</a:t>
            </a:r>
            <a:endParaRPr lang="en-US" sz="1000" dirty="0"/>
          </a:p>
          <a:p>
            <a:pPr algn="ctr" indent="0" marL="0">
              <a:buNone/>
            </a:pPr>
            <a:r>
              <a:rPr lang="en-US" sz="1000" dirty="0">
                <a:solidFill>
                  <a:srgbClr val="B8DDD1"/>
                </a:solidFill>
                <a:latin typeface="Open Sans" pitchFamily="34" charset="0"/>
                <a:ea typeface="Open Sans" pitchFamily="34" charset="-122"/>
                <a:cs typeface="Open Sans" pitchFamily="34" charset="-120"/>
              </a:rPr>
              <a:t>analysis</a:t>
            </a:r>
            <a:endParaRPr lang="en-US" sz="1000" dirty="0"/>
          </a:p>
        </p:txBody>
      </p:sp>
      <p:sp>
        <p:nvSpPr>
          <p:cNvPr id="21" name="Text 19"/>
          <p:cNvSpPr/>
          <p:nvPr/>
        </p:nvSpPr>
        <p:spPr>
          <a:xfrm>
            <a:off x="3200400" y="2834640"/>
            <a:ext cx="1051560" cy="320040"/>
          </a:xfrm>
          <a:prstGeom prst="rect">
            <a:avLst/>
          </a:prstGeom>
          <a:noFill/>
          <a:ln/>
        </p:spPr>
        <p:txBody>
          <a:bodyPr wrap="square" rtlCol="0" anchor="ctr"/>
          <a:lstStyle/>
          <a:p>
            <a:pPr algn="ctr" indent="0" marL="0">
              <a:buNone/>
            </a:pPr>
            <a:r>
              <a:rPr lang="en-US" sz="900" i="1" dirty="0">
                <a:solidFill>
                  <a:srgbClr val="4DA78F"/>
                </a:solidFill>
                <a:latin typeface="Open Sans" pitchFamily="34" charset="0"/>
                <a:ea typeface="Open Sans" pitchFamily="34" charset="-122"/>
                <a:cs typeface="Open Sans" pitchFamily="34" charset="-120"/>
              </a:rPr>
              <a:t>“I chose why”</a:t>
            </a:r>
            <a:endParaRPr lang="en-US" sz="900" dirty="0"/>
          </a:p>
        </p:txBody>
      </p:sp>
      <p:sp>
        <p:nvSpPr>
          <p:cNvPr id="22" name="Shape 20"/>
          <p:cNvSpPr/>
          <p:nvPr/>
        </p:nvSpPr>
        <p:spPr>
          <a:xfrm>
            <a:off x="4846320" y="1737360"/>
            <a:ext cx="502920" cy="502920"/>
          </a:xfrm>
          <a:prstGeom prst="ellipse">
            <a:avLst/>
          </a:prstGeom>
          <a:solidFill>
            <a:srgbClr val="4DA78F"/>
          </a:solidFill>
          <a:ln/>
        </p:spPr>
      </p:sp>
      <p:sp>
        <p:nvSpPr>
          <p:cNvPr id="23" name="Text 21"/>
          <p:cNvSpPr/>
          <p:nvPr/>
        </p:nvSpPr>
        <p:spPr>
          <a:xfrm>
            <a:off x="4846320" y="1737360"/>
            <a:ext cx="502920" cy="502920"/>
          </a:xfrm>
          <a:prstGeom prst="rect">
            <a:avLst/>
          </a:prstGeom>
          <a:noFill/>
          <a:ln/>
        </p:spPr>
        <p:txBody>
          <a:bodyPr wrap="square" rtlCol="0" anchor="ctr"/>
          <a:lstStyle/>
          <a:p>
            <a:pPr algn="ctr" indent="0" marL="0">
              <a:buNone/>
            </a:pPr>
            <a:r>
              <a:rPr lang="en-US" sz="1800" b="1" dirty="0">
                <a:solidFill>
                  <a:srgbClr val="024731"/>
                </a:solidFill>
                <a:latin typeface="Open Sans" pitchFamily="34" charset="0"/>
                <a:ea typeface="Open Sans" pitchFamily="34" charset="-122"/>
                <a:cs typeface="Open Sans" pitchFamily="34" charset="-120"/>
              </a:rPr>
              <a:t>3</a:t>
            </a:r>
            <a:endParaRPr lang="en-US" sz="1800" dirty="0"/>
          </a:p>
        </p:txBody>
      </p:sp>
      <p:sp>
        <p:nvSpPr>
          <p:cNvPr id="24" name="Shape 22"/>
          <p:cNvSpPr/>
          <p:nvPr/>
        </p:nvSpPr>
        <p:spPr>
          <a:xfrm>
            <a:off x="5394960" y="1988820"/>
            <a:ext cx="777240" cy="0"/>
          </a:xfrm>
          <a:prstGeom prst="line">
            <a:avLst/>
          </a:prstGeom>
          <a:noFill/>
          <a:ln w="25400">
            <a:solidFill>
              <a:srgbClr val="4DA78F"/>
            </a:solidFill>
            <a:prstDash val="dash"/>
          </a:ln>
        </p:spPr>
      </p:sp>
      <p:sp>
        <p:nvSpPr>
          <p:cNvPr id="25" name="Text 23"/>
          <p:cNvSpPr/>
          <p:nvPr/>
        </p:nvSpPr>
        <p:spPr>
          <a:xfrm>
            <a:off x="4572000" y="2331720"/>
            <a:ext cx="1051560" cy="502920"/>
          </a:xfrm>
          <a:prstGeom prst="rect">
            <a:avLst/>
          </a:prstGeom>
          <a:noFill/>
          <a:ln/>
        </p:spPr>
        <p:txBody>
          <a:bodyPr wrap="square" rtlCol="0" anchor="ctr"/>
          <a:lstStyle/>
          <a:p>
            <a:pPr algn="ctr" indent="0" marL="0">
              <a:buNone/>
            </a:pPr>
            <a:r>
              <a:rPr lang="en-US" sz="1000" dirty="0">
                <a:solidFill>
                  <a:srgbClr val="B8DDD1"/>
                </a:solidFill>
                <a:latin typeface="Open Sans" pitchFamily="34" charset="0"/>
                <a:ea typeface="Open Sans" pitchFamily="34" charset="-122"/>
                <a:cs typeface="Open Sans" pitchFamily="34" charset="-120"/>
              </a:rPr>
              <a:t>Populate &amp;</a:t>
            </a:r>
            <a:endParaRPr lang="en-US" sz="1000" dirty="0"/>
          </a:p>
          <a:p>
            <a:pPr algn="ctr" indent="0" marL="0">
              <a:buNone/>
            </a:pPr>
            <a:r>
              <a:rPr lang="en-US" sz="1000" dirty="0">
                <a:solidFill>
                  <a:srgbClr val="B8DDD1"/>
                </a:solidFill>
                <a:latin typeface="Open Sans" pitchFamily="34" charset="0"/>
                <a:ea typeface="Open Sans" pitchFamily="34" charset="-122"/>
                <a:cs typeface="Open Sans" pitchFamily="34" charset="-120"/>
              </a:rPr>
              <a:t>validate</a:t>
            </a:r>
            <a:endParaRPr lang="en-US" sz="1000" dirty="0"/>
          </a:p>
        </p:txBody>
      </p:sp>
      <p:sp>
        <p:nvSpPr>
          <p:cNvPr id="26" name="Text 24"/>
          <p:cNvSpPr/>
          <p:nvPr/>
        </p:nvSpPr>
        <p:spPr>
          <a:xfrm>
            <a:off x="4572000" y="2834640"/>
            <a:ext cx="1051560" cy="320040"/>
          </a:xfrm>
          <a:prstGeom prst="rect">
            <a:avLst/>
          </a:prstGeom>
          <a:noFill/>
          <a:ln/>
        </p:spPr>
        <p:txBody>
          <a:bodyPr wrap="square" rtlCol="0" anchor="ctr"/>
          <a:lstStyle/>
          <a:p>
            <a:pPr algn="ctr" indent="0" marL="0">
              <a:buNone/>
            </a:pPr>
            <a:r>
              <a:rPr lang="en-US" sz="900" i="1" dirty="0">
                <a:solidFill>
                  <a:srgbClr val="4DA78F"/>
                </a:solidFill>
                <a:latin typeface="Open Sans" pitchFamily="34" charset="0"/>
                <a:ea typeface="Open Sans" pitchFamily="34" charset="-122"/>
                <a:cs typeface="Open Sans" pitchFamily="34" charset="-120"/>
              </a:rPr>
              <a:t>“I verified it”</a:t>
            </a:r>
            <a:endParaRPr lang="en-US" sz="900" dirty="0"/>
          </a:p>
        </p:txBody>
      </p:sp>
      <p:sp>
        <p:nvSpPr>
          <p:cNvPr id="27" name="Shape 25"/>
          <p:cNvSpPr/>
          <p:nvPr/>
        </p:nvSpPr>
        <p:spPr>
          <a:xfrm>
            <a:off x="6217920" y="1737360"/>
            <a:ext cx="502920" cy="502920"/>
          </a:xfrm>
          <a:prstGeom prst="ellipse">
            <a:avLst/>
          </a:prstGeom>
          <a:solidFill>
            <a:srgbClr val="C9A84C"/>
          </a:solidFill>
          <a:ln/>
        </p:spPr>
      </p:sp>
      <p:sp>
        <p:nvSpPr>
          <p:cNvPr id="28" name="Text 26"/>
          <p:cNvSpPr/>
          <p:nvPr/>
        </p:nvSpPr>
        <p:spPr>
          <a:xfrm>
            <a:off x="6217920" y="1737360"/>
            <a:ext cx="502920" cy="502920"/>
          </a:xfrm>
          <a:prstGeom prst="rect">
            <a:avLst/>
          </a:prstGeom>
          <a:noFill/>
          <a:ln/>
        </p:spPr>
        <p:txBody>
          <a:bodyPr wrap="square" rtlCol="0" anchor="ctr"/>
          <a:lstStyle/>
          <a:p>
            <a:pPr algn="ctr" indent="0" marL="0">
              <a:buNone/>
            </a:pPr>
            <a:r>
              <a:rPr lang="en-US" sz="1800" b="1" dirty="0">
                <a:solidFill>
                  <a:srgbClr val="024731"/>
                </a:solidFill>
                <a:latin typeface="Open Sans" pitchFamily="34" charset="0"/>
                <a:ea typeface="Open Sans" pitchFamily="34" charset="-122"/>
                <a:cs typeface="Open Sans" pitchFamily="34" charset="-120"/>
              </a:rPr>
              <a:t>4</a:t>
            </a:r>
            <a:endParaRPr lang="en-US" sz="1800" dirty="0"/>
          </a:p>
        </p:txBody>
      </p:sp>
      <p:sp>
        <p:nvSpPr>
          <p:cNvPr id="29" name="Shape 27"/>
          <p:cNvSpPr/>
          <p:nvPr/>
        </p:nvSpPr>
        <p:spPr>
          <a:xfrm>
            <a:off x="6766560" y="1988820"/>
            <a:ext cx="777240" cy="0"/>
          </a:xfrm>
          <a:prstGeom prst="line">
            <a:avLst/>
          </a:prstGeom>
          <a:noFill/>
          <a:ln w="25400">
            <a:solidFill>
              <a:srgbClr val="4DA78F"/>
            </a:solidFill>
            <a:prstDash val="dash"/>
          </a:ln>
        </p:spPr>
      </p:sp>
      <p:sp>
        <p:nvSpPr>
          <p:cNvPr id="30" name="Text 28"/>
          <p:cNvSpPr/>
          <p:nvPr/>
        </p:nvSpPr>
        <p:spPr>
          <a:xfrm>
            <a:off x="5943600" y="2331720"/>
            <a:ext cx="1051560" cy="502920"/>
          </a:xfrm>
          <a:prstGeom prst="rect">
            <a:avLst/>
          </a:prstGeom>
          <a:noFill/>
          <a:ln/>
        </p:spPr>
        <p:txBody>
          <a:bodyPr wrap="square" rtlCol="0" anchor="ctr"/>
          <a:lstStyle/>
          <a:p>
            <a:pPr algn="ctr" indent="0" marL="0">
              <a:buNone/>
            </a:pPr>
            <a:r>
              <a:rPr lang="en-US" sz="1000" dirty="0">
                <a:solidFill>
                  <a:srgbClr val="B8DDD1"/>
                </a:solidFill>
                <a:latin typeface="Open Sans" pitchFamily="34" charset="0"/>
                <a:ea typeface="Open Sans" pitchFamily="34" charset="-122"/>
                <a:cs typeface="Open Sans" pitchFamily="34" charset="-120"/>
              </a:rPr>
              <a:t>Write the</a:t>
            </a:r>
            <a:endParaRPr lang="en-US" sz="1000" dirty="0"/>
          </a:p>
          <a:p>
            <a:pPr algn="ctr" indent="0" marL="0">
              <a:buNone/>
            </a:pPr>
            <a:r>
              <a:rPr lang="en-US" sz="1000" dirty="0">
                <a:solidFill>
                  <a:srgbClr val="B8DDD1"/>
                </a:solidFill>
                <a:latin typeface="Open Sans" pitchFamily="34" charset="0"/>
                <a:ea typeface="Open Sans" pitchFamily="34" charset="-122"/>
                <a:cs typeface="Open Sans" pitchFamily="34" charset="-120"/>
              </a:rPr>
              <a:t>specification</a:t>
            </a:r>
            <a:endParaRPr lang="en-US" sz="1000" dirty="0"/>
          </a:p>
        </p:txBody>
      </p:sp>
      <p:sp>
        <p:nvSpPr>
          <p:cNvPr id="31" name="Text 29"/>
          <p:cNvSpPr/>
          <p:nvPr/>
        </p:nvSpPr>
        <p:spPr>
          <a:xfrm>
            <a:off x="5943600" y="2834640"/>
            <a:ext cx="1051560" cy="320040"/>
          </a:xfrm>
          <a:prstGeom prst="rect">
            <a:avLst/>
          </a:prstGeom>
          <a:noFill/>
          <a:ln/>
        </p:spPr>
        <p:txBody>
          <a:bodyPr wrap="square" rtlCol="0" anchor="ctr"/>
          <a:lstStyle/>
          <a:p>
            <a:pPr algn="ctr" indent="0" marL="0">
              <a:buNone/>
            </a:pPr>
            <a:r>
              <a:rPr lang="en-US" sz="900" i="1" dirty="0">
                <a:solidFill>
                  <a:srgbClr val="4DA78F"/>
                </a:solidFill>
                <a:latin typeface="Open Sans" pitchFamily="34" charset="0"/>
                <a:ea typeface="Open Sans" pitchFamily="34" charset="-122"/>
                <a:cs typeface="Open Sans" pitchFamily="34" charset="-120"/>
              </a:rPr>
              <a:t>“I can specify it”</a:t>
            </a:r>
            <a:endParaRPr lang="en-US" sz="900" dirty="0"/>
          </a:p>
        </p:txBody>
      </p:sp>
      <p:sp>
        <p:nvSpPr>
          <p:cNvPr id="32" name="Shape 30"/>
          <p:cNvSpPr/>
          <p:nvPr/>
        </p:nvSpPr>
        <p:spPr>
          <a:xfrm>
            <a:off x="7589520" y="1737360"/>
            <a:ext cx="502920" cy="502920"/>
          </a:xfrm>
          <a:prstGeom prst="ellipse">
            <a:avLst/>
          </a:prstGeom>
          <a:solidFill>
            <a:srgbClr val="4DA78F"/>
          </a:solidFill>
          <a:ln/>
        </p:spPr>
      </p:sp>
      <p:sp>
        <p:nvSpPr>
          <p:cNvPr id="33" name="Text 31"/>
          <p:cNvSpPr/>
          <p:nvPr/>
        </p:nvSpPr>
        <p:spPr>
          <a:xfrm>
            <a:off x="7589520" y="1737360"/>
            <a:ext cx="502920" cy="502920"/>
          </a:xfrm>
          <a:prstGeom prst="rect">
            <a:avLst/>
          </a:prstGeom>
          <a:noFill/>
          <a:ln/>
        </p:spPr>
        <p:txBody>
          <a:bodyPr wrap="square" rtlCol="0" anchor="ctr"/>
          <a:lstStyle/>
          <a:p>
            <a:pPr algn="ctr" indent="0" marL="0">
              <a:buNone/>
            </a:pPr>
            <a:r>
              <a:rPr lang="en-US" sz="1800" b="1" dirty="0">
                <a:solidFill>
                  <a:srgbClr val="024731"/>
                </a:solidFill>
                <a:latin typeface="Open Sans" pitchFamily="34" charset="0"/>
                <a:ea typeface="Open Sans" pitchFamily="34" charset="-122"/>
                <a:cs typeface="Open Sans" pitchFamily="34" charset="-120"/>
              </a:rPr>
              <a:t>5</a:t>
            </a:r>
            <a:endParaRPr lang="en-US" sz="1800" dirty="0"/>
          </a:p>
        </p:txBody>
      </p:sp>
      <p:sp>
        <p:nvSpPr>
          <p:cNvPr id="34" name="Text 32"/>
          <p:cNvSpPr/>
          <p:nvPr/>
        </p:nvSpPr>
        <p:spPr>
          <a:xfrm>
            <a:off x="7315200" y="2331720"/>
            <a:ext cx="1051560" cy="502920"/>
          </a:xfrm>
          <a:prstGeom prst="rect">
            <a:avLst/>
          </a:prstGeom>
          <a:noFill/>
          <a:ln/>
        </p:spPr>
        <p:txBody>
          <a:bodyPr wrap="square" rtlCol="0" anchor="ctr"/>
          <a:lstStyle/>
          <a:p>
            <a:pPr algn="ctr" indent="0" marL="0">
              <a:buNone/>
            </a:pPr>
            <a:r>
              <a:rPr lang="en-US" sz="1000" dirty="0">
                <a:solidFill>
                  <a:srgbClr val="B8DDD1"/>
                </a:solidFill>
                <a:latin typeface="Open Sans" pitchFamily="34" charset="0"/>
                <a:ea typeface="Open Sans" pitchFamily="34" charset="-122"/>
                <a:cs typeface="Open Sans" pitchFamily="34" charset="-120"/>
              </a:rPr>
              <a:t>Execute &amp;</a:t>
            </a:r>
            <a:endParaRPr lang="en-US" sz="1000" dirty="0"/>
          </a:p>
          <a:p>
            <a:pPr algn="ctr" indent="0" marL="0">
              <a:buNone/>
            </a:pPr>
            <a:r>
              <a:rPr lang="en-US" sz="1000" dirty="0">
                <a:solidFill>
                  <a:srgbClr val="B8DDD1"/>
                </a:solidFill>
                <a:latin typeface="Open Sans" pitchFamily="34" charset="0"/>
                <a:ea typeface="Open Sans" pitchFamily="34" charset="-122"/>
                <a:cs typeface="Open Sans" pitchFamily="34" charset="-120"/>
              </a:rPr>
              <a:t>evaluate</a:t>
            </a:r>
            <a:endParaRPr lang="en-US" sz="1000" dirty="0"/>
          </a:p>
        </p:txBody>
      </p:sp>
      <p:sp>
        <p:nvSpPr>
          <p:cNvPr id="35" name="Text 33"/>
          <p:cNvSpPr/>
          <p:nvPr/>
        </p:nvSpPr>
        <p:spPr>
          <a:xfrm>
            <a:off x="7315200" y="2834640"/>
            <a:ext cx="1051560" cy="320040"/>
          </a:xfrm>
          <a:prstGeom prst="rect">
            <a:avLst/>
          </a:prstGeom>
          <a:noFill/>
          <a:ln/>
        </p:spPr>
        <p:txBody>
          <a:bodyPr wrap="square" rtlCol="0" anchor="ctr"/>
          <a:lstStyle/>
          <a:p>
            <a:pPr algn="ctr" indent="0" marL="0">
              <a:buNone/>
            </a:pPr>
            <a:r>
              <a:rPr lang="en-US" sz="900" i="1" dirty="0">
                <a:solidFill>
                  <a:srgbClr val="4DA78F"/>
                </a:solidFill>
                <a:latin typeface="Open Sans" pitchFamily="34" charset="0"/>
                <a:ea typeface="Open Sans" pitchFamily="34" charset="-122"/>
                <a:cs typeface="Open Sans" pitchFamily="34" charset="-120"/>
              </a:rPr>
              <a:t>“I can judge it”</a:t>
            </a:r>
            <a:endParaRPr lang="en-US" sz="900" dirty="0"/>
          </a:p>
        </p:txBody>
      </p:sp>
      <p:sp>
        <p:nvSpPr>
          <p:cNvPr id="36" name="Shape 34"/>
          <p:cNvSpPr/>
          <p:nvPr/>
        </p:nvSpPr>
        <p:spPr>
          <a:xfrm>
            <a:off x="548640" y="3520440"/>
            <a:ext cx="8046720" cy="1097280"/>
          </a:xfrm>
          <a:prstGeom prst="rect">
            <a:avLst/>
          </a:prstGeom>
          <a:solidFill>
            <a:srgbClr val="01362A"/>
          </a:solidFill>
          <a:ln/>
        </p:spPr>
      </p:sp>
      <p:sp>
        <p:nvSpPr>
          <p:cNvPr id="37" name="Shape 35"/>
          <p:cNvSpPr/>
          <p:nvPr/>
        </p:nvSpPr>
        <p:spPr>
          <a:xfrm>
            <a:off x="548640" y="3520440"/>
            <a:ext cx="54864" cy="1097280"/>
          </a:xfrm>
          <a:prstGeom prst="rect">
            <a:avLst/>
          </a:prstGeom>
          <a:solidFill>
            <a:srgbClr val="C9A84C"/>
          </a:solidFill>
          <a:ln/>
        </p:spPr>
      </p:sp>
      <p:sp>
        <p:nvSpPr>
          <p:cNvPr id="38" name="Text 36"/>
          <p:cNvSpPr/>
          <p:nvPr/>
        </p:nvSpPr>
        <p:spPr>
          <a:xfrm>
            <a:off x="822960" y="3611880"/>
            <a:ext cx="7589520" cy="320040"/>
          </a:xfrm>
          <a:prstGeom prst="rect">
            <a:avLst/>
          </a:prstGeom>
          <a:noFill/>
          <a:ln/>
        </p:spPr>
        <p:txBody>
          <a:bodyPr wrap="square" lIns="0" tIns="0" rIns="0" bIns="0" rtlCol="0" anchor="ctr"/>
          <a:lstStyle/>
          <a:p>
            <a:pPr indent="0" marL="0">
              <a:buNone/>
            </a:pPr>
            <a:r>
              <a:rPr lang="en-US" sz="1600" b="1" dirty="0">
                <a:solidFill>
                  <a:srgbClr val="C9A84C"/>
                </a:solidFill>
                <a:latin typeface="Open Sans" pitchFamily="34" charset="0"/>
                <a:ea typeface="Open Sans" pitchFamily="34" charset="-122"/>
                <a:cs typeface="Open Sans" pitchFamily="34" charset="-120"/>
              </a:rPr>
              <a:t>The Spec Is the Bridge</a:t>
            </a:r>
            <a:endParaRPr lang="en-US" sz="1600" dirty="0"/>
          </a:p>
        </p:txBody>
      </p:sp>
      <p:sp>
        <p:nvSpPr>
          <p:cNvPr id="39" name="Text 37"/>
          <p:cNvSpPr/>
          <p:nvPr/>
        </p:nvSpPr>
        <p:spPr>
          <a:xfrm>
            <a:off x="822960" y="3931920"/>
            <a:ext cx="7589520" cy="594360"/>
          </a:xfrm>
          <a:prstGeom prst="rect">
            <a:avLst/>
          </a:prstGeom>
          <a:noFill/>
          <a:ln/>
        </p:spPr>
        <p:txBody>
          <a:bodyPr wrap="square" lIns="0" tIns="0" rIns="0" bIns="0" rtlCol="0" anchor="ctr"/>
          <a:lstStyle/>
          <a:p>
            <a:pPr indent="0" marL="0">
              <a:buNone/>
            </a:pPr>
            <a:r>
              <a:rPr lang="en-US" sz="1100" dirty="0">
                <a:solidFill>
                  <a:srgbClr val="B8DDD1"/>
                </a:solidFill>
                <a:latin typeface="Open Sans" pitchFamily="34" charset="0"/>
                <a:ea typeface="Open Sans" pitchFamily="34" charset="-122"/>
                <a:cs typeface="Open Sans" pitchFamily="34" charset="-120"/>
              </a:rPr>
              <a:t>Everything before Stage 4 builds knowledge. Everything after it tests whether that knowledge was captured precisely enough to be actionable. The spec must define the complete model (structure, data, formulas, validation) AND the analysis (interpretation, benchmarks, recommendations).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sp>
      <p:sp>
        <p:nvSpPr>
          <p:cNvPr id="3" name="Text 1"/>
          <p:cNvSpPr/>
          <p:nvPr/>
        </p:nvSpPr>
        <p:spPr>
          <a:xfrm>
            <a:off x="548640" y="137160"/>
            <a:ext cx="7315200" cy="274320"/>
          </a:xfrm>
          <a:prstGeom prst="rect">
            <a:avLst/>
          </a:prstGeom>
          <a:noFill/>
          <a:ln/>
        </p:spPr>
        <p:txBody>
          <a:bodyPr wrap="square" lIns="0" tIns="0" rIns="0" bIns="0" rtlCol="0" anchor="ctr"/>
          <a:lstStyle/>
          <a:p>
            <a:pPr indent="0" marL="0">
              <a:buNone/>
            </a:pPr>
            <a:r>
              <a:rPr lang="en-US" sz="2000" b="1" dirty="0">
                <a:solidFill>
                  <a:srgbClr val="FFFFFF"/>
                </a:solidFill>
                <a:latin typeface="Open Sans" pitchFamily="34" charset="0"/>
                <a:ea typeface="Open Sans" pitchFamily="34" charset="-122"/>
                <a:cs typeface="Open Sans" pitchFamily="34" charset="-120"/>
              </a:rPr>
              <a:t>Stage 0 — Repository Setup &amp; Infrastructure</a:t>
            </a:r>
            <a:endParaRPr lang="en-US" sz="2000" dirty="0"/>
          </a:p>
        </p:txBody>
      </p:sp>
      <p:sp>
        <p:nvSpPr>
          <p:cNvPr id="4" name="Text 2"/>
          <p:cNvSpPr/>
          <p:nvPr/>
        </p:nvSpPr>
        <p:spPr>
          <a:xfrm>
            <a:off x="548640" y="429768"/>
            <a:ext cx="2743200" cy="228600"/>
          </a:xfrm>
          <a:prstGeom prst="rect">
            <a:avLst/>
          </a:prstGeom>
          <a:noFill/>
          <a:ln/>
        </p:spPr>
        <p:txBody>
          <a:bodyPr wrap="square" lIns="0" tIns="0" rIns="0" bIns="0" rtlCol="0" anchor="ctr"/>
          <a:lstStyle/>
          <a:p>
            <a:pPr indent="0" marL="0">
              <a:buNone/>
            </a:pPr>
            <a:r>
              <a:rPr lang="en-US" sz="1100" dirty="0">
                <a:solidFill>
                  <a:srgbClr val="B8DDD1"/>
                </a:solidFill>
                <a:latin typeface="Open Sans" pitchFamily="34" charset="0"/>
                <a:ea typeface="Open Sans" pitchFamily="34" charset="-122"/>
                <a:cs typeface="Open Sans" pitchFamily="34" charset="-120"/>
              </a:rPr>
              <a:t>5% of project</a:t>
            </a:r>
            <a:endParaRPr lang="en-US" sz="1100" dirty="0"/>
          </a:p>
        </p:txBody>
      </p:sp>
      <p:sp>
        <p:nvSpPr>
          <p:cNvPr id="5" name="Shape 3"/>
          <p:cNvSpPr/>
          <p:nvPr/>
        </p:nvSpPr>
        <p:spPr>
          <a:xfrm>
            <a:off x="457200" y="1051560"/>
            <a:ext cx="4023360" cy="3566160"/>
          </a:xfrm>
          <a:prstGeom prst="rect">
            <a:avLst/>
          </a:prstGeom>
          <a:solidFill>
            <a:srgbClr val="1A2332"/>
          </a:solidFill>
          <a:ln/>
          <a:effectLst>
            <a:outerShdw sx="100000" sy="100000" kx="0" ky="0" algn="bl" rotWithShape="0" blurRad="76200" dist="25400" dir="8100000">
              <a:srgbClr val="000000">
                <a:alpha val="12000"/>
              </a:srgbClr>
            </a:outerShdw>
          </a:effectLst>
        </p:spPr>
      </p:sp>
      <p:sp>
        <p:nvSpPr>
          <p:cNvPr id="6" name="Text 4"/>
          <p:cNvSpPr/>
          <p:nvPr/>
        </p:nvSpPr>
        <p:spPr>
          <a:xfrm>
            <a:off x="640080" y="1188720"/>
            <a:ext cx="3657600" cy="3291840"/>
          </a:xfrm>
          <a:prstGeom prst="rect">
            <a:avLst/>
          </a:prstGeom>
          <a:noFill/>
          <a:ln/>
        </p:spPr>
        <p:txBody>
          <a:bodyPr wrap="square" rtlCol="0" anchor="ctr"/>
          <a:lstStyle/>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your-username/</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README.md</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docs/</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 memos/</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 specs/</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 plans/</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 templates/</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 memo-template.md</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 spec-template.md</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models/</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 templates/</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 builds/</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data/</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analysis/validation/</a:t>
            </a:r>
            <a:endParaRPr lang="en-US" sz="1000" dirty="0"/>
          </a:p>
          <a:p>
            <a:pPr indent="0" marL="0">
              <a:lnSpc>
                <a:spcPct val="115000"/>
              </a:lnSpc>
              <a:buNone/>
            </a:pPr>
            <a:r>
              <a:rPr lang="en-US" sz="1000" dirty="0">
                <a:solidFill>
                  <a:srgbClr val="4DA78F"/>
                </a:solidFill>
                <a:latin typeface="Consolas" pitchFamily="34" charset="0"/>
                <a:ea typeface="Consolas" pitchFamily="34" charset="-122"/>
                <a:cs typeface="Consolas" pitchFamily="34" charset="-120"/>
              </a:rPr>
              <a:t>└── deliverables/</a:t>
            </a:r>
            <a:endParaRPr lang="en-US" sz="1000" dirty="0"/>
          </a:p>
        </p:txBody>
      </p:sp>
      <p:sp>
        <p:nvSpPr>
          <p:cNvPr id="7" name="Shape 5"/>
          <p:cNvSpPr/>
          <p:nvPr/>
        </p:nvSpPr>
        <p:spPr>
          <a:xfrm>
            <a:off x="4846320" y="1097280"/>
            <a:ext cx="365760" cy="365760"/>
          </a:xfrm>
          <a:prstGeom prst="ellipse">
            <a:avLst/>
          </a:prstGeom>
          <a:solidFill>
            <a:srgbClr val="E6F2EF"/>
          </a:solidFill>
          <a:ln/>
        </p:spPr>
      </p:sp>
      <p:pic>
        <p:nvPicPr>
          <p:cNvPr id="8" name="Image 0" descr="preencoded.png"/>
          <p:cNvPicPr>
            <a:picLocks noChangeAspect="1"/>
          </p:cNvPicPr>
          <p:nvPr/>
        </p:nvPicPr>
        <p:blipFill>
          <a:blip r:embed="rId1"/>
          <a:stretch>
            <a:fillRect/>
          </a:stretch>
        </p:blipFill>
        <p:spPr>
          <a:xfrm>
            <a:off x="4926787" y="1177747"/>
            <a:ext cx="204826" cy="204826"/>
          </a:xfrm>
          <a:prstGeom prst="rect">
            <a:avLst/>
          </a:prstGeom>
        </p:spPr>
      </p:pic>
      <p:sp>
        <p:nvSpPr>
          <p:cNvPr id="9" name="Text 6"/>
          <p:cNvSpPr/>
          <p:nvPr/>
        </p:nvSpPr>
        <p:spPr>
          <a:xfrm>
            <a:off x="5349240" y="1051560"/>
            <a:ext cx="3291840" cy="274320"/>
          </a:xfrm>
          <a:prstGeom prst="rect">
            <a:avLst/>
          </a:prstGeom>
          <a:noFill/>
          <a:ln/>
        </p:spPr>
        <p:txBody>
          <a:bodyPr wrap="square" lIns="0" tIns="0" rIns="0" bIns="0" rtlCol="0" anchor="ctr"/>
          <a:lstStyle/>
          <a:p>
            <a:pPr indent="0" marL="0">
              <a:buNone/>
            </a:pPr>
            <a:r>
              <a:rPr lang="en-US" sz="1200" b="1" dirty="0">
                <a:solidFill>
                  <a:srgbClr val="024731"/>
                </a:solidFill>
                <a:latin typeface="Open Sans" pitchFamily="34" charset="0"/>
                <a:ea typeface="Open Sans" pitchFamily="34" charset="-122"/>
                <a:cs typeface="Open Sans" pitchFamily="34" charset="-120"/>
              </a:rPr>
              <a:t>README.md Files</a:t>
            </a:r>
            <a:endParaRPr lang="en-US" sz="1200" dirty="0"/>
          </a:p>
        </p:txBody>
      </p:sp>
      <p:sp>
        <p:nvSpPr>
          <p:cNvPr id="10" name="Text 7"/>
          <p:cNvSpPr/>
          <p:nvPr/>
        </p:nvSpPr>
        <p:spPr>
          <a:xfrm>
            <a:off x="5349240" y="1325880"/>
            <a:ext cx="3291840" cy="50292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Every directory gets a README. If someone new joins, they navigate by READMEs alone.</a:t>
            </a:r>
            <a:endParaRPr lang="en-US" sz="1000" dirty="0"/>
          </a:p>
        </p:txBody>
      </p:sp>
      <p:sp>
        <p:nvSpPr>
          <p:cNvPr id="11" name="Shape 8"/>
          <p:cNvSpPr/>
          <p:nvPr/>
        </p:nvSpPr>
        <p:spPr>
          <a:xfrm>
            <a:off x="4846320" y="1965960"/>
            <a:ext cx="365760" cy="365760"/>
          </a:xfrm>
          <a:prstGeom prst="ellipse">
            <a:avLst/>
          </a:prstGeom>
          <a:solidFill>
            <a:srgbClr val="E6F2EF"/>
          </a:solidFill>
          <a:ln/>
        </p:spPr>
      </p:sp>
      <p:pic>
        <p:nvPicPr>
          <p:cNvPr id="12" name="Image 1" descr="preencoded.png"/>
          <p:cNvPicPr>
            <a:picLocks noChangeAspect="1"/>
          </p:cNvPicPr>
          <p:nvPr/>
        </p:nvPicPr>
        <p:blipFill>
          <a:blip r:embed="rId2"/>
          <a:stretch>
            <a:fillRect/>
          </a:stretch>
        </p:blipFill>
        <p:spPr>
          <a:xfrm>
            <a:off x="4926787" y="2046427"/>
            <a:ext cx="204826" cy="204826"/>
          </a:xfrm>
          <a:prstGeom prst="rect">
            <a:avLst/>
          </a:prstGeom>
        </p:spPr>
      </p:pic>
      <p:sp>
        <p:nvSpPr>
          <p:cNvPr id="13" name="Text 9"/>
          <p:cNvSpPr/>
          <p:nvPr/>
        </p:nvSpPr>
        <p:spPr>
          <a:xfrm>
            <a:off x="5349240" y="1920240"/>
            <a:ext cx="3291840" cy="274320"/>
          </a:xfrm>
          <a:prstGeom prst="rect">
            <a:avLst/>
          </a:prstGeom>
          <a:noFill/>
          <a:ln/>
        </p:spPr>
        <p:txBody>
          <a:bodyPr wrap="square" lIns="0" tIns="0" rIns="0" bIns="0" rtlCol="0" anchor="ctr"/>
          <a:lstStyle/>
          <a:p>
            <a:pPr indent="0" marL="0">
              <a:buNone/>
            </a:pPr>
            <a:r>
              <a:rPr lang="en-US" sz="1200" b="1" dirty="0">
                <a:solidFill>
                  <a:srgbClr val="024731"/>
                </a:solidFill>
                <a:latin typeface="Open Sans" pitchFamily="34" charset="0"/>
                <a:ea typeface="Open Sans" pitchFamily="34" charset="-122"/>
                <a:cs typeface="Open Sans" pitchFamily="34" charset="-120"/>
              </a:rPr>
              <a:t>Git Basics</a:t>
            </a:r>
            <a:endParaRPr lang="en-US" sz="1200" dirty="0"/>
          </a:p>
        </p:txBody>
      </p:sp>
      <p:sp>
        <p:nvSpPr>
          <p:cNvPr id="14" name="Text 10"/>
          <p:cNvSpPr/>
          <p:nvPr/>
        </p:nvSpPr>
        <p:spPr>
          <a:xfrm>
            <a:off x="5349240" y="2194560"/>
            <a:ext cx="3291840" cy="50292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Clone, add, commit, push, pull. Descriptive commit messages. Version control as a professional skill.</a:t>
            </a:r>
            <a:endParaRPr lang="en-US" sz="1000" dirty="0"/>
          </a:p>
        </p:txBody>
      </p:sp>
      <p:sp>
        <p:nvSpPr>
          <p:cNvPr id="15" name="Shape 11"/>
          <p:cNvSpPr/>
          <p:nvPr/>
        </p:nvSpPr>
        <p:spPr>
          <a:xfrm>
            <a:off x="4846320" y="2834640"/>
            <a:ext cx="365760" cy="365760"/>
          </a:xfrm>
          <a:prstGeom prst="ellipse">
            <a:avLst/>
          </a:prstGeom>
          <a:solidFill>
            <a:srgbClr val="E6F2EF"/>
          </a:solidFill>
          <a:ln/>
        </p:spPr>
      </p:sp>
      <p:pic>
        <p:nvPicPr>
          <p:cNvPr id="16" name="Image 2" descr="preencoded.png"/>
          <p:cNvPicPr>
            <a:picLocks noChangeAspect="1"/>
          </p:cNvPicPr>
          <p:nvPr/>
        </p:nvPicPr>
        <p:blipFill>
          <a:blip r:embed="rId3"/>
          <a:stretch>
            <a:fillRect/>
          </a:stretch>
        </p:blipFill>
        <p:spPr>
          <a:xfrm>
            <a:off x="4926787" y="2915107"/>
            <a:ext cx="204826" cy="204826"/>
          </a:xfrm>
          <a:prstGeom prst="rect">
            <a:avLst/>
          </a:prstGeom>
        </p:spPr>
      </p:pic>
      <p:sp>
        <p:nvSpPr>
          <p:cNvPr id="17" name="Text 12"/>
          <p:cNvSpPr/>
          <p:nvPr/>
        </p:nvSpPr>
        <p:spPr>
          <a:xfrm>
            <a:off x="5349240" y="2788920"/>
            <a:ext cx="3291840" cy="274320"/>
          </a:xfrm>
          <a:prstGeom prst="rect">
            <a:avLst/>
          </a:prstGeom>
          <a:noFill/>
          <a:ln/>
        </p:spPr>
        <p:txBody>
          <a:bodyPr wrap="square" lIns="0" tIns="0" rIns="0" bIns="0" rtlCol="0" anchor="ctr"/>
          <a:lstStyle/>
          <a:p>
            <a:pPr indent="0" marL="0">
              <a:buNone/>
            </a:pPr>
            <a:r>
              <a:rPr lang="en-US" sz="1200" b="1" dirty="0">
                <a:solidFill>
                  <a:srgbClr val="024731"/>
                </a:solidFill>
                <a:latin typeface="Open Sans" pitchFamily="34" charset="0"/>
                <a:ea typeface="Open Sans" pitchFamily="34" charset="-122"/>
                <a:cs typeface="Open Sans" pitchFamily="34" charset="-120"/>
              </a:rPr>
              <a:t>Markdown</a:t>
            </a:r>
            <a:endParaRPr lang="en-US" sz="1200" dirty="0"/>
          </a:p>
        </p:txBody>
      </p:sp>
      <p:sp>
        <p:nvSpPr>
          <p:cNvPr id="18" name="Text 13"/>
          <p:cNvSpPr/>
          <p:nvPr/>
        </p:nvSpPr>
        <p:spPr>
          <a:xfrm>
            <a:off x="5349240" y="3063240"/>
            <a:ext cx="3291840" cy="50292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Headings, lists, tables, links, code blocks — the same tools used in every stage.</a:t>
            </a:r>
            <a:endParaRPr lang="en-US" sz="1000" dirty="0"/>
          </a:p>
        </p:txBody>
      </p:sp>
      <p:sp>
        <p:nvSpPr>
          <p:cNvPr id="19" name="Shape 14"/>
          <p:cNvSpPr/>
          <p:nvPr/>
        </p:nvSpPr>
        <p:spPr>
          <a:xfrm>
            <a:off x="4846320" y="3703320"/>
            <a:ext cx="365760" cy="365760"/>
          </a:xfrm>
          <a:prstGeom prst="ellipse">
            <a:avLst/>
          </a:prstGeom>
          <a:solidFill>
            <a:srgbClr val="E6F2EF"/>
          </a:solidFill>
          <a:ln/>
        </p:spPr>
      </p:sp>
      <p:pic>
        <p:nvPicPr>
          <p:cNvPr id="20" name="Image 3" descr="preencoded.png"/>
          <p:cNvPicPr>
            <a:picLocks noChangeAspect="1"/>
          </p:cNvPicPr>
          <p:nvPr/>
        </p:nvPicPr>
        <p:blipFill>
          <a:blip r:embed="rId4"/>
          <a:stretch>
            <a:fillRect/>
          </a:stretch>
        </p:blipFill>
        <p:spPr>
          <a:xfrm>
            <a:off x="4926787" y="3783787"/>
            <a:ext cx="204826" cy="204826"/>
          </a:xfrm>
          <a:prstGeom prst="rect">
            <a:avLst/>
          </a:prstGeom>
        </p:spPr>
      </p:pic>
      <p:sp>
        <p:nvSpPr>
          <p:cNvPr id="21" name="Text 15"/>
          <p:cNvSpPr/>
          <p:nvPr/>
        </p:nvSpPr>
        <p:spPr>
          <a:xfrm>
            <a:off x="5349240" y="3657600"/>
            <a:ext cx="3291840" cy="274320"/>
          </a:xfrm>
          <a:prstGeom prst="rect">
            <a:avLst/>
          </a:prstGeom>
          <a:noFill/>
          <a:ln/>
        </p:spPr>
        <p:txBody>
          <a:bodyPr wrap="square" lIns="0" tIns="0" rIns="0" bIns="0" rtlCol="0" anchor="ctr"/>
          <a:lstStyle/>
          <a:p>
            <a:pPr indent="0" marL="0">
              <a:buNone/>
            </a:pPr>
            <a:r>
              <a:rPr lang="en-US" sz="1200" b="1" dirty="0">
                <a:solidFill>
                  <a:srgbClr val="024731"/>
                </a:solidFill>
                <a:latin typeface="Open Sans" pitchFamily="34" charset="0"/>
                <a:ea typeface="Open Sans" pitchFamily="34" charset="-122"/>
                <a:cs typeface="Open Sans" pitchFamily="34" charset="-120"/>
              </a:rPr>
              <a:t>Separation of Concerns</a:t>
            </a:r>
            <a:endParaRPr lang="en-US" sz="1200" dirty="0"/>
          </a:p>
        </p:txBody>
      </p:sp>
      <p:sp>
        <p:nvSpPr>
          <p:cNvPr id="22" name="Text 16"/>
          <p:cNvSpPr/>
          <p:nvPr/>
        </p:nvSpPr>
        <p:spPr>
          <a:xfrm>
            <a:off x="5349240" y="3931920"/>
            <a:ext cx="3291840" cy="50292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Raw data ≠ analysis. Templates ≠ builds. Drafts ≠ deliverables.</a:t>
            </a:r>
            <a:endParaRPr lang="en-US" sz="1000" dirty="0"/>
          </a:p>
        </p:txBody>
      </p:sp>
      <p:sp>
        <p:nvSpPr>
          <p:cNvPr id="23" name="Text 17"/>
          <p:cNvSpPr/>
          <p:nvPr/>
        </p:nvSpPr>
        <p:spPr>
          <a:xfrm>
            <a:off x="4846320" y="4526280"/>
            <a:ext cx="3840480" cy="274320"/>
          </a:xfrm>
          <a:prstGeom prst="rect">
            <a:avLst/>
          </a:prstGeom>
          <a:noFill/>
          <a:ln/>
        </p:spPr>
        <p:txBody>
          <a:bodyPr wrap="square" rtlCol="0" anchor="ctr"/>
          <a:lstStyle/>
          <a:p>
            <a:pPr indent="0" marL="0">
              <a:buNone/>
            </a:pPr>
            <a:r>
              <a:rPr lang="en-US" sz="900" i="1" dirty="0">
                <a:solidFill>
                  <a:srgbClr val="6B7280"/>
                </a:solidFill>
                <a:latin typeface="Open Sans" pitchFamily="34" charset="0"/>
                <a:ea typeface="Open Sans" pitchFamily="34" charset="-122"/>
                <a:cs typeface="Open Sans" pitchFamily="34" charset="-120"/>
              </a:rPr>
              <a:t>The course repo serves as a living example — replicate its structure in your own repo.</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sp>
      <p:sp>
        <p:nvSpPr>
          <p:cNvPr id="3" name="Text 1"/>
          <p:cNvSpPr/>
          <p:nvPr/>
        </p:nvSpPr>
        <p:spPr>
          <a:xfrm>
            <a:off x="548640" y="137160"/>
            <a:ext cx="7315200" cy="274320"/>
          </a:xfrm>
          <a:prstGeom prst="rect">
            <a:avLst/>
          </a:prstGeom>
          <a:noFill/>
          <a:ln/>
        </p:spPr>
        <p:txBody>
          <a:bodyPr wrap="square" lIns="0" tIns="0" rIns="0" bIns="0" rtlCol="0" anchor="ctr"/>
          <a:lstStyle/>
          <a:p>
            <a:pPr indent="0" marL="0">
              <a:buNone/>
            </a:pPr>
            <a:r>
              <a:rPr lang="en-US" sz="2000" b="1" dirty="0">
                <a:solidFill>
                  <a:srgbClr val="FFFFFF"/>
                </a:solidFill>
                <a:latin typeface="Open Sans" pitchFamily="34" charset="0"/>
                <a:ea typeface="Open Sans" pitchFamily="34" charset="-122"/>
                <a:cs typeface="Open Sans" pitchFamily="34" charset="-120"/>
              </a:rPr>
              <a:t>Stage 1 — Ratios Template Upload</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indent="0" marL="0">
              <a:buNone/>
            </a:pPr>
            <a:r>
              <a:rPr lang="en-US" sz="1100" dirty="0">
                <a:solidFill>
                  <a:srgbClr val="B8DDD1"/>
                </a:solidFill>
                <a:latin typeface="Open Sans" pitchFamily="34" charset="0"/>
                <a:ea typeface="Open Sans" pitchFamily="34" charset="-122"/>
                <a:cs typeface="Open Sans" pitchFamily="34" charset="-120"/>
              </a:rPr>
              <a:t>20% of project  |  Upload-only — use the provided ratios template, do not modify</a:t>
            </a:r>
            <a:endParaRPr lang="en-US" sz="1100" dirty="0"/>
          </a:p>
        </p:txBody>
      </p:sp>
      <p:sp>
        <p:nvSpPr>
          <p:cNvPr id="5" name="Text 3"/>
          <p:cNvSpPr/>
          <p:nvPr/>
        </p:nvSpPr>
        <p:spPr>
          <a:xfrm>
            <a:off x="548640" y="1051560"/>
            <a:ext cx="4114800" cy="274320"/>
          </a:xfrm>
          <a:prstGeom prst="rect">
            <a:avLst/>
          </a:prstGeom>
          <a:noFill/>
          <a:ln/>
        </p:spPr>
        <p:txBody>
          <a:bodyPr wrap="square" lIns="0" tIns="0" rIns="0" bIns="0" rtlCol="0" anchor="ctr"/>
          <a:lstStyle/>
          <a:p>
            <a:pPr indent="0" marL="0">
              <a:buNone/>
            </a:pPr>
            <a:r>
              <a:rPr lang="en-US" sz="1300" b="1" dirty="0">
                <a:solidFill>
                  <a:srgbClr val="0D0D0D"/>
                </a:solidFill>
                <a:latin typeface="Open Sans" pitchFamily="34" charset="0"/>
                <a:ea typeface="Open Sans" pitchFamily="34" charset="-122"/>
                <a:cs typeface="Open Sans" pitchFamily="34" charset="-120"/>
              </a:rPr>
              <a:t>The provided template includes:</a:t>
            </a:r>
            <a:endParaRPr lang="en-US" sz="1300" dirty="0"/>
          </a:p>
        </p:txBody>
      </p:sp>
      <p:sp>
        <p:nvSpPr>
          <p:cNvPr id="6" name="Text 4"/>
          <p:cNvSpPr/>
          <p:nvPr/>
        </p:nvSpPr>
        <p:spPr>
          <a:xfrm>
            <a:off x="548640" y="1371600"/>
            <a:ext cx="4114800" cy="2011680"/>
          </a:xfrm>
          <a:prstGeom prst="rect">
            <a:avLst/>
          </a:prstGeom>
          <a:noFill/>
          <a:ln/>
        </p:spPr>
        <p:txBody>
          <a:bodyPr wrap="square" rtlCol="0" anchor="ctr"/>
          <a:lstStyle/>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Financial statement tabs (Balance Sheet, Income Statement, Cash Flow)</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Ratios tab with all six categories pre-filled in named-range notation</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Named ranges (BAL_*, INC_*, CASH_*, RATIO_*) defined throughout</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Color coding system applied (Yellow/Blue/Green/Gray)</a:t>
            </a:r>
            <a:endParaRPr lang="en-US" sz="1100" dirty="0"/>
          </a:p>
          <a:p>
            <a:pPr marL="342900" indent="-342900">
              <a:spcAft>
                <a:spcPts val="600"/>
              </a:spcAft>
              <a:buSzPct val="100000"/>
              <a:buChar char="•"/>
            </a:pPr>
            <a:r>
              <a:rPr lang="en-US" sz="1100" dirty="0">
                <a:solidFill>
                  <a:srgbClr val="6B7280"/>
                </a:solidFill>
                <a:latin typeface="Open Sans" pitchFamily="34" charset="0"/>
                <a:ea typeface="Open Sans" pitchFamily="34" charset="-122"/>
                <a:cs typeface="Open Sans" pitchFamily="34" charset="-120"/>
              </a:rPr>
              <a:t>Cover &amp; Instructions tab with project overview and named-range key</a:t>
            </a:r>
            <a:endParaRPr lang="en-US" sz="1100" dirty="0"/>
          </a:p>
        </p:txBody>
      </p:sp>
      <p:sp>
        <p:nvSpPr>
          <p:cNvPr id="7" name="Text 5"/>
          <p:cNvSpPr/>
          <p:nvPr/>
        </p:nvSpPr>
        <p:spPr>
          <a:xfrm>
            <a:off x="548640" y="3520440"/>
            <a:ext cx="4114800" cy="274320"/>
          </a:xfrm>
          <a:prstGeom prst="rect">
            <a:avLst/>
          </a:prstGeom>
          <a:noFill/>
          <a:ln/>
        </p:spPr>
        <p:txBody>
          <a:bodyPr wrap="square" lIns="0" tIns="0" rIns="0" bIns="0" rtlCol="0" anchor="ctr"/>
          <a:lstStyle/>
          <a:p>
            <a:pPr indent="0" marL="0">
              <a:buNone/>
            </a:pPr>
            <a:r>
              <a:rPr lang="en-US" sz="1200" b="1" dirty="0">
                <a:solidFill>
                  <a:srgbClr val="0D0D0D"/>
                </a:solidFill>
                <a:latin typeface="Open Sans" pitchFamily="34" charset="0"/>
                <a:ea typeface="Open Sans" pitchFamily="34" charset="-122"/>
                <a:cs typeface="Open Sans" pitchFamily="34" charset="-120"/>
              </a:rPr>
              <a:t>Color Coding Convention</a:t>
            </a:r>
            <a:endParaRPr lang="en-US" sz="1200" dirty="0"/>
          </a:p>
        </p:txBody>
      </p:sp>
      <p:sp>
        <p:nvSpPr>
          <p:cNvPr id="8" name="Shape 6"/>
          <p:cNvSpPr/>
          <p:nvPr/>
        </p:nvSpPr>
        <p:spPr>
          <a:xfrm>
            <a:off x="548640" y="3840480"/>
            <a:ext cx="914400" cy="594360"/>
          </a:xfrm>
          <a:prstGeom prst="rect">
            <a:avLst/>
          </a:prstGeom>
          <a:solidFill>
            <a:srgbClr val="FEF3C7"/>
          </a:solidFill>
          <a:ln w="19050">
            <a:solidFill>
              <a:srgbClr val="D97706"/>
            </a:solidFill>
            <a:prstDash val="solid"/>
          </a:ln>
        </p:spPr>
      </p:sp>
      <p:sp>
        <p:nvSpPr>
          <p:cNvPr id="9" name="Text 7"/>
          <p:cNvSpPr/>
          <p:nvPr/>
        </p:nvSpPr>
        <p:spPr>
          <a:xfrm>
            <a:off x="548640" y="3886200"/>
            <a:ext cx="914400" cy="502920"/>
          </a:xfrm>
          <a:prstGeom prst="rect">
            <a:avLst/>
          </a:prstGeom>
          <a:noFill/>
          <a:ln/>
        </p:spPr>
        <p:txBody>
          <a:bodyPr wrap="square" rtlCol="0" anchor="ctr"/>
          <a:lstStyle/>
          <a:p>
            <a:pPr algn="ctr" indent="0" marL="0">
              <a:buNone/>
            </a:pPr>
            <a:r>
              <a:rPr lang="en-US" sz="800" b="1" dirty="0">
                <a:solidFill>
                  <a:srgbClr val="D97706"/>
                </a:solidFill>
                <a:latin typeface="Open Sans" pitchFamily="34" charset="0"/>
                <a:ea typeface="Open Sans" pitchFamily="34" charset="-122"/>
                <a:cs typeface="Open Sans" pitchFamily="34" charset="-120"/>
              </a:rPr>
              <a:t>Yellow = Inputs</a:t>
            </a:r>
            <a:endParaRPr lang="en-US" sz="800" dirty="0"/>
          </a:p>
        </p:txBody>
      </p:sp>
      <p:sp>
        <p:nvSpPr>
          <p:cNvPr id="10" name="Shape 8"/>
          <p:cNvSpPr/>
          <p:nvPr/>
        </p:nvSpPr>
        <p:spPr>
          <a:xfrm>
            <a:off x="1572768" y="3840480"/>
            <a:ext cx="914400" cy="594360"/>
          </a:xfrm>
          <a:prstGeom prst="rect">
            <a:avLst/>
          </a:prstGeom>
          <a:solidFill>
            <a:srgbClr val="DBEAFE"/>
          </a:solidFill>
          <a:ln w="19050">
            <a:solidFill>
              <a:srgbClr val="2563EB"/>
            </a:solidFill>
            <a:prstDash val="solid"/>
          </a:ln>
        </p:spPr>
      </p:sp>
      <p:sp>
        <p:nvSpPr>
          <p:cNvPr id="11" name="Text 9"/>
          <p:cNvSpPr/>
          <p:nvPr/>
        </p:nvSpPr>
        <p:spPr>
          <a:xfrm>
            <a:off x="1572768" y="3886200"/>
            <a:ext cx="914400" cy="502920"/>
          </a:xfrm>
          <a:prstGeom prst="rect">
            <a:avLst/>
          </a:prstGeom>
          <a:noFill/>
          <a:ln/>
        </p:spPr>
        <p:txBody>
          <a:bodyPr wrap="square" rtlCol="0" anchor="ctr"/>
          <a:lstStyle/>
          <a:p>
            <a:pPr algn="ctr" indent="0" marL="0">
              <a:buNone/>
            </a:pPr>
            <a:r>
              <a:rPr lang="en-US" sz="800" b="1" dirty="0">
                <a:solidFill>
                  <a:srgbClr val="2563EB"/>
                </a:solidFill>
                <a:latin typeface="Open Sans" pitchFamily="34" charset="0"/>
                <a:ea typeface="Open Sans" pitchFamily="34" charset="-122"/>
                <a:cs typeface="Open Sans" pitchFamily="34" charset="-120"/>
              </a:rPr>
              <a:t>Blue = Assumptions</a:t>
            </a:r>
            <a:endParaRPr lang="en-US" sz="800" dirty="0"/>
          </a:p>
        </p:txBody>
      </p:sp>
      <p:sp>
        <p:nvSpPr>
          <p:cNvPr id="12" name="Shape 10"/>
          <p:cNvSpPr/>
          <p:nvPr/>
        </p:nvSpPr>
        <p:spPr>
          <a:xfrm>
            <a:off x="2596896" y="3840480"/>
            <a:ext cx="914400" cy="594360"/>
          </a:xfrm>
          <a:prstGeom prst="rect">
            <a:avLst/>
          </a:prstGeom>
          <a:solidFill>
            <a:srgbClr val="D1FAE5"/>
          </a:solidFill>
          <a:ln w="19050">
            <a:solidFill>
              <a:srgbClr val="059669"/>
            </a:solidFill>
            <a:prstDash val="solid"/>
          </a:ln>
        </p:spPr>
      </p:sp>
      <p:sp>
        <p:nvSpPr>
          <p:cNvPr id="13" name="Text 11"/>
          <p:cNvSpPr/>
          <p:nvPr/>
        </p:nvSpPr>
        <p:spPr>
          <a:xfrm>
            <a:off x="2596896" y="3886200"/>
            <a:ext cx="914400" cy="502920"/>
          </a:xfrm>
          <a:prstGeom prst="rect">
            <a:avLst/>
          </a:prstGeom>
          <a:noFill/>
          <a:ln/>
        </p:spPr>
        <p:txBody>
          <a:bodyPr wrap="square" rtlCol="0" anchor="ctr"/>
          <a:lstStyle/>
          <a:p>
            <a:pPr algn="ctr" indent="0" marL="0">
              <a:buNone/>
            </a:pPr>
            <a:r>
              <a:rPr lang="en-US" sz="800" b="1" dirty="0">
                <a:solidFill>
                  <a:srgbClr val="059669"/>
                </a:solidFill>
                <a:latin typeface="Open Sans" pitchFamily="34" charset="0"/>
                <a:ea typeface="Open Sans" pitchFamily="34" charset="-122"/>
                <a:cs typeface="Open Sans" pitchFamily="34" charset="-120"/>
              </a:rPr>
              <a:t>Green = Formulas</a:t>
            </a:r>
            <a:endParaRPr lang="en-US" sz="800" dirty="0"/>
          </a:p>
        </p:txBody>
      </p:sp>
      <p:sp>
        <p:nvSpPr>
          <p:cNvPr id="14" name="Shape 12"/>
          <p:cNvSpPr/>
          <p:nvPr/>
        </p:nvSpPr>
        <p:spPr>
          <a:xfrm>
            <a:off x="3621024" y="3840480"/>
            <a:ext cx="914400" cy="594360"/>
          </a:xfrm>
          <a:prstGeom prst="rect">
            <a:avLst/>
          </a:prstGeom>
          <a:solidFill>
            <a:srgbClr val="E5E7EB"/>
          </a:solidFill>
          <a:ln w="19050">
            <a:solidFill>
              <a:srgbClr val="6B7280"/>
            </a:solidFill>
            <a:prstDash val="solid"/>
          </a:ln>
        </p:spPr>
      </p:sp>
      <p:sp>
        <p:nvSpPr>
          <p:cNvPr id="15" name="Text 13"/>
          <p:cNvSpPr/>
          <p:nvPr/>
        </p:nvSpPr>
        <p:spPr>
          <a:xfrm>
            <a:off x="3621024" y="3886200"/>
            <a:ext cx="914400" cy="502920"/>
          </a:xfrm>
          <a:prstGeom prst="rect">
            <a:avLst/>
          </a:prstGeom>
          <a:noFill/>
          <a:ln/>
        </p:spPr>
        <p:txBody>
          <a:bodyPr wrap="square" rtlCol="0" anchor="ctr"/>
          <a:lstStyle/>
          <a:p>
            <a:pPr algn="ctr" indent="0" marL="0">
              <a:buNone/>
            </a:pPr>
            <a:r>
              <a:rPr lang="en-US" sz="800" b="1" dirty="0">
                <a:solidFill>
                  <a:srgbClr val="6B7280"/>
                </a:solidFill>
                <a:latin typeface="Open Sans" pitchFamily="34" charset="0"/>
                <a:ea typeface="Open Sans" pitchFamily="34" charset="-122"/>
                <a:cs typeface="Open Sans" pitchFamily="34" charset="-120"/>
              </a:rPr>
              <a:t>Gray = Outputs</a:t>
            </a:r>
            <a:endParaRPr lang="en-US" sz="800" dirty="0"/>
          </a:p>
        </p:txBody>
      </p:sp>
      <p:sp>
        <p:nvSpPr>
          <p:cNvPr id="16" name="Shape 14"/>
          <p:cNvSpPr/>
          <p:nvPr/>
        </p:nvSpPr>
        <p:spPr>
          <a:xfrm>
            <a:off x="5029200" y="1051560"/>
            <a:ext cx="3657600" cy="361188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17" name="Text 15"/>
          <p:cNvSpPr/>
          <p:nvPr/>
        </p:nvSpPr>
        <p:spPr>
          <a:xfrm>
            <a:off x="5212080" y="1188720"/>
            <a:ext cx="3291840" cy="274320"/>
          </a:xfrm>
          <a:prstGeom prst="rect">
            <a:avLst/>
          </a:prstGeom>
          <a:noFill/>
          <a:ln/>
        </p:spPr>
        <p:txBody>
          <a:bodyPr wrap="square" lIns="0" tIns="0" rIns="0" bIns="0" rtlCol="0" anchor="ctr"/>
          <a:lstStyle/>
          <a:p>
            <a:pPr indent="0" marL="0">
              <a:buNone/>
            </a:pPr>
            <a:r>
              <a:rPr lang="en-US" sz="1300" b="1" dirty="0">
                <a:solidFill>
                  <a:srgbClr val="024731"/>
                </a:solidFill>
                <a:latin typeface="Open Sans" pitchFamily="34" charset="0"/>
                <a:ea typeface="Open Sans" pitchFamily="34" charset="-122"/>
                <a:cs typeface="Open Sans" pitchFamily="34" charset="-120"/>
              </a:rPr>
              <a:t>Six Ratio Categories</a:t>
            </a:r>
            <a:endParaRPr lang="en-US" sz="1300" dirty="0"/>
          </a:p>
        </p:txBody>
      </p:sp>
      <p:sp>
        <p:nvSpPr>
          <p:cNvPr id="18" name="Shape 16"/>
          <p:cNvSpPr/>
          <p:nvPr/>
        </p:nvSpPr>
        <p:spPr>
          <a:xfrm>
            <a:off x="5303520" y="1618488"/>
            <a:ext cx="228600" cy="228600"/>
          </a:xfrm>
          <a:prstGeom prst="ellipse">
            <a:avLst/>
          </a:prstGeom>
          <a:solidFill>
            <a:srgbClr val="024731"/>
          </a:solidFill>
          <a:ln/>
        </p:spPr>
      </p:sp>
      <p:sp>
        <p:nvSpPr>
          <p:cNvPr id="19" name="Text 17"/>
          <p:cNvSpPr/>
          <p:nvPr/>
        </p:nvSpPr>
        <p:spPr>
          <a:xfrm>
            <a:off x="5303520" y="1618488"/>
            <a:ext cx="228600" cy="228600"/>
          </a:xfrm>
          <a:prstGeom prst="rect">
            <a:avLst/>
          </a:prstGeom>
          <a:noFill/>
          <a:ln/>
        </p:spPr>
        <p:txBody>
          <a:bodyPr wrap="square" rtlCol="0" anchor="ctr"/>
          <a:lstStyle/>
          <a:p>
            <a:pPr algn="ctr" indent="0" marL="0">
              <a:buNone/>
            </a:pPr>
            <a:r>
              <a:rPr lang="en-US" sz="900" b="1" dirty="0">
                <a:solidFill>
                  <a:srgbClr val="FFFFFF"/>
                </a:solidFill>
                <a:latin typeface="Open Sans" pitchFamily="34" charset="0"/>
                <a:ea typeface="Open Sans" pitchFamily="34" charset="-122"/>
                <a:cs typeface="Open Sans" pitchFamily="34" charset="-120"/>
              </a:rPr>
              <a:t>1</a:t>
            </a:r>
            <a:endParaRPr lang="en-US" sz="900" dirty="0"/>
          </a:p>
        </p:txBody>
      </p:sp>
      <p:sp>
        <p:nvSpPr>
          <p:cNvPr id="20" name="Text 18"/>
          <p:cNvSpPr/>
          <p:nvPr/>
        </p:nvSpPr>
        <p:spPr>
          <a:xfrm>
            <a:off x="5623560" y="1581912"/>
            <a:ext cx="2880360" cy="201168"/>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Performance</a:t>
            </a:r>
            <a:endParaRPr lang="en-US" sz="1100" dirty="0"/>
          </a:p>
        </p:txBody>
      </p:sp>
      <p:sp>
        <p:nvSpPr>
          <p:cNvPr id="21" name="Text 19"/>
          <p:cNvSpPr/>
          <p:nvPr/>
        </p:nvSpPr>
        <p:spPr>
          <a:xfrm>
            <a:off x="5623560" y="1783080"/>
            <a:ext cx="2880360" cy="201168"/>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MVA, Market-to-Book, EVA</a:t>
            </a:r>
            <a:endParaRPr lang="en-US" sz="900" dirty="0"/>
          </a:p>
        </p:txBody>
      </p:sp>
      <p:sp>
        <p:nvSpPr>
          <p:cNvPr id="22" name="Shape 20"/>
          <p:cNvSpPr/>
          <p:nvPr/>
        </p:nvSpPr>
        <p:spPr>
          <a:xfrm>
            <a:off x="5303520" y="2103120"/>
            <a:ext cx="228600" cy="228600"/>
          </a:xfrm>
          <a:prstGeom prst="ellipse">
            <a:avLst/>
          </a:prstGeom>
          <a:solidFill>
            <a:srgbClr val="024731"/>
          </a:solidFill>
          <a:ln/>
        </p:spPr>
      </p:sp>
      <p:sp>
        <p:nvSpPr>
          <p:cNvPr id="23" name="Text 21"/>
          <p:cNvSpPr/>
          <p:nvPr/>
        </p:nvSpPr>
        <p:spPr>
          <a:xfrm>
            <a:off x="5303520" y="2103120"/>
            <a:ext cx="228600" cy="228600"/>
          </a:xfrm>
          <a:prstGeom prst="rect">
            <a:avLst/>
          </a:prstGeom>
          <a:noFill/>
          <a:ln/>
        </p:spPr>
        <p:txBody>
          <a:bodyPr wrap="square" rtlCol="0" anchor="ctr"/>
          <a:lstStyle/>
          <a:p>
            <a:pPr algn="ctr" indent="0" marL="0">
              <a:buNone/>
            </a:pPr>
            <a:r>
              <a:rPr lang="en-US" sz="900" b="1" dirty="0">
                <a:solidFill>
                  <a:srgbClr val="FFFFFF"/>
                </a:solidFill>
                <a:latin typeface="Open Sans" pitchFamily="34" charset="0"/>
                <a:ea typeface="Open Sans" pitchFamily="34" charset="-122"/>
                <a:cs typeface="Open Sans" pitchFamily="34" charset="-120"/>
              </a:rPr>
              <a:t>2</a:t>
            </a:r>
            <a:endParaRPr lang="en-US" sz="900" dirty="0"/>
          </a:p>
        </p:txBody>
      </p:sp>
      <p:sp>
        <p:nvSpPr>
          <p:cNvPr id="24" name="Text 22"/>
          <p:cNvSpPr/>
          <p:nvPr/>
        </p:nvSpPr>
        <p:spPr>
          <a:xfrm>
            <a:off x="5623560" y="2066544"/>
            <a:ext cx="2880360" cy="201168"/>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Profitability</a:t>
            </a:r>
            <a:endParaRPr lang="en-US" sz="1100" dirty="0"/>
          </a:p>
        </p:txBody>
      </p:sp>
      <p:sp>
        <p:nvSpPr>
          <p:cNvPr id="25" name="Text 23"/>
          <p:cNvSpPr/>
          <p:nvPr/>
        </p:nvSpPr>
        <p:spPr>
          <a:xfrm>
            <a:off x="5623560" y="2267712"/>
            <a:ext cx="2880360" cy="201168"/>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ROA, ROC, ROE</a:t>
            </a:r>
            <a:endParaRPr lang="en-US" sz="900" dirty="0"/>
          </a:p>
        </p:txBody>
      </p:sp>
      <p:sp>
        <p:nvSpPr>
          <p:cNvPr id="26" name="Shape 24"/>
          <p:cNvSpPr/>
          <p:nvPr/>
        </p:nvSpPr>
        <p:spPr>
          <a:xfrm>
            <a:off x="5303520" y="2587752"/>
            <a:ext cx="228600" cy="228600"/>
          </a:xfrm>
          <a:prstGeom prst="ellipse">
            <a:avLst/>
          </a:prstGeom>
          <a:solidFill>
            <a:srgbClr val="024731"/>
          </a:solidFill>
          <a:ln/>
        </p:spPr>
      </p:sp>
      <p:sp>
        <p:nvSpPr>
          <p:cNvPr id="27" name="Text 25"/>
          <p:cNvSpPr/>
          <p:nvPr/>
        </p:nvSpPr>
        <p:spPr>
          <a:xfrm>
            <a:off x="5303520" y="2587752"/>
            <a:ext cx="228600" cy="228600"/>
          </a:xfrm>
          <a:prstGeom prst="rect">
            <a:avLst/>
          </a:prstGeom>
          <a:noFill/>
          <a:ln/>
        </p:spPr>
        <p:txBody>
          <a:bodyPr wrap="square" rtlCol="0" anchor="ctr"/>
          <a:lstStyle/>
          <a:p>
            <a:pPr algn="ctr" indent="0" marL="0">
              <a:buNone/>
            </a:pPr>
            <a:r>
              <a:rPr lang="en-US" sz="900" b="1" dirty="0">
                <a:solidFill>
                  <a:srgbClr val="FFFFFF"/>
                </a:solidFill>
                <a:latin typeface="Open Sans" pitchFamily="34" charset="0"/>
                <a:ea typeface="Open Sans" pitchFamily="34" charset="-122"/>
                <a:cs typeface="Open Sans" pitchFamily="34" charset="-120"/>
              </a:rPr>
              <a:t>3</a:t>
            </a:r>
            <a:endParaRPr lang="en-US" sz="900" dirty="0"/>
          </a:p>
        </p:txBody>
      </p:sp>
      <p:sp>
        <p:nvSpPr>
          <p:cNvPr id="28" name="Text 26"/>
          <p:cNvSpPr/>
          <p:nvPr/>
        </p:nvSpPr>
        <p:spPr>
          <a:xfrm>
            <a:off x="5623560" y="2551176"/>
            <a:ext cx="2880360" cy="201168"/>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Efficiency</a:t>
            </a:r>
            <a:endParaRPr lang="en-US" sz="1100" dirty="0"/>
          </a:p>
        </p:txBody>
      </p:sp>
      <p:sp>
        <p:nvSpPr>
          <p:cNvPr id="29" name="Text 27"/>
          <p:cNvSpPr/>
          <p:nvPr/>
        </p:nvSpPr>
        <p:spPr>
          <a:xfrm>
            <a:off x="5623560" y="2752344"/>
            <a:ext cx="2880360" cy="201168"/>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Asset Turnover, Inventory Days, Collection Period</a:t>
            </a:r>
            <a:endParaRPr lang="en-US" sz="900" dirty="0"/>
          </a:p>
        </p:txBody>
      </p:sp>
      <p:sp>
        <p:nvSpPr>
          <p:cNvPr id="30" name="Shape 28"/>
          <p:cNvSpPr/>
          <p:nvPr/>
        </p:nvSpPr>
        <p:spPr>
          <a:xfrm>
            <a:off x="5303520" y="3072384"/>
            <a:ext cx="228600" cy="228600"/>
          </a:xfrm>
          <a:prstGeom prst="ellipse">
            <a:avLst/>
          </a:prstGeom>
          <a:solidFill>
            <a:srgbClr val="024731"/>
          </a:solidFill>
          <a:ln/>
        </p:spPr>
      </p:sp>
      <p:sp>
        <p:nvSpPr>
          <p:cNvPr id="31" name="Text 29"/>
          <p:cNvSpPr/>
          <p:nvPr/>
        </p:nvSpPr>
        <p:spPr>
          <a:xfrm>
            <a:off x="5303520" y="3072384"/>
            <a:ext cx="228600" cy="228600"/>
          </a:xfrm>
          <a:prstGeom prst="rect">
            <a:avLst/>
          </a:prstGeom>
          <a:noFill/>
          <a:ln/>
        </p:spPr>
        <p:txBody>
          <a:bodyPr wrap="square" rtlCol="0" anchor="ctr"/>
          <a:lstStyle/>
          <a:p>
            <a:pPr algn="ctr" indent="0" marL="0">
              <a:buNone/>
            </a:pPr>
            <a:r>
              <a:rPr lang="en-US" sz="900" b="1" dirty="0">
                <a:solidFill>
                  <a:srgbClr val="FFFFFF"/>
                </a:solidFill>
                <a:latin typeface="Open Sans" pitchFamily="34" charset="0"/>
                <a:ea typeface="Open Sans" pitchFamily="34" charset="-122"/>
                <a:cs typeface="Open Sans" pitchFamily="34" charset="-120"/>
              </a:rPr>
              <a:t>4</a:t>
            </a:r>
            <a:endParaRPr lang="en-US" sz="900" dirty="0"/>
          </a:p>
        </p:txBody>
      </p:sp>
      <p:sp>
        <p:nvSpPr>
          <p:cNvPr id="32" name="Text 30"/>
          <p:cNvSpPr/>
          <p:nvPr/>
        </p:nvSpPr>
        <p:spPr>
          <a:xfrm>
            <a:off x="5623560" y="3035808"/>
            <a:ext cx="2880360" cy="201168"/>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Leverage</a:t>
            </a:r>
            <a:endParaRPr lang="en-US" sz="1100" dirty="0"/>
          </a:p>
        </p:txBody>
      </p:sp>
      <p:sp>
        <p:nvSpPr>
          <p:cNvPr id="33" name="Text 31"/>
          <p:cNvSpPr/>
          <p:nvPr/>
        </p:nvSpPr>
        <p:spPr>
          <a:xfrm>
            <a:off x="5623560" y="3236976"/>
            <a:ext cx="2880360" cy="201168"/>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Debt Ratio, TIE, Cash Coverage, Debt Burden</a:t>
            </a:r>
            <a:endParaRPr lang="en-US" sz="900" dirty="0"/>
          </a:p>
        </p:txBody>
      </p:sp>
      <p:sp>
        <p:nvSpPr>
          <p:cNvPr id="34" name="Shape 32"/>
          <p:cNvSpPr/>
          <p:nvPr/>
        </p:nvSpPr>
        <p:spPr>
          <a:xfrm>
            <a:off x="5303520" y="3557016"/>
            <a:ext cx="228600" cy="228600"/>
          </a:xfrm>
          <a:prstGeom prst="ellipse">
            <a:avLst/>
          </a:prstGeom>
          <a:solidFill>
            <a:srgbClr val="024731"/>
          </a:solidFill>
          <a:ln/>
        </p:spPr>
      </p:sp>
      <p:sp>
        <p:nvSpPr>
          <p:cNvPr id="35" name="Text 33"/>
          <p:cNvSpPr/>
          <p:nvPr/>
        </p:nvSpPr>
        <p:spPr>
          <a:xfrm>
            <a:off x="5303520" y="3557016"/>
            <a:ext cx="228600" cy="228600"/>
          </a:xfrm>
          <a:prstGeom prst="rect">
            <a:avLst/>
          </a:prstGeom>
          <a:noFill/>
          <a:ln/>
        </p:spPr>
        <p:txBody>
          <a:bodyPr wrap="square" rtlCol="0" anchor="ctr"/>
          <a:lstStyle/>
          <a:p>
            <a:pPr algn="ctr" indent="0" marL="0">
              <a:buNone/>
            </a:pPr>
            <a:r>
              <a:rPr lang="en-US" sz="900" b="1" dirty="0">
                <a:solidFill>
                  <a:srgbClr val="FFFFFF"/>
                </a:solidFill>
                <a:latin typeface="Open Sans" pitchFamily="34" charset="0"/>
                <a:ea typeface="Open Sans" pitchFamily="34" charset="-122"/>
                <a:cs typeface="Open Sans" pitchFamily="34" charset="-120"/>
              </a:rPr>
              <a:t>5</a:t>
            </a:r>
            <a:endParaRPr lang="en-US" sz="900" dirty="0"/>
          </a:p>
        </p:txBody>
      </p:sp>
      <p:sp>
        <p:nvSpPr>
          <p:cNvPr id="36" name="Text 34"/>
          <p:cNvSpPr/>
          <p:nvPr/>
        </p:nvSpPr>
        <p:spPr>
          <a:xfrm>
            <a:off x="5623560" y="3520440"/>
            <a:ext cx="2880360" cy="201168"/>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Liquidity</a:t>
            </a:r>
            <a:endParaRPr lang="en-US" sz="1100" dirty="0"/>
          </a:p>
        </p:txBody>
      </p:sp>
      <p:sp>
        <p:nvSpPr>
          <p:cNvPr id="37" name="Text 35"/>
          <p:cNvSpPr/>
          <p:nvPr/>
        </p:nvSpPr>
        <p:spPr>
          <a:xfrm>
            <a:off x="5623560" y="3721608"/>
            <a:ext cx="2880360" cy="201168"/>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Current Ratio, Quick Ratio, Cash Ratio, NWC</a:t>
            </a:r>
            <a:endParaRPr lang="en-US" sz="900" dirty="0"/>
          </a:p>
        </p:txBody>
      </p:sp>
      <p:sp>
        <p:nvSpPr>
          <p:cNvPr id="38" name="Shape 36"/>
          <p:cNvSpPr/>
          <p:nvPr/>
        </p:nvSpPr>
        <p:spPr>
          <a:xfrm>
            <a:off x="5303520" y="4041648"/>
            <a:ext cx="228600" cy="228600"/>
          </a:xfrm>
          <a:prstGeom prst="ellipse">
            <a:avLst/>
          </a:prstGeom>
          <a:solidFill>
            <a:srgbClr val="024731"/>
          </a:solidFill>
          <a:ln/>
        </p:spPr>
      </p:sp>
      <p:sp>
        <p:nvSpPr>
          <p:cNvPr id="39" name="Text 37"/>
          <p:cNvSpPr/>
          <p:nvPr/>
        </p:nvSpPr>
        <p:spPr>
          <a:xfrm>
            <a:off x="5303520" y="4041648"/>
            <a:ext cx="228600" cy="228600"/>
          </a:xfrm>
          <a:prstGeom prst="rect">
            <a:avLst/>
          </a:prstGeom>
          <a:noFill/>
          <a:ln/>
        </p:spPr>
        <p:txBody>
          <a:bodyPr wrap="square" rtlCol="0" anchor="ctr"/>
          <a:lstStyle/>
          <a:p>
            <a:pPr algn="ctr" indent="0" marL="0">
              <a:buNone/>
            </a:pPr>
            <a:r>
              <a:rPr lang="en-US" sz="900" b="1" dirty="0">
                <a:solidFill>
                  <a:srgbClr val="FFFFFF"/>
                </a:solidFill>
                <a:latin typeface="Open Sans" pitchFamily="34" charset="0"/>
                <a:ea typeface="Open Sans" pitchFamily="34" charset="-122"/>
                <a:cs typeface="Open Sans" pitchFamily="34" charset="-120"/>
              </a:rPr>
              <a:t>6</a:t>
            </a:r>
            <a:endParaRPr lang="en-US" sz="900" dirty="0"/>
          </a:p>
        </p:txBody>
      </p:sp>
      <p:sp>
        <p:nvSpPr>
          <p:cNvPr id="40" name="Text 38"/>
          <p:cNvSpPr/>
          <p:nvPr/>
        </p:nvSpPr>
        <p:spPr>
          <a:xfrm>
            <a:off x="5623560" y="4005072"/>
            <a:ext cx="2880360" cy="201168"/>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Du Pont</a:t>
            </a:r>
            <a:endParaRPr lang="en-US" sz="1100" dirty="0"/>
          </a:p>
        </p:txBody>
      </p:sp>
      <p:sp>
        <p:nvSpPr>
          <p:cNvPr id="41" name="Text 39"/>
          <p:cNvSpPr/>
          <p:nvPr/>
        </p:nvSpPr>
        <p:spPr>
          <a:xfrm>
            <a:off x="5623560" y="4206240"/>
            <a:ext cx="2880360" cy="201168"/>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ROA &amp; ROE decomposition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sp>
      <p:sp>
        <p:nvSpPr>
          <p:cNvPr id="3" name="Text 1"/>
          <p:cNvSpPr/>
          <p:nvPr/>
        </p:nvSpPr>
        <p:spPr>
          <a:xfrm>
            <a:off x="548640" y="137160"/>
            <a:ext cx="7315200" cy="274320"/>
          </a:xfrm>
          <a:prstGeom prst="rect">
            <a:avLst/>
          </a:prstGeom>
          <a:noFill/>
          <a:ln/>
        </p:spPr>
        <p:txBody>
          <a:bodyPr wrap="square" lIns="0" tIns="0" rIns="0" bIns="0" rtlCol="0" anchor="ctr"/>
          <a:lstStyle/>
          <a:p>
            <a:pPr indent="0" marL="0">
              <a:buNone/>
            </a:pPr>
            <a:r>
              <a:rPr lang="en-US" sz="2000" b="1" dirty="0">
                <a:solidFill>
                  <a:srgbClr val="FFFFFF"/>
                </a:solidFill>
                <a:latin typeface="Open Sans" pitchFamily="34" charset="0"/>
                <a:ea typeface="Open Sans" pitchFamily="34" charset="-122"/>
                <a:cs typeface="Open Sans" pitchFamily="34" charset="-120"/>
              </a:rPr>
              <a:t>Stage 2 — Company Selection Memo</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indent="0" marL="0">
              <a:buNone/>
            </a:pPr>
            <a:r>
              <a:rPr lang="en-US" sz="1100" dirty="0">
                <a:solidFill>
                  <a:srgbClr val="B8DDD1"/>
                </a:solidFill>
                <a:latin typeface="Open Sans" pitchFamily="34" charset="0"/>
                <a:ea typeface="Open Sans" pitchFamily="34" charset="-122"/>
                <a:cs typeface="Open Sans" pitchFamily="34" charset="-120"/>
              </a:rPr>
              <a:t>10% of project  |  Choose your company, frame the analysis</a:t>
            </a:r>
            <a:endParaRPr lang="en-US" sz="1100" dirty="0"/>
          </a:p>
        </p:txBody>
      </p:sp>
      <p:sp>
        <p:nvSpPr>
          <p:cNvPr id="5" name="Shape 3"/>
          <p:cNvSpPr/>
          <p:nvPr/>
        </p:nvSpPr>
        <p:spPr>
          <a:xfrm>
            <a:off x="548640" y="1097280"/>
            <a:ext cx="5120640" cy="502920"/>
          </a:xfrm>
          <a:prstGeom prst="rect">
            <a:avLst/>
          </a:prstGeom>
          <a:solidFill>
            <a:srgbClr val="F5F7F6"/>
          </a:solidFill>
          <a:ln/>
        </p:spPr>
      </p:sp>
      <p:sp>
        <p:nvSpPr>
          <p:cNvPr id="6" name="Shape 4"/>
          <p:cNvSpPr/>
          <p:nvPr/>
        </p:nvSpPr>
        <p:spPr>
          <a:xfrm>
            <a:off x="685800" y="1188720"/>
            <a:ext cx="320040" cy="320040"/>
          </a:xfrm>
          <a:prstGeom prst="ellipse">
            <a:avLst/>
          </a:prstGeom>
          <a:solidFill>
            <a:srgbClr val="024731"/>
          </a:solidFill>
          <a:ln/>
        </p:spPr>
      </p:sp>
      <p:sp>
        <p:nvSpPr>
          <p:cNvPr id="7" name="Text 5"/>
          <p:cNvSpPr/>
          <p:nvPr/>
        </p:nvSpPr>
        <p:spPr>
          <a:xfrm>
            <a:off x="685800" y="1188720"/>
            <a:ext cx="320040" cy="320040"/>
          </a:xfrm>
          <a:prstGeom prst="rect">
            <a:avLst/>
          </a:prstGeom>
          <a:noFill/>
          <a:ln/>
        </p:spPr>
        <p:txBody>
          <a:bodyPr wrap="square" rtlCol="0" anchor="ctr"/>
          <a:lstStyle/>
          <a:p>
            <a:pPr algn="ctr" indent="0" marL="0">
              <a:buNone/>
            </a:pPr>
            <a:r>
              <a:rPr lang="en-US" sz="1200" b="1" dirty="0">
                <a:solidFill>
                  <a:srgbClr val="FFFFFF"/>
                </a:solidFill>
                <a:latin typeface="Open Sans" pitchFamily="34" charset="0"/>
                <a:ea typeface="Open Sans" pitchFamily="34" charset="-122"/>
                <a:cs typeface="Open Sans" pitchFamily="34" charset="-120"/>
              </a:rPr>
              <a:t>1</a:t>
            </a:r>
            <a:endParaRPr lang="en-US" sz="1200" dirty="0"/>
          </a:p>
        </p:txBody>
      </p:sp>
      <p:sp>
        <p:nvSpPr>
          <p:cNvPr id="8" name="Text 6"/>
          <p:cNvSpPr/>
          <p:nvPr/>
        </p:nvSpPr>
        <p:spPr>
          <a:xfrm>
            <a:off x="1143000" y="1115568"/>
            <a:ext cx="182880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Company Overview</a:t>
            </a:r>
            <a:endParaRPr lang="en-US" sz="1100" dirty="0"/>
          </a:p>
        </p:txBody>
      </p:sp>
      <p:sp>
        <p:nvSpPr>
          <p:cNvPr id="9" name="Text 7"/>
          <p:cNvSpPr/>
          <p:nvPr/>
        </p:nvSpPr>
        <p:spPr>
          <a:xfrm>
            <a:off x="1143000" y="1344168"/>
            <a:ext cx="4389120" cy="22860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Name, ticker, exchange, industry, market cap, reporting currency</a:t>
            </a:r>
            <a:endParaRPr lang="en-US" sz="900" dirty="0"/>
          </a:p>
        </p:txBody>
      </p:sp>
      <p:sp>
        <p:nvSpPr>
          <p:cNvPr id="10" name="Shape 8"/>
          <p:cNvSpPr/>
          <p:nvPr/>
        </p:nvSpPr>
        <p:spPr>
          <a:xfrm>
            <a:off x="548640" y="1691640"/>
            <a:ext cx="5120640" cy="502920"/>
          </a:xfrm>
          <a:prstGeom prst="rect">
            <a:avLst/>
          </a:prstGeom>
          <a:solidFill>
            <a:srgbClr val="FFFFFF"/>
          </a:solidFill>
          <a:ln/>
        </p:spPr>
      </p:sp>
      <p:sp>
        <p:nvSpPr>
          <p:cNvPr id="11" name="Shape 9"/>
          <p:cNvSpPr/>
          <p:nvPr/>
        </p:nvSpPr>
        <p:spPr>
          <a:xfrm>
            <a:off x="685800" y="1783080"/>
            <a:ext cx="320040" cy="320040"/>
          </a:xfrm>
          <a:prstGeom prst="ellipse">
            <a:avLst/>
          </a:prstGeom>
          <a:solidFill>
            <a:srgbClr val="024731"/>
          </a:solidFill>
          <a:ln/>
        </p:spPr>
      </p:sp>
      <p:sp>
        <p:nvSpPr>
          <p:cNvPr id="12" name="Text 10"/>
          <p:cNvSpPr/>
          <p:nvPr/>
        </p:nvSpPr>
        <p:spPr>
          <a:xfrm>
            <a:off x="685800" y="1783080"/>
            <a:ext cx="320040" cy="320040"/>
          </a:xfrm>
          <a:prstGeom prst="rect">
            <a:avLst/>
          </a:prstGeom>
          <a:noFill/>
          <a:ln/>
        </p:spPr>
        <p:txBody>
          <a:bodyPr wrap="square" rtlCol="0" anchor="ctr"/>
          <a:lstStyle/>
          <a:p>
            <a:pPr algn="ctr" indent="0" marL="0">
              <a:buNone/>
            </a:pPr>
            <a:r>
              <a:rPr lang="en-US" sz="1200" b="1" dirty="0">
                <a:solidFill>
                  <a:srgbClr val="FFFFFF"/>
                </a:solidFill>
                <a:latin typeface="Open Sans" pitchFamily="34" charset="0"/>
                <a:ea typeface="Open Sans" pitchFamily="34" charset="-122"/>
                <a:cs typeface="Open Sans" pitchFamily="34" charset="-120"/>
              </a:rPr>
              <a:t>2</a:t>
            </a:r>
            <a:endParaRPr lang="en-US" sz="1200" dirty="0"/>
          </a:p>
        </p:txBody>
      </p:sp>
      <p:sp>
        <p:nvSpPr>
          <p:cNvPr id="13" name="Text 11"/>
          <p:cNvSpPr/>
          <p:nvPr/>
        </p:nvSpPr>
        <p:spPr>
          <a:xfrm>
            <a:off x="1143000" y="1709928"/>
            <a:ext cx="182880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Selection Rationale</a:t>
            </a:r>
            <a:endParaRPr lang="en-US" sz="1100" dirty="0"/>
          </a:p>
        </p:txBody>
      </p:sp>
      <p:sp>
        <p:nvSpPr>
          <p:cNvPr id="14" name="Text 12"/>
          <p:cNvSpPr/>
          <p:nvPr/>
        </p:nvSpPr>
        <p:spPr>
          <a:xfrm>
            <a:off x="1143000" y="1938528"/>
            <a:ext cx="4389120" cy="22860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Why this company? Relevance to your industry, employer, or career goals</a:t>
            </a:r>
            <a:endParaRPr lang="en-US" sz="900" dirty="0"/>
          </a:p>
        </p:txBody>
      </p:sp>
      <p:sp>
        <p:nvSpPr>
          <p:cNvPr id="15" name="Shape 13"/>
          <p:cNvSpPr/>
          <p:nvPr/>
        </p:nvSpPr>
        <p:spPr>
          <a:xfrm>
            <a:off x="548640" y="2286000"/>
            <a:ext cx="5120640" cy="502920"/>
          </a:xfrm>
          <a:prstGeom prst="rect">
            <a:avLst/>
          </a:prstGeom>
          <a:solidFill>
            <a:srgbClr val="F5F7F6"/>
          </a:solidFill>
          <a:ln/>
        </p:spPr>
      </p:sp>
      <p:sp>
        <p:nvSpPr>
          <p:cNvPr id="16" name="Shape 14"/>
          <p:cNvSpPr/>
          <p:nvPr/>
        </p:nvSpPr>
        <p:spPr>
          <a:xfrm>
            <a:off x="685800" y="2377440"/>
            <a:ext cx="320040" cy="320040"/>
          </a:xfrm>
          <a:prstGeom prst="ellipse">
            <a:avLst/>
          </a:prstGeom>
          <a:solidFill>
            <a:srgbClr val="024731"/>
          </a:solidFill>
          <a:ln/>
        </p:spPr>
      </p:sp>
      <p:sp>
        <p:nvSpPr>
          <p:cNvPr id="17" name="Text 15"/>
          <p:cNvSpPr/>
          <p:nvPr/>
        </p:nvSpPr>
        <p:spPr>
          <a:xfrm>
            <a:off x="685800" y="2377440"/>
            <a:ext cx="320040" cy="320040"/>
          </a:xfrm>
          <a:prstGeom prst="rect">
            <a:avLst/>
          </a:prstGeom>
          <a:noFill/>
          <a:ln/>
        </p:spPr>
        <p:txBody>
          <a:bodyPr wrap="square" rtlCol="0" anchor="ctr"/>
          <a:lstStyle/>
          <a:p>
            <a:pPr algn="ctr" indent="0" marL="0">
              <a:buNone/>
            </a:pPr>
            <a:r>
              <a:rPr lang="en-US" sz="1200" b="1" dirty="0">
                <a:solidFill>
                  <a:srgbClr val="FFFFFF"/>
                </a:solidFill>
                <a:latin typeface="Open Sans" pitchFamily="34" charset="0"/>
                <a:ea typeface="Open Sans" pitchFamily="34" charset="-122"/>
                <a:cs typeface="Open Sans" pitchFamily="34" charset="-120"/>
              </a:rPr>
              <a:t>3</a:t>
            </a:r>
            <a:endParaRPr lang="en-US" sz="1200" dirty="0"/>
          </a:p>
        </p:txBody>
      </p:sp>
      <p:sp>
        <p:nvSpPr>
          <p:cNvPr id="18" name="Text 16"/>
          <p:cNvSpPr/>
          <p:nvPr/>
        </p:nvSpPr>
        <p:spPr>
          <a:xfrm>
            <a:off x="1143000" y="2304288"/>
            <a:ext cx="182880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Data Availability</a:t>
            </a:r>
            <a:endParaRPr lang="en-US" sz="1100" dirty="0"/>
          </a:p>
        </p:txBody>
      </p:sp>
      <p:sp>
        <p:nvSpPr>
          <p:cNvPr id="19" name="Text 17"/>
          <p:cNvSpPr/>
          <p:nvPr/>
        </p:nvSpPr>
        <p:spPr>
          <a:xfrm>
            <a:off x="1143000" y="2532888"/>
            <a:ext cx="4389120" cy="22860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Confirm 10-K / annual report access. Note fiscal year, reporting standard (GAAP/IFRS/VAS)</a:t>
            </a:r>
            <a:endParaRPr lang="en-US" sz="900" dirty="0"/>
          </a:p>
        </p:txBody>
      </p:sp>
      <p:sp>
        <p:nvSpPr>
          <p:cNvPr id="20" name="Shape 18"/>
          <p:cNvSpPr/>
          <p:nvPr/>
        </p:nvSpPr>
        <p:spPr>
          <a:xfrm>
            <a:off x="548640" y="2880360"/>
            <a:ext cx="5120640" cy="502920"/>
          </a:xfrm>
          <a:prstGeom prst="rect">
            <a:avLst/>
          </a:prstGeom>
          <a:solidFill>
            <a:srgbClr val="FFFFFF"/>
          </a:solidFill>
          <a:ln/>
        </p:spPr>
      </p:sp>
      <p:sp>
        <p:nvSpPr>
          <p:cNvPr id="21" name="Shape 19"/>
          <p:cNvSpPr/>
          <p:nvPr/>
        </p:nvSpPr>
        <p:spPr>
          <a:xfrm>
            <a:off x="685800" y="2971800"/>
            <a:ext cx="320040" cy="320040"/>
          </a:xfrm>
          <a:prstGeom prst="ellipse">
            <a:avLst/>
          </a:prstGeom>
          <a:solidFill>
            <a:srgbClr val="024731"/>
          </a:solidFill>
          <a:ln/>
        </p:spPr>
      </p:sp>
      <p:sp>
        <p:nvSpPr>
          <p:cNvPr id="22" name="Text 20"/>
          <p:cNvSpPr/>
          <p:nvPr/>
        </p:nvSpPr>
        <p:spPr>
          <a:xfrm>
            <a:off x="685800" y="2971800"/>
            <a:ext cx="320040" cy="320040"/>
          </a:xfrm>
          <a:prstGeom prst="rect">
            <a:avLst/>
          </a:prstGeom>
          <a:noFill/>
          <a:ln/>
        </p:spPr>
        <p:txBody>
          <a:bodyPr wrap="square" rtlCol="0" anchor="ctr"/>
          <a:lstStyle/>
          <a:p>
            <a:pPr algn="ctr" indent="0" marL="0">
              <a:buNone/>
            </a:pPr>
            <a:r>
              <a:rPr lang="en-US" sz="1200" b="1" dirty="0">
                <a:solidFill>
                  <a:srgbClr val="FFFFFF"/>
                </a:solidFill>
                <a:latin typeface="Open Sans" pitchFamily="34" charset="0"/>
                <a:ea typeface="Open Sans" pitchFamily="34" charset="-122"/>
                <a:cs typeface="Open Sans" pitchFamily="34" charset="-120"/>
              </a:rPr>
              <a:t>4</a:t>
            </a:r>
            <a:endParaRPr lang="en-US" sz="1200" dirty="0"/>
          </a:p>
        </p:txBody>
      </p:sp>
      <p:sp>
        <p:nvSpPr>
          <p:cNvPr id="23" name="Text 21"/>
          <p:cNvSpPr/>
          <p:nvPr/>
        </p:nvSpPr>
        <p:spPr>
          <a:xfrm>
            <a:off x="1143000" y="2898648"/>
            <a:ext cx="182880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Preliminary Observations</a:t>
            </a:r>
            <a:endParaRPr lang="en-US" sz="1100" dirty="0"/>
          </a:p>
        </p:txBody>
      </p:sp>
      <p:sp>
        <p:nvSpPr>
          <p:cNvPr id="24" name="Text 22"/>
          <p:cNvSpPr/>
          <p:nvPr/>
        </p:nvSpPr>
        <p:spPr>
          <a:xfrm>
            <a:off x="1143000" y="3127248"/>
            <a:ext cx="4389120" cy="22860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2–3 hypotheses about what ratio analysis might reveal</a:t>
            </a:r>
            <a:endParaRPr lang="en-US" sz="900" dirty="0"/>
          </a:p>
        </p:txBody>
      </p:sp>
      <p:sp>
        <p:nvSpPr>
          <p:cNvPr id="25" name="Shape 23"/>
          <p:cNvSpPr/>
          <p:nvPr/>
        </p:nvSpPr>
        <p:spPr>
          <a:xfrm>
            <a:off x="548640" y="3474720"/>
            <a:ext cx="5120640" cy="502920"/>
          </a:xfrm>
          <a:prstGeom prst="rect">
            <a:avLst/>
          </a:prstGeom>
          <a:solidFill>
            <a:srgbClr val="F5F7F6"/>
          </a:solidFill>
          <a:ln/>
        </p:spPr>
      </p:sp>
      <p:sp>
        <p:nvSpPr>
          <p:cNvPr id="26" name="Shape 24"/>
          <p:cNvSpPr/>
          <p:nvPr/>
        </p:nvSpPr>
        <p:spPr>
          <a:xfrm>
            <a:off x="685800" y="3566160"/>
            <a:ext cx="320040" cy="320040"/>
          </a:xfrm>
          <a:prstGeom prst="ellipse">
            <a:avLst/>
          </a:prstGeom>
          <a:solidFill>
            <a:srgbClr val="024731"/>
          </a:solidFill>
          <a:ln/>
        </p:spPr>
      </p:sp>
      <p:sp>
        <p:nvSpPr>
          <p:cNvPr id="27" name="Text 25"/>
          <p:cNvSpPr/>
          <p:nvPr/>
        </p:nvSpPr>
        <p:spPr>
          <a:xfrm>
            <a:off x="685800" y="3566160"/>
            <a:ext cx="320040" cy="320040"/>
          </a:xfrm>
          <a:prstGeom prst="rect">
            <a:avLst/>
          </a:prstGeom>
          <a:noFill/>
          <a:ln/>
        </p:spPr>
        <p:txBody>
          <a:bodyPr wrap="square" rtlCol="0" anchor="ctr"/>
          <a:lstStyle/>
          <a:p>
            <a:pPr algn="ctr" indent="0" marL="0">
              <a:buNone/>
            </a:pPr>
            <a:r>
              <a:rPr lang="en-US" sz="1200" b="1" dirty="0">
                <a:solidFill>
                  <a:srgbClr val="FFFFFF"/>
                </a:solidFill>
                <a:latin typeface="Open Sans" pitchFamily="34" charset="0"/>
                <a:ea typeface="Open Sans" pitchFamily="34" charset="-122"/>
                <a:cs typeface="Open Sans" pitchFamily="34" charset="-120"/>
              </a:rPr>
              <a:t>5</a:t>
            </a:r>
            <a:endParaRPr lang="en-US" sz="1200" dirty="0"/>
          </a:p>
        </p:txBody>
      </p:sp>
      <p:sp>
        <p:nvSpPr>
          <p:cNvPr id="28" name="Text 26"/>
          <p:cNvSpPr/>
          <p:nvPr/>
        </p:nvSpPr>
        <p:spPr>
          <a:xfrm>
            <a:off x="1143000" y="3493008"/>
            <a:ext cx="182880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Ratio Categories Preview</a:t>
            </a:r>
            <a:endParaRPr lang="en-US" sz="1100" dirty="0"/>
          </a:p>
        </p:txBody>
      </p:sp>
      <p:sp>
        <p:nvSpPr>
          <p:cNvPr id="29" name="Text 27"/>
          <p:cNvSpPr/>
          <p:nvPr/>
        </p:nvSpPr>
        <p:spPr>
          <a:xfrm>
            <a:off x="1143000" y="3721608"/>
            <a:ext cx="4389120" cy="22860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Which categories matter most for this company’s industry and why</a:t>
            </a:r>
            <a:endParaRPr lang="en-US" sz="900" dirty="0"/>
          </a:p>
        </p:txBody>
      </p:sp>
      <p:sp>
        <p:nvSpPr>
          <p:cNvPr id="30" name="Shape 28"/>
          <p:cNvSpPr/>
          <p:nvPr/>
        </p:nvSpPr>
        <p:spPr>
          <a:xfrm>
            <a:off x="548640" y="4069080"/>
            <a:ext cx="5120640" cy="502920"/>
          </a:xfrm>
          <a:prstGeom prst="rect">
            <a:avLst/>
          </a:prstGeom>
          <a:solidFill>
            <a:srgbClr val="FFFFFF"/>
          </a:solidFill>
          <a:ln/>
        </p:spPr>
      </p:sp>
      <p:sp>
        <p:nvSpPr>
          <p:cNvPr id="31" name="Shape 29"/>
          <p:cNvSpPr/>
          <p:nvPr/>
        </p:nvSpPr>
        <p:spPr>
          <a:xfrm>
            <a:off x="685800" y="4160520"/>
            <a:ext cx="320040" cy="320040"/>
          </a:xfrm>
          <a:prstGeom prst="ellipse">
            <a:avLst/>
          </a:prstGeom>
          <a:solidFill>
            <a:srgbClr val="024731"/>
          </a:solidFill>
          <a:ln/>
        </p:spPr>
      </p:sp>
      <p:sp>
        <p:nvSpPr>
          <p:cNvPr id="32" name="Text 30"/>
          <p:cNvSpPr/>
          <p:nvPr/>
        </p:nvSpPr>
        <p:spPr>
          <a:xfrm>
            <a:off x="685800" y="4160520"/>
            <a:ext cx="320040" cy="320040"/>
          </a:xfrm>
          <a:prstGeom prst="rect">
            <a:avLst/>
          </a:prstGeom>
          <a:noFill/>
          <a:ln/>
        </p:spPr>
        <p:txBody>
          <a:bodyPr wrap="square" rtlCol="0" anchor="ctr"/>
          <a:lstStyle/>
          <a:p>
            <a:pPr algn="ctr" indent="0" marL="0">
              <a:buNone/>
            </a:pPr>
            <a:r>
              <a:rPr lang="en-US" sz="1200" b="1" dirty="0">
                <a:solidFill>
                  <a:srgbClr val="FFFFFF"/>
                </a:solidFill>
                <a:latin typeface="Open Sans" pitchFamily="34" charset="0"/>
                <a:ea typeface="Open Sans" pitchFamily="34" charset="-122"/>
                <a:cs typeface="Open Sans" pitchFamily="34" charset="-120"/>
              </a:rPr>
              <a:t>6</a:t>
            </a:r>
            <a:endParaRPr lang="en-US" sz="1200" dirty="0"/>
          </a:p>
        </p:txBody>
      </p:sp>
      <p:sp>
        <p:nvSpPr>
          <p:cNvPr id="33" name="Text 31"/>
          <p:cNvSpPr/>
          <p:nvPr/>
        </p:nvSpPr>
        <p:spPr>
          <a:xfrm>
            <a:off x="1143000" y="4087368"/>
            <a:ext cx="182880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Data Collection Plan</a:t>
            </a:r>
            <a:endParaRPr lang="en-US" sz="1100" dirty="0"/>
          </a:p>
        </p:txBody>
      </p:sp>
      <p:sp>
        <p:nvSpPr>
          <p:cNvPr id="34" name="Text 32"/>
          <p:cNvSpPr/>
          <p:nvPr/>
        </p:nvSpPr>
        <p:spPr>
          <a:xfrm>
            <a:off x="1143000" y="4315968"/>
            <a:ext cx="4389120" cy="22860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What financials are needed, market assumptions to source, timeline</a:t>
            </a:r>
            <a:endParaRPr lang="en-US" sz="900" dirty="0"/>
          </a:p>
        </p:txBody>
      </p:sp>
      <p:sp>
        <p:nvSpPr>
          <p:cNvPr id="35" name="Shape 33"/>
          <p:cNvSpPr/>
          <p:nvPr/>
        </p:nvSpPr>
        <p:spPr>
          <a:xfrm>
            <a:off x="5943600" y="1097280"/>
            <a:ext cx="2926080" cy="3566160"/>
          </a:xfrm>
          <a:prstGeom prst="rect">
            <a:avLst/>
          </a:prstGeom>
          <a:solidFill>
            <a:srgbClr val="E6F2EF"/>
          </a:solidFill>
          <a:ln/>
          <a:effectLst>
            <a:outerShdw sx="100000" sy="100000" kx="0" ky="0" algn="bl" rotWithShape="0" blurRad="50800" dist="12700" dir="8100000">
              <a:srgbClr val="000000">
                <a:alpha val="10000"/>
              </a:srgbClr>
            </a:outerShdw>
          </a:effectLst>
        </p:spPr>
      </p:sp>
      <p:sp>
        <p:nvSpPr>
          <p:cNvPr id="36" name="Shape 34"/>
          <p:cNvSpPr/>
          <p:nvPr/>
        </p:nvSpPr>
        <p:spPr>
          <a:xfrm>
            <a:off x="5943600" y="1097280"/>
            <a:ext cx="2926080" cy="411480"/>
          </a:xfrm>
          <a:prstGeom prst="rect">
            <a:avLst/>
          </a:prstGeom>
          <a:solidFill>
            <a:srgbClr val="024731"/>
          </a:solidFill>
          <a:ln/>
        </p:spPr>
      </p:sp>
      <p:sp>
        <p:nvSpPr>
          <p:cNvPr id="37" name="Text 35"/>
          <p:cNvSpPr/>
          <p:nvPr/>
        </p:nvSpPr>
        <p:spPr>
          <a:xfrm>
            <a:off x="6035040" y="1115568"/>
            <a:ext cx="2743200" cy="36576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Company Eligibility</a:t>
            </a:r>
            <a:endParaRPr lang="en-US" sz="1300" dirty="0"/>
          </a:p>
        </p:txBody>
      </p:sp>
      <p:sp>
        <p:nvSpPr>
          <p:cNvPr id="38" name="Text 36"/>
          <p:cNvSpPr/>
          <p:nvPr/>
        </p:nvSpPr>
        <p:spPr>
          <a:xfrm>
            <a:off x="6080760" y="1645920"/>
            <a:ext cx="2651760" cy="2834640"/>
          </a:xfrm>
          <a:prstGeom prst="rect">
            <a:avLst/>
          </a:prstGeom>
          <a:noFill/>
          <a:ln/>
        </p:spPr>
        <p:txBody>
          <a:bodyPr wrap="square" rtlCol="0" anchor="ctr"/>
          <a:lstStyle/>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Publicly traded on a major exchange</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NYSE, NASDAQ, HOSE, HNX, SGX, SET, IDX, or other recognized exchange</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Non-financial company</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Minimum 2 years of data</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Non-U.S. companies encouraged — especially Vietnamese and ASEAN firms</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English-language deliverables required; source financials may be in local language</a:t>
            </a:r>
            <a:endParaRPr lang="en-US" sz="900" dirty="0"/>
          </a:p>
          <a:p>
            <a:pPr marL="342900" indent="-342900">
              <a:spcAft>
                <a:spcPts val="400"/>
              </a:spcAft>
              <a:buSzPct val="100000"/>
              <a:buChar char="•"/>
            </a:pPr>
            <a:r>
              <a:rPr lang="en-US" sz="900" dirty="0">
                <a:solidFill>
                  <a:srgbClr val="024731"/>
                </a:solidFill>
                <a:latin typeface="Open Sans" pitchFamily="34" charset="0"/>
                <a:ea typeface="Open Sans" pitchFamily="34" charset="-122"/>
                <a:cs typeface="Open Sans" pitchFamily="34" charset="-120"/>
              </a:rPr>
              <a:t>Note IFRS / GAAP / VAS differences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sp>
      <p:sp>
        <p:nvSpPr>
          <p:cNvPr id="3" name="Text 1"/>
          <p:cNvSpPr/>
          <p:nvPr/>
        </p:nvSpPr>
        <p:spPr>
          <a:xfrm>
            <a:off x="548640" y="137160"/>
            <a:ext cx="7315200" cy="274320"/>
          </a:xfrm>
          <a:prstGeom prst="rect">
            <a:avLst/>
          </a:prstGeom>
          <a:noFill/>
          <a:ln/>
        </p:spPr>
        <p:txBody>
          <a:bodyPr wrap="square" lIns="0" tIns="0" rIns="0" bIns="0" rtlCol="0" anchor="ctr"/>
          <a:lstStyle/>
          <a:p>
            <a:pPr indent="0" marL="0">
              <a:buNone/>
            </a:pPr>
            <a:r>
              <a:rPr lang="en-US" sz="2000" b="1" dirty="0">
                <a:solidFill>
                  <a:srgbClr val="FFFFFF"/>
                </a:solidFill>
                <a:latin typeface="Open Sans" pitchFamily="34" charset="0"/>
                <a:ea typeface="Open Sans" pitchFamily="34" charset="-122"/>
                <a:cs typeface="Open Sans" pitchFamily="34" charset="-120"/>
              </a:rPr>
              <a:t>Stage 3 — Model Population &amp; Validation</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indent="0" marL="0">
              <a:buNone/>
            </a:pPr>
            <a:r>
              <a:rPr lang="en-US" sz="1100" dirty="0">
                <a:solidFill>
                  <a:srgbClr val="B8DDD1"/>
                </a:solidFill>
                <a:latin typeface="Open Sans" pitchFamily="34" charset="0"/>
                <a:ea typeface="Open Sans" pitchFamily="34" charset="-122"/>
                <a:cs typeface="Open Sans" pitchFamily="34" charset="-120"/>
              </a:rPr>
              <a:t>20% of project  |  Populate the financials — full analysis comes in Stage 5</a:t>
            </a:r>
            <a:endParaRPr lang="en-US" sz="1100" dirty="0"/>
          </a:p>
        </p:txBody>
      </p:sp>
      <p:sp>
        <p:nvSpPr>
          <p:cNvPr id="5" name="Text 3"/>
          <p:cNvSpPr/>
          <p:nvPr/>
        </p:nvSpPr>
        <p:spPr>
          <a:xfrm>
            <a:off x="548640" y="1051560"/>
            <a:ext cx="4114800" cy="274320"/>
          </a:xfrm>
          <a:prstGeom prst="rect">
            <a:avLst/>
          </a:prstGeom>
          <a:noFill/>
          <a:ln/>
        </p:spPr>
        <p:txBody>
          <a:bodyPr wrap="square" lIns="0" tIns="0" rIns="0" bIns="0" rtlCol="0" anchor="ctr"/>
          <a:lstStyle/>
          <a:p>
            <a:pPr indent="0" marL="0">
              <a:buNone/>
            </a:pPr>
            <a:r>
              <a:rPr lang="en-US" sz="1400" b="1" dirty="0">
                <a:solidFill>
                  <a:srgbClr val="024731"/>
                </a:solidFill>
                <a:latin typeface="Open Sans" pitchFamily="34" charset="0"/>
                <a:ea typeface="Open Sans" pitchFamily="34" charset="-122"/>
                <a:cs typeface="Open Sans" pitchFamily="34" charset="-120"/>
              </a:rPr>
              <a:t>Deliverables</a:t>
            </a:r>
            <a:endParaRPr lang="en-US" sz="1400" dirty="0"/>
          </a:p>
        </p:txBody>
      </p:sp>
      <p:sp>
        <p:nvSpPr>
          <p:cNvPr id="6" name="Shape 4"/>
          <p:cNvSpPr/>
          <p:nvPr/>
        </p:nvSpPr>
        <p:spPr>
          <a:xfrm>
            <a:off x="548640" y="1417320"/>
            <a:ext cx="4114800" cy="502920"/>
          </a:xfrm>
          <a:prstGeom prst="rect">
            <a:avLst/>
          </a:prstGeom>
          <a:solidFill>
            <a:srgbClr val="E6F2EF"/>
          </a:solidFill>
          <a:ln/>
        </p:spPr>
      </p:sp>
      <p:sp>
        <p:nvSpPr>
          <p:cNvPr id="7" name="Text 5"/>
          <p:cNvSpPr/>
          <p:nvPr/>
        </p:nvSpPr>
        <p:spPr>
          <a:xfrm>
            <a:off x="685800" y="1463040"/>
            <a:ext cx="3840480" cy="411480"/>
          </a:xfrm>
          <a:prstGeom prst="rect">
            <a:avLst/>
          </a:prstGeom>
          <a:noFill/>
          <a:ln/>
        </p:spPr>
        <p:txBody>
          <a:bodyPr wrap="square"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1. Completed .xlsx workbook</a:t>
            </a:r>
            <a:endParaRPr lang="en-US" sz="1100" dirty="0"/>
          </a:p>
          <a:p>
            <a:pPr indent="0" marL="0">
              <a:buNone/>
            </a:pPr>
            <a:r>
              <a:rPr lang="en-US" sz="1100" dirty="0">
                <a:solidFill>
                  <a:srgbClr val="024731"/>
                </a:solidFill>
                <a:latin typeface="Open Sans" pitchFamily="34" charset="0"/>
                <a:ea typeface="Open Sans" pitchFamily="34" charset="-122"/>
                <a:cs typeface="Open Sans" pitchFamily="34" charset="-120"/>
              </a:rPr>
              <a:t xml:space="preserve">    saved to models/builds/</a:t>
            </a:r>
            <a:endParaRPr lang="en-US" sz="1100" dirty="0"/>
          </a:p>
        </p:txBody>
      </p:sp>
      <p:sp>
        <p:nvSpPr>
          <p:cNvPr id="8" name="Shape 6"/>
          <p:cNvSpPr/>
          <p:nvPr/>
        </p:nvSpPr>
        <p:spPr>
          <a:xfrm>
            <a:off x="548640" y="2011680"/>
            <a:ext cx="4114800" cy="502920"/>
          </a:xfrm>
          <a:prstGeom prst="rect">
            <a:avLst/>
          </a:prstGeom>
          <a:solidFill>
            <a:srgbClr val="E6F2EF"/>
          </a:solidFill>
          <a:ln/>
        </p:spPr>
      </p:sp>
      <p:sp>
        <p:nvSpPr>
          <p:cNvPr id="9" name="Text 7"/>
          <p:cNvSpPr/>
          <p:nvPr/>
        </p:nvSpPr>
        <p:spPr>
          <a:xfrm>
            <a:off x="685800" y="2057400"/>
            <a:ext cx="3840480" cy="411480"/>
          </a:xfrm>
          <a:prstGeom prst="rect">
            <a:avLst/>
          </a:prstGeom>
          <a:noFill/>
          <a:ln/>
        </p:spPr>
        <p:txBody>
          <a:bodyPr wrap="square"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2. Validation report (.md, 200–300 words)</a:t>
            </a:r>
            <a:endParaRPr lang="en-US" sz="1100" dirty="0"/>
          </a:p>
          <a:p>
            <a:pPr indent="0" marL="0">
              <a:buNone/>
            </a:pPr>
            <a:r>
              <a:rPr lang="en-US" sz="1100" dirty="0">
                <a:solidFill>
                  <a:srgbClr val="024731"/>
                </a:solidFill>
                <a:latin typeface="Open Sans" pitchFamily="34" charset="0"/>
                <a:ea typeface="Open Sans" pitchFamily="34" charset="-122"/>
                <a:cs typeface="Open Sans" pitchFamily="34" charset="-120"/>
              </a:rPr>
              <a:t xml:space="preserve">    saved to analysis/validation/</a:t>
            </a:r>
            <a:endParaRPr lang="en-US" sz="1100" dirty="0"/>
          </a:p>
        </p:txBody>
      </p:sp>
      <p:sp>
        <p:nvSpPr>
          <p:cNvPr id="10" name="Shape 8"/>
          <p:cNvSpPr/>
          <p:nvPr/>
        </p:nvSpPr>
        <p:spPr>
          <a:xfrm>
            <a:off x="4937760" y="1051560"/>
            <a:ext cx="3840480" cy="374904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11" name="Text 9"/>
          <p:cNvSpPr/>
          <p:nvPr/>
        </p:nvSpPr>
        <p:spPr>
          <a:xfrm>
            <a:off x="5120640" y="1143000"/>
            <a:ext cx="3474720" cy="320040"/>
          </a:xfrm>
          <a:prstGeom prst="rect">
            <a:avLst/>
          </a:prstGeom>
          <a:noFill/>
          <a:ln/>
        </p:spPr>
        <p:txBody>
          <a:bodyPr wrap="square" lIns="0" tIns="0" rIns="0" bIns="0" rtlCol="0" anchor="ctr"/>
          <a:lstStyle/>
          <a:p>
            <a:pPr indent="0" marL="0">
              <a:buNone/>
            </a:pPr>
            <a:r>
              <a:rPr lang="en-US" sz="1400" b="1" dirty="0">
                <a:solidFill>
                  <a:srgbClr val="024731"/>
                </a:solidFill>
                <a:latin typeface="Open Sans" pitchFamily="34" charset="0"/>
                <a:ea typeface="Open Sans" pitchFamily="34" charset="-122"/>
                <a:cs typeface="Open Sans" pitchFamily="34" charset="-120"/>
              </a:rPr>
              <a:t>Self-Audit Checklist</a:t>
            </a:r>
            <a:endParaRPr lang="en-US" sz="1400" dirty="0"/>
          </a:p>
        </p:txBody>
      </p:sp>
      <p:sp>
        <p:nvSpPr>
          <p:cNvPr id="12" name="Text 10"/>
          <p:cNvSpPr/>
          <p:nvPr/>
        </p:nvSpPr>
        <p:spPr>
          <a:xfrm>
            <a:off x="5120640" y="1417320"/>
            <a:ext cx="3474720" cy="228600"/>
          </a:xfrm>
          <a:prstGeom prst="rect">
            <a:avLst/>
          </a:prstGeom>
          <a:noFill/>
          <a:ln/>
        </p:spPr>
        <p:txBody>
          <a:bodyPr wrap="square" lIns="0" tIns="0" rIns="0" bIns="0" rtlCol="0" anchor="ctr"/>
          <a:lstStyle/>
          <a:p>
            <a:pPr indent="0" marL="0">
              <a:buNone/>
            </a:pPr>
            <a:r>
              <a:rPr lang="en-US" sz="900" i="1" dirty="0">
                <a:solidFill>
                  <a:srgbClr val="6B7280"/>
                </a:solidFill>
                <a:latin typeface="Open Sans" pitchFamily="34" charset="0"/>
                <a:ea typeface="Open Sans" pitchFamily="34" charset="-122"/>
                <a:cs typeface="Open Sans" pitchFamily="34" charset="-120"/>
              </a:rPr>
              <a:t>Address each item in your validation report</a:t>
            </a:r>
            <a:endParaRPr lang="en-US" sz="900" dirty="0"/>
          </a:p>
        </p:txBody>
      </p:sp>
      <p:sp>
        <p:nvSpPr>
          <p:cNvPr id="13" name="Shape 11"/>
          <p:cNvSpPr/>
          <p:nvPr/>
        </p:nvSpPr>
        <p:spPr>
          <a:xfrm>
            <a:off x="5212080" y="1783080"/>
            <a:ext cx="201168" cy="201168"/>
          </a:xfrm>
          <a:prstGeom prst="rect">
            <a:avLst/>
          </a:prstGeom>
          <a:solidFill>
            <a:srgbClr val="FFFFFF"/>
          </a:solidFill>
          <a:ln w="19050">
            <a:solidFill>
              <a:srgbClr val="024731"/>
            </a:solidFill>
            <a:prstDash val="solid"/>
          </a:ln>
        </p:spPr>
      </p:sp>
      <p:sp>
        <p:nvSpPr>
          <p:cNvPr id="14" name="Text 12"/>
          <p:cNvSpPr/>
          <p:nvPr/>
        </p:nvSpPr>
        <p:spPr>
          <a:xfrm>
            <a:off x="5532120" y="1764792"/>
            <a:ext cx="3108960" cy="22860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Balance Sheet balances (both years)</a:t>
            </a:r>
            <a:endParaRPr lang="en-US" sz="1000" dirty="0"/>
          </a:p>
        </p:txBody>
      </p:sp>
      <p:sp>
        <p:nvSpPr>
          <p:cNvPr id="15" name="Shape 13"/>
          <p:cNvSpPr/>
          <p:nvPr/>
        </p:nvSpPr>
        <p:spPr>
          <a:xfrm>
            <a:off x="5212080" y="2130552"/>
            <a:ext cx="201168" cy="201168"/>
          </a:xfrm>
          <a:prstGeom prst="rect">
            <a:avLst/>
          </a:prstGeom>
          <a:solidFill>
            <a:srgbClr val="FFFFFF"/>
          </a:solidFill>
          <a:ln w="19050">
            <a:solidFill>
              <a:srgbClr val="024731"/>
            </a:solidFill>
            <a:prstDash val="solid"/>
          </a:ln>
        </p:spPr>
      </p:sp>
      <p:sp>
        <p:nvSpPr>
          <p:cNvPr id="16" name="Text 14"/>
          <p:cNvSpPr/>
          <p:nvPr/>
        </p:nvSpPr>
        <p:spPr>
          <a:xfrm>
            <a:off x="5532120" y="2112264"/>
            <a:ext cx="3108960" cy="22860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Du Pont ROA ≈ Direct ROA</a:t>
            </a:r>
            <a:endParaRPr lang="en-US" sz="1000" dirty="0"/>
          </a:p>
        </p:txBody>
      </p:sp>
      <p:sp>
        <p:nvSpPr>
          <p:cNvPr id="17" name="Shape 15"/>
          <p:cNvSpPr/>
          <p:nvPr/>
        </p:nvSpPr>
        <p:spPr>
          <a:xfrm>
            <a:off x="5212080" y="2478024"/>
            <a:ext cx="201168" cy="201168"/>
          </a:xfrm>
          <a:prstGeom prst="rect">
            <a:avLst/>
          </a:prstGeom>
          <a:solidFill>
            <a:srgbClr val="FFFFFF"/>
          </a:solidFill>
          <a:ln w="19050">
            <a:solidFill>
              <a:srgbClr val="024731"/>
            </a:solidFill>
            <a:prstDash val="solid"/>
          </a:ln>
        </p:spPr>
      </p:sp>
      <p:sp>
        <p:nvSpPr>
          <p:cNvPr id="18" name="Text 16"/>
          <p:cNvSpPr/>
          <p:nvPr/>
        </p:nvSpPr>
        <p:spPr>
          <a:xfrm>
            <a:off x="5532120" y="2459736"/>
            <a:ext cx="3108960" cy="22860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Du Pont ROE ≈ Direct ROE</a:t>
            </a:r>
            <a:endParaRPr lang="en-US" sz="1000" dirty="0"/>
          </a:p>
        </p:txBody>
      </p:sp>
      <p:sp>
        <p:nvSpPr>
          <p:cNvPr id="19" name="Shape 17"/>
          <p:cNvSpPr/>
          <p:nvPr/>
        </p:nvSpPr>
        <p:spPr>
          <a:xfrm>
            <a:off x="5212080" y="2825496"/>
            <a:ext cx="201168" cy="201168"/>
          </a:xfrm>
          <a:prstGeom prst="rect">
            <a:avLst/>
          </a:prstGeom>
          <a:solidFill>
            <a:srgbClr val="FFFFFF"/>
          </a:solidFill>
          <a:ln w="19050">
            <a:solidFill>
              <a:srgbClr val="024731"/>
            </a:solidFill>
            <a:prstDash val="solid"/>
          </a:ln>
        </p:spPr>
      </p:sp>
      <p:sp>
        <p:nvSpPr>
          <p:cNvPr id="20" name="Text 18"/>
          <p:cNvSpPr/>
          <p:nvPr/>
        </p:nvSpPr>
        <p:spPr>
          <a:xfrm>
            <a:off x="5532120" y="2807208"/>
            <a:ext cx="3108960" cy="22860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Sign checks (no impossible negatives)</a:t>
            </a:r>
            <a:endParaRPr lang="en-US" sz="1000" dirty="0"/>
          </a:p>
        </p:txBody>
      </p:sp>
      <p:sp>
        <p:nvSpPr>
          <p:cNvPr id="21" name="Shape 19"/>
          <p:cNvSpPr/>
          <p:nvPr/>
        </p:nvSpPr>
        <p:spPr>
          <a:xfrm>
            <a:off x="5212080" y="3172968"/>
            <a:ext cx="201168" cy="201168"/>
          </a:xfrm>
          <a:prstGeom prst="rect">
            <a:avLst/>
          </a:prstGeom>
          <a:solidFill>
            <a:srgbClr val="FFFFFF"/>
          </a:solidFill>
          <a:ln w="19050">
            <a:solidFill>
              <a:srgbClr val="024731"/>
            </a:solidFill>
            <a:prstDash val="solid"/>
          </a:ln>
        </p:spPr>
      </p:sp>
      <p:sp>
        <p:nvSpPr>
          <p:cNvPr id="22" name="Text 20"/>
          <p:cNvSpPr/>
          <p:nvPr/>
        </p:nvSpPr>
        <p:spPr>
          <a:xfrm>
            <a:off x="5532120" y="3154680"/>
            <a:ext cx="3108960" cy="22860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Reasonableness (plausible industry range)</a:t>
            </a:r>
            <a:endParaRPr lang="en-US" sz="1000" dirty="0"/>
          </a:p>
        </p:txBody>
      </p:sp>
      <p:sp>
        <p:nvSpPr>
          <p:cNvPr id="23" name="Shape 21"/>
          <p:cNvSpPr/>
          <p:nvPr/>
        </p:nvSpPr>
        <p:spPr>
          <a:xfrm>
            <a:off x="5212080" y="3520440"/>
            <a:ext cx="201168" cy="201168"/>
          </a:xfrm>
          <a:prstGeom prst="rect">
            <a:avLst/>
          </a:prstGeom>
          <a:solidFill>
            <a:srgbClr val="FFFFFF"/>
          </a:solidFill>
          <a:ln w="19050">
            <a:solidFill>
              <a:srgbClr val="024731"/>
            </a:solidFill>
            <a:prstDash val="solid"/>
          </a:ln>
        </p:spPr>
      </p:sp>
      <p:sp>
        <p:nvSpPr>
          <p:cNvPr id="24" name="Text 22"/>
          <p:cNvSpPr/>
          <p:nvPr/>
        </p:nvSpPr>
        <p:spPr>
          <a:xfrm>
            <a:off x="5532120" y="3502152"/>
            <a:ext cx="3108960" cy="22860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Named range audit (5 spot checks)</a:t>
            </a:r>
            <a:endParaRPr lang="en-US" sz="1000" dirty="0"/>
          </a:p>
        </p:txBody>
      </p:sp>
      <p:sp>
        <p:nvSpPr>
          <p:cNvPr id="25" name="Shape 23"/>
          <p:cNvSpPr/>
          <p:nvPr/>
        </p:nvSpPr>
        <p:spPr>
          <a:xfrm>
            <a:off x="5212080" y="3867912"/>
            <a:ext cx="201168" cy="201168"/>
          </a:xfrm>
          <a:prstGeom prst="rect">
            <a:avLst/>
          </a:prstGeom>
          <a:solidFill>
            <a:srgbClr val="FFFFFF"/>
          </a:solidFill>
          <a:ln w="19050">
            <a:solidFill>
              <a:srgbClr val="024731"/>
            </a:solidFill>
            <a:prstDash val="solid"/>
          </a:ln>
        </p:spPr>
      </p:sp>
      <p:sp>
        <p:nvSpPr>
          <p:cNvPr id="26" name="Text 24"/>
          <p:cNvSpPr/>
          <p:nvPr/>
        </p:nvSpPr>
        <p:spPr>
          <a:xfrm>
            <a:off x="5532120" y="3849624"/>
            <a:ext cx="3108960" cy="22860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Formula audit (5 spot checks)</a:t>
            </a:r>
            <a:endParaRPr lang="en-US" sz="1000" dirty="0"/>
          </a:p>
        </p:txBody>
      </p:sp>
      <p:sp>
        <p:nvSpPr>
          <p:cNvPr id="27" name="Shape 25"/>
          <p:cNvSpPr/>
          <p:nvPr/>
        </p:nvSpPr>
        <p:spPr>
          <a:xfrm>
            <a:off x="5212080" y="4215384"/>
            <a:ext cx="201168" cy="201168"/>
          </a:xfrm>
          <a:prstGeom prst="rect">
            <a:avLst/>
          </a:prstGeom>
          <a:solidFill>
            <a:srgbClr val="FFFFFF"/>
          </a:solidFill>
          <a:ln w="19050">
            <a:solidFill>
              <a:srgbClr val="024731"/>
            </a:solidFill>
            <a:prstDash val="solid"/>
          </a:ln>
        </p:spPr>
      </p:sp>
      <p:sp>
        <p:nvSpPr>
          <p:cNvPr id="28" name="Text 26"/>
          <p:cNvSpPr/>
          <p:nvPr/>
        </p:nvSpPr>
        <p:spPr>
          <a:xfrm>
            <a:off x="5532120" y="4197096"/>
            <a:ext cx="3108960" cy="22860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Start-of-year vs. average comparison</a:t>
            </a:r>
            <a:endParaRPr lang="en-US" sz="1000" dirty="0"/>
          </a:p>
        </p:txBody>
      </p:sp>
      <p:sp>
        <p:nvSpPr>
          <p:cNvPr id="29" name="Shape 27"/>
          <p:cNvSpPr/>
          <p:nvPr/>
        </p:nvSpPr>
        <p:spPr>
          <a:xfrm>
            <a:off x="548640" y="4434840"/>
            <a:ext cx="4114800" cy="457200"/>
          </a:xfrm>
          <a:prstGeom prst="rect">
            <a:avLst/>
          </a:prstGeom>
          <a:solidFill>
            <a:srgbClr val="024731"/>
          </a:solidFill>
          <a:ln/>
        </p:spPr>
      </p:sp>
      <p:sp>
        <p:nvSpPr>
          <p:cNvPr id="30" name="Text 28"/>
          <p:cNvSpPr/>
          <p:nvPr/>
        </p:nvSpPr>
        <p:spPr>
          <a:xfrm>
            <a:off x="685800" y="4453128"/>
            <a:ext cx="3840480" cy="411480"/>
          </a:xfrm>
          <a:prstGeom prst="rect">
            <a:avLst/>
          </a:prstGeom>
          <a:noFill/>
          <a:ln/>
        </p:spPr>
        <p:txBody>
          <a:bodyPr wrap="square" rtlCol="0" anchor="ctr"/>
          <a:lstStyle/>
          <a:p>
            <a:pPr indent="0" marL="0">
              <a:buNone/>
            </a:pPr>
            <a:r>
              <a:rPr lang="en-US" sz="1000" dirty="0">
                <a:solidFill>
                  <a:srgbClr val="FFFFFF"/>
                </a:solidFill>
                <a:latin typeface="Open Sans" pitchFamily="34" charset="0"/>
                <a:ea typeface="Open Sans" pitchFamily="34" charset="-122"/>
                <a:cs typeface="Open Sans" pitchFamily="34" charset="-120"/>
              </a:rPr>
              <a:t>This stage builds the deep model familiarity you need for writing a credible spec in Stage 4.</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sp>
      <p:sp>
        <p:nvSpPr>
          <p:cNvPr id="3" name="Text 1"/>
          <p:cNvSpPr/>
          <p:nvPr/>
        </p:nvSpPr>
        <p:spPr>
          <a:xfrm>
            <a:off x="548640" y="137160"/>
            <a:ext cx="6400800" cy="274320"/>
          </a:xfrm>
          <a:prstGeom prst="rect">
            <a:avLst/>
          </a:prstGeom>
          <a:noFill/>
          <a:ln/>
        </p:spPr>
        <p:txBody>
          <a:bodyPr wrap="square" lIns="0" tIns="0" rIns="0" bIns="0" rtlCol="0" anchor="ctr"/>
          <a:lstStyle/>
          <a:p>
            <a:pPr indent="0" marL="0">
              <a:buNone/>
            </a:pPr>
            <a:r>
              <a:rPr lang="en-US" sz="2000" b="1" dirty="0">
                <a:solidFill>
                  <a:srgbClr val="FFFFFF"/>
                </a:solidFill>
                <a:latin typeface="Open Sans" pitchFamily="34" charset="0"/>
                <a:ea typeface="Open Sans" pitchFamily="34" charset="-122"/>
                <a:cs typeface="Open Sans" pitchFamily="34" charset="-120"/>
              </a:rPr>
              <a:t>Stage 4 — Technical Specification</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indent="0" marL="0">
              <a:buNone/>
            </a:pPr>
            <a:r>
              <a:rPr lang="en-US" sz="1100" dirty="0">
                <a:solidFill>
                  <a:srgbClr val="B8DDD1"/>
                </a:solidFill>
                <a:latin typeface="Open Sans" pitchFamily="34" charset="0"/>
                <a:ea typeface="Open Sans" pitchFamily="34" charset="-122"/>
                <a:cs typeface="Open Sans" pitchFamily="34" charset="-120"/>
              </a:rPr>
              <a:t>20% of project  |  LLM-drafted, student-refined  |  70% deliverable / 30% presentation</a:t>
            </a:r>
            <a:endParaRPr lang="en-US" sz="1100" dirty="0"/>
          </a:p>
        </p:txBody>
      </p:sp>
      <p:sp>
        <p:nvSpPr>
          <p:cNvPr id="5" name="Shape 3"/>
          <p:cNvSpPr/>
          <p:nvPr/>
        </p:nvSpPr>
        <p:spPr>
          <a:xfrm>
            <a:off x="7132320" y="0"/>
            <a:ext cx="2011680" cy="822960"/>
          </a:xfrm>
          <a:prstGeom prst="rect">
            <a:avLst/>
          </a:prstGeom>
          <a:solidFill>
            <a:srgbClr val="C9A84C"/>
          </a:solidFill>
          <a:ln/>
        </p:spPr>
      </p:sp>
      <p:sp>
        <p:nvSpPr>
          <p:cNvPr id="6" name="Text 4"/>
          <p:cNvSpPr/>
          <p:nvPr/>
        </p:nvSpPr>
        <p:spPr>
          <a:xfrm>
            <a:off x="7132320" y="91440"/>
            <a:ext cx="2011680" cy="640080"/>
          </a:xfrm>
          <a:prstGeom prst="rect">
            <a:avLst/>
          </a:prstGeom>
          <a:noFill/>
          <a:ln/>
        </p:spPr>
        <p:txBody>
          <a:bodyPr wrap="square" rtlCol="0" anchor="ctr"/>
          <a:lstStyle/>
          <a:p>
            <a:pPr algn="ctr" indent="0" marL="0">
              <a:buNone/>
            </a:pPr>
            <a:r>
              <a:rPr lang="en-US" sz="1200" b="1" dirty="0">
                <a:solidFill>
                  <a:srgbClr val="024731"/>
                </a:solidFill>
                <a:latin typeface="Open Sans" pitchFamily="34" charset="0"/>
                <a:ea typeface="Open Sans" pitchFamily="34" charset="-122"/>
                <a:cs typeface="Open Sans" pitchFamily="34" charset="-120"/>
              </a:rPr>
              <a:t>SPEC-DRIVEN</a:t>
            </a:r>
            <a:endParaRPr lang="en-US" sz="1200" dirty="0"/>
          </a:p>
          <a:p>
            <a:pPr algn="ctr" indent="0" marL="0">
              <a:buNone/>
            </a:pPr>
            <a:r>
              <a:rPr lang="en-US" sz="1200" b="1" dirty="0">
                <a:solidFill>
                  <a:srgbClr val="024731"/>
                </a:solidFill>
                <a:latin typeface="Open Sans" pitchFamily="34" charset="0"/>
                <a:ea typeface="Open Sans" pitchFamily="34" charset="-122"/>
                <a:cs typeface="Open Sans" pitchFamily="34" charset="-120"/>
              </a:rPr>
              <a:t>DESIGN</a:t>
            </a:r>
            <a:endParaRPr lang="en-US" sz="1200" dirty="0"/>
          </a:p>
        </p:txBody>
      </p:sp>
      <p:sp>
        <p:nvSpPr>
          <p:cNvPr id="7" name="Shape 5"/>
          <p:cNvSpPr/>
          <p:nvPr/>
        </p:nvSpPr>
        <p:spPr>
          <a:xfrm>
            <a:off x="457200" y="1051560"/>
            <a:ext cx="4023360" cy="320040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8" name="Shape 6"/>
          <p:cNvSpPr/>
          <p:nvPr/>
        </p:nvSpPr>
        <p:spPr>
          <a:xfrm>
            <a:off x="457200" y="1051560"/>
            <a:ext cx="4023360" cy="411480"/>
          </a:xfrm>
          <a:prstGeom prst="rect">
            <a:avLst/>
          </a:prstGeom>
          <a:solidFill>
            <a:srgbClr val="024731"/>
          </a:solidFill>
          <a:ln/>
        </p:spPr>
      </p:sp>
      <p:sp>
        <p:nvSpPr>
          <p:cNvPr id="9" name="Text 7"/>
          <p:cNvSpPr/>
          <p:nvPr/>
        </p:nvSpPr>
        <p:spPr>
          <a:xfrm>
            <a:off x="594360" y="1069848"/>
            <a:ext cx="3749040" cy="36576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Part A — Model Specification</a:t>
            </a:r>
            <a:endParaRPr lang="en-US" sz="1300" dirty="0"/>
          </a:p>
        </p:txBody>
      </p:sp>
      <p:sp>
        <p:nvSpPr>
          <p:cNvPr id="10" name="Text 8"/>
          <p:cNvSpPr/>
          <p:nvPr/>
        </p:nvSpPr>
        <p:spPr>
          <a:xfrm>
            <a:off x="594360" y="1600200"/>
            <a:ext cx="22860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1</a:t>
            </a:r>
            <a:endParaRPr lang="en-US" sz="1000" dirty="0"/>
          </a:p>
        </p:txBody>
      </p:sp>
      <p:sp>
        <p:nvSpPr>
          <p:cNvPr id="11" name="Text 9"/>
          <p:cNvSpPr/>
          <p:nvPr/>
        </p:nvSpPr>
        <p:spPr>
          <a:xfrm>
            <a:off x="868680" y="1581912"/>
            <a:ext cx="155448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Scope &amp; Objective</a:t>
            </a:r>
            <a:endParaRPr lang="en-US" sz="1000" dirty="0"/>
          </a:p>
        </p:txBody>
      </p:sp>
      <p:sp>
        <p:nvSpPr>
          <p:cNvPr id="12" name="Text 10"/>
          <p:cNvSpPr/>
          <p:nvPr/>
        </p:nvSpPr>
        <p:spPr>
          <a:xfrm>
            <a:off x="868680" y="1755648"/>
            <a:ext cx="3474720" cy="18288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Company, fiscal period, reporting standard, currency</a:t>
            </a:r>
            <a:endParaRPr lang="en-US" sz="900" dirty="0"/>
          </a:p>
        </p:txBody>
      </p:sp>
      <p:sp>
        <p:nvSpPr>
          <p:cNvPr id="13" name="Text 11"/>
          <p:cNvSpPr/>
          <p:nvPr/>
        </p:nvSpPr>
        <p:spPr>
          <a:xfrm>
            <a:off x="594360" y="1965960"/>
            <a:ext cx="22860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2</a:t>
            </a:r>
            <a:endParaRPr lang="en-US" sz="1000" dirty="0"/>
          </a:p>
        </p:txBody>
      </p:sp>
      <p:sp>
        <p:nvSpPr>
          <p:cNvPr id="14" name="Text 12"/>
          <p:cNvSpPr/>
          <p:nvPr/>
        </p:nvSpPr>
        <p:spPr>
          <a:xfrm>
            <a:off x="868680" y="1947672"/>
            <a:ext cx="155448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Model Architecture</a:t>
            </a:r>
            <a:endParaRPr lang="en-US" sz="1000" dirty="0"/>
          </a:p>
        </p:txBody>
      </p:sp>
      <p:sp>
        <p:nvSpPr>
          <p:cNvPr id="15" name="Text 13"/>
          <p:cNvSpPr/>
          <p:nvPr/>
        </p:nvSpPr>
        <p:spPr>
          <a:xfrm>
            <a:off x="868680" y="2121408"/>
            <a:ext cx="3474720" cy="18288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Tab layout, color coding, input/calc/output separation</a:t>
            </a:r>
            <a:endParaRPr lang="en-US" sz="900" dirty="0"/>
          </a:p>
        </p:txBody>
      </p:sp>
      <p:sp>
        <p:nvSpPr>
          <p:cNvPr id="16" name="Text 14"/>
          <p:cNvSpPr/>
          <p:nvPr/>
        </p:nvSpPr>
        <p:spPr>
          <a:xfrm>
            <a:off x="594360" y="2331720"/>
            <a:ext cx="22860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3</a:t>
            </a:r>
            <a:endParaRPr lang="en-US" sz="1000" dirty="0"/>
          </a:p>
        </p:txBody>
      </p:sp>
      <p:sp>
        <p:nvSpPr>
          <p:cNvPr id="17" name="Text 15"/>
          <p:cNvSpPr/>
          <p:nvPr/>
        </p:nvSpPr>
        <p:spPr>
          <a:xfrm>
            <a:off x="868680" y="2313432"/>
            <a:ext cx="155448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Data Inputs</a:t>
            </a:r>
            <a:endParaRPr lang="en-US" sz="1000" dirty="0"/>
          </a:p>
        </p:txBody>
      </p:sp>
      <p:sp>
        <p:nvSpPr>
          <p:cNvPr id="18" name="Text 16"/>
          <p:cNvSpPr/>
          <p:nvPr/>
        </p:nvSpPr>
        <p:spPr>
          <a:xfrm>
            <a:off x="868680" y="2487168"/>
            <a:ext cx="3474720" cy="18288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Every value explicit — the executor does not infer data</a:t>
            </a:r>
            <a:endParaRPr lang="en-US" sz="900" dirty="0"/>
          </a:p>
        </p:txBody>
      </p:sp>
      <p:sp>
        <p:nvSpPr>
          <p:cNvPr id="19" name="Text 17"/>
          <p:cNvSpPr/>
          <p:nvPr/>
        </p:nvSpPr>
        <p:spPr>
          <a:xfrm>
            <a:off x="594360" y="2697480"/>
            <a:ext cx="22860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4</a:t>
            </a:r>
            <a:endParaRPr lang="en-US" sz="1000" dirty="0"/>
          </a:p>
        </p:txBody>
      </p:sp>
      <p:sp>
        <p:nvSpPr>
          <p:cNvPr id="20" name="Text 18"/>
          <p:cNvSpPr/>
          <p:nvPr/>
        </p:nvSpPr>
        <p:spPr>
          <a:xfrm>
            <a:off x="868680" y="2679192"/>
            <a:ext cx="155448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Named Range Map</a:t>
            </a:r>
            <a:endParaRPr lang="en-US" sz="1000" dirty="0"/>
          </a:p>
        </p:txBody>
      </p:sp>
      <p:sp>
        <p:nvSpPr>
          <p:cNvPr id="21" name="Text 19"/>
          <p:cNvSpPr/>
          <p:nvPr/>
        </p:nvSpPr>
        <p:spPr>
          <a:xfrm>
            <a:off x="868680" y="2852928"/>
            <a:ext cx="3474720" cy="18288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Full map: name, source, value, unit</a:t>
            </a:r>
            <a:endParaRPr lang="en-US" sz="900" dirty="0"/>
          </a:p>
        </p:txBody>
      </p:sp>
      <p:sp>
        <p:nvSpPr>
          <p:cNvPr id="22" name="Text 20"/>
          <p:cNvSpPr/>
          <p:nvPr/>
        </p:nvSpPr>
        <p:spPr>
          <a:xfrm>
            <a:off x="594360" y="3063240"/>
            <a:ext cx="22860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5</a:t>
            </a:r>
            <a:endParaRPr lang="en-US" sz="1000" dirty="0"/>
          </a:p>
        </p:txBody>
      </p:sp>
      <p:sp>
        <p:nvSpPr>
          <p:cNvPr id="23" name="Text 21"/>
          <p:cNvSpPr/>
          <p:nvPr/>
        </p:nvSpPr>
        <p:spPr>
          <a:xfrm>
            <a:off x="868680" y="3044952"/>
            <a:ext cx="155448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Derived Inputs</a:t>
            </a:r>
            <a:endParaRPr lang="en-US" sz="1000" dirty="0"/>
          </a:p>
        </p:txBody>
      </p:sp>
      <p:sp>
        <p:nvSpPr>
          <p:cNvPr id="24" name="Text 22"/>
          <p:cNvSpPr/>
          <p:nvPr/>
        </p:nvSpPr>
        <p:spPr>
          <a:xfrm>
            <a:off x="868680" y="3218688"/>
            <a:ext cx="3474720" cy="18288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Averages, start-of-year, daily rates with formulas</a:t>
            </a:r>
            <a:endParaRPr lang="en-US" sz="900" dirty="0"/>
          </a:p>
        </p:txBody>
      </p:sp>
      <p:sp>
        <p:nvSpPr>
          <p:cNvPr id="25" name="Text 23"/>
          <p:cNvSpPr/>
          <p:nvPr/>
        </p:nvSpPr>
        <p:spPr>
          <a:xfrm>
            <a:off x="594360" y="3429000"/>
            <a:ext cx="22860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6</a:t>
            </a:r>
            <a:endParaRPr lang="en-US" sz="1000" dirty="0"/>
          </a:p>
        </p:txBody>
      </p:sp>
      <p:sp>
        <p:nvSpPr>
          <p:cNvPr id="26" name="Text 24"/>
          <p:cNvSpPr/>
          <p:nvPr/>
        </p:nvSpPr>
        <p:spPr>
          <a:xfrm>
            <a:off x="868680" y="3410712"/>
            <a:ext cx="155448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Ratio Formulas</a:t>
            </a:r>
            <a:endParaRPr lang="en-US" sz="1000" dirty="0"/>
          </a:p>
        </p:txBody>
      </p:sp>
      <p:sp>
        <p:nvSpPr>
          <p:cNvPr id="27" name="Text 25"/>
          <p:cNvSpPr/>
          <p:nvPr/>
        </p:nvSpPr>
        <p:spPr>
          <a:xfrm>
            <a:off x="868680" y="3584448"/>
            <a:ext cx="3474720" cy="18288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All 25+ ratios in named-range notation with units</a:t>
            </a:r>
            <a:endParaRPr lang="en-US" sz="900" dirty="0"/>
          </a:p>
        </p:txBody>
      </p:sp>
      <p:sp>
        <p:nvSpPr>
          <p:cNvPr id="28" name="Text 26"/>
          <p:cNvSpPr/>
          <p:nvPr/>
        </p:nvSpPr>
        <p:spPr>
          <a:xfrm>
            <a:off x="594360" y="3794760"/>
            <a:ext cx="22860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7</a:t>
            </a:r>
            <a:endParaRPr lang="en-US" sz="1000" dirty="0"/>
          </a:p>
        </p:txBody>
      </p:sp>
      <p:sp>
        <p:nvSpPr>
          <p:cNvPr id="29" name="Text 27"/>
          <p:cNvSpPr/>
          <p:nvPr/>
        </p:nvSpPr>
        <p:spPr>
          <a:xfrm>
            <a:off x="868680" y="3776472"/>
            <a:ext cx="155448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Validation Rules</a:t>
            </a:r>
            <a:endParaRPr lang="en-US" sz="1000" dirty="0"/>
          </a:p>
        </p:txBody>
      </p:sp>
      <p:sp>
        <p:nvSpPr>
          <p:cNvPr id="30" name="Text 28"/>
          <p:cNvSpPr/>
          <p:nvPr/>
        </p:nvSpPr>
        <p:spPr>
          <a:xfrm>
            <a:off x="868680" y="3950208"/>
            <a:ext cx="3474720" cy="18288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Du Pont checks, BS balance, consistency tests</a:t>
            </a:r>
            <a:endParaRPr lang="en-US" sz="900" dirty="0"/>
          </a:p>
        </p:txBody>
      </p:sp>
      <p:sp>
        <p:nvSpPr>
          <p:cNvPr id="31" name="Shape 29"/>
          <p:cNvSpPr/>
          <p:nvPr/>
        </p:nvSpPr>
        <p:spPr>
          <a:xfrm>
            <a:off x="4663440" y="1051560"/>
            <a:ext cx="4023360" cy="320040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32" name="Shape 30"/>
          <p:cNvSpPr/>
          <p:nvPr/>
        </p:nvSpPr>
        <p:spPr>
          <a:xfrm>
            <a:off x="4663440" y="1051560"/>
            <a:ext cx="4023360" cy="411480"/>
          </a:xfrm>
          <a:prstGeom prst="rect">
            <a:avLst/>
          </a:prstGeom>
          <a:solidFill>
            <a:srgbClr val="024731"/>
          </a:solidFill>
          <a:ln/>
        </p:spPr>
      </p:sp>
      <p:sp>
        <p:nvSpPr>
          <p:cNvPr id="33" name="Text 31"/>
          <p:cNvSpPr/>
          <p:nvPr/>
        </p:nvSpPr>
        <p:spPr>
          <a:xfrm>
            <a:off x="4800600" y="1069848"/>
            <a:ext cx="3749040" cy="365760"/>
          </a:xfrm>
          <a:prstGeom prst="rect">
            <a:avLst/>
          </a:prstGeom>
          <a:noFill/>
          <a:ln/>
        </p:spPr>
        <p:txBody>
          <a:bodyPr wrap="square" lIns="0" tIns="0" rIns="0" bIns="0" rtlCol="0" anchor="ctr"/>
          <a:lstStyle/>
          <a:p>
            <a:pPr indent="0" marL="0">
              <a:buNone/>
            </a:pPr>
            <a:r>
              <a:rPr lang="en-US" sz="1300" b="1" dirty="0">
                <a:solidFill>
                  <a:srgbClr val="FFFFFF"/>
                </a:solidFill>
                <a:latin typeface="Open Sans" pitchFamily="34" charset="0"/>
                <a:ea typeface="Open Sans" pitchFamily="34" charset="-122"/>
                <a:cs typeface="Open Sans" pitchFamily="34" charset="-120"/>
              </a:rPr>
              <a:t>Part B — Analysis Specification</a:t>
            </a:r>
            <a:endParaRPr lang="en-US" sz="1300" dirty="0"/>
          </a:p>
        </p:txBody>
      </p:sp>
      <p:sp>
        <p:nvSpPr>
          <p:cNvPr id="34" name="Text 32"/>
          <p:cNvSpPr/>
          <p:nvPr/>
        </p:nvSpPr>
        <p:spPr>
          <a:xfrm>
            <a:off x="4800600" y="1600200"/>
            <a:ext cx="32004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8</a:t>
            </a:r>
            <a:endParaRPr lang="en-US" sz="1000" dirty="0"/>
          </a:p>
        </p:txBody>
      </p:sp>
      <p:sp>
        <p:nvSpPr>
          <p:cNvPr id="35" name="Text 33"/>
          <p:cNvSpPr/>
          <p:nvPr/>
        </p:nvSpPr>
        <p:spPr>
          <a:xfrm>
            <a:off x="5166360" y="1581912"/>
            <a:ext cx="228600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Analysis Requirements</a:t>
            </a:r>
            <a:endParaRPr lang="en-US" sz="1000" dirty="0"/>
          </a:p>
        </p:txBody>
      </p:sp>
      <p:sp>
        <p:nvSpPr>
          <p:cNvPr id="36" name="Text 34"/>
          <p:cNvSpPr/>
          <p:nvPr/>
        </p:nvSpPr>
        <p:spPr>
          <a:xfrm>
            <a:off x="5166360" y="1764792"/>
            <a:ext cx="3383280" cy="27432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What to interpret per category; benchmarks; cross-category connections</a:t>
            </a:r>
            <a:endParaRPr lang="en-US" sz="900" dirty="0"/>
          </a:p>
        </p:txBody>
      </p:sp>
      <p:sp>
        <p:nvSpPr>
          <p:cNvPr id="37" name="Text 35"/>
          <p:cNvSpPr/>
          <p:nvPr/>
        </p:nvSpPr>
        <p:spPr>
          <a:xfrm>
            <a:off x="4800600" y="2103120"/>
            <a:ext cx="32004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9</a:t>
            </a:r>
            <a:endParaRPr lang="en-US" sz="1000" dirty="0"/>
          </a:p>
        </p:txBody>
      </p:sp>
      <p:sp>
        <p:nvSpPr>
          <p:cNvPr id="38" name="Text 36"/>
          <p:cNvSpPr/>
          <p:nvPr/>
        </p:nvSpPr>
        <p:spPr>
          <a:xfrm>
            <a:off x="5166360" y="2084832"/>
            <a:ext cx="228600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Du Pont Decomposition</a:t>
            </a:r>
            <a:endParaRPr lang="en-US" sz="1000" dirty="0"/>
          </a:p>
        </p:txBody>
      </p:sp>
      <p:sp>
        <p:nvSpPr>
          <p:cNvPr id="39" name="Text 37"/>
          <p:cNvSpPr/>
          <p:nvPr/>
        </p:nvSpPr>
        <p:spPr>
          <a:xfrm>
            <a:off x="5166360" y="2267712"/>
            <a:ext cx="3383280" cy="27432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ROE breakdown instructions: which driver? Sustainable?</a:t>
            </a:r>
            <a:endParaRPr lang="en-US" sz="900" dirty="0"/>
          </a:p>
        </p:txBody>
      </p:sp>
      <p:sp>
        <p:nvSpPr>
          <p:cNvPr id="40" name="Text 38"/>
          <p:cNvSpPr/>
          <p:nvPr/>
        </p:nvSpPr>
        <p:spPr>
          <a:xfrm>
            <a:off x="4800600" y="2606040"/>
            <a:ext cx="32004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10</a:t>
            </a:r>
            <a:endParaRPr lang="en-US" sz="1000" dirty="0"/>
          </a:p>
        </p:txBody>
      </p:sp>
      <p:sp>
        <p:nvSpPr>
          <p:cNvPr id="41" name="Text 39"/>
          <p:cNvSpPr/>
          <p:nvPr/>
        </p:nvSpPr>
        <p:spPr>
          <a:xfrm>
            <a:off x="5166360" y="2587752"/>
            <a:ext cx="228600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Strategic Recommendations</a:t>
            </a:r>
            <a:endParaRPr lang="en-US" sz="1000" dirty="0"/>
          </a:p>
        </p:txBody>
      </p:sp>
      <p:sp>
        <p:nvSpPr>
          <p:cNvPr id="42" name="Text 40"/>
          <p:cNvSpPr/>
          <p:nvPr/>
        </p:nvSpPr>
        <p:spPr>
          <a:xfrm>
            <a:off x="5166360" y="2770632"/>
            <a:ext cx="3383280" cy="27432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3–5 recommendations; evidence standard; actionable specificity</a:t>
            </a:r>
            <a:endParaRPr lang="en-US" sz="900" dirty="0"/>
          </a:p>
        </p:txBody>
      </p:sp>
      <p:sp>
        <p:nvSpPr>
          <p:cNvPr id="43" name="Text 41"/>
          <p:cNvSpPr/>
          <p:nvPr/>
        </p:nvSpPr>
        <p:spPr>
          <a:xfrm>
            <a:off x="4800600" y="3108960"/>
            <a:ext cx="320040" cy="228600"/>
          </a:xfrm>
          <a:prstGeom prst="rect">
            <a:avLst/>
          </a:prstGeom>
          <a:noFill/>
          <a:ln/>
        </p:spPr>
        <p:txBody>
          <a:bodyPr wrap="square" lIns="0" tIns="0" rIns="0" bIns="0" rtlCol="0" anchor="ctr"/>
          <a:lstStyle/>
          <a:p>
            <a:pPr indent="0" marL="0">
              <a:buNone/>
            </a:pPr>
            <a:r>
              <a:rPr lang="en-US" sz="1000" b="1" dirty="0">
                <a:solidFill>
                  <a:srgbClr val="024731"/>
                </a:solidFill>
                <a:latin typeface="Open Sans" pitchFamily="34" charset="0"/>
                <a:ea typeface="Open Sans" pitchFamily="34" charset="-122"/>
                <a:cs typeface="Open Sans" pitchFamily="34" charset="-120"/>
              </a:rPr>
              <a:t>11</a:t>
            </a:r>
            <a:endParaRPr lang="en-US" sz="1000" dirty="0"/>
          </a:p>
        </p:txBody>
      </p:sp>
      <p:sp>
        <p:nvSpPr>
          <p:cNvPr id="44" name="Text 42"/>
          <p:cNvSpPr/>
          <p:nvPr/>
        </p:nvSpPr>
        <p:spPr>
          <a:xfrm>
            <a:off x="5166360" y="3090672"/>
            <a:ext cx="2286000" cy="182880"/>
          </a:xfrm>
          <a:prstGeom prst="rect">
            <a:avLst/>
          </a:prstGeom>
          <a:noFill/>
          <a:ln/>
        </p:spPr>
        <p:txBody>
          <a:bodyPr wrap="square" lIns="0" tIns="0" rIns="0" bIns="0" rtlCol="0" anchor="ctr"/>
          <a:lstStyle/>
          <a:p>
            <a:pPr indent="0" marL="0">
              <a:buNone/>
            </a:pPr>
            <a:r>
              <a:rPr lang="en-US" sz="1000" b="1" dirty="0">
                <a:solidFill>
                  <a:srgbClr val="0D0D0D"/>
                </a:solidFill>
                <a:latin typeface="Open Sans" pitchFamily="34" charset="0"/>
                <a:ea typeface="Open Sans" pitchFamily="34" charset="-122"/>
                <a:cs typeface="Open Sans" pitchFamily="34" charset="-120"/>
              </a:rPr>
              <a:t>Output Format</a:t>
            </a:r>
            <a:endParaRPr lang="en-US" sz="1000" dirty="0"/>
          </a:p>
        </p:txBody>
      </p:sp>
      <p:sp>
        <p:nvSpPr>
          <p:cNvPr id="45" name="Text 43"/>
          <p:cNvSpPr/>
          <p:nvPr/>
        </p:nvSpPr>
        <p:spPr>
          <a:xfrm>
            <a:off x="5166360" y="3273552"/>
            <a:ext cx="3383280" cy="27432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Exact deliverable structure, sections, length, tone, audience</a:t>
            </a:r>
            <a:endParaRPr lang="en-US" sz="900" dirty="0"/>
          </a:p>
        </p:txBody>
      </p:sp>
      <p:sp>
        <p:nvSpPr>
          <p:cNvPr id="46" name="Shape 44"/>
          <p:cNvSpPr/>
          <p:nvPr/>
        </p:nvSpPr>
        <p:spPr>
          <a:xfrm>
            <a:off x="4663440" y="3108960"/>
            <a:ext cx="4023360" cy="1143000"/>
          </a:xfrm>
          <a:prstGeom prst="rect">
            <a:avLst/>
          </a:prstGeom>
          <a:solidFill>
            <a:srgbClr val="E6F2EF"/>
          </a:solidFill>
          <a:ln/>
        </p:spPr>
      </p:sp>
      <p:sp>
        <p:nvSpPr>
          <p:cNvPr id="47" name="Shape 45"/>
          <p:cNvSpPr/>
          <p:nvPr/>
        </p:nvSpPr>
        <p:spPr>
          <a:xfrm>
            <a:off x="4663440" y="3108960"/>
            <a:ext cx="54864" cy="1143000"/>
          </a:xfrm>
          <a:prstGeom prst="rect">
            <a:avLst/>
          </a:prstGeom>
          <a:solidFill>
            <a:srgbClr val="C9A84C"/>
          </a:solidFill>
          <a:ln/>
        </p:spPr>
      </p:sp>
      <p:sp>
        <p:nvSpPr>
          <p:cNvPr id="48" name="Text 46"/>
          <p:cNvSpPr/>
          <p:nvPr/>
        </p:nvSpPr>
        <p:spPr>
          <a:xfrm>
            <a:off x="4846320" y="3154680"/>
            <a:ext cx="3657600" cy="228600"/>
          </a:xfrm>
          <a:prstGeom prst="rect">
            <a:avLst/>
          </a:prstGeom>
          <a:noFill/>
          <a:ln/>
        </p:spPr>
        <p:txBody>
          <a:bodyPr wrap="square" lIns="0" tIns="0" rIns="0" bIns="0"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Quality Test</a:t>
            </a:r>
            <a:endParaRPr lang="en-US" sz="1100" dirty="0"/>
          </a:p>
        </p:txBody>
      </p:sp>
      <p:sp>
        <p:nvSpPr>
          <p:cNvPr id="49" name="Text 47"/>
          <p:cNvSpPr/>
          <p:nvPr/>
        </p:nvSpPr>
        <p:spPr>
          <a:xfrm>
            <a:off x="4846320" y="3383280"/>
            <a:ext cx="3657600" cy="777240"/>
          </a:xfrm>
          <a:prstGeom prst="rect">
            <a:avLst/>
          </a:prstGeom>
          <a:noFill/>
          <a:ln/>
        </p:spPr>
        <p:txBody>
          <a:bodyPr wrap="square" lIns="0" tIns="0" rIns="0" bIns="0" rtlCol="0" anchor="ctr"/>
          <a:lstStyle/>
          <a:p>
            <a:pPr indent="0" marL="0">
              <a:buNone/>
            </a:pPr>
            <a:r>
              <a:rPr lang="en-US" sz="1000" dirty="0">
                <a:solidFill>
                  <a:srgbClr val="6B7280"/>
                </a:solidFill>
                <a:latin typeface="Open Sans" pitchFamily="34" charset="0"/>
                <a:ea typeface="Open Sans" pitchFamily="34" charset="-122"/>
                <a:cs typeface="Open Sans" pitchFamily="34" charset="-120"/>
              </a:rPr>
              <a:t>Use an LLM to draft Part A + Part B from your Stage 3 model. Refine the draft, then test it against a fresh LLM session — if the cold output mirrors your model, the spec is precise enough. Log every prompt.</a:t>
            </a:r>
            <a:endParaRPr lang="en-US" sz="1000" dirty="0"/>
          </a:p>
        </p:txBody>
      </p:sp>
      <p:sp>
        <p:nvSpPr>
          <p:cNvPr id="50" name="Shape 48"/>
          <p:cNvSpPr/>
          <p:nvPr/>
        </p:nvSpPr>
        <p:spPr>
          <a:xfrm>
            <a:off x="457200" y="4434840"/>
            <a:ext cx="8229600" cy="457200"/>
          </a:xfrm>
          <a:prstGeom prst="rect">
            <a:avLst/>
          </a:prstGeom>
          <a:solidFill>
            <a:srgbClr val="024731"/>
          </a:solidFill>
          <a:ln/>
        </p:spPr>
      </p:sp>
      <p:sp>
        <p:nvSpPr>
          <p:cNvPr id="51" name="Text 49"/>
          <p:cNvSpPr/>
          <p:nvPr/>
        </p:nvSpPr>
        <p:spPr>
          <a:xfrm>
            <a:off x="594360" y="4453128"/>
            <a:ext cx="7955280" cy="411480"/>
          </a:xfrm>
          <a:prstGeom prst="rect">
            <a:avLst/>
          </a:prstGeom>
          <a:noFill/>
          <a:ln/>
        </p:spPr>
        <p:txBody>
          <a:bodyPr wrap="square" rtlCol="0" anchor="ctr"/>
          <a:lstStyle/>
          <a:p>
            <a:pPr algn="ctr" indent="0" marL="0">
              <a:buNone/>
            </a:pPr>
            <a:r>
              <a:rPr lang="en-US" sz="1000" dirty="0">
                <a:solidFill>
                  <a:srgbClr val="FFFFFF"/>
                </a:solidFill>
                <a:latin typeface="Open Sans" pitchFamily="34" charset="0"/>
                <a:ea typeface="Open Sans" pitchFamily="34" charset="-122"/>
                <a:cs typeface="Open Sans" pitchFamily="34" charset="-120"/>
              </a:rPr>
              <a:t>Rubric:  Data &amp; Structure 25%  |  Ratios &amp; Validation 25%  |  Analysis Spec 25%  |  Spec Craft + Prompt Log 25%</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24731"/>
          </a:solidFill>
          <a:ln/>
        </p:spPr>
      </p:sp>
      <p:sp>
        <p:nvSpPr>
          <p:cNvPr id="3" name="Text 1"/>
          <p:cNvSpPr/>
          <p:nvPr/>
        </p:nvSpPr>
        <p:spPr>
          <a:xfrm>
            <a:off x="548640" y="137160"/>
            <a:ext cx="7315200" cy="274320"/>
          </a:xfrm>
          <a:prstGeom prst="rect">
            <a:avLst/>
          </a:prstGeom>
          <a:noFill/>
          <a:ln/>
        </p:spPr>
        <p:txBody>
          <a:bodyPr wrap="square" lIns="0" tIns="0" rIns="0" bIns="0" rtlCol="0" anchor="ctr"/>
          <a:lstStyle/>
          <a:p>
            <a:pPr indent="0" marL="0">
              <a:buNone/>
            </a:pPr>
            <a:r>
              <a:rPr lang="en-US" sz="2000" b="1" dirty="0">
                <a:solidFill>
                  <a:srgbClr val="FFFFFF"/>
                </a:solidFill>
                <a:latin typeface="Open Sans" pitchFamily="34" charset="0"/>
                <a:ea typeface="Open Sans" pitchFamily="34" charset="-122"/>
                <a:cs typeface="Open Sans" pitchFamily="34" charset="-120"/>
              </a:rPr>
              <a:t>Stage 5 — LLM Analysis &amp; Executive Evaluation</a:t>
            </a:r>
            <a:endParaRPr lang="en-US" sz="2000" dirty="0"/>
          </a:p>
        </p:txBody>
      </p:sp>
      <p:sp>
        <p:nvSpPr>
          <p:cNvPr id="4" name="Text 2"/>
          <p:cNvSpPr/>
          <p:nvPr/>
        </p:nvSpPr>
        <p:spPr>
          <a:xfrm>
            <a:off x="548640" y="429768"/>
            <a:ext cx="7315200" cy="228600"/>
          </a:xfrm>
          <a:prstGeom prst="rect">
            <a:avLst/>
          </a:prstGeom>
          <a:noFill/>
          <a:ln/>
        </p:spPr>
        <p:txBody>
          <a:bodyPr wrap="square" lIns="0" tIns="0" rIns="0" bIns="0" rtlCol="0" anchor="ctr"/>
          <a:lstStyle/>
          <a:p>
            <a:pPr indent="0" marL="0">
              <a:buNone/>
            </a:pPr>
            <a:r>
              <a:rPr lang="en-US" sz="1100" dirty="0">
                <a:solidFill>
                  <a:srgbClr val="B8DDD1"/>
                </a:solidFill>
                <a:latin typeface="Open Sans" pitchFamily="34" charset="0"/>
                <a:ea typeface="Open Sans" pitchFamily="34" charset="-122"/>
                <a:cs typeface="Open Sans" pitchFamily="34" charset="-120"/>
              </a:rPr>
              <a:t>25% of project  |  Full analysis + LLM evaluation + repo polish  |  70% deliverable / 30% presentation</a:t>
            </a:r>
            <a:endParaRPr lang="en-US" sz="1100" dirty="0"/>
          </a:p>
        </p:txBody>
      </p:sp>
      <p:sp>
        <p:nvSpPr>
          <p:cNvPr id="5" name="Text 3"/>
          <p:cNvSpPr/>
          <p:nvPr/>
        </p:nvSpPr>
        <p:spPr>
          <a:xfrm>
            <a:off x="548640" y="1051560"/>
            <a:ext cx="3657600" cy="274320"/>
          </a:xfrm>
          <a:prstGeom prst="rect">
            <a:avLst/>
          </a:prstGeom>
          <a:noFill/>
          <a:ln/>
        </p:spPr>
        <p:txBody>
          <a:bodyPr wrap="square" lIns="0" tIns="0" rIns="0" bIns="0" rtlCol="0" anchor="ctr"/>
          <a:lstStyle/>
          <a:p>
            <a:pPr indent="0" marL="0">
              <a:buNone/>
            </a:pPr>
            <a:r>
              <a:rPr lang="en-US" sz="1400" b="1" dirty="0">
                <a:solidFill>
                  <a:srgbClr val="024731"/>
                </a:solidFill>
                <a:latin typeface="Open Sans" pitchFamily="34" charset="0"/>
                <a:ea typeface="Open Sans" pitchFamily="34" charset="-122"/>
                <a:cs typeface="Open Sans" pitchFamily="34" charset="-120"/>
              </a:rPr>
              <a:t>How It Works</a:t>
            </a:r>
            <a:endParaRPr lang="en-US" sz="1400" dirty="0"/>
          </a:p>
        </p:txBody>
      </p:sp>
      <p:sp>
        <p:nvSpPr>
          <p:cNvPr id="6" name="Shape 4"/>
          <p:cNvSpPr/>
          <p:nvPr/>
        </p:nvSpPr>
        <p:spPr>
          <a:xfrm>
            <a:off x="594360" y="1463040"/>
            <a:ext cx="274320" cy="274320"/>
          </a:xfrm>
          <a:prstGeom prst="ellipse">
            <a:avLst/>
          </a:prstGeom>
          <a:solidFill>
            <a:srgbClr val="024731"/>
          </a:solidFill>
          <a:ln/>
        </p:spPr>
      </p:sp>
      <p:sp>
        <p:nvSpPr>
          <p:cNvPr id="7" name="Text 5"/>
          <p:cNvSpPr/>
          <p:nvPr/>
        </p:nvSpPr>
        <p:spPr>
          <a:xfrm>
            <a:off x="594360" y="1463040"/>
            <a:ext cx="274320" cy="274320"/>
          </a:xfrm>
          <a:prstGeom prst="rect">
            <a:avLst/>
          </a:prstGeom>
          <a:noFill/>
          <a:ln/>
        </p:spPr>
        <p:txBody>
          <a:bodyPr wrap="square" rtlCol="0" anchor="ctr"/>
          <a:lstStyle/>
          <a:p>
            <a:pPr algn="ctr" indent="0" marL="0">
              <a:buNone/>
            </a:pPr>
            <a:r>
              <a:rPr lang="en-US" sz="1100" b="1" dirty="0">
                <a:solidFill>
                  <a:srgbClr val="FFFFFF"/>
                </a:solidFill>
                <a:latin typeface="Open Sans" pitchFamily="34" charset="0"/>
                <a:ea typeface="Open Sans" pitchFamily="34" charset="-122"/>
                <a:cs typeface="Open Sans" pitchFamily="34" charset="-120"/>
              </a:rPr>
              <a:t>1</a:t>
            </a:r>
            <a:endParaRPr lang="en-US" sz="1100" dirty="0"/>
          </a:p>
        </p:txBody>
      </p:sp>
      <p:sp>
        <p:nvSpPr>
          <p:cNvPr id="8" name="Text 6"/>
          <p:cNvSpPr/>
          <p:nvPr/>
        </p:nvSpPr>
        <p:spPr>
          <a:xfrm>
            <a:off x="1005840" y="1463040"/>
            <a:ext cx="3657600" cy="274320"/>
          </a:xfrm>
          <a:prstGeom prst="rect">
            <a:avLst/>
          </a:prstGeom>
          <a:noFill/>
          <a:ln/>
        </p:spPr>
        <p:txBody>
          <a:bodyPr wrap="square" lIns="0" tIns="0" rIns="0" bIns="0" rtlCol="0" anchor="ctr"/>
          <a:lstStyle/>
          <a:p>
            <a:pPr indent="0" marL="0">
              <a:buNone/>
            </a:pPr>
            <a:r>
              <a:rPr lang="en-US" sz="1100" dirty="0">
                <a:solidFill>
                  <a:srgbClr val="0D0D0D"/>
                </a:solidFill>
                <a:latin typeface="Open Sans" pitchFamily="34" charset="0"/>
                <a:ea typeface="Open Sans" pitchFamily="34" charset="-122"/>
                <a:cs typeface="Open Sans" pitchFamily="34" charset="-120"/>
              </a:rPr>
              <a:t>Paste your Stage 4 spec into an LLM — nothing else</a:t>
            </a:r>
            <a:endParaRPr lang="en-US" sz="1100" dirty="0"/>
          </a:p>
        </p:txBody>
      </p:sp>
      <p:sp>
        <p:nvSpPr>
          <p:cNvPr id="9" name="Shape 7"/>
          <p:cNvSpPr/>
          <p:nvPr/>
        </p:nvSpPr>
        <p:spPr>
          <a:xfrm>
            <a:off x="594360" y="1847088"/>
            <a:ext cx="274320" cy="274320"/>
          </a:xfrm>
          <a:prstGeom prst="ellipse">
            <a:avLst/>
          </a:prstGeom>
          <a:solidFill>
            <a:srgbClr val="024731"/>
          </a:solidFill>
          <a:ln/>
        </p:spPr>
      </p:sp>
      <p:sp>
        <p:nvSpPr>
          <p:cNvPr id="10" name="Text 8"/>
          <p:cNvSpPr/>
          <p:nvPr/>
        </p:nvSpPr>
        <p:spPr>
          <a:xfrm>
            <a:off x="594360" y="1847088"/>
            <a:ext cx="274320" cy="274320"/>
          </a:xfrm>
          <a:prstGeom prst="rect">
            <a:avLst/>
          </a:prstGeom>
          <a:noFill/>
          <a:ln/>
        </p:spPr>
        <p:txBody>
          <a:bodyPr wrap="square" rtlCol="0" anchor="ctr"/>
          <a:lstStyle/>
          <a:p>
            <a:pPr algn="ctr" indent="0" marL="0">
              <a:buNone/>
            </a:pPr>
            <a:r>
              <a:rPr lang="en-US" sz="1100" b="1" dirty="0">
                <a:solidFill>
                  <a:srgbClr val="FFFFFF"/>
                </a:solidFill>
                <a:latin typeface="Open Sans" pitchFamily="34" charset="0"/>
                <a:ea typeface="Open Sans" pitchFamily="34" charset="-122"/>
                <a:cs typeface="Open Sans" pitchFamily="34" charset="-120"/>
              </a:rPr>
              <a:t>2</a:t>
            </a:r>
            <a:endParaRPr lang="en-US" sz="1100" dirty="0"/>
          </a:p>
        </p:txBody>
      </p:sp>
      <p:sp>
        <p:nvSpPr>
          <p:cNvPr id="11" name="Text 9"/>
          <p:cNvSpPr/>
          <p:nvPr/>
        </p:nvSpPr>
        <p:spPr>
          <a:xfrm>
            <a:off x="1005840" y="1847088"/>
            <a:ext cx="3657600" cy="274320"/>
          </a:xfrm>
          <a:prstGeom prst="rect">
            <a:avLst/>
          </a:prstGeom>
          <a:noFill/>
          <a:ln/>
        </p:spPr>
        <p:txBody>
          <a:bodyPr wrap="square" lIns="0" tIns="0" rIns="0" bIns="0" rtlCol="0" anchor="ctr"/>
          <a:lstStyle/>
          <a:p>
            <a:pPr indent="0" marL="0">
              <a:buNone/>
            </a:pPr>
            <a:r>
              <a:rPr lang="en-US" sz="1100" dirty="0">
                <a:solidFill>
                  <a:srgbClr val="0D0D0D"/>
                </a:solidFill>
                <a:latin typeface="Open Sans" pitchFamily="34" charset="0"/>
                <a:ea typeface="Open Sans" pitchFamily="34" charset="-122"/>
                <a:cs typeface="Open Sans" pitchFamily="34" charset="-120"/>
              </a:rPr>
              <a:t>Save the raw, unedited LLM response</a:t>
            </a:r>
            <a:endParaRPr lang="en-US" sz="1100" dirty="0"/>
          </a:p>
        </p:txBody>
      </p:sp>
      <p:sp>
        <p:nvSpPr>
          <p:cNvPr id="12" name="Shape 10"/>
          <p:cNvSpPr/>
          <p:nvPr/>
        </p:nvSpPr>
        <p:spPr>
          <a:xfrm>
            <a:off x="594360" y="2231136"/>
            <a:ext cx="274320" cy="274320"/>
          </a:xfrm>
          <a:prstGeom prst="ellipse">
            <a:avLst/>
          </a:prstGeom>
          <a:solidFill>
            <a:srgbClr val="024731"/>
          </a:solidFill>
          <a:ln/>
        </p:spPr>
      </p:sp>
      <p:sp>
        <p:nvSpPr>
          <p:cNvPr id="13" name="Text 11"/>
          <p:cNvSpPr/>
          <p:nvPr/>
        </p:nvSpPr>
        <p:spPr>
          <a:xfrm>
            <a:off x="594360" y="2231136"/>
            <a:ext cx="274320" cy="274320"/>
          </a:xfrm>
          <a:prstGeom prst="rect">
            <a:avLst/>
          </a:prstGeom>
          <a:noFill/>
          <a:ln/>
        </p:spPr>
        <p:txBody>
          <a:bodyPr wrap="square" rtlCol="0" anchor="ctr"/>
          <a:lstStyle/>
          <a:p>
            <a:pPr algn="ctr" indent="0" marL="0">
              <a:buNone/>
            </a:pPr>
            <a:r>
              <a:rPr lang="en-US" sz="1100" b="1" dirty="0">
                <a:solidFill>
                  <a:srgbClr val="FFFFFF"/>
                </a:solidFill>
                <a:latin typeface="Open Sans" pitchFamily="34" charset="0"/>
                <a:ea typeface="Open Sans" pitchFamily="34" charset="-122"/>
                <a:cs typeface="Open Sans" pitchFamily="34" charset="-120"/>
              </a:rPr>
              <a:t>3</a:t>
            </a:r>
            <a:endParaRPr lang="en-US" sz="1100" dirty="0"/>
          </a:p>
        </p:txBody>
      </p:sp>
      <p:sp>
        <p:nvSpPr>
          <p:cNvPr id="14" name="Text 12"/>
          <p:cNvSpPr/>
          <p:nvPr/>
        </p:nvSpPr>
        <p:spPr>
          <a:xfrm>
            <a:off x="1005840" y="2231136"/>
            <a:ext cx="3657600" cy="274320"/>
          </a:xfrm>
          <a:prstGeom prst="rect">
            <a:avLst/>
          </a:prstGeom>
          <a:noFill/>
          <a:ln/>
        </p:spPr>
        <p:txBody>
          <a:bodyPr wrap="square" lIns="0" tIns="0" rIns="0" bIns="0" rtlCol="0" anchor="ctr"/>
          <a:lstStyle/>
          <a:p>
            <a:pPr indent="0" marL="0">
              <a:buNone/>
            </a:pPr>
            <a:r>
              <a:rPr lang="en-US" sz="1100" dirty="0">
                <a:solidFill>
                  <a:srgbClr val="0D0D0D"/>
                </a:solidFill>
                <a:latin typeface="Open Sans" pitchFamily="34" charset="0"/>
                <a:ea typeface="Open Sans" pitchFamily="34" charset="-122"/>
                <a:cs typeface="Open Sans" pitchFamily="34" charset="-120"/>
              </a:rPr>
              <a:t>Compare against your Stage 3 model</a:t>
            </a:r>
            <a:endParaRPr lang="en-US" sz="1100" dirty="0"/>
          </a:p>
        </p:txBody>
      </p:sp>
      <p:sp>
        <p:nvSpPr>
          <p:cNvPr id="15" name="Shape 13"/>
          <p:cNvSpPr/>
          <p:nvPr/>
        </p:nvSpPr>
        <p:spPr>
          <a:xfrm>
            <a:off x="594360" y="2615184"/>
            <a:ext cx="274320" cy="274320"/>
          </a:xfrm>
          <a:prstGeom prst="ellipse">
            <a:avLst/>
          </a:prstGeom>
          <a:solidFill>
            <a:srgbClr val="024731"/>
          </a:solidFill>
          <a:ln/>
        </p:spPr>
      </p:sp>
      <p:sp>
        <p:nvSpPr>
          <p:cNvPr id="16" name="Text 14"/>
          <p:cNvSpPr/>
          <p:nvPr/>
        </p:nvSpPr>
        <p:spPr>
          <a:xfrm>
            <a:off x="594360" y="2615184"/>
            <a:ext cx="274320" cy="274320"/>
          </a:xfrm>
          <a:prstGeom prst="rect">
            <a:avLst/>
          </a:prstGeom>
          <a:noFill/>
          <a:ln/>
        </p:spPr>
        <p:txBody>
          <a:bodyPr wrap="square" rtlCol="0" anchor="ctr"/>
          <a:lstStyle/>
          <a:p>
            <a:pPr algn="ctr" indent="0" marL="0">
              <a:buNone/>
            </a:pPr>
            <a:r>
              <a:rPr lang="en-US" sz="1100" b="1" dirty="0">
                <a:solidFill>
                  <a:srgbClr val="FFFFFF"/>
                </a:solidFill>
                <a:latin typeface="Open Sans" pitchFamily="34" charset="0"/>
                <a:ea typeface="Open Sans" pitchFamily="34" charset="-122"/>
                <a:cs typeface="Open Sans" pitchFamily="34" charset="-120"/>
              </a:rPr>
              <a:t>4</a:t>
            </a:r>
            <a:endParaRPr lang="en-US" sz="1100" dirty="0"/>
          </a:p>
        </p:txBody>
      </p:sp>
      <p:sp>
        <p:nvSpPr>
          <p:cNvPr id="17" name="Text 15"/>
          <p:cNvSpPr/>
          <p:nvPr/>
        </p:nvSpPr>
        <p:spPr>
          <a:xfrm>
            <a:off x="1005840" y="2615184"/>
            <a:ext cx="3657600" cy="274320"/>
          </a:xfrm>
          <a:prstGeom prst="rect">
            <a:avLst/>
          </a:prstGeom>
          <a:noFill/>
          <a:ln/>
        </p:spPr>
        <p:txBody>
          <a:bodyPr wrap="square" lIns="0" tIns="0" rIns="0" bIns="0" rtlCol="0" anchor="ctr"/>
          <a:lstStyle/>
          <a:p>
            <a:pPr indent="0" marL="0">
              <a:buNone/>
            </a:pPr>
            <a:r>
              <a:rPr lang="en-US" sz="1100" dirty="0">
                <a:solidFill>
                  <a:srgbClr val="0D0D0D"/>
                </a:solidFill>
                <a:latin typeface="Open Sans" pitchFamily="34" charset="0"/>
                <a:ea typeface="Open Sans" pitchFamily="34" charset="-122"/>
                <a:cs typeface="Open Sans" pitchFamily="34" charset="-120"/>
              </a:rPr>
              <a:t>Evaluate, correct, and annotate the output</a:t>
            </a:r>
            <a:endParaRPr lang="en-US" sz="1100" dirty="0"/>
          </a:p>
        </p:txBody>
      </p:sp>
      <p:sp>
        <p:nvSpPr>
          <p:cNvPr id="18" name="Shape 16"/>
          <p:cNvSpPr/>
          <p:nvPr/>
        </p:nvSpPr>
        <p:spPr>
          <a:xfrm>
            <a:off x="594360" y="2999232"/>
            <a:ext cx="274320" cy="274320"/>
          </a:xfrm>
          <a:prstGeom prst="ellipse">
            <a:avLst/>
          </a:prstGeom>
          <a:solidFill>
            <a:srgbClr val="024731"/>
          </a:solidFill>
          <a:ln/>
        </p:spPr>
      </p:sp>
      <p:sp>
        <p:nvSpPr>
          <p:cNvPr id="19" name="Text 17"/>
          <p:cNvSpPr/>
          <p:nvPr/>
        </p:nvSpPr>
        <p:spPr>
          <a:xfrm>
            <a:off x="594360" y="2999232"/>
            <a:ext cx="274320" cy="274320"/>
          </a:xfrm>
          <a:prstGeom prst="rect">
            <a:avLst/>
          </a:prstGeom>
          <a:noFill/>
          <a:ln/>
        </p:spPr>
        <p:txBody>
          <a:bodyPr wrap="square" rtlCol="0" anchor="ctr"/>
          <a:lstStyle/>
          <a:p>
            <a:pPr algn="ctr" indent="0" marL="0">
              <a:buNone/>
            </a:pPr>
            <a:r>
              <a:rPr lang="en-US" sz="1100" b="1" dirty="0">
                <a:solidFill>
                  <a:srgbClr val="FFFFFF"/>
                </a:solidFill>
                <a:latin typeface="Open Sans" pitchFamily="34" charset="0"/>
                <a:ea typeface="Open Sans" pitchFamily="34" charset="-122"/>
                <a:cs typeface="Open Sans" pitchFamily="34" charset="-120"/>
              </a:rPr>
              <a:t>5</a:t>
            </a:r>
            <a:endParaRPr lang="en-US" sz="1100" dirty="0"/>
          </a:p>
        </p:txBody>
      </p:sp>
      <p:sp>
        <p:nvSpPr>
          <p:cNvPr id="20" name="Text 18"/>
          <p:cNvSpPr/>
          <p:nvPr/>
        </p:nvSpPr>
        <p:spPr>
          <a:xfrm>
            <a:off x="1005840" y="2999232"/>
            <a:ext cx="3657600" cy="274320"/>
          </a:xfrm>
          <a:prstGeom prst="rect">
            <a:avLst/>
          </a:prstGeom>
          <a:noFill/>
          <a:ln/>
        </p:spPr>
        <p:txBody>
          <a:bodyPr wrap="square" lIns="0" tIns="0" rIns="0" bIns="0" rtlCol="0" anchor="ctr"/>
          <a:lstStyle/>
          <a:p>
            <a:pPr indent="0" marL="0">
              <a:buNone/>
            </a:pPr>
            <a:r>
              <a:rPr lang="en-US" sz="1100" dirty="0">
                <a:solidFill>
                  <a:srgbClr val="0D0D0D"/>
                </a:solidFill>
                <a:latin typeface="Open Sans" pitchFamily="34" charset="0"/>
                <a:ea typeface="Open Sans" pitchFamily="34" charset="-122"/>
                <a:cs typeface="Open Sans" pitchFamily="34" charset="-120"/>
              </a:rPr>
              <a:t>Write your own executive justification</a:t>
            </a:r>
            <a:endParaRPr lang="en-US" sz="1100" dirty="0"/>
          </a:p>
        </p:txBody>
      </p:sp>
      <p:sp>
        <p:nvSpPr>
          <p:cNvPr id="21" name="Shape 19"/>
          <p:cNvSpPr/>
          <p:nvPr/>
        </p:nvSpPr>
        <p:spPr>
          <a:xfrm>
            <a:off x="4937760" y="1051560"/>
            <a:ext cx="3840480" cy="3794760"/>
          </a:xfrm>
          <a:prstGeom prst="rect">
            <a:avLst/>
          </a:prstGeom>
          <a:solidFill>
            <a:srgbClr val="F5F7F6"/>
          </a:solidFill>
          <a:ln/>
          <a:effectLst>
            <a:outerShdw sx="100000" sy="100000" kx="0" ky="0" algn="bl" rotWithShape="0" blurRad="50800" dist="12700" dir="8100000">
              <a:srgbClr val="000000">
                <a:alpha val="10000"/>
              </a:srgbClr>
            </a:outerShdw>
          </a:effectLst>
        </p:spPr>
      </p:sp>
      <p:sp>
        <p:nvSpPr>
          <p:cNvPr id="22" name="Text 20"/>
          <p:cNvSpPr/>
          <p:nvPr/>
        </p:nvSpPr>
        <p:spPr>
          <a:xfrm>
            <a:off x="5120640" y="1143000"/>
            <a:ext cx="3474720" cy="274320"/>
          </a:xfrm>
          <a:prstGeom prst="rect">
            <a:avLst/>
          </a:prstGeom>
          <a:noFill/>
          <a:ln/>
        </p:spPr>
        <p:txBody>
          <a:bodyPr wrap="square" lIns="0" tIns="0" rIns="0" bIns="0" rtlCol="0" anchor="ctr"/>
          <a:lstStyle/>
          <a:p>
            <a:pPr indent="0" marL="0">
              <a:buNone/>
            </a:pPr>
            <a:r>
              <a:rPr lang="en-US" sz="1200" b="1" dirty="0">
                <a:solidFill>
                  <a:srgbClr val="024731"/>
                </a:solidFill>
                <a:latin typeface="Open Sans" pitchFamily="34" charset="0"/>
                <a:ea typeface="Open Sans" pitchFamily="34" charset="-122"/>
                <a:cs typeface="Open Sans" pitchFamily="34" charset="-120"/>
              </a:rPr>
              <a:t>Evaluated Final Analysis Sections</a:t>
            </a:r>
            <a:endParaRPr lang="en-US" sz="1200" dirty="0"/>
          </a:p>
        </p:txBody>
      </p:sp>
      <p:sp>
        <p:nvSpPr>
          <p:cNvPr id="23" name="Text 21"/>
          <p:cNvSpPr/>
          <p:nvPr/>
        </p:nvSpPr>
        <p:spPr>
          <a:xfrm>
            <a:off x="5212080" y="1554480"/>
            <a:ext cx="274320" cy="228600"/>
          </a:xfrm>
          <a:prstGeom prst="rect">
            <a:avLst/>
          </a:prstGeom>
          <a:noFill/>
          <a:ln/>
        </p:spPr>
        <p:txBody>
          <a:bodyPr wrap="square" lIns="0" tIns="0" rIns="0" bIns="0"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1.</a:t>
            </a:r>
            <a:endParaRPr lang="en-US" sz="1100" dirty="0"/>
          </a:p>
        </p:txBody>
      </p:sp>
      <p:sp>
        <p:nvSpPr>
          <p:cNvPr id="24" name="Text 22"/>
          <p:cNvSpPr/>
          <p:nvPr/>
        </p:nvSpPr>
        <p:spPr>
          <a:xfrm>
            <a:off x="5486400" y="1554480"/>
            <a:ext cx="3108960" cy="27432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Company &amp; Data Summary</a:t>
            </a:r>
            <a:endParaRPr lang="en-US" sz="1000" dirty="0"/>
          </a:p>
        </p:txBody>
      </p:sp>
      <p:sp>
        <p:nvSpPr>
          <p:cNvPr id="25" name="Text 23"/>
          <p:cNvSpPr/>
          <p:nvPr/>
        </p:nvSpPr>
        <p:spPr>
          <a:xfrm>
            <a:off x="5212080" y="2011680"/>
            <a:ext cx="274320" cy="228600"/>
          </a:xfrm>
          <a:prstGeom prst="rect">
            <a:avLst/>
          </a:prstGeom>
          <a:noFill/>
          <a:ln/>
        </p:spPr>
        <p:txBody>
          <a:bodyPr wrap="square" lIns="0" tIns="0" rIns="0" bIns="0"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2.</a:t>
            </a:r>
            <a:endParaRPr lang="en-US" sz="1100" dirty="0"/>
          </a:p>
        </p:txBody>
      </p:sp>
      <p:sp>
        <p:nvSpPr>
          <p:cNvPr id="26" name="Text 24"/>
          <p:cNvSpPr/>
          <p:nvPr/>
        </p:nvSpPr>
        <p:spPr>
          <a:xfrm>
            <a:off x="5486400" y="2011680"/>
            <a:ext cx="3108960" cy="27432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Ratio Results &amp; Interpretation (all 6 categories)</a:t>
            </a:r>
            <a:endParaRPr lang="en-US" sz="1000" dirty="0"/>
          </a:p>
        </p:txBody>
      </p:sp>
      <p:sp>
        <p:nvSpPr>
          <p:cNvPr id="27" name="Text 25"/>
          <p:cNvSpPr/>
          <p:nvPr/>
        </p:nvSpPr>
        <p:spPr>
          <a:xfrm>
            <a:off x="5212080" y="2468880"/>
            <a:ext cx="274320" cy="228600"/>
          </a:xfrm>
          <a:prstGeom prst="rect">
            <a:avLst/>
          </a:prstGeom>
          <a:noFill/>
          <a:ln/>
        </p:spPr>
        <p:txBody>
          <a:bodyPr wrap="square" lIns="0" tIns="0" rIns="0" bIns="0"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3.</a:t>
            </a:r>
            <a:endParaRPr lang="en-US" sz="1100" dirty="0"/>
          </a:p>
        </p:txBody>
      </p:sp>
      <p:sp>
        <p:nvSpPr>
          <p:cNvPr id="28" name="Text 26"/>
          <p:cNvSpPr/>
          <p:nvPr/>
        </p:nvSpPr>
        <p:spPr>
          <a:xfrm>
            <a:off x="5486400" y="2468880"/>
            <a:ext cx="3108960" cy="27432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Du Pont Analysis with your commentary</a:t>
            </a:r>
            <a:endParaRPr lang="en-US" sz="1000" dirty="0"/>
          </a:p>
        </p:txBody>
      </p:sp>
      <p:sp>
        <p:nvSpPr>
          <p:cNvPr id="29" name="Text 27"/>
          <p:cNvSpPr/>
          <p:nvPr/>
        </p:nvSpPr>
        <p:spPr>
          <a:xfrm>
            <a:off x="5212080" y="2926080"/>
            <a:ext cx="274320" cy="228600"/>
          </a:xfrm>
          <a:prstGeom prst="rect">
            <a:avLst/>
          </a:prstGeom>
          <a:noFill/>
          <a:ln/>
        </p:spPr>
        <p:txBody>
          <a:bodyPr wrap="square" lIns="0" tIns="0" rIns="0" bIns="0"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4.</a:t>
            </a:r>
            <a:endParaRPr lang="en-US" sz="1100" dirty="0"/>
          </a:p>
        </p:txBody>
      </p:sp>
      <p:sp>
        <p:nvSpPr>
          <p:cNvPr id="30" name="Text 28"/>
          <p:cNvSpPr/>
          <p:nvPr/>
        </p:nvSpPr>
        <p:spPr>
          <a:xfrm>
            <a:off x="5486400" y="2926080"/>
            <a:ext cx="3108960" cy="27432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Strategic Recommendations (3–5, data-supported)</a:t>
            </a:r>
            <a:endParaRPr lang="en-US" sz="1000" dirty="0"/>
          </a:p>
        </p:txBody>
      </p:sp>
      <p:sp>
        <p:nvSpPr>
          <p:cNvPr id="31" name="Text 29"/>
          <p:cNvSpPr/>
          <p:nvPr/>
        </p:nvSpPr>
        <p:spPr>
          <a:xfrm>
            <a:off x="5212080" y="3383280"/>
            <a:ext cx="274320" cy="228600"/>
          </a:xfrm>
          <a:prstGeom prst="rect">
            <a:avLst/>
          </a:prstGeom>
          <a:noFill/>
          <a:ln/>
        </p:spPr>
        <p:txBody>
          <a:bodyPr wrap="square" lIns="0" tIns="0" rIns="0" bIns="0"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5.</a:t>
            </a:r>
            <a:endParaRPr lang="en-US" sz="1100" dirty="0"/>
          </a:p>
        </p:txBody>
      </p:sp>
      <p:sp>
        <p:nvSpPr>
          <p:cNvPr id="32" name="Text 30"/>
          <p:cNvSpPr/>
          <p:nvPr/>
        </p:nvSpPr>
        <p:spPr>
          <a:xfrm>
            <a:off x="5486400" y="3383280"/>
            <a:ext cx="3108960" cy="27432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LLM Evaluation &amp; Annotations</a:t>
            </a:r>
            <a:endParaRPr lang="en-US" sz="1000" dirty="0"/>
          </a:p>
        </p:txBody>
      </p:sp>
      <p:sp>
        <p:nvSpPr>
          <p:cNvPr id="33" name="Text 31"/>
          <p:cNvSpPr/>
          <p:nvPr/>
        </p:nvSpPr>
        <p:spPr>
          <a:xfrm>
            <a:off x="5212080" y="3840480"/>
            <a:ext cx="274320" cy="228600"/>
          </a:xfrm>
          <a:prstGeom prst="rect">
            <a:avLst/>
          </a:prstGeom>
          <a:noFill/>
          <a:ln/>
        </p:spPr>
        <p:txBody>
          <a:bodyPr wrap="square" lIns="0" tIns="0" rIns="0" bIns="0"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6.</a:t>
            </a:r>
            <a:endParaRPr lang="en-US" sz="1100" dirty="0"/>
          </a:p>
        </p:txBody>
      </p:sp>
      <p:sp>
        <p:nvSpPr>
          <p:cNvPr id="34" name="Text 32"/>
          <p:cNvSpPr/>
          <p:nvPr/>
        </p:nvSpPr>
        <p:spPr>
          <a:xfrm>
            <a:off x="5486400" y="3840480"/>
            <a:ext cx="3108960" cy="27432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Spec Retrospective (what to improve)</a:t>
            </a:r>
            <a:endParaRPr lang="en-US" sz="1000" dirty="0"/>
          </a:p>
        </p:txBody>
      </p:sp>
      <p:sp>
        <p:nvSpPr>
          <p:cNvPr id="35" name="Text 33"/>
          <p:cNvSpPr/>
          <p:nvPr/>
        </p:nvSpPr>
        <p:spPr>
          <a:xfrm>
            <a:off x="5212080" y="4297680"/>
            <a:ext cx="274320" cy="228600"/>
          </a:xfrm>
          <a:prstGeom prst="rect">
            <a:avLst/>
          </a:prstGeom>
          <a:noFill/>
          <a:ln/>
        </p:spPr>
        <p:txBody>
          <a:bodyPr wrap="square" lIns="0" tIns="0" rIns="0" bIns="0" rtlCol="0" anchor="ctr"/>
          <a:lstStyle/>
          <a:p>
            <a:pPr indent="0" marL="0">
              <a:buNone/>
            </a:pPr>
            <a:r>
              <a:rPr lang="en-US" sz="1100" b="1" dirty="0">
                <a:solidFill>
                  <a:srgbClr val="024731"/>
                </a:solidFill>
                <a:latin typeface="Open Sans" pitchFamily="34" charset="0"/>
                <a:ea typeface="Open Sans" pitchFamily="34" charset="-122"/>
                <a:cs typeface="Open Sans" pitchFamily="34" charset="-120"/>
              </a:rPr>
              <a:t>7.</a:t>
            </a:r>
            <a:endParaRPr lang="en-US" sz="1100" dirty="0"/>
          </a:p>
        </p:txBody>
      </p:sp>
      <p:sp>
        <p:nvSpPr>
          <p:cNvPr id="36" name="Text 34"/>
          <p:cNvSpPr/>
          <p:nvPr/>
        </p:nvSpPr>
        <p:spPr>
          <a:xfrm>
            <a:off x="5486400" y="4297680"/>
            <a:ext cx="3108960" cy="365760"/>
          </a:xfrm>
          <a:prstGeom prst="rect">
            <a:avLst/>
          </a:prstGeom>
          <a:noFill/>
          <a:ln/>
        </p:spPr>
        <p:txBody>
          <a:bodyPr wrap="square" lIns="0" tIns="0" rIns="0" bIns="0" rtlCol="0" anchor="ctr"/>
          <a:lstStyle/>
          <a:p>
            <a:pPr indent="0" marL="0">
              <a:buNone/>
            </a:pPr>
            <a:r>
              <a:rPr lang="en-US" sz="1000" dirty="0">
                <a:solidFill>
                  <a:srgbClr val="0D0D0D"/>
                </a:solidFill>
                <a:latin typeface="Open Sans" pitchFamily="34" charset="0"/>
                <a:ea typeface="Open Sans" pitchFamily="34" charset="-122"/>
                <a:cs typeface="Open Sans" pitchFamily="34" charset="-120"/>
              </a:rPr>
              <a:t>Executive Justification (your voice, not the LLM’s)</a:t>
            </a:r>
            <a:endParaRPr lang="en-US" sz="1000" dirty="0"/>
          </a:p>
        </p:txBody>
      </p:sp>
      <p:sp>
        <p:nvSpPr>
          <p:cNvPr id="37" name="Shape 35"/>
          <p:cNvSpPr/>
          <p:nvPr/>
        </p:nvSpPr>
        <p:spPr>
          <a:xfrm>
            <a:off x="457200" y="4434840"/>
            <a:ext cx="8229600" cy="457200"/>
          </a:xfrm>
          <a:prstGeom prst="rect">
            <a:avLst/>
          </a:prstGeom>
          <a:solidFill>
            <a:srgbClr val="024731"/>
          </a:solidFill>
          <a:ln/>
        </p:spPr>
      </p:sp>
      <p:sp>
        <p:nvSpPr>
          <p:cNvPr id="38" name="Text 36"/>
          <p:cNvSpPr/>
          <p:nvPr/>
        </p:nvSpPr>
        <p:spPr>
          <a:xfrm>
            <a:off x="594360" y="4453128"/>
            <a:ext cx="7955280" cy="411480"/>
          </a:xfrm>
          <a:prstGeom prst="rect">
            <a:avLst/>
          </a:prstGeom>
          <a:noFill/>
          <a:ln/>
        </p:spPr>
        <p:txBody>
          <a:bodyPr wrap="square" rtlCol="0" anchor="ctr"/>
          <a:lstStyle/>
          <a:p>
            <a:pPr algn="ctr" indent="0" marL="0">
              <a:buNone/>
            </a:pPr>
            <a:r>
              <a:rPr lang="en-US" sz="1100" b="1" dirty="0">
                <a:solidFill>
                  <a:srgbClr val="FFFFFF"/>
                </a:solidFill>
                <a:latin typeface="Open Sans" pitchFamily="34" charset="0"/>
                <a:ea typeface="Open Sans" pitchFamily="34" charset="-122"/>
                <a:cs typeface="Open Sans" pitchFamily="34" charset="-120"/>
              </a:rPr>
              <a:t>The future of finance: specify the work, evaluate the output, take responsibility for the final product.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20040"/>
            <a:ext cx="8229600" cy="548640"/>
          </a:xfrm>
          <a:prstGeom prst="rect">
            <a:avLst/>
          </a:prstGeom>
          <a:noFill/>
          <a:ln/>
        </p:spPr>
        <p:txBody>
          <a:bodyPr wrap="square" lIns="0" tIns="0" rIns="0" bIns="0" rtlCol="0" anchor="ctr"/>
          <a:lstStyle/>
          <a:p>
            <a:pPr indent="0" marL="0">
              <a:buNone/>
            </a:pPr>
            <a:r>
              <a:rPr lang="en-US" sz="2600" b="1" dirty="0">
                <a:solidFill>
                  <a:srgbClr val="024731"/>
                </a:solidFill>
                <a:latin typeface="Open Sans" pitchFamily="34" charset="0"/>
                <a:ea typeface="Open Sans" pitchFamily="34" charset="-122"/>
                <a:cs typeface="Open Sans" pitchFamily="34" charset="-120"/>
              </a:rPr>
              <a:t>International Scope — Choose Any Public Company</a:t>
            </a:r>
            <a:endParaRPr lang="en-US" sz="2600" dirty="0"/>
          </a:p>
        </p:txBody>
      </p:sp>
      <p:sp>
        <p:nvSpPr>
          <p:cNvPr id="3" name="Text 1"/>
          <p:cNvSpPr/>
          <p:nvPr/>
        </p:nvSpPr>
        <p:spPr>
          <a:xfrm>
            <a:off x="548640" y="822960"/>
            <a:ext cx="8046720" cy="320040"/>
          </a:xfrm>
          <a:prstGeom prst="rect">
            <a:avLst/>
          </a:prstGeom>
          <a:noFill/>
          <a:ln/>
        </p:spPr>
        <p:txBody>
          <a:bodyPr wrap="square" rtlCol="0" anchor="ctr"/>
          <a:lstStyle/>
          <a:p>
            <a:pPr indent="0" marL="0">
              <a:buNone/>
            </a:pPr>
            <a:r>
              <a:rPr lang="en-US" sz="1200" dirty="0">
                <a:solidFill>
                  <a:srgbClr val="6B7280"/>
                </a:solidFill>
                <a:latin typeface="Open Sans" pitchFamily="34" charset="0"/>
                <a:ea typeface="Open Sans" pitchFamily="34" charset="-122"/>
                <a:cs typeface="Open Sans" pitchFamily="34" charset="-120"/>
              </a:rPr>
              <a:t>Non-U.S. companies are encouraged. Analyze the company most relevant to your career.</a:t>
            </a:r>
            <a:endParaRPr lang="en-US" sz="1200" dirty="0"/>
          </a:p>
        </p:txBody>
      </p:sp>
      <p:sp>
        <p:nvSpPr>
          <p:cNvPr id="4" name="Shape 2"/>
          <p:cNvSpPr/>
          <p:nvPr/>
        </p:nvSpPr>
        <p:spPr>
          <a:xfrm>
            <a:off x="548640" y="1371600"/>
            <a:ext cx="2606040" cy="118872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5" name="Shape 3"/>
          <p:cNvSpPr/>
          <p:nvPr/>
        </p:nvSpPr>
        <p:spPr>
          <a:xfrm>
            <a:off x="548640" y="1371600"/>
            <a:ext cx="2606040" cy="54864"/>
          </a:xfrm>
          <a:prstGeom prst="rect">
            <a:avLst/>
          </a:prstGeom>
          <a:solidFill>
            <a:srgbClr val="C9A84C"/>
          </a:solidFill>
          <a:ln/>
        </p:spPr>
      </p:sp>
      <p:sp>
        <p:nvSpPr>
          <p:cNvPr id="6" name="Text 4"/>
          <p:cNvSpPr/>
          <p:nvPr/>
        </p:nvSpPr>
        <p:spPr>
          <a:xfrm>
            <a:off x="685800" y="1508760"/>
            <a:ext cx="2331720" cy="274320"/>
          </a:xfrm>
          <a:prstGeom prst="rect">
            <a:avLst/>
          </a:prstGeom>
          <a:noFill/>
          <a:ln/>
        </p:spPr>
        <p:txBody>
          <a:bodyPr wrap="square" lIns="0" tIns="0" rIns="0" bIns="0" rtlCol="0" anchor="ctr"/>
          <a:lstStyle/>
          <a:p>
            <a:pPr indent="0" marL="0">
              <a:buNone/>
            </a:pPr>
            <a:r>
              <a:rPr lang="en-US" sz="1300" b="1" dirty="0">
                <a:solidFill>
                  <a:srgbClr val="024731"/>
                </a:solidFill>
                <a:latin typeface="Open Sans" pitchFamily="34" charset="0"/>
                <a:ea typeface="Open Sans" pitchFamily="34" charset="-122"/>
                <a:cs typeface="Open Sans" pitchFamily="34" charset="-120"/>
              </a:rPr>
              <a:t>Vietnam</a:t>
            </a:r>
            <a:endParaRPr lang="en-US" sz="1300" dirty="0"/>
          </a:p>
        </p:txBody>
      </p:sp>
      <p:sp>
        <p:nvSpPr>
          <p:cNvPr id="7" name="Text 5"/>
          <p:cNvSpPr/>
          <p:nvPr/>
        </p:nvSpPr>
        <p:spPr>
          <a:xfrm>
            <a:off x="685800" y="1783080"/>
            <a:ext cx="233172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HOSE  ·  HNX</a:t>
            </a:r>
            <a:endParaRPr lang="en-US" sz="1100" dirty="0"/>
          </a:p>
        </p:txBody>
      </p:sp>
      <p:sp>
        <p:nvSpPr>
          <p:cNvPr id="8" name="Text 6"/>
          <p:cNvSpPr/>
          <p:nvPr/>
        </p:nvSpPr>
        <p:spPr>
          <a:xfrm>
            <a:off x="685800" y="2057400"/>
            <a:ext cx="2331720" cy="36576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VAS reporting; note differences from GAAP</a:t>
            </a:r>
            <a:endParaRPr lang="en-US" sz="900" dirty="0"/>
          </a:p>
        </p:txBody>
      </p:sp>
      <p:sp>
        <p:nvSpPr>
          <p:cNvPr id="9" name="Shape 7"/>
          <p:cNvSpPr/>
          <p:nvPr/>
        </p:nvSpPr>
        <p:spPr>
          <a:xfrm>
            <a:off x="3383280" y="1371600"/>
            <a:ext cx="2606040" cy="118872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10" name="Shape 8"/>
          <p:cNvSpPr/>
          <p:nvPr/>
        </p:nvSpPr>
        <p:spPr>
          <a:xfrm>
            <a:off x="3383280" y="1371600"/>
            <a:ext cx="2606040" cy="54864"/>
          </a:xfrm>
          <a:prstGeom prst="rect">
            <a:avLst/>
          </a:prstGeom>
          <a:solidFill>
            <a:srgbClr val="024731"/>
          </a:solidFill>
          <a:ln/>
        </p:spPr>
      </p:sp>
      <p:sp>
        <p:nvSpPr>
          <p:cNvPr id="11" name="Text 9"/>
          <p:cNvSpPr/>
          <p:nvPr/>
        </p:nvSpPr>
        <p:spPr>
          <a:xfrm>
            <a:off x="3520440" y="1508760"/>
            <a:ext cx="2331720" cy="274320"/>
          </a:xfrm>
          <a:prstGeom prst="rect">
            <a:avLst/>
          </a:prstGeom>
          <a:noFill/>
          <a:ln/>
        </p:spPr>
        <p:txBody>
          <a:bodyPr wrap="square" lIns="0" tIns="0" rIns="0" bIns="0" rtlCol="0" anchor="ctr"/>
          <a:lstStyle/>
          <a:p>
            <a:pPr indent="0" marL="0">
              <a:buNone/>
            </a:pPr>
            <a:r>
              <a:rPr lang="en-US" sz="1300" b="1" dirty="0">
                <a:solidFill>
                  <a:srgbClr val="024731"/>
                </a:solidFill>
                <a:latin typeface="Open Sans" pitchFamily="34" charset="0"/>
                <a:ea typeface="Open Sans" pitchFamily="34" charset="-122"/>
                <a:cs typeface="Open Sans" pitchFamily="34" charset="-120"/>
              </a:rPr>
              <a:t>Singapore</a:t>
            </a:r>
            <a:endParaRPr lang="en-US" sz="1300" dirty="0"/>
          </a:p>
        </p:txBody>
      </p:sp>
      <p:sp>
        <p:nvSpPr>
          <p:cNvPr id="12" name="Text 10"/>
          <p:cNvSpPr/>
          <p:nvPr/>
        </p:nvSpPr>
        <p:spPr>
          <a:xfrm>
            <a:off x="3520440" y="1783080"/>
            <a:ext cx="233172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SGX</a:t>
            </a:r>
            <a:endParaRPr lang="en-US" sz="1100" dirty="0"/>
          </a:p>
        </p:txBody>
      </p:sp>
      <p:sp>
        <p:nvSpPr>
          <p:cNvPr id="13" name="Text 11"/>
          <p:cNvSpPr/>
          <p:nvPr/>
        </p:nvSpPr>
        <p:spPr>
          <a:xfrm>
            <a:off x="3520440" y="2057400"/>
            <a:ext cx="2331720" cy="36576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Many IFRS reporters; strong English disclosures</a:t>
            </a:r>
            <a:endParaRPr lang="en-US" sz="900" dirty="0"/>
          </a:p>
        </p:txBody>
      </p:sp>
      <p:sp>
        <p:nvSpPr>
          <p:cNvPr id="14" name="Shape 12"/>
          <p:cNvSpPr/>
          <p:nvPr/>
        </p:nvSpPr>
        <p:spPr>
          <a:xfrm>
            <a:off x="6217920" y="1371600"/>
            <a:ext cx="2606040" cy="118872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15" name="Shape 13"/>
          <p:cNvSpPr/>
          <p:nvPr/>
        </p:nvSpPr>
        <p:spPr>
          <a:xfrm>
            <a:off x="6217920" y="1371600"/>
            <a:ext cx="2606040" cy="54864"/>
          </a:xfrm>
          <a:prstGeom prst="rect">
            <a:avLst/>
          </a:prstGeom>
          <a:solidFill>
            <a:srgbClr val="024731"/>
          </a:solidFill>
          <a:ln/>
        </p:spPr>
      </p:sp>
      <p:sp>
        <p:nvSpPr>
          <p:cNvPr id="16" name="Text 14"/>
          <p:cNvSpPr/>
          <p:nvPr/>
        </p:nvSpPr>
        <p:spPr>
          <a:xfrm>
            <a:off x="6355080" y="1508760"/>
            <a:ext cx="2331720" cy="274320"/>
          </a:xfrm>
          <a:prstGeom prst="rect">
            <a:avLst/>
          </a:prstGeom>
          <a:noFill/>
          <a:ln/>
        </p:spPr>
        <p:txBody>
          <a:bodyPr wrap="square" lIns="0" tIns="0" rIns="0" bIns="0" rtlCol="0" anchor="ctr"/>
          <a:lstStyle/>
          <a:p>
            <a:pPr indent="0" marL="0">
              <a:buNone/>
            </a:pPr>
            <a:r>
              <a:rPr lang="en-US" sz="1300" b="1" dirty="0">
                <a:solidFill>
                  <a:srgbClr val="024731"/>
                </a:solidFill>
                <a:latin typeface="Open Sans" pitchFamily="34" charset="0"/>
                <a:ea typeface="Open Sans" pitchFamily="34" charset="-122"/>
                <a:cs typeface="Open Sans" pitchFamily="34" charset="-120"/>
              </a:rPr>
              <a:t>Thailand</a:t>
            </a:r>
            <a:endParaRPr lang="en-US" sz="1300" dirty="0"/>
          </a:p>
        </p:txBody>
      </p:sp>
      <p:sp>
        <p:nvSpPr>
          <p:cNvPr id="17" name="Text 15"/>
          <p:cNvSpPr/>
          <p:nvPr/>
        </p:nvSpPr>
        <p:spPr>
          <a:xfrm>
            <a:off x="6355080" y="1783080"/>
            <a:ext cx="233172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SET</a:t>
            </a:r>
            <a:endParaRPr lang="en-US" sz="1100" dirty="0"/>
          </a:p>
        </p:txBody>
      </p:sp>
      <p:sp>
        <p:nvSpPr>
          <p:cNvPr id="18" name="Text 16"/>
          <p:cNvSpPr/>
          <p:nvPr/>
        </p:nvSpPr>
        <p:spPr>
          <a:xfrm>
            <a:off x="6355080" y="2057400"/>
            <a:ext cx="2331720" cy="36576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Thai GAAP converging with IFRS</a:t>
            </a:r>
            <a:endParaRPr lang="en-US" sz="900" dirty="0"/>
          </a:p>
        </p:txBody>
      </p:sp>
      <p:sp>
        <p:nvSpPr>
          <p:cNvPr id="19" name="Shape 17"/>
          <p:cNvSpPr/>
          <p:nvPr/>
        </p:nvSpPr>
        <p:spPr>
          <a:xfrm>
            <a:off x="548640" y="2788920"/>
            <a:ext cx="2606040" cy="118872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20" name="Shape 18"/>
          <p:cNvSpPr/>
          <p:nvPr/>
        </p:nvSpPr>
        <p:spPr>
          <a:xfrm>
            <a:off x="548640" y="2788920"/>
            <a:ext cx="2606040" cy="54864"/>
          </a:xfrm>
          <a:prstGeom prst="rect">
            <a:avLst/>
          </a:prstGeom>
          <a:solidFill>
            <a:srgbClr val="024731"/>
          </a:solidFill>
          <a:ln/>
        </p:spPr>
      </p:sp>
      <p:sp>
        <p:nvSpPr>
          <p:cNvPr id="21" name="Text 19"/>
          <p:cNvSpPr/>
          <p:nvPr/>
        </p:nvSpPr>
        <p:spPr>
          <a:xfrm>
            <a:off x="685800" y="2926080"/>
            <a:ext cx="2331720" cy="274320"/>
          </a:xfrm>
          <a:prstGeom prst="rect">
            <a:avLst/>
          </a:prstGeom>
          <a:noFill/>
          <a:ln/>
        </p:spPr>
        <p:txBody>
          <a:bodyPr wrap="square" lIns="0" tIns="0" rIns="0" bIns="0" rtlCol="0" anchor="ctr"/>
          <a:lstStyle/>
          <a:p>
            <a:pPr indent="0" marL="0">
              <a:buNone/>
            </a:pPr>
            <a:r>
              <a:rPr lang="en-US" sz="1300" b="1" dirty="0">
                <a:solidFill>
                  <a:srgbClr val="024731"/>
                </a:solidFill>
                <a:latin typeface="Open Sans" pitchFamily="34" charset="0"/>
                <a:ea typeface="Open Sans" pitchFamily="34" charset="-122"/>
                <a:cs typeface="Open Sans" pitchFamily="34" charset="-120"/>
              </a:rPr>
              <a:t>Indonesia</a:t>
            </a:r>
            <a:endParaRPr lang="en-US" sz="1300" dirty="0"/>
          </a:p>
        </p:txBody>
      </p:sp>
      <p:sp>
        <p:nvSpPr>
          <p:cNvPr id="22" name="Text 20"/>
          <p:cNvSpPr/>
          <p:nvPr/>
        </p:nvSpPr>
        <p:spPr>
          <a:xfrm>
            <a:off x="685800" y="3200400"/>
            <a:ext cx="233172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IDX</a:t>
            </a:r>
            <a:endParaRPr lang="en-US" sz="1100" dirty="0"/>
          </a:p>
        </p:txBody>
      </p:sp>
      <p:sp>
        <p:nvSpPr>
          <p:cNvPr id="23" name="Text 21"/>
          <p:cNvSpPr/>
          <p:nvPr/>
        </p:nvSpPr>
        <p:spPr>
          <a:xfrm>
            <a:off x="685800" y="3474720"/>
            <a:ext cx="2331720" cy="36576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IFRS-converged; IDR reporting currency</a:t>
            </a:r>
            <a:endParaRPr lang="en-US" sz="900" dirty="0"/>
          </a:p>
        </p:txBody>
      </p:sp>
      <p:sp>
        <p:nvSpPr>
          <p:cNvPr id="24" name="Shape 22"/>
          <p:cNvSpPr/>
          <p:nvPr/>
        </p:nvSpPr>
        <p:spPr>
          <a:xfrm>
            <a:off x="3383280" y="2788920"/>
            <a:ext cx="2606040" cy="118872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25" name="Shape 23"/>
          <p:cNvSpPr/>
          <p:nvPr/>
        </p:nvSpPr>
        <p:spPr>
          <a:xfrm>
            <a:off x="3383280" y="2788920"/>
            <a:ext cx="2606040" cy="54864"/>
          </a:xfrm>
          <a:prstGeom prst="rect">
            <a:avLst/>
          </a:prstGeom>
          <a:solidFill>
            <a:srgbClr val="024731"/>
          </a:solidFill>
          <a:ln/>
        </p:spPr>
      </p:sp>
      <p:sp>
        <p:nvSpPr>
          <p:cNvPr id="26" name="Text 24"/>
          <p:cNvSpPr/>
          <p:nvPr/>
        </p:nvSpPr>
        <p:spPr>
          <a:xfrm>
            <a:off x="3520440" y="2926080"/>
            <a:ext cx="2331720" cy="274320"/>
          </a:xfrm>
          <a:prstGeom prst="rect">
            <a:avLst/>
          </a:prstGeom>
          <a:noFill/>
          <a:ln/>
        </p:spPr>
        <p:txBody>
          <a:bodyPr wrap="square" lIns="0" tIns="0" rIns="0" bIns="0" rtlCol="0" anchor="ctr"/>
          <a:lstStyle/>
          <a:p>
            <a:pPr indent="0" marL="0">
              <a:buNone/>
            </a:pPr>
            <a:r>
              <a:rPr lang="en-US" sz="1300" b="1" dirty="0">
                <a:solidFill>
                  <a:srgbClr val="024731"/>
                </a:solidFill>
                <a:latin typeface="Open Sans" pitchFamily="34" charset="0"/>
                <a:ea typeface="Open Sans" pitchFamily="34" charset="-122"/>
                <a:cs typeface="Open Sans" pitchFamily="34" charset="-120"/>
              </a:rPr>
              <a:t>United States</a:t>
            </a:r>
            <a:endParaRPr lang="en-US" sz="1300" dirty="0"/>
          </a:p>
        </p:txBody>
      </p:sp>
      <p:sp>
        <p:nvSpPr>
          <p:cNvPr id="27" name="Text 25"/>
          <p:cNvSpPr/>
          <p:nvPr/>
        </p:nvSpPr>
        <p:spPr>
          <a:xfrm>
            <a:off x="3520440" y="3200400"/>
            <a:ext cx="233172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NYSE  ·  NASDAQ</a:t>
            </a:r>
            <a:endParaRPr lang="en-US" sz="1100" dirty="0"/>
          </a:p>
        </p:txBody>
      </p:sp>
      <p:sp>
        <p:nvSpPr>
          <p:cNvPr id="28" name="Text 26"/>
          <p:cNvSpPr/>
          <p:nvPr/>
        </p:nvSpPr>
        <p:spPr>
          <a:xfrm>
            <a:off x="3520440" y="3474720"/>
            <a:ext cx="2331720" cy="36576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10-K filings via SEC EDGAR</a:t>
            </a:r>
            <a:endParaRPr lang="en-US" sz="900" dirty="0"/>
          </a:p>
        </p:txBody>
      </p:sp>
      <p:sp>
        <p:nvSpPr>
          <p:cNvPr id="29" name="Shape 27"/>
          <p:cNvSpPr/>
          <p:nvPr/>
        </p:nvSpPr>
        <p:spPr>
          <a:xfrm>
            <a:off x="6217920" y="2788920"/>
            <a:ext cx="2606040" cy="1188720"/>
          </a:xfrm>
          <a:prstGeom prst="rect">
            <a:avLst/>
          </a:prstGeom>
          <a:solidFill>
            <a:srgbClr val="FFFFFF"/>
          </a:solidFill>
          <a:ln/>
          <a:effectLst>
            <a:outerShdw sx="100000" sy="100000" kx="0" ky="0" algn="bl" rotWithShape="0" blurRad="50800" dist="12700" dir="8100000">
              <a:srgbClr val="000000">
                <a:alpha val="10000"/>
              </a:srgbClr>
            </a:outerShdw>
          </a:effectLst>
        </p:spPr>
      </p:sp>
      <p:sp>
        <p:nvSpPr>
          <p:cNvPr id="30" name="Shape 28"/>
          <p:cNvSpPr/>
          <p:nvPr/>
        </p:nvSpPr>
        <p:spPr>
          <a:xfrm>
            <a:off x="6217920" y="2788920"/>
            <a:ext cx="2606040" cy="54864"/>
          </a:xfrm>
          <a:prstGeom prst="rect">
            <a:avLst/>
          </a:prstGeom>
          <a:solidFill>
            <a:srgbClr val="024731"/>
          </a:solidFill>
          <a:ln/>
        </p:spPr>
      </p:sp>
      <p:sp>
        <p:nvSpPr>
          <p:cNvPr id="31" name="Text 29"/>
          <p:cNvSpPr/>
          <p:nvPr/>
        </p:nvSpPr>
        <p:spPr>
          <a:xfrm>
            <a:off x="6355080" y="2926080"/>
            <a:ext cx="2331720" cy="274320"/>
          </a:xfrm>
          <a:prstGeom prst="rect">
            <a:avLst/>
          </a:prstGeom>
          <a:noFill/>
          <a:ln/>
        </p:spPr>
        <p:txBody>
          <a:bodyPr wrap="square" lIns="0" tIns="0" rIns="0" bIns="0" rtlCol="0" anchor="ctr"/>
          <a:lstStyle/>
          <a:p>
            <a:pPr indent="0" marL="0">
              <a:buNone/>
            </a:pPr>
            <a:r>
              <a:rPr lang="en-US" sz="1300" b="1" dirty="0">
                <a:solidFill>
                  <a:srgbClr val="024731"/>
                </a:solidFill>
                <a:latin typeface="Open Sans" pitchFamily="34" charset="0"/>
                <a:ea typeface="Open Sans" pitchFamily="34" charset="-122"/>
                <a:cs typeface="Open Sans" pitchFamily="34" charset="-120"/>
              </a:rPr>
              <a:t>Malaysia</a:t>
            </a:r>
            <a:endParaRPr lang="en-US" sz="1300" dirty="0"/>
          </a:p>
        </p:txBody>
      </p:sp>
      <p:sp>
        <p:nvSpPr>
          <p:cNvPr id="32" name="Text 30"/>
          <p:cNvSpPr/>
          <p:nvPr/>
        </p:nvSpPr>
        <p:spPr>
          <a:xfrm>
            <a:off x="6355080" y="3200400"/>
            <a:ext cx="2331720" cy="228600"/>
          </a:xfrm>
          <a:prstGeom prst="rect">
            <a:avLst/>
          </a:prstGeom>
          <a:noFill/>
          <a:ln/>
        </p:spPr>
        <p:txBody>
          <a:bodyPr wrap="square" lIns="0" tIns="0" rIns="0" bIns="0" rtlCol="0" anchor="ctr"/>
          <a:lstStyle/>
          <a:p>
            <a:pPr indent="0" marL="0">
              <a:buNone/>
            </a:pPr>
            <a:r>
              <a:rPr lang="en-US" sz="1100" b="1" dirty="0">
                <a:solidFill>
                  <a:srgbClr val="0D0D0D"/>
                </a:solidFill>
                <a:latin typeface="Open Sans" pitchFamily="34" charset="0"/>
                <a:ea typeface="Open Sans" pitchFamily="34" charset="-122"/>
                <a:cs typeface="Open Sans" pitchFamily="34" charset="-120"/>
              </a:rPr>
              <a:t>Bursa Malaysia</a:t>
            </a:r>
            <a:endParaRPr lang="en-US" sz="1100" dirty="0"/>
          </a:p>
        </p:txBody>
      </p:sp>
      <p:sp>
        <p:nvSpPr>
          <p:cNvPr id="33" name="Text 31"/>
          <p:cNvSpPr/>
          <p:nvPr/>
        </p:nvSpPr>
        <p:spPr>
          <a:xfrm>
            <a:off x="6355080" y="3474720"/>
            <a:ext cx="2331720" cy="365760"/>
          </a:xfrm>
          <a:prstGeom prst="rect">
            <a:avLst/>
          </a:prstGeom>
          <a:noFill/>
          <a:ln/>
        </p:spPr>
        <p:txBody>
          <a:bodyPr wrap="square" lIns="0" tIns="0" rIns="0" bIns="0" rtlCol="0" anchor="ctr"/>
          <a:lstStyle/>
          <a:p>
            <a:pPr indent="0" marL="0">
              <a:buNone/>
            </a:pPr>
            <a:r>
              <a:rPr lang="en-US" sz="900" dirty="0">
                <a:solidFill>
                  <a:srgbClr val="6B7280"/>
                </a:solidFill>
                <a:latin typeface="Open Sans" pitchFamily="34" charset="0"/>
                <a:ea typeface="Open Sans" pitchFamily="34" charset="-122"/>
                <a:cs typeface="Open Sans" pitchFamily="34" charset="-120"/>
              </a:rPr>
              <a:t>MFRS (IFRS-converged)</a:t>
            </a:r>
            <a:endParaRPr lang="en-US" sz="900" dirty="0"/>
          </a:p>
        </p:txBody>
      </p:sp>
      <p:sp>
        <p:nvSpPr>
          <p:cNvPr id="34" name="Text 32"/>
          <p:cNvSpPr/>
          <p:nvPr/>
        </p:nvSpPr>
        <p:spPr>
          <a:xfrm>
            <a:off x="548640" y="4434840"/>
            <a:ext cx="8046720" cy="457200"/>
          </a:xfrm>
          <a:prstGeom prst="rect">
            <a:avLst/>
          </a:prstGeom>
          <a:noFill/>
          <a:ln/>
        </p:spPr>
        <p:txBody>
          <a:bodyPr wrap="square" rtlCol="0" anchor="ctr"/>
          <a:lstStyle/>
          <a:p>
            <a:pPr indent="0" marL="0">
              <a:buNone/>
            </a:pPr>
            <a:r>
              <a:rPr lang="en-US" sz="1000" i="1" dirty="0">
                <a:solidFill>
                  <a:srgbClr val="6B7280"/>
                </a:solidFill>
                <a:latin typeface="Open Sans" pitchFamily="34" charset="0"/>
                <a:ea typeface="Open Sans" pitchFamily="34" charset="-122"/>
                <a:cs typeface="Open Sans" pitchFamily="34" charset="-120"/>
              </a:rPr>
              <a:t>All deliverables must be in English. Ratios computed in the company’s reporting currency. Note any IFRS/GAAP/VAS differences that affect interpretation.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24731"/>
        </a:solidFill>
      </p:bgPr>
    </p:bg>
    <p:spTree>
      <p:nvGrpSpPr>
        <p:cNvPr id="1" name=""/>
        <p:cNvGrpSpPr/>
        <p:nvPr/>
      </p:nvGrpSpPr>
      <p:grpSpPr>
        <a:xfrm>
          <a:off x="0" y="0"/>
          <a:ext cx="0" cy="0"/>
          <a:chOff x="0" y="0"/>
          <a:chExt cx="0" cy="0"/>
        </a:xfrm>
      </p:grpSpPr>
      <p:sp>
        <p:nvSpPr>
          <p:cNvPr id="2" name="Text 0"/>
          <p:cNvSpPr/>
          <p:nvPr/>
        </p:nvSpPr>
        <p:spPr>
          <a:xfrm>
            <a:off x="548640" y="320040"/>
            <a:ext cx="8229600" cy="502920"/>
          </a:xfrm>
          <a:prstGeom prst="rect">
            <a:avLst/>
          </a:prstGeom>
          <a:noFill/>
          <a:ln/>
        </p:spPr>
        <p:txBody>
          <a:bodyPr wrap="square" lIns="0" tIns="0" rIns="0" bIns="0" rtlCol="0" anchor="ctr"/>
          <a:lstStyle/>
          <a:p>
            <a:pPr indent="0" marL="0">
              <a:buNone/>
            </a:pPr>
            <a:r>
              <a:rPr lang="en-US" sz="2600" b="1" dirty="0">
                <a:solidFill>
                  <a:srgbClr val="FFFFFF"/>
                </a:solidFill>
                <a:latin typeface="Open Sans" pitchFamily="34" charset="0"/>
                <a:ea typeface="Open Sans" pitchFamily="34" charset="-122"/>
                <a:cs typeface="Open Sans" pitchFamily="34" charset="-120"/>
              </a:rPr>
              <a:t>Career Relevance — Where This Gets Used</a:t>
            </a:r>
            <a:endParaRPr lang="en-US" sz="2600" dirty="0"/>
          </a:p>
        </p:txBody>
      </p:sp>
      <p:sp>
        <p:nvSpPr>
          <p:cNvPr id="3" name="Text 1"/>
          <p:cNvSpPr/>
          <p:nvPr/>
        </p:nvSpPr>
        <p:spPr>
          <a:xfrm>
            <a:off x="548640" y="777240"/>
            <a:ext cx="8046720" cy="320040"/>
          </a:xfrm>
          <a:prstGeom prst="rect">
            <a:avLst/>
          </a:prstGeom>
          <a:noFill/>
          <a:ln/>
        </p:spPr>
        <p:txBody>
          <a:bodyPr wrap="square" rtlCol="0" anchor="ctr"/>
          <a:lstStyle/>
          <a:p>
            <a:pPr indent="0" marL="0">
              <a:buNone/>
            </a:pPr>
            <a:r>
              <a:rPr lang="en-US" sz="1200" dirty="0">
                <a:solidFill>
                  <a:srgbClr val="B8DDD1"/>
                </a:solidFill>
                <a:latin typeface="Open Sans" pitchFamily="34" charset="0"/>
                <a:ea typeface="Open Sans" pitchFamily="34" charset="-122"/>
                <a:cs typeface="Open Sans" pitchFamily="34" charset="-120"/>
              </a:rPr>
              <a:t>The skills built in this project appear directly in job descriptions for these roles:</a:t>
            </a:r>
            <a:endParaRPr lang="en-US" sz="1200" dirty="0"/>
          </a:p>
        </p:txBody>
      </p:sp>
      <p:sp>
        <p:nvSpPr>
          <p:cNvPr id="4" name="Shape 2"/>
          <p:cNvSpPr/>
          <p:nvPr/>
        </p:nvSpPr>
        <p:spPr>
          <a:xfrm>
            <a:off x="548640" y="1325880"/>
            <a:ext cx="2606040" cy="1463040"/>
          </a:xfrm>
          <a:prstGeom prst="rect">
            <a:avLst/>
          </a:prstGeom>
          <a:solidFill>
            <a:srgbClr val="01362A"/>
          </a:solidFill>
          <a:ln/>
        </p:spPr>
      </p:sp>
      <p:sp>
        <p:nvSpPr>
          <p:cNvPr id="5" name="Shape 3"/>
          <p:cNvSpPr/>
          <p:nvPr/>
        </p:nvSpPr>
        <p:spPr>
          <a:xfrm>
            <a:off x="548640" y="1325880"/>
            <a:ext cx="2606040" cy="54864"/>
          </a:xfrm>
          <a:prstGeom prst="rect">
            <a:avLst/>
          </a:prstGeom>
          <a:solidFill>
            <a:srgbClr val="4DA78F"/>
          </a:solidFill>
          <a:ln/>
        </p:spPr>
      </p:sp>
      <p:sp>
        <p:nvSpPr>
          <p:cNvPr id="6" name="Text 4"/>
          <p:cNvSpPr/>
          <p:nvPr/>
        </p:nvSpPr>
        <p:spPr>
          <a:xfrm>
            <a:off x="731520" y="1463040"/>
            <a:ext cx="2240280" cy="320040"/>
          </a:xfrm>
          <a:prstGeom prst="rect">
            <a:avLst/>
          </a:prstGeom>
          <a:noFill/>
          <a:ln/>
        </p:spPr>
        <p:txBody>
          <a:bodyPr wrap="square" lIns="0" tIns="0" rIns="0" bIns="0" rtlCol="0" anchor="ctr"/>
          <a:lstStyle/>
          <a:p>
            <a:pPr indent="0" marL="0">
              <a:buNone/>
            </a:pPr>
            <a:r>
              <a:rPr lang="en-US" sz="1400" b="1" dirty="0">
                <a:solidFill>
                  <a:srgbClr val="4DA78F"/>
                </a:solidFill>
                <a:latin typeface="Open Sans" pitchFamily="34" charset="0"/>
                <a:ea typeface="Open Sans" pitchFamily="34" charset="-122"/>
                <a:cs typeface="Open Sans" pitchFamily="34" charset="-120"/>
              </a:rPr>
              <a:t>FP&amp;A</a:t>
            </a:r>
            <a:endParaRPr lang="en-US" sz="1400" dirty="0"/>
          </a:p>
        </p:txBody>
      </p:sp>
      <p:sp>
        <p:nvSpPr>
          <p:cNvPr id="7" name="Text 5"/>
          <p:cNvSpPr/>
          <p:nvPr/>
        </p:nvSpPr>
        <p:spPr>
          <a:xfrm>
            <a:off x="731520" y="1828800"/>
            <a:ext cx="2240280" cy="822960"/>
          </a:xfrm>
          <a:prstGeom prst="rect">
            <a:avLst/>
          </a:prstGeom>
          <a:noFill/>
          <a:ln/>
        </p:spPr>
        <p:txBody>
          <a:bodyPr wrap="square" lIns="0" tIns="0" rIns="0" bIns="0" rtlCol="0" anchor="ctr"/>
          <a:lstStyle/>
          <a:p>
            <a:pPr indent="0" marL="0">
              <a:buNone/>
            </a:pPr>
            <a:r>
              <a:rPr lang="en-US" sz="1000" dirty="0">
                <a:solidFill>
                  <a:srgbClr val="B8DDD1"/>
                </a:solidFill>
                <a:latin typeface="Open Sans" pitchFamily="34" charset="0"/>
                <a:ea typeface="Open Sans" pitchFamily="34" charset="-122"/>
                <a:cs typeface="Open Sans" pitchFamily="34" charset="-120"/>
              </a:rPr>
              <a:t>Ratio trend analysis</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Performance benchmarking</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Budget variance analysis</a:t>
            </a:r>
            <a:endParaRPr lang="en-US" sz="1000" dirty="0"/>
          </a:p>
        </p:txBody>
      </p:sp>
      <p:sp>
        <p:nvSpPr>
          <p:cNvPr id="8" name="Shape 6"/>
          <p:cNvSpPr/>
          <p:nvPr/>
        </p:nvSpPr>
        <p:spPr>
          <a:xfrm>
            <a:off x="3383280" y="1325880"/>
            <a:ext cx="2606040" cy="1463040"/>
          </a:xfrm>
          <a:prstGeom prst="rect">
            <a:avLst/>
          </a:prstGeom>
          <a:solidFill>
            <a:srgbClr val="01362A"/>
          </a:solidFill>
          <a:ln/>
        </p:spPr>
      </p:sp>
      <p:sp>
        <p:nvSpPr>
          <p:cNvPr id="9" name="Shape 7"/>
          <p:cNvSpPr/>
          <p:nvPr/>
        </p:nvSpPr>
        <p:spPr>
          <a:xfrm>
            <a:off x="3383280" y="1325880"/>
            <a:ext cx="2606040" cy="54864"/>
          </a:xfrm>
          <a:prstGeom prst="rect">
            <a:avLst/>
          </a:prstGeom>
          <a:solidFill>
            <a:srgbClr val="4DA78F"/>
          </a:solidFill>
          <a:ln/>
        </p:spPr>
      </p:sp>
      <p:sp>
        <p:nvSpPr>
          <p:cNvPr id="10" name="Text 8"/>
          <p:cNvSpPr/>
          <p:nvPr/>
        </p:nvSpPr>
        <p:spPr>
          <a:xfrm>
            <a:off x="3566160" y="1463040"/>
            <a:ext cx="2240280" cy="320040"/>
          </a:xfrm>
          <a:prstGeom prst="rect">
            <a:avLst/>
          </a:prstGeom>
          <a:noFill/>
          <a:ln/>
        </p:spPr>
        <p:txBody>
          <a:bodyPr wrap="square" lIns="0" tIns="0" rIns="0" bIns="0" rtlCol="0" anchor="ctr"/>
          <a:lstStyle/>
          <a:p>
            <a:pPr indent="0" marL="0">
              <a:buNone/>
            </a:pPr>
            <a:r>
              <a:rPr lang="en-US" sz="1400" b="1" dirty="0">
                <a:solidFill>
                  <a:srgbClr val="4DA78F"/>
                </a:solidFill>
                <a:latin typeface="Open Sans" pitchFamily="34" charset="0"/>
                <a:ea typeface="Open Sans" pitchFamily="34" charset="-122"/>
                <a:cs typeface="Open Sans" pitchFamily="34" charset="-120"/>
              </a:rPr>
              <a:t>Corporate Finance</a:t>
            </a:r>
            <a:endParaRPr lang="en-US" sz="1400" dirty="0"/>
          </a:p>
        </p:txBody>
      </p:sp>
      <p:sp>
        <p:nvSpPr>
          <p:cNvPr id="11" name="Text 9"/>
          <p:cNvSpPr/>
          <p:nvPr/>
        </p:nvSpPr>
        <p:spPr>
          <a:xfrm>
            <a:off x="3566160" y="1828800"/>
            <a:ext cx="2240280" cy="822960"/>
          </a:xfrm>
          <a:prstGeom prst="rect">
            <a:avLst/>
          </a:prstGeom>
          <a:noFill/>
          <a:ln/>
        </p:spPr>
        <p:txBody>
          <a:bodyPr wrap="square" lIns="0" tIns="0" rIns="0" bIns="0" rtlCol="0" anchor="ctr"/>
          <a:lstStyle/>
          <a:p>
            <a:pPr indent="0" marL="0">
              <a:buNone/>
            </a:pPr>
            <a:r>
              <a:rPr lang="en-US" sz="1000" dirty="0">
                <a:solidFill>
                  <a:srgbClr val="B8DDD1"/>
                </a:solidFill>
                <a:latin typeface="Open Sans" pitchFamily="34" charset="0"/>
                <a:ea typeface="Open Sans" pitchFamily="34" charset="-122"/>
                <a:cs typeface="Open Sans" pitchFamily="34" charset="-120"/>
              </a:rPr>
              <a:t>Capital structure optimization</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Liquidity management</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Investor relations</a:t>
            </a:r>
            <a:endParaRPr lang="en-US" sz="1000" dirty="0"/>
          </a:p>
        </p:txBody>
      </p:sp>
      <p:sp>
        <p:nvSpPr>
          <p:cNvPr id="12" name="Shape 10"/>
          <p:cNvSpPr/>
          <p:nvPr/>
        </p:nvSpPr>
        <p:spPr>
          <a:xfrm>
            <a:off x="6217920" y="1325880"/>
            <a:ext cx="2606040" cy="1463040"/>
          </a:xfrm>
          <a:prstGeom prst="rect">
            <a:avLst/>
          </a:prstGeom>
          <a:solidFill>
            <a:srgbClr val="01362A"/>
          </a:solidFill>
          <a:ln/>
        </p:spPr>
      </p:sp>
      <p:sp>
        <p:nvSpPr>
          <p:cNvPr id="13" name="Shape 11"/>
          <p:cNvSpPr/>
          <p:nvPr/>
        </p:nvSpPr>
        <p:spPr>
          <a:xfrm>
            <a:off x="6217920" y="1325880"/>
            <a:ext cx="2606040" cy="54864"/>
          </a:xfrm>
          <a:prstGeom prst="rect">
            <a:avLst/>
          </a:prstGeom>
          <a:solidFill>
            <a:srgbClr val="4DA78F"/>
          </a:solidFill>
          <a:ln/>
        </p:spPr>
      </p:sp>
      <p:sp>
        <p:nvSpPr>
          <p:cNvPr id="14" name="Text 12"/>
          <p:cNvSpPr/>
          <p:nvPr/>
        </p:nvSpPr>
        <p:spPr>
          <a:xfrm>
            <a:off x="6400800" y="1463040"/>
            <a:ext cx="2240280" cy="320040"/>
          </a:xfrm>
          <a:prstGeom prst="rect">
            <a:avLst/>
          </a:prstGeom>
          <a:noFill/>
          <a:ln/>
        </p:spPr>
        <p:txBody>
          <a:bodyPr wrap="square" lIns="0" tIns="0" rIns="0" bIns="0" rtlCol="0" anchor="ctr"/>
          <a:lstStyle/>
          <a:p>
            <a:pPr indent="0" marL="0">
              <a:buNone/>
            </a:pPr>
            <a:r>
              <a:rPr lang="en-US" sz="1400" b="1" dirty="0">
                <a:solidFill>
                  <a:srgbClr val="4DA78F"/>
                </a:solidFill>
                <a:latin typeface="Open Sans" pitchFamily="34" charset="0"/>
                <a:ea typeface="Open Sans" pitchFamily="34" charset="-122"/>
                <a:cs typeface="Open Sans" pitchFamily="34" charset="-120"/>
              </a:rPr>
              <a:t>Investment Banking</a:t>
            </a:r>
            <a:endParaRPr lang="en-US" sz="1400" dirty="0"/>
          </a:p>
        </p:txBody>
      </p:sp>
      <p:sp>
        <p:nvSpPr>
          <p:cNvPr id="15" name="Text 13"/>
          <p:cNvSpPr/>
          <p:nvPr/>
        </p:nvSpPr>
        <p:spPr>
          <a:xfrm>
            <a:off x="6400800" y="1828800"/>
            <a:ext cx="2240280" cy="822960"/>
          </a:xfrm>
          <a:prstGeom prst="rect">
            <a:avLst/>
          </a:prstGeom>
          <a:noFill/>
          <a:ln/>
        </p:spPr>
        <p:txBody>
          <a:bodyPr wrap="square" lIns="0" tIns="0" rIns="0" bIns="0" rtlCol="0" anchor="ctr"/>
          <a:lstStyle/>
          <a:p>
            <a:pPr indent="0" marL="0">
              <a:buNone/>
            </a:pPr>
            <a:r>
              <a:rPr lang="en-US" sz="1000" dirty="0">
                <a:solidFill>
                  <a:srgbClr val="B8DDD1"/>
                </a:solidFill>
                <a:latin typeface="Open Sans" pitchFamily="34" charset="0"/>
                <a:ea typeface="Open Sans" pitchFamily="34" charset="-122"/>
                <a:cs typeface="Open Sans" pitchFamily="34" charset="-120"/>
              </a:rPr>
              <a:t>Comparable company analysis</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Credit analysis</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Valuation multiples</a:t>
            </a:r>
            <a:endParaRPr lang="en-US" sz="1000" dirty="0"/>
          </a:p>
        </p:txBody>
      </p:sp>
      <p:sp>
        <p:nvSpPr>
          <p:cNvPr id="16" name="Shape 14"/>
          <p:cNvSpPr/>
          <p:nvPr/>
        </p:nvSpPr>
        <p:spPr>
          <a:xfrm>
            <a:off x="548640" y="3017520"/>
            <a:ext cx="2606040" cy="1463040"/>
          </a:xfrm>
          <a:prstGeom prst="rect">
            <a:avLst/>
          </a:prstGeom>
          <a:solidFill>
            <a:srgbClr val="01362A"/>
          </a:solidFill>
          <a:ln/>
        </p:spPr>
      </p:sp>
      <p:sp>
        <p:nvSpPr>
          <p:cNvPr id="17" name="Shape 15"/>
          <p:cNvSpPr/>
          <p:nvPr/>
        </p:nvSpPr>
        <p:spPr>
          <a:xfrm>
            <a:off x="548640" y="3017520"/>
            <a:ext cx="2606040" cy="54864"/>
          </a:xfrm>
          <a:prstGeom prst="rect">
            <a:avLst/>
          </a:prstGeom>
          <a:solidFill>
            <a:srgbClr val="4DA78F"/>
          </a:solidFill>
          <a:ln/>
        </p:spPr>
      </p:sp>
      <p:sp>
        <p:nvSpPr>
          <p:cNvPr id="18" name="Text 16"/>
          <p:cNvSpPr/>
          <p:nvPr/>
        </p:nvSpPr>
        <p:spPr>
          <a:xfrm>
            <a:off x="731520" y="3154680"/>
            <a:ext cx="2240280" cy="320040"/>
          </a:xfrm>
          <a:prstGeom prst="rect">
            <a:avLst/>
          </a:prstGeom>
          <a:noFill/>
          <a:ln/>
        </p:spPr>
        <p:txBody>
          <a:bodyPr wrap="square" lIns="0" tIns="0" rIns="0" bIns="0" rtlCol="0" anchor="ctr"/>
          <a:lstStyle/>
          <a:p>
            <a:pPr indent="0" marL="0">
              <a:buNone/>
            </a:pPr>
            <a:r>
              <a:rPr lang="en-US" sz="1400" b="1" dirty="0">
                <a:solidFill>
                  <a:srgbClr val="4DA78F"/>
                </a:solidFill>
                <a:latin typeface="Open Sans" pitchFamily="34" charset="0"/>
                <a:ea typeface="Open Sans" pitchFamily="34" charset="-122"/>
                <a:cs typeface="Open Sans" pitchFamily="34" charset="-120"/>
              </a:rPr>
              <a:t>Accounting &amp; Audit</a:t>
            </a:r>
            <a:endParaRPr lang="en-US" sz="1400" dirty="0"/>
          </a:p>
        </p:txBody>
      </p:sp>
      <p:sp>
        <p:nvSpPr>
          <p:cNvPr id="19" name="Text 17"/>
          <p:cNvSpPr/>
          <p:nvPr/>
        </p:nvSpPr>
        <p:spPr>
          <a:xfrm>
            <a:off x="731520" y="3520440"/>
            <a:ext cx="2240280" cy="822960"/>
          </a:xfrm>
          <a:prstGeom prst="rect">
            <a:avLst/>
          </a:prstGeom>
          <a:noFill/>
          <a:ln/>
        </p:spPr>
        <p:txBody>
          <a:bodyPr wrap="square" lIns="0" tIns="0" rIns="0" bIns="0" rtlCol="0" anchor="ctr"/>
          <a:lstStyle/>
          <a:p>
            <a:pPr indent="0" marL="0">
              <a:buNone/>
            </a:pPr>
            <a:r>
              <a:rPr lang="en-US" sz="1000" dirty="0">
                <a:solidFill>
                  <a:srgbClr val="B8DDD1"/>
                </a:solidFill>
                <a:latin typeface="Open Sans" pitchFamily="34" charset="0"/>
                <a:ea typeface="Open Sans" pitchFamily="34" charset="-122"/>
                <a:cs typeface="Open Sans" pitchFamily="34" charset="-120"/>
              </a:rPr>
              <a:t>Analytical procedures</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Internal controls evaluation</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Financial statement analysis</a:t>
            </a:r>
            <a:endParaRPr lang="en-US" sz="1000" dirty="0"/>
          </a:p>
        </p:txBody>
      </p:sp>
      <p:sp>
        <p:nvSpPr>
          <p:cNvPr id="20" name="Shape 18"/>
          <p:cNvSpPr/>
          <p:nvPr/>
        </p:nvSpPr>
        <p:spPr>
          <a:xfrm>
            <a:off x="3383280" y="3017520"/>
            <a:ext cx="2606040" cy="1463040"/>
          </a:xfrm>
          <a:prstGeom prst="rect">
            <a:avLst/>
          </a:prstGeom>
          <a:solidFill>
            <a:srgbClr val="01362A"/>
          </a:solidFill>
          <a:ln/>
        </p:spPr>
      </p:sp>
      <p:sp>
        <p:nvSpPr>
          <p:cNvPr id="21" name="Shape 19"/>
          <p:cNvSpPr/>
          <p:nvPr/>
        </p:nvSpPr>
        <p:spPr>
          <a:xfrm>
            <a:off x="3383280" y="3017520"/>
            <a:ext cx="2606040" cy="54864"/>
          </a:xfrm>
          <a:prstGeom prst="rect">
            <a:avLst/>
          </a:prstGeom>
          <a:solidFill>
            <a:srgbClr val="4DA78F"/>
          </a:solidFill>
          <a:ln/>
        </p:spPr>
      </p:sp>
      <p:sp>
        <p:nvSpPr>
          <p:cNvPr id="22" name="Text 20"/>
          <p:cNvSpPr/>
          <p:nvPr/>
        </p:nvSpPr>
        <p:spPr>
          <a:xfrm>
            <a:off x="3566160" y="3154680"/>
            <a:ext cx="2240280" cy="320040"/>
          </a:xfrm>
          <a:prstGeom prst="rect">
            <a:avLst/>
          </a:prstGeom>
          <a:noFill/>
          <a:ln/>
        </p:spPr>
        <p:txBody>
          <a:bodyPr wrap="square" lIns="0" tIns="0" rIns="0" bIns="0" rtlCol="0" anchor="ctr"/>
          <a:lstStyle/>
          <a:p>
            <a:pPr indent="0" marL="0">
              <a:buNone/>
            </a:pPr>
            <a:r>
              <a:rPr lang="en-US" sz="1400" b="1" dirty="0">
                <a:solidFill>
                  <a:srgbClr val="4DA78F"/>
                </a:solidFill>
                <a:latin typeface="Open Sans" pitchFamily="34" charset="0"/>
                <a:ea typeface="Open Sans" pitchFamily="34" charset="-122"/>
                <a:cs typeface="Open Sans" pitchFamily="34" charset="-120"/>
              </a:rPr>
              <a:t>Data &amp; AI Analytics</a:t>
            </a:r>
            <a:endParaRPr lang="en-US" sz="1400" dirty="0"/>
          </a:p>
        </p:txBody>
      </p:sp>
      <p:sp>
        <p:nvSpPr>
          <p:cNvPr id="23" name="Text 21"/>
          <p:cNvSpPr/>
          <p:nvPr/>
        </p:nvSpPr>
        <p:spPr>
          <a:xfrm>
            <a:off x="3566160" y="3520440"/>
            <a:ext cx="2240280" cy="822960"/>
          </a:xfrm>
          <a:prstGeom prst="rect">
            <a:avLst/>
          </a:prstGeom>
          <a:noFill/>
          <a:ln/>
        </p:spPr>
        <p:txBody>
          <a:bodyPr wrap="square" lIns="0" tIns="0" rIns="0" bIns="0" rtlCol="0" anchor="ctr"/>
          <a:lstStyle/>
          <a:p>
            <a:pPr indent="0" marL="0">
              <a:buNone/>
            </a:pPr>
            <a:r>
              <a:rPr lang="en-US" sz="1000" dirty="0">
                <a:solidFill>
                  <a:srgbClr val="B8DDD1"/>
                </a:solidFill>
                <a:latin typeface="Open Sans" pitchFamily="34" charset="0"/>
                <a:ea typeface="Open Sans" pitchFamily="34" charset="-122"/>
                <a:cs typeface="Open Sans" pitchFamily="34" charset="-120"/>
              </a:rPr>
              <a:t>Spec-to-prompt pipelines</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GitHub version control</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AI-assisted modeling</a:t>
            </a:r>
            <a:endParaRPr lang="en-US" sz="1000" dirty="0"/>
          </a:p>
        </p:txBody>
      </p:sp>
      <p:sp>
        <p:nvSpPr>
          <p:cNvPr id="24" name="Shape 22"/>
          <p:cNvSpPr/>
          <p:nvPr/>
        </p:nvSpPr>
        <p:spPr>
          <a:xfrm>
            <a:off x="6217920" y="3017520"/>
            <a:ext cx="2606040" cy="1463040"/>
          </a:xfrm>
          <a:prstGeom prst="rect">
            <a:avLst/>
          </a:prstGeom>
          <a:solidFill>
            <a:srgbClr val="01362A"/>
          </a:solidFill>
          <a:ln/>
        </p:spPr>
      </p:sp>
      <p:sp>
        <p:nvSpPr>
          <p:cNvPr id="25" name="Shape 23"/>
          <p:cNvSpPr/>
          <p:nvPr/>
        </p:nvSpPr>
        <p:spPr>
          <a:xfrm>
            <a:off x="6217920" y="3017520"/>
            <a:ext cx="2606040" cy="54864"/>
          </a:xfrm>
          <a:prstGeom prst="rect">
            <a:avLst/>
          </a:prstGeom>
          <a:solidFill>
            <a:srgbClr val="4DA78F"/>
          </a:solidFill>
          <a:ln/>
        </p:spPr>
      </p:sp>
      <p:sp>
        <p:nvSpPr>
          <p:cNvPr id="26" name="Text 24"/>
          <p:cNvSpPr/>
          <p:nvPr/>
        </p:nvSpPr>
        <p:spPr>
          <a:xfrm>
            <a:off x="6400800" y="3154680"/>
            <a:ext cx="2240280" cy="320040"/>
          </a:xfrm>
          <a:prstGeom prst="rect">
            <a:avLst/>
          </a:prstGeom>
          <a:noFill/>
          <a:ln/>
        </p:spPr>
        <p:txBody>
          <a:bodyPr wrap="square" lIns="0" tIns="0" rIns="0" bIns="0" rtlCol="0" anchor="ctr"/>
          <a:lstStyle/>
          <a:p>
            <a:pPr indent="0" marL="0">
              <a:buNone/>
            </a:pPr>
            <a:r>
              <a:rPr lang="en-US" sz="1400" b="1" dirty="0">
                <a:solidFill>
                  <a:srgbClr val="4DA78F"/>
                </a:solidFill>
                <a:latin typeface="Open Sans" pitchFamily="34" charset="0"/>
                <a:ea typeface="Open Sans" pitchFamily="34" charset="-122"/>
                <a:cs typeface="Open Sans" pitchFamily="34" charset="-120"/>
              </a:rPr>
              <a:t>Consulting</a:t>
            </a:r>
            <a:endParaRPr lang="en-US" sz="1400" dirty="0"/>
          </a:p>
        </p:txBody>
      </p:sp>
      <p:sp>
        <p:nvSpPr>
          <p:cNvPr id="27" name="Text 25"/>
          <p:cNvSpPr/>
          <p:nvPr/>
        </p:nvSpPr>
        <p:spPr>
          <a:xfrm>
            <a:off x="6400800" y="3520440"/>
            <a:ext cx="2240280" cy="822960"/>
          </a:xfrm>
          <a:prstGeom prst="rect">
            <a:avLst/>
          </a:prstGeom>
          <a:noFill/>
          <a:ln/>
        </p:spPr>
        <p:txBody>
          <a:bodyPr wrap="square" lIns="0" tIns="0" rIns="0" bIns="0" rtlCol="0" anchor="ctr"/>
          <a:lstStyle/>
          <a:p>
            <a:pPr indent="0" marL="0">
              <a:buNone/>
            </a:pPr>
            <a:r>
              <a:rPr lang="en-US" sz="1000" dirty="0">
                <a:solidFill>
                  <a:srgbClr val="B8DDD1"/>
                </a:solidFill>
                <a:latin typeface="Open Sans" pitchFamily="34" charset="0"/>
                <a:ea typeface="Open Sans" pitchFamily="34" charset="-122"/>
                <a:cs typeface="Open Sans" pitchFamily="34" charset="-120"/>
              </a:rPr>
              <a:t>Due diligence analysis</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Spec-driven delegation</a:t>
            </a:r>
            <a:endParaRPr lang="en-US" sz="1000" dirty="0"/>
          </a:p>
          <a:p>
            <a:pPr indent="0" marL="0">
              <a:buNone/>
            </a:pPr>
            <a:r>
              <a:rPr lang="en-US" sz="1000" dirty="0">
                <a:solidFill>
                  <a:srgbClr val="B8DDD1"/>
                </a:solidFill>
                <a:latin typeface="Open Sans" pitchFamily="34" charset="0"/>
                <a:ea typeface="Open Sans" pitchFamily="34" charset="-122"/>
                <a:cs typeface="Open Sans" pitchFamily="34" charset="-120"/>
              </a:rPr>
              <a:t>Executive communication</a:t>
            </a:r>
            <a:endParaRPr lang="en-US" sz="1000" dirty="0"/>
          </a:p>
        </p:txBody>
      </p:sp>
      <p:sp>
        <p:nvSpPr>
          <p:cNvPr id="28" name="Text 26"/>
          <p:cNvSpPr/>
          <p:nvPr/>
        </p:nvSpPr>
        <p:spPr>
          <a:xfrm>
            <a:off x="548640" y="4663440"/>
            <a:ext cx="8046720" cy="274320"/>
          </a:xfrm>
          <a:prstGeom prst="rect">
            <a:avLst/>
          </a:prstGeom>
          <a:noFill/>
          <a:ln/>
        </p:spPr>
        <p:txBody>
          <a:bodyPr wrap="square" rtlCol="0" anchor="ctr"/>
          <a:lstStyle/>
          <a:p>
            <a:pPr indent="0" marL="0">
              <a:buNone/>
            </a:pPr>
            <a:r>
              <a:rPr lang="en-US" sz="1100" b="1" dirty="0">
                <a:solidFill>
                  <a:srgbClr val="C9A84C"/>
                </a:solidFill>
                <a:latin typeface="Open Sans" pitchFamily="34" charset="0"/>
                <a:ea typeface="Open Sans" pitchFamily="34" charset="-122"/>
                <a:cs typeface="Open Sans" pitchFamily="34" charset="-120"/>
              </a:rPr>
              <a:t>This is a portfolio-ready artifact for internships, promotions, and graduate programs.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24731"/>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DA78F"/>
          </a:solidFill>
          <a:ln/>
        </p:spPr>
      </p:sp>
      <p:sp>
        <p:nvSpPr>
          <p:cNvPr id="3" name="Shape 1"/>
          <p:cNvSpPr/>
          <p:nvPr/>
        </p:nvSpPr>
        <p:spPr>
          <a:xfrm>
            <a:off x="6858000" y="0"/>
            <a:ext cx="2286000" cy="5143500"/>
          </a:xfrm>
          <a:prstGeom prst="rect">
            <a:avLst/>
          </a:prstGeom>
          <a:solidFill>
            <a:srgbClr val="01362A">
              <a:alpha val="60000"/>
            </a:srgbClr>
          </a:solidFill>
          <a:ln/>
        </p:spPr>
      </p:sp>
      <p:sp>
        <p:nvSpPr>
          <p:cNvPr id="4" name="Text 2"/>
          <p:cNvSpPr/>
          <p:nvPr/>
        </p:nvSpPr>
        <p:spPr>
          <a:xfrm>
            <a:off x="640080" y="914400"/>
            <a:ext cx="5486400" cy="731520"/>
          </a:xfrm>
          <a:prstGeom prst="rect">
            <a:avLst/>
          </a:prstGeom>
          <a:noFill/>
          <a:ln/>
        </p:spPr>
        <p:txBody>
          <a:bodyPr wrap="square" rtlCol="0" anchor="ctr"/>
          <a:lstStyle/>
          <a:p>
            <a:pPr indent="0" marL="0">
              <a:buNone/>
            </a:pPr>
            <a:r>
              <a:rPr lang="en-US" sz="4000" b="1" dirty="0">
                <a:solidFill>
                  <a:srgbClr val="FFFFFF"/>
                </a:solidFill>
                <a:latin typeface="Open Sans" pitchFamily="34" charset="0"/>
                <a:ea typeface="Open Sans" pitchFamily="34" charset="-122"/>
                <a:cs typeface="Open Sans" pitchFamily="34" charset="-120"/>
              </a:rPr>
              <a:t>Let’s Begin</a:t>
            </a:r>
            <a:endParaRPr lang="en-US" sz="4000" dirty="0"/>
          </a:p>
        </p:txBody>
      </p:sp>
      <p:sp>
        <p:nvSpPr>
          <p:cNvPr id="5" name="Text 3"/>
          <p:cNvSpPr/>
          <p:nvPr/>
        </p:nvSpPr>
        <p:spPr>
          <a:xfrm>
            <a:off x="640080" y="1645920"/>
            <a:ext cx="5486400" cy="457200"/>
          </a:xfrm>
          <a:prstGeom prst="rect">
            <a:avLst/>
          </a:prstGeom>
          <a:noFill/>
          <a:ln/>
        </p:spPr>
        <p:txBody>
          <a:bodyPr wrap="square" rtlCol="0" anchor="ctr"/>
          <a:lstStyle/>
          <a:p>
            <a:pPr indent="0" marL="0">
              <a:buNone/>
            </a:pPr>
            <a:r>
              <a:rPr lang="en-US" sz="1800" i="1" dirty="0">
                <a:solidFill>
                  <a:srgbClr val="4DA78F"/>
                </a:solidFill>
                <a:latin typeface="Open Sans" pitchFamily="34" charset="0"/>
                <a:ea typeface="Open Sans" pitchFamily="34" charset="-122"/>
                <a:cs typeface="Open Sans" pitchFamily="34" charset="-120"/>
              </a:rPr>
              <a:t>The goal isn’t perfection — it’s specification</a:t>
            </a:r>
            <a:endParaRPr lang="en-US" sz="1800" dirty="0"/>
          </a:p>
        </p:txBody>
      </p:sp>
      <p:sp>
        <p:nvSpPr>
          <p:cNvPr id="6" name="Text 4"/>
          <p:cNvSpPr/>
          <p:nvPr/>
        </p:nvSpPr>
        <p:spPr>
          <a:xfrm>
            <a:off x="640080" y="2377440"/>
            <a:ext cx="5943600" cy="2011680"/>
          </a:xfrm>
          <a:prstGeom prst="rect">
            <a:avLst/>
          </a:prstGeom>
          <a:noFill/>
          <a:ln/>
        </p:spPr>
        <p:txBody>
          <a:bodyPr wrap="square" rtlCol="0" anchor="ctr"/>
          <a:lstStyle/>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Upload the provided template, choose your company, populate real data</a:t>
            </a:r>
            <a:endParaRPr lang="en-US" sz="1300" dirty="0"/>
          </a:p>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Draft a spec with an LLM — precise enough that a fresh LLM can execute it cold</a:t>
            </a:r>
            <a:endParaRPr lang="en-US" sz="1300" dirty="0"/>
          </a:p>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Evaluate the output — what did the AI get right? What did it miss?</a:t>
            </a:r>
            <a:endParaRPr lang="en-US" sz="1300" dirty="0"/>
          </a:p>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Commit every deliverable to GitHub — version control matters</a:t>
            </a:r>
            <a:endParaRPr lang="en-US" sz="1300" dirty="0"/>
          </a:p>
          <a:p>
            <a:pPr marL="342900" indent="-342900">
              <a:spcAft>
                <a:spcPts val="800"/>
              </a:spcAft>
              <a:buSzPct val="100000"/>
              <a:buChar char="✓"/>
            </a:pPr>
            <a:r>
              <a:rPr lang="en-US" sz="1300" dirty="0">
                <a:solidFill>
                  <a:srgbClr val="B8DDD1"/>
                </a:solidFill>
                <a:latin typeface="Open Sans" pitchFamily="34" charset="0"/>
                <a:ea typeface="Open Sans" pitchFamily="34" charset="-122"/>
                <a:cs typeface="Open Sans" pitchFamily="34" charset="-120"/>
              </a:rPr>
              <a:t>We’re all learning in real-time. Your uncertainty is shared by everyone.</a:t>
            </a:r>
            <a:endParaRPr lang="en-US" sz="1300" dirty="0"/>
          </a:p>
        </p:txBody>
      </p:sp>
      <p:sp>
        <p:nvSpPr>
          <p:cNvPr id="7" name="Text 5"/>
          <p:cNvSpPr/>
          <p:nvPr/>
        </p:nvSpPr>
        <p:spPr>
          <a:xfrm>
            <a:off x="640080" y="4663440"/>
            <a:ext cx="7772400" cy="274320"/>
          </a:xfrm>
          <a:prstGeom prst="rect">
            <a:avLst/>
          </a:prstGeom>
          <a:noFill/>
          <a:ln/>
        </p:spPr>
        <p:txBody>
          <a:bodyPr wrap="square" rtlCol="0" anchor="ctr"/>
          <a:lstStyle/>
          <a:p>
            <a:pPr indent="0" marL="0">
              <a:buNone/>
            </a:pPr>
            <a:r>
              <a:rPr lang="en-US" sz="1000" dirty="0">
                <a:solidFill>
                  <a:srgbClr val="B8DDD1"/>
                </a:solidFill>
                <a:latin typeface="Open Sans" pitchFamily="34" charset="0"/>
                <a:ea typeface="Open Sans" pitchFamily="34" charset="-122"/>
                <a:cs typeface="Open Sans" pitchFamily="34" charset="-120"/>
              </a:rPr>
              <a:t>BUS-629  |  Shidler College of Business  |  University of Hawaiʻi at Mānoa  |  adamstau@hawaii.edu</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BUS-629 Accounting &amp; Performance Ratios — Spec-Driven Design Project</dc:title>
  <dc:subject>PptxGenJS Presentation</dc:subject>
  <dc:creator>Adam W. Stauffer</dc:creator>
  <cp:lastModifiedBy>Adam W. Stauffer</cp:lastModifiedBy>
  <cp:revision>1</cp:revision>
  <dcterms:created xsi:type="dcterms:W3CDTF">2026-04-03T18:35:26Z</dcterms:created>
  <dcterms:modified xsi:type="dcterms:W3CDTF">2026-04-03T18:35:26Z</dcterms:modified>
</cp:coreProperties>
</file>
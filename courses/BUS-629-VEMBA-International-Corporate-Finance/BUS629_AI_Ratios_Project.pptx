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officeDocument/2006/relationships/officeDocument" Target="ppt/presentation.xml"/><Relationship Id="rId1" Type="http://schemas.microsoft.com/office/2011/relationships/webextensiontaskpanes" Target="ppt/webextensions/taskpanes.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53"/>
  </p:notesMasterIdLst>
  <p:sldIdLst>
    <p:sldId id="256" r:id="rId2"/>
    <p:sldId id="335" r:id="rId3"/>
    <p:sldId id="257" r:id="rId4"/>
    <p:sldId id="258" r:id="rId5"/>
    <p:sldId id="259" r:id="rId6"/>
    <p:sldId id="267" r:id="rId7"/>
    <p:sldId id="269" r:id="rId8"/>
    <p:sldId id="329" r:id="rId9"/>
    <p:sldId id="260" r:id="rId10"/>
    <p:sldId id="270" r:id="rId11"/>
    <p:sldId id="274" r:id="rId12"/>
    <p:sldId id="275" r:id="rId13"/>
    <p:sldId id="276" r:id="rId14"/>
    <p:sldId id="271" r:id="rId15"/>
    <p:sldId id="330" r:id="rId16"/>
    <p:sldId id="261" r:id="rId17"/>
    <p:sldId id="277" r:id="rId18"/>
    <p:sldId id="331" r:id="rId19"/>
    <p:sldId id="262" r:id="rId20"/>
    <p:sldId id="298" r:id="rId21"/>
    <p:sldId id="266" r:id="rId22"/>
    <p:sldId id="333" r:id="rId23"/>
    <p:sldId id="263" r:id="rId24"/>
    <p:sldId id="299" r:id="rId25"/>
    <p:sldId id="332" r:id="rId26"/>
    <p:sldId id="302" r:id="rId27"/>
    <p:sldId id="300" r:id="rId28"/>
    <p:sldId id="334" r:id="rId29"/>
    <p:sldId id="265" r:id="rId30"/>
    <p:sldId id="303" r:id="rId31"/>
    <p:sldId id="296" r:id="rId32"/>
    <p:sldId id="336" r:id="rId33"/>
    <p:sldId id="337" r:id="rId34"/>
    <p:sldId id="338" r:id="rId35"/>
    <p:sldId id="339" r:id="rId36"/>
    <p:sldId id="340" r:id="rId37"/>
    <p:sldId id="341" r:id="rId38"/>
    <p:sldId id="342" r:id="rId39"/>
    <p:sldId id="343" r:id="rId40"/>
    <p:sldId id="345" r:id="rId41"/>
    <p:sldId id="344" r:id="rId42"/>
    <p:sldId id="346" r:id="rId43"/>
    <p:sldId id="347" r:id="rId44"/>
    <p:sldId id="348" r:id="rId45"/>
    <p:sldId id="349" r:id="rId46"/>
    <p:sldId id="350" r:id="rId47"/>
    <p:sldId id="351" r:id="rId48"/>
    <p:sldId id="352" r:id="rId49"/>
    <p:sldId id="353" r:id="rId50"/>
    <p:sldId id="355" r:id="rId51"/>
    <p:sldId id="354" r:id="rId52"/>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42" d="100"/>
          <a:sy n="142" d="100"/>
        </p:scale>
        <p:origin x="108" y="8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notesMaster" Target="notesMasters/notesMaster1.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tableStyles" Target="tableStyle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46899968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372479228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D3F1D0-FE81-7A8B-F3D5-9969A05E120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4D957C5-297A-9883-EB1D-5922F9C074A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55E9ACD-EEBC-3E55-1DA8-979B35AA360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5F47B54-72B9-4286-309A-EAEAEEB61FF8}"/>
              </a:ext>
            </a:extLst>
          </p:cNvPr>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6399306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98DA79-A589-548C-DF61-E3764551515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5E751AB-9161-EA53-CAEE-2AAAFA416C7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5E745C0-C413-44C8-70ED-AAEB227DCAA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908FE1C-5943-EAB3-B832-5D283A68B5AB}"/>
              </a:ext>
            </a:extLst>
          </p:cNvPr>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202073220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6FA016-9851-27DF-C88C-F3D8820C626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128D58E-892F-4087-CA82-BE37ECB9189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B4C55DF-4FFE-1755-CF16-F03157C6B33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8FBF74C-CB16-7438-3004-0A255092D2FD}"/>
              </a:ext>
            </a:extLst>
          </p:cNvPr>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333600504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37324530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39454C-D00B-AE80-CFE1-35F6A6CCB82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B816734-088E-897D-8234-2B078987514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19045CE-A27A-61D4-57C3-2BE3828B1EF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863C201-A2E2-AF71-B476-EBCD331522AC}"/>
              </a:ext>
            </a:extLst>
          </p:cNvPr>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265474284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4EE394-F06A-6734-8A54-86BC39A233C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57AB8AB-0B64-4B3C-2517-63FFC2F5870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A382B21-3451-B6B6-494B-5DBC8D4DC59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5A5C980-9DCB-5266-14E2-158928813786}"/>
              </a:ext>
            </a:extLst>
          </p:cNvPr>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245025800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781BB8-2D6F-7832-97D9-00DD83141E7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602CC1C-5537-2383-C84A-E4995EF5427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659C097-138B-5BAF-78C7-E4EDC5C84AA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33655B9-F996-922A-93A2-02CC02596223}"/>
              </a:ext>
            </a:extLst>
          </p:cNvPr>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90863412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57BC79-7774-89F1-0774-176E33E1E2A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D656FAA-C598-2887-608F-A4A6F9944CA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830C2CA-3EF7-4AA4-3A07-EF5D7FF7187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8DF0322-8304-5BE0-9253-7756FDB193D0}"/>
              </a:ext>
            </a:extLst>
          </p:cNvPr>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342358987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2556106120"/>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1.xml"/><Relationship Id="rId5" Type="http://schemas.openxmlformats.org/officeDocument/2006/relationships/image" Target="../media/image7.png"/><Relationship Id="rId4" Type="http://schemas.openxmlformats.org/officeDocument/2006/relationships/image" Target="../media/image6.png"/></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8.xml"/><Relationship Id="rId1" Type="http://schemas.openxmlformats.org/officeDocument/2006/relationships/slideLayout" Target="../slideLayouts/slideLayout1.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png"/></Relationships>
</file>

<file path=ppt/slides/_rels/slide1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1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1.xml"/><Relationship Id="rId4" Type="http://schemas.openxmlformats.org/officeDocument/2006/relationships/image" Target="../media/image16.svg"/></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6.xml"/><Relationship Id="rId1" Type="http://schemas.openxmlformats.org/officeDocument/2006/relationships/slideLayout" Target="../slideLayouts/slideLayout1.xml"/><Relationship Id="rId5" Type="http://schemas.openxmlformats.org/officeDocument/2006/relationships/image" Target="../media/image19.png"/><Relationship Id="rId4" Type="http://schemas.openxmlformats.org/officeDocument/2006/relationships/image" Target="../media/image18.png"/></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28.xml"/><Relationship Id="rId1" Type="http://schemas.openxmlformats.org/officeDocument/2006/relationships/slideLayout" Target="../slideLayouts/slideLayout1.xml"/><Relationship Id="rId6" Type="http://schemas.openxmlformats.org/officeDocument/2006/relationships/image" Target="../media/image23.png"/><Relationship Id="rId5" Type="http://schemas.openxmlformats.org/officeDocument/2006/relationships/image" Target="../media/image22.png"/><Relationship Id="rId4" Type="http://schemas.openxmlformats.org/officeDocument/2006/relationships/image" Target="../media/image21.png"/></Relationships>
</file>

<file path=ppt/slides/_rels/slide39.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31.xml"/><Relationship Id="rId1" Type="http://schemas.openxmlformats.org/officeDocument/2006/relationships/slideLayout" Target="../slideLayouts/slideLayout1.xml"/><Relationship Id="rId4" Type="http://schemas.openxmlformats.org/officeDocument/2006/relationships/image" Target="../media/image26.png"/></Relationships>
</file>

<file path=ppt/slides/_rels/slide4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32.xml"/><Relationship Id="rId1" Type="http://schemas.openxmlformats.org/officeDocument/2006/relationships/slideLayout" Target="../slideLayouts/slideLayout1.xml"/><Relationship Id="rId5" Type="http://schemas.openxmlformats.org/officeDocument/2006/relationships/image" Target="../media/image28.png"/><Relationship Id="rId4" Type="http://schemas.openxmlformats.org/officeDocument/2006/relationships/image" Target="../media/image27.png"/></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35.xml"/><Relationship Id="rId1" Type="http://schemas.openxmlformats.org/officeDocument/2006/relationships/slideLayout" Target="../slideLayouts/slideLayout1.xml"/><Relationship Id="rId6" Type="http://schemas.openxmlformats.org/officeDocument/2006/relationships/image" Target="../media/image31.png"/><Relationship Id="rId5" Type="http://schemas.openxmlformats.org/officeDocument/2006/relationships/image" Target="../media/image30.png"/><Relationship Id="rId4" Type="http://schemas.openxmlformats.org/officeDocument/2006/relationships/image" Target="../media/image29.png"/></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1.xml"/><Relationship Id="rId5" Type="http://schemas.openxmlformats.org/officeDocument/2006/relationships/image" Target="../media/image23.png"/><Relationship Id="rId4" Type="http://schemas.openxmlformats.org/officeDocument/2006/relationships/image" Target="../media/image22.png"/></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24731"/>
        </a:solidFill>
        <a:effectLst/>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4DA78F"/>
          </a:solidFill>
          <a:ln/>
        </p:spPr>
        <p:txBody>
          <a:bodyPr/>
          <a:lstStyle/>
          <a:p>
            <a:endParaRPr lang="en-US"/>
          </a:p>
        </p:txBody>
      </p:sp>
      <p:sp>
        <p:nvSpPr>
          <p:cNvPr id="3" name="Shape 1"/>
          <p:cNvSpPr/>
          <p:nvPr/>
        </p:nvSpPr>
        <p:spPr>
          <a:xfrm>
            <a:off x="6858000" y="0"/>
            <a:ext cx="2286000" cy="5143500"/>
          </a:xfrm>
          <a:prstGeom prst="rect">
            <a:avLst/>
          </a:prstGeom>
          <a:solidFill>
            <a:srgbClr val="01362A">
              <a:alpha val="60000"/>
            </a:srgbClr>
          </a:solidFill>
          <a:ln/>
        </p:spPr>
        <p:txBody>
          <a:bodyPr/>
          <a:lstStyle/>
          <a:p>
            <a:endParaRPr lang="en-US"/>
          </a:p>
        </p:txBody>
      </p:sp>
      <p:sp>
        <p:nvSpPr>
          <p:cNvPr id="4" name="Text 2"/>
          <p:cNvSpPr/>
          <p:nvPr/>
        </p:nvSpPr>
        <p:spPr>
          <a:xfrm>
            <a:off x="640080" y="548640"/>
            <a:ext cx="5943600" cy="822960"/>
          </a:xfrm>
          <a:prstGeom prst="rect">
            <a:avLst/>
          </a:prstGeom>
          <a:noFill/>
          <a:ln/>
        </p:spPr>
        <p:txBody>
          <a:bodyPr wrap="square" rtlCol="0" anchor="ctr"/>
          <a:lstStyle/>
          <a:p>
            <a:pPr marL="0" indent="0">
              <a:buNone/>
            </a:pPr>
            <a:r>
              <a:rPr lang="en-US" sz="4800" b="1" kern="0" spc="400" dirty="0">
                <a:solidFill>
                  <a:srgbClr val="FFFFFF"/>
                </a:solidFill>
                <a:latin typeface="Open Sans" pitchFamily="34" charset="0"/>
                <a:ea typeface="Open Sans" pitchFamily="34" charset="-122"/>
                <a:cs typeface="Open Sans" pitchFamily="34" charset="-120"/>
              </a:rPr>
              <a:t>BUS-629</a:t>
            </a:r>
            <a:endParaRPr lang="en-US" sz="4800" dirty="0"/>
          </a:p>
        </p:txBody>
      </p:sp>
      <p:sp>
        <p:nvSpPr>
          <p:cNvPr id="5" name="Text 3"/>
          <p:cNvSpPr/>
          <p:nvPr/>
        </p:nvSpPr>
        <p:spPr>
          <a:xfrm>
            <a:off x="640080" y="1371600"/>
            <a:ext cx="5943600" cy="1097280"/>
          </a:xfrm>
          <a:prstGeom prst="rect">
            <a:avLst/>
          </a:prstGeom>
          <a:noFill/>
          <a:ln/>
        </p:spPr>
        <p:txBody>
          <a:bodyPr wrap="square" rtlCol="0" anchor="ctr"/>
          <a:lstStyle/>
          <a:p>
            <a:pPr marL="0" indent="0">
              <a:buNone/>
            </a:pPr>
            <a:r>
              <a:rPr lang="en-US" sz="3200" b="1" dirty="0">
                <a:solidFill>
                  <a:srgbClr val="B8DDD1"/>
                </a:solidFill>
                <a:latin typeface="Open Sans" pitchFamily="34" charset="0"/>
                <a:ea typeface="Open Sans" pitchFamily="34" charset="-122"/>
                <a:cs typeface="Open Sans" pitchFamily="34" charset="-120"/>
              </a:rPr>
              <a:t>Accounting &amp;</a:t>
            </a:r>
            <a:endParaRPr lang="en-US" sz="3200" dirty="0"/>
          </a:p>
          <a:p>
            <a:pPr marL="0" indent="0">
              <a:buNone/>
            </a:pPr>
            <a:r>
              <a:rPr lang="en-US" sz="3200" b="1" dirty="0">
                <a:solidFill>
                  <a:srgbClr val="B8DDD1"/>
                </a:solidFill>
                <a:latin typeface="Open Sans" pitchFamily="34" charset="0"/>
                <a:ea typeface="Open Sans" pitchFamily="34" charset="-122"/>
                <a:cs typeface="Open Sans" pitchFamily="34" charset="-120"/>
              </a:rPr>
              <a:t>Performance Ratios</a:t>
            </a:r>
            <a:endParaRPr lang="en-US" sz="3200" dirty="0"/>
          </a:p>
        </p:txBody>
      </p:sp>
      <p:sp>
        <p:nvSpPr>
          <p:cNvPr id="6" name="Text 4"/>
          <p:cNvSpPr/>
          <p:nvPr/>
        </p:nvSpPr>
        <p:spPr>
          <a:xfrm>
            <a:off x="640080" y="2560320"/>
            <a:ext cx="5943600" cy="548640"/>
          </a:xfrm>
          <a:prstGeom prst="rect">
            <a:avLst/>
          </a:prstGeom>
          <a:noFill/>
          <a:ln/>
        </p:spPr>
        <p:txBody>
          <a:bodyPr wrap="square" rtlCol="0" anchor="ctr"/>
          <a:lstStyle/>
          <a:p>
            <a:pPr marL="0" indent="0">
              <a:buNone/>
            </a:pPr>
            <a:r>
              <a:rPr lang="en-US" sz="2000" i="1" dirty="0">
                <a:solidFill>
                  <a:srgbClr val="4DA78F"/>
                </a:solidFill>
                <a:latin typeface="Open Sans" pitchFamily="34" charset="0"/>
                <a:ea typeface="Open Sans" pitchFamily="34" charset="-122"/>
                <a:cs typeface="Open Sans" pitchFamily="34" charset="-120"/>
              </a:rPr>
              <a:t>Spec-Driven Design Project Using GitHub &amp; AI</a:t>
            </a:r>
            <a:endParaRPr lang="en-US" sz="2000" dirty="0"/>
          </a:p>
        </p:txBody>
      </p:sp>
      <p:sp>
        <p:nvSpPr>
          <p:cNvPr id="7" name="Shape 5"/>
          <p:cNvSpPr/>
          <p:nvPr/>
        </p:nvSpPr>
        <p:spPr>
          <a:xfrm>
            <a:off x="640080" y="3474720"/>
            <a:ext cx="411480" cy="411480"/>
          </a:xfrm>
          <a:prstGeom prst="ellipse">
            <a:avLst/>
          </a:prstGeom>
          <a:solidFill>
            <a:srgbClr val="4DA78F"/>
          </a:solidFill>
          <a:ln/>
        </p:spPr>
        <p:txBody>
          <a:bodyPr/>
          <a:lstStyle/>
          <a:p>
            <a:endParaRPr lang="en-US"/>
          </a:p>
        </p:txBody>
      </p:sp>
      <p:sp>
        <p:nvSpPr>
          <p:cNvPr id="8" name="Text 6"/>
          <p:cNvSpPr/>
          <p:nvPr/>
        </p:nvSpPr>
        <p:spPr>
          <a:xfrm>
            <a:off x="640080" y="3474720"/>
            <a:ext cx="411480" cy="411480"/>
          </a:xfrm>
          <a:prstGeom prst="rect">
            <a:avLst/>
          </a:prstGeom>
          <a:noFill/>
          <a:ln/>
        </p:spPr>
        <p:txBody>
          <a:bodyPr wrap="square" rtlCol="0" anchor="ctr"/>
          <a:lstStyle/>
          <a:p>
            <a:pPr marL="0" indent="0" algn="ctr">
              <a:buNone/>
            </a:pPr>
            <a:r>
              <a:rPr lang="en-US" sz="1400" b="1" dirty="0">
                <a:solidFill>
                  <a:srgbClr val="024731"/>
                </a:solidFill>
                <a:latin typeface="Open Sans" pitchFamily="34" charset="0"/>
                <a:ea typeface="Open Sans" pitchFamily="34" charset="-122"/>
                <a:cs typeface="Open Sans" pitchFamily="34" charset="-120"/>
              </a:rPr>
              <a:t>0</a:t>
            </a:r>
            <a:endParaRPr lang="en-US" sz="1400" dirty="0"/>
          </a:p>
        </p:txBody>
      </p:sp>
      <p:sp>
        <p:nvSpPr>
          <p:cNvPr id="9" name="Text 7"/>
          <p:cNvSpPr/>
          <p:nvPr/>
        </p:nvSpPr>
        <p:spPr>
          <a:xfrm>
            <a:off x="457200" y="3931920"/>
            <a:ext cx="777240" cy="274320"/>
          </a:xfrm>
          <a:prstGeom prst="rect">
            <a:avLst/>
          </a:prstGeom>
          <a:noFill/>
          <a:ln/>
        </p:spPr>
        <p:txBody>
          <a:bodyPr wrap="square" rtlCol="0" anchor="ctr"/>
          <a:lstStyle/>
          <a:p>
            <a:pPr marL="0" indent="0" algn="ctr">
              <a:buNone/>
            </a:pPr>
            <a:r>
              <a:rPr lang="en-US" sz="900" dirty="0">
                <a:solidFill>
                  <a:srgbClr val="B8DDD1"/>
                </a:solidFill>
                <a:latin typeface="Open Sans" pitchFamily="34" charset="0"/>
                <a:ea typeface="Open Sans" pitchFamily="34" charset="-122"/>
                <a:cs typeface="Open Sans" pitchFamily="34" charset="-120"/>
              </a:rPr>
              <a:t>Setup</a:t>
            </a:r>
            <a:endParaRPr lang="en-US" sz="900" dirty="0"/>
          </a:p>
        </p:txBody>
      </p:sp>
      <p:sp>
        <p:nvSpPr>
          <p:cNvPr id="10" name="Shape 8"/>
          <p:cNvSpPr/>
          <p:nvPr/>
        </p:nvSpPr>
        <p:spPr>
          <a:xfrm>
            <a:off x="1097280" y="3680460"/>
            <a:ext cx="731520" cy="0"/>
          </a:xfrm>
          <a:prstGeom prst="line">
            <a:avLst/>
          </a:prstGeom>
          <a:noFill/>
          <a:ln w="19050">
            <a:solidFill>
              <a:srgbClr val="4DA78F"/>
            </a:solidFill>
            <a:prstDash val="dash"/>
          </a:ln>
        </p:spPr>
        <p:txBody>
          <a:bodyPr/>
          <a:lstStyle/>
          <a:p>
            <a:endParaRPr lang="en-US"/>
          </a:p>
        </p:txBody>
      </p:sp>
      <p:sp>
        <p:nvSpPr>
          <p:cNvPr id="11" name="Shape 9"/>
          <p:cNvSpPr/>
          <p:nvPr/>
        </p:nvSpPr>
        <p:spPr>
          <a:xfrm>
            <a:off x="1874520" y="3474720"/>
            <a:ext cx="411480" cy="411480"/>
          </a:xfrm>
          <a:prstGeom prst="ellipse">
            <a:avLst/>
          </a:prstGeom>
          <a:solidFill>
            <a:srgbClr val="4DA78F"/>
          </a:solidFill>
          <a:ln/>
        </p:spPr>
        <p:txBody>
          <a:bodyPr/>
          <a:lstStyle/>
          <a:p>
            <a:endParaRPr lang="en-US"/>
          </a:p>
        </p:txBody>
      </p:sp>
      <p:sp>
        <p:nvSpPr>
          <p:cNvPr id="12" name="Text 10"/>
          <p:cNvSpPr/>
          <p:nvPr/>
        </p:nvSpPr>
        <p:spPr>
          <a:xfrm>
            <a:off x="1874520" y="3474720"/>
            <a:ext cx="411480" cy="411480"/>
          </a:xfrm>
          <a:prstGeom prst="rect">
            <a:avLst/>
          </a:prstGeom>
          <a:noFill/>
          <a:ln/>
        </p:spPr>
        <p:txBody>
          <a:bodyPr wrap="square" rtlCol="0" anchor="ctr"/>
          <a:lstStyle/>
          <a:p>
            <a:pPr marL="0" indent="0" algn="ctr">
              <a:buNone/>
            </a:pPr>
            <a:r>
              <a:rPr lang="en-US" sz="1400" b="1" dirty="0">
                <a:solidFill>
                  <a:srgbClr val="024731"/>
                </a:solidFill>
                <a:latin typeface="Open Sans" pitchFamily="34" charset="0"/>
                <a:ea typeface="Open Sans" pitchFamily="34" charset="-122"/>
                <a:cs typeface="Open Sans" pitchFamily="34" charset="-120"/>
              </a:rPr>
              <a:t>1</a:t>
            </a:r>
            <a:endParaRPr lang="en-US" sz="1400" dirty="0"/>
          </a:p>
        </p:txBody>
      </p:sp>
      <p:sp>
        <p:nvSpPr>
          <p:cNvPr id="13" name="Text 11"/>
          <p:cNvSpPr/>
          <p:nvPr/>
        </p:nvSpPr>
        <p:spPr>
          <a:xfrm>
            <a:off x="1691640" y="3931920"/>
            <a:ext cx="777240" cy="274320"/>
          </a:xfrm>
          <a:prstGeom prst="rect">
            <a:avLst/>
          </a:prstGeom>
          <a:noFill/>
          <a:ln/>
        </p:spPr>
        <p:txBody>
          <a:bodyPr wrap="square" rtlCol="0" anchor="ctr"/>
          <a:lstStyle/>
          <a:p>
            <a:pPr marL="0" indent="0" algn="ctr">
              <a:buNone/>
            </a:pPr>
            <a:r>
              <a:rPr lang="en-US" sz="900" dirty="0">
                <a:solidFill>
                  <a:srgbClr val="B8DDD1"/>
                </a:solidFill>
                <a:latin typeface="Open Sans" pitchFamily="34" charset="0"/>
                <a:ea typeface="Open Sans" pitchFamily="34" charset="-122"/>
                <a:cs typeface="Open Sans" pitchFamily="34" charset="-120"/>
              </a:rPr>
              <a:t>Build</a:t>
            </a:r>
            <a:endParaRPr lang="en-US" sz="900" dirty="0"/>
          </a:p>
        </p:txBody>
      </p:sp>
      <p:sp>
        <p:nvSpPr>
          <p:cNvPr id="14" name="Shape 12"/>
          <p:cNvSpPr/>
          <p:nvPr/>
        </p:nvSpPr>
        <p:spPr>
          <a:xfrm>
            <a:off x="2331720" y="3680460"/>
            <a:ext cx="731520" cy="0"/>
          </a:xfrm>
          <a:prstGeom prst="line">
            <a:avLst/>
          </a:prstGeom>
          <a:noFill/>
          <a:ln w="19050">
            <a:solidFill>
              <a:srgbClr val="4DA78F"/>
            </a:solidFill>
            <a:prstDash val="dash"/>
          </a:ln>
        </p:spPr>
        <p:txBody>
          <a:bodyPr/>
          <a:lstStyle/>
          <a:p>
            <a:endParaRPr lang="en-US"/>
          </a:p>
        </p:txBody>
      </p:sp>
      <p:sp>
        <p:nvSpPr>
          <p:cNvPr id="15" name="Shape 13"/>
          <p:cNvSpPr/>
          <p:nvPr/>
        </p:nvSpPr>
        <p:spPr>
          <a:xfrm>
            <a:off x="3108960" y="3474720"/>
            <a:ext cx="411480" cy="411480"/>
          </a:xfrm>
          <a:prstGeom prst="ellipse">
            <a:avLst/>
          </a:prstGeom>
          <a:solidFill>
            <a:srgbClr val="4DA78F"/>
          </a:solidFill>
          <a:ln/>
        </p:spPr>
        <p:txBody>
          <a:bodyPr/>
          <a:lstStyle/>
          <a:p>
            <a:endParaRPr lang="en-US"/>
          </a:p>
        </p:txBody>
      </p:sp>
      <p:sp>
        <p:nvSpPr>
          <p:cNvPr id="16" name="Text 14"/>
          <p:cNvSpPr/>
          <p:nvPr/>
        </p:nvSpPr>
        <p:spPr>
          <a:xfrm>
            <a:off x="3108960" y="3474720"/>
            <a:ext cx="411480" cy="411480"/>
          </a:xfrm>
          <a:prstGeom prst="rect">
            <a:avLst/>
          </a:prstGeom>
          <a:noFill/>
          <a:ln/>
        </p:spPr>
        <p:txBody>
          <a:bodyPr wrap="square" rtlCol="0" anchor="ctr"/>
          <a:lstStyle/>
          <a:p>
            <a:pPr marL="0" indent="0" algn="ctr">
              <a:buNone/>
            </a:pPr>
            <a:r>
              <a:rPr lang="en-US" sz="1400" b="1" dirty="0">
                <a:solidFill>
                  <a:srgbClr val="024731"/>
                </a:solidFill>
                <a:latin typeface="Open Sans" pitchFamily="34" charset="0"/>
                <a:ea typeface="Open Sans" pitchFamily="34" charset="-122"/>
                <a:cs typeface="Open Sans" pitchFamily="34" charset="-120"/>
              </a:rPr>
              <a:t>2</a:t>
            </a:r>
            <a:endParaRPr lang="en-US" sz="1400" dirty="0"/>
          </a:p>
        </p:txBody>
      </p:sp>
      <p:sp>
        <p:nvSpPr>
          <p:cNvPr id="17" name="Text 15"/>
          <p:cNvSpPr/>
          <p:nvPr/>
        </p:nvSpPr>
        <p:spPr>
          <a:xfrm>
            <a:off x="2926080" y="3931920"/>
            <a:ext cx="777240" cy="274320"/>
          </a:xfrm>
          <a:prstGeom prst="rect">
            <a:avLst/>
          </a:prstGeom>
          <a:noFill/>
          <a:ln/>
        </p:spPr>
        <p:txBody>
          <a:bodyPr wrap="square" rtlCol="0" anchor="ctr"/>
          <a:lstStyle/>
          <a:p>
            <a:pPr marL="0" indent="0" algn="ctr">
              <a:buNone/>
            </a:pPr>
            <a:r>
              <a:rPr lang="en-US" sz="900" dirty="0">
                <a:solidFill>
                  <a:srgbClr val="B8DDD1"/>
                </a:solidFill>
                <a:latin typeface="Open Sans" pitchFamily="34" charset="0"/>
                <a:ea typeface="Open Sans" pitchFamily="34" charset="-122"/>
                <a:cs typeface="Open Sans" pitchFamily="34" charset="-120"/>
              </a:rPr>
              <a:t>Memo</a:t>
            </a:r>
            <a:endParaRPr lang="en-US" sz="900" dirty="0"/>
          </a:p>
        </p:txBody>
      </p:sp>
      <p:sp>
        <p:nvSpPr>
          <p:cNvPr id="18" name="Shape 16"/>
          <p:cNvSpPr/>
          <p:nvPr/>
        </p:nvSpPr>
        <p:spPr>
          <a:xfrm>
            <a:off x="3566160" y="3680460"/>
            <a:ext cx="731520" cy="0"/>
          </a:xfrm>
          <a:prstGeom prst="line">
            <a:avLst/>
          </a:prstGeom>
          <a:noFill/>
          <a:ln w="19050">
            <a:solidFill>
              <a:srgbClr val="4DA78F"/>
            </a:solidFill>
            <a:prstDash val="dash"/>
          </a:ln>
        </p:spPr>
        <p:txBody>
          <a:bodyPr/>
          <a:lstStyle/>
          <a:p>
            <a:endParaRPr lang="en-US"/>
          </a:p>
        </p:txBody>
      </p:sp>
      <p:sp>
        <p:nvSpPr>
          <p:cNvPr id="19" name="Shape 17"/>
          <p:cNvSpPr/>
          <p:nvPr/>
        </p:nvSpPr>
        <p:spPr>
          <a:xfrm>
            <a:off x="4343400" y="3474720"/>
            <a:ext cx="411480" cy="411480"/>
          </a:xfrm>
          <a:prstGeom prst="ellipse">
            <a:avLst/>
          </a:prstGeom>
          <a:solidFill>
            <a:srgbClr val="4DA78F"/>
          </a:solidFill>
          <a:ln/>
        </p:spPr>
        <p:txBody>
          <a:bodyPr/>
          <a:lstStyle/>
          <a:p>
            <a:endParaRPr lang="en-US"/>
          </a:p>
        </p:txBody>
      </p:sp>
      <p:sp>
        <p:nvSpPr>
          <p:cNvPr id="20" name="Text 18"/>
          <p:cNvSpPr/>
          <p:nvPr/>
        </p:nvSpPr>
        <p:spPr>
          <a:xfrm>
            <a:off x="4343400" y="3474720"/>
            <a:ext cx="411480" cy="411480"/>
          </a:xfrm>
          <a:prstGeom prst="rect">
            <a:avLst/>
          </a:prstGeom>
          <a:noFill/>
          <a:ln/>
        </p:spPr>
        <p:txBody>
          <a:bodyPr wrap="square" rtlCol="0" anchor="ctr"/>
          <a:lstStyle/>
          <a:p>
            <a:pPr marL="0" indent="0" algn="ctr">
              <a:buNone/>
            </a:pPr>
            <a:r>
              <a:rPr lang="en-US" sz="1400" b="1" dirty="0">
                <a:solidFill>
                  <a:srgbClr val="024731"/>
                </a:solidFill>
                <a:latin typeface="Open Sans" pitchFamily="34" charset="0"/>
                <a:ea typeface="Open Sans" pitchFamily="34" charset="-122"/>
                <a:cs typeface="Open Sans" pitchFamily="34" charset="-120"/>
              </a:rPr>
              <a:t>3</a:t>
            </a:r>
            <a:endParaRPr lang="en-US" sz="1400" dirty="0"/>
          </a:p>
        </p:txBody>
      </p:sp>
      <p:sp>
        <p:nvSpPr>
          <p:cNvPr id="21" name="Text 19"/>
          <p:cNvSpPr/>
          <p:nvPr/>
        </p:nvSpPr>
        <p:spPr>
          <a:xfrm>
            <a:off x="4160520" y="3931920"/>
            <a:ext cx="777240" cy="274320"/>
          </a:xfrm>
          <a:prstGeom prst="rect">
            <a:avLst/>
          </a:prstGeom>
          <a:noFill/>
          <a:ln/>
        </p:spPr>
        <p:txBody>
          <a:bodyPr wrap="square" rtlCol="0" anchor="ctr"/>
          <a:lstStyle/>
          <a:p>
            <a:pPr marL="0" indent="0" algn="ctr">
              <a:buNone/>
            </a:pPr>
            <a:r>
              <a:rPr lang="en-US" sz="900" dirty="0">
                <a:solidFill>
                  <a:srgbClr val="B8DDD1"/>
                </a:solidFill>
                <a:latin typeface="Open Sans" pitchFamily="34" charset="0"/>
                <a:ea typeface="Open Sans" pitchFamily="34" charset="-122"/>
                <a:cs typeface="Open Sans" pitchFamily="34" charset="-120"/>
              </a:rPr>
              <a:t>Model</a:t>
            </a:r>
            <a:endParaRPr lang="en-US" sz="900" dirty="0"/>
          </a:p>
        </p:txBody>
      </p:sp>
      <p:sp>
        <p:nvSpPr>
          <p:cNvPr id="22" name="Shape 20"/>
          <p:cNvSpPr/>
          <p:nvPr/>
        </p:nvSpPr>
        <p:spPr>
          <a:xfrm>
            <a:off x="4800600" y="3680460"/>
            <a:ext cx="731520" cy="0"/>
          </a:xfrm>
          <a:prstGeom prst="line">
            <a:avLst/>
          </a:prstGeom>
          <a:noFill/>
          <a:ln w="19050">
            <a:solidFill>
              <a:srgbClr val="4DA78F"/>
            </a:solidFill>
            <a:prstDash val="dash"/>
          </a:ln>
        </p:spPr>
        <p:txBody>
          <a:bodyPr/>
          <a:lstStyle/>
          <a:p>
            <a:endParaRPr lang="en-US"/>
          </a:p>
        </p:txBody>
      </p:sp>
      <p:sp>
        <p:nvSpPr>
          <p:cNvPr id="23" name="Shape 21"/>
          <p:cNvSpPr/>
          <p:nvPr/>
        </p:nvSpPr>
        <p:spPr>
          <a:xfrm>
            <a:off x="5577840" y="3474720"/>
            <a:ext cx="411480" cy="411480"/>
          </a:xfrm>
          <a:prstGeom prst="ellipse">
            <a:avLst/>
          </a:prstGeom>
          <a:solidFill>
            <a:srgbClr val="C9A84C"/>
          </a:solidFill>
          <a:ln/>
        </p:spPr>
        <p:txBody>
          <a:bodyPr/>
          <a:lstStyle/>
          <a:p>
            <a:endParaRPr lang="en-US"/>
          </a:p>
        </p:txBody>
      </p:sp>
      <p:sp>
        <p:nvSpPr>
          <p:cNvPr id="24" name="Text 22"/>
          <p:cNvSpPr/>
          <p:nvPr/>
        </p:nvSpPr>
        <p:spPr>
          <a:xfrm>
            <a:off x="5577840" y="3474720"/>
            <a:ext cx="411480" cy="411480"/>
          </a:xfrm>
          <a:prstGeom prst="rect">
            <a:avLst/>
          </a:prstGeom>
          <a:noFill/>
          <a:ln/>
        </p:spPr>
        <p:txBody>
          <a:bodyPr wrap="square" rtlCol="0" anchor="ctr"/>
          <a:lstStyle/>
          <a:p>
            <a:pPr marL="0" indent="0" algn="ctr">
              <a:buNone/>
            </a:pPr>
            <a:r>
              <a:rPr lang="en-US" sz="1400" b="1" dirty="0">
                <a:solidFill>
                  <a:srgbClr val="024731"/>
                </a:solidFill>
                <a:latin typeface="Open Sans" pitchFamily="34" charset="0"/>
                <a:ea typeface="Open Sans" pitchFamily="34" charset="-122"/>
                <a:cs typeface="Open Sans" pitchFamily="34" charset="-120"/>
              </a:rPr>
              <a:t>4</a:t>
            </a:r>
            <a:endParaRPr lang="en-US" sz="1400" dirty="0"/>
          </a:p>
        </p:txBody>
      </p:sp>
      <p:sp>
        <p:nvSpPr>
          <p:cNvPr id="25" name="Text 23"/>
          <p:cNvSpPr/>
          <p:nvPr/>
        </p:nvSpPr>
        <p:spPr>
          <a:xfrm>
            <a:off x="5394960" y="3931920"/>
            <a:ext cx="777240" cy="274320"/>
          </a:xfrm>
          <a:prstGeom prst="rect">
            <a:avLst/>
          </a:prstGeom>
          <a:noFill/>
          <a:ln/>
        </p:spPr>
        <p:txBody>
          <a:bodyPr wrap="square" rtlCol="0" anchor="ctr"/>
          <a:lstStyle/>
          <a:p>
            <a:pPr marL="0" indent="0" algn="ctr">
              <a:buNone/>
            </a:pPr>
            <a:r>
              <a:rPr lang="en-US" sz="900" dirty="0">
                <a:solidFill>
                  <a:srgbClr val="B8DDD1"/>
                </a:solidFill>
                <a:latin typeface="Open Sans" pitchFamily="34" charset="0"/>
                <a:ea typeface="Open Sans" pitchFamily="34" charset="-122"/>
                <a:cs typeface="Open Sans" pitchFamily="34" charset="-120"/>
              </a:rPr>
              <a:t>Spec</a:t>
            </a:r>
            <a:endParaRPr lang="en-US" sz="900" dirty="0"/>
          </a:p>
        </p:txBody>
      </p:sp>
      <p:sp>
        <p:nvSpPr>
          <p:cNvPr id="26" name="Shape 24"/>
          <p:cNvSpPr/>
          <p:nvPr/>
        </p:nvSpPr>
        <p:spPr>
          <a:xfrm>
            <a:off x="6035040" y="3680460"/>
            <a:ext cx="731520" cy="0"/>
          </a:xfrm>
          <a:prstGeom prst="line">
            <a:avLst/>
          </a:prstGeom>
          <a:noFill/>
          <a:ln w="19050">
            <a:solidFill>
              <a:srgbClr val="4DA78F"/>
            </a:solidFill>
            <a:prstDash val="dash"/>
          </a:ln>
        </p:spPr>
        <p:txBody>
          <a:bodyPr/>
          <a:lstStyle/>
          <a:p>
            <a:endParaRPr lang="en-US"/>
          </a:p>
        </p:txBody>
      </p:sp>
      <p:sp>
        <p:nvSpPr>
          <p:cNvPr id="27" name="Shape 25"/>
          <p:cNvSpPr/>
          <p:nvPr/>
        </p:nvSpPr>
        <p:spPr>
          <a:xfrm>
            <a:off x="6812280" y="3474720"/>
            <a:ext cx="411480" cy="411480"/>
          </a:xfrm>
          <a:prstGeom prst="ellipse">
            <a:avLst/>
          </a:prstGeom>
          <a:solidFill>
            <a:srgbClr val="4DA78F"/>
          </a:solidFill>
          <a:ln/>
        </p:spPr>
        <p:txBody>
          <a:bodyPr/>
          <a:lstStyle/>
          <a:p>
            <a:endParaRPr lang="en-US"/>
          </a:p>
        </p:txBody>
      </p:sp>
      <p:sp>
        <p:nvSpPr>
          <p:cNvPr id="28" name="Text 26"/>
          <p:cNvSpPr/>
          <p:nvPr/>
        </p:nvSpPr>
        <p:spPr>
          <a:xfrm>
            <a:off x="6812280" y="3474720"/>
            <a:ext cx="411480" cy="411480"/>
          </a:xfrm>
          <a:prstGeom prst="rect">
            <a:avLst/>
          </a:prstGeom>
          <a:noFill/>
          <a:ln/>
        </p:spPr>
        <p:txBody>
          <a:bodyPr wrap="square" rtlCol="0" anchor="ctr"/>
          <a:lstStyle/>
          <a:p>
            <a:pPr marL="0" indent="0" algn="ctr">
              <a:buNone/>
            </a:pPr>
            <a:r>
              <a:rPr lang="en-US" sz="1400" b="1" dirty="0">
                <a:solidFill>
                  <a:srgbClr val="024731"/>
                </a:solidFill>
                <a:latin typeface="Open Sans" pitchFamily="34" charset="0"/>
                <a:ea typeface="Open Sans" pitchFamily="34" charset="-122"/>
                <a:cs typeface="Open Sans" pitchFamily="34" charset="-120"/>
              </a:rPr>
              <a:t>5</a:t>
            </a:r>
            <a:endParaRPr lang="en-US" sz="1400" dirty="0"/>
          </a:p>
        </p:txBody>
      </p:sp>
      <p:sp>
        <p:nvSpPr>
          <p:cNvPr id="29" name="Text 27"/>
          <p:cNvSpPr/>
          <p:nvPr/>
        </p:nvSpPr>
        <p:spPr>
          <a:xfrm>
            <a:off x="6629400" y="3931920"/>
            <a:ext cx="777240" cy="274320"/>
          </a:xfrm>
          <a:prstGeom prst="rect">
            <a:avLst/>
          </a:prstGeom>
          <a:noFill/>
          <a:ln/>
        </p:spPr>
        <p:txBody>
          <a:bodyPr wrap="square" rtlCol="0" anchor="ctr"/>
          <a:lstStyle/>
          <a:p>
            <a:pPr marL="0" indent="0" algn="ctr">
              <a:buNone/>
            </a:pPr>
            <a:r>
              <a:rPr lang="en-US" sz="900" dirty="0">
                <a:solidFill>
                  <a:srgbClr val="B8DDD1"/>
                </a:solidFill>
                <a:latin typeface="Open Sans" pitchFamily="34" charset="0"/>
                <a:ea typeface="Open Sans" pitchFamily="34" charset="-122"/>
                <a:cs typeface="Open Sans" pitchFamily="34" charset="-120"/>
              </a:rPr>
              <a:t>Evaluate</a:t>
            </a:r>
            <a:endParaRPr lang="en-US" sz="900" dirty="0"/>
          </a:p>
        </p:txBody>
      </p:sp>
      <p:sp>
        <p:nvSpPr>
          <p:cNvPr id="30" name="Text 28"/>
          <p:cNvSpPr/>
          <p:nvPr/>
        </p:nvSpPr>
        <p:spPr>
          <a:xfrm>
            <a:off x="640080" y="4663440"/>
            <a:ext cx="7772400" cy="274320"/>
          </a:xfrm>
          <a:prstGeom prst="rect">
            <a:avLst/>
          </a:prstGeom>
          <a:noFill/>
          <a:ln/>
        </p:spPr>
        <p:txBody>
          <a:bodyPr wrap="square" rtlCol="0" anchor="ctr"/>
          <a:lstStyle/>
          <a:p>
            <a:pPr marL="0" indent="0">
              <a:buNone/>
            </a:pPr>
            <a:r>
              <a:rPr lang="en-US" sz="1000" dirty="0">
                <a:solidFill>
                  <a:srgbClr val="B8DDD1"/>
                </a:solidFill>
                <a:latin typeface="Open Sans" pitchFamily="34" charset="0"/>
                <a:ea typeface="Open Sans" pitchFamily="34" charset="-122"/>
                <a:cs typeface="Open Sans" pitchFamily="34" charset="-120"/>
              </a:rPr>
              <a:t>Adam W. Stauffer  |  Shidler College of Business  |  University of Hawaiʻi at Mānoa</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64592" cy="5143500"/>
          </a:xfrm>
          <a:prstGeom prst="rect">
            <a:avLst/>
          </a:prstGeom>
          <a:solidFill>
            <a:srgbClr val="0247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20040"/>
            <a:ext cx="8229600" cy="502920"/>
          </a:xfrm>
          <a:prstGeom prst="rect">
            <a:avLst/>
          </a:prstGeom>
          <a:noFill/>
        </p:spPr>
        <p:txBody>
          <a:bodyPr wrap="square" lIns="0" tIns="0" rIns="0" bIns="0" anchor="t">
            <a:spAutoFit/>
          </a:bodyPr>
          <a:lstStyle/>
          <a:p>
            <a:pPr algn="l"/>
            <a:r>
              <a:rPr sz="2800" b="1">
                <a:solidFill>
                  <a:srgbClr val="024731"/>
                </a:solidFill>
                <a:latin typeface="Open Sans"/>
              </a:rPr>
              <a:t>Contents</a:t>
            </a:r>
          </a:p>
        </p:txBody>
      </p:sp>
      <p:sp>
        <p:nvSpPr>
          <p:cNvPr id="4" name="TextBox 3"/>
          <p:cNvSpPr txBox="1"/>
          <p:nvPr/>
        </p:nvSpPr>
        <p:spPr>
          <a:xfrm>
            <a:off x="457200" y="841248"/>
            <a:ext cx="8229600" cy="320040"/>
          </a:xfrm>
          <a:prstGeom prst="rect">
            <a:avLst/>
          </a:prstGeom>
          <a:noFill/>
        </p:spPr>
        <p:txBody>
          <a:bodyPr wrap="square" lIns="0" tIns="0" rIns="0" bIns="0" anchor="t">
            <a:spAutoFit/>
          </a:bodyPr>
          <a:lstStyle/>
          <a:p>
            <a:pPr algn="l"/>
            <a:r>
              <a:rPr sz="1200" b="0">
                <a:solidFill>
                  <a:srgbClr val="555555"/>
                </a:solidFill>
                <a:latin typeface="Open Sans"/>
              </a:rPr>
              <a:t>Use this map to navigate the deck. Page numbers point at the start of each section.</a:t>
            </a:r>
          </a:p>
        </p:txBody>
      </p:sp>
      <p:sp>
        <p:nvSpPr>
          <p:cNvPr id="5" name="TextBox 4"/>
          <p:cNvSpPr txBox="1"/>
          <p:nvPr/>
        </p:nvSpPr>
        <p:spPr>
          <a:xfrm>
            <a:off x="457200" y="4818888"/>
            <a:ext cx="8229600" cy="228600"/>
          </a:xfrm>
          <a:prstGeom prst="rect">
            <a:avLst/>
          </a:prstGeom>
          <a:noFill/>
        </p:spPr>
        <p:txBody>
          <a:bodyPr wrap="square" lIns="0" tIns="0" rIns="0" bIns="0" anchor="t">
            <a:spAutoFit/>
          </a:bodyPr>
          <a:lstStyle/>
          <a:p>
            <a:pPr algn="l"/>
            <a:r>
              <a:rPr sz="900" b="0">
                <a:solidFill>
                  <a:srgbClr val="555555"/>
                </a:solidFill>
                <a:latin typeface="Open Sans"/>
              </a:rPr>
              <a:t>BUS-629  |  AI Ratios Project  |  Shidler College of Business</a:t>
            </a:r>
          </a:p>
        </p:txBody>
      </p:sp>
      <p:sp>
        <p:nvSpPr>
          <p:cNvPr id="6" name="Rounded Rectangle 5"/>
          <p:cNvSpPr/>
          <p:nvPr/>
        </p:nvSpPr>
        <p:spPr>
          <a:xfrm>
            <a:off x="457200" y="1325880"/>
            <a:ext cx="502920" cy="292608"/>
          </a:xfrm>
          <a:prstGeom prst="roundRect">
            <a:avLst/>
          </a:prstGeom>
          <a:solidFill>
            <a:srgbClr val="024731"/>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000" b="1">
                <a:solidFill>
                  <a:srgbClr val="FFFFFF"/>
                </a:solidFill>
                <a:latin typeface="Open Sans"/>
              </a:rPr>
              <a:t>p.3</a:t>
            </a:r>
          </a:p>
        </p:txBody>
      </p:sp>
      <p:sp>
        <p:nvSpPr>
          <p:cNvPr id="7" name="TextBox 6"/>
          <p:cNvSpPr txBox="1"/>
          <p:nvPr/>
        </p:nvSpPr>
        <p:spPr>
          <a:xfrm>
            <a:off x="1051560" y="1362456"/>
            <a:ext cx="3520440" cy="184666"/>
          </a:xfrm>
          <a:prstGeom prst="rect">
            <a:avLst/>
          </a:prstGeom>
          <a:noFill/>
        </p:spPr>
        <p:txBody>
          <a:bodyPr wrap="square" lIns="0" tIns="0" rIns="0" bIns="0" anchor="t">
            <a:spAutoFit/>
          </a:bodyPr>
          <a:lstStyle/>
          <a:p>
            <a:pPr algn="l"/>
            <a:r>
              <a:rPr sz="1200" b="0">
                <a:solidFill>
                  <a:srgbClr val="0D0D0D"/>
                </a:solidFill>
                <a:latin typeface="Open Sans"/>
              </a:rPr>
              <a:t>Why this project matters</a:t>
            </a:r>
          </a:p>
        </p:txBody>
      </p:sp>
      <p:sp>
        <p:nvSpPr>
          <p:cNvPr id="8" name="Rounded Rectangle 7"/>
          <p:cNvSpPr/>
          <p:nvPr/>
        </p:nvSpPr>
        <p:spPr>
          <a:xfrm>
            <a:off x="457200" y="1719072"/>
            <a:ext cx="502920" cy="292608"/>
          </a:xfrm>
          <a:prstGeom prst="roundRect">
            <a:avLst/>
          </a:prstGeom>
          <a:solidFill>
            <a:srgbClr val="024731"/>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000" b="1">
                <a:solidFill>
                  <a:srgbClr val="FFFFFF"/>
                </a:solidFill>
                <a:latin typeface="Open Sans"/>
              </a:rPr>
              <a:t>p.4</a:t>
            </a:r>
          </a:p>
        </p:txBody>
      </p:sp>
      <p:sp>
        <p:nvSpPr>
          <p:cNvPr id="9" name="TextBox 8"/>
          <p:cNvSpPr txBox="1"/>
          <p:nvPr/>
        </p:nvSpPr>
        <p:spPr>
          <a:xfrm>
            <a:off x="1051560" y="1755648"/>
            <a:ext cx="3520440" cy="184666"/>
          </a:xfrm>
          <a:prstGeom prst="rect">
            <a:avLst/>
          </a:prstGeom>
          <a:noFill/>
        </p:spPr>
        <p:txBody>
          <a:bodyPr wrap="square" lIns="0" tIns="0" rIns="0" bIns="0" anchor="t">
            <a:spAutoFit/>
          </a:bodyPr>
          <a:lstStyle/>
          <a:p>
            <a:pPr algn="l"/>
            <a:r>
              <a:rPr sz="1200" b="0">
                <a:solidFill>
                  <a:srgbClr val="0D0D0D"/>
                </a:solidFill>
                <a:latin typeface="Open Sans"/>
              </a:rPr>
              <a:t>Project overview — Six Stages</a:t>
            </a:r>
          </a:p>
        </p:txBody>
      </p:sp>
      <p:sp>
        <p:nvSpPr>
          <p:cNvPr id="10" name="Rounded Rectangle 9"/>
          <p:cNvSpPr/>
          <p:nvPr/>
        </p:nvSpPr>
        <p:spPr>
          <a:xfrm>
            <a:off x="457200" y="2112264"/>
            <a:ext cx="502920" cy="292608"/>
          </a:xfrm>
          <a:prstGeom prst="roundRect">
            <a:avLst/>
          </a:prstGeom>
          <a:solidFill>
            <a:srgbClr val="024731"/>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000" b="1">
                <a:solidFill>
                  <a:srgbClr val="FFFFFF"/>
                </a:solidFill>
                <a:latin typeface="Open Sans"/>
              </a:rPr>
              <a:t>p.5</a:t>
            </a:r>
          </a:p>
        </p:txBody>
      </p:sp>
      <p:sp>
        <p:nvSpPr>
          <p:cNvPr id="11" name="TextBox 10"/>
          <p:cNvSpPr txBox="1"/>
          <p:nvPr/>
        </p:nvSpPr>
        <p:spPr>
          <a:xfrm>
            <a:off x="1051560" y="2148840"/>
            <a:ext cx="3520440" cy="184666"/>
          </a:xfrm>
          <a:prstGeom prst="rect">
            <a:avLst/>
          </a:prstGeom>
          <a:noFill/>
        </p:spPr>
        <p:txBody>
          <a:bodyPr wrap="square" lIns="0" tIns="0" rIns="0" bIns="0" anchor="t">
            <a:spAutoFit/>
          </a:bodyPr>
          <a:lstStyle/>
          <a:p>
            <a:pPr algn="l"/>
            <a:r>
              <a:rPr sz="1200" b="0">
                <a:solidFill>
                  <a:srgbClr val="0D0D0D"/>
                </a:solidFill>
                <a:latin typeface="Open Sans"/>
              </a:rPr>
              <a:t>The spec-driven design arc</a:t>
            </a:r>
          </a:p>
        </p:txBody>
      </p:sp>
      <p:sp>
        <p:nvSpPr>
          <p:cNvPr id="12" name="Rounded Rectangle 11"/>
          <p:cNvSpPr/>
          <p:nvPr/>
        </p:nvSpPr>
        <p:spPr>
          <a:xfrm>
            <a:off x="457200" y="2505456"/>
            <a:ext cx="502920" cy="292608"/>
          </a:xfrm>
          <a:prstGeom prst="roundRect">
            <a:avLst/>
          </a:prstGeom>
          <a:solidFill>
            <a:srgbClr val="024731"/>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000" b="1">
                <a:solidFill>
                  <a:srgbClr val="FFFFFF"/>
                </a:solidFill>
                <a:latin typeface="Open Sans"/>
              </a:rPr>
              <a:t>p.6</a:t>
            </a:r>
          </a:p>
        </p:txBody>
      </p:sp>
      <p:sp>
        <p:nvSpPr>
          <p:cNvPr id="13" name="TextBox 12"/>
          <p:cNvSpPr txBox="1"/>
          <p:nvPr/>
        </p:nvSpPr>
        <p:spPr>
          <a:xfrm>
            <a:off x="1051560" y="2542032"/>
            <a:ext cx="3520440" cy="184666"/>
          </a:xfrm>
          <a:prstGeom prst="rect">
            <a:avLst/>
          </a:prstGeom>
          <a:noFill/>
        </p:spPr>
        <p:txBody>
          <a:bodyPr wrap="square" lIns="0" tIns="0" rIns="0" bIns="0" anchor="t">
            <a:spAutoFit/>
          </a:bodyPr>
          <a:lstStyle/>
          <a:p>
            <a:pPr algn="l"/>
            <a:r>
              <a:rPr sz="1200" b="0">
                <a:solidFill>
                  <a:srgbClr val="0D0D0D"/>
                </a:solidFill>
                <a:latin typeface="Open Sans"/>
              </a:rPr>
              <a:t>Career relevance</a:t>
            </a:r>
          </a:p>
        </p:txBody>
      </p:sp>
      <p:sp>
        <p:nvSpPr>
          <p:cNvPr id="14" name="Rounded Rectangle 13"/>
          <p:cNvSpPr/>
          <p:nvPr/>
        </p:nvSpPr>
        <p:spPr>
          <a:xfrm>
            <a:off x="457200" y="2898648"/>
            <a:ext cx="502920" cy="292608"/>
          </a:xfrm>
          <a:prstGeom prst="roundRect">
            <a:avLst/>
          </a:prstGeom>
          <a:solidFill>
            <a:srgbClr val="024731"/>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000" b="1">
                <a:solidFill>
                  <a:srgbClr val="FFFFFF"/>
                </a:solidFill>
                <a:latin typeface="Open Sans"/>
              </a:rPr>
              <a:t>p.7</a:t>
            </a:r>
          </a:p>
        </p:txBody>
      </p:sp>
      <p:sp>
        <p:nvSpPr>
          <p:cNvPr id="15" name="TextBox 14"/>
          <p:cNvSpPr txBox="1"/>
          <p:nvPr/>
        </p:nvSpPr>
        <p:spPr>
          <a:xfrm>
            <a:off x="1051560" y="2935224"/>
            <a:ext cx="3520440" cy="184666"/>
          </a:xfrm>
          <a:prstGeom prst="rect">
            <a:avLst/>
          </a:prstGeom>
          <a:noFill/>
        </p:spPr>
        <p:txBody>
          <a:bodyPr wrap="square" lIns="0" tIns="0" rIns="0" bIns="0" anchor="t">
            <a:spAutoFit/>
          </a:bodyPr>
          <a:lstStyle/>
          <a:p>
            <a:pPr algn="l"/>
            <a:r>
              <a:rPr sz="1200" b="0">
                <a:solidFill>
                  <a:srgbClr val="0D0D0D"/>
                </a:solidFill>
                <a:latin typeface="Open Sans"/>
              </a:rPr>
              <a:t>What is GitHub &amp; why it matters</a:t>
            </a:r>
          </a:p>
        </p:txBody>
      </p:sp>
      <p:sp>
        <p:nvSpPr>
          <p:cNvPr id="16" name="Rounded Rectangle 15"/>
          <p:cNvSpPr/>
          <p:nvPr/>
        </p:nvSpPr>
        <p:spPr>
          <a:xfrm>
            <a:off x="457200" y="3291840"/>
            <a:ext cx="502920" cy="292608"/>
          </a:xfrm>
          <a:prstGeom prst="roundRect">
            <a:avLst/>
          </a:prstGeom>
          <a:solidFill>
            <a:srgbClr val="024731"/>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000" b="1">
                <a:solidFill>
                  <a:srgbClr val="FFFFFF"/>
                </a:solidFill>
                <a:latin typeface="Open Sans"/>
              </a:rPr>
              <a:t>p.8</a:t>
            </a:r>
          </a:p>
        </p:txBody>
      </p:sp>
      <p:sp>
        <p:nvSpPr>
          <p:cNvPr id="17" name="TextBox 16"/>
          <p:cNvSpPr txBox="1"/>
          <p:nvPr/>
        </p:nvSpPr>
        <p:spPr>
          <a:xfrm>
            <a:off x="1051560" y="3328416"/>
            <a:ext cx="3520440" cy="184666"/>
          </a:xfrm>
          <a:prstGeom prst="rect">
            <a:avLst/>
          </a:prstGeom>
          <a:noFill/>
        </p:spPr>
        <p:txBody>
          <a:bodyPr wrap="square" lIns="0" tIns="0" rIns="0" bIns="0" anchor="t">
            <a:spAutoFit/>
          </a:bodyPr>
          <a:lstStyle/>
          <a:p>
            <a:pPr algn="l"/>
            <a:r>
              <a:rPr sz="1200" b="0">
                <a:solidFill>
                  <a:srgbClr val="0D0D0D"/>
                </a:solidFill>
                <a:latin typeface="Open Sans"/>
              </a:rPr>
              <a:t>Stage 0 — Repository setup</a:t>
            </a:r>
          </a:p>
        </p:txBody>
      </p:sp>
      <p:sp>
        <p:nvSpPr>
          <p:cNvPr id="18" name="Rounded Rectangle 17"/>
          <p:cNvSpPr/>
          <p:nvPr/>
        </p:nvSpPr>
        <p:spPr>
          <a:xfrm>
            <a:off x="457200" y="3685032"/>
            <a:ext cx="502920" cy="292608"/>
          </a:xfrm>
          <a:prstGeom prst="roundRect">
            <a:avLst/>
          </a:prstGeom>
          <a:solidFill>
            <a:srgbClr val="024731"/>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000" b="1">
                <a:solidFill>
                  <a:srgbClr val="FFFFFF"/>
                </a:solidFill>
                <a:latin typeface="Open Sans"/>
              </a:rPr>
              <a:t>p.15</a:t>
            </a:r>
          </a:p>
        </p:txBody>
      </p:sp>
      <p:sp>
        <p:nvSpPr>
          <p:cNvPr id="19" name="TextBox 18"/>
          <p:cNvSpPr txBox="1"/>
          <p:nvPr/>
        </p:nvSpPr>
        <p:spPr>
          <a:xfrm>
            <a:off x="1051560" y="3721608"/>
            <a:ext cx="3520440" cy="184666"/>
          </a:xfrm>
          <a:prstGeom prst="rect">
            <a:avLst/>
          </a:prstGeom>
          <a:noFill/>
        </p:spPr>
        <p:txBody>
          <a:bodyPr wrap="square" lIns="0" tIns="0" rIns="0" bIns="0" anchor="t">
            <a:spAutoFit/>
          </a:bodyPr>
          <a:lstStyle/>
          <a:p>
            <a:pPr algn="l"/>
            <a:r>
              <a:rPr sz="1200" b="0">
                <a:solidFill>
                  <a:srgbClr val="0D0D0D"/>
                </a:solidFill>
                <a:latin typeface="Open Sans"/>
              </a:rPr>
              <a:t>Stage 1 — Ratios template upload</a:t>
            </a:r>
          </a:p>
        </p:txBody>
      </p:sp>
      <p:sp>
        <p:nvSpPr>
          <p:cNvPr id="20" name="Rounded Rectangle 19"/>
          <p:cNvSpPr/>
          <p:nvPr/>
        </p:nvSpPr>
        <p:spPr>
          <a:xfrm>
            <a:off x="457200" y="4078224"/>
            <a:ext cx="502920" cy="292608"/>
          </a:xfrm>
          <a:prstGeom prst="roundRect">
            <a:avLst/>
          </a:prstGeom>
          <a:solidFill>
            <a:srgbClr val="024731"/>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000" b="1">
                <a:solidFill>
                  <a:srgbClr val="FFFFFF"/>
                </a:solidFill>
                <a:latin typeface="Open Sans"/>
              </a:rPr>
              <a:t>p.18</a:t>
            </a:r>
          </a:p>
        </p:txBody>
      </p:sp>
      <p:sp>
        <p:nvSpPr>
          <p:cNvPr id="21" name="TextBox 20"/>
          <p:cNvSpPr txBox="1"/>
          <p:nvPr/>
        </p:nvSpPr>
        <p:spPr>
          <a:xfrm>
            <a:off x="1051560" y="4114800"/>
            <a:ext cx="3520440" cy="184666"/>
          </a:xfrm>
          <a:prstGeom prst="rect">
            <a:avLst/>
          </a:prstGeom>
          <a:noFill/>
        </p:spPr>
        <p:txBody>
          <a:bodyPr wrap="square" lIns="0" tIns="0" rIns="0" bIns="0" anchor="t">
            <a:spAutoFit/>
          </a:bodyPr>
          <a:lstStyle/>
          <a:p>
            <a:pPr algn="l"/>
            <a:r>
              <a:rPr sz="1200" b="0">
                <a:solidFill>
                  <a:srgbClr val="0D0D0D"/>
                </a:solidFill>
                <a:latin typeface="Open Sans"/>
              </a:rPr>
              <a:t>Stage 2 — Company selection memo</a:t>
            </a:r>
          </a:p>
        </p:txBody>
      </p:sp>
      <p:sp>
        <p:nvSpPr>
          <p:cNvPr id="22" name="Rounded Rectangle 21"/>
          <p:cNvSpPr/>
          <p:nvPr/>
        </p:nvSpPr>
        <p:spPr>
          <a:xfrm>
            <a:off x="4709160" y="1325880"/>
            <a:ext cx="502920" cy="292608"/>
          </a:xfrm>
          <a:prstGeom prst="roundRect">
            <a:avLst/>
          </a:prstGeom>
          <a:solidFill>
            <a:srgbClr val="024731"/>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000" b="1">
                <a:solidFill>
                  <a:srgbClr val="FFFFFF"/>
                </a:solidFill>
                <a:latin typeface="Open Sans"/>
              </a:rPr>
              <a:t>p.21</a:t>
            </a:r>
          </a:p>
        </p:txBody>
      </p:sp>
      <p:sp>
        <p:nvSpPr>
          <p:cNvPr id="23" name="TextBox 22"/>
          <p:cNvSpPr txBox="1"/>
          <p:nvPr/>
        </p:nvSpPr>
        <p:spPr>
          <a:xfrm>
            <a:off x="5303520" y="1362456"/>
            <a:ext cx="3520440" cy="184666"/>
          </a:xfrm>
          <a:prstGeom prst="rect">
            <a:avLst/>
          </a:prstGeom>
          <a:noFill/>
        </p:spPr>
        <p:txBody>
          <a:bodyPr wrap="square" lIns="0" tIns="0" rIns="0" bIns="0" anchor="t">
            <a:spAutoFit/>
          </a:bodyPr>
          <a:lstStyle/>
          <a:p>
            <a:pPr algn="l"/>
            <a:r>
              <a:rPr sz="1200" b="0">
                <a:solidFill>
                  <a:srgbClr val="0D0D0D"/>
                </a:solidFill>
                <a:latin typeface="Open Sans"/>
              </a:rPr>
              <a:t>International scope — any public company</a:t>
            </a:r>
          </a:p>
        </p:txBody>
      </p:sp>
      <p:sp>
        <p:nvSpPr>
          <p:cNvPr id="24" name="Rounded Rectangle 23"/>
          <p:cNvSpPr/>
          <p:nvPr/>
        </p:nvSpPr>
        <p:spPr>
          <a:xfrm>
            <a:off x="4709160" y="1719072"/>
            <a:ext cx="502920" cy="292608"/>
          </a:xfrm>
          <a:prstGeom prst="roundRect">
            <a:avLst/>
          </a:prstGeom>
          <a:solidFill>
            <a:srgbClr val="024731"/>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000" b="1">
                <a:solidFill>
                  <a:srgbClr val="FFFFFF"/>
                </a:solidFill>
                <a:latin typeface="Open Sans"/>
              </a:rPr>
              <a:t>p.22</a:t>
            </a:r>
          </a:p>
        </p:txBody>
      </p:sp>
      <p:sp>
        <p:nvSpPr>
          <p:cNvPr id="25" name="TextBox 24"/>
          <p:cNvSpPr txBox="1"/>
          <p:nvPr/>
        </p:nvSpPr>
        <p:spPr>
          <a:xfrm>
            <a:off x="5303520" y="1755648"/>
            <a:ext cx="3520440" cy="184666"/>
          </a:xfrm>
          <a:prstGeom prst="rect">
            <a:avLst/>
          </a:prstGeom>
          <a:noFill/>
        </p:spPr>
        <p:txBody>
          <a:bodyPr wrap="square" lIns="0" tIns="0" rIns="0" bIns="0" anchor="t">
            <a:spAutoFit/>
          </a:bodyPr>
          <a:lstStyle/>
          <a:p>
            <a:pPr algn="l"/>
            <a:r>
              <a:rPr sz="1200" b="0">
                <a:solidFill>
                  <a:srgbClr val="0D0D0D"/>
                </a:solidFill>
                <a:latin typeface="Open Sans"/>
              </a:rPr>
              <a:t>Stage 3 — Model population &amp; validation</a:t>
            </a:r>
          </a:p>
        </p:txBody>
      </p:sp>
      <p:sp>
        <p:nvSpPr>
          <p:cNvPr id="26" name="Rounded Rectangle 25"/>
          <p:cNvSpPr/>
          <p:nvPr/>
        </p:nvSpPr>
        <p:spPr>
          <a:xfrm>
            <a:off x="4709160" y="2112264"/>
            <a:ext cx="502920" cy="292608"/>
          </a:xfrm>
          <a:prstGeom prst="roundRect">
            <a:avLst/>
          </a:prstGeom>
          <a:solidFill>
            <a:srgbClr val="024731"/>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000" b="1">
                <a:solidFill>
                  <a:srgbClr val="FFFFFF"/>
                </a:solidFill>
                <a:latin typeface="Open Sans"/>
              </a:rPr>
              <a:t>p.25</a:t>
            </a:r>
          </a:p>
        </p:txBody>
      </p:sp>
      <p:sp>
        <p:nvSpPr>
          <p:cNvPr id="27" name="TextBox 26"/>
          <p:cNvSpPr txBox="1"/>
          <p:nvPr/>
        </p:nvSpPr>
        <p:spPr>
          <a:xfrm>
            <a:off x="5303520" y="2148840"/>
            <a:ext cx="3520440" cy="184666"/>
          </a:xfrm>
          <a:prstGeom prst="rect">
            <a:avLst/>
          </a:prstGeom>
          <a:noFill/>
        </p:spPr>
        <p:txBody>
          <a:bodyPr wrap="square" lIns="0" tIns="0" rIns="0" bIns="0" anchor="t">
            <a:spAutoFit/>
          </a:bodyPr>
          <a:lstStyle/>
          <a:p>
            <a:pPr algn="l"/>
            <a:r>
              <a:rPr sz="1200" b="0">
                <a:solidFill>
                  <a:srgbClr val="0D0D0D"/>
                </a:solidFill>
                <a:latin typeface="Open Sans"/>
              </a:rPr>
              <a:t>Stage 4 — Technical specification</a:t>
            </a:r>
          </a:p>
        </p:txBody>
      </p:sp>
      <p:sp>
        <p:nvSpPr>
          <p:cNvPr id="28" name="Rounded Rectangle 27"/>
          <p:cNvSpPr/>
          <p:nvPr/>
        </p:nvSpPr>
        <p:spPr>
          <a:xfrm>
            <a:off x="4709160" y="2505456"/>
            <a:ext cx="502920" cy="292608"/>
          </a:xfrm>
          <a:prstGeom prst="roundRect">
            <a:avLst/>
          </a:prstGeom>
          <a:solidFill>
            <a:srgbClr val="024731"/>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000" b="1">
                <a:solidFill>
                  <a:srgbClr val="FFFFFF"/>
                </a:solidFill>
                <a:latin typeface="Open Sans"/>
              </a:rPr>
              <a:t>p.28</a:t>
            </a:r>
          </a:p>
        </p:txBody>
      </p:sp>
      <p:sp>
        <p:nvSpPr>
          <p:cNvPr id="29" name="TextBox 28"/>
          <p:cNvSpPr txBox="1"/>
          <p:nvPr/>
        </p:nvSpPr>
        <p:spPr>
          <a:xfrm>
            <a:off x="5303520" y="2542032"/>
            <a:ext cx="3520440" cy="184666"/>
          </a:xfrm>
          <a:prstGeom prst="rect">
            <a:avLst/>
          </a:prstGeom>
          <a:noFill/>
        </p:spPr>
        <p:txBody>
          <a:bodyPr wrap="square" lIns="0" tIns="0" rIns="0" bIns="0" anchor="t">
            <a:spAutoFit/>
          </a:bodyPr>
          <a:lstStyle/>
          <a:p>
            <a:pPr algn="l"/>
            <a:r>
              <a:rPr sz="1200" b="0">
                <a:solidFill>
                  <a:srgbClr val="0D0D0D"/>
                </a:solidFill>
                <a:latin typeface="Open Sans"/>
              </a:rPr>
              <a:t>Stage 5 — LLM analysis &amp; repo polish</a:t>
            </a:r>
          </a:p>
        </p:txBody>
      </p:sp>
      <p:sp>
        <p:nvSpPr>
          <p:cNvPr id="30" name="Rounded Rectangle 29"/>
          <p:cNvSpPr/>
          <p:nvPr/>
        </p:nvSpPr>
        <p:spPr>
          <a:xfrm>
            <a:off x="4709160" y="2898648"/>
            <a:ext cx="502920" cy="292608"/>
          </a:xfrm>
          <a:prstGeom prst="roundRect">
            <a:avLst/>
          </a:prstGeom>
          <a:solidFill>
            <a:srgbClr val="024731"/>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000" b="1">
                <a:solidFill>
                  <a:srgbClr val="FFFFFF"/>
                </a:solidFill>
                <a:latin typeface="Open Sans"/>
              </a:rPr>
              <a:t>p.31</a:t>
            </a:r>
          </a:p>
        </p:txBody>
      </p:sp>
      <p:sp>
        <p:nvSpPr>
          <p:cNvPr id="31" name="TextBox 30"/>
          <p:cNvSpPr txBox="1"/>
          <p:nvPr/>
        </p:nvSpPr>
        <p:spPr>
          <a:xfrm>
            <a:off x="5303520" y="2935224"/>
            <a:ext cx="3520440" cy="184666"/>
          </a:xfrm>
          <a:prstGeom prst="rect">
            <a:avLst/>
          </a:prstGeom>
          <a:noFill/>
        </p:spPr>
        <p:txBody>
          <a:bodyPr wrap="square" lIns="0" tIns="0" rIns="0" bIns="0" anchor="t">
            <a:spAutoFit/>
          </a:bodyPr>
          <a:lstStyle/>
          <a:p>
            <a:pPr algn="l"/>
            <a:r>
              <a:rPr sz="1200" b="0">
                <a:solidFill>
                  <a:srgbClr val="0D0D0D"/>
                </a:solidFill>
                <a:latin typeface="Open Sans"/>
              </a:rPr>
              <a:t>Appendix A — Using GitHub</a:t>
            </a:r>
          </a:p>
        </p:txBody>
      </p:sp>
      <p:sp>
        <p:nvSpPr>
          <p:cNvPr id="32" name="Rounded Rectangle 31"/>
          <p:cNvSpPr/>
          <p:nvPr/>
        </p:nvSpPr>
        <p:spPr>
          <a:xfrm>
            <a:off x="4709160" y="3291840"/>
            <a:ext cx="502920" cy="292608"/>
          </a:xfrm>
          <a:prstGeom prst="roundRect">
            <a:avLst/>
          </a:prstGeom>
          <a:solidFill>
            <a:srgbClr val="024731"/>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000" b="1">
                <a:solidFill>
                  <a:srgbClr val="FFFFFF"/>
                </a:solidFill>
                <a:latin typeface="Open Sans"/>
              </a:rPr>
              <a:t>p.33</a:t>
            </a:r>
          </a:p>
        </p:txBody>
      </p:sp>
      <p:sp>
        <p:nvSpPr>
          <p:cNvPr id="33" name="TextBox 32"/>
          <p:cNvSpPr txBox="1"/>
          <p:nvPr/>
        </p:nvSpPr>
        <p:spPr>
          <a:xfrm>
            <a:off x="5303520" y="3328416"/>
            <a:ext cx="3520440" cy="184666"/>
          </a:xfrm>
          <a:prstGeom prst="rect">
            <a:avLst/>
          </a:prstGeom>
          <a:noFill/>
        </p:spPr>
        <p:txBody>
          <a:bodyPr wrap="square" lIns="0" tIns="0" rIns="0" bIns="0" anchor="t">
            <a:spAutoFit/>
          </a:bodyPr>
          <a:lstStyle/>
          <a:p>
            <a:pPr algn="l"/>
            <a:r>
              <a:rPr sz="1200" b="0">
                <a:solidFill>
                  <a:srgbClr val="0D0D0D"/>
                </a:solidFill>
                <a:latin typeface="Open Sans"/>
              </a:rPr>
              <a:t>Quick reference cheat sheet</a:t>
            </a:r>
          </a:p>
        </p:txBody>
      </p:sp>
      <p:sp>
        <p:nvSpPr>
          <p:cNvPr id="34" name="Rounded Rectangle 33"/>
          <p:cNvSpPr/>
          <p:nvPr/>
        </p:nvSpPr>
        <p:spPr>
          <a:xfrm>
            <a:off x="4709160" y="3685032"/>
            <a:ext cx="502920" cy="292608"/>
          </a:xfrm>
          <a:prstGeom prst="roundRect">
            <a:avLst/>
          </a:prstGeom>
          <a:solidFill>
            <a:srgbClr val="024731"/>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000" b="1">
                <a:solidFill>
                  <a:srgbClr val="FFFFFF"/>
                </a:solidFill>
                <a:latin typeface="Open Sans"/>
              </a:rPr>
              <a:t>p.34</a:t>
            </a:r>
          </a:p>
        </p:txBody>
      </p:sp>
      <p:sp>
        <p:nvSpPr>
          <p:cNvPr id="35" name="TextBox 34"/>
          <p:cNvSpPr txBox="1"/>
          <p:nvPr/>
        </p:nvSpPr>
        <p:spPr>
          <a:xfrm>
            <a:off x="5303520" y="3721608"/>
            <a:ext cx="3520440" cy="184666"/>
          </a:xfrm>
          <a:prstGeom prst="rect">
            <a:avLst/>
          </a:prstGeom>
          <a:noFill/>
        </p:spPr>
        <p:txBody>
          <a:bodyPr wrap="square" lIns="0" tIns="0" rIns="0" bIns="0" anchor="t">
            <a:spAutoFit/>
          </a:bodyPr>
          <a:lstStyle/>
          <a:p>
            <a:pPr algn="l"/>
            <a:r>
              <a:rPr sz="1200" b="0">
                <a:solidFill>
                  <a:srgbClr val="0D0D0D"/>
                </a:solidFill>
                <a:latin typeface="Open Sans"/>
              </a:rPr>
              <a:t>Appendix B — Using Claude</a:t>
            </a:r>
          </a:p>
        </p:txBody>
      </p:sp>
    </p:spTree>
    <p:extLst>
      <p:ext uri="{BB962C8B-B14F-4D97-AF65-F5344CB8AC3E}">
        <p14:creationId xmlns:p14="http://schemas.microsoft.com/office/powerpoint/2010/main" val="138165678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2">
    <p:bg>
      <p:bgPr>
        <a:solidFill>
          <a:srgbClr val="F5F7F6"/>
        </a:solidFill>
        <a:effectLst/>
      </p:bgPr>
    </p:bg>
    <p:spTree>
      <p:nvGrpSpPr>
        <p:cNvPr id="1" name=""/>
        <p:cNvGrpSpPr/>
        <p:nvPr/>
      </p:nvGrpSpPr>
      <p:grpSpPr>
        <a:xfrm>
          <a:off x="0" y="0"/>
          <a:ext cx="0" cy="0"/>
          <a:chOff x="0" y="0"/>
          <a:chExt cx="0" cy="0"/>
        </a:xfrm>
      </p:grpSpPr>
      <p:sp>
        <p:nvSpPr>
          <p:cNvPr id="2" name="Text 0"/>
          <p:cNvSpPr/>
          <p:nvPr/>
        </p:nvSpPr>
        <p:spPr>
          <a:xfrm>
            <a:off x="548640" y="320040"/>
            <a:ext cx="8229600" cy="594360"/>
          </a:xfrm>
          <a:prstGeom prst="rect">
            <a:avLst/>
          </a:prstGeom>
          <a:noFill/>
          <a:ln/>
        </p:spPr>
        <p:txBody>
          <a:bodyPr wrap="square" lIns="0" tIns="0" rIns="0" bIns="0" rtlCol="0" anchor="ctr"/>
          <a:lstStyle/>
          <a:p>
            <a:pPr marL="0" indent="0">
              <a:buNone/>
            </a:pPr>
            <a:r>
              <a:rPr lang="en-US" sz="3000" b="1" dirty="0">
                <a:solidFill>
                  <a:srgbClr val="024731"/>
                </a:solidFill>
                <a:latin typeface="Open Sans" pitchFamily="34" charset="0"/>
                <a:ea typeface="Open Sans" pitchFamily="34" charset="-122"/>
                <a:cs typeface="Open Sans" pitchFamily="34" charset="-120"/>
              </a:rPr>
              <a:t>Why This Project Matters</a:t>
            </a:r>
            <a:endParaRPr lang="en-US" sz="3000" dirty="0"/>
          </a:p>
        </p:txBody>
      </p:sp>
      <p:sp>
        <p:nvSpPr>
          <p:cNvPr id="3" name="Text 1"/>
          <p:cNvSpPr/>
          <p:nvPr/>
        </p:nvSpPr>
        <p:spPr>
          <a:xfrm>
            <a:off x="548640" y="960120"/>
            <a:ext cx="8046720" cy="548640"/>
          </a:xfrm>
          <a:prstGeom prst="rect">
            <a:avLst/>
          </a:prstGeom>
          <a:noFill/>
          <a:ln/>
        </p:spPr>
        <p:txBody>
          <a:bodyPr wrap="square" rtlCol="0" anchor="ctr"/>
          <a:lstStyle/>
          <a:p>
            <a:pPr marL="0" indent="0">
              <a:buNone/>
            </a:pPr>
            <a:r>
              <a:rPr lang="en-US" sz="1200" dirty="0">
                <a:solidFill>
                  <a:srgbClr val="6B7280"/>
                </a:solidFill>
                <a:latin typeface="Open Sans" pitchFamily="34" charset="0"/>
                <a:ea typeface="Open Sans" pitchFamily="34" charset="-122"/>
                <a:cs typeface="Open Sans" pitchFamily="34" charset="-120"/>
              </a:rPr>
              <a:t>This project teaches you to specify analytical work precisely enough that any competent executor — human or AI — can produce correct output. That is a more valuable skill than doing the analysis yourself.</a:t>
            </a:r>
            <a:endParaRPr lang="en-US" sz="1200" dirty="0"/>
          </a:p>
        </p:txBody>
      </p:sp>
      <p:sp>
        <p:nvSpPr>
          <p:cNvPr id="4" name="Shape 2"/>
          <p:cNvSpPr/>
          <p:nvPr/>
        </p:nvSpPr>
        <p:spPr>
          <a:xfrm>
            <a:off x="548640" y="1737360"/>
            <a:ext cx="3931920" cy="1280160"/>
          </a:xfrm>
          <a:prstGeom prst="rect">
            <a:avLst/>
          </a:prstGeom>
          <a:solidFill>
            <a:srgbClr val="FFFFFF"/>
          </a:solidFill>
          <a:ln/>
          <a:effectLst>
            <a:outerShdw blurRad="50800" dist="12700" dir="8100000" algn="bl" rotWithShape="0">
              <a:srgbClr val="000000">
                <a:alpha val="10000"/>
              </a:srgbClr>
            </a:outerShdw>
          </a:effectLst>
        </p:spPr>
        <p:txBody>
          <a:bodyPr/>
          <a:lstStyle/>
          <a:p>
            <a:endParaRPr lang="en-US"/>
          </a:p>
        </p:txBody>
      </p:sp>
      <p:sp>
        <p:nvSpPr>
          <p:cNvPr id="5" name="Shape 3"/>
          <p:cNvSpPr/>
          <p:nvPr/>
        </p:nvSpPr>
        <p:spPr>
          <a:xfrm>
            <a:off x="548640" y="1737360"/>
            <a:ext cx="54864" cy="1280160"/>
          </a:xfrm>
          <a:prstGeom prst="rect">
            <a:avLst/>
          </a:prstGeom>
          <a:solidFill>
            <a:srgbClr val="024731"/>
          </a:solidFill>
          <a:ln/>
        </p:spPr>
        <p:txBody>
          <a:bodyPr/>
          <a:lstStyle/>
          <a:p>
            <a:endParaRPr lang="en-US"/>
          </a:p>
        </p:txBody>
      </p:sp>
      <p:sp>
        <p:nvSpPr>
          <p:cNvPr id="6" name="Shape 4"/>
          <p:cNvSpPr/>
          <p:nvPr/>
        </p:nvSpPr>
        <p:spPr>
          <a:xfrm>
            <a:off x="777240" y="1965960"/>
            <a:ext cx="457200" cy="457200"/>
          </a:xfrm>
          <a:prstGeom prst="ellipse">
            <a:avLst/>
          </a:prstGeom>
          <a:solidFill>
            <a:srgbClr val="E6F2EF"/>
          </a:solidFill>
          <a:ln/>
        </p:spPr>
        <p:txBody>
          <a:bodyPr/>
          <a:lstStyle/>
          <a:p>
            <a:endParaRPr lang="en-US"/>
          </a:p>
        </p:txBody>
      </p:sp>
      <p:pic>
        <p:nvPicPr>
          <p:cNvPr id="7" name="Image 0" descr="preencoded.png"/>
          <p:cNvPicPr>
            <a:picLocks noChangeAspect="1"/>
          </p:cNvPicPr>
          <p:nvPr/>
        </p:nvPicPr>
        <p:blipFill>
          <a:blip r:embed="rId3"/>
          <a:stretch>
            <a:fillRect/>
          </a:stretch>
        </p:blipFill>
        <p:spPr>
          <a:xfrm>
            <a:off x="877824" y="2066544"/>
            <a:ext cx="256032" cy="256032"/>
          </a:xfrm>
          <a:prstGeom prst="rect">
            <a:avLst/>
          </a:prstGeom>
        </p:spPr>
      </p:pic>
      <p:sp>
        <p:nvSpPr>
          <p:cNvPr id="8" name="Text 5"/>
          <p:cNvSpPr/>
          <p:nvPr/>
        </p:nvSpPr>
        <p:spPr>
          <a:xfrm>
            <a:off x="1371600" y="1920240"/>
            <a:ext cx="2926080" cy="320040"/>
          </a:xfrm>
          <a:prstGeom prst="rect">
            <a:avLst/>
          </a:prstGeom>
          <a:noFill/>
          <a:ln/>
        </p:spPr>
        <p:txBody>
          <a:bodyPr wrap="square" lIns="0" tIns="0" rIns="0" bIns="0" rtlCol="0" anchor="ctr"/>
          <a:lstStyle/>
          <a:p>
            <a:pPr marL="0" indent="0">
              <a:buNone/>
            </a:pPr>
            <a:r>
              <a:rPr lang="en-US" sz="1400" b="1" dirty="0">
                <a:solidFill>
                  <a:srgbClr val="024731"/>
                </a:solidFill>
                <a:latin typeface="Open Sans" pitchFamily="34" charset="0"/>
                <a:ea typeface="Open Sans" pitchFamily="34" charset="-122"/>
                <a:cs typeface="Open Sans" pitchFamily="34" charset="-120"/>
              </a:rPr>
              <a:t>Spec-Driven Design</a:t>
            </a:r>
            <a:endParaRPr lang="en-US" sz="1400" dirty="0"/>
          </a:p>
        </p:txBody>
      </p:sp>
      <p:sp>
        <p:nvSpPr>
          <p:cNvPr id="9" name="Text 6"/>
          <p:cNvSpPr/>
          <p:nvPr/>
        </p:nvSpPr>
        <p:spPr>
          <a:xfrm>
            <a:off x="1371600" y="2240280"/>
            <a:ext cx="2926080" cy="640080"/>
          </a:xfrm>
          <a:prstGeom prst="rect">
            <a:avLst/>
          </a:prstGeom>
          <a:noFill/>
          <a:ln/>
        </p:spPr>
        <p:txBody>
          <a:bodyPr wrap="square" lIns="0" tIns="0" rIns="0" bIns="0" rtlCol="0" anchor="ctr"/>
          <a:lstStyle/>
          <a:p>
            <a:pPr marL="0" indent="0">
              <a:buNone/>
            </a:pPr>
            <a:r>
              <a:rPr lang="en-US" sz="1000" dirty="0">
                <a:solidFill>
                  <a:srgbClr val="6B7280"/>
                </a:solidFill>
                <a:latin typeface="Open Sans" pitchFamily="34" charset="0"/>
                <a:ea typeface="Open Sans" pitchFamily="34" charset="-122"/>
                <a:cs typeface="Open Sans" pitchFamily="34" charset="-120"/>
              </a:rPr>
              <a:t>Write specifications precise enough to delegate. The spec is the central artifact — not the spreadsheet, not the prompt.</a:t>
            </a:r>
            <a:endParaRPr lang="en-US" sz="1000" dirty="0"/>
          </a:p>
        </p:txBody>
      </p:sp>
      <p:sp>
        <p:nvSpPr>
          <p:cNvPr id="10" name="Shape 7"/>
          <p:cNvSpPr/>
          <p:nvPr/>
        </p:nvSpPr>
        <p:spPr>
          <a:xfrm>
            <a:off x="4754880" y="1737360"/>
            <a:ext cx="3931920" cy="1280160"/>
          </a:xfrm>
          <a:prstGeom prst="rect">
            <a:avLst/>
          </a:prstGeom>
          <a:solidFill>
            <a:srgbClr val="FFFFFF"/>
          </a:solidFill>
          <a:ln/>
          <a:effectLst>
            <a:outerShdw blurRad="50800" dist="12700" dir="8100000" algn="bl" rotWithShape="0">
              <a:srgbClr val="000000">
                <a:alpha val="10000"/>
              </a:srgbClr>
            </a:outerShdw>
          </a:effectLst>
        </p:spPr>
        <p:txBody>
          <a:bodyPr/>
          <a:lstStyle/>
          <a:p>
            <a:endParaRPr lang="en-US"/>
          </a:p>
        </p:txBody>
      </p:sp>
      <p:sp>
        <p:nvSpPr>
          <p:cNvPr id="11" name="Shape 8"/>
          <p:cNvSpPr/>
          <p:nvPr/>
        </p:nvSpPr>
        <p:spPr>
          <a:xfrm>
            <a:off x="4754880" y="1737360"/>
            <a:ext cx="54864" cy="1280160"/>
          </a:xfrm>
          <a:prstGeom prst="rect">
            <a:avLst/>
          </a:prstGeom>
          <a:solidFill>
            <a:srgbClr val="024731"/>
          </a:solidFill>
          <a:ln/>
        </p:spPr>
        <p:txBody>
          <a:bodyPr/>
          <a:lstStyle/>
          <a:p>
            <a:endParaRPr lang="en-US"/>
          </a:p>
        </p:txBody>
      </p:sp>
      <p:sp>
        <p:nvSpPr>
          <p:cNvPr id="12" name="Shape 9"/>
          <p:cNvSpPr/>
          <p:nvPr/>
        </p:nvSpPr>
        <p:spPr>
          <a:xfrm>
            <a:off x="4983480" y="1965960"/>
            <a:ext cx="457200" cy="457200"/>
          </a:xfrm>
          <a:prstGeom prst="ellipse">
            <a:avLst/>
          </a:prstGeom>
          <a:solidFill>
            <a:srgbClr val="E6F2EF"/>
          </a:solidFill>
          <a:ln/>
        </p:spPr>
        <p:txBody>
          <a:bodyPr/>
          <a:lstStyle/>
          <a:p>
            <a:endParaRPr lang="en-US"/>
          </a:p>
        </p:txBody>
      </p:sp>
      <p:pic>
        <p:nvPicPr>
          <p:cNvPr id="13" name="Image 1" descr="preencoded.png"/>
          <p:cNvPicPr>
            <a:picLocks noChangeAspect="1"/>
          </p:cNvPicPr>
          <p:nvPr/>
        </p:nvPicPr>
        <p:blipFill>
          <a:blip r:embed="rId4"/>
          <a:stretch>
            <a:fillRect/>
          </a:stretch>
        </p:blipFill>
        <p:spPr>
          <a:xfrm>
            <a:off x="5084064" y="2066544"/>
            <a:ext cx="256032" cy="256032"/>
          </a:xfrm>
          <a:prstGeom prst="rect">
            <a:avLst/>
          </a:prstGeom>
        </p:spPr>
      </p:pic>
      <p:sp>
        <p:nvSpPr>
          <p:cNvPr id="14" name="Text 10"/>
          <p:cNvSpPr/>
          <p:nvPr/>
        </p:nvSpPr>
        <p:spPr>
          <a:xfrm>
            <a:off x="5577840" y="1920240"/>
            <a:ext cx="2926080" cy="320040"/>
          </a:xfrm>
          <a:prstGeom prst="rect">
            <a:avLst/>
          </a:prstGeom>
          <a:noFill/>
          <a:ln/>
        </p:spPr>
        <p:txBody>
          <a:bodyPr wrap="square" lIns="0" tIns="0" rIns="0" bIns="0" rtlCol="0" anchor="ctr"/>
          <a:lstStyle/>
          <a:p>
            <a:pPr marL="0" indent="0">
              <a:buNone/>
            </a:pPr>
            <a:r>
              <a:rPr lang="en-US" sz="1400" b="1" dirty="0">
                <a:solidFill>
                  <a:srgbClr val="024731"/>
                </a:solidFill>
                <a:latin typeface="Open Sans" pitchFamily="34" charset="0"/>
                <a:ea typeface="Open Sans" pitchFamily="34" charset="-122"/>
                <a:cs typeface="Open Sans" pitchFamily="34" charset="-120"/>
              </a:rPr>
              <a:t>Real-World Skills</a:t>
            </a:r>
            <a:endParaRPr lang="en-US" sz="1400" dirty="0"/>
          </a:p>
        </p:txBody>
      </p:sp>
      <p:sp>
        <p:nvSpPr>
          <p:cNvPr id="15" name="Text 11"/>
          <p:cNvSpPr/>
          <p:nvPr/>
        </p:nvSpPr>
        <p:spPr>
          <a:xfrm>
            <a:off x="5577840" y="2240280"/>
            <a:ext cx="2926080" cy="640080"/>
          </a:xfrm>
          <a:prstGeom prst="rect">
            <a:avLst/>
          </a:prstGeom>
          <a:noFill/>
          <a:ln/>
        </p:spPr>
        <p:txBody>
          <a:bodyPr wrap="square" lIns="0" tIns="0" rIns="0" bIns="0" rtlCol="0" anchor="ctr"/>
          <a:lstStyle/>
          <a:p>
            <a:pPr marL="0" indent="0">
              <a:buNone/>
            </a:pPr>
            <a:r>
              <a:rPr lang="en-US" sz="1000" dirty="0">
                <a:solidFill>
                  <a:srgbClr val="6B7280"/>
                </a:solidFill>
                <a:latin typeface="Open Sans" pitchFamily="34" charset="0"/>
                <a:ea typeface="Open Sans" pitchFamily="34" charset="-122"/>
                <a:cs typeface="Open Sans" pitchFamily="34" charset="-120"/>
              </a:rPr>
              <a:t>Build financial models, validate data, interpret ratios. The same workflow used by FP&amp;A analysts, equity researchers, and auditors.</a:t>
            </a:r>
            <a:endParaRPr lang="en-US" sz="1000" dirty="0"/>
          </a:p>
        </p:txBody>
      </p:sp>
      <p:sp>
        <p:nvSpPr>
          <p:cNvPr id="16" name="Shape 12"/>
          <p:cNvSpPr/>
          <p:nvPr/>
        </p:nvSpPr>
        <p:spPr>
          <a:xfrm>
            <a:off x="548640" y="3200400"/>
            <a:ext cx="3931920" cy="1280160"/>
          </a:xfrm>
          <a:prstGeom prst="rect">
            <a:avLst/>
          </a:prstGeom>
          <a:solidFill>
            <a:srgbClr val="FFFFFF"/>
          </a:solidFill>
          <a:ln/>
          <a:effectLst>
            <a:outerShdw blurRad="50800" dist="12700" dir="8100000" algn="bl" rotWithShape="0">
              <a:srgbClr val="000000">
                <a:alpha val="10000"/>
              </a:srgbClr>
            </a:outerShdw>
          </a:effectLst>
        </p:spPr>
        <p:txBody>
          <a:bodyPr/>
          <a:lstStyle/>
          <a:p>
            <a:endParaRPr lang="en-US"/>
          </a:p>
        </p:txBody>
      </p:sp>
      <p:sp>
        <p:nvSpPr>
          <p:cNvPr id="17" name="Shape 13"/>
          <p:cNvSpPr/>
          <p:nvPr/>
        </p:nvSpPr>
        <p:spPr>
          <a:xfrm>
            <a:off x="548640" y="3200400"/>
            <a:ext cx="54864" cy="1280160"/>
          </a:xfrm>
          <a:prstGeom prst="rect">
            <a:avLst/>
          </a:prstGeom>
          <a:solidFill>
            <a:srgbClr val="024731"/>
          </a:solidFill>
          <a:ln/>
        </p:spPr>
        <p:txBody>
          <a:bodyPr/>
          <a:lstStyle/>
          <a:p>
            <a:endParaRPr lang="en-US"/>
          </a:p>
        </p:txBody>
      </p:sp>
      <p:sp>
        <p:nvSpPr>
          <p:cNvPr id="18" name="Shape 14"/>
          <p:cNvSpPr/>
          <p:nvPr/>
        </p:nvSpPr>
        <p:spPr>
          <a:xfrm>
            <a:off x="777240" y="3429000"/>
            <a:ext cx="457200" cy="457200"/>
          </a:xfrm>
          <a:prstGeom prst="ellipse">
            <a:avLst/>
          </a:prstGeom>
          <a:solidFill>
            <a:srgbClr val="E6F2EF"/>
          </a:solidFill>
          <a:ln/>
        </p:spPr>
        <p:txBody>
          <a:bodyPr/>
          <a:lstStyle/>
          <a:p>
            <a:endParaRPr lang="en-US"/>
          </a:p>
        </p:txBody>
      </p:sp>
      <p:pic>
        <p:nvPicPr>
          <p:cNvPr id="19" name="Image 2" descr="preencoded.png"/>
          <p:cNvPicPr>
            <a:picLocks noChangeAspect="1"/>
          </p:cNvPicPr>
          <p:nvPr/>
        </p:nvPicPr>
        <p:blipFill>
          <a:blip r:embed="rId5"/>
          <a:stretch>
            <a:fillRect/>
          </a:stretch>
        </p:blipFill>
        <p:spPr>
          <a:xfrm>
            <a:off x="877824" y="3529584"/>
            <a:ext cx="256032" cy="256032"/>
          </a:xfrm>
          <a:prstGeom prst="rect">
            <a:avLst/>
          </a:prstGeom>
        </p:spPr>
      </p:pic>
      <p:sp>
        <p:nvSpPr>
          <p:cNvPr id="20" name="Text 15"/>
          <p:cNvSpPr/>
          <p:nvPr/>
        </p:nvSpPr>
        <p:spPr>
          <a:xfrm>
            <a:off x="1371600" y="3383280"/>
            <a:ext cx="2926080" cy="320040"/>
          </a:xfrm>
          <a:prstGeom prst="rect">
            <a:avLst/>
          </a:prstGeom>
          <a:noFill/>
          <a:ln/>
        </p:spPr>
        <p:txBody>
          <a:bodyPr wrap="square" lIns="0" tIns="0" rIns="0" bIns="0" rtlCol="0" anchor="ctr"/>
          <a:lstStyle/>
          <a:p>
            <a:pPr marL="0" indent="0">
              <a:buNone/>
            </a:pPr>
            <a:r>
              <a:rPr lang="en-US" sz="1400" b="1" dirty="0">
                <a:solidFill>
                  <a:srgbClr val="024731"/>
                </a:solidFill>
                <a:latin typeface="Open Sans" pitchFamily="34" charset="0"/>
                <a:ea typeface="Open Sans" pitchFamily="34" charset="-122"/>
                <a:cs typeface="Open Sans" pitchFamily="34" charset="-120"/>
              </a:rPr>
              <a:t>Critical AI Literacy</a:t>
            </a:r>
            <a:endParaRPr lang="en-US" sz="1400" dirty="0"/>
          </a:p>
        </p:txBody>
      </p:sp>
      <p:sp>
        <p:nvSpPr>
          <p:cNvPr id="21" name="Text 16"/>
          <p:cNvSpPr/>
          <p:nvPr/>
        </p:nvSpPr>
        <p:spPr>
          <a:xfrm>
            <a:off x="1371600" y="3703320"/>
            <a:ext cx="2926080" cy="640080"/>
          </a:xfrm>
          <a:prstGeom prst="rect">
            <a:avLst/>
          </a:prstGeom>
          <a:noFill/>
          <a:ln/>
        </p:spPr>
        <p:txBody>
          <a:bodyPr wrap="square" lIns="0" tIns="0" rIns="0" bIns="0" rtlCol="0" anchor="ctr"/>
          <a:lstStyle/>
          <a:p>
            <a:pPr marL="0" indent="0">
              <a:buNone/>
            </a:pPr>
            <a:r>
              <a:rPr lang="en-US" sz="1000" dirty="0">
                <a:solidFill>
                  <a:srgbClr val="6B7280"/>
                </a:solidFill>
                <a:latin typeface="Open Sans" pitchFamily="34" charset="0"/>
                <a:ea typeface="Open Sans" pitchFamily="34" charset="-122"/>
                <a:cs typeface="Open Sans" pitchFamily="34" charset="-120"/>
              </a:rPr>
              <a:t>Don’t just use AI — evaluate its output. Identify what it gets right, what it misses, and what only a human expert catches.</a:t>
            </a:r>
            <a:endParaRPr lang="en-US" sz="1000" dirty="0"/>
          </a:p>
        </p:txBody>
      </p:sp>
      <p:sp>
        <p:nvSpPr>
          <p:cNvPr id="22" name="Shape 17"/>
          <p:cNvSpPr/>
          <p:nvPr/>
        </p:nvSpPr>
        <p:spPr>
          <a:xfrm>
            <a:off x="4754880" y="3200400"/>
            <a:ext cx="3931920" cy="1280160"/>
          </a:xfrm>
          <a:prstGeom prst="rect">
            <a:avLst/>
          </a:prstGeom>
          <a:solidFill>
            <a:srgbClr val="FFFFFF"/>
          </a:solidFill>
          <a:ln/>
          <a:effectLst>
            <a:outerShdw blurRad="50800" dist="12700" dir="8100000" algn="bl" rotWithShape="0">
              <a:srgbClr val="000000">
                <a:alpha val="10000"/>
              </a:srgbClr>
            </a:outerShdw>
          </a:effectLst>
        </p:spPr>
        <p:txBody>
          <a:bodyPr/>
          <a:lstStyle/>
          <a:p>
            <a:endParaRPr lang="en-US"/>
          </a:p>
        </p:txBody>
      </p:sp>
      <p:sp>
        <p:nvSpPr>
          <p:cNvPr id="23" name="Shape 18"/>
          <p:cNvSpPr/>
          <p:nvPr/>
        </p:nvSpPr>
        <p:spPr>
          <a:xfrm>
            <a:off x="4754880" y="3200400"/>
            <a:ext cx="54864" cy="1280160"/>
          </a:xfrm>
          <a:prstGeom prst="rect">
            <a:avLst/>
          </a:prstGeom>
          <a:solidFill>
            <a:srgbClr val="024731"/>
          </a:solidFill>
          <a:ln/>
        </p:spPr>
        <p:txBody>
          <a:bodyPr/>
          <a:lstStyle/>
          <a:p>
            <a:endParaRPr lang="en-US"/>
          </a:p>
        </p:txBody>
      </p:sp>
      <p:sp>
        <p:nvSpPr>
          <p:cNvPr id="24" name="Shape 19"/>
          <p:cNvSpPr/>
          <p:nvPr/>
        </p:nvSpPr>
        <p:spPr>
          <a:xfrm>
            <a:off x="4983480" y="3429000"/>
            <a:ext cx="457200" cy="457200"/>
          </a:xfrm>
          <a:prstGeom prst="ellipse">
            <a:avLst/>
          </a:prstGeom>
          <a:solidFill>
            <a:srgbClr val="E6F2EF"/>
          </a:solidFill>
          <a:ln/>
        </p:spPr>
        <p:txBody>
          <a:bodyPr/>
          <a:lstStyle/>
          <a:p>
            <a:endParaRPr lang="en-US"/>
          </a:p>
        </p:txBody>
      </p:sp>
      <p:pic>
        <p:nvPicPr>
          <p:cNvPr id="25" name="Image 3" descr="preencoded.png"/>
          <p:cNvPicPr>
            <a:picLocks noChangeAspect="1"/>
          </p:cNvPicPr>
          <p:nvPr/>
        </p:nvPicPr>
        <p:blipFill>
          <a:blip r:embed="rId6"/>
          <a:stretch>
            <a:fillRect/>
          </a:stretch>
        </p:blipFill>
        <p:spPr>
          <a:xfrm>
            <a:off x="5084064" y="3529584"/>
            <a:ext cx="256032" cy="256032"/>
          </a:xfrm>
          <a:prstGeom prst="rect">
            <a:avLst/>
          </a:prstGeom>
        </p:spPr>
      </p:pic>
      <p:sp>
        <p:nvSpPr>
          <p:cNvPr id="26" name="Text 20"/>
          <p:cNvSpPr/>
          <p:nvPr/>
        </p:nvSpPr>
        <p:spPr>
          <a:xfrm>
            <a:off x="5577840" y="3383280"/>
            <a:ext cx="2926080" cy="320040"/>
          </a:xfrm>
          <a:prstGeom prst="rect">
            <a:avLst/>
          </a:prstGeom>
          <a:noFill/>
          <a:ln/>
        </p:spPr>
        <p:txBody>
          <a:bodyPr wrap="square" lIns="0" tIns="0" rIns="0" bIns="0" rtlCol="0" anchor="ctr"/>
          <a:lstStyle/>
          <a:p>
            <a:pPr marL="0" indent="0">
              <a:buNone/>
            </a:pPr>
            <a:r>
              <a:rPr lang="en-US" sz="1400" b="1" dirty="0">
                <a:solidFill>
                  <a:srgbClr val="024731"/>
                </a:solidFill>
                <a:latin typeface="Open Sans" pitchFamily="34" charset="0"/>
                <a:ea typeface="Open Sans" pitchFamily="34" charset="-122"/>
                <a:cs typeface="Open Sans" pitchFamily="34" charset="-120"/>
              </a:rPr>
              <a:t>Portfolio Artifact</a:t>
            </a:r>
            <a:endParaRPr lang="en-US" sz="1400" dirty="0"/>
          </a:p>
        </p:txBody>
      </p:sp>
      <p:sp>
        <p:nvSpPr>
          <p:cNvPr id="27" name="Text 21"/>
          <p:cNvSpPr/>
          <p:nvPr/>
        </p:nvSpPr>
        <p:spPr>
          <a:xfrm>
            <a:off x="5577840" y="3703320"/>
            <a:ext cx="2926080" cy="640080"/>
          </a:xfrm>
          <a:prstGeom prst="rect">
            <a:avLst/>
          </a:prstGeom>
          <a:noFill/>
          <a:ln/>
        </p:spPr>
        <p:txBody>
          <a:bodyPr wrap="square" lIns="0" tIns="0" rIns="0" bIns="0" rtlCol="0" anchor="ctr"/>
          <a:lstStyle/>
          <a:p>
            <a:pPr marL="0" indent="0">
              <a:buNone/>
            </a:pPr>
            <a:r>
              <a:rPr lang="en-US" sz="1000" dirty="0">
                <a:solidFill>
                  <a:srgbClr val="6B7280"/>
                </a:solidFill>
                <a:latin typeface="Open Sans" pitchFamily="34" charset="0"/>
                <a:ea typeface="Open Sans" pitchFamily="34" charset="-122"/>
                <a:cs typeface="Open Sans" pitchFamily="34" charset="-120"/>
              </a:rPr>
              <a:t>A six-stage deliverable for interviews: repo setup, model, memo, spec, LLM analysis, and executive evaluation.</a:t>
            </a:r>
            <a:endParaRPr lang="en-US" sz="1000" dirty="0"/>
          </a:p>
        </p:txBody>
      </p:sp>
      <p:sp>
        <p:nvSpPr>
          <p:cNvPr id="28" name="Text 22"/>
          <p:cNvSpPr/>
          <p:nvPr/>
        </p:nvSpPr>
        <p:spPr>
          <a:xfrm>
            <a:off x="548640" y="4617720"/>
            <a:ext cx="8046720" cy="365760"/>
          </a:xfrm>
          <a:prstGeom prst="rect">
            <a:avLst/>
          </a:prstGeom>
          <a:noFill/>
          <a:ln/>
        </p:spPr>
        <p:txBody>
          <a:bodyPr wrap="square" rtlCol="0" anchor="ctr"/>
          <a:lstStyle/>
          <a:p>
            <a:pPr marL="0" indent="0">
              <a:buNone/>
            </a:pPr>
            <a:r>
              <a:rPr lang="en-US" sz="1000" i="1" dirty="0">
                <a:solidFill>
                  <a:srgbClr val="6B7280"/>
                </a:solidFill>
                <a:latin typeface="Open Sans" pitchFamily="34" charset="0"/>
                <a:ea typeface="Open Sans" pitchFamily="34" charset="-122"/>
                <a:cs typeface="Open Sans" pitchFamily="34" charset="-120"/>
              </a:rPr>
              <a:t>“Incomplete understanding is normal. Playing with AI tools is more than half the battle. We’re all figuring this out together.”</a:t>
            </a:r>
            <a:r>
              <a:rPr lang="en-US" sz="1000" b="1" dirty="0">
                <a:solidFill>
                  <a:srgbClr val="6B7280"/>
                </a:solidFill>
                <a:latin typeface="Open Sans" pitchFamily="34" charset="0"/>
                <a:ea typeface="Open Sans" pitchFamily="34" charset="-122"/>
                <a:cs typeface="Open Sans" pitchFamily="34" charset="-120"/>
              </a:rPr>
              <a:t>  — Instructor</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74320"/>
            <a:ext cx="8229600" cy="548640"/>
          </a:xfrm>
          <a:prstGeom prst="rect">
            <a:avLst/>
          </a:prstGeom>
          <a:noFill/>
          <a:ln/>
        </p:spPr>
        <p:txBody>
          <a:bodyPr wrap="square" lIns="0" tIns="0" rIns="0" bIns="0" rtlCol="0" anchor="ctr"/>
          <a:lstStyle/>
          <a:p>
            <a:pPr marL="0" indent="0">
              <a:buNone/>
            </a:pPr>
            <a:r>
              <a:rPr lang="en-US" sz="2800" b="1" dirty="0">
                <a:solidFill>
                  <a:srgbClr val="024731"/>
                </a:solidFill>
                <a:latin typeface="Open Sans" pitchFamily="34" charset="0"/>
                <a:ea typeface="Open Sans" pitchFamily="34" charset="-122"/>
                <a:cs typeface="Open Sans" pitchFamily="34" charset="-120"/>
              </a:rPr>
              <a:t>Project Overview — Six Stages</a:t>
            </a:r>
            <a:endParaRPr lang="en-US" sz="2800" dirty="0"/>
          </a:p>
        </p:txBody>
      </p:sp>
      <p:sp>
        <p:nvSpPr>
          <p:cNvPr id="3" name="Text 1"/>
          <p:cNvSpPr/>
          <p:nvPr/>
        </p:nvSpPr>
        <p:spPr>
          <a:xfrm>
            <a:off x="548640" y="777240"/>
            <a:ext cx="8229600" cy="274320"/>
          </a:xfrm>
          <a:prstGeom prst="rect">
            <a:avLst/>
          </a:prstGeom>
          <a:noFill/>
          <a:ln/>
        </p:spPr>
        <p:txBody>
          <a:bodyPr wrap="square" rtlCol="0" anchor="ctr"/>
          <a:lstStyle/>
          <a:p>
            <a:pPr marL="0" indent="0">
              <a:buNone/>
            </a:pPr>
            <a:r>
              <a:rPr lang="en-US" sz="1100" b="1" kern="0" spc="200" dirty="0">
                <a:solidFill>
                  <a:srgbClr val="4DA78F"/>
                </a:solidFill>
                <a:latin typeface="Open Sans" pitchFamily="34" charset="0"/>
                <a:ea typeface="Open Sans" pitchFamily="34" charset="-122"/>
                <a:cs typeface="Open Sans" pitchFamily="34" charset="-120"/>
              </a:rPr>
              <a:t>SETUP  →  TEMPLATE  →  FRAME  →  POPULATE  →  SPECIFY  →  EVALUATE</a:t>
            </a:r>
            <a:endParaRPr lang="en-US" sz="1100" dirty="0"/>
          </a:p>
        </p:txBody>
      </p:sp>
      <p:sp>
        <p:nvSpPr>
          <p:cNvPr id="4" name="Shape 2"/>
          <p:cNvSpPr/>
          <p:nvPr/>
        </p:nvSpPr>
        <p:spPr>
          <a:xfrm>
            <a:off x="548640" y="1234440"/>
            <a:ext cx="2606040" cy="1691640"/>
          </a:xfrm>
          <a:prstGeom prst="rect">
            <a:avLst/>
          </a:prstGeom>
          <a:solidFill>
            <a:srgbClr val="F5F7F6"/>
          </a:solidFill>
          <a:ln/>
          <a:effectLst>
            <a:outerShdw blurRad="50800" dist="12700" dir="8100000" algn="bl" rotWithShape="0">
              <a:srgbClr val="000000">
                <a:alpha val="10000"/>
              </a:srgbClr>
            </a:outerShdw>
          </a:effectLst>
        </p:spPr>
        <p:txBody>
          <a:bodyPr/>
          <a:lstStyle/>
          <a:p>
            <a:endParaRPr lang="en-US"/>
          </a:p>
        </p:txBody>
      </p:sp>
      <p:sp>
        <p:nvSpPr>
          <p:cNvPr id="5" name="Shape 3"/>
          <p:cNvSpPr/>
          <p:nvPr/>
        </p:nvSpPr>
        <p:spPr>
          <a:xfrm>
            <a:off x="685800" y="1371600"/>
            <a:ext cx="384048" cy="384048"/>
          </a:xfrm>
          <a:prstGeom prst="ellipse">
            <a:avLst/>
          </a:prstGeom>
          <a:solidFill>
            <a:srgbClr val="024731"/>
          </a:solidFill>
          <a:ln/>
        </p:spPr>
        <p:txBody>
          <a:bodyPr/>
          <a:lstStyle/>
          <a:p>
            <a:endParaRPr lang="en-US"/>
          </a:p>
        </p:txBody>
      </p:sp>
      <p:sp>
        <p:nvSpPr>
          <p:cNvPr id="6" name="Text 4"/>
          <p:cNvSpPr/>
          <p:nvPr/>
        </p:nvSpPr>
        <p:spPr>
          <a:xfrm>
            <a:off x="685800" y="1371600"/>
            <a:ext cx="384048" cy="384048"/>
          </a:xfrm>
          <a:prstGeom prst="rect">
            <a:avLst/>
          </a:prstGeom>
          <a:noFill/>
          <a:ln/>
        </p:spPr>
        <p:txBody>
          <a:bodyPr wrap="square" rtlCol="0" anchor="ctr"/>
          <a:lstStyle/>
          <a:p>
            <a:pPr marL="0" indent="0" algn="ctr">
              <a:buNone/>
            </a:pPr>
            <a:r>
              <a:rPr lang="en-US" sz="1600" b="1" dirty="0">
                <a:solidFill>
                  <a:srgbClr val="FFFFFF"/>
                </a:solidFill>
                <a:latin typeface="Open Sans" pitchFamily="34" charset="0"/>
                <a:ea typeface="Open Sans" pitchFamily="34" charset="-122"/>
                <a:cs typeface="Open Sans" pitchFamily="34" charset="-120"/>
              </a:rPr>
              <a:t>0</a:t>
            </a:r>
            <a:endParaRPr lang="en-US" sz="1600" dirty="0"/>
          </a:p>
        </p:txBody>
      </p:sp>
      <p:sp>
        <p:nvSpPr>
          <p:cNvPr id="7" name="Text 5"/>
          <p:cNvSpPr/>
          <p:nvPr/>
        </p:nvSpPr>
        <p:spPr>
          <a:xfrm>
            <a:off x="2423160" y="1399032"/>
            <a:ext cx="594360" cy="274320"/>
          </a:xfrm>
          <a:prstGeom prst="rect">
            <a:avLst/>
          </a:prstGeom>
          <a:noFill/>
          <a:ln/>
        </p:spPr>
        <p:txBody>
          <a:bodyPr wrap="square" lIns="0" tIns="0" rIns="0" bIns="0" rtlCol="0" anchor="ctr"/>
          <a:lstStyle/>
          <a:p>
            <a:pPr marL="0" indent="0" algn="r">
              <a:buNone/>
            </a:pPr>
            <a:r>
              <a:rPr lang="en-US" sz="1100" b="1" dirty="0">
                <a:solidFill>
                  <a:srgbClr val="024731"/>
                </a:solidFill>
                <a:latin typeface="Open Sans" pitchFamily="34" charset="0"/>
                <a:ea typeface="Open Sans" pitchFamily="34" charset="-122"/>
                <a:cs typeface="Open Sans" pitchFamily="34" charset="-120"/>
              </a:rPr>
              <a:t>5%</a:t>
            </a:r>
            <a:endParaRPr lang="en-US" sz="1100" dirty="0"/>
          </a:p>
        </p:txBody>
      </p:sp>
      <p:sp>
        <p:nvSpPr>
          <p:cNvPr id="8" name="Text 6"/>
          <p:cNvSpPr/>
          <p:nvPr/>
        </p:nvSpPr>
        <p:spPr>
          <a:xfrm>
            <a:off x="1188720" y="1399032"/>
            <a:ext cx="1371600" cy="320040"/>
          </a:xfrm>
          <a:prstGeom prst="rect">
            <a:avLst/>
          </a:prstGeom>
          <a:noFill/>
          <a:ln/>
        </p:spPr>
        <p:txBody>
          <a:bodyPr wrap="square" lIns="0" tIns="0" rIns="0" bIns="0" rtlCol="0" anchor="ctr"/>
          <a:lstStyle/>
          <a:p>
            <a:pPr marL="0" indent="0">
              <a:buNone/>
            </a:pPr>
            <a:r>
              <a:rPr lang="en-US" sz="1200" b="1" dirty="0">
                <a:solidFill>
                  <a:srgbClr val="0D0D0D"/>
                </a:solidFill>
                <a:latin typeface="Open Sans" pitchFamily="34" charset="0"/>
                <a:ea typeface="Open Sans" pitchFamily="34" charset="-122"/>
                <a:cs typeface="Open Sans" pitchFamily="34" charset="-120"/>
              </a:rPr>
              <a:t>Repo Setup</a:t>
            </a:r>
            <a:endParaRPr lang="en-US" sz="1200" dirty="0"/>
          </a:p>
        </p:txBody>
      </p:sp>
      <p:sp>
        <p:nvSpPr>
          <p:cNvPr id="9" name="Text 7"/>
          <p:cNvSpPr/>
          <p:nvPr/>
        </p:nvSpPr>
        <p:spPr>
          <a:xfrm>
            <a:off x="685800" y="1874520"/>
            <a:ext cx="2331720" cy="914400"/>
          </a:xfrm>
          <a:prstGeom prst="rect">
            <a:avLst/>
          </a:prstGeom>
          <a:noFill/>
          <a:ln/>
        </p:spPr>
        <p:txBody>
          <a:bodyPr wrap="square" lIns="0" tIns="0" rIns="0" bIns="0" rtlCol="0" anchor="ctr"/>
          <a:lstStyle/>
          <a:p>
            <a:pPr marL="0" indent="0">
              <a:buNone/>
            </a:pPr>
            <a:r>
              <a:rPr lang="en-US" sz="1000" dirty="0">
                <a:solidFill>
                  <a:srgbClr val="6B7280"/>
                </a:solidFill>
                <a:latin typeface="Open Sans" pitchFamily="34" charset="0"/>
                <a:ea typeface="Open Sans" pitchFamily="34" charset="-122"/>
                <a:cs typeface="Open Sans" pitchFamily="34" charset="-120"/>
              </a:rPr>
              <a:t>Create GitHub repo with IB-style directory structure. Learn Git, Markdown, READMEs.</a:t>
            </a:r>
            <a:endParaRPr lang="en-US" sz="1000" dirty="0"/>
          </a:p>
        </p:txBody>
      </p:sp>
      <p:sp>
        <p:nvSpPr>
          <p:cNvPr id="10" name="Shape 8"/>
          <p:cNvSpPr/>
          <p:nvPr/>
        </p:nvSpPr>
        <p:spPr>
          <a:xfrm>
            <a:off x="3383280" y="1234440"/>
            <a:ext cx="2606040" cy="1691640"/>
          </a:xfrm>
          <a:prstGeom prst="rect">
            <a:avLst/>
          </a:prstGeom>
          <a:solidFill>
            <a:srgbClr val="F5F7F6"/>
          </a:solidFill>
          <a:ln/>
          <a:effectLst>
            <a:outerShdw blurRad="50800" dist="12700" dir="8100000" algn="bl" rotWithShape="0">
              <a:srgbClr val="000000">
                <a:alpha val="10000"/>
              </a:srgbClr>
            </a:outerShdw>
          </a:effectLst>
        </p:spPr>
        <p:txBody>
          <a:bodyPr/>
          <a:lstStyle/>
          <a:p>
            <a:endParaRPr lang="en-US"/>
          </a:p>
        </p:txBody>
      </p:sp>
      <p:sp>
        <p:nvSpPr>
          <p:cNvPr id="11" name="Shape 9"/>
          <p:cNvSpPr/>
          <p:nvPr/>
        </p:nvSpPr>
        <p:spPr>
          <a:xfrm>
            <a:off x="3520440" y="1371600"/>
            <a:ext cx="384048" cy="384048"/>
          </a:xfrm>
          <a:prstGeom prst="ellipse">
            <a:avLst/>
          </a:prstGeom>
          <a:solidFill>
            <a:srgbClr val="024731"/>
          </a:solidFill>
          <a:ln/>
        </p:spPr>
        <p:txBody>
          <a:bodyPr/>
          <a:lstStyle/>
          <a:p>
            <a:endParaRPr lang="en-US"/>
          </a:p>
        </p:txBody>
      </p:sp>
      <p:sp>
        <p:nvSpPr>
          <p:cNvPr id="12" name="Text 10"/>
          <p:cNvSpPr/>
          <p:nvPr/>
        </p:nvSpPr>
        <p:spPr>
          <a:xfrm>
            <a:off x="3520440" y="1371600"/>
            <a:ext cx="384048" cy="384048"/>
          </a:xfrm>
          <a:prstGeom prst="rect">
            <a:avLst/>
          </a:prstGeom>
          <a:noFill/>
          <a:ln/>
        </p:spPr>
        <p:txBody>
          <a:bodyPr wrap="square" rtlCol="0" anchor="ctr"/>
          <a:lstStyle/>
          <a:p>
            <a:pPr marL="0" indent="0" algn="ctr">
              <a:buNone/>
            </a:pPr>
            <a:r>
              <a:rPr lang="en-US" sz="1600" b="1" dirty="0">
                <a:solidFill>
                  <a:srgbClr val="FFFFFF"/>
                </a:solidFill>
                <a:latin typeface="Open Sans" pitchFamily="34" charset="0"/>
                <a:ea typeface="Open Sans" pitchFamily="34" charset="-122"/>
                <a:cs typeface="Open Sans" pitchFamily="34" charset="-120"/>
              </a:rPr>
              <a:t>1</a:t>
            </a:r>
            <a:endParaRPr lang="en-US" sz="1600" dirty="0"/>
          </a:p>
        </p:txBody>
      </p:sp>
      <p:sp>
        <p:nvSpPr>
          <p:cNvPr id="13" name="Text 11"/>
          <p:cNvSpPr/>
          <p:nvPr/>
        </p:nvSpPr>
        <p:spPr>
          <a:xfrm>
            <a:off x="5257800" y="1399032"/>
            <a:ext cx="594360" cy="274320"/>
          </a:xfrm>
          <a:prstGeom prst="rect">
            <a:avLst/>
          </a:prstGeom>
          <a:noFill/>
          <a:ln/>
        </p:spPr>
        <p:txBody>
          <a:bodyPr wrap="square" lIns="0" tIns="0" rIns="0" bIns="0" rtlCol="0" anchor="ctr"/>
          <a:lstStyle/>
          <a:p>
            <a:pPr marL="0" indent="0" algn="r">
              <a:buNone/>
            </a:pPr>
            <a:r>
              <a:rPr lang="en-US" sz="1100" b="1" dirty="0">
                <a:solidFill>
                  <a:srgbClr val="024731"/>
                </a:solidFill>
                <a:latin typeface="Open Sans" pitchFamily="34" charset="0"/>
                <a:ea typeface="Open Sans" pitchFamily="34" charset="-122"/>
                <a:cs typeface="Open Sans" pitchFamily="34" charset="-120"/>
              </a:rPr>
              <a:t>20%</a:t>
            </a:r>
            <a:endParaRPr lang="en-US" sz="1100" dirty="0"/>
          </a:p>
        </p:txBody>
      </p:sp>
      <p:sp>
        <p:nvSpPr>
          <p:cNvPr id="14" name="Text 12"/>
          <p:cNvSpPr/>
          <p:nvPr/>
        </p:nvSpPr>
        <p:spPr>
          <a:xfrm>
            <a:off x="4023360" y="1399032"/>
            <a:ext cx="1371600" cy="320040"/>
          </a:xfrm>
          <a:prstGeom prst="rect">
            <a:avLst/>
          </a:prstGeom>
          <a:noFill/>
          <a:ln/>
        </p:spPr>
        <p:txBody>
          <a:bodyPr wrap="square" lIns="0" tIns="0" rIns="0" bIns="0" rtlCol="0" anchor="ctr"/>
          <a:lstStyle/>
          <a:p>
            <a:pPr marL="0" indent="0">
              <a:buNone/>
            </a:pPr>
            <a:r>
              <a:rPr lang="en-US" sz="1200" b="1" dirty="0">
                <a:solidFill>
                  <a:srgbClr val="0D0D0D"/>
                </a:solidFill>
                <a:latin typeface="Open Sans" pitchFamily="34" charset="0"/>
                <a:ea typeface="Open Sans" pitchFamily="34" charset="-122"/>
                <a:cs typeface="Open Sans" pitchFamily="34" charset="-120"/>
              </a:rPr>
              <a:t>Ratios Template Upload</a:t>
            </a:r>
            <a:endParaRPr lang="en-US" sz="1200" dirty="0"/>
          </a:p>
        </p:txBody>
      </p:sp>
      <p:sp>
        <p:nvSpPr>
          <p:cNvPr id="15" name="Text 13"/>
          <p:cNvSpPr/>
          <p:nvPr/>
        </p:nvSpPr>
        <p:spPr>
          <a:xfrm>
            <a:off x="3520440" y="1874520"/>
            <a:ext cx="2331720" cy="914400"/>
          </a:xfrm>
          <a:prstGeom prst="rect">
            <a:avLst/>
          </a:prstGeom>
          <a:noFill/>
          <a:ln/>
        </p:spPr>
        <p:txBody>
          <a:bodyPr wrap="square" lIns="0" tIns="0" rIns="0" bIns="0" rtlCol="0" anchor="ctr"/>
          <a:lstStyle/>
          <a:p>
            <a:pPr marL="0" indent="0">
              <a:buNone/>
            </a:pPr>
            <a:r>
              <a:rPr lang="en-US" sz="1000" dirty="0">
                <a:solidFill>
                  <a:srgbClr val="6B7280"/>
                </a:solidFill>
                <a:latin typeface="Open Sans" pitchFamily="34" charset="0"/>
                <a:ea typeface="Open Sans" pitchFamily="34" charset="-122"/>
                <a:cs typeface="Open Sans" pitchFamily="34" charset="-120"/>
              </a:rPr>
              <a:t>Use the provided ratios template. Upload an unmodified copy and study its structure.</a:t>
            </a:r>
            <a:endParaRPr lang="en-US" sz="1000" dirty="0"/>
          </a:p>
        </p:txBody>
      </p:sp>
      <p:sp>
        <p:nvSpPr>
          <p:cNvPr id="16" name="Shape 14"/>
          <p:cNvSpPr/>
          <p:nvPr/>
        </p:nvSpPr>
        <p:spPr>
          <a:xfrm>
            <a:off x="6217920" y="1234440"/>
            <a:ext cx="2606040" cy="1691640"/>
          </a:xfrm>
          <a:prstGeom prst="rect">
            <a:avLst/>
          </a:prstGeom>
          <a:solidFill>
            <a:srgbClr val="F5F7F6"/>
          </a:solidFill>
          <a:ln/>
          <a:effectLst>
            <a:outerShdw blurRad="50800" dist="12700" dir="8100000" algn="bl" rotWithShape="0">
              <a:srgbClr val="000000">
                <a:alpha val="10000"/>
              </a:srgbClr>
            </a:outerShdw>
          </a:effectLst>
        </p:spPr>
        <p:txBody>
          <a:bodyPr/>
          <a:lstStyle/>
          <a:p>
            <a:endParaRPr lang="en-US"/>
          </a:p>
        </p:txBody>
      </p:sp>
      <p:sp>
        <p:nvSpPr>
          <p:cNvPr id="17" name="Shape 15"/>
          <p:cNvSpPr/>
          <p:nvPr/>
        </p:nvSpPr>
        <p:spPr>
          <a:xfrm>
            <a:off x="6355080" y="1371600"/>
            <a:ext cx="384048" cy="384048"/>
          </a:xfrm>
          <a:prstGeom prst="ellipse">
            <a:avLst/>
          </a:prstGeom>
          <a:solidFill>
            <a:srgbClr val="024731"/>
          </a:solidFill>
          <a:ln/>
        </p:spPr>
        <p:txBody>
          <a:bodyPr/>
          <a:lstStyle/>
          <a:p>
            <a:endParaRPr lang="en-US"/>
          </a:p>
        </p:txBody>
      </p:sp>
      <p:sp>
        <p:nvSpPr>
          <p:cNvPr id="18" name="Text 16"/>
          <p:cNvSpPr/>
          <p:nvPr/>
        </p:nvSpPr>
        <p:spPr>
          <a:xfrm>
            <a:off x="6355080" y="1371600"/>
            <a:ext cx="384048" cy="384048"/>
          </a:xfrm>
          <a:prstGeom prst="rect">
            <a:avLst/>
          </a:prstGeom>
          <a:noFill/>
          <a:ln/>
        </p:spPr>
        <p:txBody>
          <a:bodyPr wrap="square" rtlCol="0" anchor="ctr"/>
          <a:lstStyle/>
          <a:p>
            <a:pPr marL="0" indent="0" algn="ctr">
              <a:buNone/>
            </a:pPr>
            <a:r>
              <a:rPr lang="en-US" sz="1600" b="1" dirty="0">
                <a:solidFill>
                  <a:srgbClr val="FFFFFF"/>
                </a:solidFill>
                <a:latin typeface="Open Sans" pitchFamily="34" charset="0"/>
                <a:ea typeface="Open Sans" pitchFamily="34" charset="-122"/>
                <a:cs typeface="Open Sans" pitchFamily="34" charset="-120"/>
              </a:rPr>
              <a:t>2</a:t>
            </a:r>
            <a:endParaRPr lang="en-US" sz="1600" dirty="0"/>
          </a:p>
        </p:txBody>
      </p:sp>
      <p:sp>
        <p:nvSpPr>
          <p:cNvPr id="19" name="Text 17"/>
          <p:cNvSpPr/>
          <p:nvPr/>
        </p:nvSpPr>
        <p:spPr>
          <a:xfrm>
            <a:off x="8092440" y="1399032"/>
            <a:ext cx="594360" cy="274320"/>
          </a:xfrm>
          <a:prstGeom prst="rect">
            <a:avLst/>
          </a:prstGeom>
          <a:noFill/>
          <a:ln/>
        </p:spPr>
        <p:txBody>
          <a:bodyPr wrap="square" lIns="0" tIns="0" rIns="0" bIns="0" rtlCol="0" anchor="ctr"/>
          <a:lstStyle/>
          <a:p>
            <a:pPr marL="0" indent="0" algn="r">
              <a:buNone/>
            </a:pPr>
            <a:r>
              <a:rPr lang="en-US" sz="1100" b="1" dirty="0">
                <a:solidFill>
                  <a:srgbClr val="024731"/>
                </a:solidFill>
                <a:latin typeface="Open Sans" pitchFamily="34" charset="0"/>
                <a:ea typeface="Open Sans" pitchFamily="34" charset="-122"/>
                <a:cs typeface="Open Sans" pitchFamily="34" charset="-120"/>
              </a:rPr>
              <a:t>10%</a:t>
            </a:r>
            <a:endParaRPr lang="en-US" sz="1100" dirty="0"/>
          </a:p>
        </p:txBody>
      </p:sp>
      <p:sp>
        <p:nvSpPr>
          <p:cNvPr id="20" name="Text 18"/>
          <p:cNvSpPr/>
          <p:nvPr/>
        </p:nvSpPr>
        <p:spPr>
          <a:xfrm>
            <a:off x="6858000" y="1399032"/>
            <a:ext cx="1371600" cy="320040"/>
          </a:xfrm>
          <a:prstGeom prst="rect">
            <a:avLst/>
          </a:prstGeom>
          <a:noFill/>
          <a:ln/>
        </p:spPr>
        <p:txBody>
          <a:bodyPr wrap="square" lIns="0" tIns="0" rIns="0" bIns="0" rtlCol="0" anchor="ctr"/>
          <a:lstStyle/>
          <a:p>
            <a:pPr marL="0" indent="0">
              <a:buNone/>
            </a:pPr>
            <a:r>
              <a:rPr lang="en-US" sz="1200" b="1" dirty="0">
                <a:solidFill>
                  <a:srgbClr val="0D0D0D"/>
                </a:solidFill>
                <a:latin typeface="Open Sans" pitchFamily="34" charset="0"/>
                <a:ea typeface="Open Sans" pitchFamily="34" charset="-122"/>
                <a:cs typeface="Open Sans" pitchFamily="34" charset="-120"/>
              </a:rPr>
              <a:t>Company Selection Memo</a:t>
            </a:r>
            <a:endParaRPr lang="en-US" sz="1200" dirty="0"/>
          </a:p>
        </p:txBody>
      </p:sp>
      <p:sp>
        <p:nvSpPr>
          <p:cNvPr id="21" name="Text 19"/>
          <p:cNvSpPr/>
          <p:nvPr/>
        </p:nvSpPr>
        <p:spPr>
          <a:xfrm>
            <a:off x="6355080" y="1874520"/>
            <a:ext cx="2331720" cy="914400"/>
          </a:xfrm>
          <a:prstGeom prst="rect">
            <a:avLst/>
          </a:prstGeom>
          <a:noFill/>
          <a:ln/>
        </p:spPr>
        <p:txBody>
          <a:bodyPr wrap="square" lIns="0" tIns="0" rIns="0" bIns="0" rtlCol="0" anchor="ctr"/>
          <a:lstStyle/>
          <a:p>
            <a:pPr marL="0" indent="0">
              <a:buNone/>
            </a:pPr>
            <a:r>
              <a:rPr lang="en-US" sz="1000" dirty="0">
                <a:solidFill>
                  <a:srgbClr val="6B7280"/>
                </a:solidFill>
                <a:latin typeface="Open Sans" pitchFamily="34" charset="0"/>
                <a:ea typeface="Open Sans" pitchFamily="34" charset="-122"/>
                <a:cs typeface="Open Sans" pitchFamily="34" charset="-120"/>
              </a:rPr>
              <a:t>Choose your company, frame the analysis, identify data sources and hypotheses.</a:t>
            </a:r>
            <a:endParaRPr lang="en-US" sz="1000" dirty="0"/>
          </a:p>
        </p:txBody>
      </p:sp>
      <p:sp>
        <p:nvSpPr>
          <p:cNvPr id="22" name="Shape 20"/>
          <p:cNvSpPr/>
          <p:nvPr/>
        </p:nvSpPr>
        <p:spPr>
          <a:xfrm>
            <a:off x="548640" y="3108960"/>
            <a:ext cx="2606040" cy="1691640"/>
          </a:xfrm>
          <a:prstGeom prst="rect">
            <a:avLst/>
          </a:prstGeom>
          <a:solidFill>
            <a:srgbClr val="F5F7F6"/>
          </a:solidFill>
          <a:ln/>
          <a:effectLst>
            <a:outerShdw blurRad="50800" dist="12700" dir="8100000" algn="bl" rotWithShape="0">
              <a:srgbClr val="000000">
                <a:alpha val="10000"/>
              </a:srgbClr>
            </a:outerShdw>
          </a:effectLst>
        </p:spPr>
        <p:txBody>
          <a:bodyPr/>
          <a:lstStyle/>
          <a:p>
            <a:endParaRPr lang="en-US"/>
          </a:p>
        </p:txBody>
      </p:sp>
      <p:sp>
        <p:nvSpPr>
          <p:cNvPr id="23" name="Shape 21"/>
          <p:cNvSpPr/>
          <p:nvPr/>
        </p:nvSpPr>
        <p:spPr>
          <a:xfrm>
            <a:off x="685800" y="3246120"/>
            <a:ext cx="384048" cy="384048"/>
          </a:xfrm>
          <a:prstGeom prst="ellipse">
            <a:avLst/>
          </a:prstGeom>
          <a:solidFill>
            <a:srgbClr val="024731"/>
          </a:solidFill>
          <a:ln/>
        </p:spPr>
        <p:txBody>
          <a:bodyPr/>
          <a:lstStyle/>
          <a:p>
            <a:endParaRPr lang="en-US"/>
          </a:p>
        </p:txBody>
      </p:sp>
      <p:sp>
        <p:nvSpPr>
          <p:cNvPr id="24" name="Text 22"/>
          <p:cNvSpPr/>
          <p:nvPr/>
        </p:nvSpPr>
        <p:spPr>
          <a:xfrm>
            <a:off x="685800" y="3246120"/>
            <a:ext cx="384048" cy="384048"/>
          </a:xfrm>
          <a:prstGeom prst="rect">
            <a:avLst/>
          </a:prstGeom>
          <a:noFill/>
          <a:ln/>
        </p:spPr>
        <p:txBody>
          <a:bodyPr wrap="square" rtlCol="0" anchor="ctr"/>
          <a:lstStyle/>
          <a:p>
            <a:pPr marL="0" indent="0" algn="ctr">
              <a:buNone/>
            </a:pPr>
            <a:r>
              <a:rPr lang="en-US" sz="1600" b="1" dirty="0">
                <a:solidFill>
                  <a:srgbClr val="FFFFFF"/>
                </a:solidFill>
                <a:latin typeface="Open Sans" pitchFamily="34" charset="0"/>
                <a:ea typeface="Open Sans" pitchFamily="34" charset="-122"/>
                <a:cs typeface="Open Sans" pitchFamily="34" charset="-120"/>
              </a:rPr>
              <a:t>3</a:t>
            </a:r>
            <a:endParaRPr lang="en-US" sz="1600" dirty="0"/>
          </a:p>
        </p:txBody>
      </p:sp>
      <p:sp>
        <p:nvSpPr>
          <p:cNvPr id="25" name="Text 23"/>
          <p:cNvSpPr/>
          <p:nvPr/>
        </p:nvSpPr>
        <p:spPr>
          <a:xfrm>
            <a:off x="2423160" y="3273552"/>
            <a:ext cx="594360" cy="274320"/>
          </a:xfrm>
          <a:prstGeom prst="rect">
            <a:avLst/>
          </a:prstGeom>
          <a:noFill/>
          <a:ln/>
        </p:spPr>
        <p:txBody>
          <a:bodyPr wrap="square" lIns="0" tIns="0" rIns="0" bIns="0" rtlCol="0" anchor="ctr"/>
          <a:lstStyle/>
          <a:p>
            <a:pPr marL="0" indent="0" algn="r">
              <a:buNone/>
            </a:pPr>
            <a:r>
              <a:rPr lang="en-US" sz="1100" b="1" dirty="0">
                <a:solidFill>
                  <a:srgbClr val="024731"/>
                </a:solidFill>
                <a:latin typeface="Open Sans" pitchFamily="34" charset="0"/>
                <a:ea typeface="Open Sans" pitchFamily="34" charset="-122"/>
                <a:cs typeface="Open Sans" pitchFamily="34" charset="-120"/>
              </a:rPr>
              <a:t>20%</a:t>
            </a:r>
            <a:endParaRPr lang="en-US" sz="1100" dirty="0"/>
          </a:p>
        </p:txBody>
      </p:sp>
      <p:sp>
        <p:nvSpPr>
          <p:cNvPr id="26" name="Text 24"/>
          <p:cNvSpPr/>
          <p:nvPr/>
        </p:nvSpPr>
        <p:spPr>
          <a:xfrm>
            <a:off x="1188720" y="3273552"/>
            <a:ext cx="1371600" cy="320040"/>
          </a:xfrm>
          <a:prstGeom prst="rect">
            <a:avLst/>
          </a:prstGeom>
          <a:noFill/>
          <a:ln/>
        </p:spPr>
        <p:txBody>
          <a:bodyPr wrap="square" lIns="0" tIns="0" rIns="0" bIns="0" rtlCol="0" anchor="ctr"/>
          <a:lstStyle/>
          <a:p>
            <a:pPr marL="0" indent="0">
              <a:buNone/>
            </a:pPr>
            <a:r>
              <a:rPr lang="en-US" sz="1200" b="1" dirty="0">
                <a:solidFill>
                  <a:srgbClr val="0D0D0D"/>
                </a:solidFill>
                <a:latin typeface="Open Sans" pitchFamily="34" charset="0"/>
                <a:ea typeface="Open Sans" pitchFamily="34" charset="-122"/>
                <a:cs typeface="Open Sans" pitchFamily="34" charset="-120"/>
              </a:rPr>
              <a:t>Model Population &amp; Validation</a:t>
            </a:r>
            <a:endParaRPr lang="en-US" sz="1200" dirty="0"/>
          </a:p>
        </p:txBody>
      </p:sp>
      <p:sp>
        <p:nvSpPr>
          <p:cNvPr id="27" name="Text 25"/>
          <p:cNvSpPr/>
          <p:nvPr/>
        </p:nvSpPr>
        <p:spPr>
          <a:xfrm>
            <a:off x="685800" y="3749040"/>
            <a:ext cx="2331720" cy="914400"/>
          </a:xfrm>
          <a:prstGeom prst="rect">
            <a:avLst/>
          </a:prstGeom>
          <a:noFill/>
          <a:ln/>
        </p:spPr>
        <p:txBody>
          <a:bodyPr wrap="square" lIns="0" tIns="0" rIns="0" bIns="0" rtlCol="0" anchor="ctr"/>
          <a:lstStyle/>
          <a:p>
            <a:pPr marL="0" indent="0">
              <a:buNone/>
            </a:pPr>
            <a:r>
              <a:rPr lang="en-US" sz="1000" dirty="0">
                <a:solidFill>
                  <a:srgbClr val="6B7280"/>
                </a:solidFill>
                <a:latin typeface="Open Sans" pitchFamily="34" charset="0"/>
                <a:ea typeface="Open Sans" pitchFamily="34" charset="-122"/>
                <a:cs typeface="Open Sans" pitchFamily="34" charset="-120"/>
              </a:rPr>
              <a:t>Populate the template with real financials. Ratios auto-compute. Self-audit with Big 4-style checklist.</a:t>
            </a:r>
            <a:endParaRPr lang="en-US" sz="1000" dirty="0"/>
          </a:p>
        </p:txBody>
      </p:sp>
      <p:sp>
        <p:nvSpPr>
          <p:cNvPr id="28" name="Shape 26"/>
          <p:cNvSpPr/>
          <p:nvPr/>
        </p:nvSpPr>
        <p:spPr>
          <a:xfrm>
            <a:off x="3383280" y="3108960"/>
            <a:ext cx="2606040" cy="1691640"/>
          </a:xfrm>
          <a:prstGeom prst="rect">
            <a:avLst/>
          </a:prstGeom>
          <a:solidFill>
            <a:srgbClr val="F5F7F6"/>
          </a:solidFill>
          <a:ln/>
          <a:effectLst>
            <a:outerShdw blurRad="50800" dist="12700" dir="8100000" algn="bl" rotWithShape="0">
              <a:srgbClr val="000000">
                <a:alpha val="10000"/>
              </a:srgbClr>
            </a:outerShdw>
          </a:effectLst>
        </p:spPr>
        <p:txBody>
          <a:bodyPr/>
          <a:lstStyle/>
          <a:p>
            <a:endParaRPr lang="en-US"/>
          </a:p>
        </p:txBody>
      </p:sp>
      <p:sp>
        <p:nvSpPr>
          <p:cNvPr id="29" name="Shape 27"/>
          <p:cNvSpPr/>
          <p:nvPr/>
        </p:nvSpPr>
        <p:spPr>
          <a:xfrm>
            <a:off x="3520440" y="3246120"/>
            <a:ext cx="384048" cy="384048"/>
          </a:xfrm>
          <a:prstGeom prst="ellipse">
            <a:avLst/>
          </a:prstGeom>
          <a:solidFill>
            <a:srgbClr val="C9A84C"/>
          </a:solidFill>
          <a:ln/>
        </p:spPr>
        <p:txBody>
          <a:bodyPr/>
          <a:lstStyle/>
          <a:p>
            <a:endParaRPr lang="en-US"/>
          </a:p>
        </p:txBody>
      </p:sp>
      <p:sp>
        <p:nvSpPr>
          <p:cNvPr id="30" name="Text 28"/>
          <p:cNvSpPr/>
          <p:nvPr/>
        </p:nvSpPr>
        <p:spPr>
          <a:xfrm>
            <a:off x="3520440" y="3246120"/>
            <a:ext cx="384048" cy="384048"/>
          </a:xfrm>
          <a:prstGeom prst="rect">
            <a:avLst/>
          </a:prstGeom>
          <a:noFill/>
          <a:ln/>
        </p:spPr>
        <p:txBody>
          <a:bodyPr wrap="square" rtlCol="0" anchor="ctr"/>
          <a:lstStyle/>
          <a:p>
            <a:pPr marL="0" indent="0" algn="ctr">
              <a:buNone/>
            </a:pPr>
            <a:r>
              <a:rPr lang="en-US" sz="1600" b="1" dirty="0">
                <a:solidFill>
                  <a:srgbClr val="FFFFFF"/>
                </a:solidFill>
                <a:latin typeface="Open Sans" pitchFamily="34" charset="0"/>
                <a:ea typeface="Open Sans" pitchFamily="34" charset="-122"/>
                <a:cs typeface="Open Sans" pitchFamily="34" charset="-120"/>
              </a:rPr>
              <a:t>4</a:t>
            </a:r>
            <a:endParaRPr lang="en-US" sz="1600" dirty="0"/>
          </a:p>
        </p:txBody>
      </p:sp>
      <p:sp>
        <p:nvSpPr>
          <p:cNvPr id="31" name="Text 29"/>
          <p:cNvSpPr/>
          <p:nvPr/>
        </p:nvSpPr>
        <p:spPr>
          <a:xfrm>
            <a:off x="5257800" y="3273552"/>
            <a:ext cx="594360" cy="274320"/>
          </a:xfrm>
          <a:prstGeom prst="rect">
            <a:avLst/>
          </a:prstGeom>
          <a:noFill/>
          <a:ln/>
        </p:spPr>
        <p:txBody>
          <a:bodyPr wrap="square" lIns="0" tIns="0" rIns="0" bIns="0" rtlCol="0" anchor="ctr"/>
          <a:lstStyle/>
          <a:p>
            <a:pPr marL="0" indent="0" algn="r">
              <a:buNone/>
            </a:pPr>
            <a:r>
              <a:rPr lang="en-US" sz="1100" b="1" dirty="0">
                <a:solidFill>
                  <a:srgbClr val="024731"/>
                </a:solidFill>
                <a:latin typeface="Open Sans" pitchFamily="34" charset="0"/>
                <a:ea typeface="Open Sans" pitchFamily="34" charset="-122"/>
                <a:cs typeface="Open Sans" pitchFamily="34" charset="-120"/>
              </a:rPr>
              <a:t>20%</a:t>
            </a:r>
            <a:endParaRPr lang="en-US" sz="1100" dirty="0"/>
          </a:p>
        </p:txBody>
      </p:sp>
      <p:sp>
        <p:nvSpPr>
          <p:cNvPr id="32" name="Text 30"/>
          <p:cNvSpPr/>
          <p:nvPr/>
        </p:nvSpPr>
        <p:spPr>
          <a:xfrm>
            <a:off x="4023360" y="3273552"/>
            <a:ext cx="1371600" cy="320040"/>
          </a:xfrm>
          <a:prstGeom prst="rect">
            <a:avLst/>
          </a:prstGeom>
          <a:noFill/>
          <a:ln/>
        </p:spPr>
        <p:txBody>
          <a:bodyPr wrap="square" lIns="0" tIns="0" rIns="0" bIns="0" rtlCol="0" anchor="ctr"/>
          <a:lstStyle/>
          <a:p>
            <a:pPr marL="0" indent="0">
              <a:buNone/>
            </a:pPr>
            <a:r>
              <a:rPr lang="en-US" sz="1200" b="1" dirty="0">
                <a:solidFill>
                  <a:srgbClr val="0D0D0D"/>
                </a:solidFill>
                <a:latin typeface="Open Sans" pitchFamily="34" charset="0"/>
                <a:ea typeface="Open Sans" pitchFamily="34" charset="-122"/>
                <a:cs typeface="Open Sans" pitchFamily="34" charset="-120"/>
              </a:rPr>
              <a:t>Technical Specification</a:t>
            </a:r>
            <a:endParaRPr lang="en-US" sz="1200" dirty="0"/>
          </a:p>
        </p:txBody>
      </p:sp>
      <p:sp>
        <p:nvSpPr>
          <p:cNvPr id="33" name="Text 31"/>
          <p:cNvSpPr/>
          <p:nvPr/>
        </p:nvSpPr>
        <p:spPr>
          <a:xfrm>
            <a:off x="3520440" y="3749040"/>
            <a:ext cx="2331720" cy="914400"/>
          </a:xfrm>
          <a:prstGeom prst="rect">
            <a:avLst/>
          </a:prstGeom>
          <a:noFill/>
          <a:ln/>
        </p:spPr>
        <p:txBody>
          <a:bodyPr wrap="square" lIns="0" tIns="0" rIns="0" bIns="0" rtlCol="0" anchor="ctr"/>
          <a:lstStyle/>
          <a:p>
            <a:pPr marL="0" indent="0">
              <a:buNone/>
            </a:pPr>
            <a:r>
              <a:rPr lang="en-US" sz="1000" dirty="0">
                <a:solidFill>
                  <a:srgbClr val="6B7280"/>
                </a:solidFill>
                <a:latin typeface="Open Sans" pitchFamily="34" charset="0"/>
                <a:ea typeface="Open Sans" pitchFamily="34" charset="-122"/>
                <a:cs typeface="Open Sans" pitchFamily="34" charset="-120"/>
              </a:rPr>
              <a:t>Use an LLM to draft a spec defining the model AND the analysis. Edit, refine, and log every prompt.</a:t>
            </a:r>
            <a:endParaRPr lang="en-US" sz="1000" dirty="0"/>
          </a:p>
        </p:txBody>
      </p:sp>
      <p:sp>
        <p:nvSpPr>
          <p:cNvPr id="34" name="Shape 32"/>
          <p:cNvSpPr/>
          <p:nvPr/>
        </p:nvSpPr>
        <p:spPr>
          <a:xfrm>
            <a:off x="6217920" y="3108960"/>
            <a:ext cx="2606040" cy="1691640"/>
          </a:xfrm>
          <a:prstGeom prst="rect">
            <a:avLst/>
          </a:prstGeom>
          <a:solidFill>
            <a:srgbClr val="F5F7F6"/>
          </a:solidFill>
          <a:ln/>
          <a:effectLst>
            <a:outerShdw blurRad="50800" dist="12700" dir="8100000" algn="bl" rotWithShape="0">
              <a:srgbClr val="000000">
                <a:alpha val="10000"/>
              </a:srgbClr>
            </a:outerShdw>
          </a:effectLst>
        </p:spPr>
        <p:txBody>
          <a:bodyPr/>
          <a:lstStyle/>
          <a:p>
            <a:endParaRPr lang="en-US"/>
          </a:p>
        </p:txBody>
      </p:sp>
      <p:sp>
        <p:nvSpPr>
          <p:cNvPr id="35" name="Shape 33"/>
          <p:cNvSpPr/>
          <p:nvPr/>
        </p:nvSpPr>
        <p:spPr>
          <a:xfrm>
            <a:off x="6355080" y="3246120"/>
            <a:ext cx="384048" cy="384048"/>
          </a:xfrm>
          <a:prstGeom prst="ellipse">
            <a:avLst/>
          </a:prstGeom>
          <a:solidFill>
            <a:srgbClr val="024731"/>
          </a:solidFill>
          <a:ln/>
        </p:spPr>
        <p:txBody>
          <a:bodyPr/>
          <a:lstStyle/>
          <a:p>
            <a:endParaRPr lang="en-US"/>
          </a:p>
        </p:txBody>
      </p:sp>
      <p:sp>
        <p:nvSpPr>
          <p:cNvPr id="36" name="Text 34"/>
          <p:cNvSpPr/>
          <p:nvPr/>
        </p:nvSpPr>
        <p:spPr>
          <a:xfrm>
            <a:off x="6355080" y="3246120"/>
            <a:ext cx="384048" cy="384048"/>
          </a:xfrm>
          <a:prstGeom prst="rect">
            <a:avLst/>
          </a:prstGeom>
          <a:noFill/>
          <a:ln/>
        </p:spPr>
        <p:txBody>
          <a:bodyPr wrap="square" rtlCol="0" anchor="ctr"/>
          <a:lstStyle/>
          <a:p>
            <a:pPr marL="0" indent="0" algn="ctr">
              <a:buNone/>
            </a:pPr>
            <a:r>
              <a:rPr lang="en-US" sz="1600" b="1" dirty="0">
                <a:solidFill>
                  <a:srgbClr val="FFFFFF"/>
                </a:solidFill>
                <a:latin typeface="Open Sans" pitchFamily="34" charset="0"/>
                <a:ea typeface="Open Sans" pitchFamily="34" charset="-122"/>
                <a:cs typeface="Open Sans" pitchFamily="34" charset="-120"/>
              </a:rPr>
              <a:t>5</a:t>
            </a:r>
            <a:endParaRPr lang="en-US" sz="1600" dirty="0"/>
          </a:p>
        </p:txBody>
      </p:sp>
      <p:sp>
        <p:nvSpPr>
          <p:cNvPr id="37" name="Text 35"/>
          <p:cNvSpPr/>
          <p:nvPr/>
        </p:nvSpPr>
        <p:spPr>
          <a:xfrm>
            <a:off x="8092440" y="3273552"/>
            <a:ext cx="594360" cy="274320"/>
          </a:xfrm>
          <a:prstGeom prst="rect">
            <a:avLst/>
          </a:prstGeom>
          <a:noFill/>
          <a:ln/>
        </p:spPr>
        <p:txBody>
          <a:bodyPr wrap="square" lIns="0" tIns="0" rIns="0" bIns="0" rtlCol="0" anchor="ctr"/>
          <a:lstStyle/>
          <a:p>
            <a:pPr marL="0" indent="0" algn="r">
              <a:buNone/>
            </a:pPr>
            <a:r>
              <a:rPr lang="en-US" sz="1100" b="1" dirty="0">
                <a:solidFill>
                  <a:srgbClr val="024731"/>
                </a:solidFill>
                <a:latin typeface="Open Sans" pitchFamily="34" charset="0"/>
                <a:ea typeface="Open Sans" pitchFamily="34" charset="-122"/>
                <a:cs typeface="Open Sans" pitchFamily="34" charset="-120"/>
              </a:rPr>
              <a:t>25%</a:t>
            </a:r>
            <a:endParaRPr lang="en-US" sz="1100" dirty="0"/>
          </a:p>
        </p:txBody>
      </p:sp>
      <p:sp>
        <p:nvSpPr>
          <p:cNvPr id="38" name="Text 36"/>
          <p:cNvSpPr/>
          <p:nvPr/>
        </p:nvSpPr>
        <p:spPr>
          <a:xfrm>
            <a:off x="6858000" y="3273552"/>
            <a:ext cx="1371600" cy="320040"/>
          </a:xfrm>
          <a:prstGeom prst="rect">
            <a:avLst/>
          </a:prstGeom>
          <a:noFill/>
          <a:ln/>
        </p:spPr>
        <p:txBody>
          <a:bodyPr wrap="square" lIns="0" tIns="0" rIns="0" bIns="0" rtlCol="0" anchor="ctr"/>
          <a:lstStyle/>
          <a:p>
            <a:pPr marL="0" indent="0">
              <a:buNone/>
            </a:pPr>
            <a:r>
              <a:rPr lang="en-US" sz="1200" b="1" dirty="0">
                <a:solidFill>
                  <a:srgbClr val="0D0D0D"/>
                </a:solidFill>
                <a:latin typeface="Open Sans" pitchFamily="34" charset="0"/>
                <a:ea typeface="Open Sans" pitchFamily="34" charset="-122"/>
                <a:cs typeface="Open Sans" pitchFamily="34" charset="-120"/>
              </a:rPr>
              <a:t>LLM Analysis &amp; Evaluation</a:t>
            </a:r>
            <a:endParaRPr lang="en-US" sz="1200" dirty="0"/>
          </a:p>
        </p:txBody>
      </p:sp>
      <p:sp>
        <p:nvSpPr>
          <p:cNvPr id="39" name="Text 37"/>
          <p:cNvSpPr/>
          <p:nvPr/>
        </p:nvSpPr>
        <p:spPr>
          <a:xfrm>
            <a:off x="6355080" y="3749040"/>
            <a:ext cx="2331720" cy="914400"/>
          </a:xfrm>
          <a:prstGeom prst="rect">
            <a:avLst/>
          </a:prstGeom>
          <a:noFill/>
          <a:ln/>
        </p:spPr>
        <p:txBody>
          <a:bodyPr wrap="square" lIns="0" tIns="0" rIns="0" bIns="0" rtlCol="0" anchor="ctr"/>
          <a:lstStyle/>
          <a:p>
            <a:pPr marL="0" indent="0">
              <a:buNone/>
            </a:pPr>
            <a:r>
              <a:rPr lang="en-US" sz="1000" dirty="0">
                <a:solidFill>
                  <a:srgbClr val="6B7280"/>
                </a:solidFill>
                <a:latin typeface="Open Sans" pitchFamily="34" charset="0"/>
                <a:ea typeface="Open Sans" pitchFamily="34" charset="-122"/>
                <a:cs typeface="Open Sans" pitchFamily="34" charset="-120"/>
              </a:rPr>
              <a:t>Execute the spec, write the full analysis, evaluate AI output, polish your repo. Own the final product.</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024731"/>
        </a:solidFill>
        <a:effectLst/>
      </p:bgPr>
    </p:bg>
    <p:spTree>
      <p:nvGrpSpPr>
        <p:cNvPr id="1" name=""/>
        <p:cNvGrpSpPr/>
        <p:nvPr/>
      </p:nvGrpSpPr>
      <p:grpSpPr>
        <a:xfrm>
          <a:off x="0" y="0"/>
          <a:ext cx="0" cy="0"/>
          <a:chOff x="0" y="0"/>
          <a:chExt cx="0" cy="0"/>
        </a:xfrm>
      </p:grpSpPr>
      <p:sp>
        <p:nvSpPr>
          <p:cNvPr id="2" name="Text 0"/>
          <p:cNvSpPr/>
          <p:nvPr/>
        </p:nvSpPr>
        <p:spPr>
          <a:xfrm>
            <a:off x="548640" y="274320"/>
            <a:ext cx="8229600" cy="548640"/>
          </a:xfrm>
          <a:prstGeom prst="rect">
            <a:avLst/>
          </a:prstGeom>
          <a:noFill/>
          <a:ln/>
        </p:spPr>
        <p:txBody>
          <a:bodyPr wrap="square" lIns="0" tIns="0" rIns="0" bIns="0" rtlCol="0" anchor="ctr"/>
          <a:lstStyle/>
          <a:p>
            <a:pPr marL="0" indent="0">
              <a:buNone/>
            </a:pPr>
            <a:r>
              <a:rPr lang="en-US" sz="2800" b="1" dirty="0">
                <a:solidFill>
                  <a:srgbClr val="FFFFFF"/>
                </a:solidFill>
                <a:latin typeface="Open Sans" pitchFamily="34" charset="0"/>
                <a:ea typeface="Open Sans" pitchFamily="34" charset="-122"/>
                <a:cs typeface="Open Sans" pitchFamily="34" charset="-120"/>
              </a:rPr>
              <a:t>The Spec-Driven Design Arc</a:t>
            </a:r>
            <a:endParaRPr lang="en-US" sz="2800" dirty="0"/>
          </a:p>
        </p:txBody>
      </p:sp>
      <p:sp>
        <p:nvSpPr>
          <p:cNvPr id="3" name="Shape 1"/>
          <p:cNvSpPr/>
          <p:nvPr/>
        </p:nvSpPr>
        <p:spPr>
          <a:xfrm>
            <a:off x="548640" y="1051560"/>
            <a:ext cx="3840480" cy="365760"/>
          </a:xfrm>
          <a:prstGeom prst="rect">
            <a:avLst/>
          </a:prstGeom>
          <a:solidFill>
            <a:srgbClr val="4DA78F">
              <a:alpha val="70000"/>
            </a:srgbClr>
          </a:solidFill>
          <a:ln/>
        </p:spPr>
        <p:txBody>
          <a:bodyPr/>
          <a:lstStyle/>
          <a:p>
            <a:endParaRPr lang="en-US"/>
          </a:p>
        </p:txBody>
      </p:sp>
      <p:sp>
        <p:nvSpPr>
          <p:cNvPr id="4" name="Text 2"/>
          <p:cNvSpPr/>
          <p:nvPr/>
        </p:nvSpPr>
        <p:spPr>
          <a:xfrm>
            <a:off x="548640" y="1051560"/>
            <a:ext cx="3840480" cy="365760"/>
          </a:xfrm>
          <a:prstGeom prst="rect">
            <a:avLst/>
          </a:prstGeom>
          <a:noFill/>
          <a:ln/>
        </p:spPr>
        <p:txBody>
          <a:bodyPr wrap="square" rtlCol="0" anchor="ctr"/>
          <a:lstStyle/>
          <a:p>
            <a:pPr marL="0" indent="0" algn="ctr">
              <a:buNone/>
            </a:pPr>
            <a:r>
              <a:rPr lang="en-US" sz="1100" b="1" kern="0" spc="150" dirty="0">
                <a:solidFill>
                  <a:srgbClr val="FFFFFF"/>
                </a:solidFill>
                <a:latin typeface="Open Sans" pitchFamily="34" charset="0"/>
                <a:ea typeface="Open Sans" pitchFamily="34" charset="-122"/>
                <a:cs typeface="Open Sans" pitchFamily="34" charset="-120"/>
              </a:rPr>
              <a:t>TACIT KNOWLEDGE ACQUISITION</a:t>
            </a:r>
            <a:endParaRPr lang="en-US" sz="1100" dirty="0"/>
          </a:p>
        </p:txBody>
      </p:sp>
      <p:sp>
        <p:nvSpPr>
          <p:cNvPr id="5" name="Shape 3"/>
          <p:cNvSpPr/>
          <p:nvPr/>
        </p:nvSpPr>
        <p:spPr>
          <a:xfrm>
            <a:off x="4754880" y="1051560"/>
            <a:ext cx="3840480" cy="365760"/>
          </a:xfrm>
          <a:prstGeom prst="rect">
            <a:avLst/>
          </a:prstGeom>
          <a:solidFill>
            <a:srgbClr val="C9A84C">
              <a:alpha val="70000"/>
            </a:srgbClr>
          </a:solidFill>
          <a:ln/>
        </p:spPr>
        <p:txBody>
          <a:bodyPr/>
          <a:lstStyle/>
          <a:p>
            <a:endParaRPr lang="en-US"/>
          </a:p>
        </p:txBody>
      </p:sp>
      <p:sp>
        <p:nvSpPr>
          <p:cNvPr id="6" name="Text 4"/>
          <p:cNvSpPr/>
          <p:nvPr/>
        </p:nvSpPr>
        <p:spPr>
          <a:xfrm>
            <a:off x="4754880" y="1051560"/>
            <a:ext cx="3840480" cy="365760"/>
          </a:xfrm>
          <a:prstGeom prst="rect">
            <a:avLst/>
          </a:prstGeom>
          <a:noFill/>
          <a:ln/>
        </p:spPr>
        <p:txBody>
          <a:bodyPr wrap="square" rtlCol="0" anchor="ctr"/>
          <a:lstStyle/>
          <a:p>
            <a:pPr marL="0" indent="0" algn="ctr">
              <a:buNone/>
            </a:pPr>
            <a:r>
              <a:rPr lang="en-US" sz="1100" b="1" kern="0" spc="150" dirty="0">
                <a:solidFill>
                  <a:srgbClr val="FFFFFF"/>
                </a:solidFill>
                <a:latin typeface="Open Sans" pitchFamily="34" charset="0"/>
                <a:ea typeface="Open Sans" pitchFamily="34" charset="-122"/>
                <a:cs typeface="Open Sans" pitchFamily="34" charset="-120"/>
              </a:rPr>
              <a:t>KNOWLEDGE EXTERNALIZATION</a:t>
            </a:r>
            <a:endParaRPr lang="en-US" sz="1100" dirty="0"/>
          </a:p>
        </p:txBody>
      </p:sp>
      <p:sp>
        <p:nvSpPr>
          <p:cNvPr id="7" name="Shape 5"/>
          <p:cNvSpPr/>
          <p:nvPr/>
        </p:nvSpPr>
        <p:spPr>
          <a:xfrm>
            <a:off x="731520" y="1737360"/>
            <a:ext cx="502920" cy="502920"/>
          </a:xfrm>
          <a:prstGeom prst="ellipse">
            <a:avLst/>
          </a:prstGeom>
          <a:solidFill>
            <a:srgbClr val="4DA78F"/>
          </a:solidFill>
          <a:ln/>
        </p:spPr>
        <p:txBody>
          <a:bodyPr/>
          <a:lstStyle/>
          <a:p>
            <a:endParaRPr lang="en-US"/>
          </a:p>
        </p:txBody>
      </p:sp>
      <p:sp>
        <p:nvSpPr>
          <p:cNvPr id="8" name="Text 6"/>
          <p:cNvSpPr/>
          <p:nvPr/>
        </p:nvSpPr>
        <p:spPr>
          <a:xfrm>
            <a:off x="731520" y="1737360"/>
            <a:ext cx="502920" cy="502920"/>
          </a:xfrm>
          <a:prstGeom prst="rect">
            <a:avLst/>
          </a:prstGeom>
          <a:noFill/>
          <a:ln/>
        </p:spPr>
        <p:txBody>
          <a:bodyPr wrap="square" rtlCol="0" anchor="ctr"/>
          <a:lstStyle/>
          <a:p>
            <a:pPr marL="0" indent="0" algn="ctr">
              <a:buNone/>
            </a:pPr>
            <a:r>
              <a:rPr lang="en-US" sz="1800" b="1" dirty="0">
                <a:solidFill>
                  <a:srgbClr val="024731"/>
                </a:solidFill>
                <a:latin typeface="Open Sans" pitchFamily="34" charset="0"/>
                <a:ea typeface="Open Sans" pitchFamily="34" charset="-122"/>
                <a:cs typeface="Open Sans" pitchFamily="34" charset="-120"/>
              </a:rPr>
              <a:t>0</a:t>
            </a:r>
            <a:endParaRPr lang="en-US" sz="1800" dirty="0"/>
          </a:p>
        </p:txBody>
      </p:sp>
      <p:sp>
        <p:nvSpPr>
          <p:cNvPr id="9" name="Shape 7"/>
          <p:cNvSpPr/>
          <p:nvPr/>
        </p:nvSpPr>
        <p:spPr>
          <a:xfrm>
            <a:off x="1280160" y="1988820"/>
            <a:ext cx="777240" cy="0"/>
          </a:xfrm>
          <a:prstGeom prst="line">
            <a:avLst/>
          </a:prstGeom>
          <a:noFill/>
          <a:ln w="25400">
            <a:solidFill>
              <a:srgbClr val="4DA78F"/>
            </a:solidFill>
            <a:prstDash val="dash"/>
          </a:ln>
        </p:spPr>
        <p:txBody>
          <a:bodyPr/>
          <a:lstStyle/>
          <a:p>
            <a:endParaRPr lang="en-US"/>
          </a:p>
        </p:txBody>
      </p:sp>
      <p:sp>
        <p:nvSpPr>
          <p:cNvPr id="10" name="Text 8"/>
          <p:cNvSpPr/>
          <p:nvPr/>
        </p:nvSpPr>
        <p:spPr>
          <a:xfrm>
            <a:off x="457200" y="2331720"/>
            <a:ext cx="1051560" cy="502920"/>
          </a:xfrm>
          <a:prstGeom prst="rect">
            <a:avLst/>
          </a:prstGeom>
          <a:noFill/>
          <a:ln/>
        </p:spPr>
        <p:txBody>
          <a:bodyPr wrap="square" rtlCol="0" anchor="ctr"/>
          <a:lstStyle/>
          <a:p>
            <a:pPr marL="0" indent="0" algn="ctr">
              <a:buNone/>
            </a:pPr>
            <a:r>
              <a:rPr lang="en-US" sz="1000" dirty="0">
                <a:solidFill>
                  <a:srgbClr val="B8DDD1"/>
                </a:solidFill>
                <a:latin typeface="Open Sans" pitchFamily="34" charset="0"/>
                <a:ea typeface="Open Sans" pitchFamily="34" charset="-122"/>
                <a:cs typeface="Open Sans" pitchFamily="34" charset="-120"/>
              </a:rPr>
              <a:t>Set up the</a:t>
            </a:r>
            <a:endParaRPr lang="en-US" sz="1000" dirty="0"/>
          </a:p>
          <a:p>
            <a:pPr marL="0" indent="0" algn="ctr">
              <a:buNone/>
            </a:pPr>
            <a:r>
              <a:rPr lang="en-US" sz="1000" dirty="0">
                <a:solidFill>
                  <a:srgbClr val="B8DDD1"/>
                </a:solidFill>
                <a:latin typeface="Open Sans" pitchFamily="34" charset="0"/>
                <a:ea typeface="Open Sans" pitchFamily="34" charset="-122"/>
                <a:cs typeface="Open Sans" pitchFamily="34" charset="-120"/>
              </a:rPr>
              <a:t>workspace</a:t>
            </a:r>
            <a:endParaRPr lang="en-US" sz="1000" dirty="0"/>
          </a:p>
        </p:txBody>
      </p:sp>
      <p:sp>
        <p:nvSpPr>
          <p:cNvPr id="11" name="Text 9"/>
          <p:cNvSpPr/>
          <p:nvPr/>
        </p:nvSpPr>
        <p:spPr>
          <a:xfrm>
            <a:off x="457200" y="2834640"/>
            <a:ext cx="1051560" cy="320040"/>
          </a:xfrm>
          <a:prstGeom prst="rect">
            <a:avLst/>
          </a:prstGeom>
          <a:noFill/>
          <a:ln/>
        </p:spPr>
        <p:txBody>
          <a:bodyPr wrap="square" rtlCol="0" anchor="ctr"/>
          <a:lstStyle/>
          <a:p>
            <a:pPr marL="0" indent="0" algn="ctr">
              <a:buNone/>
            </a:pPr>
            <a:r>
              <a:rPr lang="en-US" sz="900" i="1" dirty="0">
                <a:solidFill>
                  <a:srgbClr val="4DA78F"/>
                </a:solidFill>
                <a:latin typeface="Open Sans" pitchFamily="34" charset="0"/>
                <a:ea typeface="Open Sans" pitchFamily="34" charset="-122"/>
                <a:cs typeface="Open Sans" pitchFamily="34" charset="-120"/>
              </a:rPr>
              <a:t>“We organized it”</a:t>
            </a:r>
            <a:endParaRPr lang="en-US" sz="900" dirty="0"/>
          </a:p>
        </p:txBody>
      </p:sp>
      <p:sp>
        <p:nvSpPr>
          <p:cNvPr id="12" name="Shape 10"/>
          <p:cNvSpPr/>
          <p:nvPr/>
        </p:nvSpPr>
        <p:spPr>
          <a:xfrm>
            <a:off x="2103120" y="1737360"/>
            <a:ext cx="502920" cy="502920"/>
          </a:xfrm>
          <a:prstGeom prst="ellipse">
            <a:avLst/>
          </a:prstGeom>
          <a:solidFill>
            <a:srgbClr val="4DA78F"/>
          </a:solidFill>
          <a:ln/>
        </p:spPr>
        <p:txBody>
          <a:bodyPr/>
          <a:lstStyle/>
          <a:p>
            <a:endParaRPr lang="en-US"/>
          </a:p>
        </p:txBody>
      </p:sp>
      <p:sp>
        <p:nvSpPr>
          <p:cNvPr id="13" name="Text 11"/>
          <p:cNvSpPr/>
          <p:nvPr/>
        </p:nvSpPr>
        <p:spPr>
          <a:xfrm>
            <a:off x="2103120" y="1737360"/>
            <a:ext cx="502920" cy="502920"/>
          </a:xfrm>
          <a:prstGeom prst="rect">
            <a:avLst/>
          </a:prstGeom>
          <a:noFill/>
          <a:ln/>
        </p:spPr>
        <p:txBody>
          <a:bodyPr wrap="square" rtlCol="0" anchor="ctr"/>
          <a:lstStyle/>
          <a:p>
            <a:pPr marL="0" indent="0" algn="ctr">
              <a:buNone/>
            </a:pPr>
            <a:r>
              <a:rPr lang="en-US" sz="1800" b="1" dirty="0">
                <a:solidFill>
                  <a:srgbClr val="024731"/>
                </a:solidFill>
                <a:latin typeface="Open Sans" pitchFamily="34" charset="0"/>
                <a:ea typeface="Open Sans" pitchFamily="34" charset="-122"/>
                <a:cs typeface="Open Sans" pitchFamily="34" charset="-120"/>
              </a:rPr>
              <a:t>1</a:t>
            </a:r>
            <a:endParaRPr lang="en-US" sz="1800" dirty="0"/>
          </a:p>
        </p:txBody>
      </p:sp>
      <p:sp>
        <p:nvSpPr>
          <p:cNvPr id="14" name="Shape 12"/>
          <p:cNvSpPr/>
          <p:nvPr/>
        </p:nvSpPr>
        <p:spPr>
          <a:xfrm>
            <a:off x="2651760" y="1988820"/>
            <a:ext cx="777240" cy="0"/>
          </a:xfrm>
          <a:prstGeom prst="line">
            <a:avLst/>
          </a:prstGeom>
          <a:noFill/>
          <a:ln w="25400">
            <a:solidFill>
              <a:srgbClr val="4DA78F"/>
            </a:solidFill>
            <a:prstDash val="dash"/>
          </a:ln>
        </p:spPr>
        <p:txBody>
          <a:bodyPr/>
          <a:lstStyle/>
          <a:p>
            <a:endParaRPr lang="en-US"/>
          </a:p>
        </p:txBody>
      </p:sp>
      <p:sp>
        <p:nvSpPr>
          <p:cNvPr id="15" name="Text 13"/>
          <p:cNvSpPr/>
          <p:nvPr/>
        </p:nvSpPr>
        <p:spPr>
          <a:xfrm>
            <a:off x="1828800" y="2331720"/>
            <a:ext cx="1051560" cy="502920"/>
          </a:xfrm>
          <a:prstGeom prst="rect">
            <a:avLst/>
          </a:prstGeom>
          <a:noFill/>
          <a:ln/>
        </p:spPr>
        <p:txBody>
          <a:bodyPr wrap="square" rtlCol="0" anchor="ctr"/>
          <a:lstStyle/>
          <a:p>
            <a:pPr marL="0" indent="0" algn="ctr">
              <a:buNone/>
            </a:pPr>
            <a:r>
              <a:rPr lang="en-US" sz="1000" dirty="0">
                <a:solidFill>
                  <a:srgbClr val="B8DDD1"/>
                </a:solidFill>
                <a:latin typeface="Open Sans" pitchFamily="34" charset="0"/>
                <a:ea typeface="Open Sans" pitchFamily="34" charset="-122"/>
                <a:cs typeface="Open Sans" pitchFamily="34" charset="-120"/>
              </a:rPr>
              <a:t>Study the</a:t>
            </a:r>
            <a:endParaRPr lang="en-US" sz="1000" dirty="0"/>
          </a:p>
          <a:p>
            <a:pPr marL="0" indent="0" algn="ctr">
              <a:buNone/>
            </a:pPr>
            <a:r>
              <a:rPr lang="en-US" sz="1000" dirty="0">
                <a:solidFill>
                  <a:srgbClr val="B8DDD1"/>
                </a:solidFill>
                <a:latin typeface="Open Sans" pitchFamily="34" charset="0"/>
                <a:ea typeface="Open Sans" pitchFamily="34" charset="-122"/>
                <a:cs typeface="Open Sans" pitchFamily="34" charset="-120"/>
              </a:rPr>
              <a:t>container</a:t>
            </a:r>
            <a:endParaRPr lang="en-US" sz="1000" dirty="0"/>
          </a:p>
        </p:txBody>
      </p:sp>
      <p:sp>
        <p:nvSpPr>
          <p:cNvPr id="16" name="Text 14"/>
          <p:cNvSpPr/>
          <p:nvPr/>
        </p:nvSpPr>
        <p:spPr>
          <a:xfrm>
            <a:off x="1828800" y="2834640"/>
            <a:ext cx="1051560" cy="320040"/>
          </a:xfrm>
          <a:prstGeom prst="rect">
            <a:avLst/>
          </a:prstGeom>
          <a:noFill/>
          <a:ln/>
        </p:spPr>
        <p:txBody>
          <a:bodyPr wrap="square" rtlCol="0" anchor="ctr"/>
          <a:lstStyle/>
          <a:p>
            <a:pPr marL="0" indent="0" algn="ctr">
              <a:buNone/>
            </a:pPr>
            <a:r>
              <a:rPr lang="en-US" sz="900" i="1" dirty="0">
                <a:solidFill>
                  <a:srgbClr val="4DA78F"/>
                </a:solidFill>
                <a:latin typeface="Open Sans" pitchFamily="34" charset="0"/>
                <a:ea typeface="Open Sans" pitchFamily="34" charset="-122"/>
                <a:cs typeface="Open Sans" pitchFamily="34" charset="-120"/>
              </a:rPr>
              <a:t>“I see how it’s built”</a:t>
            </a:r>
            <a:endParaRPr lang="en-US" sz="900" dirty="0"/>
          </a:p>
        </p:txBody>
      </p:sp>
      <p:sp>
        <p:nvSpPr>
          <p:cNvPr id="17" name="Shape 15"/>
          <p:cNvSpPr/>
          <p:nvPr/>
        </p:nvSpPr>
        <p:spPr>
          <a:xfrm>
            <a:off x="3474720" y="1737360"/>
            <a:ext cx="502920" cy="502920"/>
          </a:xfrm>
          <a:prstGeom prst="ellipse">
            <a:avLst/>
          </a:prstGeom>
          <a:solidFill>
            <a:srgbClr val="4DA78F"/>
          </a:solidFill>
          <a:ln/>
        </p:spPr>
        <p:txBody>
          <a:bodyPr/>
          <a:lstStyle/>
          <a:p>
            <a:endParaRPr lang="en-US"/>
          </a:p>
        </p:txBody>
      </p:sp>
      <p:sp>
        <p:nvSpPr>
          <p:cNvPr id="18" name="Text 16"/>
          <p:cNvSpPr/>
          <p:nvPr/>
        </p:nvSpPr>
        <p:spPr>
          <a:xfrm>
            <a:off x="3474720" y="1737360"/>
            <a:ext cx="502920" cy="502920"/>
          </a:xfrm>
          <a:prstGeom prst="rect">
            <a:avLst/>
          </a:prstGeom>
          <a:noFill/>
          <a:ln/>
        </p:spPr>
        <p:txBody>
          <a:bodyPr wrap="square" rtlCol="0" anchor="ctr"/>
          <a:lstStyle/>
          <a:p>
            <a:pPr marL="0" indent="0" algn="ctr">
              <a:buNone/>
            </a:pPr>
            <a:r>
              <a:rPr lang="en-US" sz="1800" b="1" dirty="0">
                <a:solidFill>
                  <a:srgbClr val="024731"/>
                </a:solidFill>
                <a:latin typeface="Open Sans" pitchFamily="34" charset="0"/>
                <a:ea typeface="Open Sans" pitchFamily="34" charset="-122"/>
                <a:cs typeface="Open Sans" pitchFamily="34" charset="-120"/>
              </a:rPr>
              <a:t>2</a:t>
            </a:r>
            <a:endParaRPr lang="en-US" sz="1800" dirty="0"/>
          </a:p>
        </p:txBody>
      </p:sp>
      <p:sp>
        <p:nvSpPr>
          <p:cNvPr id="19" name="Shape 17"/>
          <p:cNvSpPr/>
          <p:nvPr/>
        </p:nvSpPr>
        <p:spPr>
          <a:xfrm>
            <a:off x="4023360" y="1988820"/>
            <a:ext cx="777240" cy="0"/>
          </a:xfrm>
          <a:prstGeom prst="line">
            <a:avLst/>
          </a:prstGeom>
          <a:noFill/>
          <a:ln w="25400">
            <a:solidFill>
              <a:srgbClr val="4DA78F"/>
            </a:solidFill>
            <a:prstDash val="dash"/>
          </a:ln>
        </p:spPr>
        <p:txBody>
          <a:bodyPr/>
          <a:lstStyle/>
          <a:p>
            <a:endParaRPr lang="en-US"/>
          </a:p>
        </p:txBody>
      </p:sp>
      <p:sp>
        <p:nvSpPr>
          <p:cNvPr id="20" name="Text 18"/>
          <p:cNvSpPr/>
          <p:nvPr/>
        </p:nvSpPr>
        <p:spPr>
          <a:xfrm>
            <a:off x="3200400" y="2331720"/>
            <a:ext cx="1051560" cy="502920"/>
          </a:xfrm>
          <a:prstGeom prst="rect">
            <a:avLst/>
          </a:prstGeom>
          <a:noFill/>
          <a:ln/>
        </p:spPr>
        <p:txBody>
          <a:bodyPr wrap="square" rtlCol="0" anchor="ctr"/>
          <a:lstStyle/>
          <a:p>
            <a:pPr marL="0" indent="0" algn="ctr">
              <a:buNone/>
            </a:pPr>
            <a:r>
              <a:rPr lang="en-US" sz="1000" dirty="0">
                <a:solidFill>
                  <a:srgbClr val="B8DDD1"/>
                </a:solidFill>
                <a:latin typeface="Open Sans" pitchFamily="34" charset="0"/>
                <a:ea typeface="Open Sans" pitchFamily="34" charset="-122"/>
                <a:cs typeface="Open Sans" pitchFamily="34" charset="-120"/>
              </a:rPr>
              <a:t>Frame the</a:t>
            </a:r>
            <a:endParaRPr lang="en-US" sz="1000" dirty="0"/>
          </a:p>
          <a:p>
            <a:pPr marL="0" indent="0" algn="ctr">
              <a:buNone/>
            </a:pPr>
            <a:r>
              <a:rPr lang="en-US" sz="1000" dirty="0">
                <a:solidFill>
                  <a:srgbClr val="B8DDD1"/>
                </a:solidFill>
                <a:latin typeface="Open Sans" pitchFamily="34" charset="0"/>
                <a:ea typeface="Open Sans" pitchFamily="34" charset="-122"/>
                <a:cs typeface="Open Sans" pitchFamily="34" charset="-120"/>
              </a:rPr>
              <a:t>analysis</a:t>
            </a:r>
            <a:endParaRPr lang="en-US" sz="1000" dirty="0"/>
          </a:p>
        </p:txBody>
      </p:sp>
      <p:sp>
        <p:nvSpPr>
          <p:cNvPr id="21" name="Text 19"/>
          <p:cNvSpPr/>
          <p:nvPr/>
        </p:nvSpPr>
        <p:spPr>
          <a:xfrm>
            <a:off x="3200400" y="2834640"/>
            <a:ext cx="1051560" cy="320040"/>
          </a:xfrm>
          <a:prstGeom prst="rect">
            <a:avLst/>
          </a:prstGeom>
          <a:noFill/>
          <a:ln/>
        </p:spPr>
        <p:txBody>
          <a:bodyPr wrap="square" rtlCol="0" anchor="ctr"/>
          <a:lstStyle/>
          <a:p>
            <a:pPr marL="0" indent="0" algn="ctr">
              <a:buNone/>
            </a:pPr>
            <a:r>
              <a:rPr lang="en-US" sz="900" i="1" dirty="0">
                <a:solidFill>
                  <a:srgbClr val="4DA78F"/>
                </a:solidFill>
                <a:latin typeface="Open Sans" pitchFamily="34" charset="0"/>
                <a:ea typeface="Open Sans" pitchFamily="34" charset="-122"/>
                <a:cs typeface="Open Sans" pitchFamily="34" charset="-120"/>
              </a:rPr>
              <a:t>“I chose why”</a:t>
            </a:r>
            <a:endParaRPr lang="en-US" sz="900" dirty="0"/>
          </a:p>
        </p:txBody>
      </p:sp>
      <p:sp>
        <p:nvSpPr>
          <p:cNvPr id="22" name="Shape 20"/>
          <p:cNvSpPr/>
          <p:nvPr/>
        </p:nvSpPr>
        <p:spPr>
          <a:xfrm>
            <a:off x="4846320" y="1737360"/>
            <a:ext cx="502920" cy="502920"/>
          </a:xfrm>
          <a:prstGeom prst="ellipse">
            <a:avLst/>
          </a:prstGeom>
          <a:solidFill>
            <a:srgbClr val="4DA78F"/>
          </a:solidFill>
          <a:ln/>
        </p:spPr>
        <p:txBody>
          <a:bodyPr/>
          <a:lstStyle/>
          <a:p>
            <a:endParaRPr lang="en-US"/>
          </a:p>
        </p:txBody>
      </p:sp>
      <p:sp>
        <p:nvSpPr>
          <p:cNvPr id="23" name="Text 21"/>
          <p:cNvSpPr/>
          <p:nvPr/>
        </p:nvSpPr>
        <p:spPr>
          <a:xfrm>
            <a:off x="4846320" y="1737360"/>
            <a:ext cx="502920" cy="502920"/>
          </a:xfrm>
          <a:prstGeom prst="rect">
            <a:avLst/>
          </a:prstGeom>
          <a:noFill/>
          <a:ln/>
        </p:spPr>
        <p:txBody>
          <a:bodyPr wrap="square" rtlCol="0" anchor="ctr"/>
          <a:lstStyle/>
          <a:p>
            <a:pPr marL="0" indent="0" algn="ctr">
              <a:buNone/>
            </a:pPr>
            <a:r>
              <a:rPr lang="en-US" sz="1800" b="1" dirty="0">
                <a:solidFill>
                  <a:srgbClr val="024731"/>
                </a:solidFill>
                <a:latin typeface="Open Sans" pitchFamily="34" charset="0"/>
                <a:ea typeface="Open Sans" pitchFamily="34" charset="-122"/>
                <a:cs typeface="Open Sans" pitchFamily="34" charset="-120"/>
              </a:rPr>
              <a:t>3</a:t>
            </a:r>
            <a:endParaRPr lang="en-US" sz="1800" dirty="0"/>
          </a:p>
        </p:txBody>
      </p:sp>
      <p:sp>
        <p:nvSpPr>
          <p:cNvPr id="24" name="Shape 22"/>
          <p:cNvSpPr/>
          <p:nvPr/>
        </p:nvSpPr>
        <p:spPr>
          <a:xfrm>
            <a:off x="5394960" y="1988820"/>
            <a:ext cx="777240" cy="0"/>
          </a:xfrm>
          <a:prstGeom prst="line">
            <a:avLst/>
          </a:prstGeom>
          <a:noFill/>
          <a:ln w="25400">
            <a:solidFill>
              <a:srgbClr val="4DA78F"/>
            </a:solidFill>
            <a:prstDash val="dash"/>
          </a:ln>
        </p:spPr>
        <p:txBody>
          <a:bodyPr/>
          <a:lstStyle/>
          <a:p>
            <a:endParaRPr lang="en-US"/>
          </a:p>
        </p:txBody>
      </p:sp>
      <p:sp>
        <p:nvSpPr>
          <p:cNvPr id="25" name="Text 23"/>
          <p:cNvSpPr/>
          <p:nvPr/>
        </p:nvSpPr>
        <p:spPr>
          <a:xfrm>
            <a:off x="4572000" y="2331720"/>
            <a:ext cx="1051560" cy="502920"/>
          </a:xfrm>
          <a:prstGeom prst="rect">
            <a:avLst/>
          </a:prstGeom>
          <a:noFill/>
          <a:ln/>
        </p:spPr>
        <p:txBody>
          <a:bodyPr wrap="square" rtlCol="0" anchor="ctr"/>
          <a:lstStyle/>
          <a:p>
            <a:pPr marL="0" indent="0" algn="ctr">
              <a:buNone/>
            </a:pPr>
            <a:r>
              <a:rPr lang="en-US" sz="1000" dirty="0">
                <a:solidFill>
                  <a:srgbClr val="B8DDD1"/>
                </a:solidFill>
                <a:latin typeface="Open Sans" pitchFamily="34" charset="0"/>
                <a:ea typeface="Open Sans" pitchFamily="34" charset="-122"/>
                <a:cs typeface="Open Sans" pitchFamily="34" charset="-120"/>
              </a:rPr>
              <a:t>Populate &amp;</a:t>
            </a:r>
            <a:endParaRPr lang="en-US" sz="1000" dirty="0"/>
          </a:p>
          <a:p>
            <a:pPr marL="0" indent="0" algn="ctr">
              <a:buNone/>
            </a:pPr>
            <a:r>
              <a:rPr lang="en-US" sz="1000" dirty="0">
                <a:solidFill>
                  <a:srgbClr val="B8DDD1"/>
                </a:solidFill>
                <a:latin typeface="Open Sans" pitchFamily="34" charset="0"/>
                <a:ea typeface="Open Sans" pitchFamily="34" charset="-122"/>
                <a:cs typeface="Open Sans" pitchFamily="34" charset="-120"/>
              </a:rPr>
              <a:t>validate</a:t>
            </a:r>
            <a:endParaRPr lang="en-US" sz="1000" dirty="0"/>
          </a:p>
        </p:txBody>
      </p:sp>
      <p:sp>
        <p:nvSpPr>
          <p:cNvPr id="26" name="Text 24"/>
          <p:cNvSpPr/>
          <p:nvPr/>
        </p:nvSpPr>
        <p:spPr>
          <a:xfrm>
            <a:off x="4572000" y="2834640"/>
            <a:ext cx="1051560" cy="320040"/>
          </a:xfrm>
          <a:prstGeom prst="rect">
            <a:avLst/>
          </a:prstGeom>
          <a:noFill/>
          <a:ln/>
        </p:spPr>
        <p:txBody>
          <a:bodyPr wrap="square" rtlCol="0" anchor="ctr"/>
          <a:lstStyle/>
          <a:p>
            <a:pPr marL="0" indent="0" algn="ctr">
              <a:buNone/>
            </a:pPr>
            <a:r>
              <a:rPr lang="en-US" sz="900" i="1" dirty="0">
                <a:solidFill>
                  <a:srgbClr val="4DA78F"/>
                </a:solidFill>
                <a:latin typeface="Open Sans" pitchFamily="34" charset="0"/>
                <a:ea typeface="Open Sans" pitchFamily="34" charset="-122"/>
                <a:cs typeface="Open Sans" pitchFamily="34" charset="-120"/>
              </a:rPr>
              <a:t>“I verified it”</a:t>
            </a:r>
            <a:endParaRPr lang="en-US" sz="900" dirty="0"/>
          </a:p>
        </p:txBody>
      </p:sp>
      <p:sp>
        <p:nvSpPr>
          <p:cNvPr id="27" name="Shape 25"/>
          <p:cNvSpPr/>
          <p:nvPr/>
        </p:nvSpPr>
        <p:spPr>
          <a:xfrm>
            <a:off x="6217920" y="1737360"/>
            <a:ext cx="502920" cy="502920"/>
          </a:xfrm>
          <a:prstGeom prst="ellipse">
            <a:avLst/>
          </a:prstGeom>
          <a:solidFill>
            <a:srgbClr val="C9A84C"/>
          </a:solidFill>
          <a:ln/>
        </p:spPr>
        <p:txBody>
          <a:bodyPr/>
          <a:lstStyle/>
          <a:p>
            <a:endParaRPr lang="en-US"/>
          </a:p>
        </p:txBody>
      </p:sp>
      <p:sp>
        <p:nvSpPr>
          <p:cNvPr id="28" name="Text 26"/>
          <p:cNvSpPr/>
          <p:nvPr/>
        </p:nvSpPr>
        <p:spPr>
          <a:xfrm>
            <a:off x="6217920" y="1737360"/>
            <a:ext cx="502920" cy="502920"/>
          </a:xfrm>
          <a:prstGeom prst="rect">
            <a:avLst/>
          </a:prstGeom>
          <a:noFill/>
          <a:ln/>
        </p:spPr>
        <p:txBody>
          <a:bodyPr wrap="square" rtlCol="0" anchor="ctr"/>
          <a:lstStyle/>
          <a:p>
            <a:pPr marL="0" indent="0" algn="ctr">
              <a:buNone/>
            </a:pPr>
            <a:r>
              <a:rPr lang="en-US" sz="1800" b="1" dirty="0">
                <a:solidFill>
                  <a:srgbClr val="024731"/>
                </a:solidFill>
                <a:latin typeface="Open Sans" pitchFamily="34" charset="0"/>
                <a:ea typeface="Open Sans" pitchFamily="34" charset="-122"/>
                <a:cs typeface="Open Sans" pitchFamily="34" charset="-120"/>
              </a:rPr>
              <a:t>4</a:t>
            </a:r>
            <a:endParaRPr lang="en-US" sz="1800" dirty="0"/>
          </a:p>
        </p:txBody>
      </p:sp>
      <p:sp>
        <p:nvSpPr>
          <p:cNvPr id="29" name="Shape 27"/>
          <p:cNvSpPr/>
          <p:nvPr/>
        </p:nvSpPr>
        <p:spPr>
          <a:xfrm>
            <a:off x="6766560" y="1988820"/>
            <a:ext cx="777240" cy="0"/>
          </a:xfrm>
          <a:prstGeom prst="line">
            <a:avLst/>
          </a:prstGeom>
          <a:noFill/>
          <a:ln w="25400">
            <a:solidFill>
              <a:srgbClr val="4DA78F"/>
            </a:solidFill>
            <a:prstDash val="dash"/>
          </a:ln>
        </p:spPr>
        <p:txBody>
          <a:bodyPr/>
          <a:lstStyle/>
          <a:p>
            <a:endParaRPr lang="en-US"/>
          </a:p>
        </p:txBody>
      </p:sp>
      <p:sp>
        <p:nvSpPr>
          <p:cNvPr id="30" name="Text 28"/>
          <p:cNvSpPr/>
          <p:nvPr/>
        </p:nvSpPr>
        <p:spPr>
          <a:xfrm>
            <a:off x="5943600" y="2331720"/>
            <a:ext cx="1051560" cy="502920"/>
          </a:xfrm>
          <a:prstGeom prst="rect">
            <a:avLst/>
          </a:prstGeom>
          <a:noFill/>
          <a:ln/>
        </p:spPr>
        <p:txBody>
          <a:bodyPr wrap="square" rtlCol="0" anchor="ctr"/>
          <a:lstStyle/>
          <a:p>
            <a:pPr marL="0" indent="0" algn="ctr">
              <a:buNone/>
            </a:pPr>
            <a:r>
              <a:rPr lang="en-US" sz="1000" dirty="0">
                <a:solidFill>
                  <a:srgbClr val="B8DDD1"/>
                </a:solidFill>
                <a:latin typeface="Open Sans" pitchFamily="34" charset="0"/>
                <a:ea typeface="Open Sans" pitchFamily="34" charset="-122"/>
                <a:cs typeface="Open Sans" pitchFamily="34" charset="-120"/>
              </a:rPr>
              <a:t>Write the</a:t>
            </a:r>
            <a:endParaRPr lang="en-US" sz="1000" dirty="0"/>
          </a:p>
          <a:p>
            <a:pPr marL="0" indent="0" algn="ctr">
              <a:buNone/>
            </a:pPr>
            <a:r>
              <a:rPr lang="en-US" sz="1000" dirty="0">
                <a:solidFill>
                  <a:srgbClr val="B8DDD1"/>
                </a:solidFill>
                <a:latin typeface="Open Sans" pitchFamily="34" charset="0"/>
                <a:ea typeface="Open Sans" pitchFamily="34" charset="-122"/>
                <a:cs typeface="Open Sans" pitchFamily="34" charset="-120"/>
              </a:rPr>
              <a:t>specification</a:t>
            </a:r>
            <a:endParaRPr lang="en-US" sz="1000" dirty="0"/>
          </a:p>
        </p:txBody>
      </p:sp>
      <p:sp>
        <p:nvSpPr>
          <p:cNvPr id="31" name="Text 29"/>
          <p:cNvSpPr/>
          <p:nvPr/>
        </p:nvSpPr>
        <p:spPr>
          <a:xfrm>
            <a:off x="5943600" y="2834640"/>
            <a:ext cx="1051560" cy="320040"/>
          </a:xfrm>
          <a:prstGeom prst="rect">
            <a:avLst/>
          </a:prstGeom>
          <a:noFill/>
          <a:ln/>
        </p:spPr>
        <p:txBody>
          <a:bodyPr wrap="square" rtlCol="0" anchor="ctr"/>
          <a:lstStyle/>
          <a:p>
            <a:pPr marL="0" indent="0" algn="ctr">
              <a:buNone/>
            </a:pPr>
            <a:r>
              <a:rPr lang="en-US" sz="900" i="1" dirty="0">
                <a:solidFill>
                  <a:srgbClr val="4DA78F"/>
                </a:solidFill>
                <a:latin typeface="Open Sans" pitchFamily="34" charset="0"/>
                <a:ea typeface="Open Sans" pitchFamily="34" charset="-122"/>
                <a:cs typeface="Open Sans" pitchFamily="34" charset="-120"/>
              </a:rPr>
              <a:t>“I can specify it”</a:t>
            </a:r>
            <a:endParaRPr lang="en-US" sz="900" dirty="0"/>
          </a:p>
        </p:txBody>
      </p:sp>
      <p:sp>
        <p:nvSpPr>
          <p:cNvPr id="32" name="Shape 30"/>
          <p:cNvSpPr/>
          <p:nvPr/>
        </p:nvSpPr>
        <p:spPr>
          <a:xfrm>
            <a:off x="7589520" y="1737360"/>
            <a:ext cx="502920" cy="502920"/>
          </a:xfrm>
          <a:prstGeom prst="ellipse">
            <a:avLst/>
          </a:prstGeom>
          <a:solidFill>
            <a:srgbClr val="4DA78F"/>
          </a:solidFill>
          <a:ln/>
        </p:spPr>
        <p:txBody>
          <a:bodyPr/>
          <a:lstStyle/>
          <a:p>
            <a:endParaRPr lang="en-US"/>
          </a:p>
        </p:txBody>
      </p:sp>
      <p:sp>
        <p:nvSpPr>
          <p:cNvPr id="33" name="Text 31"/>
          <p:cNvSpPr/>
          <p:nvPr/>
        </p:nvSpPr>
        <p:spPr>
          <a:xfrm>
            <a:off x="7589520" y="1737360"/>
            <a:ext cx="502920" cy="502920"/>
          </a:xfrm>
          <a:prstGeom prst="rect">
            <a:avLst/>
          </a:prstGeom>
          <a:noFill/>
          <a:ln/>
        </p:spPr>
        <p:txBody>
          <a:bodyPr wrap="square" rtlCol="0" anchor="ctr"/>
          <a:lstStyle/>
          <a:p>
            <a:pPr marL="0" indent="0" algn="ctr">
              <a:buNone/>
            </a:pPr>
            <a:r>
              <a:rPr lang="en-US" sz="1800" b="1" dirty="0">
                <a:solidFill>
                  <a:srgbClr val="024731"/>
                </a:solidFill>
                <a:latin typeface="Open Sans" pitchFamily="34" charset="0"/>
                <a:ea typeface="Open Sans" pitchFamily="34" charset="-122"/>
                <a:cs typeface="Open Sans" pitchFamily="34" charset="-120"/>
              </a:rPr>
              <a:t>5</a:t>
            </a:r>
            <a:endParaRPr lang="en-US" sz="1800" dirty="0"/>
          </a:p>
        </p:txBody>
      </p:sp>
      <p:sp>
        <p:nvSpPr>
          <p:cNvPr id="34" name="Text 32"/>
          <p:cNvSpPr/>
          <p:nvPr/>
        </p:nvSpPr>
        <p:spPr>
          <a:xfrm>
            <a:off x="7315200" y="2331720"/>
            <a:ext cx="1051560" cy="502920"/>
          </a:xfrm>
          <a:prstGeom prst="rect">
            <a:avLst/>
          </a:prstGeom>
          <a:noFill/>
          <a:ln/>
        </p:spPr>
        <p:txBody>
          <a:bodyPr wrap="square" rtlCol="0" anchor="ctr"/>
          <a:lstStyle/>
          <a:p>
            <a:pPr marL="0" indent="0" algn="ctr">
              <a:buNone/>
            </a:pPr>
            <a:r>
              <a:rPr lang="en-US" sz="1000" dirty="0">
                <a:solidFill>
                  <a:srgbClr val="B8DDD1"/>
                </a:solidFill>
                <a:latin typeface="Open Sans" pitchFamily="34" charset="0"/>
                <a:ea typeface="Open Sans" pitchFamily="34" charset="-122"/>
                <a:cs typeface="Open Sans" pitchFamily="34" charset="-120"/>
              </a:rPr>
              <a:t>Execute &amp;</a:t>
            </a:r>
            <a:endParaRPr lang="en-US" sz="1000" dirty="0"/>
          </a:p>
          <a:p>
            <a:pPr marL="0" indent="0" algn="ctr">
              <a:buNone/>
            </a:pPr>
            <a:r>
              <a:rPr lang="en-US" sz="1000" dirty="0">
                <a:solidFill>
                  <a:srgbClr val="B8DDD1"/>
                </a:solidFill>
                <a:latin typeface="Open Sans" pitchFamily="34" charset="0"/>
                <a:ea typeface="Open Sans" pitchFamily="34" charset="-122"/>
                <a:cs typeface="Open Sans" pitchFamily="34" charset="-120"/>
              </a:rPr>
              <a:t>evaluate</a:t>
            </a:r>
            <a:endParaRPr lang="en-US" sz="1000" dirty="0"/>
          </a:p>
        </p:txBody>
      </p:sp>
      <p:sp>
        <p:nvSpPr>
          <p:cNvPr id="35" name="Text 33"/>
          <p:cNvSpPr/>
          <p:nvPr/>
        </p:nvSpPr>
        <p:spPr>
          <a:xfrm>
            <a:off x="7315200" y="2834640"/>
            <a:ext cx="1051560" cy="320040"/>
          </a:xfrm>
          <a:prstGeom prst="rect">
            <a:avLst/>
          </a:prstGeom>
          <a:noFill/>
          <a:ln/>
        </p:spPr>
        <p:txBody>
          <a:bodyPr wrap="square" rtlCol="0" anchor="ctr"/>
          <a:lstStyle/>
          <a:p>
            <a:pPr marL="0" indent="0" algn="ctr">
              <a:buNone/>
            </a:pPr>
            <a:r>
              <a:rPr lang="en-US" sz="900" i="1" dirty="0">
                <a:solidFill>
                  <a:srgbClr val="4DA78F"/>
                </a:solidFill>
                <a:latin typeface="Open Sans" pitchFamily="34" charset="0"/>
                <a:ea typeface="Open Sans" pitchFamily="34" charset="-122"/>
                <a:cs typeface="Open Sans" pitchFamily="34" charset="-120"/>
              </a:rPr>
              <a:t>“I can judge it”</a:t>
            </a:r>
            <a:endParaRPr lang="en-US" sz="900" dirty="0"/>
          </a:p>
        </p:txBody>
      </p:sp>
      <p:sp>
        <p:nvSpPr>
          <p:cNvPr id="36" name="Shape 34"/>
          <p:cNvSpPr/>
          <p:nvPr/>
        </p:nvSpPr>
        <p:spPr>
          <a:xfrm>
            <a:off x="548640" y="3520440"/>
            <a:ext cx="8046720" cy="1097280"/>
          </a:xfrm>
          <a:prstGeom prst="rect">
            <a:avLst/>
          </a:prstGeom>
          <a:solidFill>
            <a:srgbClr val="01362A"/>
          </a:solidFill>
          <a:ln/>
        </p:spPr>
        <p:txBody>
          <a:bodyPr/>
          <a:lstStyle/>
          <a:p>
            <a:endParaRPr lang="en-US"/>
          </a:p>
        </p:txBody>
      </p:sp>
      <p:sp>
        <p:nvSpPr>
          <p:cNvPr id="37" name="Shape 35"/>
          <p:cNvSpPr/>
          <p:nvPr/>
        </p:nvSpPr>
        <p:spPr>
          <a:xfrm>
            <a:off x="548640" y="3520440"/>
            <a:ext cx="54864" cy="1097280"/>
          </a:xfrm>
          <a:prstGeom prst="rect">
            <a:avLst/>
          </a:prstGeom>
          <a:solidFill>
            <a:srgbClr val="C9A84C"/>
          </a:solidFill>
          <a:ln/>
        </p:spPr>
        <p:txBody>
          <a:bodyPr/>
          <a:lstStyle/>
          <a:p>
            <a:endParaRPr lang="en-US"/>
          </a:p>
        </p:txBody>
      </p:sp>
      <p:sp>
        <p:nvSpPr>
          <p:cNvPr id="38" name="Text 36"/>
          <p:cNvSpPr/>
          <p:nvPr/>
        </p:nvSpPr>
        <p:spPr>
          <a:xfrm>
            <a:off x="822960" y="3611880"/>
            <a:ext cx="7589520" cy="320040"/>
          </a:xfrm>
          <a:prstGeom prst="rect">
            <a:avLst/>
          </a:prstGeom>
          <a:noFill/>
          <a:ln/>
        </p:spPr>
        <p:txBody>
          <a:bodyPr wrap="square" lIns="0" tIns="0" rIns="0" bIns="0" rtlCol="0" anchor="ctr"/>
          <a:lstStyle/>
          <a:p>
            <a:pPr marL="0" indent="0">
              <a:buNone/>
            </a:pPr>
            <a:r>
              <a:rPr lang="en-US" sz="1600" b="1" dirty="0">
                <a:solidFill>
                  <a:srgbClr val="C9A84C"/>
                </a:solidFill>
                <a:latin typeface="Open Sans" pitchFamily="34" charset="0"/>
                <a:ea typeface="Open Sans" pitchFamily="34" charset="-122"/>
                <a:cs typeface="Open Sans" pitchFamily="34" charset="-120"/>
              </a:rPr>
              <a:t>The Spec Is the Bridge</a:t>
            </a:r>
            <a:endParaRPr lang="en-US" sz="1600" dirty="0"/>
          </a:p>
        </p:txBody>
      </p:sp>
      <p:sp>
        <p:nvSpPr>
          <p:cNvPr id="39" name="Text 37"/>
          <p:cNvSpPr/>
          <p:nvPr/>
        </p:nvSpPr>
        <p:spPr>
          <a:xfrm>
            <a:off x="822960" y="3931920"/>
            <a:ext cx="7589520" cy="594360"/>
          </a:xfrm>
          <a:prstGeom prst="rect">
            <a:avLst/>
          </a:prstGeom>
          <a:noFill/>
          <a:ln/>
        </p:spPr>
        <p:txBody>
          <a:bodyPr wrap="square" lIns="0" tIns="0" rIns="0" bIns="0" rtlCol="0" anchor="ctr"/>
          <a:lstStyle/>
          <a:p>
            <a:pPr marL="0" indent="0">
              <a:buNone/>
            </a:pPr>
            <a:r>
              <a:rPr lang="en-US" sz="1100" dirty="0">
                <a:solidFill>
                  <a:srgbClr val="B8DDD1"/>
                </a:solidFill>
                <a:latin typeface="Open Sans" pitchFamily="34" charset="0"/>
                <a:ea typeface="Open Sans" pitchFamily="34" charset="-122"/>
                <a:cs typeface="Open Sans" pitchFamily="34" charset="-120"/>
              </a:rPr>
              <a:t>Everything before Stage 4 builds knowledge. Everything after it tests whether that knowledge was captured precisely enough to be actionable. The spec must define the complete model (structure, data, formulas, validation) AND the analysis (interpretation, benchmarks, recommendations).</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320040"/>
            <a:ext cx="8229600" cy="502920"/>
          </a:xfrm>
          <a:prstGeom prst="rect">
            <a:avLst/>
          </a:prstGeom>
          <a:noFill/>
          <a:ln/>
        </p:spPr>
        <p:txBody>
          <a:bodyPr wrap="square" lIns="0" tIns="0" rIns="0" bIns="0" rtlCol="0" anchor="ctr"/>
          <a:lstStyle/>
          <a:p>
            <a:pPr marL="0" indent="0">
              <a:buNone/>
            </a:pPr>
            <a:r>
              <a:rPr lang="en-US" sz="2600" b="1" dirty="0">
                <a:solidFill>
                  <a:schemeClr val="accent6">
                    <a:lumMod val="50000"/>
                  </a:schemeClr>
                </a:solidFill>
                <a:latin typeface="Open Sans" pitchFamily="34" charset="0"/>
                <a:ea typeface="Open Sans" pitchFamily="34" charset="-122"/>
                <a:cs typeface="Open Sans" pitchFamily="34" charset="-120"/>
              </a:rPr>
              <a:t>Career Relevance — Where This Gets Used</a:t>
            </a:r>
            <a:endParaRPr lang="en-US" sz="2600" dirty="0">
              <a:solidFill>
                <a:schemeClr val="accent6">
                  <a:lumMod val="50000"/>
                </a:schemeClr>
              </a:solidFill>
            </a:endParaRPr>
          </a:p>
        </p:txBody>
      </p:sp>
      <p:sp>
        <p:nvSpPr>
          <p:cNvPr id="3" name="Text 1"/>
          <p:cNvSpPr/>
          <p:nvPr/>
        </p:nvSpPr>
        <p:spPr>
          <a:xfrm>
            <a:off x="548640" y="777240"/>
            <a:ext cx="8046720" cy="320040"/>
          </a:xfrm>
          <a:prstGeom prst="rect">
            <a:avLst/>
          </a:prstGeom>
          <a:noFill/>
          <a:ln/>
        </p:spPr>
        <p:txBody>
          <a:bodyPr wrap="square" rtlCol="0" anchor="ctr"/>
          <a:lstStyle/>
          <a:p>
            <a:pPr marL="0" indent="0">
              <a:buNone/>
            </a:pPr>
            <a:r>
              <a:rPr lang="en-US" sz="1200" dirty="0">
                <a:solidFill>
                  <a:srgbClr val="B8DDD1"/>
                </a:solidFill>
                <a:latin typeface="Open Sans" pitchFamily="34" charset="0"/>
                <a:ea typeface="Open Sans" pitchFamily="34" charset="-122"/>
                <a:cs typeface="Open Sans" pitchFamily="34" charset="-120"/>
              </a:rPr>
              <a:t>The skills built in this project appear directly in job descriptions for these roles:</a:t>
            </a:r>
            <a:endParaRPr lang="en-US" sz="1200" dirty="0"/>
          </a:p>
        </p:txBody>
      </p:sp>
      <p:sp>
        <p:nvSpPr>
          <p:cNvPr id="4" name="Shape 2"/>
          <p:cNvSpPr/>
          <p:nvPr/>
        </p:nvSpPr>
        <p:spPr>
          <a:xfrm>
            <a:off x="548640" y="1325880"/>
            <a:ext cx="2606040" cy="1463040"/>
          </a:xfrm>
          <a:prstGeom prst="rect">
            <a:avLst/>
          </a:prstGeom>
          <a:solidFill>
            <a:srgbClr val="01362A"/>
          </a:solidFill>
          <a:ln/>
        </p:spPr>
        <p:txBody>
          <a:bodyPr/>
          <a:lstStyle/>
          <a:p>
            <a:endParaRPr lang="en-US"/>
          </a:p>
        </p:txBody>
      </p:sp>
      <p:sp>
        <p:nvSpPr>
          <p:cNvPr id="5" name="Shape 3"/>
          <p:cNvSpPr/>
          <p:nvPr/>
        </p:nvSpPr>
        <p:spPr>
          <a:xfrm>
            <a:off x="548640" y="1325880"/>
            <a:ext cx="2606040" cy="54864"/>
          </a:xfrm>
          <a:prstGeom prst="rect">
            <a:avLst/>
          </a:prstGeom>
          <a:solidFill>
            <a:srgbClr val="4DA78F"/>
          </a:solidFill>
          <a:ln/>
        </p:spPr>
        <p:txBody>
          <a:bodyPr/>
          <a:lstStyle/>
          <a:p>
            <a:endParaRPr lang="en-US"/>
          </a:p>
        </p:txBody>
      </p:sp>
      <p:sp>
        <p:nvSpPr>
          <p:cNvPr id="6" name="Text 4"/>
          <p:cNvSpPr/>
          <p:nvPr/>
        </p:nvSpPr>
        <p:spPr>
          <a:xfrm>
            <a:off x="731520" y="1463040"/>
            <a:ext cx="2240280" cy="320040"/>
          </a:xfrm>
          <a:prstGeom prst="rect">
            <a:avLst/>
          </a:prstGeom>
          <a:noFill/>
          <a:ln/>
        </p:spPr>
        <p:txBody>
          <a:bodyPr wrap="square" lIns="0" tIns="0" rIns="0" bIns="0" rtlCol="0" anchor="ctr"/>
          <a:lstStyle/>
          <a:p>
            <a:pPr marL="0" indent="0">
              <a:buNone/>
            </a:pPr>
            <a:r>
              <a:rPr lang="en-US" sz="1400" b="1" dirty="0">
                <a:solidFill>
                  <a:srgbClr val="4DA78F"/>
                </a:solidFill>
                <a:latin typeface="Open Sans" pitchFamily="34" charset="0"/>
                <a:ea typeface="Open Sans" pitchFamily="34" charset="-122"/>
                <a:cs typeface="Open Sans" pitchFamily="34" charset="-120"/>
              </a:rPr>
              <a:t>FP&amp;A</a:t>
            </a:r>
            <a:endParaRPr lang="en-US" sz="1400" dirty="0"/>
          </a:p>
        </p:txBody>
      </p:sp>
      <p:sp>
        <p:nvSpPr>
          <p:cNvPr id="7" name="Text 5"/>
          <p:cNvSpPr/>
          <p:nvPr/>
        </p:nvSpPr>
        <p:spPr>
          <a:xfrm>
            <a:off x="731520" y="1828800"/>
            <a:ext cx="2240280" cy="822960"/>
          </a:xfrm>
          <a:prstGeom prst="rect">
            <a:avLst/>
          </a:prstGeom>
          <a:noFill/>
          <a:ln/>
        </p:spPr>
        <p:txBody>
          <a:bodyPr wrap="square" lIns="0" tIns="0" rIns="0" bIns="0" rtlCol="0" anchor="ctr"/>
          <a:lstStyle/>
          <a:p>
            <a:pPr marL="0" indent="0">
              <a:buNone/>
            </a:pPr>
            <a:r>
              <a:rPr lang="en-US" sz="1000" dirty="0">
                <a:solidFill>
                  <a:srgbClr val="B8DDD1"/>
                </a:solidFill>
                <a:latin typeface="Open Sans" pitchFamily="34" charset="0"/>
                <a:ea typeface="Open Sans" pitchFamily="34" charset="-122"/>
                <a:cs typeface="Open Sans" pitchFamily="34" charset="-120"/>
              </a:rPr>
              <a:t>Ratio trend analysis</a:t>
            </a:r>
            <a:endParaRPr lang="en-US" sz="1000" dirty="0"/>
          </a:p>
          <a:p>
            <a:pPr marL="0" indent="0">
              <a:buNone/>
            </a:pPr>
            <a:r>
              <a:rPr lang="en-US" sz="1000" dirty="0">
                <a:solidFill>
                  <a:srgbClr val="B8DDD1"/>
                </a:solidFill>
                <a:latin typeface="Open Sans" pitchFamily="34" charset="0"/>
                <a:ea typeface="Open Sans" pitchFamily="34" charset="-122"/>
                <a:cs typeface="Open Sans" pitchFamily="34" charset="-120"/>
              </a:rPr>
              <a:t>Performance benchmarking</a:t>
            </a:r>
            <a:endParaRPr lang="en-US" sz="1000" dirty="0"/>
          </a:p>
          <a:p>
            <a:pPr marL="0" indent="0">
              <a:buNone/>
            </a:pPr>
            <a:r>
              <a:rPr lang="en-US" sz="1000" dirty="0">
                <a:solidFill>
                  <a:srgbClr val="B8DDD1"/>
                </a:solidFill>
                <a:latin typeface="Open Sans" pitchFamily="34" charset="0"/>
                <a:ea typeface="Open Sans" pitchFamily="34" charset="-122"/>
                <a:cs typeface="Open Sans" pitchFamily="34" charset="-120"/>
              </a:rPr>
              <a:t>Budget variance analysis</a:t>
            </a:r>
            <a:endParaRPr lang="en-US" sz="1000" dirty="0"/>
          </a:p>
        </p:txBody>
      </p:sp>
      <p:sp>
        <p:nvSpPr>
          <p:cNvPr id="8" name="Shape 6"/>
          <p:cNvSpPr/>
          <p:nvPr/>
        </p:nvSpPr>
        <p:spPr>
          <a:xfrm>
            <a:off x="3383280" y="1325880"/>
            <a:ext cx="2606040" cy="1463040"/>
          </a:xfrm>
          <a:prstGeom prst="rect">
            <a:avLst/>
          </a:prstGeom>
          <a:solidFill>
            <a:srgbClr val="01362A"/>
          </a:solidFill>
          <a:ln/>
        </p:spPr>
        <p:txBody>
          <a:bodyPr/>
          <a:lstStyle/>
          <a:p>
            <a:endParaRPr lang="en-US"/>
          </a:p>
        </p:txBody>
      </p:sp>
      <p:sp>
        <p:nvSpPr>
          <p:cNvPr id="9" name="Shape 7"/>
          <p:cNvSpPr/>
          <p:nvPr/>
        </p:nvSpPr>
        <p:spPr>
          <a:xfrm>
            <a:off x="3383280" y="1325880"/>
            <a:ext cx="2606040" cy="54864"/>
          </a:xfrm>
          <a:prstGeom prst="rect">
            <a:avLst/>
          </a:prstGeom>
          <a:solidFill>
            <a:srgbClr val="4DA78F"/>
          </a:solidFill>
          <a:ln/>
        </p:spPr>
        <p:txBody>
          <a:bodyPr/>
          <a:lstStyle/>
          <a:p>
            <a:endParaRPr lang="en-US"/>
          </a:p>
        </p:txBody>
      </p:sp>
      <p:sp>
        <p:nvSpPr>
          <p:cNvPr id="10" name="Text 8"/>
          <p:cNvSpPr/>
          <p:nvPr/>
        </p:nvSpPr>
        <p:spPr>
          <a:xfrm>
            <a:off x="3566160" y="1463040"/>
            <a:ext cx="2240280" cy="320040"/>
          </a:xfrm>
          <a:prstGeom prst="rect">
            <a:avLst/>
          </a:prstGeom>
          <a:noFill/>
          <a:ln/>
        </p:spPr>
        <p:txBody>
          <a:bodyPr wrap="square" lIns="0" tIns="0" rIns="0" bIns="0" rtlCol="0" anchor="ctr"/>
          <a:lstStyle/>
          <a:p>
            <a:pPr marL="0" indent="0">
              <a:buNone/>
            </a:pPr>
            <a:r>
              <a:rPr lang="en-US" sz="1400" b="1" dirty="0">
                <a:solidFill>
                  <a:srgbClr val="4DA78F"/>
                </a:solidFill>
                <a:latin typeface="Open Sans" pitchFamily="34" charset="0"/>
                <a:ea typeface="Open Sans" pitchFamily="34" charset="-122"/>
                <a:cs typeface="Open Sans" pitchFamily="34" charset="-120"/>
              </a:rPr>
              <a:t>Corporate Finance</a:t>
            </a:r>
            <a:endParaRPr lang="en-US" sz="1400" dirty="0"/>
          </a:p>
        </p:txBody>
      </p:sp>
      <p:sp>
        <p:nvSpPr>
          <p:cNvPr id="11" name="Text 9"/>
          <p:cNvSpPr/>
          <p:nvPr/>
        </p:nvSpPr>
        <p:spPr>
          <a:xfrm>
            <a:off x="3566160" y="1828800"/>
            <a:ext cx="2240280" cy="822960"/>
          </a:xfrm>
          <a:prstGeom prst="rect">
            <a:avLst/>
          </a:prstGeom>
          <a:noFill/>
          <a:ln/>
        </p:spPr>
        <p:txBody>
          <a:bodyPr wrap="square" lIns="0" tIns="0" rIns="0" bIns="0" rtlCol="0" anchor="ctr"/>
          <a:lstStyle/>
          <a:p>
            <a:pPr marL="0" indent="0">
              <a:buNone/>
            </a:pPr>
            <a:r>
              <a:rPr lang="en-US" sz="1000" dirty="0">
                <a:solidFill>
                  <a:srgbClr val="B8DDD1"/>
                </a:solidFill>
                <a:latin typeface="Open Sans" pitchFamily="34" charset="0"/>
                <a:ea typeface="Open Sans" pitchFamily="34" charset="-122"/>
                <a:cs typeface="Open Sans" pitchFamily="34" charset="-120"/>
              </a:rPr>
              <a:t>Capital structure optimization</a:t>
            </a:r>
            <a:endParaRPr lang="en-US" sz="1000" dirty="0"/>
          </a:p>
          <a:p>
            <a:pPr marL="0" indent="0">
              <a:buNone/>
            </a:pPr>
            <a:r>
              <a:rPr lang="en-US" sz="1000" dirty="0">
                <a:solidFill>
                  <a:srgbClr val="B8DDD1"/>
                </a:solidFill>
                <a:latin typeface="Open Sans" pitchFamily="34" charset="0"/>
                <a:ea typeface="Open Sans" pitchFamily="34" charset="-122"/>
                <a:cs typeface="Open Sans" pitchFamily="34" charset="-120"/>
              </a:rPr>
              <a:t>Liquidity management</a:t>
            </a:r>
            <a:endParaRPr lang="en-US" sz="1000" dirty="0"/>
          </a:p>
          <a:p>
            <a:pPr marL="0" indent="0">
              <a:buNone/>
            </a:pPr>
            <a:r>
              <a:rPr lang="en-US" sz="1000" dirty="0">
                <a:solidFill>
                  <a:srgbClr val="B8DDD1"/>
                </a:solidFill>
                <a:latin typeface="Open Sans" pitchFamily="34" charset="0"/>
                <a:ea typeface="Open Sans" pitchFamily="34" charset="-122"/>
                <a:cs typeface="Open Sans" pitchFamily="34" charset="-120"/>
              </a:rPr>
              <a:t>Investor relations</a:t>
            </a:r>
            <a:endParaRPr lang="en-US" sz="1000" dirty="0"/>
          </a:p>
        </p:txBody>
      </p:sp>
      <p:sp>
        <p:nvSpPr>
          <p:cNvPr id="12" name="Shape 10"/>
          <p:cNvSpPr/>
          <p:nvPr/>
        </p:nvSpPr>
        <p:spPr>
          <a:xfrm>
            <a:off x="6217920" y="1325880"/>
            <a:ext cx="2606040" cy="1463040"/>
          </a:xfrm>
          <a:prstGeom prst="rect">
            <a:avLst/>
          </a:prstGeom>
          <a:solidFill>
            <a:srgbClr val="01362A"/>
          </a:solidFill>
          <a:ln/>
        </p:spPr>
        <p:txBody>
          <a:bodyPr/>
          <a:lstStyle/>
          <a:p>
            <a:endParaRPr lang="en-US"/>
          </a:p>
        </p:txBody>
      </p:sp>
      <p:sp>
        <p:nvSpPr>
          <p:cNvPr id="13" name="Shape 11"/>
          <p:cNvSpPr/>
          <p:nvPr/>
        </p:nvSpPr>
        <p:spPr>
          <a:xfrm>
            <a:off x="6217920" y="1325880"/>
            <a:ext cx="2606040" cy="54864"/>
          </a:xfrm>
          <a:prstGeom prst="rect">
            <a:avLst/>
          </a:prstGeom>
          <a:solidFill>
            <a:srgbClr val="4DA78F"/>
          </a:solidFill>
          <a:ln/>
        </p:spPr>
        <p:txBody>
          <a:bodyPr/>
          <a:lstStyle/>
          <a:p>
            <a:endParaRPr lang="en-US"/>
          </a:p>
        </p:txBody>
      </p:sp>
      <p:sp>
        <p:nvSpPr>
          <p:cNvPr id="14" name="Text 12"/>
          <p:cNvSpPr/>
          <p:nvPr/>
        </p:nvSpPr>
        <p:spPr>
          <a:xfrm>
            <a:off x="6400800" y="1463040"/>
            <a:ext cx="2240280" cy="320040"/>
          </a:xfrm>
          <a:prstGeom prst="rect">
            <a:avLst/>
          </a:prstGeom>
          <a:noFill/>
          <a:ln/>
        </p:spPr>
        <p:txBody>
          <a:bodyPr wrap="square" lIns="0" tIns="0" rIns="0" bIns="0" rtlCol="0" anchor="ctr"/>
          <a:lstStyle/>
          <a:p>
            <a:pPr marL="0" indent="0">
              <a:buNone/>
            </a:pPr>
            <a:r>
              <a:rPr lang="en-US" sz="1400" b="1" dirty="0">
                <a:solidFill>
                  <a:srgbClr val="4DA78F"/>
                </a:solidFill>
                <a:latin typeface="Open Sans" pitchFamily="34" charset="0"/>
                <a:ea typeface="Open Sans" pitchFamily="34" charset="-122"/>
                <a:cs typeface="Open Sans" pitchFamily="34" charset="-120"/>
              </a:rPr>
              <a:t>Investment Banking</a:t>
            </a:r>
            <a:endParaRPr lang="en-US" sz="1400" dirty="0"/>
          </a:p>
        </p:txBody>
      </p:sp>
      <p:sp>
        <p:nvSpPr>
          <p:cNvPr id="15" name="Text 13"/>
          <p:cNvSpPr/>
          <p:nvPr/>
        </p:nvSpPr>
        <p:spPr>
          <a:xfrm>
            <a:off x="6400800" y="1828800"/>
            <a:ext cx="2240280" cy="822960"/>
          </a:xfrm>
          <a:prstGeom prst="rect">
            <a:avLst/>
          </a:prstGeom>
          <a:noFill/>
          <a:ln/>
        </p:spPr>
        <p:txBody>
          <a:bodyPr wrap="square" lIns="0" tIns="0" rIns="0" bIns="0" rtlCol="0" anchor="ctr"/>
          <a:lstStyle/>
          <a:p>
            <a:pPr marL="0" indent="0">
              <a:buNone/>
            </a:pPr>
            <a:r>
              <a:rPr lang="en-US" sz="1000" dirty="0">
                <a:solidFill>
                  <a:srgbClr val="B8DDD1"/>
                </a:solidFill>
                <a:latin typeface="Open Sans" pitchFamily="34" charset="0"/>
                <a:ea typeface="Open Sans" pitchFamily="34" charset="-122"/>
                <a:cs typeface="Open Sans" pitchFamily="34" charset="-120"/>
              </a:rPr>
              <a:t>Comparable company analysis</a:t>
            </a:r>
            <a:endParaRPr lang="en-US" sz="1000" dirty="0"/>
          </a:p>
          <a:p>
            <a:pPr marL="0" indent="0">
              <a:buNone/>
            </a:pPr>
            <a:r>
              <a:rPr lang="en-US" sz="1000" dirty="0">
                <a:solidFill>
                  <a:srgbClr val="B8DDD1"/>
                </a:solidFill>
                <a:latin typeface="Open Sans" pitchFamily="34" charset="0"/>
                <a:ea typeface="Open Sans" pitchFamily="34" charset="-122"/>
                <a:cs typeface="Open Sans" pitchFamily="34" charset="-120"/>
              </a:rPr>
              <a:t>Credit analysis</a:t>
            </a:r>
            <a:endParaRPr lang="en-US" sz="1000" dirty="0"/>
          </a:p>
          <a:p>
            <a:pPr marL="0" indent="0">
              <a:buNone/>
            </a:pPr>
            <a:r>
              <a:rPr lang="en-US" sz="1000" dirty="0">
                <a:solidFill>
                  <a:srgbClr val="B8DDD1"/>
                </a:solidFill>
                <a:latin typeface="Open Sans" pitchFamily="34" charset="0"/>
                <a:ea typeface="Open Sans" pitchFamily="34" charset="-122"/>
                <a:cs typeface="Open Sans" pitchFamily="34" charset="-120"/>
              </a:rPr>
              <a:t>Valuation multiples</a:t>
            </a:r>
            <a:endParaRPr lang="en-US" sz="1000" dirty="0"/>
          </a:p>
        </p:txBody>
      </p:sp>
      <p:sp>
        <p:nvSpPr>
          <p:cNvPr id="16" name="Shape 14"/>
          <p:cNvSpPr/>
          <p:nvPr/>
        </p:nvSpPr>
        <p:spPr>
          <a:xfrm>
            <a:off x="548640" y="3017520"/>
            <a:ext cx="2606040" cy="1463040"/>
          </a:xfrm>
          <a:prstGeom prst="rect">
            <a:avLst/>
          </a:prstGeom>
          <a:solidFill>
            <a:srgbClr val="01362A"/>
          </a:solidFill>
          <a:ln/>
        </p:spPr>
        <p:txBody>
          <a:bodyPr/>
          <a:lstStyle/>
          <a:p>
            <a:endParaRPr lang="en-US"/>
          </a:p>
        </p:txBody>
      </p:sp>
      <p:sp>
        <p:nvSpPr>
          <p:cNvPr id="17" name="Shape 15"/>
          <p:cNvSpPr/>
          <p:nvPr/>
        </p:nvSpPr>
        <p:spPr>
          <a:xfrm>
            <a:off x="548640" y="3017520"/>
            <a:ext cx="2606040" cy="54864"/>
          </a:xfrm>
          <a:prstGeom prst="rect">
            <a:avLst/>
          </a:prstGeom>
          <a:solidFill>
            <a:srgbClr val="4DA78F"/>
          </a:solidFill>
          <a:ln/>
        </p:spPr>
        <p:txBody>
          <a:bodyPr/>
          <a:lstStyle/>
          <a:p>
            <a:endParaRPr lang="en-US"/>
          </a:p>
        </p:txBody>
      </p:sp>
      <p:sp>
        <p:nvSpPr>
          <p:cNvPr id="18" name="Text 16"/>
          <p:cNvSpPr/>
          <p:nvPr/>
        </p:nvSpPr>
        <p:spPr>
          <a:xfrm>
            <a:off x="731520" y="3154680"/>
            <a:ext cx="2240280" cy="320040"/>
          </a:xfrm>
          <a:prstGeom prst="rect">
            <a:avLst/>
          </a:prstGeom>
          <a:noFill/>
          <a:ln/>
        </p:spPr>
        <p:txBody>
          <a:bodyPr wrap="square" lIns="0" tIns="0" rIns="0" bIns="0" rtlCol="0" anchor="ctr"/>
          <a:lstStyle/>
          <a:p>
            <a:pPr marL="0" indent="0">
              <a:buNone/>
            </a:pPr>
            <a:r>
              <a:rPr lang="en-US" sz="1400" b="1" dirty="0">
                <a:solidFill>
                  <a:srgbClr val="4DA78F"/>
                </a:solidFill>
                <a:latin typeface="Open Sans" pitchFamily="34" charset="0"/>
                <a:ea typeface="Open Sans" pitchFamily="34" charset="-122"/>
                <a:cs typeface="Open Sans" pitchFamily="34" charset="-120"/>
              </a:rPr>
              <a:t>Accounting &amp; Audit</a:t>
            </a:r>
            <a:endParaRPr lang="en-US" sz="1400" dirty="0"/>
          </a:p>
        </p:txBody>
      </p:sp>
      <p:sp>
        <p:nvSpPr>
          <p:cNvPr id="19" name="Text 17"/>
          <p:cNvSpPr/>
          <p:nvPr/>
        </p:nvSpPr>
        <p:spPr>
          <a:xfrm>
            <a:off x="731520" y="3520440"/>
            <a:ext cx="2240280" cy="822960"/>
          </a:xfrm>
          <a:prstGeom prst="rect">
            <a:avLst/>
          </a:prstGeom>
          <a:noFill/>
          <a:ln/>
        </p:spPr>
        <p:txBody>
          <a:bodyPr wrap="square" lIns="0" tIns="0" rIns="0" bIns="0" rtlCol="0" anchor="ctr"/>
          <a:lstStyle/>
          <a:p>
            <a:pPr marL="0" indent="0">
              <a:buNone/>
            </a:pPr>
            <a:r>
              <a:rPr lang="en-US" sz="1000" dirty="0">
                <a:solidFill>
                  <a:srgbClr val="B8DDD1"/>
                </a:solidFill>
                <a:latin typeface="Open Sans" pitchFamily="34" charset="0"/>
                <a:ea typeface="Open Sans" pitchFamily="34" charset="-122"/>
                <a:cs typeface="Open Sans" pitchFamily="34" charset="-120"/>
              </a:rPr>
              <a:t>Analytical procedures</a:t>
            </a:r>
            <a:endParaRPr lang="en-US" sz="1000" dirty="0"/>
          </a:p>
          <a:p>
            <a:pPr marL="0" indent="0">
              <a:buNone/>
            </a:pPr>
            <a:r>
              <a:rPr lang="en-US" sz="1000" dirty="0">
                <a:solidFill>
                  <a:srgbClr val="B8DDD1"/>
                </a:solidFill>
                <a:latin typeface="Open Sans" pitchFamily="34" charset="0"/>
                <a:ea typeface="Open Sans" pitchFamily="34" charset="-122"/>
                <a:cs typeface="Open Sans" pitchFamily="34" charset="-120"/>
              </a:rPr>
              <a:t>Internal controls evaluation</a:t>
            </a:r>
            <a:endParaRPr lang="en-US" sz="1000" dirty="0"/>
          </a:p>
          <a:p>
            <a:pPr marL="0" indent="0">
              <a:buNone/>
            </a:pPr>
            <a:r>
              <a:rPr lang="en-US" sz="1000" dirty="0">
                <a:solidFill>
                  <a:srgbClr val="B8DDD1"/>
                </a:solidFill>
                <a:latin typeface="Open Sans" pitchFamily="34" charset="0"/>
                <a:ea typeface="Open Sans" pitchFamily="34" charset="-122"/>
                <a:cs typeface="Open Sans" pitchFamily="34" charset="-120"/>
              </a:rPr>
              <a:t>Financial statement analysis</a:t>
            </a:r>
            <a:endParaRPr lang="en-US" sz="1000" dirty="0"/>
          </a:p>
        </p:txBody>
      </p:sp>
      <p:sp>
        <p:nvSpPr>
          <p:cNvPr id="20" name="Shape 18"/>
          <p:cNvSpPr/>
          <p:nvPr/>
        </p:nvSpPr>
        <p:spPr>
          <a:xfrm>
            <a:off x="3383280" y="3017520"/>
            <a:ext cx="2606040" cy="1463040"/>
          </a:xfrm>
          <a:prstGeom prst="rect">
            <a:avLst/>
          </a:prstGeom>
          <a:solidFill>
            <a:srgbClr val="01362A"/>
          </a:solidFill>
          <a:ln/>
        </p:spPr>
        <p:txBody>
          <a:bodyPr/>
          <a:lstStyle/>
          <a:p>
            <a:endParaRPr lang="en-US"/>
          </a:p>
        </p:txBody>
      </p:sp>
      <p:sp>
        <p:nvSpPr>
          <p:cNvPr id="21" name="Shape 19"/>
          <p:cNvSpPr/>
          <p:nvPr/>
        </p:nvSpPr>
        <p:spPr>
          <a:xfrm>
            <a:off x="3383280" y="3017520"/>
            <a:ext cx="2606040" cy="54864"/>
          </a:xfrm>
          <a:prstGeom prst="rect">
            <a:avLst/>
          </a:prstGeom>
          <a:solidFill>
            <a:srgbClr val="4DA78F"/>
          </a:solidFill>
          <a:ln/>
        </p:spPr>
        <p:txBody>
          <a:bodyPr/>
          <a:lstStyle/>
          <a:p>
            <a:endParaRPr lang="en-US"/>
          </a:p>
        </p:txBody>
      </p:sp>
      <p:sp>
        <p:nvSpPr>
          <p:cNvPr id="22" name="Text 20"/>
          <p:cNvSpPr/>
          <p:nvPr/>
        </p:nvSpPr>
        <p:spPr>
          <a:xfrm>
            <a:off x="3566160" y="3154680"/>
            <a:ext cx="2240280" cy="320040"/>
          </a:xfrm>
          <a:prstGeom prst="rect">
            <a:avLst/>
          </a:prstGeom>
          <a:noFill/>
          <a:ln/>
        </p:spPr>
        <p:txBody>
          <a:bodyPr wrap="square" lIns="0" tIns="0" rIns="0" bIns="0" rtlCol="0" anchor="ctr"/>
          <a:lstStyle/>
          <a:p>
            <a:pPr marL="0" indent="0">
              <a:buNone/>
            </a:pPr>
            <a:r>
              <a:rPr lang="en-US" sz="1400" b="1" dirty="0">
                <a:solidFill>
                  <a:srgbClr val="4DA78F"/>
                </a:solidFill>
                <a:latin typeface="Open Sans" pitchFamily="34" charset="0"/>
                <a:ea typeface="Open Sans" pitchFamily="34" charset="-122"/>
                <a:cs typeface="Open Sans" pitchFamily="34" charset="-120"/>
              </a:rPr>
              <a:t>Data &amp; AI Analytics</a:t>
            </a:r>
            <a:endParaRPr lang="en-US" sz="1400" dirty="0"/>
          </a:p>
        </p:txBody>
      </p:sp>
      <p:sp>
        <p:nvSpPr>
          <p:cNvPr id="23" name="Text 21"/>
          <p:cNvSpPr/>
          <p:nvPr/>
        </p:nvSpPr>
        <p:spPr>
          <a:xfrm>
            <a:off x="3566160" y="3520440"/>
            <a:ext cx="2240280" cy="822960"/>
          </a:xfrm>
          <a:prstGeom prst="rect">
            <a:avLst/>
          </a:prstGeom>
          <a:noFill/>
          <a:ln/>
        </p:spPr>
        <p:txBody>
          <a:bodyPr wrap="square" lIns="0" tIns="0" rIns="0" bIns="0" rtlCol="0" anchor="ctr"/>
          <a:lstStyle/>
          <a:p>
            <a:pPr marL="0" indent="0">
              <a:buNone/>
            </a:pPr>
            <a:r>
              <a:rPr lang="en-US" sz="1000" dirty="0">
                <a:solidFill>
                  <a:srgbClr val="B8DDD1"/>
                </a:solidFill>
                <a:latin typeface="Open Sans" pitchFamily="34" charset="0"/>
                <a:ea typeface="Open Sans" pitchFamily="34" charset="-122"/>
                <a:cs typeface="Open Sans" pitchFamily="34" charset="-120"/>
              </a:rPr>
              <a:t>Spec-to-prompt pipelines</a:t>
            </a:r>
            <a:endParaRPr lang="en-US" sz="1000" dirty="0"/>
          </a:p>
          <a:p>
            <a:pPr marL="0" indent="0">
              <a:buNone/>
            </a:pPr>
            <a:r>
              <a:rPr lang="en-US" sz="1000" dirty="0">
                <a:solidFill>
                  <a:srgbClr val="B8DDD1"/>
                </a:solidFill>
                <a:latin typeface="Open Sans" pitchFamily="34" charset="0"/>
                <a:ea typeface="Open Sans" pitchFamily="34" charset="-122"/>
                <a:cs typeface="Open Sans" pitchFamily="34" charset="-120"/>
              </a:rPr>
              <a:t>GitHub version control</a:t>
            </a:r>
            <a:endParaRPr lang="en-US" sz="1000" dirty="0"/>
          </a:p>
          <a:p>
            <a:pPr marL="0" indent="0">
              <a:buNone/>
            </a:pPr>
            <a:r>
              <a:rPr lang="en-US" sz="1000" dirty="0">
                <a:solidFill>
                  <a:srgbClr val="B8DDD1"/>
                </a:solidFill>
                <a:latin typeface="Open Sans" pitchFamily="34" charset="0"/>
                <a:ea typeface="Open Sans" pitchFamily="34" charset="-122"/>
                <a:cs typeface="Open Sans" pitchFamily="34" charset="-120"/>
              </a:rPr>
              <a:t>AI-assisted modeling</a:t>
            </a:r>
            <a:endParaRPr lang="en-US" sz="1000" dirty="0"/>
          </a:p>
        </p:txBody>
      </p:sp>
      <p:sp>
        <p:nvSpPr>
          <p:cNvPr id="24" name="Shape 22"/>
          <p:cNvSpPr/>
          <p:nvPr/>
        </p:nvSpPr>
        <p:spPr>
          <a:xfrm>
            <a:off x="6217920" y="3017520"/>
            <a:ext cx="2606040" cy="1463040"/>
          </a:xfrm>
          <a:prstGeom prst="rect">
            <a:avLst/>
          </a:prstGeom>
          <a:solidFill>
            <a:srgbClr val="01362A"/>
          </a:solidFill>
          <a:ln/>
        </p:spPr>
        <p:txBody>
          <a:bodyPr/>
          <a:lstStyle/>
          <a:p>
            <a:endParaRPr lang="en-US"/>
          </a:p>
        </p:txBody>
      </p:sp>
      <p:sp>
        <p:nvSpPr>
          <p:cNvPr id="25" name="Shape 23"/>
          <p:cNvSpPr/>
          <p:nvPr/>
        </p:nvSpPr>
        <p:spPr>
          <a:xfrm>
            <a:off x="6217920" y="3017520"/>
            <a:ext cx="2606040" cy="54864"/>
          </a:xfrm>
          <a:prstGeom prst="rect">
            <a:avLst/>
          </a:prstGeom>
          <a:solidFill>
            <a:srgbClr val="4DA78F"/>
          </a:solidFill>
          <a:ln/>
        </p:spPr>
        <p:txBody>
          <a:bodyPr/>
          <a:lstStyle/>
          <a:p>
            <a:endParaRPr lang="en-US"/>
          </a:p>
        </p:txBody>
      </p:sp>
      <p:sp>
        <p:nvSpPr>
          <p:cNvPr id="26" name="Text 24"/>
          <p:cNvSpPr/>
          <p:nvPr/>
        </p:nvSpPr>
        <p:spPr>
          <a:xfrm>
            <a:off x="6400800" y="3154680"/>
            <a:ext cx="2240280" cy="320040"/>
          </a:xfrm>
          <a:prstGeom prst="rect">
            <a:avLst/>
          </a:prstGeom>
          <a:noFill/>
          <a:ln/>
        </p:spPr>
        <p:txBody>
          <a:bodyPr wrap="square" lIns="0" tIns="0" rIns="0" bIns="0" rtlCol="0" anchor="ctr"/>
          <a:lstStyle/>
          <a:p>
            <a:pPr marL="0" indent="0">
              <a:buNone/>
            </a:pPr>
            <a:r>
              <a:rPr lang="en-US" sz="1400" b="1" dirty="0">
                <a:solidFill>
                  <a:srgbClr val="4DA78F"/>
                </a:solidFill>
                <a:latin typeface="Open Sans" pitchFamily="34" charset="0"/>
                <a:ea typeface="Open Sans" pitchFamily="34" charset="-122"/>
                <a:cs typeface="Open Sans" pitchFamily="34" charset="-120"/>
              </a:rPr>
              <a:t>Consulting</a:t>
            </a:r>
            <a:endParaRPr lang="en-US" sz="1400" dirty="0"/>
          </a:p>
        </p:txBody>
      </p:sp>
      <p:sp>
        <p:nvSpPr>
          <p:cNvPr id="27" name="Text 25"/>
          <p:cNvSpPr/>
          <p:nvPr/>
        </p:nvSpPr>
        <p:spPr>
          <a:xfrm>
            <a:off x="6400800" y="3520440"/>
            <a:ext cx="2240280" cy="822960"/>
          </a:xfrm>
          <a:prstGeom prst="rect">
            <a:avLst/>
          </a:prstGeom>
          <a:noFill/>
          <a:ln/>
        </p:spPr>
        <p:txBody>
          <a:bodyPr wrap="square" lIns="0" tIns="0" rIns="0" bIns="0" rtlCol="0" anchor="ctr"/>
          <a:lstStyle/>
          <a:p>
            <a:pPr marL="0" indent="0">
              <a:buNone/>
            </a:pPr>
            <a:r>
              <a:rPr lang="en-US" sz="1000" dirty="0">
                <a:solidFill>
                  <a:srgbClr val="B8DDD1"/>
                </a:solidFill>
                <a:latin typeface="Open Sans" pitchFamily="34" charset="0"/>
                <a:ea typeface="Open Sans" pitchFamily="34" charset="-122"/>
                <a:cs typeface="Open Sans" pitchFamily="34" charset="-120"/>
              </a:rPr>
              <a:t>Due diligence analysis</a:t>
            </a:r>
            <a:endParaRPr lang="en-US" sz="1000" dirty="0"/>
          </a:p>
          <a:p>
            <a:pPr marL="0" indent="0">
              <a:buNone/>
            </a:pPr>
            <a:r>
              <a:rPr lang="en-US" sz="1000" dirty="0">
                <a:solidFill>
                  <a:srgbClr val="B8DDD1"/>
                </a:solidFill>
                <a:latin typeface="Open Sans" pitchFamily="34" charset="0"/>
                <a:ea typeface="Open Sans" pitchFamily="34" charset="-122"/>
                <a:cs typeface="Open Sans" pitchFamily="34" charset="-120"/>
              </a:rPr>
              <a:t>Spec-driven delegation</a:t>
            </a:r>
            <a:endParaRPr lang="en-US" sz="1000" dirty="0"/>
          </a:p>
          <a:p>
            <a:pPr marL="0" indent="0">
              <a:buNone/>
            </a:pPr>
            <a:r>
              <a:rPr lang="en-US" sz="1000" dirty="0">
                <a:solidFill>
                  <a:srgbClr val="B8DDD1"/>
                </a:solidFill>
                <a:latin typeface="Open Sans" pitchFamily="34" charset="0"/>
                <a:ea typeface="Open Sans" pitchFamily="34" charset="-122"/>
                <a:cs typeface="Open Sans" pitchFamily="34" charset="-120"/>
              </a:rPr>
              <a:t>Executive communication</a:t>
            </a:r>
            <a:endParaRPr lang="en-US" sz="1000" dirty="0"/>
          </a:p>
        </p:txBody>
      </p:sp>
      <p:sp>
        <p:nvSpPr>
          <p:cNvPr id="28" name="Text 26"/>
          <p:cNvSpPr/>
          <p:nvPr/>
        </p:nvSpPr>
        <p:spPr>
          <a:xfrm>
            <a:off x="548640" y="4663440"/>
            <a:ext cx="8046720" cy="274320"/>
          </a:xfrm>
          <a:prstGeom prst="rect">
            <a:avLst/>
          </a:prstGeom>
          <a:noFill/>
          <a:ln/>
        </p:spPr>
        <p:txBody>
          <a:bodyPr wrap="square" rtlCol="0" anchor="ctr"/>
          <a:lstStyle/>
          <a:p>
            <a:pPr marL="0" indent="0">
              <a:buNone/>
            </a:pPr>
            <a:r>
              <a:rPr lang="en-US" sz="1100" b="1" dirty="0">
                <a:solidFill>
                  <a:srgbClr val="C9A84C"/>
                </a:solidFill>
                <a:latin typeface="Open Sans" pitchFamily="34" charset="0"/>
                <a:ea typeface="Open Sans" pitchFamily="34" charset="-122"/>
                <a:cs typeface="Open Sans" pitchFamily="34" charset="-120"/>
              </a:rPr>
              <a:t>This is a portfolio-ready artifact for internships, promotions, and graduate programs.</a:t>
            </a:r>
            <a:endParaRPr lang="en-US" sz="1100" dirty="0"/>
          </a:p>
        </p:txBody>
      </p:sp>
    </p:spTree>
    <p:extLst>
      <p:ext uri="{BB962C8B-B14F-4D97-AF65-F5344CB8AC3E}">
        <p14:creationId xmlns:p14="http://schemas.microsoft.com/office/powerpoint/2010/main" val="39620552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24731"/>
          </a:solidFill>
          <a:ln/>
        </p:spPr>
        <p:txBody>
          <a:bodyPr/>
          <a:lstStyle/>
          <a:p>
            <a:endParaRPr lang="en-US"/>
          </a:p>
        </p:txBody>
      </p:sp>
      <p:sp>
        <p:nvSpPr>
          <p:cNvPr id="3" name="Shape 1"/>
          <p:cNvSpPr/>
          <p:nvPr/>
        </p:nvSpPr>
        <p:spPr>
          <a:xfrm>
            <a:off x="0" y="4709160"/>
            <a:ext cx="9144000" cy="434340"/>
          </a:xfrm>
          <a:prstGeom prst="rect">
            <a:avLst/>
          </a:prstGeom>
          <a:solidFill>
            <a:srgbClr val="36454F"/>
          </a:solidFill>
          <a:ln/>
        </p:spPr>
        <p:txBody>
          <a:bodyPr/>
          <a:lstStyle/>
          <a:p>
            <a:endParaRPr lang="en-US"/>
          </a:p>
        </p:txBody>
      </p:sp>
      <p:sp>
        <p:nvSpPr>
          <p:cNvPr id="4" name="Text 2"/>
          <p:cNvSpPr/>
          <p:nvPr/>
        </p:nvSpPr>
        <p:spPr>
          <a:xfrm>
            <a:off x="457200" y="4754880"/>
            <a:ext cx="8229600" cy="320040"/>
          </a:xfrm>
          <a:prstGeom prst="rect">
            <a:avLst/>
          </a:prstGeom>
          <a:noFill/>
          <a:ln/>
        </p:spPr>
        <p:txBody>
          <a:bodyPr wrap="square" rtlCol="0" anchor="ctr"/>
          <a:lstStyle/>
          <a:p>
            <a:pPr marL="0" indent="0" algn="ctr">
              <a:buNone/>
            </a:pPr>
            <a:r>
              <a:rPr lang="en-US" sz="900" dirty="0">
                <a:solidFill>
                  <a:srgbClr val="8A9BAD"/>
                </a:solidFill>
                <a:latin typeface="Open Sans" pitchFamily="34" charset="0"/>
                <a:ea typeface="Open Sans" pitchFamily="34" charset="-122"/>
                <a:cs typeface="Open Sans" pitchFamily="34" charset="-120"/>
              </a:rPr>
              <a:t>Stage 0  |  GitHub &amp; Workflow Onboarding  |  BUS-629  |  Shidler College of Business</a:t>
            </a:r>
            <a:endParaRPr lang="en-US" sz="900" dirty="0"/>
          </a:p>
        </p:txBody>
      </p:sp>
      <p:sp>
        <p:nvSpPr>
          <p:cNvPr id="5" name="Text 3"/>
          <p:cNvSpPr/>
          <p:nvPr/>
        </p:nvSpPr>
        <p:spPr>
          <a:xfrm>
            <a:off x="731520" y="320040"/>
            <a:ext cx="7680960" cy="457200"/>
          </a:xfrm>
          <a:prstGeom prst="rect">
            <a:avLst/>
          </a:prstGeom>
          <a:noFill/>
          <a:ln/>
        </p:spPr>
        <p:txBody>
          <a:bodyPr wrap="square" lIns="0" tIns="0" rIns="0" bIns="0" rtlCol="0" anchor="ctr"/>
          <a:lstStyle/>
          <a:p>
            <a:pPr marL="0" indent="0">
              <a:buNone/>
            </a:pPr>
            <a:r>
              <a:rPr lang="en-US" sz="2800" b="1" dirty="0">
                <a:solidFill>
                  <a:srgbClr val="FFFFFF"/>
                </a:solidFill>
                <a:latin typeface="Open Sans" pitchFamily="34" charset="0"/>
                <a:ea typeface="Open Sans" pitchFamily="34" charset="-122"/>
                <a:cs typeface="Open Sans" pitchFamily="34" charset="-120"/>
              </a:rPr>
              <a:t>What Is GitHub &amp; Why Does It Matter?</a:t>
            </a:r>
            <a:endParaRPr lang="en-US" sz="2800" dirty="0"/>
          </a:p>
        </p:txBody>
      </p:sp>
      <p:sp>
        <p:nvSpPr>
          <p:cNvPr id="6" name="Text 4"/>
          <p:cNvSpPr/>
          <p:nvPr/>
        </p:nvSpPr>
        <p:spPr>
          <a:xfrm>
            <a:off x="731520" y="868680"/>
            <a:ext cx="7680960" cy="548640"/>
          </a:xfrm>
          <a:prstGeom prst="rect">
            <a:avLst/>
          </a:prstGeom>
          <a:noFill/>
          <a:ln/>
        </p:spPr>
        <p:txBody>
          <a:bodyPr wrap="square" lIns="0" tIns="0" rIns="0" bIns="0" rtlCol="0" anchor="ctr"/>
          <a:lstStyle/>
          <a:p>
            <a:pPr marL="0" indent="0">
              <a:lnSpc>
                <a:spcPct val="130000"/>
              </a:lnSpc>
              <a:buNone/>
            </a:pPr>
            <a:r>
              <a:rPr lang="en-US" sz="1300" dirty="0">
                <a:solidFill>
                  <a:srgbClr val="5A6B7A"/>
                </a:solidFill>
                <a:latin typeface="Open Sans" pitchFamily="34" charset="0"/>
                <a:ea typeface="Open Sans" pitchFamily="34" charset="-122"/>
                <a:cs typeface="Open Sans" pitchFamily="34" charset="-120"/>
              </a:rPr>
              <a:t>GitHub is a cloud platform for version control. Think of it as Google Docs or </a:t>
            </a:r>
            <a:r>
              <a:rPr lang="en-US" sz="1300" dirty="0" err="1">
                <a:solidFill>
                  <a:srgbClr val="5A6B7A"/>
                </a:solidFill>
                <a:latin typeface="Open Sans" pitchFamily="34" charset="0"/>
                <a:ea typeface="Open Sans" pitchFamily="34" charset="-122"/>
                <a:cs typeface="Open Sans" pitchFamily="34" charset="-120"/>
              </a:rPr>
              <a:t>DropBox</a:t>
            </a:r>
            <a:r>
              <a:rPr lang="en-US" sz="1300" dirty="0">
                <a:solidFill>
                  <a:srgbClr val="5A6B7A"/>
                </a:solidFill>
                <a:latin typeface="Open Sans" pitchFamily="34" charset="0"/>
                <a:ea typeface="Open Sans" pitchFamily="34" charset="-122"/>
                <a:cs typeface="Open Sans" pitchFamily="34" charset="-120"/>
              </a:rPr>
              <a:t> for code and documents — every change is tracked, reversible, and visible to your instructor.</a:t>
            </a:r>
            <a:endParaRPr lang="en-US" sz="1300" dirty="0"/>
          </a:p>
        </p:txBody>
      </p:sp>
      <p:sp>
        <p:nvSpPr>
          <p:cNvPr id="7" name="Shape 5"/>
          <p:cNvSpPr/>
          <p:nvPr/>
        </p:nvSpPr>
        <p:spPr>
          <a:xfrm>
            <a:off x="731520" y="1691640"/>
            <a:ext cx="2377440" cy="2606040"/>
          </a:xfrm>
          <a:prstGeom prst="rect">
            <a:avLst/>
          </a:prstGeom>
          <a:solidFill>
            <a:srgbClr val="FFFFFF"/>
          </a:solidFill>
          <a:ln/>
          <a:effectLst>
            <a:outerShdw blurRad="76200" dist="25400" dir="8100000" algn="bl" rotWithShape="0">
              <a:srgbClr val="000000">
                <a:alpha val="8000"/>
              </a:srgbClr>
            </a:outerShdw>
          </a:effectLst>
        </p:spPr>
        <p:txBody>
          <a:bodyPr/>
          <a:lstStyle/>
          <a:p>
            <a:endParaRPr lang="en-US"/>
          </a:p>
        </p:txBody>
      </p:sp>
      <p:pic>
        <p:nvPicPr>
          <p:cNvPr id="8" name="Image 0" descr="preencoded.png"/>
          <p:cNvPicPr>
            <a:picLocks noChangeAspect="1"/>
          </p:cNvPicPr>
          <p:nvPr/>
        </p:nvPicPr>
        <p:blipFill>
          <a:blip r:embed="rId3"/>
          <a:stretch>
            <a:fillRect/>
          </a:stretch>
        </p:blipFill>
        <p:spPr>
          <a:xfrm>
            <a:off x="1554480" y="1920240"/>
            <a:ext cx="457200" cy="457200"/>
          </a:xfrm>
          <a:prstGeom prst="rect">
            <a:avLst/>
          </a:prstGeom>
        </p:spPr>
      </p:pic>
      <p:sp>
        <p:nvSpPr>
          <p:cNvPr id="9" name="Text 6"/>
          <p:cNvSpPr/>
          <p:nvPr/>
        </p:nvSpPr>
        <p:spPr>
          <a:xfrm>
            <a:off x="868680" y="2514600"/>
            <a:ext cx="2103120" cy="320040"/>
          </a:xfrm>
          <a:prstGeom prst="rect">
            <a:avLst/>
          </a:prstGeom>
          <a:noFill/>
          <a:ln/>
        </p:spPr>
        <p:txBody>
          <a:bodyPr wrap="square" lIns="0" tIns="0" rIns="0" bIns="0" rtlCol="0" anchor="ctr"/>
          <a:lstStyle/>
          <a:p>
            <a:pPr marL="0" indent="0" algn="ctr">
              <a:buNone/>
            </a:pPr>
            <a:r>
              <a:rPr lang="en-US" sz="1400" b="1" dirty="0">
                <a:solidFill>
                  <a:srgbClr val="1E2530"/>
                </a:solidFill>
                <a:latin typeface="Open Sans" pitchFamily="34" charset="0"/>
                <a:ea typeface="Open Sans" pitchFamily="34" charset="-122"/>
                <a:cs typeface="Open Sans" pitchFamily="34" charset="-120"/>
              </a:rPr>
              <a:t>Version History</a:t>
            </a:r>
            <a:endParaRPr lang="en-US" sz="1400" dirty="0"/>
          </a:p>
        </p:txBody>
      </p:sp>
      <p:sp>
        <p:nvSpPr>
          <p:cNvPr id="10" name="Text 7"/>
          <p:cNvSpPr/>
          <p:nvPr/>
        </p:nvSpPr>
        <p:spPr>
          <a:xfrm>
            <a:off x="868680" y="2880360"/>
            <a:ext cx="2103120" cy="1188720"/>
          </a:xfrm>
          <a:prstGeom prst="rect">
            <a:avLst/>
          </a:prstGeom>
          <a:noFill/>
          <a:ln/>
        </p:spPr>
        <p:txBody>
          <a:bodyPr wrap="square" lIns="0" tIns="0" rIns="0" bIns="0" rtlCol="0" anchor="t"/>
          <a:lstStyle/>
          <a:p>
            <a:pPr marL="0" indent="0" algn="ctr">
              <a:lnSpc>
                <a:spcPct val="140000"/>
              </a:lnSpc>
              <a:buNone/>
            </a:pPr>
            <a:r>
              <a:rPr lang="en-US" sz="1100" dirty="0">
                <a:solidFill>
                  <a:srgbClr val="5A6B7A"/>
                </a:solidFill>
                <a:latin typeface="Open Sans" pitchFamily="34" charset="0"/>
                <a:ea typeface="Open Sans" pitchFamily="34" charset="-122"/>
                <a:cs typeface="Open Sans" pitchFamily="34" charset="-120"/>
              </a:rPr>
              <a:t>Every save (commit) is permanent. You can always go back to a previous version if something breaks.</a:t>
            </a:r>
            <a:endParaRPr lang="en-US" sz="1100" dirty="0"/>
          </a:p>
        </p:txBody>
      </p:sp>
      <p:sp>
        <p:nvSpPr>
          <p:cNvPr id="11" name="Shape 8"/>
          <p:cNvSpPr/>
          <p:nvPr/>
        </p:nvSpPr>
        <p:spPr>
          <a:xfrm>
            <a:off x="3383280" y="1691640"/>
            <a:ext cx="2377440" cy="2606040"/>
          </a:xfrm>
          <a:prstGeom prst="rect">
            <a:avLst/>
          </a:prstGeom>
          <a:solidFill>
            <a:srgbClr val="FFFFFF"/>
          </a:solidFill>
          <a:ln/>
          <a:effectLst>
            <a:outerShdw blurRad="76200" dist="25400" dir="8100000" algn="bl" rotWithShape="0">
              <a:srgbClr val="000000">
                <a:alpha val="8000"/>
              </a:srgbClr>
            </a:outerShdw>
          </a:effectLst>
        </p:spPr>
        <p:txBody>
          <a:bodyPr/>
          <a:lstStyle/>
          <a:p>
            <a:endParaRPr lang="en-US"/>
          </a:p>
        </p:txBody>
      </p:sp>
      <p:pic>
        <p:nvPicPr>
          <p:cNvPr id="12" name="Image 1" descr="preencoded.png"/>
          <p:cNvPicPr>
            <a:picLocks noChangeAspect="1"/>
          </p:cNvPicPr>
          <p:nvPr/>
        </p:nvPicPr>
        <p:blipFill>
          <a:blip r:embed="rId4"/>
          <a:stretch>
            <a:fillRect/>
          </a:stretch>
        </p:blipFill>
        <p:spPr>
          <a:xfrm>
            <a:off x="4206240" y="1920240"/>
            <a:ext cx="457200" cy="457200"/>
          </a:xfrm>
          <a:prstGeom prst="rect">
            <a:avLst/>
          </a:prstGeom>
        </p:spPr>
      </p:pic>
      <p:sp>
        <p:nvSpPr>
          <p:cNvPr id="13" name="Text 9"/>
          <p:cNvSpPr/>
          <p:nvPr/>
        </p:nvSpPr>
        <p:spPr>
          <a:xfrm>
            <a:off x="3520440" y="2514600"/>
            <a:ext cx="2103120" cy="320040"/>
          </a:xfrm>
          <a:prstGeom prst="rect">
            <a:avLst/>
          </a:prstGeom>
          <a:noFill/>
          <a:ln/>
        </p:spPr>
        <p:txBody>
          <a:bodyPr wrap="square" lIns="0" tIns="0" rIns="0" bIns="0" rtlCol="0" anchor="ctr"/>
          <a:lstStyle/>
          <a:p>
            <a:pPr marL="0" indent="0" algn="ctr">
              <a:buNone/>
            </a:pPr>
            <a:r>
              <a:rPr lang="en-US" sz="1400" b="1" dirty="0">
                <a:solidFill>
                  <a:srgbClr val="1E2530"/>
                </a:solidFill>
                <a:latin typeface="Open Sans" pitchFamily="34" charset="0"/>
                <a:ea typeface="Open Sans" pitchFamily="34" charset="-122"/>
                <a:cs typeface="Open Sans" pitchFamily="34" charset="-120"/>
              </a:rPr>
              <a:t>Portfolio Artifact</a:t>
            </a:r>
            <a:endParaRPr lang="en-US" sz="1400" dirty="0"/>
          </a:p>
        </p:txBody>
      </p:sp>
      <p:sp>
        <p:nvSpPr>
          <p:cNvPr id="14" name="Text 10"/>
          <p:cNvSpPr/>
          <p:nvPr/>
        </p:nvSpPr>
        <p:spPr>
          <a:xfrm>
            <a:off x="3520440" y="2880360"/>
            <a:ext cx="2103120" cy="1188720"/>
          </a:xfrm>
          <a:prstGeom prst="rect">
            <a:avLst/>
          </a:prstGeom>
          <a:noFill/>
          <a:ln/>
        </p:spPr>
        <p:txBody>
          <a:bodyPr wrap="square" lIns="0" tIns="0" rIns="0" bIns="0" rtlCol="0" anchor="t"/>
          <a:lstStyle/>
          <a:p>
            <a:pPr marL="0" indent="0" algn="ctr">
              <a:lnSpc>
                <a:spcPct val="140000"/>
              </a:lnSpc>
              <a:buNone/>
            </a:pPr>
            <a:r>
              <a:rPr lang="en-US" sz="1100" dirty="0">
                <a:solidFill>
                  <a:srgbClr val="5A6B7A"/>
                </a:solidFill>
                <a:latin typeface="Open Sans" pitchFamily="34" charset="0"/>
                <a:ea typeface="Open Sans" pitchFamily="34" charset="-122"/>
                <a:cs typeface="Open Sans" pitchFamily="34" charset="-120"/>
              </a:rPr>
              <a:t>Your GitHub profile becomes a professional portfolio. Employers and grad schools check GitHub.</a:t>
            </a:r>
            <a:endParaRPr lang="en-US" sz="1100" dirty="0"/>
          </a:p>
        </p:txBody>
      </p:sp>
      <p:sp>
        <p:nvSpPr>
          <p:cNvPr id="15" name="Shape 11"/>
          <p:cNvSpPr/>
          <p:nvPr/>
        </p:nvSpPr>
        <p:spPr>
          <a:xfrm>
            <a:off x="6035040" y="1691640"/>
            <a:ext cx="2377440" cy="2606040"/>
          </a:xfrm>
          <a:prstGeom prst="rect">
            <a:avLst/>
          </a:prstGeom>
          <a:solidFill>
            <a:srgbClr val="FFFFFF"/>
          </a:solidFill>
          <a:ln/>
          <a:effectLst>
            <a:outerShdw blurRad="76200" dist="25400" dir="8100000" algn="bl" rotWithShape="0">
              <a:srgbClr val="000000">
                <a:alpha val="8000"/>
              </a:srgbClr>
            </a:outerShdw>
          </a:effectLst>
        </p:spPr>
        <p:txBody>
          <a:bodyPr/>
          <a:lstStyle/>
          <a:p>
            <a:endParaRPr lang="en-US"/>
          </a:p>
        </p:txBody>
      </p:sp>
      <p:pic>
        <p:nvPicPr>
          <p:cNvPr id="16" name="Image 2" descr="preencoded.png"/>
          <p:cNvPicPr>
            <a:picLocks noChangeAspect="1"/>
          </p:cNvPicPr>
          <p:nvPr/>
        </p:nvPicPr>
        <p:blipFill>
          <a:blip r:embed="rId5"/>
          <a:stretch>
            <a:fillRect/>
          </a:stretch>
        </p:blipFill>
        <p:spPr>
          <a:xfrm>
            <a:off x="6858000" y="1920240"/>
            <a:ext cx="457200" cy="457200"/>
          </a:xfrm>
          <a:prstGeom prst="rect">
            <a:avLst/>
          </a:prstGeom>
        </p:spPr>
      </p:pic>
      <p:sp>
        <p:nvSpPr>
          <p:cNvPr id="17" name="Text 12"/>
          <p:cNvSpPr/>
          <p:nvPr/>
        </p:nvSpPr>
        <p:spPr>
          <a:xfrm>
            <a:off x="6172200" y="2514600"/>
            <a:ext cx="2103120" cy="320040"/>
          </a:xfrm>
          <a:prstGeom prst="rect">
            <a:avLst/>
          </a:prstGeom>
          <a:noFill/>
          <a:ln/>
        </p:spPr>
        <p:txBody>
          <a:bodyPr wrap="square" lIns="0" tIns="0" rIns="0" bIns="0" rtlCol="0" anchor="ctr"/>
          <a:lstStyle/>
          <a:p>
            <a:pPr marL="0" indent="0" algn="ctr">
              <a:buNone/>
            </a:pPr>
            <a:r>
              <a:rPr lang="en-US" sz="1400" b="1" dirty="0">
                <a:solidFill>
                  <a:srgbClr val="1E2530"/>
                </a:solidFill>
                <a:latin typeface="Open Sans" pitchFamily="34" charset="0"/>
                <a:ea typeface="Open Sans" pitchFamily="34" charset="-122"/>
                <a:cs typeface="Open Sans" pitchFamily="34" charset="-120"/>
              </a:rPr>
              <a:t>Submission &amp; Grading</a:t>
            </a:r>
            <a:endParaRPr lang="en-US" sz="1400" dirty="0"/>
          </a:p>
        </p:txBody>
      </p:sp>
      <p:sp>
        <p:nvSpPr>
          <p:cNvPr id="18" name="Text 13"/>
          <p:cNvSpPr/>
          <p:nvPr/>
        </p:nvSpPr>
        <p:spPr>
          <a:xfrm>
            <a:off x="6172200" y="2880360"/>
            <a:ext cx="2103120" cy="1188720"/>
          </a:xfrm>
          <a:prstGeom prst="rect">
            <a:avLst/>
          </a:prstGeom>
          <a:noFill/>
          <a:ln/>
        </p:spPr>
        <p:txBody>
          <a:bodyPr wrap="square" lIns="0" tIns="0" rIns="0" bIns="0" rtlCol="0" anchor="t"/>
          <a:lstStyle/>
          <a:p>
            <a:pPr marL="0" indent="0" algn="ctr">
              <a:lnSpc>
                <a:spcPct val="140000"/>
              </a:lnSpc>
              <a:buNone/>
            </a:pPr>
            <a:r>
              <a:rPr lang="en-US" sz="1100" dirty="0">
                <a:solidFill>
                  <a:srgbClr val="5A6B7A"/>
                </a:solidFill>
                <a:latin typeface="Open Sans" pitchFamily="34" charset="0"/>
                <a:ea typeface="Open Sans" pitchFamily="34" charset="-122"/>
                <a:cs typeface="Open Sans" pitchFamily="34" charset="-120"/>
              </a:rPr>
              <a:t>All stage deliverables are submitted by committing to GitHub. Your commit history IS your audit trail.</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4BB883-426B-E8D1-1DD1-7524737DDC51}"/>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5AEFAAD1-3590-726E-DAA2-22F3B8EAF0C0}"/>
              </a:ext>
            </a:extLst>
          </p:cNvPr>
          <p:cNvSpPr/>
          <p:nvPr/>
        </p:nvSpPr>
        <p:spPr>
          <a:xfrm>
            <a:off x="0" y="0"/>
            <a:ext cx="9144000" cy="36576"/>
          </a:xfrm>
          <a:prstGeom prst="rect">
            <a:avLst/>
          </a:prstGeom>
          <a:solidFill>
            <a:srgbClr val="B8975C"/>
          </a:solidFill>
          <a:ln/>
        </p:spPr>
        <p:txBody>
          <a:bodyPr/>
          <a:lstStyle/>
          <a:p>
            <a:endParaRPr lang="en-US"/>
          </a:p>
        </p:txBody>
      </p:sp>
      <p:sp>
        <p:nvSpPr>
          <p:cNvPr id="3" name="Text 1">
            <a:extLst>
              <a:ext uri="{FF2B5EF4-FFF2-40B4-BE49-F238E27FC236}">
                <a16:creationId xmlns:a16="http://schemas.microsoft.com/office/drawing/2014/main" id="{97D63483-4CAA-E4A6-C0CC-010D2B0127C1}"/>
              </a:ext>
            </a:extLst>
          </p:cNvPr>
          <p:cNvSpPr/>
          <p:nvPr/>
        </p:nvSpPr>
        <p:spPr>
          <a:xfrm>
            <a:off x="731520" y="731520"/>
            <a:ext cx="7680960" cy="365760"/>
          </a:xfrm>
          <a:prstGeom prst="rect">
            <a:avLst/>
          </a:prstGeom>
          <a:noFill/>
          <a:ln/>
        </p:spPr>
        <p:txBody>
          <a:bodyPr wrap="square" lIns="0" tIns="0" rIns="0" bIns="0" rtlCol="0" anchor="ctr"/>
          <a:lstStyle/>
          <a:p>
            <a:pPr marL="0" indent="0">
              <a:buNone/>
            </a:pPr>
            <a:r>
              <a:rPr lang="en-US" sz="1400" b="1" kern="0" spc="600" dirty="0">
                <a:solidFill>
                  <a:srgbClr val="B8975C"/>
                </a:solidFill>
                <a:latin typeface="Open Sans" pitchFamily="34" charset="0"/>
                <a:ea typeface="Open Sans" pitchFamily="34" charset="-122"/>
                <a:cs typeface="Open Sans" pitchFamily="34" charset="-120"/>
              </a:rPr>
              <a:t>STAGE 0</a:t>
            </a:r>
            <a:endParaRPr lang="en-US" sz="1400" dirty="0"/>
          </a:p>
        </p:txBody>
      </p:sp>
      <p:sp>
        <p:nvSpPr>
          <p:cNvPr id="4" name="Text 2">
            <a:extLst>
              <a:ext uri="{FF2B5EF4-FFF2-40B4-BE49-F238E27FC236}">
                <a16:creationId xmlns:a16="http://schemas.microsoft.com/office/drawing/2014/main" id="{46BF2A88-7978-DB27-4E54-C7FB69426933}"/>
              </a:ext>
            </a:extLst>
          </p:cNvPr>
          <p:cNvSpPr/>
          <p:nvPr/>
        </p:nvSpPr>
        <p:spPr>
          <a:xfrm>
            <a:off x="731520" y="1280160"/>
            <a:ext cx="7680960" cy="1645920"/>
          </a:xfrm>
          <a:prstGeom prst="rect">
            <a:avLst/>
          </a:prstGeom>
          <a:noFill/>
          <a:ln/>
        </p:spPr>
        <p:txBody>
          <a:bodyPr wrap="square" lIns="0" tIns="0" rIns="0" bIns="0" rtlCol="0" anchor="ctr"/>
          <a:lstStyle/>
          <a:p>
            <a:pPr marL="0" indent="0">
              <a:lnSpc>
                <a:spcPct val="110000"/>
              </a:lnSpc>
              <a:buNone/>
            </a:pPr>
            <a:r>
              <a:rPr lang="en-US" sz="4000" b="1" dirty="0">
                <a:solidFill>
                  <a:schemeClr val="accent6">
                    <a:lumMod val="50000"/>
                  </a:schemeClr>
                </a:solidFill>
                <a:latin typeface="Open Sans" pitchFamily="34" charset="0"/>
                <a:ea typeface="Open Sans" pitchFamily="34" charset="-122"/>
                <a:cs typeface="Open Sans" pitchFamily="34" charset="-120"/>
              </a:rPr>
              <a:t>Setup GitHub Repo</a:t>
            </a:r>
            <a:endParaRPr lang="en-US" sz="4000" dirty="0">
              <a:solidFill>
                <a:schemeClr val="accent6">
                  <a:lumMod val="50000"/>
                </a:schemeClr>
              </a:solidFill>
            </a:endParaRPr>
          </a:p>
        </p:txBody>
      </p:sp>
      <p:sp>
        <p:nvSpPr>
          <p:cNvPr id="5" name="Shape 3">
            <a:extLst>
              <a:ext uri="{FF2B5EF4-FFF2-40B4-BE49-F238E27FC236}">
                <a16:creationId xmlns:a16="http://schemas.microsoft.com/office/drawing/2014/main" id="{5496EC70-BA8E-CA4A-FF4E-3C90AA7FA00C}"/>
              </a:ext>
            </a:extLst>
          </p:cNvPr>
          <p:cNvSpPr/>
          <p:nvPr/>
        </p:nvSpPr>
        <p:spPr>
          <a:xfrm>
            <a:off x="731520" y="3108960"/>
            <a:ext cx="1828800" cy="36576"/>
          </a:xfrm>
          <a:prstGeom prst="rect">
            <a:avLst/>
          </a:prstGeom>
          <a:solidFill>
            <a:srgbClr val="B8975C"/>
          </a:solidFill>
          <a:ln/>
        </p:spPr>
        <p:txBody>
          <a:bodyPr/>
          <a:lstStyle/>
          <a:p>
            <a:endParaRPr lang="en-US"/>
          </a:p>
        </p:txBody>
      </p:sp>
      <p:sp>
        <p:nvSpPr>
          <p:cNvPr id="6" name="Text 4">
            <a:extLst>
              <a:ext uri="{FF2B5EF4-FFF2-40B4-BE49-F238E27FC236}">
                <a16:creationId xmlns:a16="http://schemas.microsoft.com/office/drawing/2014/main" id="{4F739FD6-FEE5-F5ED-783C-2A3A58B9D469}"/>
              </a:ext>
            </a:extLst>
          </p:cNvPr>
          <p:cNvSpPr/>
          <p:nvPr/>
        </p:nvSpPr>
        <p:spPr>
          <a:xfrm>
            <a:off x="731520" y="3337560"/>
            <a:ext cx="6400800" cy="640080"/>
          </a:xfrm>
          <a:prstGeom prst="rect">
            <a:avLst/>
          </a:prstGeom>
          <a:noFill/>
          <a:ln/>
        </p:spPr>
        <p:txBody>
          <a:bodyPr wrap="square" lIns="0" tIns="0" rIns="0" bIns="0" rtlCol="0" anchor="ctr"/>
          <a:lstStyle/>
          <a:p>
            <a:pPr marL="0" indent="0">
              <a:lnSpc>
                <a:spcPct val="140000"/>
              </a:lnSpc>
              <a:buNone/>
            </a:pPr>
            <a:r>
              <a:rPr lang="en-US" sz="1600" dirty="0">
                <a:solidFill>
                  <a:srgbClr val="36454F"/>
                </a:solidFill>
              </a:rPr>
              <a:t>Create your repository, install GitHub Desktop, and clone it locally so every step that follows is tracked.</a:t>
            </a:r>
          </a:p>
        </p:txBody>
      </p:sp>
      <p:pic>
        <p:nvPicPr>
          <p:cNvPr id="7" name="Image 0" descr="preencoded.png">
            <a:extLst>
              <a:ext uri="{FF2B5EF4-FFF2-40B4-BE49-F238E27FC236}">
                <a16:creationId xmlns:a16="http://schemas.microsoft.com/office/drawing/2014/main" id="{C85ACDA1-CB93-F31A-EDDD-FF661BECBC92}"/>
              </a:ext>
            </a:extLst>
          </p:cNvPr>
          <p:cNvPicPr>
            <a:picLocks noChangeAspect="1"/>
          </p:cNvPicPr>
          <p:nvPr/>
        </p:nvPicPr>
        <p:blipFill>
          <a:blip r:embed="rId3"/>
          <a:stretch>
            <a:fillRect/>
          </a:stretch>
        </p:blipFill>
        <p:spPr>
          <a:xfrm>
            <a:off x="7132320" y="3017520"/>
            <a:ext cx="1097280" cy="1097280"/>
          </a:xfrm>
          <a:prstGeom prst="rect">
            <a:avLst/>
          </a:prstGeom>
        </p:spPr>
      </p:pic>
      <p:sp>
        <p:nvSpPr>
          <p:cNvPr id="8" name="Text 5">
            <a:extLst>
              <a:ext uri="{FF2B5EF4-FFF2-40B4-BE49-F238E27FC236}">
                <a16:creationId xmlns:a16="http://schemas.microsoft.com/office/drawing/2014/main" id="{6CEA2D6F-F5EF-E249-C43C-AD7260A4517D}"/>
              </a:ext>
            </a:extLst>
          </p:cNvPr>
          <p:cNvSpPr/>
          <p:nvPr/>
        </p:nvSpPr>
        <p:spPr>
          <a:xfrm>
            <a:off x="457200" y="4663440"/>
            <a:ext cx="8229600" cy="320040"/>
          </a:xfrm>
          <a:prstGeom prst="rect">
            <a:avLst/>
          </a:prstGeom>
          <a:noFill/>
          <a:ln/>
        </p:spPr>
        <p:txBody>
          <a:bodyPr wrap="square" lIns="0" tIns="0" rIns="0" bIns="0" rtlCol="0" anchor="ctr"/>
          <a:lstStyle/>
          <a:p>
            <a:pPr marL="0" indent="0" algn="ctr">
              <a:buNone/>
            </a:pPr>
            <a:r>
              <a:rPr lang="en-US" sz="1000" dirty="0">
                <a:solidFill>
                  <a:srgbClr val="5A6B7A"/>
                </a:solidFill>
                <a:latin typeface="Open Sans" pitchFamily="34" charset="0"/>
                <a:ea typeface="Open Sans" pitchFamily="34" charset="-122"/>
                <a:cs typeface="Open Sans" pitchFamily="34" charset="-120"/>
              </a:rPr>
              <a:t>Shidler College of Business  |  University of Hawaiʻi at Mānoa</a:t>
            </a:r>
            <a:endParaRPr lang="en-US" sz="1000" dirty="0"/>
          </a:p>
        </p:txBody>
      </p:sp>
    </p:spTree>
    <p:extLst>
      <p:ext uri="{BB962C8B-B14F-4D97-AF65-F5344CB8AC3E}">
        <p14:creationId xmlns:p14="http://schemas.microsoft.com/office/powerpoint/2010/main" val="125095540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24731"/>
          </a:solidFill>
          <a:ln/>
        </p:spPr>
        <p:txBody>
          <a:bodyPr/>
          <a:lstStyle/>
          <a:p>
            <a:endParaRPr lang="en-US"/>
          </a:p>
        </p:txBody>
      </p:sp>
      <p:sp>
        <p:nvSpPr>
          <p:cNvPr id="3" name="Text 1"/>
          <p:cNvSpPr/>
          <p:nvPr/>
        </p:nvSpPr>
        <p:spPr>
          <a:xfrm>
            <a:off x="548640" y="137160"/>
            <a:ext cx="7315200" cy="274320"/>
          </a:xfrm>
          <a:prstGeom prst="rect">
            <a:avLst/>
          </a:prstGeom>
          <a:noFill/>
          <a:ln/>
        </p:spPr>
        <p:txBody>
          <a:bodyPr wrap="square" lIns="0" tIns="0" rIns="0" bIns="0" rtlCol="0" anchor="ctr"/>
          <a:lstStyle/>
          <a:p>
            <a:pPr marL="0" indent="0">
              <a:buNone/>
            </a:pPr>
            <a:r>
              <a:rPr lang="en-US" sz="2000" b="1" dirty="0">
                <a:solidFill>
                  <a:srgbClr val="FFFFFF"/>
                </a:solidFill>
                <a:latin typeface="Open Sans" pitchFamily="34" charset="0"/>
                <a:ea typeface="Open Sans" pitchFamily="34" charset="-122"/>
                <a:cs typeface="Open Sans" pitchFamily="34" charset="-120"/>
              </a:rPr>
              <a:t>Stage 0 — Repository Setup &amp; Infrastructure</a:t>
            </a:r>
            <a:endParaRPr lang="en-US" sz="2000" dirty="0"/>
          </a:p>
        </p:txBody>
      </p:sp>
      <p:sp>
        <p:nvSpPr>
          <p:cNvPr id="4" name="Text 2"/>
          <p:cNvSpPr/>
          <p:nvPr/>
        </p:nvSpPr>
        <p:spPr>
          <a:xfrm>
            <a:off x="548640" y="429768"/>
            <a:ext cx="2743200" cy="228600"/>
          </a:xfrm>
          <a:prstGeom prst="rect">
            <a:avLst/>
          </a:prstGeom>
          <a:noFill/>
          <a:ln/>
        </p:spPr>
        <p:txBody>
          <a:bodyPr wrap="square" lIns="0" tIns="0" rIns="0" bIns="0" rtlCol="0" anchor="ctr"/>
          <a:lstStyle/>
          <a:p>
            <a:pPr marL="0" indent="0">
              <a:buNone/>
            </a:pPr>
            <a:r>
              <a:rPr lang="en-US" sz="1100" dirty="0">
                <a:solidFill>
                  <a:srgbClr val="B8DDD1"/>
                </a:solidFill>
                <a:latin typeface="Open Sans" pitchFamily="34" charset="0"/>
                <a:ea typeface="Open Sans" pitchFamily="34" charset="-122"/>
                <a:cs typeface="Open Sans" pitchFamily="34" charset="-120"/>
              </a:rPr>
              <a:t>5% of project</a:t>
            </a:r>
            <a:endParaRPr lang="en-US" sz="1100" dirty="0"/>
          </a:p>
        </p:txBody>
      </p:sp>
      <p:sp>
        <p:nvSpPr>
          <p:cNvPr id="5" name="Shape 3"/>
          <p:cNvSpPr/>
          <p:nvPr/>
        </p:nvSpPr>
        <p:spPr>
          <a:xfrm>
            <a:off x="457200" y="1051560"/>
            <a:ext cx="4023360" cy="3566160"/>
          </a:xfrm>
          <a:prstGeom prst="rect">
            <a:avLst/>
          </a:prstGeom>
          <a:solidFill>
            <a:srgbClr val="1A2332"/>
          </a:solidFill>
          <a:ln/>
          <a:effectLst>
            <a:outerShdw blurRad="76200" dist="25400" dir="8100000" algn="bl" rotWithShape="0">
              <a:srgbClr val="000000">
                <a:alpha val="12000"/>
              </a:srgbClr>
            </a:outerShdw>
          </a:effectLst>
        </p:spPr>
        <p:txBody>
          <a:bodyPr/>
          <a:lstStyle/>
          <a:p>
            <a:endParaRPr lang="en-US"/>
          </a:p>
        </p:txBody>
      </p:sp>
      <p:sp>
        <p:nvSpPr>
          <p:cNvPr id="6" name="Text 4"/>
          <p:cNvSpPr/>
          <p:nvPr/>
        </p:nvSpPr>
        <p:spPr>
          <a:xfrm>
            <a:off x="640080" y="1188720"/>
            <a:ext cx="3657600" cy="3291840"/>
          </a:xfrm>
          <a:prstGeom prst="rect">
            <a:avLst/>
          </a:prstGeom>
          <a:noFill/>
          <a:ln/>
        </p:spPr>
        <p:txBody>
          <a:bodyPr wrap="square" rtlCol="0" anchor="ctr"/>
          <a:lstStyle/>
          <a:p>
            <a:pPr marL="0" indent="0">
              <a:lnSpc>
                <a:spcPct val="115000"/>
              </a:lnSpc>
              <a:buNone/>
            </a:pPr>
            <a:r>
              <a:rPr lang="en-US" sz="1000" dirty="0">
                <a:solidFill>
                  <a:srgbClr val="4DA78F"/>
                </a:solidFill>
                <a:latin typeface="Consolas" pitchFamily="34" charset="0"/>
                <a:ea typeface="Consolas" pitchFamily="34" charset="-122"/>
                <a:cs typeface="Consolas" pitchFamily="34" charset="-120"/>
              </a:rPr>
              <a:t>Corporate-Finance/      # your portfolio repo</a:t>
            </a:r>
            <a:endParaRPr lang="en-US" sz="1000" dirty="0"/>
          </a:p>
          <a:p>
            <a:pPr marL="0" indent="0">
              <a:lnSpc>
                <a:spcPct val="115000"/>
              </a:lnSpc>
              <a:buNone/>
            </a:pPr>
            <a:r>
              <a:rPr lang="en-US" sz="1000" dirty="0">
                <a:solidFill>
                  <a:srgbClr val="4DA78F"/>
                </a:solidFill>
                <a:latin typeface="Consolas" pitchFamily="34" charset="0"/>
                <a:ea typeface="Consolas" pitchFamily="34" charset="-122"/>
                <a:cs typeface="Consolas" pitchFamily="34" charset="-120"/>
              </a:rPr>
              <a:t>├── README.md           # your bio (repo home)</a:t>
            </a:r>
            <a:endParaRPr lang="en-US" sz="1000" dirty="0"/>
          </a:p>
          <a:p>
            <a:pPr marL="0" indent="0">
              <a:lnSpc>
                <a:spcPct val="115000"/>
              </a:lnSpc>
              <a:buNone/>
            </a:pPr>
            <a:r>
              <a:rPr lang="en-US" sz="1000" dirty="0">
                <a:solidFill>
                  <a:srgbClr val="4DA78F"/>
                </a:solidFill>
                <a:latin typeface="Consolas" pitchFamily="34" charset="0"/>
                <a:ea typeface="Consolas" pitchFamily="34" charset="-122"/>
                <a:cs typeface="Consolas" pitchFamily="34" charset="-120"/>
              </a:rPr>
              <a:t>├── RESUME.md           # markdown resume</a:t>
            </a:r>
            <a:endParaRPr lang="en-US" sz="1000" dirty="0"/>
          </a:p>
          <a:p>
            <a:pPr marL="0" indent="0">
              <a:lnSpc>
                <a:spcPct val="115000"/>
              </a:lnSpc>
              <a:buNone/>
            </a:pPr>
            <a:r>
              <a:rPr lang="en-US" sz="1000" dirty="0">
                <a:solidFill>
                  <a:srgbClr val="4DA78F"/>
                </a:solidFill>
                <a:latin typeface="Consolas" pitchFamily="34" charset="0"/>
                <a:ea typeface="Consolas" pitchFamily="34" charset="-122"/>
                <a:cs typeface="Consolas" pitchFamily="34" charset="-120"/>
              </a:rPr>
              <a:t>├── BIO.md              # optional longer bio</a:t>
            </a:r>
            <a:endParaRPr lang="en-US" sz="1000" dirty="0"/>
          </a:p>
          <a:p>
            <a:pPr marL="0" indent="0">
              <a:lnSpc>
                <a:spcPct val="115000"/>
              </a:lnSpc>
              <a:buNone/>
            </a:pPr>
            <a:r>
              <a:rPr lang="en-US" sz="1000" dirty="0">
                <a:solidFill>
                  <a:srgbClr val="4DA78F"/>
                </a:solidFill>
                <a:latin typeface="Consolas" pitchFamily="34" charset="0"/>
                <a:ea typeface="Consolas" pitchFamily="34" charset="-122"/>
                <a:cs typeface="Consolas" pitchFamily="34" charset="-120"/>
              </a:rPr>
              <a:t>├── docs/               # written deliverables</a:t>
            </a:r>
            <a:endParaRPr lang="en-US" sz="1000" dirty="0"/>
          </a:p>
          <a:p>
            <a:pPr marL="0" indent="0">
              <a:lnSpc>
                <a:spcPct val="115000"/>
              </a:lnSpc>
              <a:buNone/>
            </a:pPr>
            <a:r>
              <a:rPr lang="en-US" sz="1000" dirty="0">
                <a:solidFill>
                  <a:srgbClr val="4DA78F"/>
                </a:solidFill>
                <a:latin typeface="Consolas" pitchFamily="34" charset="0"/>
                <a:ea typeface="Consolas" pitchFamily="34" charset="-122"/>
                <a:cs typeface="Consolas" pitchFamily="34" charset="-120"/>
              </a:rPr>
              <a:t>│   ├── decisions/      # memos (Stage 2)</a:t>
            </a:r>
            <a:endParaRPr lang="en-US" sz="1000" dirty="0"/>
          </a:p>
          <a:p>
            <a:pPr marL="0" indent="0">
              <a:lnSpc>
                <a:spcPct val="115000"/>
              </a:lnSpc>
              <a:buNone/>
            </a:pPr>
            <a:r>
              <a:rPr lang="en-US" sz="1000" dirty="0">
                <a:solidFill>
                  <a:srgbClr val="4DA78F"/>
                </a:solidFill>
                <a:latin typeface="Consolas" pitchFamily="34" charset="0"/>
                <a:ea typeface="Consolas" pitchFamily="34" charset="-122"/>
                <a:cs typeface="Consolas" pitchFamily="34" charset="-120"/>
              </a:rPr>
              <a:t>│   ├── specs/          # tech specs (Stage 4)</a:t>
            </a:r>
            <a:endParaRPr lang="en-US" sz="1000" dirty="0"/>
          </a:p>
          <a:p>
            <a:pPr marL="0" indent="0">
              <a:lnSpc>
                <a:spcPct val="115000"/>
              </a:lnSpc>
              <a:buNone/>
            </a:pPr>
            <a:r>
              <a:rPr lang="en-US" sz="1000" dirty="0">
                <a:solidFill>
                  <a:srgbClr val="4DA78F"/>
                </a:solidFill>
                <a:latin typeface="Consolas" pitchFamily="34" charset="0"/>
                <a:ea typeface="Consolas" pitchFamily="34" charset="-122"/>
                <a:cs typeface="Consolas" pitchFamily="34" charset="-120"/>
              </a:rPr>
              <a:t>│   ├── plans/          # optional plans</a:t>
            </a:r>
            <a:endParaRPr lang="en-US" sz="1000" dirty="0"/>
          </a:p>
          <a:p>
            <a:pPr marL="0" indent="0">
              <a:lnSpc>
                <a:spcPct val="115000"/>
              </a:lnSpc>
              <a:buNone/>
            </a:pPr>
            <a:r>
              <a:rPr lang="en-US" sz="1000" dirty="0">
                <a:solidFill>
                  <a:srgbClr val="4DA78F"/>
                </a:solidFill>
                <a:latin typeface="Consolas" pitchFamily="34" charset="0"/>
                <a:ea typeface="Consolas" pitchFamily="34" charset="-122"/>
                <a:cs typeface="Consolas" pitchFamily="34" charset="-120"/>
              </a:rPr>
              <a:t>│   └── templates/      # local stubs</a:t>
            </a:r>
            <a:endParaRPr lang="en-US" sz="1000" dirty="0"/>
          </a:p>
          <a:p>
            <a:pPr marL="0" indent="0">
              <a:lnSpc>
                <a:spcPct val="115000"/>
              </a:lnSpc>
              <a:buNone/>
            </a:pPr>
            <a:r>
              <a:rPr lang="en-US" sz="1000" dirty="0">
                <a:solidFill>
                  <a:srgbClr val="4DA78F"/>
                </a:solidFill>
                <a:latin typeface="Consolas" pitchFamily="34" charset="0"/>
                <a:ea typeface="Consolas" pitchFamily="34" charset="-122"/>
                <a:cs typeface="Consolas" pitchFamily="34" charset="-120"/>
              </a:rPr>
              <a:t>├── models/             # Excel work</a:t>
            </a:r>
            <a:endParaRPr lang="en-US" sz="1000" dirty="0"/>
          </a:p>
          <a:p>
            <a:pPr marL="0" indent="0">
              <a:lnSpc>
                <a:spcPct val="115000"/>
              </a:lnSpc>
              <a:buNone/>
            </a:pPr>
            <a:r>
              <a:rPr lang="en-US" sz="1000" dirty="0">
                <a:solidFill>
                  <a:srgbClr val="4DA78F"/>
                </a:solidFill>
                <a:latin typeface="Consolas" pitchFamily="34" charset="0"/>
                <a:ea typeface="Consolas" pitchFamily="34" charset="-122"/>
                <a:cs typeface="Consolas" pitchFamily="34" charset="-120"/>
              </a:rPr>
              <a:t>│   ├── templates/      # blank ratios template</a:t>
            </a:r>
            <a:endParaRPr lang="en-US" sz="1000" dirty="0"/>
          </a:p>
          <a:p>
            <a:pPr marL="0" indent="0">
              <a:lnSpc>
                <a:spcPct val="115000"/>
              </a:lnSpc>
              <a:buNone/>
            </a:pPr>
            <a:r>
              <a:rPr lang="en-US" sz="1000" dirty="0">
                <a:solidFill>
                  <a:srgbClr val="4DA78F"/>
                </a:solidFill>
                <a:latin typeface="Consolas" pitchFamily="34" charset="0"/>
                <a:ea typeface="Consolas" pitchFamily="34" charset="-122"/>
                <a:cs typeface="Consolas" pitchFamily="34" charset="-120"/>
              </a:rPr>
              <a:t>│   └── builds/         # populated (Stage 3)</a:t>
            </a:r>
            <a:endParaRPr lang="en-US" sz="1000" dirty="0"/>
          </a:p>
          <a:p>
            <a:pPr marL="0" indent="0">
              <a:lnSpc>
                <a:spcPct val="115000"/>
              </a:lnSpc>
              <a:buNone/>
            </a:pPr>
            <a:r>
              <a:rPr lang="en-US" sz="1000" dirty="0">
                <a:solidFill>
                  <a:srgbClr val="4DA78F"/>
                </a:solidFill>
                <a:latin typeface="Consolas" pitchFamily="34" charset="0"/>
                <a:ea typeface="Consolas" pitchFamily="34" charset="-122"/>
                <a:cs typeface="Consolas" pitchFamily="34" charset="-120"/>
              </a:rPr>
              <a:t>├── data/               # raw financials</a:t>
            </a:r>
            <a:endParaRPr lang="en-US" sz="1000" dirty="0"/>
          </a:p>
          <a:p>
            <a:pPr marL="0" indent="0">
              <a:lnSpc>
                <a:spcPct val="115000"/>
              </a:lnSpc>
              <a:buNone/>
            </a:pPr>
            <a:r>
              <a:rPr lang="en-US" sz="1000" dirty="0">
                <a:solidFill>
                  <a:srgbClr val="4DA78F"/>
                </a:solidFill>
                <a:latin typeface="Consolas" pitchFamily="34" charset="0"/>
                <a:ea typeface="Consolas" pitchFamily="34" charset="-122"/>
                <a:cs typeface="Consolas" pitchFamily="34" charset="-120"/>
              </a:rPr>
              <a:t>├── analysis/validation/  # Stage 3 reports</a:t>
            </a:r>
            <a:endParaRPr lang="en-US" sz="1000" dirty="0"/>
          </a:p>
          <a:p>
            <a:pPr marL="0" indent="0">
              <a:lnSpc>
                <a:spcPct val="115000"/>
              </a:lnSpc>
              <a:buNone/>
            </a:pPr>
            <a:r>
              <a:rPr lang="en-US" sz="1000" dirty="0">
                <a:solidFill>
                  <a:srgbClr val="4DA78F"/>
                </a:solidFill>
                <a:latin typeface="Consolas" pitchFamily="34" charset="0"/>
                <a:ea typeface="Consolas" pitchFamily="34" charset="-122"/>
                <a:cs typeface="Consolas" pitchFamily="34" charset="-120"/>
              </a:rPr>
              <a:t>└── deliverables/       # final (Stage 5)</a:t>
            </a:r>
            <a:endParaRPr lang="en-US" sz="1000" dirty="0"/>
          </a:p>
        </p:txBody>
      </p:sp>
      <p:sp>
        <p:nvSpPr>
          <p:cNvPr id="7" name="Shape 5"/>
          <p:cNvSpPr/>
          <p:nvPr/>
        </p:nvSpPr>
        <p:spPr>
          <a:xfrm>
            <a:off x="4846320" y="1097280"/>
            <a:ext cx="365760" cy="365760"/>
          </a:xfrm>
          <a:prstGeom prst="ellipse">
            <a:avLst/>
          </a:prstGeom>
          <a:solidFill>
            <a:srgbClr val="E6F2EF"/>
          </a:solidFill>
          <a:ln/>
        </p:spPr>
        <p:txBody>
          <a:bodyPr/>
          <a:lstStyle/>
          <a:p>
            <a:endParaRPr lang="en-US"/>
          </a:p>
        </p:txBody>
      </p:sp>
      <p:pic>
        <p:nvPicPr>
          <p:cNvPr id="8" name="Image 0" descr="preencoded.png"/>
          <p:cNvPicPr>
            <a:picLocks noChangeAspect="1"/>
          </p:cNvPicPr>
          <p:nvPr/>
        </p:nvPicPr>
        <p:blipFill>
          <a:blip r:embed="rId3"/>
          <a:stretch>
            <a:fillRect/>
          </a:stretch>
        </p:blipFill>
        <p:spPr>
          <a:xfrm>
            <a:off x="4926787" y="1177747"/>
            <a:ext cx="204826" cy="204826"/>
          </a:xfrm>
          <a:prstGeom prst="rect">
            <a:avLst/>
          </a:prstGeom>
        </p:spPr>
      </p:pic>
      <p:sp>
        <p:nvSpPr>
          <p:cNvPr id="9" name="Text 6"/>
          <p:cNvSpPr/>
          <p:nvPr/>
        </p:nvSpPr>
        <p:spPr>
          <a:xfrm>
            <a:off x="5349240" y="1051560"/>
            <a:ext cx="3291840" cy="274320"/>
          </a:xfrm>
          <a:prstGeom prst="rect">
            <a:avLst/>
          </a:prstGeom>
          <a:noFill/>
          <a:ln/>
        </p:spPr>
        <p:txBody>
          <a:bodyPr wrap="square" lIns="0" tIns="0" rIns="0" bIns="0" rtlCol="0" anchor="ctr"/>
          <a:lstStyle/>
          <a:p>
            <a:pPr marL="0" indent="0">
              <a:buNone/>
            </a:pPr>
            <a:r>
              <a:rPr lang="en-US" sz="1200" b="1" dirty="0">
                <a:solidFill>
                  <a:srgbClr val="024731"/>
                </a:solidFill>
                <a:latin typeface="Open Sans" pitchFamily="34" charset="0"/>
                <a:ea typeface="Open Sans" pitchFamily="34" charset="-122"/>
                <a:cs typeface="Open Sans" pitchFamily="34" charset="-120"/>
              </a:rPr>
              <a:t>README.md Files</a:t>
            </a:r>
            <a:endParaRPr lang="en-US" sz="1200" dirty="0"/>
          </a:p>
        </p:txBody>
      </p:sp>
      <p:sp>
        <p:nvSpPr>
          <p:cNvPr id="10" name="Text 7"/>
          <p:cNvSpPr/>
          <p:nvPr/>
        </p:nvSpPr>
        <p:spPr>
          <a:xfrm>
            <a:off x="5349240" y="1325880"/>
            <a:ext cx="3291840" cy="502920"/>
          </a:xfrm>
          <a:prstGeom prst="rect">
            <a:avLst/>
          </a:prstGeom>
          <a:noFill/>
          <a:ln/>
        </p:spPr>
        <p:txBody>
          <a:bodyPr wrap="square" lIns="0" tIns="0" rIns="0" bIns="0" rtlCol="0" anchor="ctr"/>
          <a:lstStyle/>
          <a:p>
            <a:pPr marL="0" indent="0">
              <a:buNone/>
            </a:pPr>
            <a:r>
              <a:rPr lang="en-US" sz="1000" dirty="0">
                <a:solidFill>
                  <a:srgbClr val="6B7280"/>
                </a:solidFill>
                <a:latin typeface="Open Sans" pitchFamily="34" charset="0"/>
                <a:ea typeface="Open Sans" pitchFamily="34" charset="-122"/>
                <a:cs typeface="Open Sans" pitchFamily="34" charset="-120"/>
              </a:rPr>
              <a:t>Every directory gets a README. If someone new joins, they navigate by READMEs alone.</a:t>
            </a:r>
            <a:endParaRPr lang="en-US" sz="1000" dirty="0"/>
          </a:p>
        </p:txBody>
      </p:sp>
      <p:sp>
        <p:nvSpPr>
          <p:cNvPr id="11" name="Shape 8"/>
          <p:cNvSpPr/>
          <p:nvPr/>
        </p:nvSpPr>
        <p:spPr>
          <a:xfrm>
            <a:off x="4846320" y="1965960"/>
            <a:ext cx="365760" cy="365760"/>
          </a:xfrm>
          <a:prstGeom prst="ellipse">
            <a:avLst/>
          </a:prstGeom>
          <a:solidFill>
            <a:srgbClr val="E6F2EF"/>
          </a:solidFill>
          <a:ln/>
        </p:spPr>
        <p:txBody>
          <a:bodyPr/>
          <a:lstStyle/>
          <a:p>
            <a:endParaRPr lang="en-US"/>
          </a:p>
        </p:txBody>
      </p:sp>
      <p:pic>
        <p:nvPicPr>
          <p:cNvPr id="12" name="Image 1" descr="preencoded.png"/>
          <p:cNvPicPr>
            <a:picLocks noChangeAspect="1"/>
          </p:cNvPicPr>
          <p:nvPr/>
        </p:nvPicPr>
        <p:blipFill>
          <a:blip r:embed="rId4"/>
          <a:stretch>
            <a:fillRect/>
          </a:stretch>
        </p:blipFill>
        <p:spPr>
          <a:xfrm>
            <a:off x="4926787" y="2046427"/>
            <a:ext cx="204826" cy="204826"/>
          </a:xfrm>
          <a:prstGeom prst="rect">
            <a:avLst/>
          </a:prstGeom>
        </p:spPr>
      </p:pic>
      <p:sp>
        <p:nvSpPr>
          <p:cNvPr id="13" name="Text 9"/>
          <p:cNvSpPr/>
          <p:nvPr/>
        </p:nvSpPr>
        <p:spPr>
          <a:xfrm>
            <a:off x="5349240" y="1920240"/>
            <a:ext cx="3291840" cy="274320"/>
          </a:xfrm>
          <a:prstGeom prst="rect">
            <a:avLst/>
          </a:prstGeom>
          <a:noFill/>
          <a:ln/>
        </p:spPr>
        <p:txBody>
          <a:bodyPr wrap="square" lIns="0" tIns="0" rIns="0" bIns="0" rtlCol="0" anchor="ctr"/>
          <a:lstStyle/>
          <a:p>
            <a:pPr marL="0" indent="0">
              <a:buNone/>
            </a:pPr>
            <a:r>
              <a:rPr lang="en-US" sz="1200" b="1" dirty="0">
                <a:solidFill>
                  <a:srgbClr val="024731"/>
                </a:solidFill>
                <a:latin typeface="Open Sans" pitchFamily="34" charset="0"/>
                <a:ea typeface="Open Sans" pitchFamily="34" charset="-122"/>
                <a:cs typeface="Open Sans" pitchFamily="34" charset="-120"/>
              </a:rPr>
              <a:t>Git Basics</a:t>
            </a:r>
            <a:endParaRPr lang="en-US" sz="1200" dirty="0"/>
          </a:p>
        </p:txBody>
      </p:sp>
      <p:sp>
        <p:nvSpPr>
          <p:cNvPr id="14" name="Text 10"/>
          <p:cNvSpPr/>
          <p:nvPr/>
        </p:nvSpPr>
        <p:spPr>
          <a:xfrm>
            <a:off x="5349240" y="2194560"/>
            <a:ext cx="3291840" cy="502920"/>
          </a:xfrm>
          <a:prstGeom prst="rect">
            <a:avLst/>
          </a:prstGeom>
          <a:noFill/>
          <a:ln/>
        </p:spPr>
        <p:txBody>
          <a:bodyPr wrap="square" lIns="0" tIns="0" rIns="0" bIns="0" rtlCol="0" anchor="ctr"/>
          <a:lstStyle/>
          <a:p>
            <a:pPr marL="0" indent="0">
              <a:buNone/>
            </a:pPr>
            <a:r>
              <a:rPr lang="en-US" sz="1000" dirty="0">
                <a:solidFill>
                  <a:srgbClr val="6B7280"/>
                </a:solidFill>
                <a:latin typeface="Open Sans" pitchFamily="34" charset="0"/>
                <a:ea typeface="Open Sans" pitchFamily="34" charset="-122"/>
                <a:cs typeface="Open Sans" pitchFamily="34" charset="-120"/>
              </a:rPr>
              <a:t>Clone, add, commit, push, pull. Descriptive commit messages. Version control as a professional skill.</a:t>
            </a:r>
            <a:endParaRPr lang="en-US" sz="1000" dirty="0"/>
          </a:p>
        </p:txBody>
      </p:sp>
      <p:sp>
        <p:nvSpPr>
          <p:cNvPr id="15" name="Shape 11"/>
          <p:cNvSpPr/>
          <p:nvPr/>
        </p:nvSpPr>
        <p:spPr>
          <a:xfrm>
            <a:off x="4846320" y="2834640"/>
            <a:ext cx="365760" cy="365760"/>
          </a:xfrm>
          <a:prstGeom prst="ellipse">
            <a:avLst/>
          </a:prstGeom>
          <a:solidFill>
            <a:srgbClr val="E6F2EF"/>
          </a:solidFill>
          <a:ln/>
        </p:spPr>
        <p:txBody>
          <a:bodyPr/>
          <a:lstStyle/>
          <a:p>
            <a:endParaRPr lang="en-US"/>
          </a:p>
        </p:txBody>
      </p:sp>
      <p:pic>
        <p:nvPicPr>
          <p:cNvPr id="16" name="Image 2" descr="preencoded.png"/>
          <p:cNvPicPr>
            <a:picLocks noChangeAspect="1"/>
          </p:cNvPicPr>
          <p:nvPr/>
        </p:nvPicPr>
        <p:blipFill>
          <a:blip r:embed="rId5"/>
          <a:stretch>
            <a:fillRect/>
          </a:stretch>
        </p:blipFill>
        <p:spPr>
          <a:xfrm>
            <a:off x="4926787" y="2915107"/>
            <a:ext cx="204826" cy="204826"/>
          </a:xfrm>
          <a:prstGeom prst="rect">
            <a:avLst/>
          </a:prstGeom>
        </p:spPr>
      </p:pic>
      <p:sp>
        <p:nvSpPr>
          <p:cNvPr id="17" name="Text 12"/>
          <p:cNvSpPr/>
          <p:nvPr/>
        </p:nvSpPr>
        <p:spPr>
          <a:xfrm>
            <a:off x="5349240" y="2788920"/>
            <a:ext cx="3291840" cy="274320"/>
          </a:xfrm>
          <a:prstGeom prst="rect">
            <a:avLst/>
          </a:prstGeom>
          <a:noFill/>
          <a:ln/>
        </p:spPr>
        <p:txBody>
          <a:bodyPr wrap="square" lIns="0" tIns="0" rIns="0" bIns="0" rtlCol="0" anchor="ctr"/>
          <a:lstStyle/>
          <a:p>
            <a:pPr marL="0" indent="0">
              <a:buNone/>
            </a:pPr>
            <a:r>
              <a:rPr lang="en-US" sz="1200" b="1" dirty="0">
                <a:solidFill>
                  <a:srgbClr val="024731"/>
                </a:solidFill>
                <a:latin typeface="Open Sans" pitchFamily="34" charset="0"/>
                <a:ea typeface="Open Sans" pitchFamily="34" charset="-122"/>
                <a:cs typeface="Open Sans" pitchFamily="34" charset="-120"/>
              </a:rPr>
              <a:t>Markdown</a:t>
            </a:r>
            <a:endParaRPr lang="en-US" sz="1200" dirty="0"/>
          </a:p>
        </p:txBody>
      </p:sp>
      <p:sp>
        <p:nvSpPr>
          <p:cNvPr id="18" name="Text 13"/>
          <p:cNvSpPr/>
          <p:nvPr/>
        </p:nvSpPr>
        <p:spPr>
          <a:xfrm>
            <a:off x="5349240" y="3063240"/>
            <a:ext cx="3291840" cy="502920"/>
          </a:xfrm>
          <a:prstGeom prst="rect">
            <a:avLst/>
          </a:prstGeom>
          <a:noFill/>
          <a:ln/>
        </p:spPr>
        <p:txBody>
          <a:bodyPr wrap="square" lIns="0" tIns="0" rIns="0" bIns="0" rtlCol="0" anchor="ctr"/>
          <a:lstStyle/>
          <a:p>
            <a:pPr marL="0" indent="0">
              <a:buNone/>
            </a:pPr>
            <a:r>
              <a:rPr lang="en-US" sz="1000" dirty="0">
                <a:solidFill>
                  <a:srgbClr val="6B7280"/>
                </a:solidFill>
                <a:latin typeface="Open Sans" pitchFamily="34" charset="0"/>
                <a:ea typeface="Open Sans" pitchFamily="34" charset="-122"/>
                <a:cs typeface="Open Sans" pitchFamily="34" charset="-120"/>
              </a:rPr>
              <a:t>Headings, lists, tables, links, code blocks — the same tools used in every stage.</a:t>
            </a:r>
            <a:endParaRPr lang="en-US" sz="1000" dirty="0"/>
          </a:p>
        </p:txBody>
      </p:sp>
      <p:sp>
        <p:nvSpPr>
          <p:cNvPr id="19" name="Shape 14"/>
          <p:cNvSpPr/>
          <p:nvPr/>
        </p:nvSpPr>
        <p:spPr>
          <a:xfrm>
            <a:off x="4846320" y="3703320"/>
            <a:ext cx="365760" cy="365760"/>
          </a:xfrm>
          <a:prstGeom prst="ellipse">
            <a:avLst/>
          </a:prstGeom>
          <a:solidFill>
            <a:srgbClr val="E6F2EF"/>
          </a:solidFill>
          <a:ln/>
        </p:spPr>
        <p:txBody>
          <a:bodyPr/>
          <a:lstStyle/>
          <a:p>
            <a:endParaRPr lang="en-US"/>
          </a:p>
        </p:txBody>
      </p:sp>
      <p:pic>
        <p:nvPicPr>
          <p:cNvPr id="20" name="Image 3" descr="preencoded.png"/>
          <p:cNvPicPr>
            <a:picLocks noChangeAspect="1"/>
          </p:cNvPicPr>
          <p:nvPr/>
        </p:nvPicPr>
        <p:blipFill>
          <a:blip r:embed="rId6"/>
          <a:stretch>
            <a:fillRect/>
          </a:stretch>
        </p:blipFill>
        <p:spPr>
          <a:xfrm>
            <a:off x="4926787" y="3783787"/>
            <a:ext cx="204826" cy="204826"/>
          </a:xfrm>
          <a:prstGeom prst="rect">
            <a:avLst/>
          </a:prstGeom>
        </p:spPr>
      </p:pic>
      <p:sp>
        <p:nvSpPr>
          <p:cNvPr id="21" name="Text 15"/>
          <p:cNvSpPr/>
          <p:nvPr/>
        </p:nvSpPr>
        <p:spPr>
          <a:xfrm>
            <a:off x="5349240" y="3657600"/>
            <a:ext cx="3291840" cy="274320"/>
          </a:xfrm>
          <a:prstGeom prst="rect">
            <a:avLst/>
          </a:prstGeom>
          <a:noFill/>
          <a:ln/>
        </p:spPr>
        <p:txBody>
          <a:bodyPr wrap="square" lIns="0" tIns="0" rIns="0" bIns="0" rtlCol="0" anchor="ctr"/>
          <a:lstStyle/>
          <a:p>
            <a:pPr marL="0" indent="0">
              <a:buNone/>
            </a:pPr>
            <a:r>
              <a:rPr lang="en-US" sz="1200" b="1" dirty="0">
                <a:solidFill>
                  <a:srgbClr val="024731"/>
                </a:solidFill>
                <a:latin typeface="Open Sans" pitchFamily="34" charset="0"/>
                <a:ea typeface="Open Sans" pitchFamily="34" charset="-122"/>
                <a:cs typeface="Open Sans" pitchFamily="34" charset="-120"/>
              </a:rPr>
              <a:t>Separation of Concerns</a:t>
            </a:r>
            <a:endParaRPr lang="en-US" sz="1200" dirty="0"/>
          </a:p>
        </p:txBody>
      </p:sp>
      <p:sp>
        <p:nvSpPr>
          <p:cNvPr id="22" name="Text 16"/>
          <p:cNvSpPr/>
          <p:nvPr/>
        </p:nvSpPr>
        <p:spPr>
          <a:xfrm>
            <a:off x="5349240" y="3931920"/>
            <a:ext cx="3291840" cy="502920"/>
          </a:xfrm>
          <a:prstGeom prst="rect">
            <a:avLst/>
          </a:prstGeom>
          <a:noFill/>
          <a:ln/>
        </p:spPr>
        <p:txBody>
          <a:bodyPr wrap="square" lIns="0" tIns="0" rIns="0" bIns="0" rtlCol="0" anchor="ctr"/>
          <a:lstStyle/>
          <a:p>
            <a:pPr marL="0" indent="0">
              <a:buNone/>
            </a:pPr>
            <a:r>
              <a:rPr lang="en-US" sz="1000" dirty="0">
                <a:solidFill>
                  <a:srgbClr val="6B7280"/>
                </a:solidFill>
                <a:latin typeface="Open Sans" pitchFamily="34" charset="0"/>
                <a:ea typeface="Open Sans" pitchFamily="34" charset="-122"/>
                <a:cs typeface="Open Sans" pitchFamily="34" charset="-120"/>
              </a:rPr>
              <a:t>Raw data ≠ analysis. Templates ≠ builds. Drafts ≠ deliverables.</a:t>
            </a:r>
            <a:endParaRPr lang="en-US" sz="1000" dirty="0"/>
          </a:p>
        </p:txBody>
      </p:sp>
      <p:sp>
        <p:nvSpPr>
          <p:cNvPr id="23" name="Text 17"/>
          <p:cNvSpPr/>
          <p:nvPr/>
        </p:nvSpPr>
        <p:spPr>
          <a:xfrm>
            <a:off x="4846320" y="4526280"/>
            <a:ext cx="3840480" cy="274320"/>
          </a:xfrm>
          <a:prstGeom prst="rect">
            <a:avLst/>
          </a:prstGeom>
          <a:noFill/>
          <a:ln/>
        </p:spPr>
        <p:txBody>
          <a:bodyPr wrap="square" rtlCol="0" anchor="ctr"/>
          <a:lstStyle/>
          <a:p>
            <a:pPr marL="0" indent="0">
              <a:buNone/>
            </a:pPr>
            <a:r>
              <a:rPr lang="en-US" sz="900" i="1" dirty="0">
                <a:solidFill>
                  <a:srgbClr val="6B7280"/>
                </a:solidFill>
                <a:latin typeface="Open Sans" pitchFamily="34" charset="0"/>
                <a:ea typeface="Open Sans" pitchFamily="34" charset="-122"/>
                <a:cs typeface="Open Sans" pitchFamily="34" charset="-120"/>
              </a:rPr>
              <a:t>The course repo serves as a living example — replicate its structure in your own repo.</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9144000" cy="640080"/>
          </a:xfrm>
          <a:prstGeom prst="rect">
            <a:avLst/>
          </a:prstGeom>
          <a:solidFill>
            <a:srgbClr val="024731"/>
          </a:solidFill>
          <a:ln/>
        </p:spPr>
        <p:txBody>
          <a:bodyPr/>
          <a:lstStyle/>
          <a:p>
            <a:endParaRPr lang="en-US"/>
          </a:p>
        </p:txBody>
      </p:sp>
      <p:sp>
        <p:nvSpPr>
          <p:cNvPr id="3" name="Shape 1"/>
          <p:cNvSpPr/>
          <p:nvPr/>
        </p:nvSpPr>
        <p:spPr>
          <a:xfrm>
            <a:off x="0" y="4709160"/>
            <a:ext cx="9144000" cy="434340"/>
          </a:xfrm>
          <a:prstGeom prst="rect">
            <a:avLst/>
          </a:prstGeom>
          <a:solidFill>
            <a:srgbClr val="36454F"/>
          </a:solidFill>
          <a:ln/>
        </p:spPr>
        <p:txBody>
          <a:bodyPr/>
          <a:lstStyle/>
          <a:p>
            <a:endParaRPr lang="en-US"/>
          </a:p>
        </p:txBody>
      </p:sp>
      <p:sp>
        <p:nvSpPr>
          <p:cNvPr id="4" name="Text 2"/>
          <p:cNvSpPr/>
          <p:nvPr/>
        </p:nvSpPr>
        <p:spPr>
          <a:xfrm>
            <a:off x="457200" y="4754880"/>
            <a:ext cx="8229600" cy="320040"/>
          </a:xfrm>
          <a:prstGeom prst="rect">
            <a:avLst/>
          </a:prstGeom>
          <a:noFill/>
          <a:ln/>
        </p:spPr>
        <p:txBody>
          <a:bodyPr wrap="square" rtlCol="0" anchor="ctr"/>
          <a:lstStyle/>
          <a:p>
            <a:pPr marL="0" indent="0" algn="ctr">
              <a:buNone/>
            </a:pPr>
            <a:r>
              <a:rPr lang="en-US" sz="900" dirty="0">
                <a:solidFill>
                  <a:srgbClr val="8A9BAD"/>
                </a:solidFill>
                <a:latin typeface="Open Sans" pitchFamily="34" charset="0"/>
                <a:ea typeface="Open Sans" pitchFamily="34" charset="-122"/>
                <a:cs typeface="Open Sans" pitchFamily="34" charset="-120"/>
              </a:rPr>
              <a:t>Stage 0  |  GitHub &amp; Workflow Onboarding  |  your-repo on github.com</a:t>
            </a:r>
            <a:endParaRPr lang="en-US" sz="900" dirty="0"/>
          </a:p>
        </p:txBody>
      </p:sp>
      <p:sp>
        <p:nvSpPr>
          <p:cNvPr id="5" name="Shape 3"/>
          <p:cNvSpPr/>
          <p:nvPr/>
        </p:nvSpPr>
        <p:spPr>
          <a:xfrm>
            <a:off x="731520" y="274320"/>
            <a:ext cx="1179576" cy="274320"/>
          </a:xfrm>
          <a:prstGeom prst="rect">
            <a:avLst/>
          </a:prstGeom>
          <a:solidFill>
            <a:srgbClr val="36454F"/>
          </a:solidFill>
          <a:ln/>
        </p:spPr>
        <p:txBody>
          <a:bodyPr/>
          <a:lstStyle/>
          <a:p>
            <a:endParaRPr lang="en-US"/>
          </a:p>
        </p:txBody>
      </p:sp>
      <p:sp>
        <p:nvSpPr>
          <p:cNvPr id="6" name="Text 4"/>
          <p:cNvSpPr/>
          <p:nvPr/>
        </p:nvSpPr>
        <p:spPr>
          <a:xfrm>
            <a:off x="731520" y="274320"/>
            <a:ext cx="1179576" cy="274320"/>
          </a:xfrm>
          <a:prstGeom prst="rect">
            <a:avLst/>
          </a:prstGeom>
          <a:noFill/>
          <a:ln/>
        </p:spPr>
        <p:txBody>
          <a:bodyPr wrap="square" lIns="0" tIns="0" rIns="0" bIns="0" rtlCol="0" anchor="ctr"/>
          <a:lstStyle/>
          <a:p>
            <a:pPr marL="0" indent="0" algn="ctr">
              <a:buNone/>
            </a:pPr>
            <a:r>
              <a:rPr lang="en-US" sz="900" b="1" kern="0" spc="300" dirty="0">
                <a:solidFill>
                  <a:srgbClr val="B8975C"/>
                </a:solidFill>
                <a:latin typeface="Open Sans" pitchFamily="34" charset="0"/>
                <a:ea typeface="Open Sans" pitchFamily="34" charset="-122"/>
                <a:cs typeface="Open Sans" pitchFamily="34" charset="-120"/>
              </a:rPr>
              <a:t>STEP 1 OF 5</a:t>
            </a:r>
            <a:endParaRPr lang="en-US" sz="900" dirty="0"/>
          </a:p>
        </p:txBody>
      </p:sp>
      <p:sp>
        <p:nvSpPr>
          <p:cNvPr id="7" name="Text 5"/>
          <p:cNvSpPr/>
          <p:nvPr/>
        </p:nvSpPr>
        <p:spPr>
          <a:xfrm>
            <a:off x="731520" y="640080"/>
            <a:ext cx="7680960" cy="457200"/>
          </a:xfrm>
          <a:prstGeom prst="rect">
            <a:avLst/>
          </a:prstGeom>
          <a:noFill/>
          <a:ln/>
        </p:spPr>
        <p:txBody>
          <a:bodyPr wrap="square" lIns="0" tIns="0" rIns="0" bIns="0" rtlCol="0" anchor="ctr"/>
          <a:lstStyle/>
          <a:p>
            <a:pPr marL="0" indent="0">
              <a:buNone/>
            </a:pPr>
            <a:r>
              <a:rPr lang="en-US" sz="2800" b="1" dirty="0">
                <a:solidFill>
                  <a:srgbClr val="1E2530"/>
                </a:solidFill>
                <a:latin typeface="Open Sans" pitchFamily="34" charset="0"/>
                <a:ea typeface="Open Sans" pitchFamily="34" charset="-122"/>
                <a:cs typeface="Open Sans" pitchFamily="34" charset="-120"/>
              </a:rPr>
              <a:t>Create a GitHub Account</a:t>
            </a:r>
            <a:endParaRPr lang="en-US" sz="2800" dirty="0"/>
          </a:p>
        </p:txBody>
      </p:sp>
      <p:sp>
        <p:nvSpPr>
          <p:cNvPr id="8" name="Shape 6"/>
          <p:cNvSpPr/>
          <p:nvPr/>
        </p:nvSpPr>
        <p:spPr>
          <a:xfrm>
            <a:off x="731520" y="1280160"/>
            <a:ext cx="365760" cy="365760"/>
          </a:xfrm>
          <a:prstGeom prst="line">
            <a:avLst/>
          </a:prstGeom>
          <a:solidFill>
            <a:srgbClr val="B8975C"/>
          </a:solidFill>
          <a:ln/>
        </p:spPr>
        <p:txBody>
          <a:bodyPr/>
          <a:lstStyle/>
          <a:p>
            <a:endParaRPr lang="en-US"/>
          </a:p>
        </p:txBody>
      </p:sp>
      <p:sp>
        <p:nvSpPr>
          <p:cNvPr id="9" name="Text 7"/>
          <p:cNvSpPr/>
          <p:nvPr/>
        </p:nvSpPr>
        <p:spPr>
          <a:xfrm>
            <a:off x="731520" y="1280160"/>
            <a:ext cx="365760" cy="365760"/>
          </a:xfrm>
          <a:prstGeom prst="rect">
            <a:avLst/>
          </a:prstGeom>
          <a:noFill/>
          <a:ln/>
        </p:spPr>
        <p:txBody>
          <a:bodyPr wrap="square" lIns="0" tIns="0" rIns="0" bIns="0" rtlCol="0" anchor="ctr"/>
          <a:lstStyle/>
          <a:p>
            <a:pPr marL="0" indent="0" algn="ctr">
              <a:buNone/>
            </a:pPr>
            <a:r>
              <a:rPr lang="en-US" sz="1400" b="1" dirty="0">
                <a:solidFill>
                  <a:srgbClr val="FFFFFF"/>
                </a:solidFill>
                <a:latin typeface="Open Sans" pitchFamily="34" charset="0"/>
                <a:ea typeface="Open Sans" pitchFamily="34" charset="-122"/>
                <a:cs typeface="Open Sans" pitchFamily="34" charset="-120"/>
              </a:rPr>
              <a:t>1</a:t>
            </a:r>
            <a:endParaRPr lang="en-US" sz="1400" dirty="0"/>
          </a:p>
        </p:txBody>
      </p:sp>
      <p:sp>
        <p:nvSpPr>
          <p:cNvPr id="10" name="Text 8"/>
          <p:cNvSpPr/>
          <p:nvPr/>
        </p:nvSpPr>
        <p:spPr>
          <a:xfrm>
            <a:off x="1280160" y="1280160"/>
            <a:ext cx="3840480" cy="365760"/>
          </a:xfrm>
          <a:prstGeom prst="rect">
            <a:avLst/>
          </a:prstGeom>
          <a:noFill/>
          <a:ln/>
        </p:spPr>
        <p:txBody>
          <a:bodyPr wrap="square" lIns="0" tIns="0" rIns="0" bIns="0" rtlCol="0" anchor="ctr"/>
          <a:lstStyle/>
          <a:p>
            <a:pPr marL="0" indent="0">
              <a:buNone/>
            </a:pPr>
            <a:r>
              <a:rPr lang="en-US" sz="1300" dirty="0">
                <a:solidFill>
                  <a:srgbClr val="1E2530"/>
                </a:solidFill>
                <a:latin typeface="Open Sans" pitchFamily="34" charset="0"/>
                <a:ea typeface="Open Sans" pitchFamily="34" charset="-122"/>
                <a:cs typeface="Open Sans" pitchFamily="34" charset="-120"/>
              </a:rPr>
              <a:t>Go to github.com and click Sign Up</a:t>
            </a:r>
            <a:endParaRPr lang="en-US" sz="1300" dirty="0"/>
          </a:p>
        </p:txBody>
      </p:sp>
      <p:sp>
        <p:nvSpPr>
          <p:cNvPr id="11" name="Shape 9"/>
          <p:cNvSpPr/>
          <p:nvPr/>
        </p:nvSpPr>
        <p:spPr>
          <a:xfrm>
            <a:off x="731520" y="1828800"/>
            <a:ext cx="365760" cy="365760"/>
          </a:xfrm>
          <a:prstGeom prst="line">
            <a:avLst/>
          </a:prstGeom>
          <a:solidFill>
            <a:srgbClr val="B8975C"/>
          </a:solidFill>
          <a:ln/>
        </p:spPr>
        <p:txBody>
          <a:bodyPr/>
          <a:lstStyle/>
          <a:p>
            <a:endParaRPr lang="en-US"/>
          </a:p>
        </p:txBody>
      </p:sp>
      <p:sp>
        <p:nvSpPr>
          <p:cNvPr id="12" name="Text 10"/>
          <p:cNvSpPr/>
          <p:nvPr/>
        </p:nvSpPr>
        <p:spPr>
          <a:xfrm>
            <a:off x="731520" y="1828800"/>
            <a:ext cx="365760" cy="365760"/>
          </a:xfrm>
          <a:prstGeom prst="rect">
            <a:avLst/>
          </a:prstGeom>
          <a:noFill/>
          <a:ln/>
        </p:spPr>
        <p:txBody>
          <a:bodyPr wrap="square" lIns="0" tIns="0" rIns="0" bIns="0" rtlCol="0" anchor="ctr"/>
          <a:lstStyle/>
          <a:p>
            <a:pPr marL="0" indent="0" algn="ctr">
              <a:buNone/>
            </a:pPr>
            <a:r>
              <a:rPr lang="en-US" sz="1400" b="1" dirty="0">
                <a:solidFill>
                  <a:srgbClr val="FFFFFF"/>
                </a:solidFill>
                <a:latin typeface="Open Sans" pitchFamily="34" charset="0"/>
                <a:ea typeface="Open Sans" pitchFamily="34" charset="-122"/>
                <a:cs typeface="Open Sans" pitchFamily="34" charset="-120"/>
              </a:rPr>
              <a:t>2</a:t>
            </a:r>
            <a:endParaRPr lang="en-US" sz="1400" dirty="0"/>
          </a:p>
        </p:txBody>
      </p:sp>
      <p:sp>
        <p:nvSpPr>
          <p:cNvPr id="13" name="Text 11"/>
          <p:cNvSpPr/>
          <p:nvPr/>
        </p:nvSpPr>
        <p:spPr>
          <a:xfrm>
            <a:off x="1280160" y="1828800"/>
            <a:ext cx="3840480" cy="365760"/>
          </a:xfrm>
          <a:prstGeom prst="rect">
            <a:avLst/>
          </a:prstGeom>
          <a:noFill/>
          <a:ln/>
        </p:spPr>
        <p:txBody>
          <a:bodyPr wrap="square" lIns="0" tIns="0" rIns="0" bIns="0" rtlCol="0" anchor="ctr"/>
          <a:lstStyle/>
          <a:p>
            <a:pPr marL="0" indent="0">
              <a:buNone/>
            </a:pPr>
            <a:r>
              <a:rPr lang="en-US" sz="1300" dirty="0">
                <a:solidFill>
                  <a:srgbClr val="1E2530"/>
                </a:solidFill>
                <a:latin typeface="Open Sans" pitchFamily="34" charset="0"/>
                <a:ea typeface="Open Sans" pitchFamily="34" charset="-122"/>
                <a:cs typeface="Open Sans" pitchFamily="34" charset="-120"/>
              </a:rPr>
              <a:t>Use your @hawaii.edu email (gets free GitHub Pro)</a:t>
            </a:r>
            <a:endParaRPr lang="en-US" sz="1300" dirty="0"/>
          </a:p>
        </p:txBody>
      </p:sp>
      <p:sp>
        <p:nvSpPr>
          <p:cNvPr id="14" name="Shape 12"/>
          <p:cNvSpPr/>
          <p:nvPr/>
        </p:nvSpPr>
        <p:spPr>
          <a:xfrm>
            <a:off x="731520" y="2377440"/>
            <a:ext cx="365760" cy="365760"/>
          </a:xfrm>
          <a:prstGeom prst="line">
            <a:avLst/>
          </a:prstGeom>
          <a:solidFill>
            <a:srgbClr val="B8975C"/>
          </a:solidFill>
          <a:ln/>
        </p:spPr>
        <p:txBody>
          <a:bodyPr/>
          <a:lstStyle/>
          <a:p>
            <a:endParaRPr lang="en-US"/>
          </a:p>
        </p:txBody>
      </p:sp>
      <p:sp>
        <p:nvSpPr>
          <p:cNvPr id="15" name="Text 13"/>
          <p:cNvSpPr/>
          <p:nvPr/>
        </p:nvSpPr>
        <p:spPr>
          <a:xfrm>
            <a:off x="731520" y="2377440"/>
            <a:ext cx="365760" cy="365760"/>
          </a:xfrm>
          <a:prstGeom prst="rect">
            <a:avLst/>
          </a:prstGeom>
          <a:noFill/>
          <a:ln/>
        </p:spPr>
        <p:txBody>
          <a:bodyPr wrap="square" lIns="0" tIns="0" rIns="0" bIns="0" rtlCol="0" anchor="ctr"/>
          <a:lstStyle/>
          <a:p>
            <a:pPr marL="0" indent="0" algn="ctr">
              <a:buNone/>
            </a:pPr>
            <a:r>
              <a:rPr lang="en-US" sz="1400" b="1" dirty="0">
                <a:solidFill>
                  <a:srgbClr val="FFFFFF"/>
                </a:solidFill>
                <a:latin typeface="Open Sans" pitchFamily="34" charset="0"/>
                <a:ea typeface="Open Sans" pitchFamily="34" charset="-122"/>
                <a:cs typeface="Open Sans" pitchFamily="34" charset="-120"/>
              </a:rPr>
              <a:t>3</a:t>
            </a:r>
            <a:endParaRPr lang="en-US" sz="1400" dirty="0"/>
          </a:p>
        </p:txBody>
      </p:sp>
      <p:sp>
        <p:nvSpPr>
          <p:cNvPr id="16" name="Text 14"/>
          <p:cNvSpPr/>
          <p:nvPr/>
        </p:nvSpPr>
        <p:spPr>
          <a:xfrm>
            <a:off x="1280160" y="2377440"/>
            <a:ext cx="3840480" cy="365760"/>
          </a:xfrm>
          <a:prstGeom prst="rect">
            <a:avLst/>
          </a:prstGeom>
          <a:noFill/>
          <a:ln/>
        </p:spPr>
        <p:txBody>
          <a:bodyPr wrap="square" lIns="0" tIns="0" rIns="0" bIns="0" rtlCol="0" anchor="ctr"/>
          <a:lstStyle/>
          <a:p>
            <a:pPr marL="0" indent="0">
              <a:buNone/>
            </a:pPr>
            <a:r>
              <a:rPr lang="en-US" sz="1300" dirty="0">
                <a:solidFill>
                  <a:srgbClr val="1E2530"/>
                </a:solidFill>
                <a:latin typeface="Open Sans" pitchFamily="34" charset="0"/>
                <a:ea typeface="Open Sans" pitchFamily="34" charset="-122"/>
                <a:cs typeface="Open Sans" pitchFamily="34" charset="-120"/>
              </a:rPr>
              <a:t>Choose a professional username (e.g., firstname-lastname)</a:t>
            </a:r>
            <a:endParaRPr lang="en-US" sz="1300" dirty="0"/>
          </a:p>
        </p:txBody>
      </p:sp>
      <p:sp>
        <p:nvSpPr>
          <p:cNvPr id="17" name="Shape 15"/>
          <p:cNvSpPr/>
          <p:nvPr/>
        </p:nvSpPr>
        <p:spPr>
          <a:xfrm>
            <a:off x="731520" y="2926080"/>
            <a:ext cx="365760" cy="365760"/>
          </a:xfrm>
          <a:prstGeom prst="line">
            <a:avLst/>
          </a:prstGeom>
          <a:solidFill>
            <a:srgbClr val="B8975C"/>
          </a:solidFill>
          <a:ln/>
        </p:spPr>
        <p:txBody>
          <a:bodyPr/>
          <a:lstStyle/>
          <a:p>
            <a:endParaRPr lang="en-US"/>
          </a:p>
        </p:txBody>
      </p:sp>
      <p:sp>
        <p:nvSpPr>
          <p:cNvPr id="18" name="Text 16"/>
          <p:cNvSpPr/>
          <p:nvPr/>
        </p:nvSpPr>
        <p:spPr>
          <a:xfrm>
            <a:off x="731520" y="2926080"/>
            <a:ext cx="365760" cy="365760"/>
          </a:xfrm>
          <a:prstGeom prst="rect">
            <a:avLst/>
          </a:prstGeom>
          <a:noFill/>
          <a:ln/>
        </p:spPr>
        <p:txBody>
          <a:bodyPr wrap="square" lIns="0" tIns="0" rIns="0" bIns="0" rtlCol="0" anchor="ctr"/>
          <a:lstStyle/>
          <a:p>
            <a:pPr marL="0" indent="0" algn="ctr">
              <a:buNone/>
            </a:pPr>
            <a:r>
              <a:rPr lang="en-US" sz="1400" b="1" dirty="0">
                <a:solidFill>
                  <a:srgbClr val="FFFFFF"/>
                </a:solidFill>
                <a:latin typeface="Open Sans" pitchFamily="34" charset="0"/>
                <a:ea typeface="Open Sans" pitchFamily="34" charset="-122"/>
                <a:cs typeface="Open Sans" pitchFamily="34" charset="-120"/>
              </a:rPr>
              <a:t>4</a:t>
            </a:r>
            <a:endParaRPr lang="en-US" sz="1400" dirty="0"/>
          </a:p>
        </p:txBody>
      </p:sp>
      <p:sp>
        <p:nvSpPr>
          <p:cNvPr id="19" name="Text 17"/>
          <p:cNvSpPr/>
          <p:nvPr/>
        </p:nvSpPr>
        <p:spPr>
          <a:xfrm>
            <a:off x="1280160" y="2926080"/>
            <a:ext cx="3840480" cy="365760"/>
          </a:xfrm>
          <a:prstGeom prst="rect">
            <a:avLst/>
          </a:prstGeom>
          <a:noFill/>
          <a:ln/>
        </p:spPr>
        <p:txBody>
          <a:bodyPr wrap="square" lIns="0" tIns="0" rIns="0" bIns="0" rtlCol="0" anchor="ctr"/>
          <a:lstStyle/>
          <a:p>
            <a:pPr marL="0" indent="0">
              <a:buNone/>
            </a:pPr>
            <a:r>
              <a:rPr lang="en-US" sz="1300" dirty="0">
                <a:solidFill>
                  <a:srgbClr val="1E2530"/>
                </a:solidFill>
                <a:latin typeface="Open Sans" pitchFamily="34" charset="0"/>
                <a:ea typeface="Open Sans" pitchFamily="34" charset="-122"/>
                <a:cs typeface="Open Sans" pitchFamily="34" charset="-120"/>
              </a:rPr>
              <a:t>Verify your email address</a:t>
            </a:r>
            <a:endParaRPr lang="en-US" sz="1300" dirty="0"/>
          </a:p>
        </p:txBody>
      </p:sp>
      <p:sp>
        <p:nvSpPr>
          <p:cNvPr id="20" name="Shape 18"/>
          <p:cNvSpPr/>
          <p:nvPr/>
        </p:nvSpPr>
        <p:spPr>
          <a:xfrm>
            <a:off x="731520" y="3474720"/>
            <a:ext cx="365760" cy="365760"/>
          </a:xfrm>
          <a:prstGeom prst="line">
            <a:avLst/>
          </a:prstGeom>
          <a:solidFill>
            <a:srgbClr val="B8975C"/>
          </a:solidFill>
          <a:ln/>
        </p:spPr>
        <p:txBody>
          <a:bodyPr/>
          <a:lstStyle/>
          <a:p>
            <a:endParaRPr lang="en-US"/>
          </a:p>
        </p:txBody>
      </p:sp>
      <p:sp>
        <p:nvSpPr>
          <p:cNvPr id="21" name="Text 19"/>
          <p:cNvSpPr/>
          <p:nvPr/>
        </p:nvSpPr>
        <p:spPr>
          <a:xfrm>
            <a:off x="731520" y="3474720"/>
            <a:ext cx="365760" cy="365760"/>
          </a:xfrm>
          <a:prstGeom prst="rect">
            <a:avLst/>
          </a:prstGeom>
          <a:noFill/>
          <a:ln/>
        </p:spPr>
        <p:txBody>
          <a:bodyPr wrap="square" lIns="0" tIns="0" rIns="0" bIns="0" rtlCol="0" anchor="ctr"/>
          <a:lstStyle/>
          <a:p>
            <a:pPr marL="0" indent="0" algn="ctr">
              <a:buNone/>
            </a:pPr>
            <a:r>
              <a:rPr lang="en-US" sz="1400" b="1" dirty="0">
                <a:solidFill>
                  <a:srgbClr val="FFFFFF"/>
                </a:solidFill>
                <a:latin typeface="Open Sans" pitchFamily="34" charset="0"/>
                <a:ea typeface="Open Sans" pitchFamily="34" charset="-122"/>
                <a:cs typeface="Open Sans" pitchFamily="34" charset="-120"/>
              </a:rPr>
              <a:t>5</a:t>
            </a:r>
            <a:endParaRPr lang="en-US" sz="1400" dirty="0"/>
          </a:p>
        </p:txBody>
      </p:sp>
      <p:sp>
        <p:nvSpPr>
          <p:cNvPr id="22" name="Text 20"/>
          <p:cNvSpPr/>
          <p:nvPr/>
        </p:nvSpPr>
        <p:spPr>
          <a:xfrm>
            <a:off x="1280160" y="3474720"/>
            <a:ext cx="3840480" cy="365760"/>
          </a:xfrm>
          <a:prstGeom prst="rect">
            <a:avLst/>
          </a:prstGeom>
          <a:noFill/>
          <a:ln/>
        </p:spPr>
        <p:txBody>
          <a:bodyPr wrap="square" lIns="0" tIns="0" rIns="0" bIns="0" rtlCol="0" anchor="ctr"/>
          <a:lstStyle/>
          <a:p>
            <a:pPr marL="0" indent="0">
              <a:buNone/>
            </a:pPr>
            <a:r>
              <a:rPr lang="en-US" sz="1300" dirty="0">
                <a:solidFill>
                  <a:srgbClr val="1E2530"/>
                </a:solidFill>
                <a:latin typeface="Open Sans" pitchFamily="34" charset="0"/>
                <a:ea typeface="Open Sans" pitchFamily="34" charset="-122"/>
                <a:cs typeface="Open Sans" pitchFamily="34" charset="-120"/>
              </a:rPr>
              <a:t>Share your GitHub username with the instructor</a:t>
            </a:r>
            <a:endParaRPr lang="en-US" sz="1300" dirty="0"/>
          </a:p>
        </p:txBody>
      </p:sp>
      <p:sp>
        <p:nvSpPr>
          <p:cNvPr id="23" name="Shape 21"/>
          <p:cNvSpPr/>
          <p:nvPr/>
        </p:nvSpPr>
        <p:spPr>
          <a:xfrm>
            <a:off x="5486400" y="1280160"/>
            <a:ext cx="3108960" cy="2926080"/>
          </a:xfrm>
          <a:prstGeom prst="rect">
            <a:avLst/>
          </a:prstGeom>
          <a:solidFill>
            <a:srgbClr val="FFFFFF"/>
          </a:solidFill>
          <a:ln/>
          <a:effectLst>
            <a:outerShdw blurRad="76200" dist="25400" dir="8100000" algn="bl" rotWithShape="0">
              <a:srgbClr val="000000">
                <a:alpha val="8000"/>
              </a:srgbClr>
            </a:outerShdw>
          </a:effectLst>
        </p:spPr>
        <p:txBody>
          <a:bodyPr/>
          <a:lstStyle/>
          <a:p>
            <a:endParaRPr lang="en-US"/>
          </a:p>
        </p:txBody>
      </p:sp>
      <p:pic>
        <p:nvPicPr>
          <p:cNvPr id="24" name="Image 0" descr="preencoded.png"/>
          <p:cNvPicPr>
            <a:picLocks noChangeAspect="1"/>
          </p:cNvPicPr>
          <p:nvPr/>
        </p:nvPicPr>
        <p:blipFill>
          <a:blip r:embed="rId3"/>
          <a:stretch>
            <a:fillRect/>
          </a:stretch>
        </p:blipFill>
        <p:spPr>
          <a:xfrm>
            <a:off x="5715000" y="1463040"/>
            <a:ext cx="320040" cy="320040"/>
          </a:xfrm>
          <a:prstGeom prst="rect">
            <a:avLst/>
          </a:prstGeom>
        </p:spPr>
      </p:pic>
      <p:sp>
        <p:nvSpPr>
          <p:cNvPr id="25" name="Text 22"/>
          <p:cNvSpPr/>
          <p:nvPr/>
        </p:nvSpPr>
        <p:spPr>
          <a:xfrm>
            <a:off x="6126480" y="1463040"/>
            <a:ext cx="2286000" cy="320040"/>
          </a:xfrm>
          <a:prstGeom prst="rect">
            <a:avLst/>
          </a:prstGeom>
          <a:noFill/>
          <a:ln/>
        </p:spPr>
        <p:txBody>
          <a:bodyPr wrap="square" lIns="0" tIns="0" rIns="0" bIns="0" rtlCol="0" anchor="ctr"/>
          <a:lstStyle/>
          <a:p>
            <a:pPr marL="0" indent="0">
              <a:buNone/>
            </a:pPr>
            <a:r>
              <a:rPr lang="en-US" sz="1400" b="1" dirty="0">
                <a:solidFill>
                  <a:srgbClr val="B8975C"/>
                </a:solidFill>
                <a:latin typeface="Open Sans" pitchFamily="34" charset="0"/>
                <a:ea typeface="Open Sans" pitchFamily="34" charset="-122"/>
                <a:cs typeface="Open Sans" pitchFamily="34" charset="-120"/>
              </a:rPr>
              <a:t>Pro Tips</a:t>
            </a:r>
            <a:endParaRPr lang="en-US" sz="1400" dirty="0"/>
          </a:p>
        </p:txBody>
      </p:sp>
      <p:sp>
        <p:nvSpPr>
          <p:cNvPr id="26" name="Text 23"/>
          <p:cNvSpPr/>
          <p:nvPr/>
        </p:nvSpPr>
        <p:spPr>
          <a:xfrm>
            <a:off x="5715000" y="1920240"/>
            <a:ext cx="2697480" cy="2103120"/>
          </a:xfrm>
          <a:prstGeom prst="rect">
            <a:avLst/>
          </a:prstGeom>
          <a:noFill/>
          <a:ln/>
        </p:spPr>
        <p:txBody>
          <a:bodyPr wrap="square" lIns="0" tIns="0" rIns="0" bIns="0" rtlCol="0" anchor="t"/>
          <a:lstStyle/>
          <a:p>
            <a:pPr marL="0" indent="0">
              <a:buNone/>
            </a:pPr>
            <a:r>
              <a:rPr lang="en-US" sz="1100" b="1" dirty="0">
                <a:solidFill>
                  <a:srgbClr val="1E2530"/>
                </a:solidFill>
              </a:rPr>
              <a:t>Username matters</a:t>
            </a:r>
            <a:endParaRPr lang="en-US" sz="1100" dirty="0"/>
          </a:p>
          <a:p>
            <a:pPr marL="0" indent="0">
              <a:buNone/>
            </a:pPr>
            <a:r>
              <a:rPr lang="en-US" sz="1000" dirty="0">
                <a:solidFill>
                  <a:srgbClr val="5A6B7A"/>
                </a:solidFill>
              </a:rPr>
              <a:t>Employers see it. Avoid gamer tags or joke names.
</a:t>
            </a:r>
            <a:endParaRPr lang="en-US" sz="1100" dirty="0"/>
          </a:p>
          <a:p>
            <a:pPr marL="0" indent="0">
              <a:buNone/>
            </a:pPr>
            <a:r>
              <a:rPr lang="en-US" sz="1100" b="1" dirty="0">
                <a:solidFill>
                  <a:srgbClr val="1E2530"/>
                </a:solidFill>
              </a:rPr>
              <a:t>Student Developer Pack</a:t>
            </a:r>
            <a:endParaRPr lang="en-US" sz="1100" dirty="0"/>
          </a:p>
          <a:p>
            <a:pPr marL="0" indent="0">
              <a:buNone/>
            </a:pPr>
            <a:r>
              <a:rPr lang="en-US" sz="1000" dirty="0">
                <a:solidFill>
                  <a:srgbClr val="5A6B7A"/>
                </a:solidFill>
              </a:rPr>
              <a:t>education.github.com — free Pro features, Copilot access, and more with your .edu email.
</a:t>
            </a:r>
            <a:endParaRPr lang="en-US" sz="1100" dirty="0"/>
          </a:p>
          <a:p>
            <a:pPr marL="0" indent="0">
              <a:buNone/>
            </a:pPr>
            <a:r>
              <a:rPr lang="en-US" sz="1100" b="1" dirty="0">
                <a:solidFill>
                  <a:srgbClr val="1E2530"/>
                </a:solidFill>
              </a:rPr>
              <a:t>Profile photo</a:t>
            </a:r>
            <a:endParaRPr lang="en-US" sz="1100" dirty="0"/>
          </a:p>
          <a:p>
            <a:pPr marL="0" indent="0">
              <a:buNone/>
            </a:pPr>
            <a:r>
              <a:rPr lang="en-US" sz="1000" dirty="0">
                <a:solidFill>
                  <a:srgbClr val="5A6B7A"/>
                </a:solidFill>
              </a:rPr>
              <a:t>Optional but professional. Headshot or avatar helps your instructor identify you.</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9144000" cy="640080"/>
          </a:xfrm>
          <a:prstGeom prst="rect">
            <a:avLst/>
          </a:prstGeom>
          <a:solidFill>
            <a:srgbClr val="024731"/>
          </a:solidFill>
          <a:ln/>
        </p:spPr>
        <p:txBody>
          <a:bodyPr/>
          <a:lstStyle/>
          <a:p>
            <a:endParaRPr lang="en-US"/>
          </a:p>
        </p:txBody>
      </p:sp>
      <p:sp>
        <p:nvSpPr>
          <p:cNvPr id="3" name="Shape 1"/>
          <p:cNvSpPr/>
          <p:nvPr/>
        </p:nvSpPr>
        <p:spPr>
          <a:xfrm>
            <a:off x="0" y="4709160"/>
            <a:ext cx="9144000" cy="434340"/>
          </a:xfrm>
          <a:prstGeom prst="rect">
            <a:avLst/>
          </a:prstGeom>
          <a:solidFill>
            <a:srgbClr val="36454F"/>
          </a:solidFill>
          <a:ln/>
        </p:spPr>
        <p:txBody>
          <a:bodyPr/>
          <a:lstStyle/>
          <a:p>
            <a:endParaRPr lang="en-US"/>
          </a:p>
        </p:txBody>
      </p:sp>
      <p:sp>
        <p:nvSpPr>
          <p:cNvPr id="4" name="Text 2"/>
          <p:cNvSpPr/>
          <p:nvPr/>
        </p:nvSpPr>
        <p:spPr>
          <a:xfrm>
            <a:off x="457200" y="4754880"/>
            <a:ext cx="8229600" cy="320040"/>
          </a:xfrm>
          <a:prstGeom prst="rect">
            <a:avLst/>
          </a:prstGeom>
          <a:noFill/>
          <a:ln/>
        </p:spPr>
        <p:txBody>
          <a:bodyPr wrap="square" rtlCol="0" anchor="ctr"/>
          <a:lstStyle/>
          <a:p>
            <a:pPr marL="0" indent="0" algn="ctr">
              <a:buNone/>
            </a:pPr>
            <a:r>
              <a:rPr lang="en-US" sz="900" dirty="0">
                <a:solidFill>
                  <a:srgbClr val="8A9BAD"/>
                </a:solidFill>
                <a:latin typeface="Open Sans" pitchFamily="34" charset="0"/>
                <a:ea typeface="Open Sans" pitchFamily="34" charset="-122"/>
                <a:cs typeface="Open Sans" pitchFamily="34" charset="-120"/>
              </a:rPr>
              <a:t>Stage 0  |  GitHub &amp; Workflow Onboarding  |  desktop.github.com</a:t>
            </a:r>
            <a:endParaRPr lang="en-US" sz="900" dirty="0"/>
          </a:p>
        </p:txBody>
      </p:sp>
      <p:sp>
        <p:nvSpPr>
          <p:cNvPr id="5" name="Shape 3"/>
          <p:cNvSpPr/>
          <p:nvPr/>
        </p:nvSpPr>
        <p:spPr>
          <a:xfrm>
            <a:off x="731520" y="274320"/>
            <a:ext cx="1179576" cy="274320"/>
          </a:xfrm>
          <a:prstGeom prst="rect">
            <a:avLst/>
          </a:prstGeom>
          <a:solidFill>
            <a:srgbClr val="36454F"/>
          </a:solidFill>
          <a:ln/>
        </p:spPr>
        <p:txBody>
          <a:bodyPr/>
          <a:lstStyle/>
          <a:p>
            <a:endParaRPr lang="en-US"/>
          </a:p>
        </p:txBody>
      </p:sp>
      <p:sp>
        <p:nvSpPr>
          <p:cNvPr id="6" name="Text 4"/>
          <p:cNvSpPr/>
          <p:nvPr/>
        </p:nvSpPr>
        <p:spPr>
          <a:xfrm>
            <a:off x="731520" y="274320"/>
            <a:ext cx="1179576" cy="274320"/>
          </a:xfrm>
          <a:prstGeom prst="rect">
            <a:avLst/>
          </a:prstGeom>
          <a:noFill/>
          <a:ln/>
        </p:spPr>
        <p:txBody>
          <a:bodyPr wrap="square" lIns="0" tIns="0" rIns="0" bIns="0" rtlCol="0" anchor="ctr"/>
          <a:lstStyle/>
          <a:p>
            <a:pPr marL="0" indent="0" algn="ctr">
              <a:buNone/>
            </a:pPr>
            <a:r>
              <a:rPr lang="en-US" sz="900" b="1" kern="0" spc="300" dirty="0">
                <a:solidFill>
                  <a:srgbClr val="B8975C"/>
                </a:solidFill>
                <a:latin typeface="Open Sans" pitchFamily="34" charset="0"/>
                <a:ea typeface="Open Sans" pitchFamily="34" charset="-122"/>
                <a:cs typeface="Open Sans" pitchFamily="34" charset="-120"/>
              </a:rPr>
              <a:t>STEP 2 OF 5</a:t>
            </a:r>
            <a:endParaRPr lang="en-US" sz="900" dirty="0"/>
          </a:p>
        </p:txBody>
      </p:sp>
      <p:sp>
        <p:nvSpPr>
          <p:cNvPr id="7" name="Text 5"/>
          <p:cNvSpPr/>
          <p:nvPr/>
        </p:nvSpPr>
        <p:spPr>
          <a:xfrm>
            <a:off x="731520" y="640080"/>
            <a:ext cx="7680960" cy="457200"/>
          </a:xfrm>
          <a:prstGeom prst="rect">
            <a:avLst/>
          </a:prstGeom>
          <a:noFill/>
          <a:ln/>
        </p:spPr>
        <p:txBody>
          <a:bodyPr wrap="square" lIns="0" tIns="0" rIns="0" bIns="0" rtlCol="0" anchor="ctr"/>
          <a:lstStyle/>
          <a:p>
            <a:pPr marL="0" indent="0">
              <a:buNone/>
            </a:pPr>
            <a:r>
              <a:rPr lang="en-US" sz="2800" b="1" dirty="0">
                <a:solidFill>
                  <a:srgbClr val="1E2530"/>
                </a:solidFill>
                <a:latin typeface="Open Sans" pitchFamily="34" charset="0"/>
                <a:ea typeface="Open Sans" pitchFamily="34" charset="-122"/>
                <a:cs typeface="Open Sans" pitchFamily="34" charset="-120"/>
              </a:rPr>
              <a:t>Install GitHub Desktop</a:t>
            </a:r>
            <a:endParaRPr lang="en-US" sz="2800" dirty="0"/>
          </a:p>
        </p:txBody>
      </p:sp>
      <p:sp>
        <p:nvSpPr>
          <p:cNvPr id="8" name="Text 6"/>
          <p:cNvSpPr/>
          <p:nvPr/>
        </p:nvSpPr>
        <p:spPr>
          <a:xfrm>
            <a:off x="731520" y="1143000"/>
            <a:ext cx="7680960" cy="365760"/>
          </a:xfrm>
          <a:prstGeom prst="rect">
            <a:avLst/>
          </a:prstGeom>
          <a:noFill/>
          <a:ln/>
        </p:spPr>
        <p:txBody>
          <a:bodyPr wrap="square" lIns="0" tIns="0" rIns="0" bIns="0" rtlCol="0" anchor="ctr"/>
          <a:lstStyle/>
          <a:p>
            <a:pPr marL="0" indent="0">
              <a:buNone/>
            </a:pPr>
            <a:r>
              <a:rPr lang="en-US" sz="1200" dirty="0">
                <a:solidFill>
                  <a:srgbClr val="5A6B7A"/>
                </a:solidFill>
                <a:latin typeface="Open Sans" pitchFamily="34" charset="0"/>
                <a:ea typeface="Open Sans" pitchFamily="34" charset="-122"/>
                <a:cs typeface="Open Sans" pitchFamily="34" charset="-120"/>
              </a:rPr>
              <a:t>GitHub Desktop is a free visual app — no terminal, no command line. It installs Git in the background and wraps every Git operation in a button or menu.</a:t>
            </a:r>
            <a:endParaRPr lang="en-US" sz="1200" dirty="0"/>
          </a:p>
        </p:txBody>
      </p:sp>
      <p:sp>
        <p:nvSpPr>
          <p:cNvPr id="9" name="Shape 7"/>
          <p:cNvSpPr/>
          <p:nvPr/>
        </p:nvSpPr>
        <p:spPr>
          <a:xfrm>
            <a:off x="731520" y="1691640"/>
            <a:ext cx="3840480" cy="1783080"/>
          </a:xfrm>
          <a:prstGeom prst="rect">
            <a:avLst/>
          </a:prstGeom>
          <a:solidFill>
            <a:srgbClr val="FFFFFF"/>
          </a:solidFill>
          <a:ln/>
          <a:effectLst>
            <a:outerShdw blurRad="50800" dist="25400" dir="8100000" algn="bl" rotWithShape="0">
              <a:srgbClr val="000000">
                <a:alpha val="6000"/>
              </a:srgbClr>
            </a:outerShdw>
          </a:effectLst>
        </p:spPr>
        <p:txBody>
          <a:bodyPr/>
          <a:lstStyle/>
          <a:p>
            <a:endParaRPr lang="en-US"/>
          </a:p>
        </p:txBody>
      </p:sp>
      <p:sp>
        <p:nvSpPr>
          <p:cNvPr id="10" name="Text 8"/>
          <p:cNvSpPr/>
          <p:nvPr/>
        </p:nvSpPr>
        <p:spPr>
          <a:xfrm>
            <a:off x="914400" y="1783080"/>
            <a:ext cx="3474720" cy="320040"/>
          </a:xfrm>
          <a:prstGeom prst="rect">
            <a:avLst/>
          </a:prstGeom>
          <a:noFill/>
          <a:ln/>
        </p:spPr>
        <p:txBody>
          <a:bodyPr wrap="square" lIns="0" tIns="0" rIns="0" bIns="0" rtlCol="0" anchor="ctr"/>
          <a:lstStyle/>
          <a:p>
            <a:pPr marL="0" indent="0">
              <a:buNone/>
            </a:pPr>
            <a:r>
              <a:rPr lang="en-US" sz="1500" b="1" dirty="0">
                <a:solidFill>
                  <a:srgbClr val="1E2530"/>
                </a:solidFill>
                <a:latin typeface="Open Sans" pitchFamily="34" charset="0"/>
                <a:ea typeface="Open Sans" pitchFamily="34" charset="-122"/>
                <a:cs typeface="Open Sans" pitchFamily="34" charset="-120"/>
              </a:rPr>
              <a:t>Windows</a:t>
            </a:r>
            <a:endParaRPr lang="en-US" sz="1500" dirty="0"/>
          </a:p>
        </p:txBody>
      </p:sp>
      <p:sp>
        <p:nvSpPr>
          <p:cNvPr id="11" name="Text 9"/>
          <p:cNvSpPr/>
          <p:nvPr/>
        </p:nvSpPr>
        <p:spPr>
          <a:xfrm>
            <a:off x="914400" y="2148840"/>
            <a:ext cx="3474720" cy="320040"/>
          </a:xfrm>
          <a:prstGeom prst="rect">
            <a:avLst/>
          </a:prstGeom>
          <a:noFill/>
          <a:ln/>
        </p:spPr>
        <p:txBody>
          <a:bodyPr wrap="square" lIns="0" tIns="0" rIns="0" bIns="0" rtlCol="0" anchor="ctr"/>
          <a:lstStyle/>
          <a:p>
            <a:pPr marL="342900" indent="-342900">
              <a:buSzPct val="100000"/>
              <a:buChar char="•"/>
            </a:pPr>
            <a:r>
              <a:rPr lang="en-US" sz="1100" dirty="0">
                <a:solidFill>
                  <a:srgbClr val="5A6B7A"/>
                </a:solidFill>
                <a:latin typeface="Open Sans" pitchFamily="34" charset="0"/>
                <a:ea typeface="Open Sans" pitchFamily="34" charset="-122"/>
                <a:cs typeface="Open Sans" pitchFamily="34" charset="-120"/>
              </a:rPr>
              <a:t>Download from desktop.github.com</a:t>
            </a:r>
            <a:endParaRPr lang="en-US" sz="1100" dirty="0"/>
          </a:p>
        </p:txBody>
      </p:sp>
      <p:sp>
        <p:nvSpPr>
          <p:cNvPr id="12" name="Text 10"/>
          <p:cNvSpPr/>
          <p:nvPr/>
        </p:nvSpPr>
        <p:spPr>
          <a:xfrm>
            <a:off x="914400" y="2468880"/>
            <a:ext cx="3474720" cy="320040"/>
          </a:xfrm>
          <a:prstGeom prst="rect">
            <a:avLst/>
          </a:prstGeom>
          <a:noFill/>
          <a:ln/>
        </p:spPr>
        <p:txBody>
          <a:bodyPr wrap="square" lIns="0" tIns="0" rIns="0" bIns="0" rtlCol="0" anchor="ctr"/>
          <a:lstStyle/>
          <a:p>
            <a:pPr marL="342900" indent="-342900">
              <a:buSzPct val="100000"/>
              <a:buChar char="•"/>
            </a:pPr>
            <a:r>
              <a:rPr lang="en-US" sz="1100" dirty="0">
                <a:solidFill>
                  <a:srgbClr val="5A6B7A"/>
                </a:solidFill>
                <a:latin typeface="Open Sans" pitchFamily="34" charset="0"/>
                <a:ea typeface="Open Sans" pitchFamily="34" charset="-122"/>
                <a:cs typeface="Open Sans" pitchFamily="34" charset="-120"/>
              </a:rPr>
              <a:t>Run the installer — Git is bundled in, no separate install needed</a:t>
            </a:r>
            <a:endParaRPr lang="en-US" sz="1100" dirty="0"/>
          </a:p>
        </p:txBody>
      </p:sp>
      <p:sp>
        <p:nvSpPr>
          <p:cNvPr id="13" name="Text 11"/>
          <p:cNvSpPr/>
          <p:nvPr/>
        </p:nvSpPr>
        <p:spPr>
          <a:xfrm>
            <a:off x="914400" y="2788920"/>
            <a:ext cx="3474720" cy="320040"/>
          </a:xfrm>
          <a:prstGeom prst="rect">
            <a:avLst/>
          </a:prstGeom>
          <a:noFill/>
          <a:ln/>
        </p:spPr>
        <p:txBody>
          <a:bodyPr wrap="square" lIns="0" tIns="0" rIns="0" bIns="0" rtlCol="0" anchor="ctr"/>
          <a:lstStyle/>
          <a:p>
            <a:pPr marL="342900" indent="-342900">
              <a:buSzPct val="100000"/>
              <a:buChar char="•"/>
            </a:pPr>
            <a:r>
              <a:rPr lang="en-US" sz="1100" dirty="0">
                <a:solidFill>
                  <a:srgbClr val="5A6B7A"/>
                </a:solidFill>
                <a:latin typeface="Open Sans" pitchFamily="34" charset="0"/>
                <a:ea typeface="Open Sans" pitchFamily="34" charset="-122"/>
                <a:cs typeface="Open Sans" pitchFamily="34" charset="-120"/>
              </a:rPr>
              <a:t>Launch GitHub Desktop from your Start menu</a:t>
            </a:r>
            <a:endParaRPr lang="en-US" sz="1100" dirty="0"/>
          </a:p>
        </p:txBody>
      </p:sp>
      <p:sp>
        <p:nvSpPr>
          <p:cNvPr id="14" name="Text 12"/>
          <p:cNvSpPr/>
          <p:nvPr/>
        </p:nvSpPr>
        <p:spPr>
          <a:xfrm>
            <a:off x="914400" y="3108960"/>
            <a:ext cx="3474720" cy="320040"/>
          </a:xfrm>
          <a:prstGeom prst="rect">
            <a:avLst/>
          </a:prstGeom>
          <a:noFill/>
          <a:ln/>
        </p:spPr>
        <p:txBody>
          <a:bodyPr wrap="square" lIns="0" tIns="0" rIns="0" bIns="0" rtlCol="0" anchor="ctr"/>
          <a:lstStyle/>
          <a:p>
            <a:pPr marL="342900" indent="-342900">
              <a:buSzPct val="100000"/>
              <a:buChar char="•"/>
            </a:pPr>
            <a:r>
              <a:rPr lang="en-US" sz="1100" dirty="0">
                <a:solidFill>
                  <a:srgbClr val="5A6B7A"/>
                </a:solidFill>
                <a:latin typeface="Open Sans" pitchFamily="34" charset="0"/>
                <a:ea typeface="Open Sans" pitchFamily="34" charset="-122"/>
                <a:cs typeface="Open Sans" pitchFamily="34" charset="-120"/>
              </a:rPr>
              <a:t>Sign in with your GitHub.com account</a:t>
            </a:r>
            <a:endParaRPr lang="en-US" sz="1100" dirty="0"/>
          </a:p>
        </p:txBody>
      </p:sp>
      <p:sp>
        <p:nvSpPr>
          <p:cNvPr id="15" name="Shape 13"/>
          <p:cNvSpPr/>
          <p:nvPr/>
        </p:nvSpPr>
        <p:spPr>
          <a:xfrm>
            <a:off x="4937760" y="1691640"/>
            <a:ext cx="3840480" cy="1783080"/>
          </a:xfrm>
          <a:prstGeom prst="rect">
            <a:avLst/>
          </a:prstGeom>
          <a:solidFill>
            <a:srgbClr val="FFFFFF"/>
          </a:solidFill>
          <a:ln/>
          <a:effectLst>
            <a:outerShdw blurRad="50800" dist="25400" dir="8100000" algn="bl" rotWithShape="0">
              <a:srgbClr val="000000">
                <a:alpha val="6000"/>
              </a:srgbClr>
            </a:outerShdw>
          </a:effectLst>
        </p:spPr>
        <p:txBody>
          <a:bodyPr/>
          <a:lstStyle/>
          <a:p>
            <a:endParaRPr lang="en-US"/>
          </a:p>
        </p:txBody>
      </p:sp>
      <p:sp>
        <p:nvSpPr>
          <p:cNvPr id="16" name="Text 14"/>
          <p:cNvSpPr/>
          <p:nvPr/>
        </p:nvSpPr>
        <p:spPr>
          <a:xfrm>
            <a:off x="5120640" y="1783080"/>
            <a:ext cx="3474720" cy="320040"/>
          </a:xfrm>
          <a:prstGeom prst="rect">
            <a:avLst/>
          </a:prstGeom>
          <a:noFill/>
          <a:ln/>
        </p:spPr>
        <p:txBody>
          <a:bodyPr wrap="square" lIns="0" tIns="0" rIns="0" bIns="0" rtlCol="0" anchor="ctr"/>
          <a:lstStyle/>
          <a:p>
            <a:pPr marL="0" indent="0">
              <a:buNone/>
            </a:pPr>
            <a:r>
              <a:rPr lang="en-US" sz="1500" b="1" dirty="0">
                <a:solidFill>
                  <a:srgbClr val="1E2530"/>
                </a:solidFill>
                <a:latin typeface="Open Sans" pitchFamily="34" charset="0"/>
                <a:ea typeface="Open Sans" pitchFamily="34" charset="-122"/>
                <a:cs typeface="Open Sans" pitchFamily="34" charset="-120"/>
              </a:rPr>
              <a:t>Mac</a:t>
            </a:r>
            <a:endParaRPr lang="en-US" sz="1500" dirty="0"/>
          </a:p>
        </p:txBody>
      </p:sp>
      <p:sp>
        <p:nvSpPr>
          <p:cNvPr id="17" name="Text 15"/>
          <p:cNvSpPr/>
          <p:nvPr/>
        </p:nvSpPr>
        <p:spPr>
          <a:xfrm>
            <a:off x="5120640" y="2148840"/>
            <a:ext cx="3474720" cy="320040"/>
          </a:xfrm>
          <a:prstGeom prst="rect">
            <a:avLst/>
          </a:prstGeom>
          <a:noFill/>
          <a:ln/>
        </p:spPr>
        <p:txBody>
          <a:bodyPr wrap="square" lIns="0" tIns="0" rIns="0" bIns="0" rtlCol="0" anchor="ctr"/>
          <a:lstStyle/>
          <a:p>
            <a:pPr marL="342900" indent="-342900">
              <a:buSzPct val="100000"/>
              <a:buChar char="•"/>
            </a:pPr>
            <a:r>
              <a:rPr lang="en-US" sz="1100" dirty="0">
                <a:solidFill>
                  <a:srgbClr val="5A6B7A"/>
                </a:solidFill>
                <a:latin typeface="Open Sans" pitchFamily="34" charset="0"/>
                <a:ea typeface="Open Sans" pitchFamily="34" charset="-122"/>
                <a:cs typeface="Open Sans" pitchFamily="34" charset="-120"/>
              </a:rPr>
              <a:t>Download from desktop.github.com</a:t>
            </a:r>
            <a:endParaRPr lang="en-US" sz="1100" dirty="0"/>
          </a:p>
        </p:txBody>
      </p:sp>
      <p:sp>
        <p:nvSpPr>
          <p:cNvPr id="18" name="Text 16"/>
          <p:cNvSpPr/>
          <p:nvPr/>
        </p:nvSpPr>
        <p:spPr>
          <a:xfrm>
            <a:off x="5120640" y="2468880"/>
            <a:ext cx="3474720" cy="320040"/>
          </a:xfrm>
          <a:prstGeom prst="rect">
            <a:avLst/>
          </a:prstGeom>
          <a:noFill/>
          <a:ln/>
        </p:spPr>
        <p:txBody>
          <a:bodyPr wrap="square" lIns="0" tIns="0" rIns="0" bIns="0" rtlCol="0" anchor="ctr"/>
          <a:lstStyle/>
          <a:p>
            <a:pPr marL="342900" indent="-342900">
              <a:buSzPct val="100000"/>
              <a:buChar char="•"/>
            </a:pPr>
            <a:r>
              <a:rPr lang="en-US" sz="1100" dirty="0">
                <a:solidFill>
                  <a:srgbClr val="5A6B7A"/>
                </a:solidFill>
                <a:latin typeface="Open Sans" pitchFamily="34" charset="0"/>
                <a:ea typeface="Open Sans" pitchFamily="34" charset="-122"/>
                <a:cs typeface="Open Sans" pitchFamily="34" charset="-120"/>
              </a:rPr>
              <a:t>Open the .dmg, drag to Applications</a:t>
            </a:r>
            <a:endParaRPr lang="en-US" sz="1100" dirty="0"/>
          </a:p>
        </p:txBody>
      </p:sp>
      <p:sp>
        <p:nvSpPr>
          <p:cNvPr id="19" name="Text 17"/>
          <p:cNvSpPr/>
          <p:nvPr/>
        </p:nvSpPr>
        <p:spPr>
          <a:xfrm>
            <a:off x="5120640" y="2788920"/>
            <a:ext cx="3474720" cy="320040"/>
          </a:xfrm>
          <a:prstGeom prst="rect">
            <a:avLst/>
          </a:prstGeom>
          <a:noFill/>
          <a:ln/>
        </p:spPr>
        <p:txBody>
          <a:bodyPr wrap="square" lIns="0" tIns="0" rIns="0" bIns="0" rtlCol="0" anchor="ctr"/>
          <a:lstStyle/>
          <a:p>
            <a:pPr marL="342900" indent="-342900">
              <a:buSzPct val="100000"/>
              <a:buChar char="•"/>
            </a:pPr>
            <a:r>
              <a:rPr lang="en-US" sz="1100" dirty="0">
                <a:solidFill>
                  <a:srgbClr val="5A6B7A"/>
                </a:solidFill>
                <a:latin typeface="Open Sans" pitchFamily="34" charset="0"/>
                <a:ea typeface="Open Sans" pitchFamily="34" charset="-122"/>
                <a:cs typeface="Open Sans" pitchFamily="34" charset="-120"/>
              </a:rPr>
              <a:t>Launch GitHub Desktop from Applications</a:t>
            </a:r>
            <a:endParaRPr lang="en-US" sz="1100" dirty="0"/>
          </a:p>
        </p:txBody>
      </p:sp>
      <p:sp>
        <p:nvSpPr>
          <p:cNvPr id="20" name="Text 18"/>
          <p:cNvSpPr/>
          <p:nvPr/>
        </p:nvSpPr>
        <p:spPr>
          <a:xfrm>
            <a:off x="5120640" y="3108960"/>
            <a:ext cx="3474720" cy="320040"/>
          </a:xfrm>
          <a:prstGeom prst="rect">
            <a:avLst/>
          </a:prstGeom>
          <a:noFill/>
          <a:ln/>
        </p:spPr>
        <p:txBody>
          <a:bodyPr wrap="square" lIns="0" tIns="0" rIns="0" bIns="0" rtlCol="0" anchor="ctr"/>
          <a:lstStyle/>
          <a:p>
            <a:pPr marL="342900" indent="-342900">
              <a:buSzPct val="100000"/>
              <a:buChar char="•"/>
            </a:pPr>
            <a:r>
              <a:rPr lang="en-US" sz="1100" dirty="0">
                <a:solidFill>
                  <a:srgbClr val="5A6B7A"/>
                </a:solidFill>
                <a:latin typeface="Open Sans" pitchFamily="34" charset="0"/>
                <a:ea typeface="Open Sans" pitchFamily="34" charset="-122"/>
                <a:cs typeface="Open Sans" pitchFamily="34" charset="-120"/>
              </a:rPr>
              <a:t>Sign in with your GitHub.com account</a:t>
            </a:r>
            <a:endParaRPr lang="en-US" sz="1100" dirty="0"/>
          </a:p>
        </p:txBody>
      </p:sp>
      <p:sp>
        <p:nvSpPr>
          <p:cNvPr id="21" name="Shape 19"/>
          <p:cNvSpPr/>
          <p:nvPr/>
        </p:nvSpPr>
        <p:spPr>
          <a:xfrm>
            <a:off x="731520" y="3703320"/>
            <a:ext cx="7680960" cy="822960"/>
          </a:xfrm>
          <a:prstGeom prst="rect">
            <a:avLst/>
          </a:prstGeom>
          <a:solidFill>
            <a:srgbClr val="36454F"/>
          </a:solidFill>
          <a:ln/>
        </p:spPr>
        <p:txBody>
          <a:bodyPr/>
          <a:lstStyle/>
          <a:p>
            <a:endParaRPr lang="en-US"/>
          </a:p>
        </p:txBody>
      </p:sp>
      <p:pic>
        <p:nvPicPr>
          <p:cNvPr id="22" name="Image 0" descr="preencoded.png"/>
          <p:cNvPicPr>
            <a:picLocks noChangeAspect="1"/>
          </p:cNvPicPr>
          <p:nvPr/>
        </p:nvPicPr>
        <p:blipFill>
          <a:blip r:embed="rId3"/>
          <a:stretch>
            <a:fillRect/>
          </a:stretch>
        </p:blipFill>
        <p:spPr>
          <a:xfrm>
            <a:off x="960120" y="3840480"/>
            <a:ext cx="365760" cy="365760"/>
          </a:xfrm>
          <a:prstGeom prst="rect">
            <a:avLst/>
          </a:prstGeom>
        </p:spPr>
      </p:pic>
      <p:sp>
        <p:nvSpPr>
          <p:cNvPr id="23" name="Text 20"/>
          <p:cNvSpPr/>
          <p:nvPr/>
        </p:nvSpPr>
        <p:spPr>
          <a:xfrm>
            <a:off x="1463040" y="3749040"/>
            <a:ext cx="3657600" cy="274320"/>
          </a:xfrm>
          <a:prstGeom prst="rect">
            <a:avLst/>
          </a:prstGeom>
          <a:noFill/>
          <a:ln/>
        </p:spPr>
        <p:txBody>
          <a:bodyPr wrap="square" lIns="0" tIns="0" rIns="0" bIns="0" rtlCol="0" anchor="ctr"/>
          <a:lstStyle/>
          <a:p>
            <a:pPr marL="0" indent="0">
              <a:buNone/>
            </a:pPr>
            <a:r>
              <a:rPr lang="en-US" sz="1100" b="1" dirty="0">
                <a:solidFill>
                  <a:srgbClr val="B8975C"/>
                </a:solidFill>
                <a:latin typeface="Open Sans" pitchFamily="34" charset="0"/>
                <a:ea typeface="Open Sans" pitchFamily="34" charset="-122"/>
                <a:cs typeface="Open Sans" pitchFamily="34" charset="-120"/>
              </a:rPr>
              <a:t>First-Time Setup (Desktop confirms these on first launch):</a:t>
            </a:r>
            <a:endParaRPr lang="en-US" sz="1100" dirty="0"/>
          </a:p>
        </p:txBody>
      </p:sp>
      <p:sp>
        <p:nvSpPr>
          <p:cNvPr id="24" name="Text 21"/>
          <p:cNvSpPr/>
          <p:nvPr/>
        </p:nvSpPr>
        <p:spPr>
          <a:xfrm>
            <a:off x="1463040" y="4023360"/>
            <a:ext cx="6400800" cy="411480"/>
          </a:xfrm>
          <a:prstGeom prst="rect">
            <a:avLst/>
          </a:prstGeom>
          <a:noFill/>
          <a:ln/>
        </p:spPr>
        <p:txBody>
          <a:bodyPr wrap="square" lIns="0" tIns="0" rIns="0" bIns="0" rtlCol="0" anchor="ctr"/>
          <a:lstStyle/>
          <a:p>
            <a:pPr marL="0" indent="0">
              <a:lnSpc>
                <a:spcPct val="130000"/>
              </a:lnSpc>
              <a:buNone/>
            </a:pPr>
            <a:r>
              <a:rPr lang="en-US" sz="1100" dirty="0">
                <a:solidFill>
                  <a:srgbClr val="FFFFFF"/>
                </a:solidFill>
                <a:latin typeface="Consolas" pitchFamily="34" charset="0"/>
                <a:ea typeface="Consolas" pitchFamily="34" charset="-122"/>
                <a:cs typeface="Consolas" pitchFamily="34" charset="-120"/>
              </a:rPr>
              <a:t>Name:   Your full name (appears on every commit)</a:t>
            </a:r>
            <a:endParaRPr lang="en-US" sz="1100" dirty="0"/>
          </a:p>
          <a:p>
            <a:pPr marL="0" indent="0">
              <a:lnSpc>
                <a:spcPct val="130000"/>
              </a:lnSpc>
              <a:buNone/>
            </a:pPr>
            <a:r>
              <a:rPr lang="en-US" sz="1100" dirty="0">
                <a:solidFill>
                  <a:srgbClr val="FFFFFF"/>
                </a:solidFill>
                <a:latin typeface="Consolas" pitchFamily="34" charset="0"/>
                <a:ea typeface="Consolas" pitchFamily="34" charset="-122"/>
                <a:cs typeface="Consolas" pitchFamily="34" charset="-120"/>
              </a:rPr>
              <a:t>Email:  your@hawaii.edu  (matches your GitHub account)</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9144000" cy="640080"/>
          </a:xfrm>
          <a:prstGeom prst="rect">
            <a:avLst/>
          </a:prstGeom>
          <a:solidFill>
            <a:srgbClr val="024731"/>
          </a:solidFill>
          <a:ln/>
        </p:spPr>
        <p:txBody>
          <a:bodyPr/>
          <a:lstStyle/>
          <a:p>
            <a:endParaRPr lang="en-US"/>
          </a:p>
        </p:txBody>
      </p:sp>
      <p:sp>
        <p:nvSpPr>
          <p:cNvPr id="3" name="Shape 1"/>
          <p:cNvSpPr/>
          <p:nvPr/>
        </p:nvSpPr>
        <p:spPr>
          <a:xfrm>
            <a:off x="0" y="4709160"/>
            <a:ext cx="9144000" cy="434340"/>
          </a:xfrm>
          <a:prstGeom prst="rect">
            <a:avLst/>
          </a:prstGeom>
          <a:solidFill>
            <a:srgbClr val="36454F"/>
          </a:solidFill>
          <a:ln/>
        </p:spPr>
        <p:txBody>
          <a:bodyPr/>
          <a:lstStyle/>
          <a:p>
            <a:endParaRPr lang="en-US"/>
          </a:p>
        </p:txBody>
      </p:sp>
      <p:sp>
        <p:nvSpPr>
          <p:cNvPr id="4" name="Text 2"/>
          <p:cNvSpPr/>
          <p:nvPr/>
        </p:nvSpPr>
        <p:spPr>
          <a:xfrm>
            <a:off x="457200" y="4754880"/>
            <a:ext cx="8229600" cy="320040"/>
          </a:xfrm>
          <a:prstGeom prst="rect">
            <a:avLst/>
          </a:prstGeom>
          <a:noFill/>
          <a:ln/>
        </p:spPr>
        <p:txBody>
          <a:bodyPr wrap="square" rtlCol="0" anchor="ctr"/>
          <a:lstStyle/>
          <a:p>
            <a:pPr marL="0" indent="0" algn="ctr">
              <a:buNone/>
            </a:pPr>
            <a:r>
              <a:rPr lang="en-US" sz="900" dirty="0">
                <a:solidFill>
                  <a:srgbClr val="8A9BAD"/>
                </a:solidFill>
                <a:latin typeface="Open Sans" pitchFamily="34" charset="0"/>
                <a:ea typeface="Open Sans" pitchFamily="34" charset="-122"/>
                <a:cs typeface="Open Sans" pitchFamily="34" charset="-120"/>
              </a:rPr>
              <a:t>Stage 0  |  GitHub &amp; Workflow Onboarding  |  Corporate-Finance/ (new repo)</a:t>
            </a:r>
            <a:endParaRPr lang="en-US" sz="900" dirty="0"/>
          </a:p>
        </p:txBody>
      </p:sp>
      <p:sp>
        <p:nvSpPr>
          <p:cNvPr id="5" name="Shape 3"/>
          <p:cNvSpPr/>
          <p:nvPr/>
        </p:nvSpPr>
        <p:spPr>
          <a:xfrm>
            <a:off x="731520" y="274320"/>
            <a:ext cx="1179576" cy="274320"/>
          </a:xfrm>
          <a:prstGeom prst="rect">
            <a:avLst/>
          </a:prstGeom>
          <a:solidFill>
            <a:srgbClr val="36454F"/>
          </a:solidFill>
          <a:ln/>
        </p:spPr>
        <p:txBody>
          <a:bodyPr/>
          <a:lstStyle/>
          <a:p>
            <a:endParaRPr lang="en-US"/>
          </a:p>
        </p:txBody>
      </p:sp>
      <p:sp>
        <p:nvSpPr>
          <p:cNvPr id="6" name="Text 4"/>
          <p:cNvSpPr/>
          <p:nvPr/>
        </p:nvSpPr>
        <p:spPr>
          <a:xfrm>
            <a:off x="731520" y="274320"/>
            <a:ext cx="1179576" cy="274320"/>
          </a:xfrm>
          <a:prstGeom prst="rect">
            <a:avLst/>
          </a:prstGeom>
          <a:noFill/>
          <a:ln/>
        </p:spPr>
        <p:txBody>
          <a:bodyPr wrap="square" lIns="0" tIns="0" rIns="0" bIns="0" rtlCol="0" anchor="ctr"/>
          <a:lstStyle/>
          <a:p>
            <a:pPr marL="0" indent="0" algn="ctr">
              <a:buNone/>
            </a:pPr>
            <a:r>
              <a:rPr lang="en-US" sz="900" b="1" kern="0" spc="300" dirty="0">
                <a:solidFill>
                  <a:srgbClr val="B8975C"/>
                </a:solidFill>
                <a:latin typeface="Open Sans" pitchFamily="34" charset="0"/>
                <a:ea typeface="Open Sans" pitchFamily="34" charset="-122"/>
                <a:cs typeface="Open Sans" pitchFamily="34" charset="-120"/>
              </a:rPr>
              <a:t>STEP 3 OF 5</a:t>
            </a:r>
            <a:endParaRPr lang="en-US" sz="900" dirty="0"/>
          </a:p>
        </p:txBody>
      </p:sp>
      <p:sp>
        <p:nvSpPr>
          <p:cNvPr id="7" name="Text 5"/>
          <p:cNvSpPr/>
          <p:nvPr/>
        </p:nvSpPr>
        <p:spPr>
          <a:xfrm>
            <a:off x="731520" y="640080"/>
            <a:ext cx="7680960" cy="457200"/>
          </a:xfrm>
          <a:prstGeom prst="rect">
            <a:avLst/>
          </a:prstGeom>
          <a:noFill/>
          <a:ln/>
        </p:spPr>
        <p:txBody>
          <a:bodyPr wrap="square" lIns="0" tIns="0" rIns="0" bIns="0" rtlCol="0" anchor="ctr"/>
          <a:lstStyle/>
          <a:p>
            <a:pPr marL="0" indent="0">
              <a:buNone/>
            </a:pPr>
            <a:r>
              <a:rPr lang="en-US" sz="2800" b="1" dirty="0">
                <a:solidFill>
                  <a:srgbClr val="1E2530"/>
                </a:solidFill>
                <a:latin typeface="Open Sans" pitchFamily="34" charset="0"/>
                <a:ea typeface="Open Sans" pitchFamily="34" charset="-122"/>
                <a:cs typeface="Open Sans" pitchFamily="34" charset="-120"/>
              </a:rPr>
              <a:t>Create Your Repo &amp; Directory Skeleton</a:t>
            </a:r>
            <a:endParaRPr lang="en-US" sz="2800" dirty="0"/>
          </a:p>
        </p:txBody>
      </p:sp>
      <p:sp>
        <p:nvSpPr>
          <p:cNvPr id="8" name="Shape 6"/>
          <p:cNvSpPr/>
          <p:nvPr/>
        </p:nvSpPr>
        <p:spPr>
          <a:xfrm>
            <a:off x="731520" y="1280160"/>
            <a:ext cx="365760" cy="365760"/>
          </a:xfrm>
          <a:prstGeom prst="line">
            <a:avLst/>
          </a:prstGeom>
          <a:solidFill>
            <a:srgbClr val="B8975C"/>
          </a:solidFill>
          <a:ln/>
        </p:spPr>
        <p:txBody>
          <a:bodyPr/>
          <a:lstStyle/>
          <a:p>
            <a:endParaRPr lang="en-US"/>
          </a:p>
        </p:txBody>
      </p:sp>
      <p:sp>
        <p:nvSpPr>
          <p:cNvPr id="9" name="Text 7"/>
          <p:cNvSpPr/>
          <p:nvPr/>
        </p:nvSpPr>
        <p:spPr>
          <a:xfrm>
            <a:off x="731520" y="1280160"/>
            <a:ext cx="365760" cy="365760"/>
          </a:xfrm>
          <a:prstGeom prst="rect">
            <a:avLst/>
          </a:prstGeom>
          <a:noFill/>
          <a:ln/>
        </p:spPr>
        <p:txBody>
          <a:bodyPr wrap="square" lIns="0" tIns="0" rIns="0" bIns="0" rtlCol="0" anchor="ctr"/>
          <a:lstStyle/>
          <a:p>
            <a:pPr marL="0" indent="0" algn="ctr">
              <a:buNone/>
            </a:pPr>
            <a:r>
              <a:rPr lang="en-US" sz="1400" b="1" dirty="0">
                <a:solidFill>
                  <a:srgbClr val="FFFFFF"/>
                </a:solidFill>
                <a:latin typeface="Open Sans" pitchFamily="34" charset="0"/>
                <a:ea typeface="Open Sans" pitchFamily="34" charset="-122"/>
                <a:cs typeface="Open Sans" pitchFamily="34" charset="-120"/>
              </a:rPr>
              <a:t>1</a:t>
            </a:r>
            <a:endParaRPr lang="en-US" sz="1400" dirty="0"/>
          </a:p>
        </p:txBody>
      </p:sp>
      <p:sp>
        <p:nvSpPr>
          <p:cNvPr id="10" name="Text 8"/>
          <p:cNvSpPr/>
          <p:nvPr/>
        </p:nvSpPr>
        <p:spPr>
          <a:xfrm>
            <a:off x="1280160" y="1280160"/>
            <a:ext cx="3840480" cy="365760"/>
          </a:xfrm>
          <a:prstGeom prst="rect">
            <a:avLst/>
          </a:prstGeom>
          <a:noFill/>
          <a:ln/>
        </p:spPr>
        <p:txBody>
          <a:bodyPr wrap="square" lIns="0" tIns="0" rIns="0" bIns="0" rtlCol="0" anchor="ctr"/>
          <a:lstStyle/>
          <a:p>
            <a:pPr marL="0" indent="0">
              <a:buNone/>
            </a:pPr>
            <a:r>
              <a:rPr lang="en-US" sz="1300" dirty="0">
                <a:solidFill>
                  <a:srgbClr val="1E2530"/>
                </a:solidFill>
                <a:latin typeface="Open Sans" pitchFamily="34" charset="0"/>
                <a:ea typeface="Open Sans" pitchFamily="34" charset="-122"/>
                <a:cs typeface="Open Sans" pitchFamily="34" charset="-120"/>
              </a:rPr>
              <a:t>On github.com, click + → New repository</a:t>
            </a:r>
            <a:endParaRPr lang="en-US" sz="1300" dirty="0"/>
          </a:p>
        </p:txBody>
      </p:sp>
      <p:sp>
        <p:nvSpPr>
          <p:cNvPr id="11" name="Shape 9"/>
          <p:cNvSpPr/>
          <p:nvPr/>
        </p:nvSpPr>
        <p:spPr>
          <a:xfrm>
            <a:off x="731520" y="1828800"/>
            <a:ext cx="365760" cy="365760"/>
          </a:xfrm>
          <a:prstGeom prst="line">
            <a:avLst/>
          </a:prstGeom>
          <a:solidFill>
            <a:srgbClr val="B8975C"/>
          </a:solidFill>
          <a:ln/>
        </p:spPr>
        <p:txBody>
          <a:bodyPr/>
          <a:lstStyle/>
          <a:p>
            <a:endParaRPr lang="en-US"/>
          </a:p>
        </p:txBody>
      </p:sp>
      <p:sp>
        <p:nvSpPr>
          <p:cNvPr id="12" name="Text 10"/>
          <p:cNvSpPr/>
          <p:nvPr/>
        </p:nvSpPr>
        <p:spPr>
          <a:xfrm>
            <a:off x="731520" y="1828800"/>
            <a:ext cx="365760" cy="365760"/>
          </a:xfrm>
          <a:prstGeom prst="rect">
            <a:avLst/>
          </a:prstGeom>
          <a:noFill/>
          <a:ln/>
        </p:spPr>
        <p:txBody>
          <a:bodyPr wrap="square" lIns="0" tIns="0" rIns="0" bIns="0" rtlCol="0" anchor="ctr"/>
          <a:lstStyle/>
          <a:p>
            <a:pPr marL="0" indent="0" algn="ctr">
              <a:buNone/>
            </a:pPr>
            <a:r>
              <a:rPr lang="en-US" sz="1400" b="1" dirty="0">
                <a:solidFill>
                  <a:srgbClr val="FFFFFF"/>
                </a:solidFill>
                <a:latin typeface="Open Sans" pitchFamily="34" charset="0"/>
                <a:ea typeface="Open Sans" pitchFamily="34" charset="-122"/>
                <a:cs typeface="Open Sans" pitchFamily="34" charset="-120"/>
              </a:rPr>
              <a:t>2</a:t>
            </a:r>
            <a:endParaRPr lang="en-US" sz="1400" dirty="0"/>
          </a:p>
        </p:txBody>
      </p:sp>
      <p:sp>
        <p:nvSpPr>
          <p:cNvPr id="13" name="Text 11"/>
          <p:cNvSpPr/>
          <p:nvPr/>
        </p:nvSpPr>
        <p:spPr>
          <a:xfrm>
            <a:off x="1280160" y="1828800"/>
            <a:ext cx="3840480" cy="365760"/>
          </a:xfrm>
          <a:prstGeom prst="rect">
            <a:avLst/>
          </a:prstGeom>
          <a:noFill/>
          <a:ln/>
        </p:spPr>
        <p:txBody>
          <a:bodyPr wrap="square" lIns="0" tIns="0" rIns="0" bIns="0" rtlCol="0" anchor="ctr"/>
          <a:lstStyle/>
          <a:p>
            <a:pPr marL="0" indent="0">
              <a:buNone/>
            </a:pPr>
            <a:r>
              <a:rPr lang="en-US" sz="1300" dirty="0">
                <a:solidFill>
                  <a:srgbClr val="1E2530"/>
                </a:solidFill>
                <a:latin typeface="Open Sans" pitchFamily="34" charset="0"/>
                <a:ea typeface="Open Sans" pitchFamily="34" charset="-122"/>
                <a:cs typeface="Open Sans" pitchFamily="34" charset="-120"/>
              </a:rPr>
              <a:t>Name it Corporate-Finance, set visibility to Public</a:t>
            </a:r>
            <a:endParaRPr lang="en-US" sz="1300" dirty="0"/>
          </a:p>
        </p:txBody>
      </p:sp>
      <p:sp>
        <p:nvSpPr>
          <p:cNvPr id="14" name="Shape 12"/>
          <p:cNvSpPr/>
          <p:nvPr/>
        </p:nvSpPr>
        <p:spPr>
          <a:xfrm>
            <a:off x="731520" y="2377440"/>
            <a:ext cx="365760" cy="365760"/>
          </a:xfrm>
          <a:prstGeom prst="line">
            <a:avLst/>
          </a:prstGeom>
          <a:solidFill>
            <a:srgbClr val="B8975C"/>
          </a:solidFill>
          <a:ln/>
        </p:spPr>
        <p:txBody>
          <a:bodyPr/>
          <a:lstStyle/>
          <a:p>
            <a:endParaRPr lang="en-US"/>
          </a:p>
        </p:txBody>
      </p:sp>
      <p:sp>
        <p:nvSpPr>
          <p:cNvPr id="15" name="Text 13"/>
          <p:cNvSpPr/>
          <p:nvPr/>
        </p:nvSpPr>
        <p:spPr>
          <a:xfrm>
            <a:off x="731520" y="2377440"/>
            <a:ext cx="365760" cy="365760"/>
          </a:xfrm>
          <a:prstGeom prst="rect">
            <a:avLst/>
          </a:prstGeom>
          <a:noFill/>
          <a:ln/>
        </p:spPr>
        <p:txBody>
          <a:bodyPr wrap="square" lIns="0" tIns="0" rIns="0" bIns="0" rtlCol="0" anchor="ctr"/>
          <a:lstStyle/>
          <a:p>
            <a:pPr marL="0" indent="0" algn="ctr">
              <a:buNone/>
            </a:pPr>
            <a:r>
              <a:rPr lang="en-US" sz="1400" b="1" dirty="0">
                <a:solidFill>
                  <a:srgbClr val="FFFFFF"/>
                </a:solidFill>
                <a:latin typeface="Open Sans" pitchFamily="34" charset="0"/>
                <a:ea typeface="Open Sans" pitchFamily="34" charset="-122"/>
                <a:cs typeface="Open Sans" pitchFamily="34" charset="-120"/>
              </a:rPr>
              <a:t>3</a:t>
            </a:r>
            <a:endParaRPr lang="en-US" sz="1400" dirty="0"/>
          </a:p>
        </p:txBody>
      </p:sp>
      <p:sp>
        <p:nvSpPr>
          <p:cNvPr id="16" name="Text 14"/>
          <p:cNvSpPr/>
          <p:nvPr/>
        </p:nvSpPr>
        <p:spPr>
          <a:xfrm>
            <a:off x="1280160" y="2377440"/>
            <a:ext cx="3840480" cy="365760"/>
          </a:xfrm>
          <a:prstGeom prst="rect">
            <a:avLst/>
          </a:prstGeom>
          <a:noFill/>
          <a:ln/>
        </p:spPr>
        <p:txBody>
          <a:bodyPr wrap="square" lIns="0" tIns="0" rIns="0" bIns="0" rtlCol="0" anchor="ctr"/>
          <a:lstStyle/>
          <a:p>
            <a:pPr marL="0" indent="0">
              <a:buNone/>
            </a:pPr>
            <a:r>
              <a:rPr lang="en-US" sz="1300" dirty="0">
                <a:solidFill>
                  <a:srgbClr val="1E2530"/>
                </a:solidFill>
                <a:latin typeface="Open Sans" pitchFamily="34" charset="0"/>
                <a:ea typeface="Open Sans" pitchFamily="34" charset="-122"/>
                <a:cs typeface="Open Sans" pitchFamily="34" charset="-120"/>
              </a:rPr>
              <a:t>Check "Add a README file", then click Create repository</a:t>
            </a:r>
            <a:endParaRPr lang="en-US" sz="1300" dirty="0"/>
          </a:p>
        </p:txBody>
      </p:sp>
      <p:sp>
        <p:nvSpPr>
          <p:cNvPr id="17" name="Shape 15"/>
          <p:cNvSpPr/>
          <p:nvPr/>
        </p:nvSpPr>
        <p:spPr>
          <a:xfrm>
            <a:off x="731520" y="2926080"/>
            <a:ext cx="365760" cy="365760"/>
          </a:xfrm>
          <a:prstGeom prst="line">
            <a:avLst/>
          </a:prstGeom>
          <a:solidFill>
            <a:srgbClr val="B8975C"/>
          </a:solidFill>
          <a:ln/>
        </p:spPr>
        <p:txBody>
          <a:bodyPr/>
          <a:lstStyle/>
          <a:p>
            <a:endParaRPr lang="en-US"/>
          </a:p>
        </p:txBody>
      </p:sp>
      <p:sp>
        <p:nvSpPr>
          <p:cNvPr id="18" name="Text 16"/>
          <p:cNvSpPr/>
          <p:nvPr/>
        </p:nvSpPr>
        <p:spPr>
          <a:xfrm>
            <a:off x="731520" y="2926080"/>
            <a:ext cx="365760" cy="365760"/>
          </a:xfrm>
          <a:prstGeom prst="rect">
            <a:avLst/>
          </a:prstGeom>
          <a:noFill/>
          <a:ln/>
        </p:spPr>
        <p:txBody>
          <a:bodyPr wrap="square" lIns="0" tIns="0" rIns="0" bIns="0" rtlCol="0" anchor="ctr"/>
          <a:lstStyle/>
          <a:p>
            <a:pPr marL="0" indent="0" algn="ctr">
              <a:buNone/>
            </a:pPr>
            <a:r>
              <a:rPr lang="en-US" sz="1400" b="1" dirty="0">
                <a:solidFill>
                  <a:srgbClr val="FFFFFF"/>
                </a:solidFill>
                <a:latin typeface="Open Sans" pitchFamily="34" charset="0"/>
                <a:ea typeface="Open Sans" pitchFamily="34" charset="-122"/>
                <a:cs typeface="Open Sans" pitchFamily="34" charset="-120"/>
              </a:rPr>
              <a:t>4</a:t>
            </a:r>
            <a:endParaRPr lang="en-US" sz="1400" dirty="0"/>
          </a:p>
        </p:txBody>
      </p:sp>
      <p:sp>
        <p:nvSpPr>
          <p:cNvPr id="19" name="Text 17"/>
          <p:cNvSpPr/>
          <p:nvPr/>
        </p:nvSpPr>
        <p:spPr>
          <a:xfrm>
            <a:off x="1280160" y="2926080"/>
            <a:ext cx="3840480" cy="365760"/>
          </a:xfrm>
          <a:prstGeom prst="rect">
            <a:avLst/>
          </a:prstGeom>
          <a:noFill/>
          <a:ln/>
        </p:spPr>
        <p:txBody>
          <a:bodyPr wrap="square" lIns="0" tIns="0" rIns="0" bIns="0" rtlCol="0" anchor="ctr"/>
          <a:lstStyle/>
          <a:p>
            <a:pPr marL="0" indent="0">
              <a:buNone/>
            </a:pPr>
            <a:r>
              <a:rPr lang="en-US" sz="1300" dirty="0">
                <a:solidFill>
                  <a:srgbClr val="1E2530"/>
                </a:solidFill>
                <a:latin typeface="Open Sans" pitchFamily="34" charset="0"/>
                <a:ea typeface="Open Sans" pitchFamily="34" charset="-122"/>
                <a:cs typeface="Open Sans" pitchFamily="34" charset="-120"/>
              </a:rPr>
              <a:t>In GitHub Desktop: File → Clone repository → pick yours</a:t>
            </a:r>
            <a:endParaRPr lang="en-US" sz="1300" dirty="0"/>
          </a:p>
        </p:txBody>
      </p:sp>
      <p:sp>
        <p:nvSpPr>
          <p:cNvPr id="20" name="Shape 18"/>
          <p:cNvSpPr/>
          <p:nvPr/>
        </p:nvSpPr>
        <p:spPr>
          <a:xfrm>
            <a:off x="731520" y="3474720"/>
            <a:ext cx="365760" cy="365760"/>
          </a:xfrm>
          <a:prstGeom prst="line">
            <a:avLst/>
          </a:prstGeom>
          <a:solidFill>
            <a:srgbClr val="B8975C"/>
          </a:solidFill>
          <a:ln/>
        </p:spPr>
        <p:txBody>
          <a:bodyPr/>
          <a:lstStyle/>
          <a:p>
            <a:endParaRPr lang="en-US"/>
          </a:p>
        </p:txBody>
      </p:sp>
      <p:sp>
        <p:nvSpPr>
          <p:cNvPr id="21" name="Text 19"/>
          <p:cNvSpPr/>
          <p:nvPr/>
        </p:nvSpPr>
        <p:spPr>
          <a:xfrm>
            <a:off x="731520" y="3474720"/>
            <a:ext cx="365760" cy="365760"/>
          </a:xfrm>
          <a:prstGeom prst="rect">
            <a:avLst/>
          </a:prstGeom>
          <a:noFill/>
          <a:ln/>
        </p:spPr>
        <p:txBody>
          <a:bodyPr wrap="square" lIns="0" tIns="0" rIns="0" bIns="0" rtlCol="0" anchor="ctr"/>
          <a:lstStyle/>
          <a:p>
            <a:pPr marL="0" indent="0" algn="ctr">
              <a:buNone/>
            </a:pPr>
            <a:r>
              <a:rPr lang="en-US" sz="1400" b="1" dirty="0">
                <a:solidFill>
                  <a:srgbClr val="FFFFFF"/>
                </a:solidFill>
                <a:latin typeface="Open Sans" pitchFamily="34" charset="0"/>
                <a:ea typeface="Open Sans" pitchFamily="34" charset="-122"/>
                <a:cs typeface="Open Sans" pitchFamily="34" charset="-120"/>
              </a:rPr>
              <a:t>5</a:t>
            </a:r>
            <a:endParaRPr lang="en-US" sz="1400" dirty="0"/>
          </a:p>
        </p:txBody>
      </p:sp>
      <p:sp>
        <p:nvSpPr>
          <p:cNvPr id="22" name="Text 20"/>
          <p:cNvSpPr/>
          <p:nvPr/>
        </p:nvSpPr>
        <p:spPr>
          <a:xfrm>
            <a:off x="1280160" y="3474720"/>
            <a:ext cx="3840480" cy="365760"/>
          </a:xfrm>
          <a:prstGeom prst="rect">
            <a:avLst/>
          </a:prstGeom>
          <a:noFill/>
          <a:ln/>
        </p:spPr>
        <p:txBody>
          <a:bodyPr wrap="square" lIns="0" tIns="0" rIns="0" bIns="0" rtlCol="0" anchor="ctr"/>
          <a:lstStyle/>
          <a:p>
            <a:pPr marL="0" indent="0">
              <a:buNone/>
            </a:pPr>
            <a:r>
              <a:rPr lang="en-US" sz="1300" dirty="0">
                <a:solidFill>
                  <a:srgbClr val="1E2530"/>
                </a:solidFill>
                <a:latin typeface="Open Sans" pitchFamily="34" charset="0"/>
                <a:ea typeface="Open Sans" pitchFamily="34" charset="-122"/>
                <a:cs typeface="Open Sans" pitchFamily="34" charset="-120"/>
              </a:rPr>
              <a:t>Build the directory tree (next slide) and add a README to each</a:t>
            </a:r>
            <a:endParaRPr lang="en-US" sz="1300" dirty="0"/>
          </a:p>
        </p:txBody>
      </p:sp>
      <p:sp>
        <p:nvSpPr>
          <p:cNvPr id="23" name="Shape 21"/>
          <p:cNvSpPr/>
          <p:nvPr/>
        </p:nvSpPr>
        <p:spPr>
          <a:xfrm>
            <a:off x="5486400" y="1280160"/>
            <a:ext cx="3108960" cy="2926080"/>
          </a:xfrm>
          <a:prstGeom prst="rect">
            <a:avLst/>
          </a:prstGeom>
          <a:solidFill>
            <a:srgbClr val="FFFFFF"/>
          </a:solidFill>
          <a:ln/>
          <a:effectLst>
            <a:outerShdw blurRad="76200" dist="25400" dir="8100000" algn="bl" rotWithShape="0">
              <a:srgbClr val="000000">
                <a:alpha val="8000"/>
              </a:srgbClr>
            </a:outerShdw>
          </a:effectLst>
        </p:spPr>
        <p:txBody>
          <a:bodyPr/>
          <a:lstStyle/>
          <a:p>
            <a:endParaRPr lang="en-US"/>
          </a:p>
        </p:txBody>
      </p:sp>
      <p:pic>
        <p:nvPicPr>
          <p:cNvPr id="24" name="Image 0" descr="preencoded.png"/>
          <p:cNvPicPr>
            <a:picLocks noChangeAspect="1"/>
          </p:cNvPicPr>
          <p:nvPr/>
        </p:nvPicPr>
        <p:blipFill>
          <a:blip r:embed="rId2"/>
          <a:stretch>
            <a:fillRect/>
          </a:stretch>
        </p:blipFill>
        <p:spPr>
          <a:xfrm>
            <a:off x="5715000" y="1463040"/>
            <a:ext cx="320040" cy="320040"/>
          </a:xfrm>
          <a:prstGeom prst="rect">
            <a:avLst/>
          </a:prstGeom>
        </p:spPr>
      </p:pic>
      <p:sp>
        <p:nvSpPr>
          <p:cNvPr id="25" name="Text 22"/>
          <p:cNvSpPr/>
          <p:nvPr/>
        </p:nvSpPr>
        <p:spPr>
          <a:xfrm>
            <a:off x="6126480" y="1463040"/>
            <a:ext cx="2286000" cy="320040"/>
          </a:xfrm>
          <a:prstGeom prst="rect">
            <a:avLst/>
          </a:prstGeom>
          <a:noFill/>
          <a:ln/>
        </p:spPr>
        <p:txBody>
          <a:bodyPr wrap="square" lIns="0" tIns="0" rIns="0" bIns="0" rtlCol="0" anchor="ctr"/>
          <a:lstStyle/>
          <a:p>
            <a:pPr marL="0" indent="0">
              <a:buNone/>
            </a:pPr>
            <a:r>
              <a:rPr lang="en-US" sz="1400" b="1" dirty="0">
                <a:solidFill>
                  <a:srgbClr val="B8975C"/>
                </a:solidFill>
                <a:latin typeface="Open Sans" pitchFamily="34" charset="0"/>
                <a:ea typeface="Open Sans" pitchFamily="34" charset="-122"/>
                <a:cs typeface="Open Sans" pitchFamily="34" charset="-120"/>
              </a:rPr>
              <a:t>Pro Tips</a:t>
            </a:r>
            <a:endParaRPr lang="en-US" sz="1400" dirty="0"/>
          </a:p>
        </p:txBody>
      </p:sp>
      <p:sp>
        <p:nvSpPr>
          <p:cNvPr id="26" name="Text 23"/>
          <p:cNvSpPr/>
          <p:nvPr/>
        </p:nvSpPr>
        <p:spPr>
          <a:xfrm>
            <a:off x="5715000" y="1920240"/>
            <a:ext cx="2697480" cy="2103120"/>
          </a:xfrm>
          <a:prstGeom prst="rect">
            <a:avLst/>
          </a:prstGeom>
          <a:noFill/>
          <a:ln/>
        </p:spPr>
        <p:txBody>
          <a:bodyPr wrap="square" lIns="0" tIns="0" rIns="0" bIns="0" rtlCol="0" anchor="t"/>
          <a:lstStyle/>
          <a:p>
            <a:pPr marL="0" indent="0">
              <a:buNone/>
            </a:pPr>
            <a:r>
              <a:rPr lang="en-US" sz="1100" b="1" dirty="0">
                <a:solidFill>
                  <a:srgbClr val="1E2530"/>
                </a:solidFill>
              </a:rPr>
              <a:t>Public is required</a:t>
            </a:r>
            <a:endParaRPr lang="en-US" sz="1100" dirty="0"/>
          </a:p>
          <a:p>
            <a:pPr marL="0" indent="0">
              <a:buNone/>
            </a:pPr>
            <a:r>
              <a:rPr lang="en-US" sz="1000" dirty="0">
                <a:solidFill>
                  <a:srgbClr val="5A6B7A"/>
                </a:solidFill>
              </a:rPr>
              <a:t>The whole point is discoverability — recruiters and collaborators must be able to find your work without an account.
</a:t>
            </a:r>
            <a:endParaRPr lang="en-US" sz="1100" dirty="0"/>
          </a:p>
          <a:p>
            <a:pPr marL="0" indent="0">
              <a:buNone/>
            </a:pPr>
            <a:r>
              <a:rPr lang="en-US" sz="1100" b="1" dirty="0">
                <a:solidFill>
                  <a:srgbClr val="1E2530"/>
                </a:solidFill>
              </a:rPr>
              <a:t>Every directory needs a README</a:t>
            </a:r>
            <a:endParaRPr lang="en-US" sz="1100" dirty="0"/>
          </a:p>
          <a:p>
            <a:pPr marL="0" indent="0">
              <a:buNone/>
            </a:pPr>
            <a:r>
              <a:rPr lang="en-US" sz="1000" dirty="0">
                <a:solidFill>
                  <a:srgbClr val="5A6B7A"/>
                </a:solidFill>
              </a:rPr>
              <a:t>If a new collaborator can navigate your repo by READMEs alone, the structure is right.
</a:t>
            </a:r>
            <a:endParaRPr lang="en-US" sz="1100" dirty="0"/>
          </a:p>
          <a:p>
            <a:pPr marL="0" indent="0">
              <a:buNone/>
            </a:pPr>
            <a:r>
              <a:rPr lang="en-US" sz="1100" b="1" dirty="0">
                <a:solidFill>
                  <a:srgbClr val="1E2530"/>
                </a:solidFill>
              </a:rPr>
              <a:t>Reference the course repo</a:t>
            </a:r>
            <a:endParaRPr lang="en-US" sz="1100" dirty="0"/>
          </a:p>
          <a:p>
            <a:pPr marL="0" indent="0">
              <a:buNone/>
            </a:pPr>
            <a:r>
              <a:rPr lang="en-US" sz="1000" dirty="0">
                <a:solidFill>
                  <a:srgbClr val="5A6B7A"/>
                </a:solidFill>
              </a:rPr>
              <a:t>The course repo is a living example. Mirror its structure and READMEs in your own.</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9144000" cy="640080"/>
          </a:xfrm>
          <a:prstGeom prst="rect">
            <a:avLst/>
          </a:prstGeom>
          <a:solidFill>
            <a:srgbClr val="024731"/>
          </a:solidFill>
          <a:ln/>
        </p:spPr>
        <p:txBody>
          <a:bodyPr/>
          <a:lstStyle/>
          <a:p>
            <a:endParaRPr lang="en-US"/>
          </a:p>
        </p:txBody>
      </p:sp>
      <p:sp>
        <p:nvSpPr>
          <p:cNvPr id="3" name="Shape 1"/>
          <p:cNvSpPr/>
          <p:nvPr/>
        </p:nvSpPr>
        <p:spPr>
          <a:xfrm>
            <a:off x="0" y="4709160"/>
            <a:ext cx="9144000" cy="434340"/>
          </a:xfrm>
          <a:prstGeom prst="rect">
            <a:avLst/>
          </a:prstGeom>
          <a:solidFill>
            <a:srgbClr val="36454F"/>
          </a:solidFill>
          <a:ln/>
        </p:spPr>
        <p:txBody>
          <a:bodyPr/>
          <a:lstStyle/>
          <a:p>
            <a:endParaRPr lang="en-US"/>
          </a:p>
        </p:txBody>
      </p:sp>
      <p:sp>
        <p:nvSpPr>
          <p:cNvPr id="4" name="Text 2"/>
          <p:cNvSpPr/>
          <p:nvPr/>
        </p:nvSpPr>
        <p:spPr>
          <a:xfrm>
            <a:off x="457200" y="4754880"/>
            <a:ext cx="8229600" cy="320040"/>
          </a:xfrm>
          <a:prstGeom prst="rect">
            <a:avLst/>
          </a:prstGeom>
          <a:noFill/>
          <a:ln/>
        </p:spPr>
        <p:txBody>
          <a:bodyPr wrap="square" rtlCol="0" anchor="ctr"/>
          <a:lstStyle/>
          <a:p>
            <a:pPr marL="0" indent="0" algn="ctr">
              <a:buNone/>
            </a:pPr>
            <a:r>
              <a:rPr lang="en-US" sz="900" dirty="0">
                <a:solidFill>
                  <a:srgbClr val="8A9BAD"/>
                </a:solidFill>
                <a:latin typeface="Open Sans" pitchFamily="34" charset="0"/>
                <a:ea typeface="Open Sans" pitchFamily="34" charset="-122"/>
                <a:cs typeface="Open Sans" pitchFamily="34" charset="-120"/>
              </a:rPr>
              <a:t>Stage 0  |  GitHub &amp; Workflow Onboarding  |  README.md  ·  RESUME.md  ·  BIO.md</a:t>
            </a:r>
            <a:endParaRPr lang="en-US" sz="900" dirty="0"/>
          </a:p>
        </p:txBody>
      </p:sp>
      <p:sp>
        <p:nvSpPr>
          <p:cNvPr id="5" name="Shape 3"/>
          <p:cNvSpPr/>
          <p:nvPr/>
        </p:nvSpPr>
        <p:spPr>
          <a:xfrm>
            <a:off x="731520" y="274320"/>
            <a:ext cx="1179576" cy="274320"/>
          </a:xfrm>
          <a:prstGeom prst="rect">
            <a:avLst/>
          </a:prstGeom>
          <a:solidFill>
            <a:srgbClr val="36454F"/>
          </a:solidFill>
          <a:ln/>
        </p:spPr>
        <p:txBody>
          <a:bodyPr/>
          <a:lstStyle/>
          <a:p>
            <a:endParaRPr lang="en-US"/>
          </a:p>
        </p:txBody>
      </p:sp>
      <p:sp>
        <p:nvSpPr>
          <p:cNvPr id="6" name="Text 4"/>
          <p:cNvSpPr/>
          <p:nvPr/>
        </p:nvSpPr>
        <p:spPr>
          <a:xfrm>
            <a:off x="731520" y="274320"/>
            <a:ext cx="1179576" cy="274320"/>
          </a:xfrm>
          <a:prstGeom prst="rect">
            <a:avLst/>
          </a:prstGeom>
          <a:noFill/>
          <a:ln/>
        </p:spPr>
        <p:txBody>
          <a:bodyPr wrap="square" lIns="0" tIns="0" rIns="0" bIns="0" rtlCol="0" anchor="ctr"/>
          <a:lstStyle/>
          <a:p>
            <a:pPr marL="0" indent="0" algn="ctr">
              <a:buNone/>
            </a:pPr>
            <a:r>
              <a:rPr lang="en-US" sz="900" b="1" kern="0" spc="300" dirty="0">
                <a:solidFill>
                  <a:srgbClr val="B8975C"/>
                </a:solidFill>
                <a:latin typeface="Open Sans" pitchFamily="34" charset="0"/>
                <a:ea typeface="Open Sans" pitchFamily="34" charset="-122"/>
                <a:cs typeface="Open Sans" pitchFamily="34" charset="-120"/>
              </a:rPr>
              <a:t>STEP 4 OF 5</a:t>
            </a:r>
            <a:endParaRPr lang="en-US" sz="900" dirty="0"/>
          </a:p>
        </p:txBody>
      </p:sp>
      <p:sp>
        <p:nvSpPr>
          <p:cNvPr id="7" name="Text 5"/>
          <p:cNvSpPr/>
          <p:nvPr/>
        </p:nvSpPr>
        <p:spPr>
          <a:xfrm>
            <a:off x="731520" y="640080"/>
            <a:ext cx="7680960" cy="457200"/>
          </a:xfrm>
          <a:prstGeom prst="rect">
            <a:avLst/>
          </a:prstGeom>
          <a:noFill/>
          <a:ln/>
        </p:spPr>
        <p:txBody>
          <a:bodyPr wrap="square" lIns="0" tIns="0" rIns="0" bIns="0" rtlCol="0" anchor="ctr"/>
          <a:lstStyle/>
          <a:p>
            <a:pPr marL="0" indent="0">
              <a:buNone/>
            </a:pPr>
            <a:r>
              <a:rPr lang="en-US" sz="2800" b="1" dirty="0">
                <a:solidFill>
                  <a:srgbClr val="1E2530"/>
                </a:solidFill>
                <a:latin typeface="Open Sans" pitchFamily="34" charset="0"/>
                <a:ea typeface="Open Sans" pitchFamily="34" charset="-122"/>
                <a:cs typeface="Open Sans" pitchFamily="34" charset="-120"/>
              </a:rPr>
              <a:t>Draft RESUME.md &amp; BIO.md with an LLM</a:t>
            </a:r>
            <a:endParaRPr lang="en-US" sz="2800" dirty="0"/>
          </a:p>
        </p:txBody>
      </p:sp>
      <p:sp>
        <p:nvSpPr>
          <p:cNvPr id="8" name="Shape 6"/>
          <p:cNvSpPr/>
          <p:nvPr/>
        </p:nvSpPr>
        <p:spPr>
          <a:xfrm>
            <a:off x="731520" y="1280160"/>
            <a:ext cx="365760" cy="365760"/>
          </a:xfrm>
          <a:prstGeom prst="line">
            <a:avLst/>
          </a:prstGeom>
          <a:solidFill>
            <a:srgbClr val="B8975C"/>
          </a:solidFill>
          <a:ln/>
        </p:spPr>
        <p:txBody>
          <a:bodyPr/>
          <a:lstStyle/>
          <a:p>
            <a:endParaRPr lang="en-US"/>
          </a:p>
        </p:txBody>
      </p:sp>
      <p:sp>
        <p:nvSpPr>
          <p:cNvPr id="9" name="Text 7"/>
          <p:cNvSpPr/>
          <p:nvPr/>
        </p:nvSpPr>
        <p:spPr>
          <a:xfrm>
            <a:off x="731520" y="1280160"/>
            <a:ext cx="365760" cy="365760"/>
          </a:xfrm>
          <a:prstGeom prst="rect">
            <a:avLst/>
          </a:prstGeom>
          <a:noFill/>
          <a:ln/>
        </p:spPr>
        <p:txBody>
          <a:bodyPr wrap="square" lIns="0" tIns="0" rIns="0" bIns="0" rtlCol="0" anchor="ctr"/>
          <a:lstStyle/>
          <a:p>
            <a:pPr marL="0" indent="0" algn="ctr">
              <a:buNone/>
            </a:pPr>
            <a:r>
              <a:rPr lang="en-US" sz="1400" b="1" dirty="0">
                <a:solidFill>
                  <a:srgbClr val="FFFFFF"/>
                </a:solidFill>
                <a:latin typeface="Open Sans" pitchFamily="34" charset="0"/>
                <a:ea typeface="Open Sans" pitchFamily="34" charset="-122"/>
                <a:cs typeface="Open Sans" pitchFamily="34" charset="-120"/>
              </a:rPr>
              <a:t>1</a:t>
            </a:r>
            <a:endParaRPr lang="en-US" sz="1400" dirty="0"/>
          </a:p>
        </p:txBody>
      </p:sp>
      <p:sp>
        <p:nvSpPr>
          <p:cNvPr id="10" name="Text 8"/>
          <p:cNvSpPr/>
          <p:nvPr/>
        </p:nvSpPr>
        <p:spPr>
          <a:xfrm>
            <a:off x="1280160" y="1280160"/>
            <a:ext cx="3840480" cy="365760"/>
          </a:xfrm>
          <a:prstGeom prst="rect">
            <a:avLst/>
          </a:prstGeom>
          <a:noFill/>
          <a:ln/>
        </p:spPr>
        <p:txBody>
          <a:bodyPr wrap="square" lIns="0" tIns="0" rIns="0" bIns="0" rtlCol="0" anchor="ctr"/>
          <a:lstStyle/>
          <a:p>
            <a:pPr marL="0" indent="0">
              <a:buNone/>
            </a:pPr>
            <a:r>
              <a:rPr lang="en-US" sz="1300" dirty="0">
                <a:solidFill>
                  <a:srgbClr val="1E2530"/>
                </a:solidFill>
                <a:latin typeface="Open Sans" pitchFamily="34" charset="0"/>
                <a:ea typeface="Open Sans" pitchFamily="34" charset="-122"/>
                <a:cs typeface="Open Sans" pitchFamily="34" charset="-120"/>
              </a:rPr>
              <a:t>Open Claude (claude.ai) or ChatGPT (chatgpt.com)</a:t>
            </a:r>
            <a:endParaRPr lang="en-US" sz="1300" dirty="0"/>
          </a:p>
        </p:txBody>
      </p:sp>
      <p:sp>
        <p:nvSpPr>
          <p:cNvPr id="11" name="Shape 9"/>
          <p:cNvSpPr/>
          <p:nvPr/>
        </p:nvSpPr>
        <p:spPr>
          <a:xfrm>
            <a:off x="731520" y="1828800"/>
            <a:ext cx="365760" cy="365760"/>
          </a:xfrm>
          <a:prstGeom prst="line">
            <a:avLst/>
          </a:prstGeom>
          <a:solidFill>
            <a:srgbClr val="B8975C"/>
          </a:solidFill>
          <a:ln/>
        </p:spPr>
        <p:txBody>
          <a:bodyPr/>
          <a:lstStyle/>
          <a:p>
            <a:endParaRPr lang="en-US"/>
          </a:p>
        </p:txBody>
      </p:sp>
      <p:sp>
        <p:nvSpPr>
          <p:cNvPr id="12" name="Text 10"/>
          <p:cNvSpPr/>
          <p:nvPr/>
        </p:nvSpPr>
        <p:spPr>
          <a:xfrm>
            <a:off x="731520" y="1828800"/>
            <a:ext cx="365760" cy="365760"/>
          </a:xfrm>
          <a:prstGeom prst="rect">
            <a:avLst/>
          </a:prstGeom>
          <a:noFill/>
          <a:ln/>
        </p:spPr>
        <p:txBody>
          <a:bodyPr wrap="square" lIns="0" tIns="0" rIns="0" bIns="0" rtlCol="0" anchor="ctr"/>
          <a:lstStyle/>
          <a:p>
            <a:pPr marL="0" indent="0" algn="ctr">
              <a:buNone/>
            </a:pPr>
            <a:r>
              <a:rPr lang="en-US" sz="1400" b="1" dirty="0">
                <a:solidFill>
                  <a:srgbClr val="FFFFFF"/>
                </a:solidFill>
                <a:latin typeface="Open Sans" pitchFamily="34" charset="0"/>
                <a:ea typeface="Open Sans" pitchFamily="34" charset="-122"/>
                <a:cs typeface="Open Sans" pitchFamily="34" charset="-120"/>
              </a:rPr>
              <a:t>2</a:t>
            </a:r>
            <a:endParaRPr lang="en-US" sz="1400" dirty="0"/>
          </a:p>
        </p:txBody>
      </p:sp>
      <p:sp>
        <p:nvSpPr>
          <p:cNvPr id="13" name="Text 11"/>
          <p:cNvSpPr/>
          <p:nvPr/>
        </p:nvSpPr>
        <p:spPr>
          <a:xfrm>
            <a:off x="1280160" y="1828800"/>
            <a:ext cx="3840480" cy="365760"/>
          </a:xfrm>
          <a:prstGeom prst="rect">
            <a:avLst/>
          </a:prstGeom>
          <a:noFill/>
          <a:ln/>
        </p:spPr>
        <p:txBody>
          <a:bodyPr wrap="square" lIns="0" tIns="0" rIns="0" bIns="0" rtlCol="0" anchor="ctr"/>
          <a:lstStyle/>
          <a:p>
            <a:pPr marL="0" indent="0">
              <a:buNone/>
            </a:pPr>
            <a:r>
              <a:rPr lang="en-US" sz="1300" dirty="0">
                <a:solidFill>
                  <a:srgbClr val="1E2530"/>
                </a:solidFill>
                <a:latin typeface="Open Sans" pitchFamily="34" charset="0"/>
                <a:ea typeface="Open Sans" pitchFamily="34" charset="-122"/>
                <a:cs typeface="Open Sans" pitchFamily="34" charset="-120"/>
              </a:rPr>
              <a:t>Paste the bio template + your LinkedIn or existing CV</a:t>
            </a:r>
            <a:endParaRPr lang="en-US" sz="1300" dirty="0"/>
          </a:p>
        </p:txBody>
      </p:sp>
      <p:sp>
        <p:nvSpPr>
          <p:cNvPr id="14" name="Shape 12"/>
          <p:cNvSpPr/>
          <p:nvPr/>
        </p:nvSpPr>
        <p:spPr>
          <a:xfrm>
            <a:off x="731520" y="2377440"/>
            <a:ext cx="365760" cy="365760"/>
          </a:xfrm>
          <a:prstGeom prst="line">
            <a:avLst/>
          </a:prstGeom>
          <a:solidFill>
            <a:srgbClr val="B8975C"/>
          </a:solidFill>
          <a:ln/>
        </p:spPr>
        <p:txBody>
          <a:bodyPr/>
          <a:lstStyle/>
          <a:p>
            <a:endParaRPr lang="en-US"/>
          </a:p>
        </p:txBody>
      </p:sp>
      <p:sp>
        <p:nvSpPr>
          <p:cNvPr id="15" name="Text 13"/>
          <p:cNvSpPr/>
          <p:nvPr/>
        </p:nvSpPr>
        <p:spPr>
          <a:xfrm>
            <a:off x="731520" y="2377440"/>
            <a:ext cx="365760" cy="365760"/>
          </a:xfrm>
          <a:prstGeom prst="rect">
            <a:avLst/>
          </a:prstGeom>
          <a:noFill/>
          <a:ln/>
        </p:spPr>
        <p:txBody>
          <a:bodyPr wrap="square" lIns="0" tIns="0" rIns="0" bIns="0" rtlCol="0" anchor="ctr"/>
          <a:lstStyle/>
          <a:p>
            <a:pPr marL="0" indent="0" algn="ctr">
              <a:buNone/>
            </a:pPr>
            <a:r>
              <a:rPr lang="en-US" sz="1400" b="1" dirty="0">
                <a:solidFill>
                  <a:srgbClr val="FFFFFF"/>
                </a:solidFill>
                <a:latin typeface="Open Sans" pitchFamily="34" charset="0"/>
                <a:ea typeface="Open Sans" pitchFamily="34" charset="-122"/>
                <a:cs typeface="Open Sans" pitchFamily="34" charset="-120"/>
              </a:rPr>
              <a:t>3</a:t>
            </a:r>
            <a:endParaRPr lang="en-US" sz="1400" dirty="0"/>
          </a:p>
        </p:txBody>
      </p:sp>
      <p:sp>
        <p:nvSpPr>
          <p:cNvPr id="16" name="Text 14"/>
          <p:cNvSpPr/>
          <p:nvPr/>
        </p:nvSpPr>
        <p:spPr>
          <a:xfrm>
            <a:off x="1280160" y="2377440"/>
            <a:ext cx="3840480" cy="365760"/>
          </a:xfrm>
          <a:prstGeom prst="rect">
            <a:avLst/>
          </a:prstGeom>
          <a:noFill/>
          <a:ln/>
        </p:spPr>
        <p:txBody>
          <a:bodyPr wrap="square" lIns="0" tIns="0" rIns="0" bIns="0" rtlCol="0" anchor="ctr"/>
          <a:lstStyle/>
          <a:p>
            <a:pPr marL="0" indent="0">
              <a:buNone/>
            </a:pPr>
            <a:r>
              <a:rPr lang="en-US" sz="1300" dirty="0">
                <a:solidFill>
                  <a:srgbClr val="1E2530"/>
                </a:solidFill>
                <a:latin typeface="Open Sans" pitchFamily="34" charset="0"/>
                <a:ea typeface="Open Sans" pitchFamily="34" charset="-122"/>
                <a:cs typeface="Open Sans" pitchFamily="34" charset="-120"/>
              </a:rPr>
              <a:t>Iterate using the template’s prompt library (try 2–3 angles)</a:t>
            </a:r>
            <a:endParaRPr lang="en-US" sz="1300" dirty="0"/>
          </a:p>
        </p:txBody>
      </p:sp>
      <p:sp>
        <p:nvSpPr>
          <p:cNvPr id="17" name="Shape 15"/>
          <p:cNvSpPr/>
          <p:nvPr/>
        </p:nvSpPr>
        <p:spPr>
          <a:xfrm>
            <a:off x="731520" y="2926080"/>
            <a:ext cx="365760" cy="365760"/>
          </a:xfrm>
          <a:prstGeom prst="line">
            <a:avLst/>
          </a:prstGeom>
          <a:solidFill>
            <a:srgbClr val="B8975C"/>
          </a:solidFill>
          <a:ln/>
        </p:spPr>
        <p:txBody>
          <a:bodyPr/>
          <a:lstStyle/>
          <a:p>
            <a:endParaRPr lang="en-US"/>
          </a:p>
        </p:txBody>
      </p:sp>
      <p:sp>
        <p:nvSpPr>
          <p:cNvPr id="18" name="Text 16"/>
          <p:cNvSpPr/>
          <p:nvPr/>
        </p:nvSpPr>
        <p:spPr>
          <a:xfrm>
            <a:off x="731520" y="2926080"/>
            <a:ext cx="365760" cy="365760"/>
          </a:xfrm>
          <a:prstGeom prst="rect">
            <a:avLst/>
          </a:prstGeom>
          <a:noFill/>
          <a:ln/>
        </p:spPr>
        <p:txBody>
          <a:bodyPr wrap="square" lIns="0" tIns="0" rIns="0" bIns="0" rtlCol="0" anchor="ctr"/>
          <a:lstStyle/>
          <a:p>
            <a:pPr marL="0" indent="0" algn="ctr">
              <a:buNone/>
            </a:pPr>
            <a:r>
              <a:rPr lang="en-US" sz="1400" b="1" dirty="0">
                <a:solidFill>
                  <a:srgbClr val="FFFFFF"/>
                </a:solidFill>
                <a:latin typeface="Open Sans" pitchFamily="34" charset="0"/>
                <a:ea typeface="Open Sans" pitchFamily="34" charset="-122"/>
                <a:cs typeface="Open Sans" pitchFamily="34" charset="-120"/>
              </a:rPr>
              <a:t>4</a:t>
            </a:r>
            <a:endParaRPr lang="en-US" sz="1400" dirty="0"/>
          </a:p>
        </p:txBody>
      </p:sp>
      <p:sp>
        <p:nvSpPr>
          <p:cNvPr id="19" name="Text 17"/>
          <p:cNvSpPr/>
          <p:nvPr/>
        </p:nvSpPr>
        <p:spPr>
          <a:xfrm>
            <a:off x="1280160" y="2926080"/>
            <a:ext cx="3840480" cy="365760"/>
          </a:xfrm>
          <a:prstGeom prst="rect">
            <a:avLst/>
          </a:prstGeom>
          <a:noFill/>
          <a:ln/>
        </p:spPr>
        <p:txBody>
          <a:bodyPr wrap="square" lIns="0" tIns="0" rIns="0" bIns="0" rtlCol="0" anchor="ctr"/>
          <a:lstStyle/>
          <a:p>
            <a:pPr marL="0" indent="0">
              <a:buNone/>
            </a:pPr>
            <a:r>
              <a:rPr lang="en-US" sz="1300" dirty="0">
                <a:solidFill>
                  <a:srgbClr val="1E2530"/>
                </a:solidFill>
                <a:latin typeface="Open Sans" pitchFamily="34" charset="0"/>
                <a:ea typeface="Open Sans" pitchFamily="34" charset="-122"/>
                <a:cs typeface="Open Sans" pitchFamily="34" charset="-120"/>
              </a:rPr>
              <a:t>Save outputs as README.md, RESUME.md, and BIO.md</a:t>
            </a:r>
            <a:endParaRPr lang="en-US" sz="1300" dirty="0"/>
          </a:p>
        </p:txBody>
      </p:sp>
      <p:sp>
        <p:nvSpPr>
          <p:cNvPr id="20" name="Shape 18"/>
          <p:cNvSpPr/>
          <p:nvPr/>
        </p:nvSpPr>
        <p:spPr>
          <a:xfrm>
            <a:off x="731520" y="3474720"/>
            <a:ext cx="365760" cy="365760"/>
          </a:xfrm>
          <a:prstGeom prst="line">
            <a:avLst/>
          </a:prstGeom>
          <a:solidFill>
            <a:srgbClr val="B8975C"/>
          </a:solidFill>
          <a:ln/>
        </p:spPr>
        <p:txBody>
          <a:bodyPr/>
          <a:lstStyle/>
          <a:p>
            <a:endParaRPr lang="en-US"/>
          </a:p>
        </p:txBody>
      </p:sp>
      <p:sp>
        <p:nvSpPr>
          <p:cNvPr id="21" name="Text 19"/>
          <p:cNvSpPr/>
          <p:nvPr/>
        </p:nvSpPr>
        <p:spPr>
          <a:xfrm>
            <a:off x="731520" y="3474720"/>
            <a:ext cx="365760" cy="365760"/>
          </a:xfrm>
          <a:prstGeom prst="rect">
            <a:avLst/>
          </a:prstGeom>
          <a:noFill/>
          <a:ln/>
        </p:spPr>
        <p:txBody>
          <a:bodyPr wrap="square" lIns="0" tIns="0" rIns="0" bIns="0" rtlCol="0" anchor="ctr"/>
          <a:lstStyle/>
          <a:p>
            <a:pPr marL="0" indent="0" algn="ctr">
              <a:buNone/>
            </a:pPr>
            <a:r>
              <a:rPr lang="en-US" sz="1400" b="1" dirty="0">
                <a:solidFill>
                  <a:srgbClr val="FFFFFF"/>
                </a:solidFill>
                <a:latin typeface="Open Sans" pitchFamily="34" charset="0"/>
                <a:ea typeface="Open Sans" pitchFamily="34" charset="-122"/>
                <a:cs typeface="Open Sans" pitchFamily="34" charset="-120"/>
              </a:rPr>
              <a:t>5</a:t>
            </a:r>
            <a:endParaRPr lang="en-US" sz="1400" dirty="0"/>
          </a:p>
        </p:txBody>
      </p:sp>
      <p:sp>
        <p:nvSpPr>
          <p:cNvPr id="22" name="Text 20"/>
          <p:cNvSpPr/>
          <p:nvPr/>
        </p:nvSpPr>
        <p:spPr>
          <a:xfrm>
            <a:off x="1280160" y="3474720"/>
            <a:ext cx="3840480" cy="365760"/>
          </a:xfrm>
          <a:prstGeom prst="rect">
            <a:avLst/>
          </a:prstGeom>
          <a:noFill/>
          <a:ln/>
        </p:spPr>
        <p:txBody>
          <a:bodyPr wrap="square" lIns="0" tIns="0" rIns="0" bIns="0" rtlCol="0" anchor="ctr"/>
          <a:lstStyle/>
          <a:p>
            <a:pPr marL="0" indent="0">
              <a:buNone/>
            </a:pPr>
            <a:r>
              <a:rPr lang="en-US" sz="1300" dirty="0">
                <a:solidFill>
                  <a:srgbClr val="1E2530"/>
                </a:solidFill>
                <a:latin typeface="Open Sans" pitchFamily="34" charset="0"/>
                <a:ea typeface="Open Sans" pitchFamily="34" charset="-122"/>
                <a:cs typeface="Open Sans" pitchFamily="34" charset="-120"/>
              </a:rPr>
              <a:t>Commit &amp; push via GitHub Desktop (Step 5 walkthrough)</a:t>
            </a:r>
            <a:endParaRPr lang="en-US" sz="1300" dirty="0"/>
          </a:p>
        </p:txBody>
      </p:sp>
      <p:sp>
        <p:nvSpPr>
          <p:cNvPr id="23" name="Shape 21"/>
          <p:cNvSpPr/>
          <p:nvPr/>
        </p:nvSpPr>
        <p:spPr>
          <a:xfrm>
            <a:off x="5486400" y="1280160"/>
            <a:ext cx="3108960" cy="2926080"/>
          </a:xfrm>
          <a:prstGeom prst="rect">
            <a:avLst/>
          </a:prstGeom>
          <a:solidFill>
            <a:srgbClr val="FFFFFF"/>
          </a:solidFill>
          <a:ln/>
          <a:effectLst>
            <a:outerShdw blurRad="76200" dist="25400" dir="8100000" algn="bl" rotWithShape="0">
              <a:srgbClr val="000000">
                <a:alpha val="8000"/>
              </a:srgbClr>
            </a:outerShdw>
          </a:effectLst>
        </p:spPr>
        <p:txBody>
          <a:bodyPr/>
          <a:lstStyle/>
          <a:p>
            <a:endParaRPr lang="en-US"/>
          </a:p>
        </p:txBody>
      </p:sp>
      <p:pic>
        <p:nvPicPr>
          <p:cNvPr id="24" name="Image 0" descr="preencoded.png"/>
          <p:cNvPicPr>
            <a:picLocks noChangeAspect="1"/>
          </p:cNvPicPr>
          <p:nvPr/>
        </p:nvPicPr>
        <p:blipFill>
          <a:blip r:embed="rId2"/>
          <a:stretch>
            <a:fillRect/>
          </a:stretch>
        </p:blipFill>
        <p:spPr>
          <a:xfrm>
            <a:off x="5715000" y="1463040"/>
            <a:ext cx="320040" cy="320040"/>
          </a:xfrm>
          <a:prstGeom prst="rect">
            <a:avLst/>
          </a:prstGeom>
        </p:spPr>
      </p:pic>
      <p:sp>
        <p:nvSpPr>
          <p:cNvPr id="25" name="Text 22"/>
          <p:cNvSpPr/>
          <p:nvPr/>
        </p:nvSpPr>
        <p:spPr>
          <a:xfrm>
            <a:off x="6126480" y="1463040"/>
            <a:ext cx="2286000" cy="320040"/>
          </a:xfrm>
          <a:prstGeom prst="rect">
            <a:avLst/>
          </a:prstGeom>
          <a:noFill/>
          <a:ln/>
        </p:spPr>
        <p:txBody>
          <a:bodyPr wrap="square" lIns="0" tIns="0" rIns="0" bIns="0" rtlCol="0" anchor="ctr"/>
          <a:lstStyle/>
          <a:p>
            <a:pPr marL="0" indent="0">
              <a:buNone/>
            </a:pPr>
            <a:r>
              <a:rPr lang="en-US" sz="1400" b="1" dirty="0">
                <a:solidFill>
                  <a:srgbClr val="B8975C"/>
                </a:solidFill>
                <a:latin typeface="Open Sans" pitchFamily="34" charset="0"/>
                <a:ea typeface="Open Sans" pitchFamily="34" charset="-122"/>
                <a:cs typeface="Open Sans" pitchFamily="34" charset="-120"/>
              </a:rPr>
              <a:t>Pro Tips</a:t>
            </a:r>
            <a:endParaRPr lang="en-US" sz="1400" dirty="0"/>
          </a:p>
        </p:txBody>
      </p:sp>
      <p:sp>
        <p:nvSpPr>
          <p:cNvPr id="26" name="Text 23"/>
          <p:cNvSpPr/>
          <p:nvPr/>
        </p:nvSpPr>
        <p:spPr>
          <a:xfrm>
            <a:off x="5715000" y="1920240"/>
            <a:ext cx="2697480" cy="2103120"/>
          </a:xfrm>
          <a:prstGeom prst="rect">
            <a:avLst/>
          </a:prstGeom>
          <a:noFill/>
          <a:ln/>
        </p:spPr>
        <p:txBody>
          <a:bodyPr wrap="square" lIns="0" tIns="0" rIns="0" bIns="0" rtlCol="0" anchor="t"/>
          <a:lstStyle/>
          <a:p>
            <a:pPr marL="0" indent="0">
              <a:buNone/>
            </a:pPr>
            <a:r>
              <a:rPr lang="en-US" sz="1100" b="1" dirty="0">
                <a:solidFill>
                  <a:srgbClr val="1E2530"/>
                </a:solidFill>
              </a:rPr>
              <a:t>Bio: 150–200 words</a:t>
            </a:r>
            <a:endParaRPr lang="en-US" sz="1100" dirty="0"/>
          </a:p>
          <a:p>
            <a:pPr marL="0" indent="0">
              <a:buNone/>
            </a:pPr>
            <a:r>
              <a:rPr lang="en-US" sz="1000" dirty="0">
                <a:solidFill>
                  <a:srgbClr val="5A6B7A"/>
                </a:solidFill>
              </a:rPr>
              <a:t>Structured. Specific to your goals. Avoid generic LinkedIn-speak.
</a:t>
            </a:r>
            <a:endParaRPr lang="en-US" sz="1100" dirty="0"/>
          </a:p>
          <a:p>
            <a:pPr marL="0" indent="0">
              <a:buNone/>
            </a:pPr>
            <a:r>
              <a:rPr lang="en-US" sz="1100" b="1" dirty="0">
                <a:solidFill>
                  <a:srgbClr val="1E2530"/>
                </a:solidFill>
              </a:rPr>
              <a:t>Resume: Penn-style</a:t>
            </a:r>
            <a:endParaRPr lang="en-US" sz="1100" dirty="0"/>
          </a:p>
          <a:p>
            <a:pPr marL="0" indent="0">
              <a:buNone/>
            </a:pPr>
            <a:r>
              <a:rPr lang="en-US" sz="1000" dirty="0">
                <a:solidFill>
                  <a:srgbClr val="5A6B7A"/>
                </a:solidFill>
              </a:rPr>
              <a:t>Quantified achievements. Concise. The template covers the format.
</a:t>
            </a:r>
            <a:endParaRPr lang="en-US" sz="1100" dirty="0"/>
          </a:p>
          <a:p>
            <a:pPr marL="0" indent="0">
              <a:buNone/>
            </a:pPr>
            <a:r>
              <a:rPr lang="en-US" sz="1100" b="1" dirty="0">
                <a:solidFill>
                  <a:srgbClr val="1E2530"/>
                </a:solidFill>
              </a:rPr>
              <a:t>Iterate, don’t accept</a:t>
            </a:r>
            <a:endParaRPr lang="en-US" sz="1100" dirty="0"/>
          </a:p>
          <a:p>
            <a:pPr marL="0" indent="0">
              <a:buNone/>
            </a:pPr>
            <a:r>
              <a:rPr lang="en-US" sz="1000" dirty="0">
                <a:solidFill>
                  <a:srgbClr val="5A6B7A"/>
                </a:solidFill>
              </a:rPr>
              <a:t>The first LLM draft is rarely the strongest. Try a different angle, then pick.</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9144000" cy="640080"/>
          </a:xfrm>
          <a:prstGeom prst="rect">
            <a:avLst/>
          </a:prstGeom>
          <a:solidFill>
            <a:srgbClr val="024731"/>
          </a:solidFill>
          <a:ln/>
        </p:spPr>
        <p:txBody>
          <a:bodyPr/>
          <a:lstStyle/>
          <a:p>
            <a:endParaRPr lang="en-US"/>
          </a:p>
        </p:txBody>
      </p:sp>
      <p:sp>
        <p:nvSpPr>
          <p:cNvPr id="3" name="Shape 1"/>
          <p:cNvSpPr/>
          <p:nvPr/>
        </p:nvSpPr>
        <p:spPr>
          <a:xfrm>
            <a:off x="0" y="4709160"/>
            <a:ext cx="9144000" cy="434340"/>
          </a:xfrm>
          <a:prstGeom prst="rect">
            <a:avLst/>
          </a:prstGeom>
          <a:solidFill>
            <a:srgbClr val="36454F"/>
          </a:solidFill>
          <a:ln/>
        </p:spPr>
        <p:txBody>
          <a:bodyPr/>
          <a:lstStyle/>
          <a:p>
            <a:endParaRPr lang="en-US"/>
          </a:p>
        </p:txBody>
      </p:sp>
      <p:sp>
        <p:nvSpPr>
          <p:cNvPr id="4" name="Text 2"/>
          <p:cNvSpPr/>
          <p:nvPr/>
        </p:nvSpPr>
        <p:spPr>
          <a:xfrm>
            <a:off x="457200" y="4754880"/>
            <a:ext cx="8229600" cy="320040"/>
          </a:xfrm>
          <a:prstGeom prst="rect">
            <a:avLst/>
          </a:prstGeom>
          <a:noFill/>
          <a:ln/>
        </p:spPr>
        <p:txBody>
          <a:bodyPr wrap="square" rtlCol="0" anchor="ctr"/>
          <a:lstStyle/>
          <a:p>
            <a:pPr marL="0" indent="0" algn="ctr">
              <a:buNone/>
            </a:pPr>
            <a:r>
              <a:rPr lang="en-US" sz="900" dirty="0">
                <a:solidFill>
                  <a:srgbClr val="8A9BAD"/>
                </a:solidFill>
                <a:latin typeface="Open Sans" pitchFamily="34" charset="0"/>
                <a:ea typeface="Open Sans" pitchFamily="34" charset="-122"/>
                <a:cs typeface="Open Sans" pitchFamily="34" charset="-120"/>
              </a:rPr>
              <a:t>Stage 0  |  GitHub &amp; Workflow Onboarding  |  every commit lands in your repo</a:t>
            </a:r>
            <a:endParaRPr lang="en-US" sz="900" dirty="0"/>
          </a:p>
        </p:txBody>
      </p:sp>
      <p:sp>
        <p:nvSpPr>
          <p:cNvPr id="5" name="Shape 3"/>
          <p:cNvSpPr/>
          <p:nvPr/>
        </p:nvSpPr>
        <p:spPr>
          <a:xfrm>
            <a:off x="731520" y="274320"/>
            <a:ext cx="1179576" cy="274320"/>
          </a:xfrm>
          <a:prstGeom prst="rect">
            <a:avLst/>
          </a:prstGeom>
          <a:solidFill>
            <a:srgbClr val="36454F"/>
          </a:solidFill>
          <a:ln/>
        </p:spPr>
        <p:txBody>
          <a:bodyPr/>
          <a:lstStyle/>
          <a:p>
            <a:endParaRPr lang="en-US"/>
          </a:p>
        </p:txBody>
      </p:sp>
      <p:sp>
        <p:nvSpPr>
          <p:cNvPr id="6" name="Text 4"/>
          <p:cNvSpPr/>
          <p:nvPr/>
        </p:nvSpPr>
        <p:spPr>
          <a:xfrm>
            <a:off x="731520" y="274320"/>
            <a:ext cx="1179576" cy="274320"/>
          </a:xfrm>
          <a:prstGeom prst="rect">
            <a:avLst/>
          </a:prstGeom>
          <a:noFill/>
          <a:ln/>
        </p:spPr>
        <p:txBody>
          <a:bodyPr wrap="square" lIns="0" tIns="0" rIns="0" bIns="0" rtlCol="0" anchor="ctr"/>
          <a:lstStyle/>
          <a:p>
            <a:pPr marL="0" indent="0" algn="ctr">
              <a:buNone/>
            </a:pPr>
            <a:r>
              <a:rPr lang="en-US" sz="900" b="1" kern="0" spc="300" dirty="0">
                <a:solidFill>
                  <a:srgbClr val="B8975C"/>
                </a:solidFill>
                <a:latin typeface="Open Sans" pitchFamily="34" charset="0"/>
                <a:ea typeface="Open Sans" pitchFamily="34" charset="-122"/>
                <a:cs typeface="Open Sans" pitchFamily="34" charset="-120"/>
              </a:rPr>
              <a:t>STEP 5 OF 5</a:t>
            </a:r>
            <a:endParaRPr lang="en-US" sz="900" dirty="0"/>
          </a:p>
        </p:txBody>
      </p:sp>
      <p:sp>
        <p:nvSpPr>
          <p:cNvPr id="7" name="Text 5"/>
          <p:cNvSpPr/>
          <p:nvPr/>
        </p:nvSpPr>
        <p:spPr>
          <a:xfrm>
            <a:off x="731520" y="640080"/>
            <a:ext cx="7680960" cy="457200"/>
          </a:xfrm>
          <a:prstGeom prst="rect">
            <a:avLst/>
          </a:prstGeom>
          <a:noFill/>
          <a:ln/>
        </p:spPr>
        <p:txBody>
          <a:bodyPr wrap="square" lIns="0" tIns="0" rIns="0" bIns="0" rtlCol="0" anchor="ctr"/>
          <a:lstStyle/>
          <a:p>
            <a:pPr marL="0" indent="0">
              <a:buNone/>
            </a:pPr>
            <a:r>
              <a:rPr lang="en-US" sz="2800" b="1" dirty="0">
                <a:solidFill>
                  <a:srgbClr val="1E2530"/>
                </a:solidFill>
                <a:latin typeface="Open Sans" pitchFamily="34" charset="0"/>
                <a:ea typeface="Open Sans" pitchFamily="34" charset="-122"/>
                <a:cs typeface="Open Sans" pitchFamily="34" charset="-120"/>
              </a:rPr>
              <a:t>The Git Workflow: Add, Commit, Push</a:t>
            </a:r>
            <a:endParaRPr lang="en-US" sz="2800" dirty="0"/>
          </a:p>
        </p:txBody>
      </p:sp>
      <p:sp>
        <p:nvSpPr>
          <p:cNvPr id="8" name="Text 6"/>
          <p:cNvSpPr/>
          <p:nvPr/>
        </p:nvSpPr>
        <p:spPr>
          <a:xfrm>
            <a:off x="731520" y="1097280"/>
            <a:ext cx="7680960" cy="320040"/>
          </a:xfrm>
          <a:prstGeom prst="rect">
            <a:avLst/>
          </a:prstGeom>
          <a:noFill/>
          <a:ln/>
        </p:spPr>
        <p:txBody>
          <a:bodyPr wrap="square" lIns="0" tIns="0" rIns="0" bIns="0" rtlCol="0" anchor="ctr"/>
          <a:lstStyle/>
          <a:p>
            <a:pPr marL="0" indent="0">
              <a:buNone/>
            </a:pPr>
            <a:r>
              <a:rPr lang="en-US" sz="1200" dirty="0">
                <a:solidFill>
                  <a:srgbClr val="5A6B7A"/>
                </a:solidFill>
                <a:latin typeface="Open Sans" pitchFamily="34" charset="0"/>
                <a:ea typeface="Open Sans" pitchFamily="34" charset="-122"/>
                <a:cs typeface="Open Sans" pitchFamily="34" charset="-120"/>
              </a:rPr>
              <a:t>These three commands are all you need. Run them every time you finish work on a deliverable.</a:t>
            </a:r>
            <a:endParaRPr lang="en-US" sz="1200" dirty="0"/>
          </a:p>
        </p:txBody>
      </p:sp>
      <p:sp>
        <p:nvSpPr>
          <p:cNvPr id="9" name="Shape 7"/>
          <p:cNvSpPr/>
          <p:nvPr/>
        </p:nvSpPr>
        <p:spPr>
          <a:xfrm>
            <a:off x="731520" y="1554480"/>
            <a:ext cx="2468880" cy="2651760"/>
          </a:xfrm>
          <a:prstGeom prst="rect">
            <a:avLst/>
          </a:prstGeom>
          <a:solidFill>
            <a:srgbClr val="FFFFFF"/>
          </a:solidFill>
          <a:ln/>
          <a:effectLst>
            <a:outerShdw blurRad="50800" dist="25400" dir="8100000" algn="bl" rotWithShape="0">
              <a:srgbClr val="000000">
                <a:alpha val="6000"/>
              </a:srgbClr>
            </a:outerShdw>
          </a:effectLst>
        </p:spPr>
        <p:txBody>
          <a:bodyPr/>
          <a:lstStyle/>
          <a:p>
            <a:endParaRPr lang="en-US"/>
          </a:p>
        </p:txBody>
      </p:sp>
      <p:sp>
        <p:nvSpPr>
          <p:cNvPr id="10" name="Shape 8"/>
          <p:cNvSpPr/>
          <p:nvPr/>
        </p:nvSpPr>
        <p:spPr>
          <a:xfrm>
            <a:off x="1691640" y="1691640"/>
            <a:ext cx="365760" cy="365760"/>
          </a:xfrm>
          <a:prstGeom prst="line">
            <a:avLst/>
          </a:prstGeom>
          <a:solidFill>
            <a:srgbClr val="B8975C"/>
          </a:solidFill>
          <a:ln/>
        </p:spPr>
        <p:txBody>
          <a:bodyPr/>
          <a:lstStyle/>
          <a:p>
            <a:endParaRPr lang="en-US"/>
          </a:p>
        </p:txBody>
      </p:sp>
      <p:sp>
        <p:nvSpPr>
          <p:cNvPr id="11" name="Text 9"/>
          <p:cNvSpPr/>
          <p:nvPr/>
        </p:nvSpPr>
        <p:spPr>
          <a:xfrm>
            <a:off x="1691640" y="1691640"/>
            <a:ext cx="365760" cy="365760"/>
          </a:xfrm>
          <a:prstGeom prst="rect">
            <a:avLst/>
          </a:prstGeom>
          <a:noFill/>
          <a:ln/>
        </p:spPr>
        <p:txBody>
          <a:bodyPr wrap="square" lIns="0" tIns="0" rIns="0" bIns="0" rtlCol="0" anchor="ctr"/>
          <a:lstStyle/>
          <a:p>
            <a:pPr marL="0" indent="0" algn="ctr">
              <a:buNone/>
            </a:pPr>
            <a:r>
              <a:rPr lang="en-US" sz="1400" b="1" dirty="0">
                <a:solidFill>
                  <a:srgbClr val="FFFFFF"/>
                </a:solidFill>
                <a:latin typeface="Open Sans" pitchFamily="34" charset="0"/>
                <a:ea typeface="Open Sans" pitchFamily="34" charset="-122"/>
                <a:cs typeface="Open Sans" pitchFamily="34" charset="-120"/>
              </a:rPr>
              <a:t>1</a:t>
            </a:r>
            <a:endParaRPr lang="en-US" sz="1400" dirty="0"/>
          </a:p>
        </p:txBody>
      </p:sp>
      <p:sp>
        <p:nvSpPr>
          <p:cNvPr id="12" name="Text 10"/>
          <p:cNvSpPr/>
          <p:nvPr/>
        </p:nvSpPr>
        <p:spPr>
          <a:xfrm>
            <a:off x="868680" y="2148840"/>
            <a:ext cx="2194560" cy="274320"/>
          </a:xfrm>
          <a:prstGeom prst="rect">
            <a:avLst/>
          </a:prstGeom>
          <a:noFill/>
          <a:ln/>
        </p:spPr>
        <p:txBody>
          <a:bodyPr wrap="square" lIns="0" tIns="0" rIns="0" bIns="0" rtlCol="0" anchor="ctr"/>
          <a:lstStyle/>
          <a:p>
            <a:pPr marL="0" indent="0" algn="ctr">
              <a:buNone/>
            </a:pPr>
            <a:r>
              <a:rPr lang="en-US" sz="1500" b="1" dirty="0">
                <a:solidFill>
                  <a:srgbClr val="1E2530"/>
                </a:solidFill>
                <a:latin typeface="Open Sans" pitchFamily="34" charset="0"/>
                <a:ea typeface="Open Sans" pitchFamily="34" charset="-122"/>
                <a:cs typeface="Open Sans" pitchFamily="34" charset="-120"/>
              </a:rPr>
              <a:t>Stage</a:t>
            </a:r>
            <a:endParaRPr lang="en-US" sz="1500" dirty="0"/>
          </a:p>
        </p:txBody>
      </p:sp>
      <p:sp>
        <p:nvSpPr>
          <p:cNvPr id="13" name="Text 11"/>
          <p:cNvSpPr/>
          <p:nvPr/>
        </p:nvSpPr>
        <p:spPr>
          <a:xfrm>
            <a:off x="868680" y="2514600"/>
            <a:ext cx="2194560" cy="365760"/>
          </a:xfrm>
          <a:prstGeom prst="rect">
            <a:avLst/>
          </a:prstGeom>
          <a:solidFill>
            <a:srgbClr val="36454F"/>
          </a:solidFill>
          <a:ln/>
        </p:spPr>
        <p:txBody>
          <a:bodyPr wrap="square" lIns="0" tIns="0" rIns="0" bIns="0" rtlCol="0" anchor="ctr"/>
          <a:lstStyle/>
          <a:p>
            <a:pPr marL="0" indent="0" algn="ctr">
              <a:buNone/>
            </a:pPr>
            <a:r>
              <a:rPr lang="en-US" sz="1000" dirty="0">
                <a:solidFill>
                  <a:srgbClr val="B8975C"/>
                </a:solidFill>
                <a:latin typeface="Consolas" pitchFamily="34" charset="0"/>
                <a:ea typeface="Consolas" pitchFamily="34" charset="-122"/>
                <a:cs typeface="Consolas" pitchFamily="34" charset="-120"/>
              </a:rPr>
              <a:t>git add .</a:t>
            </a:r>
            <a:endParaRPr lang="en-US" sz="1000" dirty="0"/>
          </a:p>
        </p:txBody>
      </p:sp>
      <p:sp>
        <p:nvSpPr>
          <p:cNvPr id="14" name="Text 12"/>
          <p:cNvSpPr/>
          <p:nvPr/>
        </p:nvSpPr>
        <p:spPr>
          <a:xfrm>
            <a:off x="868680" y="2971800"/>
            <a:ext cx="2194560" cy="1005840"/>
          </a:xfrm>
          <a:prstGeom prst="rect">
            <a:avLst/>
          </a:prstGeom>
          <a:noFill/>
          <a:ln/>
        </p:spPr>
        <p:txBody>
          <a:bodyPr wrap="square" lIns="0" tIns="0" rIns="0" bIns="0" rtlCol="0" anchor="t"/>
          <a:lstStyle/>
          <a:p>
            <a:pPr marL="0" indent="0">
              <a:lnSpc>
                <a:spcPct val="140000"/>
              </a:lnSpc>
              <a:buNone/>
            </a:pPr>
            <a:r>
              <a:rPr lang="en-US" sz="1100" dirty="0">
                <a:solidFill>
                  <a:srgbClr val="5A6B7A"/>
                </a:solidFill>
                <a:latin typeface="Open Sans" pitchFamily="34" charset="0"/>
                <a:ea typeface="Open Sans" pitchFamily="34" charset="-122"/>
                <a:cs typeface="Open Sans" pitchFamily="34" charset="-120"/>
              </a:rPr>
              <a:t>Tells Git which files to include in the next save. The dot means all changed files.</a:t>
            </a:r>
            <a:endParaRPr lang="en-US" sz="1100" dirty="0"/>
          </a:p>
        </p:txBody>
      </p:sp>
      <p:sp>
        <p:nvSpPr>
          <p:cNvPr id="15" name="Shape 13"/>
          <p:cNvSpPr/>
          <p:nvPr/>
        </p:nvSpPr>
        <p:spPr>
          <a:xfrm>
            <a:off x="3474720" y="1554480"/>
            <a:ext cx="2468880" cy="2651760"/>
          </a:xfrm>
          <a:prstGeom prst="rect">
            <a:avLst/>
          </a:prstGeom>
          <a:solidFill>
            <a:srgbClr val="FFFFFF"/>
          </a:solidFill>
          <a:ln/>
          <a:effectLst>
            <a:outerShdw blurRad="50800" dist="25400" dir="8100000" algn="bl" rotWithShape="0">
              <a:srgbClr val="000000">
                <a:alpha val="6000"/>
              </a:srgbClr>
            </a:outerShdw>
          </a:effectLst>
        </p:spPr>
        <p:txBody>
          <a:bodyPr/>
          <a:lstStyle/>
          <a:p>
            <a:endParaRPr lang="en-US"/>
          </a:p>
        </p:txBody>
      </p:sp>
      <p:sp>
        <p:nvSpPr>
          <p:cNvPr id="16" name="Shape 14"/>
          <p:cNvSpPr/>
          <p:nvPr/>
        </p:nvSpPr>
        <p:spPr>
          <a:xfrm>
            <a:off x="4434840" y="1691640"/>
            <a:ext cx="365760" cy="365760"/>
          </a:xfrm>
          <a:prstGeom prst="line">
            <a:avLst/>
          </a:prstGeom>
          <a:solidFill>
            <a:srgbClr val="B8975C"/>
          </a:solidFill>
          <a:ln/>
        </p:spPr>
        <p:txBody>
          <a:bodyPr/>
          <a:lstStyle/>
          <a:p>
            <a:endParaRPr lang="en-US"/>
          </a:p>
        </p:txBody>
      </p:sp>
      <p:sp>
        <p:nvSpPr>
          <p:cNvPr id="17" name="Text 15"/>
          <p:cNvSpPr/>
          <p:nvPr/>
        </p:nvSpPr>
        <p:spPr>
          <a:xfrm>
            <a:off x="4434840" y="1691640"/>
            <a:ext cx="365760" cy="365760"/>
          </a:xfrm>
          <a:prstGeom prst="rect">
            <a:avLst/>
          </a:prstGeom>
          <a:noFill/>
          <a:ln/>
        </p:spPr>
        <p:txBody>
          <a:bodyPr wrap="square" lIns="0" tIns="0" rIns="0" bIns="0" rtlCol="0" anchor="ctr"/>
          <a:lstStyle/>
          <a:p>
            <a:pPr marL="0" indent="0" algn="ctr">
              <a:buNone/>
            </a:pPr>
            <a:r>
              <a:rPr lang="en-US" sz="1400" b="1" dirty="0">
                <a:solidFill>
                  <a:srgbClr val="FFFFFF"/>
                </a:solidFill>
                <a:latin typeface="Open Sans" pitchFamily="34" charset="0"/>
                <a:ea typeface="Open Sans" pitchFamily="34" charset="-122"/>
                <a:cs typeface="Open Sans" pitchFamily="34" charset="-120"/>
              </a:rPr>
              <a:t>2</a:t>
            </a:r>
            <a:endParaRPr lang="en-US" sz="1400" dirty="0"/>
          </a:p>
        </p:txBody>
      </p:sp>
      <p:sp>
        <p:nvSpPr>
          <p:cNvPr id="18" name="Text 16"/>
          <p:cNvSpPr/>
          <p:nvPr/>
        </p:nvSpPr>
        <p:spPr>
          <a:xfrm>
            <a:off x="3611880" y="2148840"/>
            <a:ext cx="2194560" cy="274320"/>
          </a:xfrm>
          <a:prstGeom prst="rect">
            <a:avLst/>
          </a:prstGeom>
          <a:noFill/>
          <a:ln/>
        </p:spPr>
        <p:txBody>
          <a:bodyPr wrap="square" lIns="0" tIns="0" rIns="0" bIns="0" rtlCol="0" anchor="ctr"/>
          <a:lstStyle/>
          <a:p>
            <a:pPr marL="0" indent="0" algn="ctr">
              <a:buNone/>
            </a:pPr>
            <a:r>
              <a:rPr lang="en-US" sz="1500" b="1" dirty="0">
                <a:solidFill>
                  <a:srgbClr val="1E2530"/>
                </a:solidFill>
                <a:latin typeface="Open Sans" pitchFamily="34" charset="0"/>
                <a:ea typeface="Open Sans" pitchFamily="34" charset="-122"/>
                <a:cs typeface="Open Sans" pitchFamily="34" charset="-120"/>
              </a:rPr>
              <a:t>Commit</a:t>
            </a:r>
            <a:endParaRPr lang="en-US" sz="1500" dirty="0"/>
          </a:p>
        </p:txBody>
      </p:sp>
      <p:sp>
        <p:nvSpPr>
          <p:cNvPr id="19" name="Text 17"/>
          <p:cNvSpPr/>
          <p:nvPr/>
        </p:nvSpPr>
        <p:spPr>
          <a:xfrm>
            <a:off x="3611880" y="2514600"/>
            <a:ext cx="2194560" cy="365760"/>
          </a:xfrm>
          <a:prstGeom prst="rect">
            <a:avLst/>
          </a:prstGeom>
          <a:solidFill>
            <a:srgbClr val="36454F"/>
          </a:solidFill>
          <a:ln/>
        </p:spPr>
        <p:txBody>
          <a:bodyPr wrap="square" lIns="0" tIns="0" rIns="0" bIns="0" rtlCol="0" anchor="ctr"/>
          <a:lstStyle/>
          <a:p>
            <a:pPr marL="0" indent="0" algn="ctr">
              <a:buNone/>
            </a:pPr>
            <a:r>
              <a:rPr lang="en-US" sz="1000" dirty="0">
                <a:solidFill>
                  <a:srgbClr val="B8975C"/>
                </a:solidFill>
                <a:latin typeface="Consolas" pitchFamily="34" charset="0"/>
                <a:ea typeface="Consolas" pitchFamily="34" charset="-122"/>
                <a:cs typeface="Consolas" pitchFamily="34" charset="-120"/>
              </a:rPr>
              <a:t>git commit -m "Stage 1 memo"</a:t>
            </a:r>
            <a:endParaRPr lang="en-US" sz="1000" dirty="0"/>
          </a:p>
        </p:txBody>
      </p:sp>
      <p:sp>
        <p:nvSpPr>
          <p:cNvPr id="20" name="Text 18"/>
          <p:cNvSpPr/>
          <p:nvPr/>
        </p:nvSpPr>
        <p:spPr>
          <a:xfrm>
            <a:off x="3611880" y="2971800"/>
            <a:ext cx="2194560" cy="1005840"/>
          </a:xfrm>
          <a:prstGeom prst="rect">
            <a:avLst/>
          </a:prstGeom>
          <a:noFill/>
          <a:ln/>
        </p:spPr>
        <p:txBody>
          <a:bodyPr wrap="square" lIns="0" tIns="0" rIns="0" bIns="0" rtlCol="0" anchor="t"/>
          <a:lstStyle/>
          <a:p>
            <a:pPr marL="0" indent="0">
              <a:lnSpc>
                <a:spcPct val="140000"/>
              </a:lnSpc>
              <a:buNone/>
            </a:pPr>
            <a:r>
              <a:rPr lang="en-US" sz="1100" dirty="0">
                <a:solidFill>
                  <a:srgbClr val="5A6B7A"/>
                </a:solidFill>
                <a:latin typeface="Open Sans" pitchFamily="34" charset="0"/>
                <a:ea typeface="Open Sans" pitchFamily="34" charset="-122"/>
                <a:cs typeface="Open Sans" pitchFamily="34" charset="-120"/>
              </a:rPr>
              <a:t>Creates a permanent snapshot with a descriptive message. This is your save point.</a:t>
            </a:r>
            <a:endParaRPr lang="en-US" sz="1100" dirty="0"/>
          </a:p>
        </p:txBody>
      </p:sp>
      <p:sp>
        <p:nvSpPr>
          <p:cNvPr id="21" name="Shape 19"/>
          <p:cNvSpPr/>
          <p:nvPr/>
        </p:nvSpPr>
        <p:spPr>
          <a:xfrm>
            <a:off x="6217920" y="1554480"/>
            <a:ext cx="2468880" cy="2651760"/>
          </a:xfrm>
          <a:prstGeom prst="rect">
            <a:avLst/>
          </a:prstGeom>
          <a:solidFill>
            <a:srgbClr val="FFFFFF"/>
          </a:solidFill>
          <a:ln/>
          <a:effectLst>
            <a:outerShdw blurRad="50800" dist="25400" dir="8100000" algn="bl" rotWithShape="0">
              <a:srgbClr val="000000">
                <a:alpha val="6000"/>
              </a:srgbClr>
            </a:outerShdw>
          </a:effectLst>
        </p:spPr>
        <p:txBody>
          <a:bodyPr/>
          <a:lstStyle/>
          <a:p>
            <a:endParaRPr lang="en-US"/>
          </a:p>
        </p:txBody>
      </p:sp>
      <p:sp>
        <p:nvSpPr>
          <p:cNvPr id="22" name="Shape 20"/>
          <p:cNvSpPr/>
          <p:nvPr/>
        </p:nvSpPr>
        <p:spPr>
          <a:xfrm>
            <a:off x="7178040" y="1691640"/>
            <a:ext cx="365760" cy="365760"/>
          </a:xfrm>
          <a:prstGeom prst="line">
            <a:avLst/>
          </a:prstGeom>
          <a:solidFill>
            <a:srgbClr val="B8975C"/>
          </a:solidFill>
          <a:ln/>
        </p:spPr>
        <p:txBody>
          <a:bodyPr/>
          <a:lstStyle/>
          <a:p>
            <a:endParaRPr lang="en-US"/>
          </a:p>
        </p:txBody>
      </p:sp>
      <p:sp>
        <p:nvSpPr>
          <p:cNvPr id="23" name="Text 21"/>
          <p:cNvSpPr/>
          <p:nvPr/>
        </p:nvSpPr>
        <p:spPr>
          <a:xfrm>
            <a:off x="7178040" y="1691640"/>
            <a:ext cx="365760" cy="365760"/>
          </a:xfrm>
          <a:prstGeom prst="rect">
            <a:avLst/>
          </a:prstGeom>
          <a:noFill/>
          <a:ln/>
        </p:spPr>
        <p:txBody>
          <a:bodyPr wrap="square" lIns="0" tIns="0" rIns="0" bIns="0" rtlCol="0" anchor="ctr"/>
          <a:lstStyle/>
          <a:p>
            <a:pPr marL="0" indent="0" algn="ctr">
              <a:buNone/>
            </a:pPr>
            <a:r>
              <a:rPr lang="en-US" sz="1400" b="1" dirty="0">
                <a:solidFill>
                  <a:srgbClr val="FFFFFF"/>
                </a:solidFill>
                <a:latin typeface="Open Sans" pitchFamily="34" charset="0"/>
                <a:ea typeface="Open Sans" pitchFamily="34" charset="-122"/>
                <a:cs typeface="Open Sans" pitchFamily="34" charset="-120"/>
              </a:rPr>
              <a:t>3</a:t>
            </a:r>
            <a:endParaRPr lang="en-US" sz="1400" dirty="0"/>
          </a:p>
        </p:txBody>
      </p:sp>
      <p:sp>
        <p:nvSpPr>
          <p:cNvPr id="24" name="Text 22"/>
          <p:cNvSpPr/>
          <p:nvPr/>
        </p:nvSpPr>
        <p:spPr>
          <a:xfrm>
            <a:off x="6355080" y="2148840"/>
            <a:ext cx="2194560" cy="274320"/>
          </a:xfrm>
          <a:prstGeom prst="rect">
            <a:avLst/>
          </a:prstGeom>
          <a:noFill/>
          <a:ln/>
        </p:spPr>
        <p:txBody>
          <a:bodyPr wrap="square" lIns="0" tIns="0" rIns="0" bIns="0" rtlCol="0" anchor="ctr"/>
          <a:lstStyle/>
          <a:p>
            <a:pPr marL="0" indent="0" algn="ctr">
              <a:buNone/>
            </a:pPr>
            <a:r>
              <a:rPr lang="en-US" sz="1500" b="1" dirty="0">
                <a:solidFill>
                  <a:srgbClr val="1E2530"/>
                </a:solidFill>
                <a:latin typeface="Open Sans" pitchFamily="34" charset="0"/>
                <a:ea typeface="Open Sans" pitchFamily="34" charset="-122"/>
                <a:cs typeface="Open Sans" pitchFamily="34" charset="-120"/>
              </a:rPr>
              <a:t>Push</a:t>
            </a:r>
            <a:endParaRPr lang="en-US" sz="1500" dirty="0"/>
          </a:p>
        </p:txBody>
      </p:sp>
      <p:sp>
        <p:nvSpPr>
          <p:cNvPr id="25" name="Text 23"/>
          <p:cNvSpPr/>
          <p:nvPr/>
        </p:nvSpPr>
        <p:spPr>
          <a:xfrm>
            <a:off x="6355080" y="2514600"/>
            <a:ext cx="2194560" cy="365760"/>
          </a:xfrm>
          <a:prstGeom prst="rect">
            <a:avLst/>
          </a:prstGeom>
          <a:solidFill>
            <a:srgbClr val="36454F"/>
          </a:solidFill>
          <a:ln/>
        </p:spPr>
        <p:txBody>
          <a:bodyPr wrap="square" lIns="0" tIns="0" rIns="0" bIns="0" rtlCol="0" anchor="ctr"/>
          <a:lstStyle/>
          <a:p>
            <a:pPr marL="0" indent="0" algn="ctr">
              <a:buNone/>
            </a:pPr>
            <a:r>
              <a:rPr lang="en-US" sz="1000" dirty="0">
                <a:solidFill>
                  <a:srgbClr val="B8975C"/>
                </a:solidFill>
                <a:latin typeface="Consolas" pitchFamily="34" charset="0"/>
                <a:ea typeface="Consolas" pitchFamily="34" charset="-122"/>
                <a:cs typeface="Consolas" pitchFamily="34" charset="-120"/>
              </a:rPr>
              <a:t>git push</a:t>
            </a:r>
            <a:endParaRPr lang="en-US" sz="1000" dirty="0"/>
          </a:p>
        </p:txBody>
      </p:sp>
      <p:sp>
        <p:nvSpPr>
          <p:cNvPr id="26" name="Text 24"/>
          <p:cNvSpPr/>
          <p:nvPr/>
        </p:nvSpPr>
        <p:spPr>
          <a:xfrm>
            <a:off x="6355080" y="2971800"/>
            <a:ext cx="2194560" cy="1005840"/>
          </a:xfrm>
          <a:prstGeom prst="rect">
            <a:avLst/>
          </a:prstGeom>
          <a:noFill/>
          <a:ln/>
        </p:spPr>
        <p:txBody>
          <a:bodyPr wrap="square" lIns="0" tIns="0" rIns="0" bIns="0" rtlCol="0" anchor="t"/>
          <a:lstStyle/>
          <a:p>
            <a:pPr marL="0" indent="0">
              <a:lnSpc>
                <a:spcPct val="140000"/>
              </a:lnSpc>
              <a:buNone/>
            </a:pPr>
            <a:r>
              <a:rPr lang="en-US" sz="1100" dirty="0">
                <a:solidFill>
                  <a:srgbClr val="5A6B7A"/>
                </a:solidFill>
                <a:latin typeface="Open Sans" pitchFamily="34" charset="0"/>
                <a:ea typeface="Open Sans" pitchFamily="34" charset="-122"/>
                <a:cs typeface="Open Sans" pitchFamily="34" charset="-120"/>
              </a:rPr>
              <a:t>Uploads your commits to GitHub so they are visible online and to your instructor.</a:t>
            </a:r>
            <a:endParaRPr lang="en-US" sz="1100" dirty="0"/>
          </a:p>
        </p:txBody>
      </p:sp>
      <p:sp>
        <p:nvSpPr>
          <p:cNvPr id="27" name="Shape 25"/>
          <p:cNvSpPr/>
          <p:nvPr/>
        </p:nvSpPr>
        <p:spPr>
          <a:xfrm>
            <a:off x="731520" y="4315968"/>
            <a:ext cx="7680960" cy="45720"/>
          </a:xfrm>
          <a:prstGeom prst="rect">
            <a:avLst/>
          </a:prstGeom>
          <a:solidFill>
            <a:srgbClr val="B8975C"/>
          </a:solidFill>
          <a:ln/>
        </p:spPr>
        <p:txBody>
          <a:bodyPr/>
          <a:lstStyle/>
          <a:p>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26466A-0B29-D946-370B-A9CEE8F90516}"/>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255F63C5-A4CF-88DC-5998-89879FC4A483}"/>
              </a:ext>
            </a:extLst>
          </p:cNvPr>
          <p:cNvSpPr/>
          <p:nvPr/>
        </p:nvSpPr>
        <p:spPr>
          <a:xfrm>
            <a:off x="0" y="0"/>
            <a:ext cx="9144000" cy="36576"/>
          </a:xfrm>
          <a:prstGeom prst="rect">
            <a:avLst/>
          </a:prstGeom>
          <a:solidFill>
            <a:srgbClr val="B8975C"/>
          </a:solidFill>
          <a:ln/>
        </p:spPr>
        <p:txBody>
          <a:bodyPr/>
          <a:lstStyle/>
          <a:p>
            <a:endParaRPr lang="en-US"/>
          </a:p>
        </p:txBody>
      </p:sp>
      <p:sp>
        <p:nvSpPr>
          <p:cNvPr id="3" name="Text 1">
            <a:extLst>
              <a:ext uri="{FF2B5EF4-FFF2-40B4-BE49-F238E27FC236}">
                <a16:creationId xmlns:a16="http://schemas.microsoft.com/office/drawing/2014/main" id="{CE3790C8-211C-0714-0538-58993642C16E}"/>
              </a:ext>
            </a:extLst>
          </p:cNvPr>
          <p:cNvSpPr/>
          <p:nvPr/>
        </p:nvSpPr>
        <p:spPr>
          <a:xfrm>
            <a:off x="731520" y="731520"/>
            <a:ext cx="7680960" cy="365760"/>
          </a:xfrm>
          <a:prstGeom prst="rect">
            <a:avLst/>
          </a:prstGeom>
          <a:noFill/>
          <a:ln/>
        </p:spPr>
        <p:txBody>
          <a:bodyPr wrap="square" lIns="0" tIns="0" rIns="0" bIns="0" rtlCol="0" anchor="ctr"/>
          <a:lstStyle/>
          <a:p>
            <a:pPr marL="0" indent="0">
              <a:buNone/>
            </a:pPr>
            <a:r>
              <a:rPr lang="en-US" sz="1400" b="1" kern="0" spc="600" dirty="0">
                <a:solidFill>
                  <a:srgbClr val="B8975C"/>
                </a:solidFill>
                <a:latin typeface="Open Sans" pitchFamily="34" charset="0"/>
                <a:ea typeface="Open Sans" pitchFamily="34" charset="-122"/>
                <a:cs typeface="Open Sans" pitchFamily="34" charset="-120"/>
              </a:rPr>
              <a:t>STAGE 1</a:t>
            </a:r>
            <a:endParaRPr lang="en-US" sz="1400" dirty="0"/>
          </a:p>
        </p:txBody>
      </p:sp>
      <p:sp>
        <p:nvSpPr>
          <p:cNvPr id="4" name="Text 2">
            <a:extLst>
              <a:ext uri="{FF2B5EF4-FFF2-40B4-BE49-F238E27FC236}">
                <a16:creationId xmlns:a16="http://schemas.microsoft.com/office/drawing/2014/main" id="{DBE2BABE-B92F-EED8-5D9C-B57229C175EE}"/>
              </a:ext>
            </a:extLst>
          </p:cNvPr>
          <p:cNvSpPr/>
          <p:nvPr/>
        </p:nvSpPr>
        <p:spPr>
          <a:xfrm>
            <a:off x="731520" y="1280160"/>
            <a:ext cx="7680960" cy="1645920"/>
          </a:xfrm>
          <a:prstGeom prst="rect">
            <a:avLst/>
          </a:prstGeom>
          <a:noFill/>
          <a:ln/>
        </p:spPr>
        <p:txBody>
          <a:bodyPr wrap="square" lIns="0" tIns="0" rIns="0" bIns="0" rtlCol="0" anchor="ctr"/>
          <a:lstStyle/>
          <a:p>
            <a:pPr marL="0" indent="0">
              <a:lnSpc>
                <a:spcPct val="110000"/>
              </a:lnSpc>
              <a:buNone/>
            </a:pPr>
            <a:r>
              <a:rPr lang="en-US" sz="4000" b="1" dirty="0">
                <a:solidFill>
                  <a:schemeClr val="accent6">
                    <a:lumMod val="50000"/>
                  </a:schemeClr>
                </a:solidFill>
                <a:latin typeface="Open Sans" pitchFamily="34" charset="0"/>
                <a:ea typeface="Open Sans" pitchFamily="34" charset="-122"/>
                <a:cs typeface="Open Sans" pitchFamily="34" charset="-120"/>
              </a:rPr>
              <a:t>Upload Ratios Template</a:t>
            </a:r>
            <a:endParaRPr lang="en-US" sz="4000" dirty="0">
              <a:solidFill>
                <a:schemeClr val="accent6">
                  <a:lumMod val="50000"/>
                </a:schemeClr>
              </a:solidFill>
            </a:endParaRPr>
          </a:p>
        </p:txBody>
      </p:sp>
      <p:sp>
        <p:nvSpPr>
          <p:cNvPr id="5" name="Shape 3">
            <a:extLst>
              <a:ext uri="{FF2B5EF4-FFF2-40B4-BE49-F238E27FC236}">
                <a16:creationId xmlns:a16="http://schemas.microsoft.com/office/drawing/2014/main" id="{159D3B6E-9238-49E7-F616-6D51214502FB}"/>
              </a:ext>
            </a:extLst>
          </p:cNvPr>
          <p:cNvSpPr/>
          <p:nvPr/>
        </p:nvSpPr>
        <p:spPr>
          <a:xfrm>
            <a:off x="731520" y="3108960"/>
            <a:ext cx="1828800" cy="36576"/>
          </a:xfrm>
          <a:prstGeom prst="rect">
            <a:avLst/>
          </a:prstGeom>
          <a:solidFill>
            <a:srgbClr val="B8975C"/>
          </a:solidFill>
          <a:ln/>
        </p:spPr>
        <p:txBody>
          <a:bodyPr/>
          <a:lstStyle/>
          <a:p>
            <a:endParaRPr lang="en-US"/>
          </a:p>
        </p:txBody>
      </p:sp>
      <p:sp>
        <p:nvSpPr>
          <p:cNvPr id="6" name="Text 4">
            <a:extLst>
              <a:ext uri="{FF2B5EF4-FFF2-40B4-BE49-F238E27FC236}">
                <a16:creationId xmlns:a16="http://schemas.microsoft.com/office/drawing/2014/main" id="{7056E6EE-CF0C-5C1B-DC1E-1C6CA3A8502B}"/>
              </a:ext>
            </a:extLst>
          </p:cNvPr>
          <p:cNvSpPr/>
          <p:nvPr/>
        </p:nvSpPr>
        <p:spPr>
          <a:xfrm>
            <a:off x="731520" y="3337560"/>
            <a:ext cx="6400800" cy="640080"/>
          </a:xfrm>
          <a:prstGeom prst="rect">
            <a:avLst/>
          </a:prstGeom>
          <a:noFill/>
          <a:ln/>
        </p:spPr>
        <p:txBody>
          <a:bodyPr wrap="square" lIns="0" tIns="0" rIns="0" bIns="0" rtlCol="0" anchor="ctr"/>
          <a:lstStyle/>
          <a:p>
            <a:pPr marL="0" indent="0">
              <a:lnSpc>
                <a:spcPct val="140000"/>
              </a:lnSpc>
              <a:buNone/>
            </a:pPr>
            <a:r>
              <a:rPr lang="en-US" sz="1600" dirty="0">
                <a:solidFill>
                  <a:srgbClr val="36454F"/>
                </a:solidFill>
              </a:rPr>
              <a:t>Upload the ratios template to your repo — your spreadsheet workspace for the rest of the project.</a:t>
            </a:r>
          </a:p>
        </p:txBody>
      </p:sp>
      <p:pic>
        <p:nvPicPr>
          <p:cNvPr id="7" name="Image 0" descr="preencoded.png">
            <a:extLst>
              <a:ext uri="{FF2B5EF4-FFF2-40B4-BE49-F238E27FC236}">
                <a16:creationId xmlns:a16="http://schemas.microsoft.com/office/drawing/2014/main" id="{309B72F1-F488-4639-2665-82EF8540A100}"/>
              </a:ext>
            </a:extLst>
          </p:cNvPr>
          <p:cNvPicPr>
            <a:picLocks noChangeAspect="1"/>
          </p:cNvPicPr>
          <p:nvPr/>
        </p:nvPicPr>
        <p:blipFill>
          <a:blip r:embed="rId3"/>
          <a:stretch>
            <a:fillRect/>
          </a:stretch>
        </p:blipFill>
        <p:spPr>
          <a:xfrm>
            <a:off x="7132320" y="3017520"/>
            <a:ext cx="1097280" cy="1097280"/>
          </a:xfrm>
          <a:prstGeom prst="rect">
            <a:avLst/>
          </a:prstGeom>
        </p:spPr>
      </p:pic>
      <p:sp>
        <p:nvSpPr>
          <p:cNvPr id="8" name="Text 5">
            <a:extLst>
              <a:ext uri="{FF2B5EF4-FFF2-40B4-BE49-F238E27FC236}">
                <a16:creationId xmlns:a16="http://schemas.microsoft.com/office/drawing/2014/main" id="{4FD084F7-4518-627F-5FC1-24E1E1A4097B}"/>
              </a:ext>
            </a:extLst>
          </p:cNvPr>
          <p:cNvSpPr/>
          <p:nvPr/>
        </p:nvSpPr>
        <p:spPr>
          <a:xfrm>
            <a:off x="457200" y="4663440"/>
            <a:ext cx="8229600" cy="320040"/>
          </a:xfrm>
          <a:prstGeom prst="rect">
            <a:avLst/>
          </a:prstGeom>
          <a:noFill/>
          <a:ln/>
        </p:spPr>
        <p:txBody>
          <a:bodyPr wrap="square" lIns="0" tIns="0" rIns="0" bIns="0" rtlCol="0" anchor="ctr"/>
          <a:lstStyle/>
          <a:p>
            <a:pPr marL="0" indent="0" algn="ctr">
              <a:buNone/>
            </a:pPr>
            <a:r>
              <a:rPr lang="en-US" sz="1000" dirty="0">
                <a:solidFill>
                  <a:srgbClr val="5A6B7A"/>
                </a:solidFill>
                <a:latin typeface="Open Sans" pitchFamily="34" charset="0"/>
                <a:ea typeface="Open Sans" pitchFamily="34" charset="-122"/>
                <a:cs typeface="Open Sans" pitchFamily="34" charset="-120"/>
              </a:rPr>
              <a:t>Shidler College of Business  |  University of Hawaiʻi at Mānoa</a:t>
            </a:r>
            <a:endParaRPr lang="en-US" sz="1000" dirty="0"/>
          </a:p>
        </p:txBody>
      </p:sp>
    </p:spTree>
    <p:extLst>
      <p:ext uri="{BB962C8B-B14F-4D97-AF65-F5344CB8AC3E}">
        <p14:creationId xmlns:p14="http://schemas.microsoft.com/office/powerpoint/2010/main" val="82426275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24731"/>
          </a:solidFill>
          <a:ln/>
        </p:spPr>
        <p:txBody>
          <a:bodyPr/>
          <a:lstStyle/>
          <a:p>
            <a:endParaRPr lang="en-US"/>
          </a:p>
        </p:txBody>
      </p:sp>
      <p:sp>
        <p:nvSpPr>
          <p:cNvPr id="3" name="Text 1"/>
          <p:cNvSpPr/>
          <p:nvPr/>
        </p:nvSpPr>
        <p:spPr>
          <a:xfrm>
            <a:off x="548640" y="137160"/>
            <a:ext cx="7315200" cy="274320"/>
          </a:xfrm>
          <a:prstGeom prst="rect">
            <a:avLst/>
          </a:prstGeom>
          <a:noFill/>
          <a:ln/>
        </p:spPr>
        <p:txBody>
          <a:bodyPr wrap="square" lIns="0" tIns="0" rIns="0" bIns="0" rtlCol="0" anchor="ctr"/>
          <a:lstStyle/>
          <a:p>
            <a:pPr marL="0" indent="0">
              <a:buNone/>
            </a:pPr>
            <a:r>
              <a:rPr lang="en-US" sz="2000" b="1" dirty="0">
                <a:solidFill>
                  <a:srgbClr val="FFFFFF"/>
                </a:solidFill>
                <a:latin typeface="Open Sans" pitchFamily="34" charset="0"/>
                <a:ea typeface="Open Sans" pitchFamily="34" charset="-122"/>
                <a:cs typeface="Open Sans" pitchFamily="34" charset="-120"/>
              </a:rPr>
              <a:t>Stage 1 — Ratios Template Upload</a:t>
            </a:r>
            <a:endParaRPr lang="en-US" sz="2000" dirty="0"/>
          </a:p>
        </p:txBody>
      </p:sp>
      <p:sp>
        <p:nvSpPr>
          <p:cNvPr id="4" name="Text 2"/>
          <p:cNvSpPr/>
          <p:nvPr/>
        </p:nvSpPr>
        <p:spPr>
          <a:xfrm>
            <a:off x="548640" y="429768"/>
            <a:ext cx="7315200" cy="228600"/>
          </a:xfrm>
          <a:prstGeom prst="rect">
            <a:avLst/>
          </a:prstGeom>
          <a:noFill/>
          <a:ln/>
        </p:spPr>
        <p:txBody>
          <a:bodyPr wrap="square" lIns="0" tIns="0" rIns="0" bIns="0" rtlCol="0" anchor="ctr"/>
          <a:lstStyle/>
          <a:p>
            <a:pPr marL="0" indent="0">
              <a:buNone/>
            </a:pPr>
            <a:r>
              <a:rPr lang="en-US" sz="1100" dirty="0">
                <a:solidFill>
                  <a:srgbClr val="B8DDD1"/>
                </a:solidFill>
                <a:latin typeface="Open Sans" pitchFamily="34" charset="0"/>
                <a:ea typeface="Open Sans" pitchFamily="34" charset="-122"/>
                <a:cs typeface="Open Sans" pitchFamily="34" charset="-120"/>
              </a:rPr>
              <a:t>20% of project  |  Upload-only — use the provided ratios template, do not modify</a:t>
            </a:r>
            <a:endParaRPr lang="en-US" sz="1100" dirty="0"/>
          </a:p>
        </p:txBody>
      </p:sp>
      <p:sp>
        <p:nvSpPr>
          <p:cNvPr id="5" name="Text 3"/>
          <p:cNvSpPr/>
          <p:nvPr/>
        </p:nvSpPr>
        <p:spPr>
          <a:xfrm>
            <a:off x="548640" y="1051560"/>
            <a:ext cx="4114800" cy="274320"/>
          </a:xfrm>
          <a:prstGeom prst="rect">
            <a:avLst/>
          </a:prstGeom>
          <a:noFill/>
          <a:ln/>
        </p:spPr>
        <p:txBody>
          <a:bodyPr wrap="square" lIns="0" tIns="0" rIns="0" bIns="0" rtlCol="0" anchor="ctr"/>
          <a:lstStyle/>
          <a:p>
            <a:pPr marL="0" indent="0">
              <a:buNone/>
            </a:pPr>
            <a:r>
              <a:rPr lang="en-US" sz="1300" b="1" dirty="0">
                <a:solidFill>
                  <a:srgbClr val="0D0D0D"/>
                </a:solidFill>
                <a:latin typeface="Open Sans" pitchFamily="34" charset="0"/>
                <a:ea typeface="Open Sans" pitchFamily="34" charset="-122"/>
                <a:cs typeface="Open Sans" pitchFamily="34" charset="-120"/>
              </a:rPr>
              <a:t>The provided template includes:</a:t>
            </a:r>
            <a:endParaRPr lang="en-US" sz="1300" dirty="0"/>
          </a:p>
        </p:txBody>
      </p:sp>
      <p:sp>
        <p:nvSpPr>
          <p:cNvPr id="6" name="Text 4"/>
          <p:cNvSpPr/>
          <p:nvPr/>
        </p:nvSpPr>
        <p:spPr>
          <a:xfrm>
            <a:off x="548640" y="1371600"/>
            <a:ext cx="4114800" cy="2011680"/>
          </a:xfrm>
          <a:prstGeom prst="rect">
            <a:avLst/>
          </a:prstGeom>
          <a:noFill/>
          <a:ln/>
        </p:spPr>
        <p:txBody>
          <a:bodyPr wrap="square" rtlCol="0" anchor="ctr"/>
          <a:lstStyle/>
          <a:p>
            <a:pPr marL="342900" indent="-342900">
              <a:spcAft>
                <a:spcPts val="600"/>
              </a:spcAft>
              <a:buSzPct val="100000"/>
              <a:buChar char="•"/>
            </a:pPr>
            <a:r>
              <a:rPr lang="en-US" sz="1100" dirty="0">
                <a:solidFill>
                  <a:srgbClr val="6B7280"/>
                </a:solidFill>
                <a:latin typeface="Open Sans" pitchFamily="34" charset="0"/>
                <a:ea typeface="Open Sans" pitchFamily="34" charset="-122"/>
                <a:cs typeface="Open Sans" pitchFamily="34" charset="-120"/>
              </a:rPr>
              <a:t>Financial statement tabs (Balance Sheet, Income Statement, Cash Flow)</a:t>
            </a:r>
            <a:endParaRPr lang="en-US" sz="1100" dirty="0"/>
          </a:p>
          <a:p>
            <a:pPr marL="342900" indent="-342900">
              <a:spcAft>
                <a:spcPts val="600"/>
              </a:spcAft>
              <a:buSzPct val="100000"/>
              <a:buChar char="•"/>
            </a:pPr>
            <a:r>
              <a:rPr lang="en-US" sz="1100" dirty="0">
                <a:solidFill>
                  <a:srgbClr val="6B7280"/>
                </a:solidFill>
                <a:latin typeface="Open Sans" pitchFamily="34" charset="0"/>
                <a:ea typeface="Open Sans" pitchFamily="34" charset="-122"/>
                <a:cs typeface="Open Sans" pitchFamily="34" charset="-120"/>
              </a:rPr>
              <a:t>Ratios tab with all six categories pre-filled in named-range notation</a:t>
            </a:r>
            <a:endParaRPr lang="en-US" sz="1100" dirty="0"/>
          </a:p>
          <a:p>
            <a:pPr marL="342900" indent="-342900">
              <a:spcAft>
                <a:spcPts val="600"/>
              </a:spcAft>
              <a:buSzPct val="100000"/>
              <a:buChar char="•"/>
            </a:pPr>
            <a:r>
              <a:rPr lang="en-US" sz="1100" dirty="0">
                <a:solidFill>
                  <a:srgbClr val="6B7280"/>
                </a:solidFill>
                <a:latin typeface="Open Sans" pitchFamily="34" charset="0"/>
                <a:ea typeface="Open Sans" pitchFamily="34" charset="-122"/>
                <a:cs typeface="Open Sans" pitchFamily="34" charset="-120"/>
              </a:rPr>
              <a:t>Named ranges (BAL_*, INC_*, CASH_*, RATIO_*) defined throughout</a:t>
            </a:r>
            <a:endParaRPr lang="en-US" sz="1100" dirty="0"/>
          </a:p>
          <a:p>
            <a:pPr marL="342900" indent="-342900">
              <a:spcAft>
                <a:spcPts val="600"/>
              </a:spcAft>
              <a:buSzPct val="100000"/>
              <a:buChar char="•"/>
            </a:pPr>
            <a:r>
              <a:rPr lang="en-US" sz="1100" dirty="0">
                <a:solidFill>
                  <a:srgbClr val="6B7280"/>
                </a:solidFill>
                <a:latin typeface="Open Sans" pitchFamily="34" charset="0"/>
                <a:ea typeface="Open Sans" pitchFamily="34" charset="-122"/>
                <a:cs typeface="Open Sans" pitchFamily="34" charset="-120"/>
              </a:rPr>
              <a:t>Color coding system applied (Yellow/Blue/Green/Gray)</a:t>
            </a:r>
            <a:endParaRPr lang="en-US" sz="1100" dirty="0"/>
          </a:p>
          <a:p>
            <a:pPr marL="342900" indent="-342900">
              <a:spcAft>
                <a:spcPts val="600"/>
              </a:spcAft>
              <a:buSzPct val="100000"/>
              <a:buChar char="•"/>
            </a:pPr>
            <a:r>
              <a:rPr lang="en-US" sz="1100" dirty="0">
                <a:solidFill>
                  <a:srgbClr val="6B7280"/>
                </a:solidFill>
                <a:latin typeface="Open Sans" pitchFamily="34" charset="0"/>
                <a:ea typeface="Open Sans" pitchFamily="34" charset="-122"/>
                <a:cs typeface="Open Sans" pitchFamily="34" charset="-120"/>
              </a:rPr>
              <a:t>Cover &amp; Instructions tab with project overview and named-range key</a:t>
            </a:r>
            <a:endParaRPr lang="en-US" sz="1100" dirty="0"/>
          </a:p>
        </p:txBody>
      </p:sp>
      <p:sp>
        <p:nvSpPr>
          <p:cNvPr id="7" name="Text 5"/>
          <p:cNvSpPr/>
          <p:nvPr/>
        </p:nvSpPr>
        <p:spPr>
          <a:xfrm>
            <a:off x="548640" y="3520440"/>
            <a:ext cx="4114800" cy="274320"/>
          </a:xfrm>
          <a:prstGeom prst="rect">
            <a:avLst/>
          </a:prstGeom>
          <a:noFill/>
          <a:ln/>
        </p:spPr>
        <p:txBody>
          <a:bodyPr wrap="square" lIns="0" tIns="0" rIns="0" bIns="0" rtlCol="0" anchor="ctr"/>
          <a:lstStyle/>
          <a:p>
            <a:pPr marL="0" indent="0">
              <a:buNone/>
            </a:pPr>
            <a:r>
              <a:rPr lang="en-US" sz="1200" b="1" dirty="0">
                <a:solidFill>
                  <a:srgbClr val="0D0D0D"/>
                </a:solidFill>
                <a:latin typeface="Open Sans" pitchFamily="34" charset="0"/>
                <a:ea typeface="Open Sans" pitchFamily="34" charset="-122"/>
                <a:cs typeface="Open Sans" pitchFamily="34" charset="-120"/>
              </a:rPr>
              <a:t>Color Coding Convention</a:t>
            </a:r>
            <a:endParaRPr lang="en-US" sz="1200" dirty="0"/>
          </a:p>
        </p:txBody>
      </p:sp>
      <p:sp>
        <p:nvSpPr>
          <p:cNvPr id="8" name="Shape 6"/>
          <p:cNvSpPr/>
          <p:nvPr/>
        </p:nvSpPr>
        <p:spPr>
          <a:xfrm>
            <a:off x="548640" y="3840480"/>
            <a:ext cx="914400" cy="594360"/>
          </a:xfrm>
          <a:prstGeom prst="rect">
            <a:avLst/>
          </a:prstGeom>
          <a:solidFill>
            <a:srgbClr val="FEF3C7"/>
          </a:solidFill>
          <a:ln w="19050">
            <a:solidFill>
              <a:srgbClr val="D97706"/>
            </a:solidFill>
            <a:prstDash val="solid"/>
          </a:ln>
        </p:spPr>
        <p:txBody>
          <a:bodyPr/>
          <a:lstStyle/>
          <a:p>
            <a:endParaRPr lang="en-US"/>
          </a:p>
        </p:txBody>
      </p:sp>
      <p:sp>
        <p:nvSpPr>
          <p:cNvPr id="9" name="Text 7"/>
          <p:cNvSpPr/>
          <p:nvPr/>
        </p:nvSpPr>
        <p:spPr>
          <a:xfrm>
            <a:off x="548640" y="3886200"/>
            <a:ext cx="914400" cy="502920"/>
          </a:xfrm>
          <a:prstGeom prst="rect">
            <a:avLst/>
          </a:prstGeom>
          <a:noFill/>
          <a:ln/>
        </p:spPr>
        <p:txBody>
          <a:bodyPr wrap="square" rtlCol="0" anchor="ctr"/>
          <a:lstStyle/>
          <a:p>
            <a:pPr marL="0" indent="0" algn="ctr">
              <a:buNone/>
            </a:pPr>
            <a:r>
              <a:rPr lang="en-US" sz="800" b="1" dirty="0">
                <a:solidFill>
                  <a:srgbClr val="D97706"/>
                </a:solidFill>
                <a:latin typeface="Open Sans" pitchFamily="34" charset="0"/>
                <a:ea typeface="Open Sans" pitchFamily="34" charset="-122"/>
                <a:cs typeface="Open Sans" pitchFamily="34" charset="-120"/>
              </a:rPr>
              <a:t>Yellow = Inputs</a:t>
            </a:r>
            <a:endParaRPr lang="en-US" sz="800" dirty="0"/>
          </a:p>
        </p:txBody>
      </p:sp>
      <p:sp>
        <p:nvSpPr>
          <p:cNvPr id="10" name="Shape 8"/>
          <p:cNvSpPr/>
          <p:nvPr/>
        </p:nvSpPr>
        <p:spPr>
          <a:xfrm>
            <a:off x="1572768" y="3840480"/>
            <a:ext cx="914400" cy="594360"/>
          </a:xfrm>
          <a:prstGeom prst="rect">
            <a:avLst/>
          </a:prstGeom>
          <a:solidFill>
            <a:srgbClr val="DBEAFE"/>
          </a:solidFill>
          <a:ln w="19050">
            <a:solidFill>
              <a:srgbClr val="2563EB"/>
            </a:solidFill>
            <a:prstDash val="solid"/>
          </a:ln>
        </p:spPr>
        <p:txBody>
          <a:bodyPr/>
          <a:lstStyle/>
          <a:p>
            <a:endParaRPr lang="en-US"/>
          </a:p>
        </p:txBody>
      </p:sp>
      <p:sp>
        <p:nvSpPr>
          <p:cNvPr id="11" name="Text 9"/>
          <p:cNvSpPr/>
          <p:nvPr/>
        </p:nvSpPr>
        <p:spPr>
          <a:xfrm>
            <a:off x="1572768" y="3886200"/>
            <a:ext cx="914400" cy="502920"/>
          </a:xfrm>
          <a:prstGeom prst="rect">
            <a:avLst/>
          </a:prstGeom>
          <a:noFill/>
          <a:ln/>
        </p:spPr>
        <p:txBody>
          <a:bodyPr wrap="square" rtlCol="0" anchor="ctr"/>
          <a:lstStyle/>
          <a:p>
            <a:pPr marL="0" indent="0" algn="ctr">
              <a:buNone/>
            </a:pPr>
            <a:r>
              <a:rPr lang="en-US" sz="800" b="1" dirty="0">
                <a:solidFill>
                  <a:srgbClr val="2563EB"/>
                </a:solidFill>
                <a:latin typeface="Open Sans" pitchFamily="34" charset="0"/>
                <a:ea typeface="Open Sans" pitchFamily="34" charset="-122"/>
                <a:cs typeface="Open Sans" pitchFamily="34" charset="-120"/>
              </a:rPr>
              <a:t>Blue = Assumptions</a:t>
            </a:r>
            <a:endParaRPr lang="en-US" sz="800" dirty="0"/>
          </a:p>
        </p:txBody>
      </p:sp>
      <p:sp>
        <p:nvSpPr>
          <p:cNvPr id="12" name="Shape 10"/>
          <p:cNvSpPr/>
          <p:nvPr/>
        </p:nvSpPr>
        <p:spPr>
          <a:xfrm>
            <a:off x="2596896" y="3840480"/>
            <a:ext cx="914400" cy="594360"/>
          </a:xfrm>
          <a:prstGeom prst="rect">
            <a:avLst/>
          </a:prstGeom>
          <a:solidFill>
            <a:srgbClr val="D1FAE5"/>
          </a:solidFill>
          <a:ln w="19050">
            <a:solidFill>
              <a:srgbClr val="059669"/>
            </a:solidFill>
            <a:prstDash val="solid"/>
          </a:ln>
        </p:spPr>
        <p:txBody>
          <a:bodyPr/>
          <a:lstStyle/>
          <a:p>
            <a:endParaRPr lang="en-US"/>
          </a:p>
        </p:txBody>
      </p:sp>
      <p:sp>
        <p:nvSpPr>
          <p:cNvPr id="13" name="Text 11"/>
          <p:cNvSpPr/>
          <p:nvPr/>
        </p:nvSpPr>
        <p:spPr>
          <a:xfrm>
            <a:off x="2596896" y="3886200"/>
            <a:ext cx="914400" cy="502920"/>
          </a:xfrm>
          <a:prstGeom prst="rect">
            <a:avLst/>
          </a:prstGeom>
          <a:noFill/>
          <a:ln/>
        </p:spPr>
        <p:txBody>
          <a:bodyPr wrap="square" rtlCol="0" anchor="ctr"/>
          <a:lstStyle/>
          <a:p>
            <a:pPr marL="0" indent="0" algn="ctr">
              <a:buNone/>
            </a:pPr>
            <a:r>
              <a:rPr lang="en-US" sz="800" b="1" dirty="0">
                <a:solidFill>
                  <a:srgbClr val="059669"/>
                </a:solidFill>
                <a:latin typeface="Open Sans" pitchFamily="34" charset="0"/>
                <a:ea typeface="Open Sans" pitchFamily="34" charset="-122"/>
                <a:cs typeface="Open Sans" pitchFamily="34" charset="-120"/>
              </a:rPr>
              <a:t>Green text = Formulas</a:t>
            </a:r>
            <a:endParaRPr lang="en-US" sz="800" dirty="0"/>
          </a:p>
        </p:txBody>
      </p:sp>
      <p:sp>
        <p:nvSpPr>
          <p:cNvPr id="14" name="Shape 12"/>
          <p:cNvSpPr/>
          <p:nvPr/>
        </p:nvSpPr>
        <p:spPr>
          <a:xfrm>
            <a:off x="3621024" y="3840480"/>
            <a:ext cx="914400" cy="594360"/>
          </a:xfrm>
          <a:prstGeom prst="rect">
            <a:avLst/>
          </a:prstGeom>
          <a:solidFill>
            <a:srgbClr val="E5E7EB"/>
          </a:solidFill>
          <a:ln w="19050">
            <a:solidFill>
              <a:srgbClr val="6B7280"/>
            </a:solidFill>
            <a:prstDash val="solid"/>
          </a:ln>
        </p:spPr>
        <p:txBody>
          <a:bodyPr/>
          <a:lstStyle/>
          <a:p>
            <a:endParaRPr lang="en-US"/>
          </a:p>
        </p:txBody>
      </p:sp>
      <p:sp>
        <p:nvSpPr>
          <p:cNvPr id="15" name="Text 13"/>
          <p:cNvSpPr/>
          <p:nvPr/>
        </p:nvSpPr>
        <p:spPr>
          <a:xfrm>
            <a:off x="3621024" y="3886200"/>
            <a:ext cx="914400" cy="502920"/>
          </a:xfrm>
          <a:prstGeom prst="rect">
            <a:avLst/>
          </a:prstGeom>
          <a:noFill/>
          <a:ln/>
        </p:spPr>
        <p:txBody>
          <a:bodyPr wrap="square" rtlCol="0" anchor="ctr"/>
          <a:lstStyle/>
          <a:p>
            <a:pPr marL="0" indent="0" algn="ctr">
              <a:buNone/>
            </a:pPr>
            <a:r>
              <a:rPr lang="en-US" sz="800" b="1" dirty="0">
                <a:solidFill>
                  <a:srgbClr val="6B7280"/>
                </a:solidFill>
                <a:latin typeface="Open Sans" pitchFamily="34" charset="0"/>
                <a:ea typeface="Open Sans" pitchFamily="34" charset="-122"/>
                <a:cs typeface="Open Sans" pitchFamily="34" charset="-120"/>
              </a:rPr>
              <a:t>Gray = Outputs</a:t>
            </a:r>
            <a:endParaRPr lang="en-US" sz="800" dirty="0"/>
          </a:p>
        </p:txBody>
      </p:sp>
      <p:sp>
        <p:nvSpPr>
          <p:cNvPr id="16" name="Shape 14"/>
          <p:cNvSpPr/>
          <p:nvPr/>
        </p:nvSpPr>
        <p:spPr>
          <a:xfrm>
            <a:off x="5029200" y="1051560"/>
            <a:ext cx="3657600" cy="3611880"/>
          </a:xfrm>
          <a:prstGeom prst="rect">
            <a:avLst/>
          </a:prstGeom>
          <a:solidFill>
            <a:srgbClr val="F5F7F6"/>
          </a:solidFill>
          <a:ln/>
          <a:effectLst>
            <a:outerShdw blurRad="50800" dist="12700" dir="8100000" algn="bl" rotWithShape="0">
              <a:srgbClr val="000000">
                <a:alpha val="10000"/>
              </a:srgbClr>
            </a:outerShdw>
          </a:effectLst>
        </p:spPr>
        <p:txBody>
          <a:bodyPr/>
          <a:lstStyle/>
          <a:p>
            <a:endParaRPr lang="en-US"/>
          </a:p>
        </p:txBody>
      </p:sp>
      <p:sp>
        <p:nvSpPr>
          <p:cNvPr id="17" name="Text 15"/>
          <p:cNvSpPr/>
          <p:nvPr/>
        </p:nvSpPr>
        <p:spPr>
          <a:xfrm>
            <a:off x="5212080" y="1188720"/>
            <a:ext cx="3291840" cy="274320"/>
          </a:xfrm>
          <a:prstGeom prst="rect">
            <a:avLst/>
          </a:prstGeom>
          <a:noFill/>
          <a:ln/>
        </p:spPr>
        <p:txBody>
          <a:bodyPr wrap="square" lIns="0" tIns="0" rIns="0" bIns="0" rtlCol="0" anchor="ctr"/>
          <a:lstStyle/>
          <a:p>
            <a:pPr marL="0" indent="0">
              <a:buNone/>
            </a:pPr>
            <a:r>
              <a:rPr lang="en-US" sz="1300" b="1" dirty="0">
                <a:solidFill>
                  <a:srgbClr val="024731"/>
                </a:solidFill>
                <a:latin typeface="Open Sans" pitchFamily="34" charset="0"/>
                <a:ea typeface="Open Sans" pitchFamily="34" charset="-122"/>
                <a:cs typeface="Open Sans" pitchFamily="34" charset="-120"/>
              </a:rPr>
              <a:t>Six Ratio Categories</a:t>
            </a:r>
            <a:endParaRPr lang="en-US" sz="1300" dirty="0"/>
          </a:p>
        </p:txBody>
      </p:sp>
      <p:sp>
        <p:nvSpPr>
          <p:cNvPr id="18" name="Shape 16"/>
          <p:cNvSpPr/>
          <p:nvPr/>
        </p:nvSpPr>
        <p:spPr>
          <a:xfrm>
            <a:off x="5303520" y="1618488"/>
            <a:ext cx="228600" cy="228600"/>
          </a:xfrm>
          <a:prstGeom prst="ellipse">
            <a:avLst/>
          </a:prstGeom>
          <a:solidFill>
            <a:srgbClr val="024731"/>
          </a:solidFill>
          <a:ln/>
        </p:spPr>
        <p:txBody>
          <a:bodyPr/>
          <a:lstStyle/>
          <a:p>
            <a:endParaRPr lang="en-US"/>
          </a:p>
        </p:txBody>
      </p:sp>
      <p:sp>
        <p:nvSpPr>
          <p:cNvPr id="19" name="Text 17"/>
          <p:cNvSpPr/>
          <p:nvPr/>
        </p:nvSpPr>
        <p:spPr>
          <a:xfrm>
            <a:off x="5303520" y="1618488"/>
            <a:ext cx="228600" cy="228600"/>
          </a:xfrm>
          <a:prstGeom prst="rect">
            <a:avLst/>
          </a:prstGeom>
          <a:noFill/>
          <a:ln/>
        </p:spPr>
        <p:txBody>
          <a:bodyPr wrap="square" rtlCol="0" anchor="ctr"/>
          <a:lstStyle/>
          <a:p>
            <a:pPr marL="0" indent="0" algn="ctr">
              <a:buNone/>
            </a:pPr>
            <a:r>
              <a:rPr lang="en-US" sz="900" b="1" dirty="0">
                <a:solidFill>
                  <a:srgbClr val="FFFFFF"/>
                </a:solidFill>
                <a:latin typeface="Open Sans" pitchFamily="34" charset="0"/>
                <a:ea typeface="Open Sans" pitchFamily="34" charset="-122"/>
                <a:cs typeface="Open Sans" pitchFamily="34" charset="-120"/>
              </a:rPr>
              <a:t>1</a:t>
            </a:r>
            <a:endParaRPr lang="en-US" sz="900" dirty="0"/>
          </a:p>
        </p:txBody>
      </p:sp>
      <p:sp>
        <p:nvSpPr>
          <p:cNvPr id="20" name="Text 18"/>
          <p:cNvSpPr/>
          <p:nvPr/>
        </p:nvSpPr>
        <p:spPr>
          <a:xfrm>
            <a:off x="5623560" y="1581912"/>
            <a:ext cx="2880360" cy="201168"/>
          </a:xfrm>
          <a:prstGeom prst="rect">
            <a:avLst/>
          </a:prstGeom>
          <a:noFill/>
          <a:ln/>
        </p:spPr>
        <p:txBody>
          <a:bodyPr wrap="square" lIns="0" tIns="0" rIns="0" bIns="0" rtlCol="0" anchor="ctr"/>
          <a:lstStyle/>
          <a:p>
            <a:pPr marL="0" indent="0">
              <a:buNone/>
            </a:pPr>
            <a:r>
              <a:rPr lang="en-US" sz="1100" b="1" dirty="0">
                <a:solidFill>
                  <a:srgbClr val="0D0D0D"/>
                </a:solidFill>
                <a:latin typeface="Open Sans" pitchFamily="34" charset="0"/>
                <a:ea typeface="Open Sans" pitchFamily="34" charset="-122"/>
                <a:cs typeface="Open Sans" pitchFamily="34" charset="-120"/>
              </a:rPr>
              <a:t>Performance</a:t>
            </a:r>
            <a:endParaRPr lang="en-US" sz="1100" dirty="0"/>
          </a:p>
        </p:txBody>
      </p:sp>
      <p:sp>
        <p:nvSpPr>
          <p:cNvPr id="21" name="Text 19"/>
          <p:cNvSpPr/>
          <p:nvPr/>
        </p:nvSpPr>
        <p:spPr>
          <a:xfrm>
            <a:off x="5623560" y="1783080"/>
            <a:ext cx="2880360" cy="201168"/>
          </a:xfrm>
          <a:prstGeom prst="rect">
            <a:avLst/>
          </a:prstGeom>
          <a:noFill/>
          <a:ln/>
        </p:spPr>
        <p:txBody>
          <a:bodyPr wrap="square" lIns="0" tIns="0" rIns="0" bIns="0" rtlCol="0" anchor="ctr"/>
          <a:lstStyle/>
          <a:p>
            <a:pPr marL="0" indent="0">
              <a:buNone/>
            </a:pPr>
            <a:r>
              <a:rPr lang="en-US" sz="900" dirty="0">
                <a:solidFill>
                  <a:srgbClr val="6B7280"/>
                </a:solidFill>
                <a:latin typeface="Open Sans" pitchFamily="34" charset="0"/>
                <a:ea typeface="Open Sans" pitchFamily="34" charset="-122"/>
                <a:cs typeface="Open Sans" pitchFamily="34" charset="-120"/>
              </a:rPr>
              <a:t>MVA, Market-to-Book, EVA</a:t>
            </a:r>
            <a:endParaRPr lang="en-US" sz="900" dirty="0"/>
          </a:p>
        </p:txBody>
      </p:sp>
      <p:sp>
        <p:nvSpPr>
          <p:cNvPr id="22" name="Shape 20"/>
          <p:cNvSpPr/>
          <p:nvPr/>
        </p:nvSpPr>
        <p:spPr>
          <a:xfrm>
            <a:off x="5303520" y="2103120"/>
            <a:ext cx="228600" cy="228600"/>
          </a:xfrm>
          <a:prstGeom prst="ellipse">
            <a:avLst/>
          </a:prstGeom>
          <a:solidFill>
            <a:srgbClr val="024731"/>
          </a:solidFill>
          <a:ln/>
        </p:spPr>
        <p:txBody>
          <a:bodyPr/>
          <a:lstStyle/>
          <a:p>
            <a:endParaRPr lang="en-US"/>
          </a:p>
        </p:txBody>
      </p:sp>
      <p:sp>
        <p:nvSpPr>
          <p:cNvPr id="23" name="Text 21"/>
          <p:cNvSpPr/>
          <p:nvPr/>
        </p:nvSpPr>
        <p:spPr>
          <a:xfrm>
            <a:off x="5303520" y="2103120"/>
            <a:ext cx="228600" cy="228600"/>
          </a:xfrm>
          <a:prstGeom prst="rect">
            <a:avLst/>
          </a:prstGeom>
          <a:noFill/>
          <a:ln/>
        </p:spPr>
        <p:txBody>
          <a:bodyPr wrap="square" rtlCol="0" anchor="ctr"/>
          <a:lstStyle/>
          <a:p>
            <a:pPr marL="0" indent="0" algn="ctr">
              <a:buNone/>
            </a:pPr>
            <a:r>
              <a:rPr lang="en-US" sz="900" b="1" dirty="0">
                <a:solidFill>
                  <a:srgbClr val="FFFFFF"/>
                </a:solidFill>
                <a:latin typeface="Open Sans" pitchFamily="34" charset="0"/>
                <a:ea typeface="Open Sans" pitchFamily="34" charset="-122"/>
                <a:cs typeface="Open Sans" pitchFamily="34" charset="-120"/>
              </a:rPr>
              <a:t>2</a:t>
            </a:r>
            <a:endParaRPr lang="en-US" sz="900" dirty="0"/>
          </a:p>
        </p:txBody>
      </p:sp>
      <p:sp>
        <p:nvSpPr>
          <p:cNvPr id="24" name="Text 22"/>
          <p:cNvSpPr/>
          <p:nvPr/>
        </p:nvSpPr>
        <p:spPr>
          <a:xfrm>
            <a:off x="5623560" y="2066544"/>
            <a:ext cx="2880360" cy="201168"/>
          </a:xfrm>
          <a:prstGeom prst="rect">
            <a:avLst/>
          </a:prstGeom>
          <a:noFill/>
          <a:ln/>
        </p:spPr>
        <p:txBody>
          <a:bodyPr wrap="square" lIns="0" tIns="0" rIns="0" bIns="0" rtlCol="0" anchor="ctr"/>
          <a:lstStyle/>
          <a:p>
            <a:pPr marL="0" indent="0">
              <a:buNone/>
            </a:pPr>
            <a:r>
              <a:rPr lang="en-US" sz="1100" b="1" dirty="0">
                <a:solidFill>
                  <a:srgbClr val="0D0D0D"/>
                </a:solidFill>
                <a:latin typeface="Open Sans" pitchFamily="34" charset="0"/>
                <a:ea typeface="Open Sans" pitchFamily="34" charset="-122"/>
                <a:cs typeface="Open Sans" pitchFamily="34" charset="-120"/>
              </a:rPr>
              <a:t>Profitability</a:t>
            </a:r>
            <a:endParaRPr lang="en-US" sz="1100" dirty="0"/>
          </a:p>
        </p:txBody>
      </p:sp>
      <p:sp>
        <p:nvSpPr>
          <p:cNvPr id="25" name="Text 23"/>
          <p:cNvSpPr/>
          <p:nvPr/>
        </p:nvSpPr>
        <p:spPr>
          <a:xfrm>
            <a:off x="5623560" y="2267712"/>
            <a:ext cx="2880360" cy="201168"/>
          </a:xfrm>
          <a:prstGeom prst="rect">
            <a:avLst/>
          </a:prstGeom>
          <a:noFill/>
          <a:ln/>
        </p:spPr>
        <p:txBody>
          <a:bodyPr wrap="square" lIns="0" tIns="0" rIns="0" bIns="0" rtlCol="0" anchor="ctr"/>
          <a:lstStyle/>
          <a:p>
            <a:pPr marL="0" indent="0">
              <a:buNone/>
            </a:pPr>
            <a:r>
              <a:rPr lang="en-US" sz="900" dirty="0">
                <a:solidFill>
                  <a:srgbClr val="6B7280"/>
                </a:solidFill>
                <a:latin typeface="Open Sans" pitchFamily="34" charset="0"/>
                <a:ea typeface="Open Sans" pitchFamily="34" charset="-122"/>
                <a:cs typeface="Open Sans" pitchFamily="34" charset="-120"/>
              </a:rPr>
              <a:t>ROA, ROC, ROE</a:t>
            </a:r>
            <a:endParaRPr lang="en-US" sz="900" dirty="0"/>
          </a:p>
        </p:txBody>
      </p:sp>
      <p:sp>
        <p:nvSpPr>
          <p:cNvPr id="26" name="Shape 24"/>
          <p:cNvSpPr/>
          <p:nvPr/>
        </p:nvSpPr>
        <p:spPr>
          <a:xfrm>
            <a:off x="5303520" y="2587752"/>
            <a:ext cx="228600" cy="228600"/>
          </a:xfrm>
          <a:prstGeom prst="ellipse">
            <a:avLst/>
          </a:prstGeom>
          <a:solidFill>
            <a:srgbClr val="024731"/>
          </a:solidFill>
          <a:ln/>
        </p:spPr>
        <p:txBody>
          <a:bodyPr/>
          <a:lstStyle/>
          <a:p>
            <a:endParaRPr lang="en-US"/>
          </a:p>
        </p:txBody>
      </p:sp>
      <p:sp>
        <p:nvSpPr>
          <p:cNvPr id="27" name="Text 25"/>
          <p:cNvSpPr/>
          <p:nvPr/>
        </p:nvSpPr>
        <p:spPr>
          <a:xfrm>
            <a:off x="5303520" y="2587752"/>
            <a:ext cx="228600" cy="228600"/>
          </a:xfrm>
          <a:prstGeom prst="rect">
            <a:avLst/>
          </a:prstGeom>
          <a:noFill/>
          <a:ln/>
        </p:spPr>
        <p:txBody>
          <a:bodyPr wrap="square" rtlCol="0" anchor="ctr"/>
          <a:lstStyle/>
          <a:p>
            <a:pPr marL="0" indent="0" algn="ctr">
              <a:buNone/>
            </a:pPr>
            <a:r>
              <a:rPr lang="en-US" sz="900" b="1" dirty="0">
                <a:solidFill>
                  <a:srgbClr val="FFFFFF"/>
                </a:solidFill>
                <a:latin typeface="Open Sans" pitchFamily="34" charset="0"/>
                <a:ea typeface="Open Sans" pitchFamily="34" charset="-122"/>
                <a:cs typeface="Open Sans" pitchFamily="34" charset="-120"/>
              </a:rPr>
              <a:t>3</a:t>
            </a:r>
            <a:endParaRPr lang="en-US" sz="900" dirty="0"/>
          </a:p>
        </p:txBody>
      </p:sp>
      <p:sp>
        <p:nvSpPr>
          <p:cNvPr id="28" name="Text 26"/>
          <p:cNvSpPr/>
          <p:nvPr/>
        </p:nvSpPr>
        <p:spPr>
          <a:xfrm>
            <a:off x="5623560" y="2551176"/>
            <a:ext cx="2880360" cy="201168"/>
          </a:xfrm>
          <a:prstGeom prst="rect">
            <a:avLst/>
          </a:prstGeom>
          <a:noFill/>
          <a:ln/>
        </p:spPr>
        <p:txBody>
          <a:bodyPr wrap="square" lIns="0" tIns="0" rIns="0" bIns="0" rtlCol="0" anchor="ctr"/>
          <a:lstStyle/>
          <a:p>
            <a:pPr marL="0" indent="0">
              <a:buNone/>
            </a:pPr>
            <a:r>
              <a:rPr lang="en-US" sz="1100" b="1" dirty="0">
                <a:solidFill>
                  <a:srgbClr val="0D0D0D"/>
                </a:solidFill>
                <a:latin typeface="Open Sans" pitchFamily="34" charset="0"/>
                <a:ea typeface="Open Sans" pitchFamily="34" charset="-122"/>
                <a:cs typeface="Open Sans" pitchFamily="34" charset="-120"/>
              </a:rPr>
              <a:t>Efficiency</a:t>
            </a:r>
            <a:endParaRPr lang="en-US" sz="1100" dirty="0"/>
          </a:p>
        </p:txBody>
      </p:sp>
      <p:sp>
        <p:nvSpPr>
          <p:cNvPr id="29" name="Text 27"/>
          <p:cNvSpPr/>
          <p:nvPr/>
        </p:nvSpPr>
        <p:spPr>
          <a:xfrm>
            <a:off x="5623560" y="2752344"/>
            <a:ext cx="2880360" cy="201168"/>
          </a:xfrm>
          <a:prstGeom prst="rect">
            <a:avLst/>
          </a:prstGeom>
          <a:noFill/>
          <a:ln/>
        </p:spPr>
        <p:txBody>
          <a:bodyPr wrap="square" lIns="0" tIns="0" rIns="0" bIns="0" rtlCol="0" anchor="ctr"/>
          <a:lstStyle/>
          <a:p>
            <a:pPr marL="0" indent="0">
              <a:buNone/>
            </a:pPr>
            <a:r>
              <a:rPr lang="en-US" sz="900" dirty="0">
                <a:solidFill>
                  <a:srgbClr val="6B7280"/>
                </a:solidFill>
                <a:latin typeface="Open Sans" pitchFamily="34" charset="0"/>
                <a:ea typeface="Open Sans" pitchFamily="34" charset="-122"/>
                <a:cs typeface="Open Sans" pitchFamily="34" charset="-120"/>
              </a:rPr>
              <a:t>Asset Turnover, Inventory Days, Collection Period</a:t>
            </a:r>
            <a:endParaRPr lang="en-US" sz="900" dirty="0"/>
          </a:p>
        </p:txBody>
      </p:sp>
      <p:sp>
        <p:nvSpPr>
          <p:cNvPr id="30" name="Shape 28"/>
          <p:cNvSpPr/>
          <p:nvPr/>
        </p:nvSpPr>
        <p:spPr>
          <a:xfrm>
            <a:off x="5303520" y="3072384"/>
            <a:ext cx="228600" cy="228600"/>
          </a:xfrm>
          <a:prstGeom prst="ellipse">
            <a:avLst/>
          </a:prstGeom>
          <a:solidFill>
            <a:srgbClr val="024731"/>
          </a:solidFill>
          <a:ln/>
        </p:spPr>
        <p:txBody>
          <a:bodyPr/>
          <a:lstStyle/>
          <a:p>
            <a:endParaRPr lang="en-US"/>
          </a:p>
        </p:txBody>
      </p:sp>
      <p:sp>
        <p:nvSpPr>
          <p:cNvPr id="31" name="Text 29"/>
          <p:cNvSpPr/>
          <p:nvPr/>
        </p:nvSpPr>
        <p:spPr>
          <a:xfrm>
            <a:off x="5303520" y="3072384"/>
            <a:ext cx="228600" cy="228600"/>
          </a:xfrm>
          <a:prstGeom prst="rect">
            <a:avLst/>
          </a:prstGeom>
          <a:noFill/>
          <a:ln/>
        </p:spPr>
        <p:txBody>
          <a:bodyPr wrap="square" rtlCol="0" anchor="ctr"/>
          <a:lstStyle/>
          <a:p>
            <a:pPr marL="0" indent="0" algn="ctr">
              <a:buNone/>
            </a:pPr>
            <a:r>
              <a:rPr lang="en-US" sz="900" b="1" dirty="0">
                <a:solidFill>
                  <a:srgbClr val="FFFFFF"/>
                </a:solidFill>
                <a:latin typeface="Open Sans" pitchFamily="34" charset="0"/>
                <a:ea typeface="Open Sans" pitchFamily="34" charset="-122"/>
                <a:cs typeface="Open Sans" pitchFamily="34" charset="-120"/>
              </a:rPr>
              <a:t>4</a:t>
            </a:r>
            <a:endParaRPr lang="en-US" sz="900" dirty="0"/>
          </a:p>
        </p:txBody>
      </p:sp>
      <p:sp>
        <p:nvSpPr>
          <p:cNvPr id="32" name="Text 30"/>
          <p:cNvSpPr/>
          <p:nvPr/>
        </p:nvSpPr>
        <p:spPr>
          <a:xfrm>
            <a:off x="5623560" y="3035808"/>
            <a:ext cx="2880360" cy="201168"/>
          </a:xfrm>
          <a:prstGeom prst="rect">
            <a:avLst/>
          </a:prstGeom>
          <a:noFill/>
          <a:ln/>
        </p:spPr>
        <p:txBody>
          <a:bodyPr wrap="square" lIns="0" tIns="0" rIns="0" bIns="0" rtlCol="0" anchor="ctr"/>
          <a:lstStyle/>
          <a:p>
            <a:pPr marL="0" indent="0">
              <a:buNone/>
            </a:pPr>
            <a:r>
              <a:rPr lang="en-US" sz="1100" b="1" dirty="0">
                <a:solidFill>
                  <a:srgbClr val="0D0D0D"/>
                </a:solidFill>
                <a:latin typeface="Open Sans" pitchFamily="34" charset="0"/>
                <a:ea typeface="Open Sans" pitchFamily="34" charset="-122"/>
                <a:cs typeface="Open Sans" pitchFamily="34" charset="-120"/>
              </a:rPr>
              <a:t>Leverage</a:t>
            </a:r>
            <a:endParaRPr lang="en-US" sz="1100" dirty="0"/>
          </a:p>
        </p:txBody>
      </p:sp>
      <p:sp>
        <p:nvSpPr>
          <p:cNvPr id="33" name="Text 31"/>
          <p:cNvSpPr/>
          <p:nvPr/>
        </p:nvSpPr>
        <p:spPr>
          <a:xfrm>
            <a:off x="5623560" y="3236976"/>
            <a:ext cx="2880360" cy="201168"/>
          </a:xfrm>
          <a:prstGeom prst="rect">
            <a:avLst/>
          </a:prstGeom>
          <a:noFill/>
          <a:ln/>
        </p:spPr>
        <p:txBody>
          <a:bodyPr wrap="square" lIns="0" tIns="0" rIns="0" bIns="0" rtlCol="0" anchor="ctr"/>
          <a:lstStyle/>
          <a:p>
            <a:pPr marL="0" indent="0">
              <a:buNone/>
            </a:pPr>
            <a:r>
              <a:rPr lang="en-US" sz="900" dirty="0">
                <a:solidFill>
                  <a:srgbClr val="6B7280"/>
                </a:solidFill>
                <a:latin typeface="Open Sans" pitchFamily="34" charset="0"/>
                <a:ea typeface="Open Sans" pitchFamily="34" charset="-122"/>
                <a:cs typeface="Open Sans" pitchFamily="34" charset="-120"/>
              </a:rPr>
              <a:t>Debt Ratio, TIE, Cash Coverage, Debt Burden</a:t>
            </a:r>
            <a:endParaRPr lang="en-US" sz="900" dirty="0"/>
          </a:p>
        </p:txBody>
      </p:sp>
      <p:sp>
        <p:nvSpPr>
          <p:cNvPr id="34" name="Shape 32"/>
          <p:cNvSpPr/>
          <p:nvPr/>
        </p:nvSpPr>
        <p:spPr>
          <a:xfrm>
            <a:off x="5303520" y="3557016"/>
            <a:ext cx="228600" cy="228600"/>
          </a:xfrm>
          <a:prstGeom prst="ellipse">
            <a:avLst/>
          </a:prstGeom>
          <a:solidFill>
            <a:srgbClr val="024731"/>
          </a:solidFill>
          <a:ln/>
        </p:spPr>
        <p:txBody>
          <a:bodyPr/>
          <a:lstStyle/>
          <a:p>
            <a:endParaRPr lang="en-US"/>
          </a:p>
        </p:txBody>
      </p:sp>
      <p:sp>
        <p:nvSpPr>
          <p:cNvPr id="35" name="Text 33"/>
          <p:cNvSpPr/>
          <p:nvPr/>
        </p:nvSpPr>
        <p:spPr>
          <a:xfrm>
            <a:off x="5303520" y="3557016"/>
            <a:ext cx="228600" cy="228600"/>
          </a:xfrm>
          <a:prstGeom prst="rect">
            <a:avLst/>
          </a:prstGeom>
          <a:noFill/>
          <a:ln/>
        </p:spPr>
        <p:txBody>
          <a:bodyPr wrap="square" rtlCol="0" anchor="ctr"/>
          <a:lstStyle/>
          <a:p>
            <a:pPr marL="0" indent="0" algn="ctr">
              <a:buNone/>
            </a:pPr>
            <a:r>
              <a:rPr lang="en-US" sz="900" b="1" dirty="0">
                <a:solidFill>
                  <a:srgbClr val="FFFFFF"/>
                </a:solidFill>
                <a:latin typeface="Open Sans" pitchFamily="34" charset="0"/>
                <a:ea typeface="Open Sans" pitchFamily="34" charset="-122"/>
                <a:cs typeface="Open Sans" pitchFamily="34" charset="-120"/>
              </a:rPr>
              <a:t>5</a:t>
            </a:r>
            <a:endParaRPr lang="en-US" sz="900" dirty="0"/>
          </a:p>
        </p:txBody>
      </p:sp>
      <p:sp>
        <p:nvSpPr>
          <p:cNvPr id="36" name="Text 34"/>
          <p:cNvSpPr/>
          <p:nvPr/>
        </p:nvSpPr>
        <p:spPr>
          <a:xfrm>
            <a:off x="5623560" y="3520440"/>
            <a:ext cx="2880360" cy="201168"/>
          </a:xfrm>
          <a:prstGeom prst="rect">
            <a:avLst/>
          </a:prstGeom>
          <a:noFill/>
          <a:ln/>
        </p:spPr>
        <p:txBody>
          <a:bodyPr wrap="square" lIns="0" tIns="0" rIns="0" bIns="0" rtlCol="0" anchor="ctr"/>
          <a:lstStyle/>
          <a:p>
            <a:pPr marL="0" indent="0">
              <a:buNone/>
            </a:pPr>
            <a:r>
              <a:rPr lang="en-US" sz="1100" b="1" dirty="0">
                <a:solidFill>
                  <a:srgbClr val="0D0D0D"/>
                </a:solidFill>
                <a:latin typeface="Open Sans" pitchFamily="34" charset="0"/>
                <a:ea typeface="Open Sans" pitchFamily="34" charset="-122"/>
                <a:cs typeface="Open Sans" pitchFamily="34" charset="-120"/>
              </a:rPr>
              <a:t>Liquidity</a:t>
            </a:r>
            <a:endParaRPr lang="en-US" sz="1100" dirty="0"/>
          </a:p>
        </p:txBody>
      </p:sp>
      <p:sp>
        <p:nvSpPr>
          <p:cNvPr id="37" name="Text 35"/>
          <p:cNvSpPr/>
          <p:nvPr/>
        </p:nvSpPr>
        <p:spPr>
          <a:xfrm>
            <a:off x="5623560" y="3721608"/>
            <a:ext cx="2880360" cy="201168"/>
          </a:xfrm>
          <a:prstGeom prst="rect">
            <a:avLst/>
          </a:prstGeom>
          <a:noFill/>
          <a:ln/>
        </p:spPr>
        <p:txBody>
          <a:bodyPr wrap="square" lIns="0" tIns="0" rIns="0" bIns="0" rtlCol="0" anchor="ctr"/>
          <a:lstStyle/>
          <a:p>
            <a:pPr marL="0" indent="0">
              <a:buNone/>
            </a:pPr>
            <a:r>
              <a:rPr lang="en-US" sz="900" dirty="0">
                <a:solidFill>
                  <a:srgbClr val="6B7280"/>
                </a:solidFill>
                <a:latin typeface="Open Sans" pitchFamily="34" charset="0"/>
                <a:ea typeface="Open Sans" pitchFamily="34" charset="-122"/>
                <a:cs typeface="Open Sans" pitchFamily="34" charset="-120"/>
              </a:rPr>
              <a:t>Current Ratio, Quick Ratio, Cash Ratio, NWC</a:t>
            </a:r>
            <a:endParaRPr lang="en-US" sz="900" dirty="0"/>
          </a:p>
        </p:txBody>
      </p:sp>
      <p:sp>
        <p:nvSpPr>
          <p:cNvPr id="38" name="Shape 36"/>
          <p:cNvSpPr/>
          <p:nvPr/>
        </p:nvSpPr>
        <p:spPr>
          <a:xfrm>
            <a:off x="5303520" y="4041648"/>
            <a:ext cx="228600" cy="228600"/>
          </a:xfrm>
          <a:prstGeom prst="ellipse">
            <a:avLst/>
          </a:prstGeom>
          <a:solidFill>
            <a:srgbClr val="024731"/>
          </a:solidFill>
          <a:ln/>
        </p:spPr>
        <p:txBody>
          <a:bodyPr/>
          <a:lstStyle/>
          <a:p>
            <a:endParaRPr lang="en-US"/>
          </a:p>
        </p:txBody>
      </p:sp>
      <p:sp>
        <p:nvSpPr>
          <p:cNvPr id="39" name="Text 37"/>
          <p:cNvSpPr/>
          <p:nvPr/>
        </p:nvSpPr>
        <p:spPr>
          <a:xfrm>
            <a:off x="5303520" y="4041648"/>
            <a:ext cx="228600" cy="228600"/>
          </a:xfrm>
          <a:prstGeom prst="rect">
            <a:avLst/>
          </a:prstGeom>
          <a:noFill/>
          <a:ln/>
        </p:spPr>
        <p:txBody>
          <a:bodyPr wrap="square" rtlCol="0" anchor="ctr"/>
          <a:lstStyle/>
          <a:p>
            <a:pPr marL="0" indent="0" algn="ctr">
              <a:buNone/>
            </a:pPr>
            <a:r>
              <a:rPr lang="en-US" sz="900" b="1" dirty="0">
                <a:solidFill>
                  <a:srgbClr val="FFFFFF"/>
                </a:solidFill>
                <a:latin typeface="Open Sans" pitchFamily="34" charset="0"/>
                <a:ea typeface="Open Sans" pitchFamily="34" charset="-122"/>
                <a:cs typeface="Open Sans" pitchFamily="34" charset="-120"/>
              </a:rPr>
              <a:t>6</a:t>
            </a:r>
            <a:endParaRPr lang="en-US" sz="900" dirty="0"/>
          </a:p>
        </p:txBody>
      </p:sp>
      <p:sp>
        <p:nvSpPr>
          <p:cNvPr id="40" name="Text 38"/>
          <p:cNvSpPr/>
          <p:nvPr/>
        </p:nvSpPr>
        <p:spPr>
          <a:xfrm>
            <a:off x="5623560" y="4005072"/>
            <a:ext cx="2880360" cy="201168"/>
          </a:xfrm>
          <a:prstGeom prst="rect">
            <a:avLst/>
          </a:prstGeom>
          <a:noFill/>
          <a:ln/>
        </p:spPr>
        <p:txBody>
          <a:bodyPr wrap="square" lIns="0" tIns="0" rIns="0" bIns="0" rtlCol="0" anchor="ctr"/>
          <a:lstStyle/>
          <a:p>
            <a:pPr marL="0" indent="0">
              <a:buNone/>
            </a:pPr>
            <a:r>
              <a:rPr lang="en-US" sz="1100" b="1" dirty="0">
                <a:solidFill>
                  <a:srgbClr val="0D0D0D"/>
                </a:solidFill>
                <a:latin typeface="Open Sans" pitchFamily="34" charset="0"/>
                <a:ea typeface="Open Sans" pitchFamily="34" charset="-122"/>
                <a:cs typeface="Open Sans" pitchFamily="34" charset="-120"/>
              </a:rPr>
              <a:t>Du Pont</a:t>
            </a:r>
            <a:endParaRPr lang="en-US" sz="1100" dirty="0"/>
          </a:p>
        </p:txBody>
      </p:sp>
      <p:sp>
        <p:nvSpPr>
          <p:cNvPr id="41" name="Text 39"/>
          <p:cNvSpPr/>
          <p:nvPr/>
        </p:nvSpPr>
        <p:spPr>
          <a:xfrm>
            <a:off x="5623560" y="4206240"/>
            <a:ext cx="2880360" cy="201168"/>
          </a:xfrm>
          <a:prstGeom prst="rect">
            <a:avLst/>
          </a:prstGeom>
          <a:noFill/>
          <a:ln/>
        </p:spPr>
        <p:txBody>
          <a:bodyPr wrap="square" lIns="0" tIns="0" rIns="0" bIns="0" rtlCol="0" anchor="ctr"/>
          <a:lstStyle/>
          <a:p>
            <a:pPr marL="0" indent="0">
              <a:buNone/>
            </a:pPr>
            <a:r>
              <a:rPr lang="en-US" sz="900" dirty="0">
                <a:solidFill>
                  <a:srgbClr val="6B7280"/>
                </a:solidFill>
                <a:latin typeface="Open Sans" pitchFamily="34" charset="0"/>
                <a:ea typeface="Open Sans" pitchFamily="34" charset="-122"/>
                <a:cs typeface="Open Sans" pitchFamily="34" charset="-120"/>
              </a:rPr>
              <a:t>ROA &amp; ROE decomposition</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24731"/>
          </a:solidFill>
          <a:ln/>
        </p:spPr>
        <p:txBody>
          <a:bodyPr/>
          <a:lstStyle/>
          <a:p>
            <a:endParaRPr lang="en-US"/>
          </a:p>
        </p:txBody>
      </p:sp>
      <p:sp>
        <p:nvSpPr>
          <p:cNvPr id="3" name="Shape 1"/>
          <p:cNvSpPr/>
          <p:nvPr/>
        </p:nvSpPr>
        <p:spPr>
          <a:xfrm>
            <a:off x="0" y="4709160"/>
            <a:ext cx="9144000" cy="434340"/>
          </a:xfrm>
          <a:prstGeom prst="rect">
            <a:avLst/>
          </a:prstGeom>
          <a:solidFill>
            <a:srgbClr val="36454F"/>
          </a:solidFill>
          <a:ln/>
        </p:spPr>
        <p:txBody>
          <a:bodyPr/>
          <a:lstStyle/>
          <a:p>
            <a:endParaRPr lang="en-US"/>
          </a:p>
        </p:txBody>
      </p:sp>
      <p:sp>
        <p:nvSpPr>
          <p:cNvPr id="4" name="Text 2"/>
          <p:cNvSpPr/>
          <p:nvPr/>
        </p:nvSpPr>
        <p:spPr>
          <a:xfrm>
            <a:off x="457200" y="4754880"/>
            <a:ext cx="8229600" cy="320040"/>
          </a:xfrm>
          <a:prstGeom prst="rect">
            <a:avLst/>
          </a:prstGeom>
          <a:noFill/>
          <a:ln/>
        </p:spPr>
        <p:txBody>
          <a:bodyPr wrap="square" rtlCol="0" anchor="ctr"/>
          <a:lstStyle/>
          <a:p>
            <a:pPr marL="0" indent="0" algn="ctr">
              <a:buNone/>
            </a:pPr>
            <a:r>
              <a:rPr lang="en-US" sz="900" dirty="0">
                <a:solidFill>
                  <a:srgbClr val="8A9BAD"/>
                </a:solidFill>
                <a:latin typeface="Open Sans" pitchFamily="34" charset="0"/>
                <a:ea typeface="Open Sans" pitchFamily="34" charset="-122"/>
                <a:cs typeface="Open Sans" pitchFamily="34" charset="-120"/>
              </a:rPr>
              <a:t>Stage 1  |  Excel Onboarding  |  performance-ratios-template.xlsx</a:t>
            </a:r>
            <a:endParaRPr lang="en-US" sz="900" dirty="0"/>
          </a:p>
        </p:txBody>
      </p:sp>
      <p:sp>
        <p:nvSpPr>
          <p:cNvPr id="5" name="Text 3"/>
          <p:cNvSpPr/>
          <p:nvPr/>
        </p:nvSpPr>
        <p:spPr>
          <a:xfrm>
            <a:off x="731520" y="320040"/>
            <a:ext cx="7680960" cy="457200"/>
          </a:xfrm>
          <a:prstGeom prst="rect">
            <a:avLst/>
          </a:prstGeom>
          <a:noFill/>
          <a:ln/>
        </p:spPr>
        <p:txBody>
          <a:bodyPr wrap="square" lIns="0" tIns="0" rIns="0" bIns="0" rtlCol="0" anchor="ctr"/>
          <a:lstStyle/>
          <a:p>
            <a:pPr marL="0" indent="0">
              <a:buNone/>
            </a:pPr>
            <a:r>
              <a:rPr lang="en-US" sz="2800" b="1" dirty="0">
                <a:solidFill>
                  <a:srgbClr val="FFFFFF"/>
                </a:solidFill>
                <a:latin typeface="Open Sans" pitchFamily="34" charset="0"/>
                <a:ea typeface="Open Sans" pitchFamily="34" charset="-122"/>
                <a:cs typeface="Open Sans" pitchFamily="34" charset="-120"/>
              </a:rPr>
              <a:t>Excel Tips Before You Build</a:t>
            </a:r>
            <a:endParaRPr lang="en-US" sz="2800" dirty="0"/>
          </a:p>
        </p:txBody>
      </p:sp>
      <p:sp>
        <p:nvSpPr>
          <p:cNvPr id="6" name="Text 4"/>
          <p:cNvSpPr/>
          <p:nvPr/>
        </p:nvSpPr>
        <p:spPr>
          <a:xfrm>
            <a:off x="731520" y="868680"/>
            <a:ext cx="7680960" cy="548640"/>
          </a:xfrm>
          <a:prstGeom prst="rect">
            <a:avLst/>
          </a:prstGeom>
          <a:noFill/>
          <a:ln/>
        </p:spPr>
        <p:txBody>
          <a:bodyPr wrap="square" lIns="0" tIns="0" rIns="0" bIns="0" rtlCol="0" anchor="ctr"/>
          <a:lstStyle/>
          <a:p>
            <a:pPr marL="0" indent="0">
              <a:lnSpc>
                <a:spcPct val="130000"/>
              </a:lnSpc>
              <a:buNone/>
            </a:pPr>
            <a:r>
              <a:rPr lang="en-US" sz="1300" dirty="0">
                <a:solidFill>
                  <a:srgbClr val="5A6B7A"/>
                </a:solidFill>
                <a:latin typeface="Open Sans" pitchFamily="34" charset="0"/>
                <a:ea typeface="Open Sans" pitchFamily="34" charset="-122"/>
                <a:cs typeface="Open Sans" pitchFamily="34" charset="-120"/>
              </a:rPr>
              <a:t>Three things to know before you populate the template at Stage 3 — they save hours and prevent the most common mistakes EMBA students hit on their first ratio build.</a:t>
            </a:r>
            <a:endParaRPr lang="en-US" sz="1300" dirty="0"/>
          </a:p>
        </p:txBody>
      </p:sp>
      <p:sp>
        <p:nvSpPr>
          <p:cNvPr id="7" name="Shape 5"/>
          <p:cNvSpPr/>
          <p:nvPr/>
        </p:nvSpPr>
        <p:spPr>
          <a:xfrm>
            <a:off x="731520" y="1691640"/>
            <a:ext cx="2377440" cy="2606040"/>
          </a:xfrm>
          <a:prstGeom prst="rect">
            <a:avLst/>
          </a:prstGeom>
          <a:solidFill>
            <a:srgbClr val="FFFFFF"/>
          </a:solidFill>
          <a:ln/>
          <a:effectLst>
            <a:outerShdw blurRad="76200" dist="25400" dir="8100000" algn="bl" rotWithShape="0">
              <a:srgbClr val="000000">
                <a:alpha val="8000"/>
              </a:srgbClr>
            </a:outerShdw>
          </a:effectLst>
        </p:spPr>
        <p:txBody>
          <a:bodyPr/>
          <a:lstStyle/>
          <a:p>
            <a:endParaRPr lang="en-US"/>
          </a:p>
        </p:txBody>
      </p:sp>
      <p:pic>
        <p:nvPicPr>
          <p:cNvPr id="8" name="Image 0" descr="preencoded.png"/>
          <p:cNvPicPr>
            <a:picLocks noChangeAspect="1"/>
          </p:cNvPicPr>
          <p:nvPr/>
        </p:nvPicPr>
        <p:blipFill>
          <a:blip r:embed="rId2"/>
          <a:stretch>
            <a:fillRect/>
          </a:stretch>
        </p:blipFill>
        <p:spPr>
          <a:xfrm>
            <a:off x="1554480" y="1920240"/>
            <a:ext cx="457200" cy="457200"/>
          </a:xfrm>
          <a:prstGeom prst="rect">
            <a:avLst/>
          </a:prstGeom>
        </p:spPr>
      </p:pic>
      <p:sp>
        <p:nvSpPr>
          <p:cNvPr id="9" name="Text 6"/>
          <p:cNvSpPr/>
          <p:nvPr/>
        </p:nvSpPr>
        <p:spPr>
          <a:xfrm>
            <a:off x="868680" y="2514600"/>
            <a:ext cx="2103120" cy="320040"/>
          </a:xfrm>
          <a:prstGeom prst="rect">
            <a:avLst/>
          </a:prstGeom>
          <a:noFill/>
          <a:ln/>
        </p:spPr>
        <p:txBody>
          <a:bodyPr wrap="square" lIns="0" tIns="0" rIns="0" bIns="0" rtlCol="0" anchor="ctr"/>
          <a:lstStyle/>
          <a:p>
            <a:pPr marL="0" indent="0" algn="ctr">
              <a:buNone/>
            </a:pPr>
            <a:r>
              <a:rPr lang="en-US" sz="1400" b="1" dirty="0">
                <a:solidFill>
                  <a:srgbClr val="1E2530"/>
                </a:solidFill>
                <a:latin typeface="Open Sans" pitchFamily="34" charset="0"/>
                <a:ea typeface="Open Sans" pitchFamily="34" charset="-122"/>
                <a:cs typeface="Open Sans" pitchFamily="34" charset="-120"/>
              </a:rPr>
              <a:t>Named Ranges</a:t>
            </a:r>
            <a:endParaRPr lang="en-US" sz="1400" dirty="0"/>
          </a:p>
        </p:txBody>
      </p:sp>
      <p:sp>
        <p:nvSpPr>
          <p:cNvPr id="10" name="Text 7"/>
          <p:cNvSpPr/>
          <p:nvPr/>
        </p:nvSpPr>
        <p:spPr>
          <a:xfrm>
            <a:off x="868680" y="2880360"/>
            <a:ext cx="2103120" cy="1188720"/>
          </a:xfrm>
          <a:prstGeom prst="rect">
            <a:avLst/>
          </a:prstGeom>
          <a:noFill/>
          <a:ln/>
        </p:spPr>
        <p:txBody>
          <a:bodyPr wrap="square" lIns="0" tIns="0" rIns="0" bIns="0" rtlCol="0" anchor="t"/>
          <a:lstStyle/>
          <a:p>
            <a:pPr marL="0" indent="0" algn="ctr">
              <a:lnSpc>
                <a:spcPct val="140000"/>
              </a:lnSpc>
              <a:buNone/>
            </a:pPr>
            <a:r>
              <a:rPr lang="en-US" sz="1100" dirty="0">
                <a:solidFill>
                  <a:srgbClr val="5A6B7A"/>
                </a:solidFill>
                <a:latin typeface="Open Sans" pitchFamily="34" charset="0"/>
                <a:ea typeface="Open Sans" pitchFamily="34" charset="-122"/>
                <a:cs typeface="Open Sans" pitchFamily="34" charset="-120"/>
              </a:rPr>
              <a:t>Type a name in the Name Box (top-left of the formula bar) to define one. Reference any cell by name in formulas instead of A1 notation.</a:t>
            </a:r>
            <a:endParaRPr lang="en-US" sz="1100" dirty="0"/>
          </a:p>
        </p:txBody>
      </p:sp>
      <p:sp>
        <p:nvSpPr>
          <p:cNvPr id="11" name="Shape 8"/>
          <p:cNvSpPr/>
          <p:nvPr/>
        </p:nvSpPr>
        <p:spPr>
          <a:xfrm>
            <a:off x="3383280" y="1691640"/>
            <a:ext cx="2377440" cy="2606040"/>
          </a:xfrm>
          <a:prstGeom prst="rect">
            <a:avLst/>
          </a:prstGeom>
          <a:solidFill>
            <a:srgbClr val="FFFFFF"/>
          </a:solidFill>
          <a:ln/>
          <a:effectLst>
            <a:outerShdw blurRad="76200" dist="25400" dir="8100000" algn="bl" rotWithShape="0">
              <a:srgbClr val="000000">
                <a:alpha val="8000"/>
              </a:srgbClr>
            </a:outerShdw>
          </a:effectLst>
        </p:spPr>
        <p:txBody>
          <a:bodyPr/>
          <a:lstStyle/>
          <a:p>
            <a:endParaRPr lang="en-US"/>
          </a:p>
        </p:txBody>
      </p:sp>
      <p:pic>
        <p:nvPicPr>
          <p:cNvPr id="12" name="Image 1" descr="preencoded.png"/>
          <p:cNvPicPr>
            <a:picLocks noChangeAspect="1"/>
          </p:cNvPicPr>
          <p:nvPr/>
        </p:nvPicPr>
        <p:blipFill>
          <a:blip r:embed="rId3"/>
          <a:stretch>
            <a:fillRect/>
          </a:stretch>
        </p:blipFill>
        <p:spPr>
          <a:xfrm>
            <a:off x="4206240" y="1920240"/>
            <a:ext cx="457200" cy="457200"/>
          </a:xfrm>
          <a:prstGeom prst="rect">
            <a:avLst/>
          </a:prstGeom>
        </p:spPr>
      </p:pic>
      <p:sp>
        <p:nvSpPr>
          <p:cNvPr id="13" name="Text 9"/>
          <p:cNvSpPr/>
          <p:nvPr/>
        </p:nvSpPr>
        <p:spPr>
          <a:xfrm>
            <a:off x="3520440" y="2514600"/>
            <a:ext cx="2103120" cy="320040"/>
          </a:xfrm>
          <a:prstGeom prst="rect">
            <a:avLst/>
          </a:prstGeom>
          <a:noFill/>
          <a:ln/>
        </p:spPr>
        <p:txBody>
          <a:bodyPr wrap="square" lIns="0" tIns="0" rIns="0" bIns="0" rtlCol="0" anchor="ctr"/>
          <a:lstStyle/>
          <a:p>
            <a:pPr marL="0" indent="0" algn="ctr">
              <a:buNone/>
            </a:pPr>
            <a:r>
              <a:rPr lang="en-US" sz="1400" b="1" dirty="0">
                <a:solidFill>
                  <a:srgbClr val="1E2530"/>
                </a:solidFill>
                <a:latin typeface="Open Sans" pitchFamily="34" charset="0"/>
                <a:ea typeface="Open Sans" pitchFamily="34" charset="-122"/>
                <a:cs typeface="Open Sans" pitchFamily="34" charset="-120"/>
              </a:rPr>
              <a:t>Color Conventions</a:t>
            </a:r>
            <a:endParaRPr lang="en-US" sz="1400" dirty="0"/>
          </a:p>
        </p:txBody>
      </p:sp>
      <p:sp>
        <p:nvSpPr>
          <p:cNvPr id="14" name="Text 10"/>
          <p:cNvSpPr/>
          <p:nvPr/>
        </p:nvSpPr>
        <p:spPr>
          <a:xfrm>
            <a:off x="3520440" y="2880360"/>
            <a:ext cx="2103120" cy="1188720"/>
          </a:xfrm>
          <a:prstGeom prst="rect">
            <a:avLst/>
          </a:prstGeom>
          <a:noFill/>
          <a:ln/>
        </p:spPr>
        <p:txBody>
          <a:bodyPr wrap="square" lIns="0" tIns="0" rIns="0" bIns="0" rtlCol="0" anchor="t"/>
          <a:lstStyle/>
          <a:p>
            <a:pPr marL="0" indent="0" algn="ctr">
              <a:lnSpc>
                <a:spcPct val="140000"/>
              </a:lnSpc>
              <a:buNone/>
            </a:pPr>
            <a:r>
              <a:rPr lang="en-US" sz="1100" dirty="0">
                <a:solidFill>
                  <a:srgbClr val="5A6B7A"/>
                </a:solidFill>
                <a:latin typeface="Open Sans" pitchFamily="34" charset="0"/>
                <a:ea typeface="Open Sans" pitchFamily="34" charset="-122"/>
                <a:cs typeface="Open Sans" pitchFamily="34" charset="-120"/>
              </a:rPr>
              <a:t>Yellow = data inputs. Light blue = analyst assumptions. Green text = formulas (don't overwrite). Gray = computed ratio outputs.</a:t>
            </a:r>
            <a:endParaRPr lang="en-US" sz="1100" dirty="0"/>
          </a:p>
        </p:txBody>
      </p:sp>
      <p:sp>
        <p:nvSpPr>
          <p:cNvPr id="15" name="Shape 11"/>
          <p:cNvSpPr/>
          <p:nvPr/>
        </p:nvSpPr>
        <p:spPr>
          <a:xfrm>
            <a:off x="6035040" y="1691640"/>
            <a:ext cx="2377440" cy="2606040"/>
          </a:xfrm>
          <a:prstGeom prst="rect">
            <a:avLst/>
          </a:prstGeom>
          <a:solidFill>
            <a:srgbClr val="FFFFFF"/>
          </a:solidFill>
          <a:ln/>
          <a:effectLst>
            <a:outerShdw blurRad="76200" dist="25400" dir="8100000" algn="bl" rotWithShape="0">
              <a:srgbClr val="000000">
                <a:alpha val="8000"/>
              </a:srgbClr>
            </a:outerShdw>
          </a:effectLst>
        </p:spPr>
        <p:txBody>
          <a:bodyPr/>
          <a:lstStyle/>
          <a:p>
            <a:endParaRPr lang="en-US"/>
          </a:p>
        </p:txBody>
      </p:sp>
      <p:pic>
        <p:nvPicPr>
          <p:cNvPr id="16" name="Image 2" descr="preencoded.png"/>
          <p:cNvPicPr>
            <a:picLocks noChangeAspect="1"/>
          </p:cNvPicPr>
          <p:nvPr/>
        </p:nvPicPr>
        <p:blipFill>
          <a:blip r:embed="rId4"/>
          <a:stretch>
            <a:fillRect/>
          </a:stretch>
        </p:blipFill>
        <p:spPr>
          <a:xfrm>
            <a:off x="6858000" y="1920240"/>
            <a:ext cx="457200" cy="457200"/>
          </a:xfrm>
          <a:prstGeom prst="rect">
            <a:avLst/>
          </a:prstGeom>
        </p:spPr>
      </p:pic>
      <p:sp>
        <p:nvSpPr>
          <p:cNvPr id="17" name="Text 12"/>
          <p:cNvSpPr/>
          <p:nvPr/>
        </p:nvSpPr>
        <p:spPr>
          <a:xfrm>
            <a:off x="6172200" y="2514600"/>
            <a:ext cx="2103120" cy="320040"/>
          </a:xfrm>
          <a:prstGeom prst="rect">
            <a:avLst/>
          </a:prstGeom>
          <a:noFill/>
          <a:ln/>
        </p:spPr>
        <p:txBody>
          <a:bodyPr wrap="square" lIns="0" tIns="0" rIns="0" bIns="0" rtlCol="0" anchor="ctr"/>
          <a:lstStyle/>
          <a:p>
            <a:pPr marL="0" indent="0" algn="ctr">
              <a:buNone/>
            </a:pPr>
            <a:r>
              <a:rPr lang="en-US" sz="1400" b="1" dirty="0">
                <a:solidFill>
                  <a:srgbClr val="1E2530"/>
                </a:solidFill>
                <a:latin typeface="Open Sans" pitchFamily="34" charset="0"/>
                <a:ea typeface="Open Sans" pitchFamily="34" charset="-122"/>
                <a:cs typeface="Open Sans" pitchFamily="34" charset="-120"/>
              </a:rPr>
              <a:t>Speed Keys</a:t>
            </a:r>
            <a:endParaRPr lang="en-US" sz="1400" dirty="0"/>
          </a:p>
        </p:txBody>
      </p:sp>
      <p:sp>
        <p:nvSpPr>
          <p:cNvPr id="18" name="Text 13"/>
          <p:cNvSpPr/>
          <p:nvPr/>
        </p:nvSpPr>
        <p:spPr>
          <a:xfrm>
            <a:off x="6172200" y="2880360"/>
            <a:ext cx="2103120" cy="1188720"/>
          </a:xfrm>
          <a:prstGeom prst="rect">
            <a:avLst/>
          </a:prstGeom>
          <a:noFill/>
          <a:ln/>
        </p:spPr>
        <p:txBody>
          <a:bodyPr wrap="square" lIns="0" tIns="0" rIns="0" bIns="0" rtlCol="0" anchor="t"/>
          <a:lstStyle/>
          <a:p>
            <a:pPr marL="0" indent="0" algn="ctr">
              <a:lnSpc>
                <a:spcPct val="140000"/>
              </a:lnSpc>
              <a:buNone/>
            </a:pPr>
            <a:r>
              <a:rPr lang="en-US" sz="1100" dirty="0">
                <a:solidFill>
                  <a:srgbClr val="5A6B7A"/>
                </a:solidFill>
                <a:latin typeface="Open Sans" pitchFamily="34" charset="0"/>
                <a:ea typeface="Open Sans" pitchFamily="34" charset="-122"/>
                <a:cs typeface="Open Sans" pitchFamily="34" charset="-120"/>
              </a:rPr>
              <a:t>F2 edits the active cell's formula. F4 cycles absolute/relative refs ($A$1 ↔ A1). Click any name in the Name Box to jump to it.</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875666-D35F-9616-6D3D-0307A5FE1EFC}"/>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CC8A41F7-4DDE-A707-AC83-1B757E39DE4C}"/>
              </a:ext>
            </a:extLst>
          </p:cNvPr>
          <p:cNvSpPr/>
          <p:nvPr/>
        </p:nvSpPr>
        <p:spPr>
          <a:xfrm>
            <a:off x="0" y="0"/>
            <a:ext cx="9144000" cy="36576"/>
          </a:xfrm>
          <a:prstGeom prst="rect">
            <a:avLst/>
          </a:prstGeom>
          <a:solidFill>
            <a:srgbClr val="B8975C"/>
          </a:solidFill>
          <a:ln/>
        </p:spPr>
        <p:txBody>
          <a:bodyPr/>
          <a:lstStyle/>
          <a:p>
            <a:endParaRPr lang="en-US"/>
          </a:p>
        </p:txBody>
      </p:sp>
      <p:sp>
        <p:nvSpPr>
          <p:cNvPr id="3" name="Text 1">
            <a:extLst>
              <a:ext uri="{FF2B5EF4-FFF2-40B4-BE49-F238E27FC236}">
                <a16:creationId xmlns:a16="http://schemas.microsoft.com/office/drawing/2014/main" id="{8C8A04B4-823D-3E15-6A5C-1BAE5BF797EC}"/>
              </a:ext>
            </a:extLst>
          </p:cNvPr>
          <p:cNvSpPr/>
          <p:nvPr/>
        </p:nvSpPr>
        <p:spPr>
          <a:xfrm>
            <a:off x="731520" y="731520"/>
            <a:ext cx="7680960" cy="365760"/>
          </a:xfrm>
          <a:prstGeom prst="rect">
            <a:avLst/>
          </a:prstGeom>
          <a:noFill/>
          <a:ln/>
        </p:spPr>
        <p:txBody>
          <a:bodyPr wrap="square" lIns="0" tIns="0" rIns="0" bIns="0" rtlCol="0" anchor="ctr"/>
          <a:lstStyle/>
          <a:p>
            <a:pPr marL="0" indent="0">
              <a:buNone/>
            </a:pPr>
            <a:r>
              <a:rPr lang="en-US" sz="1400" b="1" kern="0" spc="600" dirty="0">
                <a:solidFill>
                  <a:srgbClr val="B8975C"/>
                </a:solidFill>
                <a:latin typeface="Open Sans" pitchFamily="34" charset="0"/>
                <a:ea typeface="Open Sans" pitchFamily="34" charset="-122"/>
                <a:cs typeface="Open Sans" pitchFamily="34" charset="-120"/>
              </a:rPr>
              <a:t>STAGE 2</a:t>
            </a:r>
            <a:endParaRPr lang="en-US" sz="1400" dirty="0"/>
          </a:p>
        </p:txBody>
      </p:sp>
      <p:sp>
        <p:nvSpPr>
          <p:cNvPr id="4" name="Text 2">
            <a:extLst>
              <a:ext uri="{FF2B5EF4-FFF2-40B4-BE49-F238E27FC236}">
                <a16:creationId xmlns:a16="http://schemas.microsoft.com/office/drawing/2014/main" id="{9D1C255D-99C1-14A5-6D63-B7C3A4E9BA0D}"/>
              </a:ext>
            </a:extLst>
          </p:cNvPr>
          <p:cNvSpPr/>
          <p:nvPr/>
        </p:nvSpPr>
        <p:spPr>
          <a:xfrm>
            <a:off x="731520" y="1280160"/>
            <a:ext cx="7680960" cy="1645920"/>
          </a:xfrm>
          <a:prstGeom prst="rect">
            <a:avLst/>
          </a:prstGeom>
          <a:noFill/>
          <a:ln/>
        </p:spPr>
        <p:txBody>
          <a:bodyPr wrap="square" lIns="0" tIns="0" rIns="0" bIns="0" rtlCol="0" anchor="ctr"/>
          <a:lstStyle/>
          <a:p>
            <a:pPr marL="0" indent="0">
              <a:lnSpc>
                <a:spcPct val="110000"/>
              </a:lnSpc>
              <a:buNone/>
            </a:pPr>
            <a:r>
              <a:rPr lang="en-US" sz="4000" b="1" dirty="0">
                <a:solidFill>
                  <a:schemeClr val="accent6">
                    <a:lumMod val="50000"/>
                  </a:schemeClr>
                </a:solidFill>
                <a:latin typeface="Open Sans" pitchFamily="34" charset="0"/>
                <a:ea typeface="Open Sans" pitchFamily="34" charset="-122"/>
                <a:cs typeface="Open Sans" pitchFamily="34" charset="-120"/>
              </a:rPr>
              <a:t>Draft .md Decision Memo</a:t>
            </a:r>
            <a:endParaRPr lang="en-US" sz="4000" dirty="0">
              <a:solidFill>
                <a:schemeClr val="accent6">
                  <a:lumMod val="50000"/>
                </a:schemeClr>
              </a:solidFill>
            </a:endParaRPr>
          </a:p>
        </p:txBody>
      </p:sp>
      <p:sp>
        <p:nvSpPr>
          <p:cNvPr id="5" name="Shape 3">
            <a:extLst>
              <a:ext uri="{FF2B5EF4-FFF2-40B4-BE49-F238E27FC236}">
                <a16:creationId xmlns:a16="http://schemas.microsoft.com/office/drawing/2014/main" id="{A3A04EA9-0FF8-F8BD-AAF0-F0E889F49C19}"/>
              </a:ext>
            </a:extLst>
          </p:cNvPr>
          <p:cNvSpPr/>
          <p:nvPr/>
        </p:nvSpPr>
        <p:spPr>
          <a:xfrm>
            <a:off x="731520" y="3108960"/>
            <a:ext cx="1828800" cy="36576"/>
          </a:xfrm>
          <a:prstGeom prst="rect">
            <a:avLst/>
          </a:prstGeom>
          <a:solidFill>
            <a:srgbClr val="B8975C"/>
          </a:solidFill>
          <a:ln/>
        </p:spPr>
        <p:txBody>
          <a:bodyPr/>
          <a:lstStyle/>
          <a:p>
            <a:endParaRPr lang="en-US"/>
          </a:p>
        </p:txBody>
      </p:sp>
      <p:sp>
        <p:nvSpPr>
          <p:cNvPr id="6" name="Text 4">
            <a:extLst>
              <a:ext uri="{FF2B5EF4-FFF2-40B4-BE49-F238E27FC236}">
                <a16:creationId xmlns:a16="http://schemas.microsoft.com/office/drawing/2014/main" id="{38606147-BE4D-C55D-C95A-22EAD142783F}"/>
              </a:ext>
            </a:extLst>
          </p:cNvPr>
          <p:cNvSpPr/>
          <p:nvPr/>
        </p:nvSpPr>
        <p:spPr>
          <a:xfrm>
            <a:off x="731520" y="3337560"/>
            <a:ext cx="6400800" cy="640080"/>
          </a:xfrm>
          <a:prstGeom prst="rect">
            <a:avLst/>
          </a:prstGeom>
          <a:noFill/>
          <a:ln/>
        </p:spPr>
        <p:txBody>
          <a:bodyPr wrap="square" lIns="0" tIns="0" rIns="0" bIns="0" rtlCol="0" anchor="ctr"/>
          <a:lstStyle/>
          <a:p>
            <a:pPr marL="0" indent="0">
              <a:lnSpc>
                <a:spcPct val="140000"/>
              </a:lnSpc>
              <a:buNone/>
            </a:pPr>
            <a:r>
              <a:rPr lang="en-US" sz="1600" dirty="0">
                <a:solidFill>
                  <a:srgbClr val="36454F"/>
                </a:solidFill>
              </a:rPr>
              <a:t>Pick a public company and defend the choice in a short markdown decision memo committed to your repo.</a:t>
            </a:r>
          </a:p>
        </p:txBody>
      </p:sp>
      <p:pic>
        <p:nvPicPr>
          <p:cNvPr id="7" name="Image 0" descr="preencoded.png">
            <a:extLst>
              <a:ext uri="{FF2B5EF4-FFF2-40B4-BE49-F238E27FC236}">
                <a16:creationId xmlns:a16="http://schemas.microsoft.com/office/drawing/2014/main" id="{9F424061-9722-78F8-28AD-F18B1CEC624F}"/>
              </a:ext>
            </a:extLst>
          </p:cNvPr>
          <p:cNvPicPr>
            <a:picLocks noChangeAspect="1"/>
          </p:cNvPicPr>
          <p:nvPr/>
        </p:nvPicPr>
        <p:blipFill>
          <a:blip r:embed="rId3"/>
          <a:stretch>
            <a:fillRect/>
          </a:stretch>
        </p:blipFill>
        <p:spPr>
          <a:xfrm>
            <a:off x="7132320" y="3017520"/>
            <a:ext cx="1097280" cy="1097280"/>
          </a:xfrm>
          <a:prstGeom prst="rect">
            <a:avLst/>
          </a:prstGeom>
        </p:spPr>
      </p:pic>
      <p:sp>
        <p:nvSpPr>
          <p:cNvPr id="8" name="Text 5">
            <a:extLst>
              <a:ext uri="{FF2B5EF4-FFF2-40B4-BE49-F238E27FC236}">
                <a16:creationId xmlns:a16="http://schemas.microsoft.com/office/drawing/2014/main" id="{F41FAAEA-6A64-633D-1BE1-CAC022CD8504}"/>
              </a:ext>
            </a:extLst>
          </p:cNvPr>
          <p:cNvSpPr/>
          <p:nvPr/>
        </p:nvSpPr>
        <p:spPr>
          <a:xfrm>
            <a:off x="457200" y="4663440"/>
            <a:ext cx="8229600" cy="320040"/>
          </a:xfrm>
          <a:prstGeom prst="rect">
            <a:avLst/>
          </a:prstGeom>
          <a:noFill/>
          <a:ln/>
        </p:spPr>
        <p:txBody>
          <a:bodyPr wrap="square" lIns="0" tIns="0" rIns="0" bIns="0" rtlCol="0" anchor="ctr"/>
          <a:lstStyle/>
          <a:p>
            <a:pPr marL="0" indent="0" algn="ctr">
              <a:buNone/>
            </a:pPr>
            <a:r>
              <a:rPr lang="en-US" sz="1000" dirty="0">
                <a:solidFill>
                  <a:srgbClr val="5A6B7A"/>
                </a:solidFill>
                <a:latin typeface="Open Sans" pitchFamily="34" charset="0"/>
                <a:ea typeface="Open Sans" pitchFamily="34" charset="-122"/>
                <a:cs typeface="Open Sans" pitchFamily="34" charset="-120"/>
              </a:rPr>
              <a:t>Shidler College of Business  |  University of Hawaiʻi at Mānoa</a:t>
            </a:r>
            <a:endParaRPr lang="en-US" sz="1000" dirty="0"/>
          </a:p>
        </p:txBody>
      </p:sp>
    </p:spTree>
    <p:extLst>
      <p:ext uri="{BB962C8B-B14F-4D97-AF65-F5344CB8AC3E}">
        <p14:creationId xmlns:p14="http://schemas.microsoft.com/office/powerpoint/2010/main" val="261632799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24731"/>
          </a:solidFill>
          <a:ln/>
        </p:spPr>
        <p:txBody>
          <a:bodyPr/>
          <a:lstStyle/>
          <a:p>
            <a:endParaRPr lang="en-US"/>
          </a:p>
        </p:txBody>
      </p:sp>
      <p:sp>
        <p:nvSpPr>
          <p:cNvPr id="3" name="Text 1"/>
          <p:cNvSpPr/>
          <p:nvPr/>
        </p:nvSpPr>
        <p:spPr>
          <a:xfrm>
            <a:off x="548640" y="137160"/>
            <a:ext cx="7315200" cy="274320"/>
          </a:xfrm>
          <a:prstGeom prst="rect">
            <a:avLst/>
          </a:prstGeom>
          <a:noFill/>
          <a:ln/>
        </p:spPr>
        <p:txBody>
          <a:bodyPr wrap="square" lIns="0" tIns="0" rIns="0" bIns="0" rtlCol="0" anchor="ctr"/>
          <a:lstStyle/>
          <a:p>
            <a:pPr marL="0" indent="0">
              <a:buNone/>
            </a:pPr>
            <a:r>
              <a:rPr lang="en-US" sz="2000" b="1" dirty="0">
                <a:solidFill>
                  <a:srgbClr val="FFFFFF"/>
                </a:solidFill>
                <a:latin typeface="Open Sans" pitchFamily="34" charset="0"/>
                <a:ea typeface="Open Sans" pitchFamily="34" charset="-122"/>
                <a:cs typeface="Open Sans" pitchFamily="34" charset="-120"/>
              </a:rPr>
              <a:t>Stage 2 — Company Selection Memo</a:t>
            </a:r>
            <a:endParaRPr lang="en-US" sz="2000" dirty="0"/>
          </a:p>
        </p:txBody>
      </p:sp>
      <p:sp>
        <p:nvSpPr>
          <p:cNvPr id="4" name="Text 2"/>
          <p:cNvSpPr/>
          <p:nvPr/>
        </p:nvSpPr>
        <p:spPr>
          <a:xfrm>
            <a:off x="548640" y="429768"/>
            <a:ext cx="7315200" cy="228600"/>
          </a:xfrm>
          <a:prstGeom prst="rect">
            <a:avLst/>
          </a:prstGeom>
          <a:noFill/>
          <a:ln/>
        </p:spPr>
        <p:txBody>
          <a:bodyPr wrap="square" lIns="0" tIns="0" rIns="0" bIns="0" rtlCol="0" anchor="ctr"/>
          <a:lstStyle/>
          <a:p>
            <a:pPr marL="0" indent="0">
              <a:buNone/>
            </a:pPr>
            <a:r>
              <a:rPr lang="en-US" sz="1100" dirty="0">
                <a:solidFill>
                  <a:srgbClr val="B8DDD1"/>
                </a:solidFill>
                <a:latin typeface="Open Sans" pitchFamily="34" charset="0"/>
                <a:ea typeface="Open Sans" pitchFamily="34" charset="-122"/>
                <a:cs typeface="Open Sans" pitchFamily="34" charset="-120"/>
              </a:rPr>
              <a:t>10% of project  |  Choose your company, frame the analysis</a:t>
            </a:r>
            <a:endParaRPr lang="en-US" sz="1100" dirty="0"/>
          </a:p>
        </p:txBody>
      </p:sp>
      <p:sp>
        <p:nvSpPr>
          <p:cNvPr id="5" name="Shape 3"/>
          <p:cNvSpPr/>
          <p:nvPr/>
        </p:nvSpPr>
        <p:spPr>
          <a:xfrm>
            <a:off x="548640" y="1097280"/>
            <a:ext cx="5120640" cy="502920"/>
          </a:xfrm>
          <a:prstGeom prst="rect">
            <a:avLst/>
          </a:prstGeom>
          <a:solidFill>
            <a:srgbClr val="F5F7F6"/>
          </a:solidFill>
          <a:ln/>
        </p:spPr>
        <p:txBody>
          <a:bodyPr/>
          <a:lstStyle/>
          <a:p>
            <a:endParaRPr lang="en-US"/>
          </a:p>
        </p:txBody>
      </p:sp>
      <p:sp>
        <p:nvSpPr>
          <p:cNvPr id="6" name="Shape 4"/>
          <p:cNvSpPr/>
          <p:nvPr/>
        </p:nvSpPr>
        <p:spPr>
          <a:xfrm>
            <a:off x="685800" y="1188720"/>
            <a:ext cx="320040" cy="320040"/>
          </a:xfrm>
          <a:prstGeom prst="ellipse">
            <a:avLst/>
          </a:prstGeom>
          <a:solidFill>
            <a:srgbClr val="024731"/>
          </a:solidFill>
          <a:ln/>
        </p:spPr>
        <p:txBody>
          <a:bodyPr/>
          <a:lstStyle/>
          <a:p>
            <a:endParaRPr lang="en-US"/>
          </a:p>
        </p:txBody>
      </p:sp>
      <p:sp>
        <p:nvSpPr>
          <p:cNvPr id="7" name="Text 5"/>
          <p:cNvSpPr/>
          <p:nvPr/>
        </p:nvSpPr>
        <p:spPr>
          <a:xfrm>
            <a:off x="685800" y="1188720"/>
            <a:ext cx="320040" cy="320040"/>
          </a:xfrm>
          <a:prstGeom prst="rect">
            <a:avLst/>
          </a:prstGeom>
          <a:noFill/>
          <a:ln/>
        </p:spPr>
        <p:txBody>
          <a:bodyPr wrap="square" rtlCol="0" anchor="ctr"/>
          <a:lstStyle/>
          <a:p>
            <a:pPr marL="0" indent="0" algn="ctr">
              <a:buNone/>
            </a:pPr>
            <a:r>
              <a:rPr lang="en-US" sz="1200" b="1" dirty="0">
                <a:solidFill>
                  <a:srgbClr val="FFFFFF"/>
                </a:solidFill>
                <a:latin typeface="Open Sans" pitchFamily="34" charset="0"/>
                <a:ea typeface="Open Sans" pitchFamily="34" charset="-122"/>
                <a:cs typeface="Open Sans" pitchFamily="34" charset="-120"/>
              </a:rPr>
              <a:t>1</a:t>
            </a:r>
            <a:endParaRPr lang="en-US" sz="1200" dirty="0"/>
          </a:p>
        </p:txBody>
      </p:sp>
      <p:sp>
        <p:nvSpPr>
          <p:cNvPr id="8" name="Text 6"/>
          <p:cNvSpPr/>
          <p:nvPr/>
        </p:nvSpPr>
        <p:spPr>
          <a:xfrm>
            <a:off x="1143000" y="1115568"/>
            <a:ext cx="1828800" cy="228600"/>
          </a:xfrm>
          <a:prstGeom prst="rect">
            <a:avLst/>
          </a:prstGeom>
          <a:noFill/>
          <a:ln/>
        </p:spPr>
        <p:txBody>
          <a:bodyPr wrap="square" lIns="0" tIns="0" rIns="0" bIns="0" rtlCol="0" anchor="ctr"/>
          <a:lstStyle/>
          <a:p>
            <a:pPr marL="0" indent="0">
              <a:buNone/>
            </a:pPr>
            <a:r>
              <a:rPr lang="en-US" sz="1100" b="1" dirty="0">
                <a:solidFill>
                  <a:srgbClr val="0D0D0D"/>
                </a:solidFill>
                <a:latin typeface="Open Sans" pitchFamily="34" charset="0"/>
                <a:ea typeface="Open Sans" pitchFamily="34" charset="-122"/>
                <a:cs typeface="Open Sans" pitchFamily="34" charset="-120"/>
              </a:rPr>
              <a:t>Company Overview</a:t>
            </a:r>
            <a:endParaRPr lang="en-US" sz="1100" dirty="0"/>
          </a:p>
        </p:txBody>
      </p:sp>
      <p:sp>
        <p:nvSpPr>
          <p:cNvPr id="9" name="Text 7"/>
          <p:cNvSpPr/>
          <p:nvPr/>
        </p:nvSpPr>
        <p:spPr>
          <a:xfrm>
            <a:off x="1143000" y="1344168"/>
            <a:ext cx="4389120" cy="228600"/>
          </a:xfrm>
          <a:prstGeom prst="rect">
            <a:avLst/>
          </a:prstGeom>
          <a:noFill/>
          <a:ln/>
        </p:spPr>
        <p:txBody>
          <a:bodyPr wrap="square" lIns="0" tIns="0" rIns="0" bIns="0" rtlCol="0" anchor="ctr"/>
          <a:lstStyle/>
          <a:p>
            <a:pPr marL="0" indent="0">
              <a:buNone/>
            </a:pPr>
            <a:r>
              <a:rPr lang="en-US" sz="900" dirty="0">
                <a:solidFill>
                  <a:srgbClr val="6B7280"/>
                </a:solidFill>
                <a:latin typeface="Open Sans" pitchFamily="34" charset="0"/>
                <a:ea typeface="Open Sans" pitchFamily="34" charset="-122"/>
                <a:cs typeface="Open Sans" pitchFamily="34" charset="-120"/>
              </a:rPr>
              <a:t>Name, ticker, exchange, industry, market cap, reporting currency</a:t>
            </a:r>
            <a:endParaRPr lang="en-US" sz="900" dirty="0"/>
          </a:p>
        </p:txBody>
      </p:sp>
      <p:sp>
        <p:nvSpPr>
          <p:cNvPr id="10" name="Shape 8"/>
          <p:cNvSpPr/>
          <p:nvPr/>
        </p:nvSpPr>
        <p:spPr>
          <a:xfrm>
            <a:off x="548640" y="1691640"/>
            <a:ext cx="5120640" cy="502920"/>
          </a:xfrm>
          <a:prstGeom prst="rect">
            <a:avLst/>
          </a:prstGeom>
          <a:solidFill>
            <a:srgbClr val="FFFFFF"/>
          </a:solidFill>
          <a:ln/>
        </p:spPr>
        <p:txBody>
          <a:bodyPr/>
          <a:lstStyle/>
          <a:p>
            <a:endParaRPr lang="en-US"/>
          </a:p>
        </p:txBody>
      </p:sp>
      <p:sp>
        <p:nvSpPr>
          <p:cNvPr id="11" name="Shape 9"/>
          <p:cNvSpPr/>
          <p:nvPr/>
        </p:nvSpPr>
        <p:spPr>
          <a:xfrm>
            <a:off x="685800" y="1783080"/>
            <a:ext cx="320040" cy="320040"/>
          </a:xfrm>
          <a:prstGeom prst="ellipse">
            <a:avLst/>
          </a:prstGeom>
          <a:solidFill>
            <a:srgbClr val="024731"/>
          </a:solidFill>
          <a:ln/>
        </p:spPr>
        <p:txBody>
          <a:bodyPr/>
          <a:lstStyle/>
          <a:p>
            <a:endParaRPr lang="en-US"/>
          </a:p>
        </p:txBody>
      </p:sp>
      <p:sp>
        <p:nvSpPr>
          <p:cNvPr id="12" name="Text 10"/>
          <p:cNvSpPr/>
          <p:nvPr/>
        </p:nvSpPr>
        <p:spPr>
          <a:xfrm>
            <a:off x="685800" y="1783080"/>
            <a:ext cx="320040" cy="320040"/>
          </a:xfrm>
          <a:prstGeom prst="rect">
            <a:avLst/>
          </a:prstGeom>
          <a:noFill/>
          <a:ln/>
        </p:spPr>
        <p:txBody>
          <a:bodyPr wrap="square" rtlCol="0" anchor="ctr"/>
          <a:lstStyle/>
          <a:p>
            <a:pPr marL="0" indent="0" algn="ctr">
              <a:buNone/>
            </a:pPr>
            <a:r>
              <a:rPr lang="en-US" sz="1200" b="1" dirty="0">
                <a:solidFill>
                  <a:srgbClr val="FFFFFF"/>
                </a:solidFill>
                <a:latin typeface="Open Sans" pitchFamily="34" charset="0"/>
                <a:ea typeface="Open Sans" pitchFamily="34" charset="-122"/>
                <a:cs typeface="Open Sans" pitchFamily="34" charset="-120"/>
              </a:rPr>
              <a:t>2</a:t>
            </a:r>
            <a:endParaRPr lang="en-US" sz="1200" dirty="0"/>
          </a:p>
        </p:txBody>
      </p:sp>
      <p:sp>
        <p:nvSpPr>
          <p:cNvPr id="13" name="Text 11"/>
          <p:cNvSpPr/>
          <p:nvPr/>
        </p:nvSpPr>
        <p:spPr>
          <a:xfrm>
            <a:off x="1143000" y="1709928"/>
            <a:ext cx="1828800" cy="228600"/>
          </a:xfrm>
          <a:prstGeom prst="rect">
            <a:avLst/>
          </a:prstGeom>
          <a:noFill/>
          <a:ln/>
        </p:spPr>
        <p:txBody>
          <a:bodyPr wrap="square" lIns="0" tIns="0" rIns="0" bIns="0" rtlCol="0" anchor="ctr"/>
          <a:lstStyle/>
          <a:p>
            <a:pPr marL="0" indent="0">
              <a:buNone/>
            </a:pPr>
            <a:r>
              <a:rPr lang="en-US" sz="1100" b="1" dirty="0">
                <a:solidFill>
                  <a:srgbClr val="0D0D0D"/>
                </a:solidFill>
                <a:latin typeface="Open Sans" pitchFamily="34" charset="0"/>
                <a:ea typeface="Open Sans" pitchFamily="34" charset="-122"/>
                <a:cs typeface="Open Sans" pitchFamily="34" charset="-120"/>
              </a:rPr>
              <a:t>Selection Rationale</a:t>
            </a:r>
            <a:endParaRPr lang="en-US" sz="1100" dirty="0"/>
          </a:p>
        </p:txBody>
      </p:sp>
      <p:sp>
        <p:nvSpPr>
          <p:cNvPr id="14" name="Text 12"/>
          <p:cNvSpPr/>
          <p:nvPr/>
        </p:nvSpPr>
        <p:spPr>
          <a:xfrm>
            <a:off x="1143000" y="1938528"/>
            <a:ext cx="4389120" cy="228600"/>
          </a:xfrm>
          <a:prstGeom prst="rect">
            <a:avLst/>
          </a:prstGeom>
          <a:noFill/>
          <a:ln/>
        </p:spPr>
        <p:txBody>
          <a:bodyPr wrap="square" lIns="0" tIns="0" rIns="0" bIns="0" rtlCol="0" anchor="ctr"/>
          <a:lstStyle/>
          <a:p>
            <a:pPr marL="0" indent="0">
              <a:buNone/>
            </a:pPr>
            <a:r>
              <a:rPr lang="en-US" sz="900" dirty="0">
                <a:solidFill>
                  <a:srgbClr val="6B7280"/>
                </a:solidFill>
                <a:latin typeface="Open Sans" pitchFamily="34" charset="0"/>
                <a:ea typeface="Open Sans" pitchFamily="34" charset="-122"/>
                <a:cs typeface="Open Sans" pitchFamily="34" charset="-120"/>
              </a:rPr>
              <a:t>Why this company? Relevance to your industry, employer, or career goals</a:t>
            </a:r>
            <a:endParaRPr lang="en-US" sz="900" dirty="0"/>
          </a:p>
        </p:txBody>
      </p:sp>
      <p:sp>
        <p:nvSpPr>
          <p:cNvPr id="15" name="Shape 13"/>
          <p:cNvSpPr/>
          <p:nvPr/>
        </p:nvSpPr>
        <p:spPr>
          <a:xfrm>
            <a:off x="548640" y="2286000"/>
            <a:ext cx="5120640" cy="502920"/>
          </a:xfrm>
          <a:prstGeom prst="rect">
            <a:avLst/>
          </a:prstGeom>
          <a:solidFill>
            <a:srgbClr val="F5F7F6"/>
          </a:solidFill>
          <a:ln/>
        </p:spPr>
        <p:txBody>
          <a:bodyPr/>
          <a:lstStyle/>
          <a:p>
            <a:endParaRPr lang="en-US"/>
          </a:p>
        </p:txBody>
      </p:sp>
      <p:sp>
        <p:nvSpPr>
          <p:cNvPr id="16" name="Shape 14"/>
          <p:cNvSpPr/>
          <p:nvPr/>
        </p:nvSpPr>
        <p:spPr>
          <a:xfrm>
            <a:off x="685800" y="2377440"/>
            <a:ext cx="320040" cy="320040"/>
          </a:xfrm>
          <a:prstGeom prst="ellipse">
            <a:avLst/>
          </a:prstGeom>
          <a:solidFill>
            <a:srgbClr val="024731"/>
          </a:solidFill>
          <a:ln/>
        </p:spPr>
        <p:txBody>
          <a:bodyPr/>
          <a:lstStyle/>
          <a:p>
            <a:endParaRPr lang="en-US"/>
          </a:p>
        </p:txBody>
      </p:sp>
      <p:sp>
        <p:nvSpPr>
          <p:cNvPr id="17" name="Text 15"/>
          <p:cNvSpPr/>
          <p:nvPr/>
        </p:nvSpPr>
        <p:spPr>
          <a:xfrm>
            <a:off x="685800" y="2377440"/>
            <a:ext cx="320040" cy="320040"/>
          </a:xfrm>
          <a:prstGeom prst="rect">
            <a:avLst/>
          </a:prstGeom>
          <a:noFill/>
          <a:ln/>
        </p:spPr>
        <p:txBody>
          <a:bodyPr wrap="square" rtlCol="0" anchor="ctr"/>
          <a:lstStyle/>
          <a:p>
            <a:pPr marL="0" indent="0" algn="ctr">
              <a:buNone/>
            </a:pPr>
            <a:r>
              <a:rPr lang="en-US" sz="1200" b="1" dirty="0">
                <a:solidFill>
                  <a:srgbClr val="FFFFFF"/>
                </a:solidFill>
                <a:latin typeface="Open Sans" pitchFamily="34" charset="0"/>
                <a:ea typeface="Open Sans" pitchFamily="34" charset="-122"/>
                <a:cs typeface="Open Sans" pitchFamily="34" charset="-120"/>
              </a:rPr>
              <a:t>3</a:t>
            </a:r>
            <a:endParaRPr lang="en-US" sz="1200" dirty="0"/>
          </a:p>
        </p:txBody>
      </p:sp>
      <p:sp>
        <p:nvSpPr>
          <p:cNvPr id="18" name="Text 16"/>
          <p:cNvSpPr/>
          <p:nvPr/>
        </p:nvSpPr>
        <p:spPr>
          <a:xfrm>
            <a:off x="1143000" y="2304288"/>
            <a:ext cx="1828800" cy="228600"/>
          </a:xfrm>
          <a:prstGeom prst="rect">
            <a:avLst/>
          </a:prstGeom>
          <a:noFill/>
          <a:ln/>
        </p:spPr>
        <p:txBody>
          <a:bodyPr wrap="square" lIns="0" tIns="0" rIns="0" bIns="0" rtlCol="0" anchor="ctr"/>
          <a:lstStyle/>
          <a:p>
            <a:pPr marL="0" indent="0">
              <a:buNone/>
            </a:pPr>
            <a:r>
              <a:rPr lang="en-US" sz="1100" b="1" dirty="0">
                <a:solidFill>
                  <a:srgbClr val="0D0D0D"/>
                </a:solidFill>
                <a:latin typeface="Open Sans" pitchFamily="34" charset="0"/>
                <a:ea typeface="Open Sans" pitchFamily="34" charset="-122"/>
                <a:cs typeface="Open Sans" pitchFamily="34" charset="-120"/>
              </a:rPr>
              <a:t>Data Availability</a:t>
            </a:r>
            <a:endParaRPr lang="en-US" sz="1100" dirty="0"/>
          </a:p>
        </p:txBody>
      </p:sp>
      <p:sp>
        <p:nvSpPr>
          <p:cNvPr id="19" name="Text 17"/>
          <p:cNvSpPr/>
          <p:nvPr/>
        </p:nvSpPr>
        <p:spPr>
          <a:xfrm>
            <a:off x="1143000" y="2532888"/>
            <a:ext cx="4389120" cy="228600"/>
          </a:xfrm>
          <a:prstGeom prst="rect">
            <a:avLst/>
          </a:prstGeom>
          <a:noFill/>
          <a:ln/>
        </p:spPr>
        <p:txBody>
          <a:bodyPr wrap="square" lIns="0" tIns="0" rIns="0" bIns="0" rtlCol="0" anchor="ctr"/>
          <a:lstStyle/>
          <a:p>
            <a:pPr marL="0" indent="0">
              <a:buNone/>
            </a:pPr>
            <a:r>
              <a:rPr lang="en-US" sz="900" dirty="0">
                <a:solidFill>
                  <a:srgbClr val="6B7280"/>
                </a:solidFill>
                <a:latin typeface="Open Sans" pitchFamily="34" charset="0"/>
                <a:ea typeface="Open Sans" pitchFamily="34" charset="-122"/>
                <a:cs typeface="Open Sans" pitchFamily="34" charset="-120"/>
              </a:rPr>
              <a:t>Confirm 10-K / annual report access. Note fiscal year, reporting standard (GAAP/IFRS/VAS)</a:t>
            </a:r>
            <a:endParaRPr lang="en-US" sz="900" dirty="0"/>
          </a:p>
        </p:txBody>
      </p:sp>
      <p:sp>
        <p:nvSpPr>
          <p:cNvPr id="20" name="Shape 18"/>
          <p:cNvSpPr/>
          <p:nvPr/>
        </p:nvSpPr>
        <p:spPr>
          <a:xfrm>
            <a:off x="548640" y="2880360"/>
            <a:ext cx="5120640" cy="502920"/>
          </a:xfrm>
          <a:prstGeom prst="rect">
            <a:avLst/>
          </a:prstGeom>
          <a:solidFill>
            <a:srgbClr val="FFFFFF"/>
          </a:solidFill>
          <a:ln/>
        </p:spPr>
        <p:txBody>
          <a:bodyPr/>
          <a:lstStyle/>
          <a:p>
            <a:endParaRPr lang="en-US"/>
          </a:p>
        </p:txBody>
      </p:sp>
      <p:sp>
        <p:nvSpPr>
          <p:cNvPr id="21" name="Shape 19"/>
          <p:cNvSpPr/>
          <p:nvPr/>
        </p:nvSpPr>
        <p:spPr>
          <a:xfrm>
            <a:off x="685800" y="2971800"/>
            <a:ext cx="320040" cy="320040"/>
          </a:xfrm>
          <a:prstGeom prst="ellipse">
            <a:avLst/>
          </a:prstGeom>
          <a:solidFill>
            <a:srgbClr val="024731"/>
          </a:solidFill>
          <a:ln/>
        </p:spPr>
        <p:txBody>
          <a:bodyPr/>
          <a:lstStyle/>
          <a:p>
            <a:endParaRPr lang="en-US"/>
          </a:p>
        </p:txBody>
      </p:sp>
      <p:sp>
        <p:nvSpPr>
          <p:cNvPr id="22" name="Text 20"/>
          <p:cNvSpPr/>
          <p:nvPr/>
        </p:nvSpPr>
        <p:spPr>
          <a:xfrm>
            <a:off x="685800" y="2971800"/>
            <a:ext cx="320040" cy="320040"/>
          </a:xfrm>
          <a:prstGeom prst="rect">
            <a:avLst/>
          </a:prstGeom>
          <a:noFill/>
          <a:ln/>
        </p:spPr>
        <p:txBody>
          <a:bodyPr wrap="square" rtlCol="0" anchor="ctr"/>
          <a:lstStyle/>
          <a:p>
            <a:pPr marL="0" indent="0" algn="ctr">
              <a:buNone/>
            </a:pPr>
            <a:r>
              <a:rPr lang="en-US" sz="1200" b="1" dirty="0">
                <a:solidFill>
                  <a:srgbClr val="FFFFFF"/>
                </a:solidFill>
                <a:latin typeface="Open Sans" pitchFamily="34" charset="0"/>
                <a:ea typeface="Open Sans" pitchFamily="34" charset="-122"/>
                <a:cs typeface="Open Sans" pitchFamily="34" charset="-120"/>
              </a:rPr>
              <a:t>4</a:t>
            </a:r>
            <a:endParaRPr lang="en-US" sz="1200" dirty="0"/>
          </a:p>
        </p:txBody>
      </p:sp>
      <p:sp>
        <p:nvSpPr>
          <p:cNvPr id="23" name="Text 21"/>
          <p:cNvSpPr/>
          <p:nvPr/>
        </p:nvSpPr>
        <p:spPr>
          <a:xfrm>
            <a:off x="1143000" y="2898648"/>
            <a:ext cx="1828800" cy="228600"/>
          </a:xfrm>
          <a:prstGeom prst="rect">
            <a:avLst/>
          </a:prstGeom>
          <a:noFill/>
          <a:ln/>
        </p:spPr>
        <p:txBody>
          <a:bodyPr wrap="square" lIns="0" tIns="0" rIns="0" bIns="0" rtlCol="0" anchor="ctr"/>
          <a:lstStyle/>
          <a:p>
            <a:pPr marL="0" indent="0">
              <a:buNone/>
            </a:pPr>
            <a:r>
              <a:rPr lang="en-US" sz="1100" b="1" dirty="0">
                <a:solidFill>
                  <a:srgbClr val="0D0D0D"/>
                </a:solidFill>
                <a:latin typeface="Open Sans" pitchFamily="34" charset="0"/>
                <a:ea typeface="Open Sans" pitchFamily="34" charset="-122"/>
                <a:cs typeface="Open Sans" pitchFamily="34" charset="-120"/>
              </a:rPr>
              <a:t>Preliminary Observations</a:t>
            </a:r>
            <a:endParaRPr lang="en-US" sz="1100" dirty="0"/>
          </a:p>
        </p:txBody>
      </p:sp>
      <p:sp>
        <p:nvSpPr>
          <p:cNvPr id="24" name="Text 22"/>
          <p:cNvSpPr/>
          <p:nvPr/>
        </p:nvSpPr>
        <p:spPr>
          <a:xfrm>
            <a:off x="1143000" y="3127248"/>
            <a:ext cx="4389120" cy="228600"/>
          </a:xfrm>
          <a:prstGeom prst="rect">
            <a:avLst/>
          </a:prstGeom>
          <a:noFill/>
          <a:ln/>
        </p:spPr>
        <p:txBody>
          <a:bodyPr wrap="square" lIns="0" tIns="0" rIns="0" bIns="0" rtlCol="0" anchor="ctr"/>
          <a:lstStyle/>
          <a:p>
            <a:pPr marL="0" indent="0">
              <a:buNone/>
            </a:pPr>
            <a:r>
              <a:rPr lang="en-US" sz="900" dirty="0">
                <a:solidFill>
                  <a:srgbClr val="6B7280"/>
                </a:solidFill>
                <a:latin typeface="Open Sans" pitchFamily="34" charset="0"/>
                <a:ea typeface="Open Sans" pitchFamily="34" charset="-122"/>
                <a:cs typeface="Open Sans" pitchFamily="34" charset="-120"/>
              </a:rPr>
              <a:t>2–3 hypotheses about what ratio analysis might reveal</a:t>
            </a:r>
            <a:endParaRPr lang="en-US" sz="900" dirty="0"/>
          </a:p>
        </p:txBody>
      </p:sp>
      <p:sp>
        <p:nvSpPr>
          <p:cNvPr id="25" name="Shape 23"/>
          <p:cNvSpPr/>
          <p:nvPr/>
        </p:nvSpPr>
        <p:spPr>
          <a:xfrm>
            <a:off x="548640" y="3474720"/>
            <a:ext cx="5120640" cy="502920"/>
          </a:xfrm>
          <a:prstGeom prst="rect">
            <a:avLst/>
          </a:prstGeom>
          <a:solidFill>
            <a:srgbClr val="F5F7F6"/>
          </a:solidFill>
          <a:ln/>
        </p:spPr>
        <p:txBody>
          <a:bodyPr/>
          <a:lstStyle/>
          <a:p>
            <a:endParaRPr lang="en-US"/>
          </a:p>
        </p:txBody>
      </p:sp>
      <p:sp>
        <p:nvSpPr>
          <p:cNvPr id="26" name="Shape 24"/>
          <p:cNvSpPr/>
          <p:nvPr/>
        </p:nvSpPr>
        <p:spPr>
          <a:xfrm>
            <a:off x="685800" y="3566160"/>
            <a:ext cx="320040" cy="320040"/>
          </a:xfrm>
          <a:prstGeom prst="ellipse">
            <a:avLst/>
          </a:prstGeom>
          <a:solidFill>
            <a:srgbClr val="024731"/>
          </a:solidFill>
          <a:ln/>
        </p:spPr>
        <p:txBody>
          <a:bodyPr/>
          <a:lstStyle/>
          <a:p>
            <a:endParaRPr lang="en-US"/>
          </a:p>
        </p:txBody>
      </p:sp>
      <p:sp>
        <p:nvSpPr>
          <p:cNvPr id="27" name="Text 25"/>
          <p:cNvSpPr/>
          <p:nvPr/>
        </p:nvSpPr>
        <p:spPr>
          <a:xfrm>
            <a:off x="685800" y="3566160"/>
            <a:ext cx="320040" cy="320040"/>
          </a:xfrm>
          <a:prstGeom prst="rect">
            <a:avLst/>
          </a:prstGeom>
          <a:noFill/>
          <a:ln/>
        </p:spPr>
        <p:txBody>
          <a:bodyPr wrap="square" rtlCol="0" anchor="ctr"/>
          <a:lstStyle/>
          <a:p>
            <a:pPr marL="0" indent="0" algn="ctr">
              <a:buNone/>
            </a:pPr>
            <a:r>
              <a:rPr lang="en-US" sz="1200" b="1" dirty="0">
                <a:solidFill>
                  <a:srgbClr val="FFFFFF"/>
                </a:solidFill>
                <a:latin typeface="Open Sans" pitchFamily="34" charset="0"/>
                <a:ea typeface="Open Sans" pitchFamily="34" charset="-122"/>
                <a:cs typeface="Open Sans" pitchFamily="34" charset="-120"/>
              </a:rPr>
              <a:t>5</a:t>
            </a:r>
            <a:endParaRPr lang="en-US" sz="1200" dirty="0"/>
          </a:p>
        </p:txBody>
      </p:sp>
      <p:sp>
        <p:nvSpPr>
          <p:cNvPr id="28" name="Text 26"/>
          <p:cNvSpPr/>
          <p:nvPr/>
        </p:nvSpPr>
        <p:spPr>
          <a:xfrm>
            <a:off x="1143000" y="3493008"/>
            <a:ext cx="1828800" cy="228600"/>
          </a:xfrm>
          <a:prstGeom prst="rect">
            <a:avLst/>
          </a:prstGeom>
          <a:noFill/>
          <a:ln/>
        </p:spPr>
        <p:txBody>
          <a:bodyPr wrap="square" lIns="0" tIns="0" rIns="0" bIns="0" rtlCol="0" anchor="ctr"/>
          <a:lstStyle/>
          <a:p>
            <a:pPr marL="0" indent="0">
              <a:buNone/>
            </a:pPr>
            <a:r>
              <a:rPr lang="en-US" sz="1100" b="1" dirty="0">
                <a:solidFill>
                  <a:srgbClr val="0D0D0D"/>
                </a:solidFill>
                <a:latin typeface="Open Sans" pitchFamily="34" charset="0"/>
                <a:ea typeface="Open Sans" pitchFamily="34" charset="-122"/>
                <a:cs typeface="Open Sans" pitchFamily="34" charset="-120"/>
              </a:rPr>
              <a:t>Ratio Categories Preview</a:t>
            </a:r>
            <a:endParaRPr lang="en-US" sz="1100" dirty="0"/>
          </a:p>
        </p:txBody>
      </p:sp>
      <p:sp>
        <p:nvSpPr>
          <p:cNvPr id="29" name="Text 27"/>
          <p:cNvSpPr/>
          <p:nvPr/>
        </p:nvSpPr>
        <p:spPr>
          <a:xfrm>
            <a:off x="1143000" y="3721608"/>
            <a:ext cx="4389120" cy="228600"/>
          </a:xfrm>
          <a:prstGeom prst="rect">
            <a:avLst/>
          </a:prstGeom>
          <a:noFill/>
          <a:ln/>
        </p:spPr>
        <p:txBody>
          <a:bodyPr wrap="square" lIns="0" tIns="0" rIns="0" bIns="0" rtlCol="0" anchor="ctr"/>
          <a:lstStyle/>
          <a:p>
            <a:pPr marL="0" indent="0">
              <a:buNone/>
            </a:pPr>
            <a:r>
              <a:rPr lang="en-US" sz="900" dirty="0">
                <a:solidFill>
                  <a:srgbClr val="6B7280"/>
                </a:solidFill>
                <a:latin typeface="Open Sans" pitchFamily="34" charset="0"/>
                <a:ea typeface="Open Sans" pitchFamily="34" charset="-122"/>
                <a:cs typeface="Open Sans" pitchFamily="34" charset="-120"/>
              </a:rPr>
              <a:t>Which categories matter most for this company’s industry and why</a:t>
            </a:r>
            <a:endParaRPr lang="en-US" sz="900" dirty="0"/>
          </a:p>
        </p:txBody>
      </p:sp>
      <p:sp>
        <p:nvSpPr>
          <p:cNvPr id="30" name="Shape 28"/>
          <p:cNvSpPr/>
          <p:nvPr/>
        </p:nvSpPr>
        <p:spPr>
          <a:xfrm>
            <a:off x="548640" y="4069080"/>
            <a:ext cx="5120640" cy="502920"/>
          </a:xfrm>
          <a:prstGeom prst="rect">
            <a:avLst/>
          </a:prstGeom>
          <a:solidFill>
            <a:srgbClr val="FFFFFF"/>
          </a:solidFill>
          <a:ln/>
        </p:spPr>
        <p:txBody>
          <a:bodyPr/>
          <a:lstStyle/>
          <a:p>
            <a:endParaRPr lang="en-US"/>
          </a:p>
        </p:txBody>
      </p:sp>
      <p:sp>
        <p:nvSpPr>
          <p:cNvPr id="31" name="Shape 29"/>
          <p:cNvSpPr/>
          <p:nvPr/>
        </p:nvSpPr>
        <p:spPr>
          <a:xfrm>
            <a:off x="685800" y="4160520"/>
            <a:ext cx="320040" cy="320040"/>
          </a:xfrm>
          <a:prstGeom prst="ellipse">
            <a:avLst/>
          </a:prstGeom>
          <a:solidFill>
            <a:srgbClr val="024731"/>
          </a:solidFill>
          <a:ln/>
        </p:spPr>
        <p:txBody>
          <a:bodyPr/>
          <a:lstStyle/>
          <a:p>
            <a:endParaRPr lang="en-US"/>
          </a:p>
        </p:txBody>
      </p:sp>
      <p:sp>
        <p:nvSpPr>
          <p:cNvPr id="32" name="Text 30"/>
          <p:cNvSpPr/>
          <p:nvPr/>
        </p:nvSpPr>
        <p:spPr>
          <a:xfrm>
            <a:off x="685800" y="4160520"/>
            <a:ext cx="320040" cy="320040"/>
          </a:xfrm>
          <a:prstGeom prst="rect">
            <a:avLst/>
          </a:prstGeom>
          <a:noFill/>
          <a:ln/>
        </p:spPr>
        <p:txBody>
          <a:bodyPr wrap="square" rtlCol="0" anchor="ctr"/>
          <a:lstStyle/>
          <a:p>
            <a:pPr marL="0" indent="0" algn="ctr">
              <a:buNone/>
            </a:pPr>
            <a:r>
              <a:rPr lang="en-US" sz="1200" b="1" dirty="0">
                <a:solidFill>
                  <a:srgbClr val="FFFFFF"/>
                </a:solidFill>
                <a:latin typeface="Open Sans" pitchFamily="34" charset="0"/>
                <a:ea typeface="Open Sans" pitchFamily="34" charset="-122"/>
                <a:cs typeface="Open Sans" pitchFamily="34" charset="-120"/>
              </a:rPr>
              <a:t>6</a:t>
            </a:r>
            <a:endParaRPr lang="en-US" sz="1200" dirty="0"/>
          </a:p>
        </p:txBody>
      </p:sp>
      <p:sp>
        <p:nvSpPr>
          <p:cNvPr id="33" name="Text 31"/>
          <p:cNvSpPr/>
          <p:nvPr/>
        </p:nvSpPr>
        <p:spPr>
          <a:xfrm>
            <a:off x="1143000" y="4087368"/>
            <a:ext cx="1828800" cy="228600"/>
          </a:xfrm>
          <a:prstGeom prst="rect">
            <a:avLst/>
          </a:prstGeom>
          <a:noFill/>
          <a:ln/>
        </p:spPr>
        <p:txBody>
          <a:bodyPr wrap="square" lIns="0" tIns="0" rIns="0" bIns="0" rtlCol="0" anchor="ctr"/>
          <a:lstStyle/>
          <a:p>
            <a:pPr marL="0" indent="0">
              <a:buNone/>
            </a:pPr>
            <a:r>
              <a:rPr lang="en-US" sz="1100" b="1" dirty="0">
                <a:solidFill>
                  <a:srgbClr val="0D0D0D"/>
                </a:solidFill>
                <a:latin typeface="Open Sans" pitchFamily="34" charset="0"/>
                <a:ea typeface="Open Sans" pitchFamily="34" charset="-122"/>
                <a:cs typeface="Open Sans" pitchFamily="34" charset="-120"/>
              </a:rPr>
              <a:t>Data Collection Plan</a:t>
            </a:r>
            <a:endParaRPr lang="en-US" sz="1100" dirty="0"/>
          </a:p>
        </p:txBody>
      </p:sp>
      <p:sp>
        <p:nvSpPr>
          <p:cNvPr id="34" name="Text 32"/>
          <p:cNvSpPr/>
          <p:nvPr/>
        </p:nvSpPr>
        <p:spPr>
          <a:xfrm>
            <a:off x="1143000" y="4315968"/>
            <a:ext cx="4389120" cy="228600"/>
          </a:xfrm>
          <a:prstGeom prst="rect">
            <a:avLst/>
          </a:prstGeom>
          <a:noFill/>
          <a:ln/>
        </p:spPr>
        <p:txBody>
          <a:bodyPr wrap="square" lIns="0" tIns="0" rIns="0" bIns="0" rtlCol="0" anchor="ctr"/>
          <a:lstStyle/>
          <a:p>
            <a:pPr marL="0" indent="0">
              <a:buNone/>
            </a:pPr>
            <a:r>
              <a:rPr lang="en-US" sz="900" dirty="0">
                <a:solidFill>
                  <a:srgbClr val="6B7280"/>
                </a:solidFill>
                <a:latin typeface="Open Sans" pitchFamily="34" charset="0"/>
                <a:ea typeface="Open Sans" pitchFamily="34" charset="-122"/>
                <a:cs typeface="Open Sans" pitchFamily="34" charset="-120"/>
              </a:rPr>
              <a:t>What financials are needed, market assumptions to source, timeline</a:t>
            </a:r>
            <a:endParaRPr lang="en-US" sz="900" dirty="0"/>
          </a:p>
        </p:txBody>
      </p:sp>
      <p:sp>
        <p:nvSpPr>
          <p:cNvPr id="35" name="Shape 33"/>
          <p:cNvSpPr/>
          <p:nvPr/>
        </p:nvSpPr>
        <p:spPr>
          <a:xfrm>
            <a:off x="5943600" y="1097280"/>
            <a:ext cx="2926080" cy="3566160"/>
          </a:xfrm>
          <a:prstGeom prst="rect">
            <a:avLst/>
          </a:prstGeom>
          <a:solidFill>
            <a:srgbClr val="E6F2EF"/>
          </a:solidFill>
          <a:ln/>
          <a:effectLst>
            <a:outerShdw blurRad="50800" dist="12700" dir="8100000" algn="bl" rotWithShape="0">
              <a:srgbClr val="000000">
                <a:alpha val="10000"/>
              </a:srgbClr>
            </a:outerShdw>
          </a:effectLst>
        </p:spPr>
        <p:txBody>
          <a:bodyPr/>
          <a:lstStyle/>
          <a:p>
            <a:endParaRPr lang="en-US"/>
          </a:p>
        </p:txBody>
      </p:sp>
      <p:sp>
        <p:nvSpPr>
          <p:cNvPr id="36" name="Shape 34"/>
          <p:cNvSpPr/>
          <p:nvPr/>
        </p:nvSpPr>
        <p:spPr>
          <a:xfrm>
            <a:off x="5943600" y="1097280"/>
            <a:ext cx="2926080" cy="411480"/>
          </a:xfrm>
          <a:prstGeom prst="rect">
            <a:avLst/>
          </a:prstGeom>
          <a:solidFill>
            <a:srgbClr val="024731"/>
          </a:solidFill>
          <a:ln/>
        </p:spPr>
        <p:txBody>
          <a:bodyPr/>
          <a:lstStyle/>
          <a:p>
            <a:endParaRPr lang="en-US"/>
          </a:p>
        </p:txBody>
      </p:sp>
      <p:sp>
        <p:nvSpPr>
          <p:cNvPr id="37" name="Text 35"/>
          <p:cNvSpPr/>
          <p:nvPr/>
        </p:nvSpPr>
        <p:spPr>
          <a:xfrm>
            <a:off x="6035040" y="1115568"/>
            <a:ext cx="2743200" cy="365760"/>
          </a:xfrm>
          <a:prstGeom prst="rect">
            <a:avLst/>
          </a:prstGeom>
          <a:noFill/>
          <a:ln/>
        </p:spPr>
        <p:txBody>
          <a:bodyPr wrap="square" lIns="0" tIns="0" rIns="0" bIns="0" rtlCol="0" anchor="ctr"/>
          <a:lstStyle/>
          <a:p>
            <a:pPr marL="0" indent="0">
              <a:buNone/>
            </a:pPr>
            <a:r>
              <a:rPr lang="en-US" sz="1300" b="1" dirty="0">
                <a:solidFill>
                  <a:srgbClr val="FFFFFF"/>
                </a:solidFill>
                <a:latin typeface="Open Sans" pitchFamily="34" charset="0"/>
                <a:ea typeface="Open Sans" pitchFamily="34" charset="-122"/>
                <a:cs typeface="Open Sans" pitchFamily="34" charset="-120"/>
              </a:rPr>
              <a:t>Company Eligibility</a:t>
            </a:r>
            <a:endParaRPr lang="en-US" sz="1300" dirty="0"/>
          </a:p>
        </p:txBody>
      </p:sp>
      <p:sp>
        <p:nvSpPr>
          <p:cNvPr id="38" name="Text 36"/>
          <p:cNvSpPr/>
          <p:nvPr/>
        </p:nvSpPr>
        <p:spPr>
          <a:xfrm>
            <a:off x="6080760" y="1645920"/>
            <a:ext cx="2651760" cy="2834640"/>
          </a:xfrm>
          <a:prstGeom prst="rect">
            <a:avLst/>
          </a:prstGeom>
          <a:noFill/>
          <a:ln/>
        </p:spPr>
        <p:txBody>
          <a:bodyPr wrap="square" rtlCol="0" anchor="ctr"/>
          <a:lstStyle/>
          <a:p>
            <a:pPr marL="342900" indent="-342900">
              <a:spcAft>
                <a:spcPts val="400"/>
              </a:spcAft>
              <a:buSzPct val="100000"/>
              <a:buChar char="•"/>
            </a:pPr>
            <a:r>
              <a:rPr lang="en-US" sz="900" dirty="0">
                <a:solidFill>
                  <a:srgbClr val="024731"/>
                </a:solidFill>
                <a:latin typeface="Open Sans" pitchFamily="34" charset="0"/>
                <a:ea typeface="Open Sans" pitchFamily="34" charset="-122"/>
                <a:cs typeface="Open Sans" pitchFamily="34" charset="-120"/>
              </a:rPr>
              <a:t>Publicly traded on a major exchange</a:t>
            </a:r>
            <a:endParaRPr lang="en-US" sz="900" dirty="0"/>
          </a:p>
          <a:p>
            <a:pPr marL="342900" indent="-342900">
              <a:spcAft>
                <a:spcPts val="400"/>
              </a:spcAft>
              <a:buSzPct val="100000"/>
              <a:buChar char="•"/>
            </a:pPr>
            <a:r>
              <a:rPr lang="en-US" sz="900" dirty="0">
                <a:solidFill>
                  <a:srgbClr val="024731"/>
                </a:solidFill>
                <a:latin typeface="Open Sans" pitchFamily="34" charset="0"/>
                <a:ea typeface="Open Sans" pitchFamily="34" charset="-122"/>
                <a:cs typeface="Open Sans" pitchFamily="34" charset="-120"/>
              </a:rPr>
              <a:t>NYSE, NASDAQ, HOSE, HNX, SGX, SET, IDX, or other recognized exchange</a:t>
            </a:r>
            <a:endParaRPr lang="en-US" sz="900" dirty="0"/>
          </a:p>
          <a:p>
            <a:pPr marL="342900" indent="-342900">
              <a:spcAft>
                <a:spcPts val="400"/>
              </a:spcAft>
              <a:buSzPct val="100000"/>
              <a:buChar char="•"/>
            </a:pPr>
            <a:r>
              <a:rPr lang="en-US" sz="900" dirty="0">
                <a:solidFill>
                  <a:srgbClr val="024731"/>
                </a:solidFill>
                <a:latin typeface="Open Sans" pitchFamily="34" charset="0"/>
                <a:ea typeface="Open Sans" pitchFamily="34" charset="-122"/>
                <a:cs typeface="Open Sans" pitchFamily="34" charset="-120"/>
              </a:rPr>
              <a:t>Non-financial company</a:t>
            </a:r>
            <a:endParaRPr lang="en-US" sz="900" dirty="0"/>
          </a:p>
          <a:p>
            <a:pPr marL="342900" indent="-342900">
              <a:spcAft>
                <a:spcPts val="400"/>
              </a:spcAft>
              <a:buSzPct val="100000"/>
              <a:buChar char="•"/>
            </a:pPr>
            <a:r>
              <a:rPr lang="en-US" sz="900" dirty="0">
                <a:solidFill>
                  <a:srgbClr val="024731"/>
                </a:solidFill>
                <a:latin typeface="Open Sans" pitchFamily="34" charset="0"/>
                <a:ea typeface="Open Sans" pitchFamily="34" charset="-122"/>
                <a:cs typeface="Open Sans" pitchFamily="34" charset="-120"/>
              </a:rPr>
              <a:t>Minimum 2 years of data</a:t>
            </a:r>
            <a:endParaRPr lang="en-US" sz="900" dirty="0"/>
          </a:p>
          <a:p>
            <a:pPr marL="342900" indent="-342900">
              <a:spcAft>
                <a:spcPts val="400"/>
              </a:spcAft>
              <a:buSzPct val="100000"/>
              <a:buChar char="•"/>
            </a:pPr>
            <a:r>
              <a:rPr lang="en-US" sz="900" dirty="0">
                <a:solidFill>
                  <a:srgbClr val="024731"/>
                </a:solidFill>
                <a:latin typeface="Open Sans" pitchFamily="34" charset="0"/>
                <a:ea typeface="Open Sans" pitchFamily="34" charset="-122"/>
                <a:cs typeface="Open Sans" pitchFamily="34" charset="-120"/>
              </a:rPr>
              <a:t>Non-U.S. companies encouraged — especially Vietnamese and ASEAN firms</a:t>
            </a:r>
            <a:endParaRPr lang="en-US" sz="900" dirty="0"/>
          </a:p>
          <a:p>
            <a:pPr marL="342900" indent="-342900">
              <a:spcAft>
                <a:spcPts val="400"/>
              </a:spcAft>
              <a:buSzPct val="100000"/>
              <a:buChar char="•"/>
            </a:pPr>
            <a:r>
              <a:rPr lang="en-US" sz="900" dirty="0">
                <a:solidFill>
                  <a:srgbClr val="024731"/>
                </a:solidFill>
                <a:latin typeface="Open Sans" pitchFamily="34" charset="0"/>
                <a:ea typeface="Open Sans" pitchFamily="34" charset="-122"/>
                <a:cs typeface="Open Sans" pitchFamily="34" charset="-120"/>
              </a:rPr>
              <a:t>English-language deliverables required; source financials may be in local language</a:t>
            </a:r>
            <a:endParaRPr lang="en-US" sz="900" dirty="0"/>
          </a:p>
          <a:p>
            <a:pPr marL="342900" indent="-342900">
              <a:spcAft>
                <a:spcPts val="400"/>
              </a:spcAft>
              <a:buSzPct val="100000"/>
              <a:buChar char="•"/>
            </a:pPr>
            <a:r>
              <a:rPr lang="en-US" sz="900" dirty="0">
                <a:solidFill>
                  <a:srgbClr val="024731"/>
                </a:solidFill>
                <a:latin typeface="Open Sans" pitchFamily="34" charset="0"/>
                <a:ea typeface="Open Sans" pitchFamily="34" charset="-122"/>
                <a:cs typeface="Open Sans" pitchFamily="34" charset="-120"/>
              </a:rPr>
              <a:t>Note IFRS / GAAP / VAS differences</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64592" cy="5143500"/>
          </a:xfrm>
          <a:prstGeom prst="rect">
            <a:avLst/>
          </a:prstGeom>
          <a:solidFill>
            <a:srgbClr val="0247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20040"/>
            <a:ext cx="8229600" cy="369332"/>
          </a:xfrm>
          <a:prstGeom prst="rect">
            <a:avLst/>
          </a:prstGeom>
          <a:noFill/>
        </p:spPr>
        <p:txBody>
          <a:bodyPr wrap="square" lIns="0" tIns="0" rIns="0" bIns="0" anchor="t">
            <a:spAutoFit/>
          </a:bodyPr>
          <a:lstStyle/>
          <a:p>
            <a:pPr algn="l"/>
            <a:r>
              <a:rPr sz="2400" b="1" dirty="0">
                <a:solidFill>
                  <a:srgbClr val="024731"/>
                </a:solidFill>
                <a:latin typeface="Open Sans"/>
              </a:rPr>
              <a:t>Stage 2 — Company Selection Memo  |  Step by Step</a:t>
            </a:r>
          </a:p>
        </p:txBody>
      </p:sp>
      <p:sp>
        <p:nvSpPr>
          <p:cNvPr id="4" name="TextBox 3"/>
          <p:cNvSpPr txBox="1"/>
          <p:nvPr/>
        </p:nvSpPr>
        <p:spPr>
          <a:xfrm>
            <a:off x="457200" y="841248"/>
            <a:ext cx="8229600" cy="320040"/>
          </a:xfrm>
          <a:prstGeom prst="rect">
            <a:avLst/>
          </a:prstGeom>
          <a:noFill/>
        </p:spPr>
        <p:txBody>
          <a:bodyPr wrap="square" lIns="0" tIns="0" rIns="0" bIns="0" anchor="t">
            <a:spAutoFit/>
          </a:bodyPr>
          <a:lstStyle/>
          <a:p>
            <a:pPr algn="l"/>
            <a:r>
              <a:rPr sz="1200" b="0">
                <a:solidFill>
                  <a:srgbClr val="555555"/>
                </a:solidFill>
                <a:latin typeface="Open Sans"/>
              </a:rPr>
              <a:t>A 400–600 word memo selecting your company. Reviewed by the instructor as a pull request on your repo.</a:t>
            </a:r>
          </a:p>
        </p:txBody>
      </p:sp>
      <p:sp>
        <p:nvSpPr>
          <p:cNvPr id="5" name="TextBox 4"/>
          <p:cNvSpPr txBox="1"/>
          <p:nvPr/>
        </p:nvSpPr>
        <p:spPr>
          <a:xfrm>
            <a:off x="457200" y="4818888"/>
            <a:ext cx="8229600" cy="228600"/>
          </a:xfrm>
          <a:prstGeom prst="rect">
            <a:avLst/>
          </a:prstGeom>
          <a:noFill/>
        </p:spPr>
        <p:txBody>
          <a:bodyPr wrap="square" lIns="0" tIns="0" rIns="0" bIns="0" anchor="t">
            <a:spAutoFit/>
          </a:bodyPr>
          <a:lstStyle/>
          <a:p>
            <a:pPr algn="l"/>
            <a:r>
              <a:rPr sz="900" b="0">
                <a:solidFill>
                  <a:srgbClr val="555555"/>
                </a:solidFill>
                <a:latin typeface="Open Sans"/>
              </a:rPr>
              <a:t>Stage 2  |  10% of project  |  Deliverable-only  |  docs/decisions/  |  see stage2-company-selection-memo.md</a:t>
            </a:r>
          </a:p>
        </p:txBody>
      </p:sp>
      <p:sp>
        <p:nvSpPr>
          <p:cNvPr id="6" name="Oval 5"/>
          <p:cNvSpPr/>
          <p:nvPr/>
        </p:nvSpPr>
        <p:spPr>
          <a:xfrm>
            <a:off x="457200" y="1358900"/>
            <a:ext cx="329184" cy="329184"/>
          </a:xfrm>
          <a:prstGeom prst="ellipse">
            <a:avLst/>
          </a:prstGeom>
          <a:solidFill>
            <a:srgbClr val="024731"/>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latin typeface="Open Sans"/>
              </a:rPr>
              <a:t>1</a:t>
            </a:r>
          </a:p>
        </p:txBody>
      </p:sp>
      <p:sp>
        <p:nvSpPr>
          <p:cNvPr id="7" name="TextBox 6"/>
          <p:cNvSpPr txBox="1"/>
          <p:nvPr/>
        </p:nvSpPr>
        <p:spPr>
          <a:xfrm>
            <a:off x="914400" y="1320800"/>
            <a:ext cx="3703320" cy="256032"/>
          </a:xfrm>
          <a:prstGeom prst="rect">
            <a:avLst/>
          </a:prstGeom>
          <a:noFill/>
        </p:spPr>
        <p:txBody>
          <a:bodyPr wrap="square" lIns="0" tIns="0" rIns="0" bIns="0" anchor="t">
            <a:spAutoFit/>
          </a:bodyPr>
          <a:lstStyle/>
          <a:p>
            <a:pPr algn="l"/>
            <a:r>
              <a:rPr sz="1300" b="1">
                <a:solidFill>
                  <a:srgbClr val="024731"/>
                </a:solidFill>
                <a:latin typeface="Open Sans"/>
              </a:rPr>
              <a:t>Pick your company</a:t>
            </a:r>
          </a:p>
        </p:txBody>
      </p:sp>
      <p:sp>
        <p:nvSpPr>
          <p:cNvPr id="8" name="TextBox 7"/>
          <p:cNvSpPr txBox="1"/>
          <p:nvPr/>
        </p:nvSpPr>
        <p:spPr>
          <a:xfrm>
            <a:off x="914400" y="1587500"/>
            <a:ext cx="3703320" cy="825500"/>
          </a:xfrm>
          <a:prstGeom prst="rect">
            <a:avLst/>
          </a:prstGeom>
          <a:noFill/>
        </p:spPr>
        <p:txBody>
          <a:bodyPr wrap="square" lIns="0" tIns="0" rIns="0" bIns="0" anchor="t">
            <a:spAutoFit/>
          </a:bodyPr>
          <a:lstStyle/>
          <a:p>
            <a:pPr algn="l">
              <a:lnSpc>
                <a:spcPct val="115000"/>
              </a:lnSpc>
            </a:pPr>
            <a:r>
              <a:rPr sz="1050" b="0">
                <a:solidFill>
                  <a:srgbClr val="0D0D0D"/>
                </a:solidFill>
                <a:latin typeface="Open Sans"/>
              </a:rPr>
              <a:t>Publicly traded on NYSE, NASDAQ, HOSE, HNX, SGX, SET, IDX, or other recognized exchange. Non-financial. At least 2 years of audited data available.</a:t>
            </a:r>
          </a:p>
        </p:txBody>
      </p:sp>
      <p:sp>
        <p:nvSpPr>
          <p:cNvPr id="9" name="Oval 8"/>
          <p:cNvSpPr/>
          <p:nvPr/>
        </p:nvSpPr>
        <p:spPr>
          <a:xfrm>
            <a:off x="457200" y="2501900"/>
            <a:ext cx="329184" cy="329184"/>
          </a:xfrm>
          <a:prstGeom prst="ellipse">
            <a:avLst/>
          </a:prstGeom>
          <a:solidFill>
            <a:srgbClr val="024731"/>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latin typeface="Open Sans"/>
              </a:rPr>
              <a:t>2</a:t>
            </a:r>
          </a:p>
        </p:txBody>
      </p:sp>
      <p:sp>
        <p:nvSpPr>
          <p:cNvPr id="10" name="TextBox 9"/>
          <p:cNvSpPr txBox="1"/>
          <p:nvPr/>
        </p:nvSpPr>
        <p:spPr>
          <a:xfrm>
            <a:off x="914400" y="2463800"/>
            <a:ext cx="3703320" cy="256032"/>
          </a:xfrm>
          <a:prstGeom prst="rect">
            <a:avLst/>
          </a:prstGeom>
          <a:noFill/>
        </p:spPr>
        <p:txBody>
          <a:bodyPr wrap="square" lIns="0" tIns="0" rIns="0" bIns="0" anchor="t">
            <a:spAutoFit/>
          </a:bodyPr>
          <a:lstStyle/>
          <a:p>
            <a:pPr algn="l"/>
            <a:r>
              <a:rPr sz="1300" b="1">
                <a:solidFill>
                  <a:srgbClr val="024731"/>
                </a:solidFill>
                <a:latin typeface="Open Sans"/>
              </a:rPr>
              <a:t>Confirm data access</a:t>
            </a:r>
          </a:p>
        </p:txBody>
      </p:sp>
      <p:sp>
        <p:nvSpPr>
          <p:cNvPr id="11" name="TextBox 10"/>
          <p:cNvSpPr txBox="1"/>
          <p:nvPr/>
        </p:nvSpPr>
        <p:spPr>
          <a:xfrm>
            <a:off x="914400" y="2730500"/>
            <a:ext cx="3703320" cy="825500"/>
          </a:xfrm>
          <a:prstGeom prst="rect">
            <a:avLst/>
          </a:prstGeom>
          <a:noFill/>
        </p:spPr>
        <p:txBody>
          <a:bodyPr wrap="square" lIns="0" tIns="0" rIns="0" bIns="0" anchor="t">
            <a:spAutoFit/>
          </a:bodyPr>
          <a:lstStyle/>
          <a:p>
            <a:pPr algn="l">
              <a:lnSpc>
                <a:spcPct val="115000"/>
              </a:lnSpc>
            </a:pPr>
            <a:r>
              <a:rPr sz="1050" b="0">
                <a:solidFill>
                  <a:srgbClr val="0D0D0D"/>
                </a:solidFill>
                <a:latin typeface="Open Sans"/>
              </a:rPr>
              <a:t>Locate the 10-K or annual report on SEC EDGAR, the company IR page, or the local exchange portal. Note fiscal year end, reporting standard (GAAP / IFRS / VAS), and currency.</a:t>
            </a:r>
          </a:p>
        </p:txBody>
      </p:sp>
      <p:sp>
        <p:nvSpPr>
          <p:cNvPr id="12" name="Oval 11"/>
          <p:cNvSpPr/>
          <p:nvPr/>
        </p:nvSpPr>
        <p:spPr>
          <a:xfrm>
            <a:off x="457200" y="3644900"/>
            <a:ext cx="329184" cy="329184"/>
          </a:xfrm>
          <a:prstGeom prst="ellipse">
            <a:avLst/>
          </a:prstGeom>
          <a:solidFill>
            <a:srgbClr val="024731"/>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latin typeface="Open Sans"/>
              </a:rPr>
              <a:t>3</a:t>
            </a:r>
          </a:p>
        </p:txBody>
      </p:sp>
      <p:sp>
        <p:nvSpPr>
          <p:cNvPr id="13" name="TextBox 12"/>
          <p:cNvSpPr txBox="1"/>
          <p:nvPr/>
        </p:nvSpPr>
        <p:spPr>
          <a:xfrm>
            <a:off x="914400" y="3606800"/>
            <a:ext cx="3703320" cy="256032"/>
          </a:xfrm>
          <a:prstGeom prst="rect">
            <a:avLst/>
          </a:prstGeom>
          <a:noFill/>
        </p:spPr>
        <p:txBody>
          <a:bodyPr wrap="square" lIns="0" tIns="0" rIns="0" bIns="0" anchor="t">
            <a:spAutoFit/>
          </a:bodyPr>
          <a:lstStyle/>
          <a:p>
            <a:pPr algn="l"/>
            <a:r>
              <a:rPr sz="1300" b="1">
                <a:solidFill>
                  <a:srgbClr val="024731"/>
                </a:solidFill>
                <a:latin typeface="Open Sans"/>
              </a:rPr>
              <a:t>Copy the memo template</a:t>
            </a:r>
          </a:p>
        </p:txBody>
      </p:sp>
      <p:sp>
        <p:nvSpPr>
          <p:cNvPr id="14" name="TextBox 13"/>
          <p:cNvSpPr txBox="1"/>
          <p:nvPr/>
        </p:nvSpPr>
        <p:spPr>
          <a:xfrm>
            <a:off x="914400" y="3873500"/>
            <a:ext cx="3703320" cy="825500"/>
          </a:xfrm>
          <a:prstGeom prst="rect">
            <a:avLst/>
          </a:prstGeom>
          <a:noFill/>
        </p:spPr>
        <p:txBody>
          <a:bodyPr wrap="square" lIns="0" tIns="0" rIns="0" bIns="0" anchor="t">
            <a:spAutoFit/>
          </a:bodyPr>
          <a:lstStyle/>
          <a:p>
            <a:pPr algn="l">
              <a:lnSpc>
                <a:spcPct val="115000"/>
              </a:lnSpc>
            </a:pPr>
            <a:r>
              <a:rPr sz="1050" b="0">
                <a:solidFill>
                  <a:srgbClr val="0D0D0D"/>
                </a:solidFill>
                <a:latin typeface="Open Sans"/>
              </a:rPr>
              <a:t>Copy docs/templates/memo-template.md into docs/decisions/ in your repo. Rename to YYYY-MM-DD-{lastname}-{company}-selection.md, all lowercase, hyphen-separated.</a:t>
            </a:r>
          </a:p>
        </p:txBody>
      </p:sp>
      <p:sp>
        <p:nvSpPr>
          <p:cNvPr id="15" name="Oval 14"/>
          <p:cNvSpPr/>
          <p:nvPr/>
        </p:nvSpPr>
        <p:spPr>
          <a:xfrm>
            <a:off x="4709160" y="1358900"/>
            <a:ext cx="329184" cy="329184"/>
          </a:xfrm>
          <a:prstGeom prst="ellipse">
            <a:avLst/>
          </a:prstGeom>
          <a:solidFill>
            <a:srgbClr val="024731"/>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latin typeface="Open Sans"/>
              </a:rPr>
              <a:t>4</a:t>
            </a:r>
          </a:p>
        </p:txBody>
      </p:sp>
      <p:sp>
        <p:nvSpPr>
          <p:cNvPr id="16" name="TextBox 15"/>
          <p:cNvSpPr txBox="1"/>
          <p:nvPr/>
        </p:nvSpPr>
        <p:spPr>
          <a:xfrm>
            <a:off x="5166360" y="1320800"/>
            <a:ext cx="3703320" cy="256032"/>
          </a:xfrm>
          <a:prstGeom prst="rect">
            <a:avLst/>
          </a:prstGeom>
          <a:noFill/>
        </p:spPr>
        <p:txBody>
          <a:bodyPr wrap="square" lIns="0" tIns="0" rIns="0" bIns="0" anchor="t">
            <a:spAutoFit/>
          </a:bodyPr>
          <a:lstStyle/>
          <a:p>
            <a:pPr algn="l"/>
            <a:r>
              <a:rPr sz="1300" b="1">
                <a:solidFill>
                  <a:srgbClr val="024731"/>
                </a:solidFill>
                <a:latin typeface="Open Sans"/>
              </a:rPr>
              <a:t>Write the six required sections</a:t>
            </a:r>
          </a:p>
        </p:txBody>
      </p:sp>
      <p:sp>
        <p:nvSpPr>
          <p:cNvPr id="17" name="TextBox 16"/>
          <p:cNvSpPr txBox="1"/>
          <p:nvPr/>
        </p:nvSpPr>
        <p:spPr>
          <a:xfrm>
            <a:off x="5166360" y="1587500"/>
            <a:ext cx="3703320" cy="825500"/>
          </a:xfrm>
          <a:prstGeom prst="rect">
            <a:avLst/>
          </a:prstGeom>
          <a:noFill/>
        </p:spPr>
        <p:txBody>
          <a:bodyPr wrap="square" lIns="0" tIns="0" rIns="0" bIns="0" anchor="t">
            <a:spAutoFit/>
          </a:bodyPr>
          <a:lstStyle/>
          <a:p>
            <a:pPr algn="l">
              <a:lnSpc>
                <a:spcPct val="115000"/>
              </a:lnSpc>
            </a:pPr>
            <a:r>
              <a:rPr sz="1050" b="0">
                <a:solidFill>
                  <a:srgbClr val="0D0D0D"/>
                </a:solidFill>
                <a:latin typeface="Open Sans"/>
              </a:rPr>
              <a:t>Company overview, selection rationale, data availability, preliminary hypotheses ("I expect X because Y"), ratio categories preview, and data collection plan.</a:t>
            </a:r>
          </a:p>
        </p:txBody>
      </p:sp>
      <p:sp>
        <p:nvSpPr>
          <p:cNvPr id="18" name="Oval 17"/>
          <p:cNvSpPr/>
          <p:nvPr/>
        </p:nvSpPr>
        <p:spPr>
          <a:xfrm>
            <a:off x="4709160" y="2501900"/>
            <a:ext cx="329184" cy="329184"/>
          </a:xfrm>
          <a:prstGeom prst="ellipse">
            <a:avLst/>
          </a:prstGeom>
          <a:solidFill>
            <a:srgbClr val="024731"/>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latin typeface="Open Sans"/>
              </a:rPr>
              <a:t>5</a:t>
            </a:r>
          </a:p>
        </p:txBody>
      </p:sp>
      <p:sp>
        <p:nvSpPr>
          <p:cNvPr id="19" name="TextBox 18"/>
          <p:cNvSpPr txBox="1"/>
          <p:nvPr/>
        </p:nvSpPr>
        <p:spPr>
          <a:xfrm>
            <a:off x="5166360" y="2463800"/>
            <a:ext cx="3703320" cy="256032"/>
          </a:xfrm>
          <a:prstGeom prst="rect">
            <a:avLst/>
          </a:prstGeom>
          <a:noFill/>
        </p:spPr>
        <p:txBody>
          <a:bodyPr wrap="square" lIns="0" tIns="0" rIns="0" bIns="0" anchor="t">
            <a:spAutoFit/>
          </a:bodyPr>
          <a:lstStyle/>
          <a:p>
            <a:pPr algn="l"/>
            <a:r>
              <a:rPr sz="1300" b="1">
                <a:solidFill>
                  <a:srgbClr val="024731"/>
                </a:solidFill>
                <a:latin typeface="Open Sans"/>
              </a:rPr>
              <a:t>Grant the instructor Write access</a:t>
            </a:r>
          </a:p>
        </p:txBody>
      </p:sp>
      <p:sp>
        <p:nvSpPr>
          <p:cNvPr id="20" name="TextBox 19"/>
          <p:cNvSpPr txBox="1"/>
          <p:nvPr/>
        </p:nvSpPr>
        <p:spPr>
          <a:xfrm>
            <a:off x="5166360" y="2730500"/>
            <a:ext cx="3703320" cy="825500"/>
          </a:xfrm>
          <a:prstGeom prst="rect">
            <a:avLst/>
          </a:prstGeom>
          <a:noFill/>
        </p:spPr>
        <p:txBody>
          <a:bodyPr wrap="square" lIns="0" tIns="0" rIns="0" bIns="0" anchor="t">
            <a:spAutoFit/>
          </a:bodyPr>
          <a:lstStyle/>
          <a:p>
            <a:pPr algn="l">
              <a:lnSpc>
                <a:spcPct val="115000"/>
              </a:lnSpc>
            </a:pPr>
            <a:r>
              <a:rPr sz="1050" b="0">
                <a:solidFill>
                  <a:srgbClr val="0D0D0D"/>
                </a:solidFill>
                <a:latin typeface="Open Sans"/>
              </a:rPr>
              <a:t>On GitHub: Settings → Collaborators → Add people → `adamwstauffer` → Write role. This enables PR-style feedback on your memo, which Stage 5 grades.</a:t>
            </a:r>
          </a:p>
        </p:txBody>
      </p:sp>
      <p:sp>
        <p:nvSpPr>
          <p:cNvPr id="21" name="Oval 20"/>
          <p:cNvSpPr/>
          <p:nvPr/>
        </p:nvSpPr>
        <p:spPr>
          <a:xfrm>
            <a:off x="4709160" y="3644900"/>
            <a:ext cx="329184" cy="329184"/>
          </a:xfrm>
          <a:prstGeom prst="ellipse">
            <a:avLst/>
          </a:prstGeom>
          <a:solidFill>
            <a:srgbClr val="024731"/>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latin typeface="Open Sans"/>
              </a:rPr>
              <a:t>6</a:t>
            </a:r>
          </a:p>
        </p:txBody>
      </p:sp>
      <p:sp>
        <p:nvSpPr>
          <p:cNvPr id="22" name="TextBox 21"/>
          <p:cNvSpPr txBox="1"/>
          <p:nvPr/>
        </p:nvSpPr>
        <p:spPr>
          <a:xfrm>
            <a:off x="5166360" y="3606800"/>
            <a:ext cx="3703320" cy="256032"/>
          </a:xfrm>
          <a:prstGeom prst="rect">
            <a:avLst/>
          </a:prstGeom>
          <a:noFill/>
        </p:spPr>
        <p:txBody>
          <a:bodyPr wrap="square" lIns="0" tIns="0" rIns="0" bIns="0" anchor="t">
            <a:spAutoFit/>
          </a:bodyPr>
          <a:lstStyle/>
          <a:p>
            <a:pPr algn="l"/>
            <a:r>
              <a:rPr sz="1300" b="1">
                <a:solidFill>
                  <a:srgbClr val="024731"/>
                </a:solidFill>
                <a:latin typeface="Open Sans"/>
              </a:rPr>
              <a:t>Commit &amp; push</a:t>
            </a:r>
          </a:p>
        </p:txBody>
      </p:sp>
      <p:sp>
        <p:nvSpPr>
          <p:cNvPr id="23" name="TextBox 22"/>
          <p:cNvSpPr txBox="1"/>
          <p:nvPr/>
        </p:nvSpPr>
        <p:spPr>
          <a:xfrm>
            <a:off x="5166360" y="3873500"/>
            <a:ext cx="3703320" cy="825500"/>
          </a:xfrm>
          <a:prstGeom prst="rect">
            <a:avLst/>
          </a:prstGeom>
          <a:noFill/>
        </p:spPr>
        <p:txBody>
          <a:bodyPr wrap="square" lIns="0" tIns="0" rIns="0" bIns="0" anchor="t">
            <a:spAutoFit/>
          </a:bodyPr>
          <a:lstStyle/>
          <a:p>
            <a:pPr algn="l">
              <a:lnSpc>
                <a:spcPct val="115000"/>
              </a:lnSpc>
            </a:pPr>
            <a:r>
              <a:rPr sz="1050" b="0">
                <a:solidFill>
                  <a:srgbClr val="0D0D0D"/>
                </a:solidFill>
                <a:latin typeface="Open Sans"/>
              </a:rPr>
              <a:t>git add, git commit, git push. If GitHub blocks you, upload the .md to Lamaku as a fallback — same filename, no grade penalty.</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320040"/>
            <a:ext cx="8229600" cy="548640"/>
          </a:xfrm>
          <a:prstGeom prst="rect">
            <a:avLst/>
          </a:prstGeom>
          <a:noFill/>
          <a:ln/>
        </p:spPr>
        <p:txBody>
          <a:bodyPr wrap="square" lIns="0" tIns="0" rIns="0" bIns="0" rtlCol="0" anchor="ctr"/>
          <a:lstStyle/>
          <a:p>
            <a:pPr marL="0" indent="0">
              <a:buNone/>
            </a:pPr>
            <a:r>
              <a:rPr lang="en-US" sz="2400" b="1" dirty="0">
                <a:solidFill>
                  <a:srgbClr val="024731"/>
                </a:solidFill>
                <a:latin typeface="Open Sans" pitchFamily="34" charset="0"/>
                <a:ea typeface="Open Sans" pitchFamily="34" charset="-122"/>
                <a:cs typeface="Open Sans" pitchFamily="34" charset="-120"/>
              </a:rPr>
              <a:t>International Scope — Choose Any Public Company</a:t>
            </a:r>
            <a:endParaRPr lang="en-US" sz="2400" dirty="0"/>
          </a:p>
        </p:txBody>
      </p:sp>
      <p:sp>
        <p:nvSpPr>
          <p:cNvPr id="3" name="Text 1"/>
          <p:cNvSpPr/>
          <p:nvPr/>
        </p:nvSpPr>
        <p:spPr>
          <a:xfrm>
            <a:off x="548640" y="822960"/>
            <a:ext cx="8046720" cy="320040"/>
          </a:xfrm>
          <a:prstGeom prst="rect">
            <a:avLst/>
          </a:prstGeom>
          <a:noFill/>
          <a:ln/>
        </p:spPr>
        <p:txBody>
          <a:bodyPr wrap="square" rtlCol="0" anchor="ctr"/>
          <a:lstStyle/>
          <a:p>
            <a:pPr marL="0" indent="0">
              <a:buNone/>
            </a:pPr>
            <a:r>
              <a:rPr lang="en-US" sz="1200" dirty="0">
                <a:solidFill>
                  <a:srgbClr val="6B7280"/>
                </a:solidFill>
                <a:latin typeface="Open Sans" pitchFamily="34" charset="0"/>
                <a:ea typeface="Open Sans" pitchFamily="34" charset="-122"/>
                <a:cs typeface="Open Sans" pitchFamily="34" charset="-120"/>
              </a:rPr>
              <a:t>Non-U.S. companies are encouraged. Analyze the company most relevant to your career.</a:t>
            </a:r>
            <a:endParaRPr lang="en-US" sz="1200" dirty="0"/>
          </a:p>
        </p:txBody>
      </p:sp>
      <p:sp>
        <p:nvSpPr>
          <p:cNvPr id="4" name="Shape 2"/>
          <p:cNvSpPr/>
          <p:nvPr/>
        </p:nvSpPr>
        <p:spPr>
          <a:xfrm>
            <a:off x="548640" y="1371600"/>
            <a:ext cx="2606040" cy="1188720"/>
          </a:xfrm>
          <a:prstGeom prst="rect">
            <a:avLst/>
          </a:prstGeom>
          <a:solidFill>
            <a:srgbClr val="FFFFFF"/>
          </a:solidFill>
          <a:ln/>
          <a:effectLst>
            <a:outerShdw blurRad="50800" dist="12700" dir="8100000" algn="bl" rotWithShape="0">
              <a:srgbClr val="000000">
                <a:alpha val="10000"/>
              </a:srgbClr>
            </a:outerShdw>
          </a:effectLst>
        </p:spPr>
        <p:txBody>
          <a:bodyPr/>
          <a:lstStyle/>
          <a:p>
            <a:endParaRPr lang="en-US"/>
          </a:p>
        </p:txBody>
      </p:sp>
      <p:sp>
        <p:nvSpPr>
          <p:cNvPr id="5" name="Shape 3"/>
          <p:cNvSpPr/>
          <p:nvPr/>
        </p:nvSpPr>
        <p:spPr>
          <a:xfrm>
            <a:off x="548640" y="1371600"/>
            <a:ext cx="2606040" cy="54864"/>
          </a:xfrm>
          <a:prstGeom prst="rect">
            <a:avLst/>
          </a:prstGeom>
          <a:solidFill>
            <a:srgbClr val="C9A84C"/>
          </a:solidFill>
          <a:ln/>
        </p:spPr>
        <p:txBody>
          <a:bodyPr/>
          <a:lstStyle/>
          <a:p>
            <a:endParaRPr lang="en-US"/>
          </a:p>
        </p:txBody>
      </p:sp>
      <p:sp>
        <p:nvSpPr>
          <p:cNvPr id="6" name="Text 4"/>
          <p:cNvSpPr/>
          <p:nvPr/>
        </p:nvSpPr>
        <p:spPr>
          <a:xfrm>
            <a:off x="685800" y="1508760"/>
            <a:ext cx="2331720" cy="274320"/>
          </a:xfrm>
          <a:prstGeom prst="rect">
            <a:avLst/>
          </a:prstGeom>
          <a:noFill/>
          <a:ln/>
        </p:spPr>
        <p:txBody>
          <a:bodyPr wrap="square" lIns="0" tIns="0" rIns="0" bIns="0" rtlCol="0" anchor="ctr"/>
          <a:lstStyle/>
          <a:p>
            <a:pPr marL="0" indent="0">
              <a:buNone/>
            </a:pPr>
            <a:r>
              <a:rPr lang="en-US" sz="1300" b="1" dirty="0">
                <a:solidFill>
                  <a:srgbClr val="024731"/>
                </a:solidFill>
                <a:latin typeface="Open Sans" pitchFamily="34" charset="0"/>
                <a:ea typeface="Open Sans" pitchFamily="34" charset="-122"/>
                <a:cs typeface="Open Sans" pitchFamily="34" charset="-120"/>
              </a:rPr>
              <a:t>Vietnam</a:t>
            </a:r>
            <a:endParaRPr lang="en-US" sz="1300" dirty="0"/>
          </a:p>
        </p:txBody>
      </p:sp>
      <p:sp>
        <p:nvSpPr>
          <p:cNvPr id="7" name="Text 5"/>
          <p:cNvSpPr/>
          <p:nvPr/>
        </p:nvSpPr>
        <p:spPr>
          <a:xfrm>
            <a:off x="685800" y="1783080"/>
            <a:ext cx="2331720" cy="228600"/>
          </a:xfrm>
          <a:prstGeom prst="rect">
            <a:avLst/>
          </a:prstGeom>
          <a:noFill/>
          <a:ln/>
        </p:spPr>
        <p:txBody>
          <a:bodyPr wrap="square" lIns="0" tIns="0" rIns="0" bIns="0" rtlCol="0" anchor="ctr"/>
          <a:lstStyle/>
          <a:p>
            <a:pPr marL="0" indent="0">
              <a:buNone/>
            </a:pPr>
            <a:r>
              <a:rPr lang="en-US" sz="1100" b="1" dirty="0">
                <a:solidFill>
                  <a:srgbClr val="0D0D0D"/>
                </a:solidFill>
                <a:latin typeface="Open Sans" pitchFamily="34" charset="0"/>
                <a:ea typeface="Open Sans" pitchFamily="34" charset="-122"/>
                <a:cs typeface="Open Sans" pitchFamily="34" charset="-120"/>
              </a:rPr>
              <a:t>HOSE  ·  HNX</a:t>
            </a:r>
            <a:endParaRPr lang="en-US" sz="1100" dirty="0"/>
          </a:p>
        </p:txBody>
      </p:sp>
      <p:sp>
        <p:nvSpPr>
          <p:cNvPr id="8" name="Text 6"/>
          <p:cNvSpPr/>
          <p:nvPr/>
        </p:nvSpPr>
        <p:spPr>
          <a:xfrm>
            <a:off x="685800" y="2057400"/>
            <a:ext cx="2331720" cy="365760"/>
          </a:xfrm>
          <a:prstGeom prst="rect">
            <a:avLst/>
          </a:prstGeom>
          <a:noFill/>
          <a:ln/>
        </p:spPr>
        <p:txBody>
          <a:bodyPr wrap="square" lIns="0" tIns="0" rIns="0" bIns="0" rtlCol="0" anchor="ctr"/>
          <a:lstStyle/>
          <a:p>
            <a:pPr marL="0" indent="0">
              <a:buNone/>
            </a:pPr>
            <a:r>
              <a:rPr lang="en-US" sz="900" dirty="0">
                <a:solidFill>
                  <a:srgbClr val="6B7280"/>
                </a:solidFill>
                <a:latin typeface="Open Sans" pitchFamily="34" charset="0"/>
                <a:ea typeface="Open Sans" pitchFamily="34" charset="-122"/>
                <a:cs typeface="Open Sans" pitchFamily="34" charset="-120"/>
              </a:rPr>
              <a:t>VAS reporting; note differences from GAAP</a:t>
            </a:r>
            <a:endParaRPr lang="en-US" sz="900" dirty="0"/>
          </a:p>
        </p:txBody>
      </p:sp>
      <p:sp>
        <p:nvSpPr>
          <p:cNvPr id="9" name="Shape 7"/>
          <p:cNvSpPr/>
          <p:nvPr/>
        </p:nvSpPr>
        <p:spPr>
          <a:xfrm>
            <a:off x="3383280" y="1371600"/>
            <a:ext cx="2606040" cy="1188720"/>
          </a:xfrm>
          <a:prstGeom prst="rect">
            <a:avLst/>
          </a:prstGeom>
          <a:solidFill>
            <a:srgbClr val="FFFFFF"/>
          </a:solidFill>
          <a:ln/>
          <a:effectLst>
            <a:outerShdw blurRad="50800" dist="12700" dir="8100000" algn="bl" rotWithShape="0">
              <a:srgbClr val="000000">
                <a:alpha val="10000"/>
              </a:srgbClr>
            </a:outerShdw>
          </a:effectLst>
        </p:spPr>
        <p:txBody>
          <a:bodyPr/>
          <a:lstStyle/>
          <a:p>
            <a:endParaRPr lang="en-US"/>
          </a:p>
        </p:txBody>
      </p:sp>
      <p:sp>
        <p:nvSpPr>
          <p:cNvPr id="10" name="Shape 8"/>
          <p:cNvSpPr/>
          <p:nvPr/>
        </p:nvSpPr>
        <p:spPr>
          <a:xfrm>
            <a:off x="3383280" y="1371600"/>
            <a:ext cx="2606040" cy="54864"/>
          </a:xfrm>
          <a:prstGeom prst="rect">
            <a:avLst/>
          </a:prstGeom>
          <a:solidFill>
            <a:srgbClr val="024731"/>
          </a:solidFill>
          <a:ln/>
        </p:spPr>
        <p:txBody>
          <a:bodyPr/>
          <a:lstStyle/>
          <a:p>
            <a:endParaRPr lang="en-US"/>
          </a:p>
        </p:txBody>
      </p:sp>
      <p:sp>
        <p:nvSpPr>
          <p:cNvPr id="11" name="Text 9"/>
          <p:cNvSpPr/>
          <p:nvPr/>
        </p:nvSpPr>
        <p:spPr>
          <a:xfrm>
            <a:off x="3520440" y="1508760"/>
            <a:ext cx="2331720" cy="274320"/>
          </a:xfrm>
          <a:prstGeom prst="rect">
            <a:avLst/>
          </a:prstGeom>
          <a:noFill/>
          <a:ln/>
        </p:spPr>
        <p:txBody>
          <a:bodyPr wrap="square" lIns="0" tIns="0" rIns="0" bIns="0" rtlCol="0" anchor="ctr"/>
          <a:lstStyle/>
          <a:p>
            <a:pPr marL="0" indent="0">
              <a:buNone/>
            </a:pPr>
            <a:r>
              <a:rPr lang="en-US" sz="1300" b="1" dirty="0">
                <a:solidFill>
                  <a:srgbClr val="024731"/>
                </a:solidFill>
                <a:latin typeface="Open Sans" pitchFamily="34" charset="0"/>
                <a:ea typeface="Open Sans" pitchFamily="34" charset="-122"/>
                <a:cs typeface="Open Sans" pitchFamily="34" charset="-120"/>
              </a:rPr>
              <a:t>Singapore</a:t>
            </a:r>
            <a:endParaRPr lang="en-US" sz="1300" dirty="0"/>
          </a:p>
        </p:txBody>
      </p:sp>
      <p:sp>
        <p:nvSpPr>
          <p:cNvPr id="12" name="Text 10"/>
          <p:cNvSpPr/>
          <p:nvPr/>
        </p:nvSpPr>
        <p:spPr>
          <a:xfrm>
            <a:off x="3520440" y="1783080"/>
            <a:ext cx="2331720" cy="228600"/>
          </a:xfrm>
          <a:prstGeom prst="rect">
            <a:avLst/>
          </a:prstGeom>
          <a:noFill/>
          <a:ln/>
        </p:spPr>
        <p:txBody>
          <a:bodyPr wrap="square" lIns="0" tIns="0" rIns="0" bIns="0" rtlCol="0" anchor="ctr"/>
          <a:lstStyle/>
          <a:p>
            <a:pPr marL="0" indent="0">
              <a:buNone/>
            </a:pPr>
            <a:r>
              <a:rPr lang="en-US" sz="1100" b="1" dirty="0">
                <a:solidFill>
                  <a:srgbClr val="0D0D0D"/>
                </a:solidFill>
                <a:latin typeface="Open Sans" pitchFamily="34" charset="0"/>
                <a:ea typeface="Open Sans" pitchFamily="34" charset="-122"/>
                <a:cs typeface="Open Sans" pitchFamily="34" charset="-120"/>
              </a:rPr>
              <a:t>SGX</a:t>
            </a:r>
            <a:endParaRPr lang="en-US" sz="1100" dirty="0"/>
          </a:p>
        </p:txBody>
      </p:sp>
      <p:sp>
        <p:nvSpPr>
          <p:cNvPr id="13" name="Text 11"/>
          <p:cNvSpPr/>
          <p:nvPr/>
        </p:nvSpPr>
        <p:spPr>
          <a:xfrm>
            <a:off x="3520440" y="2057400"/>
            <a:ext cx="2331720" cy="365760"/>
          </a:xfrm>
          <a:prstGeom prst="rect">
            <a:avLst/>
          </a:prstGeom>
          <a:noFill/>
          <a:ln/>
        </p:spPr>
        <p:txBody>
          <a:bodyPr wrap="square" lIns="0" tIns="0" rIns="0" bIns="0" rtlCol="0" anchor="ctr"/>
          <a:lstStyle/>
          <a:p>
            <a:pPr marL="0" indent="0">
              <a:buNone/>
            </a:pPr>
            <a:r>
              <a:rPr lang="en-US" sz="900" dirty="0">
                <a:solidFill>
                  <a:srgbClr val="6B7280"/>
                </a:solidFill>
                <a:latin typeface="Open Sans" pitchFamily="34" charset="0"/>
                <a:ea typeface="Open Sans" pitchFamily="34" charset="-122"/>
                <a:cs typeface="Open Sans" pitchFamily="34" charset="-120"/>
              </a:rPr>
              <a:t>Many IFRS reporters; strong English disclosures</a:t>
            </a:r>
            <a:endParaRPr lang="en-US" sz="900" dirty="0"/>
          </a:p>
        </p:txBody>
      </p:sp>
      <p:sp>
        <p:nvSpPr>
          <p:cNvPr id="14" name="Shape 12"/>
          <p:cNvSpPr/>
          <p:nvPr/>
        </p:nvSpPr>
        <p:spPr>
          <a:xfrm>
            <a:off x="6217920" y="1371600"/>
            <a:ext cx="2606040" cy="1188720"/>
          </a:xfrm>
          <a:prstGeom prst="rect">
            <a:avLst/>
          </a:prstGeom>
          <a:solidFill>
            <a:srgbClr val="FFFFFF"/>
          </a:solidFill>
          <a:ln/>
          <a:effectLst>
            <a:outerShdw blurRad="50800" dist="12700" dir="8100000" algn="bl" rotWithShape="0">
              <a:srgbClr val="000000">
                <a:alpha val="10000"/>
              </a:srgbClr>
            </a:outerShdw>
          </a:effectLst>
        </p:spPr>
        <p:txBody>
          <a:bodyPr/>
          <a:lstStyle/>
          <a:p>
            <a:endParaRPr lang="en-US"/>
          </a:p>
        </p:txBody>
      </p:sp>
      <p:sp>
        <p:nvSpPr>
          <p:cNvPr id="15" name="Shape 13"/>
          <p:cNvSpPr/>
          <p:nvPr/>
        </p:nvSpPr>
        <p:spPr>
          <a:xfrm>
            <a:off x="6217920" y="1371600"/>
            <a:ext cx="2606040" cy="54864"/>
          </a:xfrm>
          <a:prstGeom prst="rect">
            <a:avLst/>
          </a:prstGeom>
          <a:solidFill>
            <a:srgbClr val="024731"/>
          </a:solidFill>
          <a:ln/>
        </p:spPr>
        <p:txBody>
          <a:bodyPr/>
          <a:lstStyle/>
          <a:p>
            <a:endParaRPr lang="en-US"/>
          </a:p>
        </p:txBody>
      </p:sp>
      <p:sp>
        <p:nvSpPr>
          <p:cNvPr id="16" name="Text 14"/>
          <p:cNvSpPr/>
          <p:nvPr/>
        </p:nvSpPr>
        <p:spPr>
          <a:xfrm>
            <a:off x="6355080" y="1508760"/>
            <a:ext cx="2331720" cy="274320"/>
          </a:xfrm>
          <a:prstGeom prst="rect">
            <a:avLst/>
          </a:prstGeom>
          <a:noFill/>
          <a:ln/>
        </p:spPr>
        <p:txBody>
          <a:bodyPr wrap="square" lIns="0" tIns="0" rIns="0" bIns="0" rtlCol="0" anchor="ctr"/>
          <a:lstStyle/>
          <a:p>
            <a:pPr marL="0" indent="0">
              <a:buNone/>
            </a:pPr>
            <a:r>
              <a:rPr lang="en-US" sz="1300" b="1" dirty="0">
                <a:solidFill>
                  <a:srgbClr val="024731"/>
                </a:solidFill>
                <a:latin typeface="Open Sans" pitchFamily="34" charset="0"/>
                <a:ea typeface="Open Sans" pitchFamily="34" charset="-122"/>
                <a:cs typeface="Open Sans" pitchFamily="34" charset="-120"/>
              </a:rPr>
              <a:t>Thailand</a:t>
            </a:r>
            <a:endParaRPr lang="en-US" sz="1300" dirty="0"/>
          </a:p>
        </p:txBody>
      </p:sp>
      <p:sp>
        <p:nvSpPr>
          <p:cNvPr id="17" name="Text 15"/>
          <p:cNvSpPr/>
          <p:nvPr/>
        </p:nvSpPr>
        <p:spPr>
          <a:xfrm>
            <a:off x="6355080" y="1783080"/>
            <a:ext cx="2331720" cy="228600"/>
          </a:xfrm>
          <a:prstGeom prst="rect">
            <a:avLst/>
          </a:prstGeom>
          <a:noFill/>
          <a:ln/>
        </p:spPr>
        <p:txBody>
          <a:bodyPr wrap="square" lIns="0" tIns="0" rIns="0" bIns="0" rtlCol="0" anchor="ctr"/>
          <a:lstStyle/>
          <a:p>
            <a:pPr marL="0" indent="0">
              <a:buNone/>
            </a:pPr>
            <a:r>
              <a:rPr lang="en-US" sz="1100" b="1" dirty="0">
                <a:solidFill>
                  <a:srgbClr val="0D0D0D"/>
                </a:solidFill>
                <a:latin typeface="Open Sans" pitchFamily="34" charset="0"/>
                <a:ea typeface="Open Sans" pitchFamily="34" charset="-122"/>
                <a:cs typeface="Open Sans" pitchFamily="34" charset="-120"/>
              </a:rPr>
              <a:t>SET</a:t>
            </a:r>
            <a:endParaRPr lang="en-US" sz="1100" dirty="0"/>
          </a:p>
        </p:txBody>
      </p:sp>
      <p:sp>
        <p:nvSpPr>
          <p:cNvPr id="18" name="Text 16"/>
          <p:cNvSpPr/>
          <p:nvPr/>
        </p:nvSpPr>
        <p:spPr>
          <a:xfrm>
            <a:off x="6355080" y="2057400"/>
            <a:ext cx="2331720" cy="365760"/>
          </a:xfrm>
          <a:prstGeom prst="rect">
            <a:avLst/>
          </a:prstGeom>
          <a:noFill/>
          <a:ln/>
        </p:spPr>
        <p:txBody>
          <a:bodyPr wrap="square" lIns="0" tIns="0" rIns="0" bIns="0" rtlCol="0" anchor="ctr"/>
          <a:lstStyle/>
          <a:p>
            <a:pPr marL="0" indent="0">
              <a:buNone/>
            </a:pPr>
            <a:r>
              <a:rPr lang="en-US" sz="900" dirty="0">
                <a:solidFill>
                  <a:srgbClr val="6B7280"/>
                </a:solidFill>
                <a:latin typeface="Open Sans" pitchFamily="34" charset="0"/>
                <a:ea typeface="Open Sans" pitchFamily="34" charset="-122"/>
                <a:cs typeface="Open Sans" pitchFamily="34" charset="-120"/>
              </a:rPr>
              <a:t>Thai GAAP converging with IFRS</a:t>
            </a:r>
            <a:endParaRPr lang="en-US" sz="900" dirty="0"/>
          </a:p>
        </p:txBody>
      </p:sp>
      <p:sp>
        <p:nvSpPr>
          <p:cNvPr id="19" name="Shape 17"/>
          <p:cNvSpPr/>
          <p:nvPr/>
        </p:nvSpPr>
        <p:spPr>
          <a:xfrm>
            <a:off x="548640" y="2788920"/>
            <a:ext cx="2606040" cy="1188720"/>
          </a:xfrm>
          <a:prstGeom prst="rect">
            <a:avLst/>
          </a:prstGeom>
          <a:solidFill>
            <a:srgbClr val="FFFFFF"/>
          </a:solidFill>
          <a:ln/>
          <a:effectLst>
            <a:outerShdw blurRad="50800" dist="12700" dir="8100000" algn="bl" rotWithShape="0">
              <a:srgbClr val="000000">
                <a:alpha val="10000"/>
              </a:srgbClr>
            </a:outerShdw>
          </a:effectLst>
        </p:spPr>
        <p:txBody>
          <a:bodyPr/>
          <a:lstStyle/>
          <a:p>
            <a:endParaRPr lang="en-US"/>
          </a:p>
        </p:txBody>
      </p:sp>
      <p:sp>
        <p:nvSpPr>
          <p:cNvPr id="20" name="Shape 18"/>
          <p:cNvSpPr/>
          <p:nvPr/>
        </p:nvSpPr>
        <p:spPr>
          <a:xfrm>
            <a:off x="548640" y="2788920"/>
            <a:ext cx="2606040" cy="54864"/>
          </a:xfrm>
          <a:prstGeom prst="rect">
            <a:avLst/>
          </a:prstGeom>
          <a:solidFill>
            <a:srgbClr val="024731"/>
          </a:solidFill>
          <a:ln/>
        </p:spPr>
        <p:txBody>
          <a:bodyPr/>
          <a:lstStyle/>
          <a:p>
            <a:endParaRPr lang="en-US"/>
          </a:p>
        </p:txBody>
      </p:sp>
      <p:sp>
        <p:nvSpPr>
          <p:cNvPr id="21" name="Text 19"/>
          <p:cNvSpPr/>
          <p:nvPr/>
        </p:nvSpPr>
        <p:spPr>
          <a:xfrm>
            <a:off x="685800" y="2926080"/>
            <a:ext cx="2331720" cy="274320"/>
          </a:xfrm>
          <a:prstGeom prst="rect">
            <a:avLst/>
          </a:prstGeom>
          <a:noFill/>
          <a:ln/>
        </p:spPr>
        <p:txBody>
          <a:bodyPr wrap="square" lIns="0" tIns="0" rIns="0" bIns="0" rtlCol="0" anchor="ctr"/>
          <a:lstStyle/>
          <a:p>
            <a:pPr marL="0" indent="0">
              <a:buNone/>
            </a:pPr>
            <a:r>
              <a:rPr lang="en-US" sz="1300" b="1" dirty="0">
                <a:solidFill>
                  <a:srgbClr val="024731"/>
                </a:solidFill>
                <a:latin typeface="Open Sans" pitchFamily="34" charset="0"/>
                <a:ea typeface="Open Sans" pitchFamily="34" charset="-122"/>
                <a:cs typeface="Open Sans" pitchFamily="34" charset="-120"/>
              </a:rPr>
              <a:t>Indonesia</a:t>
            </a:r>
            <a:endParaRPr lang="en-US" sz="1300" dirty="0"/>
          </a:p>
        </p:txBody>
      </p:sp>
      <p:sp>
        <p:nvSpPr>
          <p:cNvPr id="22" name="Text 20"/>
          <p:cNvSpPr/>
          <p:nvPr/>
        </p:nvSpPr>
        <p:spPr>
          <a:xfrm>
            <a:off x="685800" y="3200400"/>
            <a:ext cx="2331720" cy="228600"/>
          </a:xfrm>
          <a:prstGeom prst="rect">
            <a:avLst/>
          </a:prstGeom>
          <a:noFill/>
          <a:ln/>
        </p:spPr>
        <p:txBody>
          <a:bodyPr wrap="square" lIns="0" tIns="0" rIns="0" bIns="0" rtlCol="0" anchor="ctr"/>
          <a:lstStyle/>
          <a:p>
            <a:pPr marL="0" indent="0">
              <a:buNone/>
            </a:pPr>
            <a:r>
              <a:rPr lang="en-US" sz="1100" b="1" dirty="0">
                <a:solidFill>
                  <a:srgbClr val="0D0D0D"/>
                </a:solidFill>
                <a:latin typeface="Open Sans" pitchFamily="34" charset="0"/>
                <a:ea typeface="Open Sans" pitchFamily="34" charset="-122"/>
                <a:cs typeface="Open Sans" pitchFamily="34" charset="-120"/>
              </a:rPr>
              <a:t>IDX</a:t>
            </a:r>
            <a:endParaRPr lang="en-US" sz="1100" dirty="0"/>
          </a:p>
        </p:txBody>
      </p:sp>
      <p:sp>
        <p:nvSpPr>
          <p:cNvPr id="23" name="Text 21"/>
          <p:cNvSpPr/>
          <p:nvPr/>
        </p:nvSpPr>
        <p:spPr>
          <a:xfrm>
            <a:off x="685800" y="3474720"/>
            <a:ext cx="2331720" cy="365760"/>
          </a:xfrm>
          <a:prstGeom prst="rect">
            <a:avLst/>
          </a:prstGeom>
          <a:noFill/>
          <a:ln/>
        </p:spPr>
        <p:txBody>
          <a:bodyPr wrap="square" lIns="0" tIns="0" rIns="0" bIns="0" rtlCol="0" anchor="ctr"/>
          <a:lstStyle/>
          <a:p>
            <a:pPr marL="0" indent="0">
              <a:buNone/>
            </a:pPr>
            <a:r>
              <a:rPr lang="en-US" sz="900" dirty="0">
                <a:solidFill>
                  <a:srgbClr val="6B7280"/>
                </a:solidFill>
                <a:latin typeface="Open Sans" pitchFamily="34" charset="0"/>
                <a:ea typeface="Open Sans" pitchFamily="34" charset="-122"/>
                <a:cs typeface="Open Sans" pitchFamily="34" charset="-120"/>
              </a:rPr>
              <a:t>IFRS-converged; IDR reporting currency</a:t>
            </a:r>
            <a:endParaRPr lang="en-US" sz="900" dirty="0"/>
          </a:p>
        </p:txBody>
      </p:sp>
      <p:sp>
        <p:nvSpPr>
          <p:cNvPr id="24" name="Shape 22"/>
          <p:cNvSpPr/>
          <p:nvPr/>
        </p:nvSpPr>
        <p:spPr>
          <a:xfrm>
            <a:off x="3383280" y="2788920"/>
            <a:ext cx="2606040" cy="1188720"/>
          </a:xfrm>
          <a:prstGeom prst="rect">
            <a:avLst/>
          </a:prstGeom>
          <a:solidFill>
            <a:srgbClr val="FFFFFF"/>
          </a:solidFill>
          <a:ln/>
          <a:effectLst>
            <a:outerShdw blurRad="50800" dist="12700" dir="8100000" algn="bl" rotWithShape="0">
              <a:srgbClr val="000000">
                <a:alpha val="10000"/>
              </a:srgbClr>
            </a:outerShdw>
          </a:effectLst>
        </p:spPr>
        <p:txBody>
          <a:bodyPr/>
          <a:lstStyle/>
          <a:p>
            <a:endParaRPr lang="en-US"/>
          </a:p>
        </p:txBody>
      </p:sp>
      <p:sp>
        <p:nvSpPr>
          <p:cNvPr id="25" name="Shape 23"/>
          <p:cNvSpPr/>
          <p:nvPr/>
        </p:nvSpPr>
        <p:spPr>
          <a:xfrm>
            <a:off x="3383280" y="2788920"/>
            <a:ext cx="2606040" cy="54864"/>
          </a:xfrm>
          <a:prstGeom prst="rect">
            <a:avLst/>
          </a:prstGeom>
          <a:solidFill>
            <a:srgbClr val="024731"/>
          </a:solidFill>
          <a:ln/>
        </p:spPr>
        <p:txBody>
          <a:bodyPr/>
          <a:lstStyle/>
          <a:p>
            <a:endParaRPr lang="en-US"/>
          </a:p>
        </p:txBody>
      </p:sp>
      <p:sp>
        <p:nvSpPr>
          <p:cNvPr id="26" name="Text 24"/>
          <p:cNvSpPr/>
          <p:nvPr/>
        </p:nvSpPr>
        <p:spPr>
          <a:xfrm>
            <a:off x="3520440" y="2926080"/>
            <a:ext cx="2331720" cy="274320"/>
          </a:xfrm>
          <a:prstGeom prst="rect">
            <a:avLst/>
          </a:prstGeom>
          <a:noFill/>
          <a:ln/>
        </p:spPr>
        <p:txBody>
          <a:bodyPr wrap="square" lIns="0" tIns="0" rIns="0" bIns="0" rtlCol="0" anchor="ctr"/>
          <a:lstStyle/>
          <a:p>
            <a:pPr marL="0" indent="0">
              <a:buNone/>
            </a:pPr>
            <a:r>
              <a:rPr lang="en-US" sz="1300" b="1" dirty="0">
                <a:solidFill>
                  <a:srgbClr val="024731"/>
                </a:solidFill>
                <a:latin typeface="Open Sans" pitchFamily="34" charset="0"/>
                <a:ea typeface="Open Sans" pitchFamily="34" charset="-122"/>
                <a:cs typeface="Open Sans" pitchFamily="34" charset="-120"/>
              </a:rPr>
              <a:t>United States</a:t>
            </a:r>
            <a:endParaRPr lang="en-US" sz="1300" dirty="0"/>
          </a:p>
        </p:txBody>
      </p:sp>
      <p:sp>
        <p:nvSpPr>
          <p:cNvPr id="27" name="Text 25"/>
          <p:cNvSpPr/>
          <p:nvPr/>
        </p:nvSpPr>
        <p:spPr>
          <a:xfrm>
            <a:off x="3520440" y="3200400"/>
            <a:ext cx="2331720" cy="228600"/>
          </a:xfrm>
          <a:prstGeom prst="rect">
            <a:avLst/>
          </a:prstGeom>
          <a:noFill/>
          <a:ln/>
        </p:spPr>
        <p:txBody>
          <a:bodyPr wrap="square" lIns="0" tIns="0" rIns="0" bIns="0" rtlCol="0" anchor="ctr"/>
          <a:lstStyle/>
          <a:p>
            <a:pPr marL="0" indent="0">
              <a:buNone/>
            </a:pPr>
            <a:r>
              <a:rPr lang="en-US" sz="1100" b="1" dirty="0">
                <a:solidFill>
                  <a:srgbClr val="0D0D0D"/>
                </a:solidFill>
                <a:latin typeface="Open Sans" pitchFamily="34" charset="0"/>
                <a:ea typeface="Open Sans" pitchFamily="34" charset="-122"/>
                <a:cs typeface="Open Sans" pitchFamily="34" charset="-120"/>
              </a:rPr>
              <a:t>NYSE  ·  NASDAQ</a:t>
            </a:r>
            <a:endParaRPr lang="en-US" sz="1100" dirty="0"/>
          </a:p>
        </p:txBody>
      </p:sp>
      <p:sp>
        <p:nvSpPr>
          <p:cNvPr id="28" name="Text 26"/>
          <p:cNvSpPr/>
          <p:nvPr/>
        </p:nvSpPr>
        <p:spPr>
          <a:xfrm>
            <a:off x="3520440" y="3474720"/>
            <a:ext cx="2331720" cy="365760"/>
          </a:xfrm>
          <a:prstGeom prst="rect">
            <a:avLst/>
          </a:prstGeom>
          <a:noFill/>
          <a:ln/>
        </p:spPr>
        <p:txBody>
          <a:bodyPr wrap="square" lIns="0" tIns="0" rIns="0" bIns="0" rtlCol="0" anchor="ctr"/>
          <a:lstStyle/>
          <a:p>
            <a:pPr marL="0" indent="0">
              <a:buNone/>
            </a:pPr>
            <a:r>
              <a:rPr lang="en-US" sz="900" dirty="0">
                <a:solidFill>
                  <a:srgbClr val="6B7280"/>
                </a:solidFill>
                <a:latin typeface="Open Sans" pitchFamily="34" charset="0"/>
                <a:ea typeface="Open Sans" pitchFamily="34" charset="-122"/>
                <a:cs typeface="Open Sans" pitchFamily="34" charset="-120"/>
              </a:rPr>
              <a:t>10-K filings via SEC EDGAR</a:t>
            </a:r>
            <a:endParaRPr lang="en-US" sz="900" dirty="0"/>
          </a:p>
        </p:txBody>
      </p:sp>
      <p:sp>
        <p:nvSpPr>
          <p:cNvPr id="29" name="Shape 27"/>
          <p:cNvSpPr/>
          <p:nvPr/>
        </p:nvSpPr>
        <p:spPr>
          <a:xfrm>
            <a:off x="6217920" y="2788920"/>
            <a:ext cx="2606040" cy="1188720"/>
          </a:xfrm>
          <a:prstGeom prst="rect">
            <a:avLst/>
          </a:prstGeom>
          <a:solidFill>
            <a:srgbClr val="FFFFFF"/>
          </a:solidFill>
          <a:ln/>
          <a:effectLst>
            <a:outerShdw blurRad="50800" dist="12700" dir="8100000" algn="bl" rotWithShape="0">
              <a:srgbClr val="000000">
                <a:alpha val="10000"/>
              </a:srgbClr>
            </a:outerShdw>
          </a:effectLst>
        </p:spPr>
        <p:txBody>
          <a:bodyPr/>
          <a:lstStyle/>
          <a:p>
            <a:endParaRPr lang="en-US"/>
          </a:p>
        </p:txBody>
      </p:sp>
      <p:sp>
        <p:nvSpPr>
          <p:cNvPr id="30" name="Shape 28"/>
          <p:cNvSpPr/>
          <p:nvPr/>
        </p:nvSpPr>
        <p:spPr>
          <a:xfrm>
            <a:off x="6217920" y="2788920"/>
            <a:ext cx="2606040" cy="54864"/>
          </a:xfrm>
          <a:prstGeom prst="rect">
            <a:avLst/>
          </a:prstGeom>
          <a:solidFill>
            <a:srgbClr val="024731"/>
          </a:solidFill>
          <a:ln/>
        </p:spPr>
        <p:txBody>
          <a:bodyPr/>
          <a:lstStyle/>
          <a:p>
            <a:endParaRPr lang="en-US"/>
          </a:p>
        </p:txBody>
      </p:sp>
      <p:sp>
        <p:nvSpPr>
          <p:cNvPr id="31" name="Text 29"/>
          <p:cNvSpPr/>
          <p:nvPr/>
        </p:nvSpPr>
        <p:spPr>
          <a:xfrm>
            <a:off x="6355080" y="2926080"/>
            <a:ext cx="2331720" cy="274320"/>
          </a:xfrm>
          <a:prstGeom prst="rect">
            <a:avLst/>
          </a:prstGeom>
          <a:noFill/>
          <a:ln/>
        </p:spPr>
        <p:txBody>
          <a:bodyPr wrap="square" lIns="0" tIns="0" rIns="0" bIns="0" rtlCol="0" anchor="ctr"/>
          <a:lstStyle/>
          <a:p>
            <a:pPr marL="0" indent="0">
              <a:buNone/>
            </a:pPr>
            <a:r>
              <a:rPr lang="en-US" sz="1300" b="1" dirty="0">
                <a:solidFill>
                  <a:srgbClr val="024731"/>
                </a:solidFill>
                <a:latin typeface="Open Sans" pitchFamily="34" charset="0"/>
                <a:ea typeface="Open Sans" pitchFamily="34" charset="-122"/>
                <a:cs typeface="Open Sans" pitchFamily="34" charset="-120"/>
              </a:rPr>
              <a:t>Malaysia</a:t>
            </a:r>
            <a:endParaRPr lang="en-US" sz="1300" dirty="0"/>
          </a:p>
        </p:txBody>
      </p:sp>
      <p:sp>
        <p:nvSpPr>
          <p:cNvPr id="32" name="Text 30"/>
          <p:cNvSpPr/>
          <p:nvPr/>
        </p:nvSpPr>
        <p:spPr>
          <a:xfrm>
            <a:off x="6355080" y="3200400"/>
            <a:ext cx="2331720" cy="228600"/>
          </a:xfrm>
          <a:prstGeom prst="rect">
            <a:avLst/>
          </a:prstGeom>
          <a:noFill/>
          <a:ln/>
        </p:spPr>
        <p:txBody>
          <a:bodyPr wrap="square" lIns="0" tIns="0" rIns="0" bIns="0" rtlCol="0" anchor="ctr"/>
          <a:lstStyle/>
          <a:p>
            <a:pPr marL="0" indent="0">
              <a:buNone/>
            </a:pPr>
            <a:r>
              <a:rPr lang="en-US" sz="1100" b="1" dirty="0">
                <a:solidFill>
                  <a:srgbClr val="0D0D0D"/>
                </a:solidFill>
                <a:latin typeface="Open Sans" pitchFamily="34" charset="0"/>
                <a:ea typeface="Open Sans" pitchFamily="34" charset="-122"/>
                <a:cs typeface="Open Sans" pitchFamily="34" charset="-120"/>
              </a:rPr>
              <a:t>Bursa Malaysia</a:t>
            </a:r>
            <a:endParaRPr lang="en-US" sz="1100" dirty="0"/>
          </a:p>
        </p:txBody>
      </p:sp>
      <p:sp>
        <p:nvSpPr>
          <p:cNvPr id="33" name="Text 31"/>
          <p:cNvSpPr/>
          <p:nvPr/>
        </p:nvSpPr>
        <p:spPr>
          <a:xfrm>
            <a:off x="6355080" y="3474720"/>
            <a:ext cx="2331720" cy="365760"/>
          </a:xfrm>
          <a:prstGeom prst="rect">
            <a:avLst/>
          </a:prstGeom>
          <a:noFill/>
          <a:ln/>
        </p:spPr>
        <p:txBody>
          <a:bodyPr wrap="square" lIns="0" tIns="0" rIns="0" bIns="0" rtlCol="0" anchor="ctr"/>
          <a:lstStyle/>
          <a:p>
            <a:pPr marL="0" indent="0">
              <a:buNone/>
            </a:pPr>
            <a:r>
              <a:rPr lang="en-US" sz="900" dirty="0">
                <a:solidFill>
                  <a:srgbClr val="6B7280"/>
                </a:solidFill>
                <a:latin typeface="Open Sans" pitchFamily="34" charset="0"/>
                <a:ea typeface="Open Sans" pitchFamily="34" charset="-122"/>
                <a:cs typeface="Open Sans" pitchFamily="34" charset="-120"/>
              </a:rPr>
              <a:t>MFRS (IFRS-converged)</a:t>
            </a:r>
            <a:endParaRPr lang="en-US" sz="900" dirty="0"/>
          </a:p>
        </p:txBody>
      </p:sp>
      <p:sp>
        <p:nvSpPr>
          <p:cNvPr id="34" name="Text 32"/>
          <p:cNvSpPr/>
          <p:nvPr/>
        </p:nvSpPr>
        <p:spPr>
          <a:xfrm>
            <a:off x="548640" y="4434840"/>
            <a:ext cx="8046720" cy="457200"/>
          </a:xfrm>
          <a:prstGeom prst="rect">
            <a:avLst/>
          </a:prstGeom>
          <a:noFill/>
          <a:ln/>
        </p:spPr>
        <p:txBody>
          <a:bodyPr wrap="square" rtlCol="0" anchor="ctr"/>
          <a:lstStyle/>
          <a:p>
            <a:pPr marL="0" indent="0">
              <a:buNone/>
            </a:pPr>
            <a:r>
              <a:rPr lang="en-US" sz="1000" i="1" dirty="0">
                <a:solidFill>
                  <a:srgbClr val="6B7280"/>
                </a:solidFill>
                <a:latin typeface="Open Sans" pitchFamily="34" charset="0"/>
                <a:ea typeface="Open Sans" pitchFamily="34" charset="-122"/>
                <a:cs typeface="Open Sans" pitchFamily="34" charset="-120"/>
              </a:rPr>
              <a:t>All deliverables must be in English. Ratios computed in the company’s reporting currency. Note any IFRS/GAAP/VAS differences that affect interpretation.</a:t>
            </a:r>
            <a:endParaRPr lang="en-US" sz="1000" dirty="0"/>
          </a:p>
        </p:txBody>
      </p:sp>
    </p:spTree>
    <p:extLst>
      <p:ext uri="{BB962C8B-B14F-4D97-AF65-F5344CB8AC3E}">
        <p14:creationId xmlns:p14="http://schemas.microsoft.com/office/powerpoint/2010/main" val="378686441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9EC40F-A83E-4D1E-3446-225F38C328F1}"/>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32041EBA-2AE8-FE0F-D50C-8060C481B131}"/>
              </a:ext>
            </a:extLst>
          </p:cNvPr>
          <p:cNvSpPr/>
          <p:nvPr/>
        </p:nvSpPr>
        <p:spPr>
          <a:xfrm>
            <a:off x="0" y="0"/>
            <a:ext cx="9144000" cy="36576"/>
          </a:xfrm>
          <a:prstGeom prst="rect">
            <a:avLst/>
          </a:prstGeom>
          <a:solidFill>
            <a:srgbClr val="B8975C"/>
          </a:solidFill>
          <a:ln/>
        </p:spPr>
        <p:txBody>
          <a:bodyPr/>
          <a:lstStyle/>
          <a:p>
            <a:endParaRPr lang="en-US"/>
          </a:p>
        </p:txBody>
      </p:sp>
      <p:sp>
        <p:nvSpPr>
          <p:cNvPr id="3" name="Text 1">
            <a:extLst>
              <a:ext uri="{FF2B5EF4-FFF2-40B4-BE49-F238E27FC236}">
                <a16:creationId xmlns:a16="http://schemas.microsoft.com/office/drawing/2014/main" id="{4913FFAF-74D9-69ED-C3BA-DD910E7404F8}"/>
              </a:ext>
            </a:extLst>
          </p:cNvPr>
          <p:cNvSpPr/>
          <p:nvPr/>
        </p:nvSpPr>
        <p:spPr>
          <a:xfrm>
            <a:off x="731520" y="731520"/>
            <a:ext cx="7680960" cy="365760"/>
          </a:xfrm>
          <a:prstGeom prst="rect">
            <a:avLst/>
          </a:prstGeom>
          <a:noFill/>
          <a:ln/>
        </p:spPr>
        <p:txBody>
          <a:bodyPr wrap="square" lIns="0" tIns="0" rIns="0" bIns="0" rtlCol="0" anchor="ctr"/>
          <a:lstStyle/>
          <a:p>
            <a:pPr marL="0" indent="0">
              <a:buNone/>
            </a:pPr>
            <a:r>
              <a:rPr lang="en-US" sz="1400" b="1" kern="0" spc="600" dirty="0">
                <a:solidFill>
                  <a:srgbClr val="B8975C"/>
                </a:solidFill>
                <a:latin typeface="Open Sans" pitchFamily="34" charset="0"/>
                <a:ea typeface="Open Sans" pitchFamily="34" charset="-122"/>
                <a:cs typeface="Open Sans" pitchFamily="34" charset="-120"/>
              </a:rPr>
              <a:t>STAGE 3</a:t>
            </a:r>
            <a:endParaRPr lang="en-US" sz="1400" dirty="0"/>
          </a:p>
        </p:txBody>
      </p:sp>
      <p:sp>
        <p:nvSpPr>
          <p:cNvPr id="4" name="Text 2">
            <a:extLst>
              <a:ext uri="{FF2B5EF4-FFF2-40B4-BE49-F238E27FC236}">
                <a16:creationId xmlns:a16="http://schemas.microsoft.com/office/drawing/2014/main" id="{2BD2264A-7D52-36C2-C463-71659C913145}"/>
              </a:ext>
            </a:extLst>
          </p:cNvPr>
          <p:cNvSpPr/>
          <p:nvPr/>
        </p:nvSpPr>
        <p:spPr>
          <a:xfrm>
            <a:off x="731520" y="1280160"/>
            <a:ext cx="7680960" cy="1645920"/>
          </a:xfrm>
          <a:prstGeom prst="rect">
            <a:avLst/>
          </a:prstGeom>
          <a:noFill/>
          <a:ln/>
        </p:spPr>
        <p:txBody>
          <a:bodyPr wrap="square" lIns="0" tIns="0" rIns="0" bIns="0" rtlCol="0" anchor="ctr"/>
          <a:lstStyle/>
          <a:p>
            <a:pPr marL="0" indent="0">
              <a:lnSpc>
                <a:spcPct val="110000"/>
              </a:lnSpc>
              <a:buNone/>
            </a:pPr>
            <a:r>
              <a:rPr lang="en-US" sz="4000" b="1" dirty="0">
                <a:solidFill>
                  <a:schemeClr val="accent6">
                    <a:lumMod val="50000"/>
                  </a:schemeClr>
                </a:solidFill>
                <a:latin typeface="Open Sans" pitchFamily="34" charset="0"/>
                <a:ea typeface="Open Sans" pitchFamily="34" charset="-122"/>
                <a:cs typeface="Open Sans" pitchFamily="34" charset="-120"/>
              </a:rPr>
              <a:t>Company Financials</a:t>
            </a:r>
            <a:endParaRPr lang="en-US" sz="4000" dirty="0">
              <a:solidFill>
                <a:schemeClr val="accent6">
                  <a:lumMod val="50000"/>
                </a:schemeClr>
              </a:solidFill>
            </a:endParaRPr>
          </a:p>
        </p:txBody>
      </p:sp>
      <p:sp>
        <p:nvSpPr>
          <p:cNvPr id="5" name="Shape 3">
            <a:extLst>
              <a:ext uri="{FF2B5EF4-FFF2-40B4-BE49-F238E27FC236}">
                <a16:creationId xmlns:a16="http://schemas.microsoft.com/office/drawing/2014/main" id="{735F3405-7666-9F46-BC92-97BA9509292F}"/>
              </a:ext>
            </a:extLst>
          </p:cNvPr>
          <p:cNvSpPr/>
          <p:nvPr/>
        </p:nvSpPr>
        <p:spPr>
          <a:xfrm>
            <a:off x="731520" y="3108960"/>
            <a:ext cx="1828800" cy="36576"/>
          </a:xfrm>
          <a:prstGeom prst="rect">
            <a:avLst/>
          </a:prstGeom>
          <a:solidFill>
            <a:srgbClr val="B8975C"/>
          </a:solidFill>
          <a:ln/>
        </p:spPr>
        <p:txBody>
          <a:bodyPr/>
          <a:lstStyle/>
          <a:p>
            <a:endParaRPr lang="en-US"/>
          </a:p>
        </p:txBody>
      </p:sp>
      <p:sp>
        <p:nvSpPr>
          <p:cNvPr id="6" name="Text 4">
            <a:extLst>
              <a:ext uri="{FF2B5EF4-FFF2-40B4-BE49-F238E27FC236}">
                <a16:creationId xmlns:a16="http://schemas.microsoft.com/office/drawing/2014/main" id="{977A81CD-3339-9B2B-AA68-9C902782FDD1}"/>
              </a:ext>
            </a:extLst>
          </p:cNvPr>
          <p:cNvSpPr/>
          <p:nvPr/>
        </p:nvSpPr>
        <p:spPr>
          <a:xfrm>
            <a:off x="731520" y="3337560"/>
            <a:ext cx="6400800" cy="640080"/>
          </a:xfrm>
          <a:prstGeom prst="rect">
            <a:avLst/>
          </a:prstGeom>
          <a:noFill/>
          <a:ln/>
        </p:spPr>
        <p:txBody>
          <a:bodyPr wrap="square" lIns="0" tIns="0" rIns="0" bIns="0" rtlCol="0" anchor="ctr"/>
          <a:lstStyle/>
          <a:p>
            <a:pPr marL="0" indent="0">
              <a:lnSpc>
                <a:spcPct val="140000"/>
              </a:lnSpc>
              <a:buNone/>
            </a:pPr>
            <a:r>
              <a:rPr lang="en-US" sz="1600" dirty="0">
                <a:solidFill>
                  <a:srgbClr val="36454F"/>
                </a:solidFill>
              </a:rPr>
              <a:t>Populate the Stage 1 ratios template with real financials for your selected company. Income Statement, Balance Sheet, and Cash Flow — full interpretation comes at Stage 5.</a:t>
            </a:r>
          </a:p>
        </p:txBody>
      </p:sp>
      <p:pic>
        <p:nvPicPr>
          <p:cNvPr id="7" name="Image 0" descr="preencoded.png">
            <a:extLst>
              <a:ext uri="{FF2B5EF4-FFF2-40B4-BE49-F238E27FC236}">
                <a16:creationId xmlns:a16="http://schemas.microsoft.com/office/drawing/2014/main" id="{E2A4C1DF-9246-818A-2803-876CB070611E}"/>
              </a:ext>
            </a:extLst>
          </p:cNvPr>
          <p:cNvPicPr>
            <a:picLocks noChangeAspect="1"/>
          </p:cNvPicPr>
          <p:nvPr/>
        </p:nvPicPr>
        <p:blipFill>
          <a:blip r:embed="rId3"/>
          <a:stretch>
            <a:fillRect/>
          </a:stretch>
        </p:blipFill>
        <p:spPr>
          <a:xfrm>
            <a:off x="7132320" y="3017520"/>
            <a:ext cx="1097280" cy="1097280"/>
          </a:xfrm>
          <a:prstGeom prst="rect">
            <a:avLst/>
          </a:prstGeom>
        </p:spPr>
      </p:pic>
      <p:sp>
        <p:nvSpPr>
          <p:cNvPr id="8" name="Text 5">
            <a:extLst>
              <a:ext uri="{FF2B5EF4-FFF2-40B4-BE49-F238E27FC236}">
                <a16:creationId xmlns:a16="http://schemas.microsoft.com/office/drawing/2014/main" id="{C70DB536-4894-82E9-564C-F96AA7EDE07F}"/>
              </a:ext>
            </a:extLst>
          </p:cNvPr>
          <p:cNvSpPr/>
          <p:nvPr/>
        </p:nvSpPr>
        <p:spPr>
          <a:xfrm>
            <a:off x="457200" y="4663440"/>
            <a:ext cx="8229600" cy="320040"/>
          </a:xfrm>
          <a:prstGeom prst="rect">
            <a:avLst/>
          </a:prstGeom>
          <a:noFill/>
          <a:ln/>
        </p:spPr>
        <p:txBody>
          <a:bodyPr wrap="square" lIns="0" tIns="0" rIns="0" bIns="0" rtlCol="0" anchor="ctr"/>
          <a:lstStyle/>
          <a:p>
            <a:pPr marL="0" indent="0" algn="ctr">
              <a:buNone/>
            </a:pPr>
            <a:r>
              <a:rPr lang="en-US" sz="1000" dirty="0">
                <a:solidFill>
                  <a:srgbClr val="5A6B7A"/>
                </a:solidFill>
                <a:latin typeface="Open Sans" pitchFamily="34" charset="0"/>
                <a:ea typeface="Open Sans" pitchFamily="34" charset="-122"/>
                <a:cs typeface="Open Sans" pitchFamily="34" charset="-120"/>
              </a:rPr>
              <a:t>Shidler College of Business  |  University of Hawaiʻi at Mānoa</a:t>
            </a:r>
            <a:endParaRPr lang="en-US" sz="1000" dirty="0"/>
          </a:p>
        </p:txBody>
      </p:sp>
    </p:spTree>
    <p:extLst>
      <p:ext uri="{BB962C8B-B14F-4D97-AF65-F5344CB8AC3E}">
        <p14:creationId xmlns:p14="http://schemas.microsoft.com/office/powerpoint/2010/main" val="422031958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24731"/>
          </a:solidFill>
          <a:ln/>
        </p:spPr>
        <p:txBody>
          <a:bodyPr/>
          <a:lstStyle/>
          <a:p>
            <a:endParaRPr lang="en-US"/>
          </a:p>
        </p:txBody>
      </p:sp>
      <p:sp>
        <p:nvSpPr>
          <p:cNvPr id="3" name="Text 1"/>
          <p:cNvSpPr/>
          <p:nvPr/>
        </p:nvSpPr>
        <p:spPr>
          <a:xfrm>
            <a:off x="548640" y="137160"/>
            <a:ext cx="7315200" cy="274320"/>
          </a:xfrm>
          <a:prstGeom prst="rect">
            <a:avLst/>
          </a:prstGeom>
          <a:noFill/>
          <a:ln/>
        </p:spPr>
        <p:txBody>
          <a:bodyPr wrap="square" lIns="0" tIns="0" rIns="0" bIns="0" rtlCol="0" anchor="ctr"/>
          <a:lstStyle/>
          <a:p>
            <a:pPr marL="0" indent="0">
              <a:buNone/>
            </a:pPr>
            <a:r>
              <a:rPr lang="en-US" sz="2000" b="1" dirty="0">
                <a:solidFill>
                  <a:srgbClr val="FFFFFF"/>
                </a:solidFill>
                <a:latin typeface="Open Sans" pitchFamily="34" charset="0"/>
                <a:ea typeface="Open Sans" pitchFamily="34" charset="-122"/>
                <a:cs typeface="Open Sans" pitchFamily="34" charset="-120"/>
              </a:rPr>
              <a:t>Stage 3 — Populated Financials</a:t>
            </a:r>
            <a:endParaRPr lang="en-US" sz="2000" dirty="0"/>
          </a:p>
        </p:txBody>
      </p:sp>
      <p:sp>
        <p:nvSpPr>
          <p:cNvPr id="4" name="Text 2"/>
          <p:cNvSpPr/>
          <p:nvPr/>
        </p:nvSpPr>
        <p:spPr>
          <a:xfrm>
            <a:off x="548640" y="429768"/>
            <a:ext cx="7315200" cy="228600"/>
          </a:xfrm>
          <a:prstGeom prst="rect">
            <a:avLst/>
          </a:prstGeom>
          <a:noFill/>
          <a:ln/>
        </p:spPr>
        <p:txBody>
          <a:bodyPr wrap="square" lIns="0" tIns="0" rIns="0" bIns="0" rtlCol="0" anchor="ctr"/>
          <a:lstStyle/>
          <a:p>
            <a:pPr marL="0" indent="0">
              <a:buNone/>
            </a:pPr>
            <a:r>
              <a:rPr lang="en-US" sz="1100" dirty="0">
                <a:solidFill>
                  <a:srgbClr val="B8DDD1"/>
                </a:solidFill>
                <a:latin typeface="Open Sans" pitchFamily="34" charset="0"/>
                <a:ea typeface="Open Sans" pitchFamily="34" charset="-122"/>
                <a:cs typeface="Open Sans" pitchFamily="34" charset="-120"/>
              </a:rPr>
              <a:t>20% of project  |  Populate the financials — full analysis comes in Stage 5</a:t>
            </a:r>
            <a:endParaRPr lang="en-US" sz="1100" dirty="0"/>
          </a:p>
        </p:txBody>
      </p:sp>
      <p:sp>
        <p:nvSpPr>
          <p:cNvPr id="5" name="Text 3"/>
          <p:cNvSpPr/>
          <p:nvPr/>
        </p:nvSpPr>
        <p:spPr>
          <a:xfrm>
            <a:off x="548640" y="1051560"/>
            <a:ext cx="4114800" cy="274320"/>
          </a:xfrm>
          <a:prstGeom prst="rect">
            <a:avLst/>
          </a:prstGeom>
          <a:noFill/>
          <a:ln/>
        </p:spPr>
        <p:txBody>
          <a:bodyPr wrap="square" lIns="0" tIns="0" rIns="0" bIns="0" rtlCol="0" anchor="ctr"/>
          <a:lstStyle/>
          <a:p>
            <a:pPr marL="0" indent="0">
              <a:buNone/>
            </a:pPr>
            <a:r>
              <a:rPr lang="en-US" sz="1400" b="1" dirty="0">
                <a:solidFill>
                  <a:srgbClr val="024731"/>
                </a:solidFill>
                <a:latin typeface="Open Sans" pitchFamily="34" charset="0"/>
                <a:ea typeface="Open Sans" pitchFamily="34" charset="-122"/>
                <a:cs typeface="Open Sans" pitchFamily="34" charset="-120"/>
              </a:rPr>
              <a:t>Deliverables</a:t>
            </a:r>
            <a:endParaRPr lang="en-US" sz="1400" dirty="0"/>
          </a:p>
        </p:txBody>
      </p:sp>
      <p:sp>
        <p:nvSpPr>
          <p:cNvPr id="6" name="Shape 4"/>
          <p:cNvSpPr/>
          <p:nvPr/>
        </p:nvSpPr>
        <p:spPr>
          <a:xfrm>
            <a:off x="548640" y="1417320"/>
            <a:ext cx="4114800" cy="502920"/>
          </a:xfrm>
          <a:prstGeom prst="rect">
            <a:avLst/>
          </a:prstGeom>
          <a:solidFill>
            <a:srgbClr val="E6F2EF"/>
          </a:solidFill>
          <a:ln/>
        </p:spPr>
        <p:txBody>
          <a:bodyPr/>
          <a:lstStyle/>
          <a:p>
            <a:endParaRPr lang="en-US"/>
          </a:p>
        </p:txBody>
      </p:sp>
      <p:sp>
        <p:nvSpPr>
          <p:cNvPr id="7" name="Text 5"/>
          <p:cNvSpPr/>
          <p:nvPr/>
        </p:nvSpPr>
        <p:spPr>
          <a:xfrm>
            <a:off x="685800" y="1463040"/>
            <a:ext cx="3840480" cy="411480"/>
          </a:xfrm>
          <a:prstGeom prst="rect">
            <a:avLst/>
          </a:prstGeom>
          <a:noFill/>
          <a:ln/>
        </p:spPr>
        <p:txBody>
          <a:bodyPr wrap="square" rtlCol="0" anchor="ctr"/>
          <a:lstStyle/>
          <a:p>
            <a:pPr marL="0" indent="0">
              <a:buNone/>
            </a:pPr>
            <a:r>
              <a:rPr lang="en-US" sz="1100" b="1" dirty="0">
                <a:solidFill>
                  <a:srgbClr val="024731"/>
                </a:solidFill>
                <a:latin typeface="Open Sans" pitchFamily="34" charset="0"/>
                <a:ea typeface="Open Sans" pitchFamily="34" charset="-122"/>
                <a:cs typeface="Open Sans" pitchFamily="34" charset="-120"/>
              </a:rPr>
              <a:t>1. Completed .xlsx workbook</a:t>
            </a:r>
            <a:endParaRPr lang="en-US" sz="1100" dirty="0"/>
          </a:p>
          <a:p>
            <a:pPr marL="0" indent="0">
              <a:buNone/>
            </a:pPr>
            <a:r>
              <a:rPr lang="en-US" sz="1100" dirty="0">
                <a:solidFill>
                  <a:srgbClr val="024731"/>
                </a:solidFill>
                <a:latin typeface="Open Sans" pitchFamily="34" charset="0"/>
                <a:ea typeface="Open Sans" pitchFamily="34" charset="-122"/>
                <a:cs typeface="Open Sans" pitchFamily="34" charset="-120"/>
              </a:rPr>
              <a:t>    saved to models/builds/</a:t>
            </a:r>
            <a:endParaRPr lang="en-US" sz="1100" dirty="0"/>
          </a:p>
        </p:txBody>
      </p:sp>
      <p:sp>
        <p:nvSpPr>
          <p:cNvPr id="8" name="Shape 6"/>
          <p:cNvSpPr/>
          <p:nvPr/>
        </p:nvSpPr>
        <p:spPr>
          <a:xfrm>
            <a:off x="548640" y="2011680"/>
            <a:ext cx="4114800" cy="502920"/>
          </a:xfrm>
          <a:prstGeom prst="rect">
            <a:avLst/>
          </a:prstGeom>
          <a:solidFill>
            <a:srgbClr val="E6F2EF"/>
          </a:solidFill>
          <a:ln/>
        </p:spPr>
        <p:txBody>
          <a:bodyPr/>
          <a:lstStyle/>
          <a:p>
            <a:endParaRPr lang="en-US"/>
          </a:p>
        </p:txBody>
      </p:sp>
      <p:sp>
        <p:nvSpPr>
          <p:cNvPr id="9" name="Text 7"/>
          <p:cNvSpPr/>
          <p:nvPr/>
        </p:nvSpPr>
        <p:spPr>
          <a:xfrm>
            <a:off x="685800" y="2057400"/>
            <a:ext cx="3840480" cy="411480"/>
          </a:xfrm>
          <a:prstGeom prst="rect">
            <a:avLst/>
          </a:prstGeom>
          <a:noFill/>
          <a:ln/>
        </p:spPr>
        <p:txBody>
          <a:bodyPr wrap="square" rtlCol="0" anchor="ctr"/>
          <a:lstStyle/>
          <a:p>
            <a:pPr marL="0" indent="0">
              <a:buNone/>
            </a:pPr>
            <a:r>
              <a:rPr lang="en-US" sz="1100" b="1" dirty="0">
                <a:solidFill>
                  <a:srgbClr val="024731"/>
                </a:solidFill>
                <a:latin typeface="Open Sans" pitchFamily="34" charset="0"/>
                <a:ea typeface="Open Sans" pitchFamily="34" charset="-122"/>
                <a:cs typeface="Open Sans" pitchFamily="34" charset="-120"/>
              </a:rPr>
              <a:t>2. Cover &amp; Instructions tab</a:t>
            </a:r>
            <a:endParaRPr lang="en-US" sz="1100" dirty="0"/>
          </a:p>
          <a:p>
            <a:pPr marL="0" indent="0">
              <a:buNone/>
            </a:pPr>
            <a:r>
              <a:rPr lang="en-US" sz="1100" dirty="0">
                <a:solidFill>
                  <a:srgbClr val="024731"/>
                </a:solidFill>
                <a:latin typeface="Open Sans" pitchFamily="34" charset="0"/>
                <a:ea typeface="Open Sans" pitchFamily="34" charset="-122"/>
                <a:cs typeface="Open Sans" pitchFamily="34" charset="-120"/>
              </a:rPr>
              <a:t>    source URL, standard, currency, FYE</a:t>
            </a:r>
            <a:endParaRPr lang="en-US" sz="1100" dirty="0"/>
          </a:p>
        </p:txBody>
      </p:sp>
      <p:sp>
        <p:nvSpPr>
          <p:cNvPr id="10" name="Shape 8"/>
          <p:cNvSpPr/>
          <p:nvPr/>
        </p:nvSpPr>
        <p:spPr>
          <a:xfrm>
            <a:off x="4937760" y="1051560"/>
            <a:ext cx="3840480" cy="3749040"/>
          </a:xfrm>
          <a:prstGeom prst="rect">
            <a:avLst/>
          </a:prstGeom>
          <a:solidFill>
            <a:srgbClr val="F5F7F6"/>
          </a:solidFill>
          <a:ln/>
          <a:effectLst>
            <a:outerShdw blurRad="50800" dist="12700" dir="8100000" algn="bl" rotWithShape="0">
              <a:srgbClr val="000000">
                <a:alpha val="10000"/>
              </a:srgbClr>
            </a:outerShdw>
          </a:effectLst>
        </p:spPr>
        <p:txBody>
          <a:bodyPr/>
          <a:lstStyle/>
          <a:p>
            <a:endParaRPr lang="en-US"/>
          </a:p>
        </p:txBody>
      </p:sp>
      <p:sp>
        <p:nvSpPr>
          <p:cNvPr id="11" name="Text 9"/>
          <p:cNvSpPr/>
          <p:nvPr/>
        </p:nvSpPr>
        <p:spPr>
          <a:xfrm>
            <a:off x="4946904" y="1143000"/>
            <a:ext cx="3822192" cy="320040"/>
          </a:xfrm>
          <a:prstGeom prst="rect">
            <a:avLst/>
          </a:prstGeom>
          <a:noFill/>
          <a:ln/>
        </p:spPr>
        <p:txBody>
          <a:bodyPr wrap="square" lIns="0" tIns="0" rIns="0" bIns="0" rtlCol="0" anchor="ctr"/>
          <a:lstStyle/>
          <a:p>
            <a:pPr marL="0" indent="0">
              <a:buNone/>
            </a:pPr>
            <a:r>
              <a:rPr lang="en-US" sz="1400" b="1" dirty="0">
                <a:solidFill>
                  <a:srgbClr val="024731"/>
                </a:solidFill>
                <a:latin typeface="Open Sans" pitchFamily="34" charset="0"/>
                <a:ea typeface="Open Sans" pitchFamily="34" charset="-122"/>
                <a:cs typeface="Open Sans" pitchFamily="34" charset="-120"/>
              </a:rPr>
              <a:t>Self-Audit Checklist</a:t>
            </a:r>
            <a:endParaRPr lang="en-US" sz="1400" dirty="0"/>
          </a:p>
        </p:txBody>
      </p:sp>
      <p:sp>
        <p:nvSpPr>
          <p:cNvPr id="12" name="Text 10"/>
          <p:cNvSpPr/>
          <p:nvPr/>
        </p:nvSpPr>
        <p:spPr>
          <a:xfrm>
            <a:off x="5120640" y="1417320"/>
            <a:ext cx="3474720" cy="228600"/>
          </a:xfrm>
          <a:prstGeom prst="rect">
            <a:avLst/>
          </a:prstGeom>
          <a:noFill/>
          <a:ln/>
        </p:spPr>
        <p:txBody>
          <a:bodyPr wrap="square" lIns="0" tIns="0" rIns="0" bIns="0" rtlCol="0" anchor="ctr"/>
          <a:lstStyle/>
          <a:p>
            <a:pPr marL="0" indent="0">
              <a:buNone/>
            </a:pPr>
            <a:r>
              <a:rPr lang="en-US" sz="900" i="1" dirty="0">
                <a:solidFill>
                  <a:srgbClr val="6B7280"/>
                </a:solidFill>
                <a:latin typeface="Open Sans" pitchFamily="34" charset="0"/>
                <a:ea typeface="Open Sans" pitchFamily="34" charset="-122"/>
                <a:cs typeface="Open Sans" pitchFamily="34" charset="-120"/>
              </a:rPr>
              <a:t>Quick checks before you commit</a:t>
            </a:r>
            <a:endParaRPr lang="en-US" sz="900" dirty="0"/>
          </a:p>
        </p:txBody>
      </p:sp>
      <p:sp>
        <p:nvSpPr>
          <p:cNvPr id="13" name="Shape 11"/>
          <p:cNvSpPr/>
          <p:nvPr/>
        </p:nvSpPr>
        <p:spPr>
          <a:xfrm>
            <a:off x="5212080" y="1783080"/>
            <a:ext cx="201168" cy="201168"/>
          </a:xfrm>
          <a:prstGeom prst="rect">
            <a:avLst/>
          </a:prstGeom>
          <a:solidFill>
            <a:srgbClr val="FFFFFF"/>
          </a:solidFill>
          <a:ln w="19050">
            <a:solidFill>
              <a:srgbClr val="024731"/>
            </a:solidFill>
            <a:prstDash val="solid"/>
          </a:ln>
        </p:spPr>
        <p:txBody>
          <a:bodyPr/>
          <a:lstStyle/>
          <a:p>
            <a:endParaRPr lang="en-US"/>
          </a:p>
        </p:txBody>
      </p:sp>
      <p:sp>
        <p:nvSpPr>
          <p:cNvPr id="14" name="Text 12"/>
          <p:cNvSpPr/>
          <p:nvPr/>
        </p:nvSpPr>
        <p:spPr>
          <a:xfrm>
            <a:off x="5532120" y="1764792"/>
            <a:ext cx="3108960" cy="228600"/>
          </a:xfrm>
          <a:prstGeom prst="rect">
            <a:avLst/>
          </a:prstGeom>
          <a:noFill/>
          <a:ln/>
        </p:spPr>
        <p:txBody>
          <a:bodyPr wrap="square" lIns="0" tIns="0" rIns="0" bIns="0" rtlCol="0" anchor="ctr"/>
          <a:lstStyle/>
          <a:p>
            <a:pPr marL="0" indent="0">
              <a:buNone/>
            </a:pPr>
            <a:r>
              <a:rPr lang="en-US" sz="1000" dirty="0">
                <a:solidFill>
                  <a:srgbClr val="0D0D0D"/>
                </a:solidFill>
                <a:latin typeface="Open Sans" pitchFamily="34" charset="0"/>
                <a:ea typeface="Open Sans" pitchFamily="34" charset="-122"/>
                <a:cs typeface="Open Sans" pitchFamily="34" charset="-120"/>
              </a:rPr>
              <a:t>Balance Sheet balances (both years)</a:t>
            </a:r>
            <a:endParaRPr lang="en-US" sz="1000" dirty="0"/>
          </a:p>
        </p:txBody>
      </p:sp>
      <p:sp>
        <p:nvSpPr>
          <p:cNvPr id="15" name="Shape 13"/>
          <p:cNvSpPr/>
          <p:nvPr/>
        </p:nvSpPr>
        <p:spPr>
          <a:xfrm>
            <a:off x="5212080" y="2130552"/>
            <a:ext cx="201168" cy="201168"/>
          </a:xfrm>
          <a:prstGeom prst="rect">
            <a:avLst/>
          </a:prstGeom>
          <a:solidFill>
            <a:srgbClr val="FFFFFF"/>
          </a:solidFill>
          <a:ln w="19050">
            <a:solidFill>
              <a:srgbClr val="024731"/>
            </a:solidFill>
            <a:prstDash val="solid"/>
          </a:ln>
        </p:spPr>
        <p:txBody>
          <a:bodyPr/>
          <a:lstStyle/>
          <a:p>
            <a:endParaRPr lang="en-US"/>
          </a:p>
        </p:txBody>
      </p:sp>
      <p:sp>
        <p:nvSpPr>
          <p:cNvPr id="16" name="Text 14"/>
          <p:cNvSpPr/>
          <p:nvPr/>
        </p:nvSpPr>
        <p:spPr>
          <a:xfrm>
            <a:off x="5532120" y="2112264"/>
            <a:ext cx="3108960" cy="228600"/>
          </a:xfrm>
          <a:prstGeom prst="rect">
            <a:avLst/>
          </a:prstGeom>
          <a:noFill/>
          <a:ln/>
        </p:spPr>
        <p:txBody>
          <a:bodyPr wrap="square" lIns="0" tIns="0" rIns="0" bIns="0" rtlCol="0" anchor="ctr"/>
          <a:lstStyle/>
          <a:p>
            <a:pPr marL="0" indent="0">
              <a:buNone/>
            </a:pPr>
            <a:r>
              <a:rPr lang="en-US" sz="1000" dirty="0">
                <a:solidFill>
                  <a:srgbClr val="0D0D0D"/>
                </a:solidFill>
                <a:latin typeface="Open Sans" pitchFamily="34" charset="0"/>
                <a:ea typeface="Open Sans" pitchFamily="34" charset="-122"/>
                <a:cs typeface="Open Sans" pitchFamily="34" charset="-120"/>
              </a:rPr>
              <a:t>No #REF! or #DIV/0! cells anywhere</a:t>
            </a:r>
            <a:endParaRPr lang="en-US" sz="1000" dirty="0"/>
          </a:p>
        </p:txBody>
      </p:sp>
      <p:sp>
        <p:nvSpPr>
          <p:cNvPr id="17" name="Shape 15"/>
          <p:cNvSpPr/>
          <p:nvPr/>
        </p:nvSpPr>
        <p:spPr>
          <a:xfrm>
            <a:off x="5212080" y="2478024"/>
            <a:ext cx="201168" cy="201168"/>
          </a:xfrm>
          <a:prstGeom prst="rect">
            <a:avLst/>
          </a:prstGeom>
          <a:solidFill>
            <a:srgbClr val="FFFFFF"/>
          </a:solidFill>
          <a:ln w="19050">
            <a:solidFill>
              <a:srgbClr val="024731"/>
            </a:solidFill>
            <a:prstDash val="solid"/>
          </a:ln>
        </p:spPr>
        <p:txBody>
          <a:bodyPr/>
          <a:lstStyle/>
          <a:p>
            <a:endParaRPr lang="en-US"/>
          </a:p>
        </p:txBody>
      </p:sp>
      <p:sp>
        <p:nvSpPr>
          <p:cNvPr id="18" name="Text 16"/>
          <p:cNvSpPr/>
          <p:nvPr/>
        </p:nvSpPr>
        <p:spPr>
          <a:xfrm>
            <a:off x="5532120" y="2459736"/>
            <a:ext cx="3108960" cy="228600"/>
          </a:xfrm>
          <a:prstGeom prst="rect">
            <a:avLst/>
          </a:prstGeom>
          <a:noFill/>
          <a:ln/>
        </p:spPr>
        <p:txBody>
          <a:bodyPr wrap="square" lIns="0" tIns="0" rIns="0" bIns="0" rtlCol="0" anchor="ctr"/>
          <a:lstStyle/>
          <a:p>
            <a:pPr marL="0" indent="0">
              <a:buNone/>
            </a:pPr>
            <a:r>
              <a:rPr lang="en-US" sz="1000" dirty="0">
                <a:solidFill>
                  <a:srgbClr val="0D0D0D"/>
                </a:solidFill>
                <a:latin typeface="Open Sans" pitchFamily="34" charset="0"/>
                <a:ea typeface="Open Sans" pitchFamily="34" charset="-122"/>
                <a:cs typeface="Open Sans" pitchFamily="34" charset="-120"/>
              </a:rPr>
              <a:t>Prior-year cells populated (startYear_*)</a:t>
            </a:r>
            <a:endParaRPr lang="en-US" sz="1000" dirty="0"/>
          </a:p>
        </p:txBody>
      </p:sp>
      <p:sp>
        <p:nvSpPr>
          <p:cNvPr id="19" name="Shape 17"/>
          <p:cNvSpPr/>
          <p:nvPr/>
        </p:nvSpPr>
        <p:spPr>
          <a:xfrm>
            <a:off x="5212080" y="2825496"/>
            <a:ext cx="201168" cy="201168"/>
          </a:xfrm>
          <a:prstGeom prst="rect">
            <a:avLst/>
          </a:prstGeom>
          <a:solidFill>
            <a:srgbClr val="FFFFFF"/>
          </a:solidFill>
          <a:ln w="19050">
            <a:solidFill>
              <a:srgbClr val="024731"/>
            </a:solidFill>
            <a:prstDash val="solid"/>
          </a:ln>
        </p:spPr>
        <p:txBody>
          <a:bodyPr/>
          <a:lstStyle/>
          <a:p>
            <a:endParaRPr lang="en-US"/>
          </a:p>
        </p:txBody>
      </p:sp>
      <p:sp>
        <p:nvSpPr>
          <p:cNvPr id="20" name="Text 18"/>
          <p:cNvSpPr/>
          <p:nvPr/>
        </p:nvSpPr>
        <p:spPr>
          <a:xfrm>
            <a:off x="5532120" y="2807208"/>
            <a:ext cx="3108960" cy="228600"/>
          </a:xfrm>
          <a:prstGeom prst="rect">
            <a:avLst/>
          </a:prstGeom>
          <a:noFill/>
          <a:ln/>
        </p:spPr>
        <p:txBody>
          <a:bodyPr wrap="square" lIns="0" tIns="0" rIns="0" bIns="0" rtlCol="0" anchor="ctr"/>
          <a:lstStyle/>
          <a:p>
            <a:pPr marL="0" indent="0">
              <a:buNone/>
            </a:pPr>
            <a:r>
              <a:rPr lang="en-US" sz="1000" dirty="0">
                <a:solidFill>
                  <a:srgbClr val="0D0D0D"/>
                </a:solidFill>
                <a:latin typeface="Open Sans" pitchFamily="34" charset="0"/>
                <a:ea typeface="Open Sans" pitchFamily="34" charset="-122"/>
                <a:cs typeface="Open Sans" pitchFamily="34" charset="-120"/>
              </a:rPr>
              <a:t>Sign checks (no impossible negatives)</a:t>
            </a:r>
            <a:endParaRPr lang="en-US" sz="1000" dirty="0"/>
          </a:p>
        </p:txBody>
      </p:sp>
      <p:sp>
        <p:nvSpPr>
          <p:cNvPr id="21" name="Shape 19"/>
          <p:cNvSpPr/>
          <p:nvPr/>
        </p:nvSpPr>
        <p:spPr>
          <a:xfrm>
            <a:off x="5212080" y="3172968"/>
            <a:ext cx="201168" cy="201168"/>
          </a:xfrm>
          <a:prstGeom prst="rect">
            <a:avLst/>
          </a:prstGeom>
          <a:solidFill>
            <a:srgbClr val="FFFFFF"/>
          </a:solidFill>
          <a:ln w="19050">
            <a:solidFill>
              <a:srgbClr val="024731"/>
            </a:solidFill>
            <a:prstDash val="solid"/>
          </a:ln>
        </p:spPr>
        <p:txBody>
          <a:bodyPr/>
          <a:lstStyle/>
          <a:p>
            <a:endParaRPr lang="en-US"/>
          </a:p>
        </p:txBody>
      </p:sp>
      <p:sp>
        <p:nvSpPr>
          <p:cNvPr id="22" name="Text 20"/>
          <p:cNvSpPr/>
          <p:nvPr/>
        </p:nvSpPr>
        <p:spPr>
          <a:xfrm>
            <a:off x="5532120" y="3154680"/>
            <a:ext cx="3108960" cy="228600"/>
          </a:xfrm>
          <a:prstGeom prst="rect">
            <a:avLst/>
          </a:prstGeom>
          <a:noFill/>
          <a:ln/>
        </p:spPr>
        <p:txBody>
          <a:bodyPr wrap="square" lIns="0" tIns="0" rIns="0" bIns="0" rtlCol="0" anchor="ctr"/>
          <a:lstStyle/>
          <a:p>
            <a:pPr marL="0" indent="0">
              <a:buNone/>
            </a:pPr>
            <a:r>
              <a:rPr lang="en-US" sz="1000" dirty="0">
                <a:solidFill>
                  <a:srgbClr val="0D0D0D"/>
                </a:solidFill>
                <a:latin typeface="Open Sans" pitchFamily="34" charset="0"/>
                <a:ea typeface="Open Sans" pitchFamily="34" charset="-122"/>
                <a:cs typeface="Open Sans" pitchFamily="34" charset="-120"/>
              </a:rPr>
              <a:t>Source documentation in Cover tab</a:t>
            </a:r>
            <a:endParaRPr lang="en-US" sz="1000" dirty="0"/>
          </a:p>
        </p:txBody>
      </p:sp>
      <p:sp>
        <p:nvSpPr>
          <p:cNvPr id="23" name="Shape 21"/>
          <p:cNvSpPr/>
          <p:nvPr/>
        </p:nvSpPr>
        <p:spPr>
          <a:xfrm>
            <a:off x="5212080" y="3520440"/>
            <a:ext cx="201168" cy="201168"/>
          </a:xfrm>
          <a:prstGeom prst="rect">
            <a:avLst/>
          </a:prstGeom>
          <a:solidFill>
            <a:srgbClr val="FFFFFF"/>
          </a:solidFill>
          <a:ln w="19050">
            <a:solidFill>
              <a:srgbClr val="024731"/>
            </a:solidFill>
            <a:prstDash val="solid"/>
          </a:ln>
        </p:spPr>
        <p:txBody>
          <a:bodyPr/>
          <a:lstStyle/>
          <a:p>
            <a:endParaRPr lang="en-US"/>
          </a:p>
        </p:txBody>
      </p:sp>
      <p:sp>
        <p:nvSpPr>
          <p:cNvPr id="24" name="Text 22"/>
          <p:cNvSpPr/>
          <p:nvPr/>
        </p:nvSpPr>
        <p:spPr>
          <a:xfrm>
            <a:off x="5532120" y="3502152"/>
            <a:ext cx="3108960" cy="228600"/>
          </a:xfrm>
          <a:prstGeom prst="rect">
            <a:avLst/>
          </a:prstGeom>
          <a:noFill/>
          <a:ln/>
        </p:spPr>
        <p:txBody>
          <a:bodyPr wrap="square" lIns="0" tIns="0" rIns="0" bIns="0" rtlCol="0" anchor="ctr"/>
          <a:lstStyle/>
          <a:p>
            <a:pPr marL="0" indent="0">
              <a:buNone/>
            </a:pPr>
            <a:r>
              <a:rPr lang="en-US" sz="1000" dirty="0">
                <a:solidFill>
                  <a:srgbClr val="0D0D0D"/>
                </a:solidFill>
                <a:latin typeface="Open Sans" pitchFamily="34" charset="0"/>
                <a:ea typeface="Open Sans" pitchFamily="34" charset="-122"/>
                <a:cs typeface="Open Sans" pitchFamily="34" charset="-120"/>
              </a:rPr>
              <a:t>Ratios tab is not blank (formulas compute)</a:t>
            </a:r>
            <a:endParaRPr lang="en-US" sz="1000" dirty="0"/>
          </a:p>
        </p:txBody>
      </p:sp>
      <p:sp>
        <p:nvSpPr>
          <p:cNvPr id="29" name="Shape 27"/>
          <p:cNvSpPr/>
          <p:nvPr/>
        </p:nvSpPr>
        <p:spPr>
          <a:xfrm>
            <a:off x="548640" y="4434840"/>
            <a:ext cx="4114800" cy="457200"/>
          </a:xfrm>
          <a:prstGeom prst="rect">
            <a:avLst/>
          </a:prstGeom>
          <a:solidFill>
            <a:srgbClr val="024731"/>
          </a:solidFill>
          <a:ln/>
        </p:spPr>
        <p:txBody>
          <a:bodyPr/>
          <a:lstStyle/>
          <a:p>
            <a:endParaRPr lang="en-US"/>
          </a:p>
        </p:txBody>
      </p:sp>
      <p:sp>
        <p:nvSpPr>
          <p:cNvPr id="30" name="Text 28"/>
          <p:cNvSpPr/>
          <p:nvPr/>
        </p:nvSpPr>
        <p:spPr>
          <a:xfrm>
            <a:off x="685800" y="4453128"/>
            <a:ext cx="3840480" cy="411480"/>
          </a:xfrm>
          <a:prstGeom prst="rect">
            <a:avLst/>
          </a:prstGeom>
          <a:noFill/>
          <a:ln/>
        </p:spPr>
        <p:txBody>
          <a:bodyPr wrap="square" rtlCol="0" anchor="ctr"/>
          <a:lstStyle/>
          <a:p>
            <a:pPr marL="0" indent="0">
              <a:buNone/>
            </a:pPr>
            <a:r>
              <a:rPr lang="en-US" sz="1000" dirty="0">
                <a:solidFill>
                  <a:srgbClr val="FFFFFF"/>
                </a:solidFill>
                <a:latin typeface="Open Sans" pitchFamily="34" charset="0"/>
                <a:ea typeface="Open Sans" pitchFamily="34" charset="-122"/>
                <a:cs typeface="Open Sans" pitchFamily="34" charset="-120"/>
              </a:rPr>
              <a:t>This stage builds the foundation for the Financial Statement analysis you will perform in </a:t>
            </a:r>
            <a:r>
              <a:rPr lang="en-US" sz="1000">
                <a:solidFill>
                  <a:srgbClr val="FFFFFF"/>
                </a:solidFill>
                <a:latin typeface="Open Sans" pitchFamily="34" charset="0"/>
                <a:ea typeface="Open Sans" pitchFamily="34" charset="-122"/>
                <a:cs typeface="Open Sans" pitchFamily="34" charset="-120"/>
              </a:rPr>
              <a:t>Stage 5.</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64592" cy="5143500"/>
          </a:xfrm>
          <a:prstGeom prst="rect">
            <a:avLst/>
          </a:prstGeom>
          <a:solidFill>
            <a:srgbClr val="0247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20040"/>
            <a:ext cx="8229600" cy="369332"/>
          </a:xfrm>
          <a:prstGeom prst="rect">
            <a:avLst/>
          </a:prstGeom>
          <a:noFill/>
        </p:spPr>
        <p:txBody>
          <a:bodyPr wrap="square" lIns="0" tIns="0" rIns="0" bIns="0" anchor="t">
            <a:spAutoFit/>
          </a:bodyPr>
          <a:lstStyle/>
          <a:p>
            <a:pPr algn="l"/>
            <a:r>
              <a:rPr sz="2400" b="1" dirty="0">
                <a:solidFill>
                  <a:srgbClr val="024731"/>
                </a:solidFill>
                <a:latin typeface="Open Sans"/>
              </a:rPr>
              <a:t>Stage 3 — Populated Financials  |  Step by Step</a:t>
            </a:r>
          </a:p>
        </p:txBody>
      </p:sp>
      <p:sp>
        <p:nvSpPr>
          <p:cNvPr id="4" name="TextBox 3"/>
          <p:cNvSpPr txBox="1"/>
          <p:nvPr/>
        </p:nvSpPr>
        <p:spPr>
          <a:xfrm>
            <a:off x="457200" y="841248"/>
            <a:ext cx="8229600" cy="320040"/>
          </a:xfrm>
          <a:prstGeom prst="rect">
            <a:avLst/>
          </a:prstGeom>
          <a:noFill/>
        </p:spPr>
        <p:txBody>
          <a:bodyPr wrap="square" lIns="0" tIns="0" rIns="0" bIns="0" anchor="t">
            <a:spAutoFit/>
          </a:bodyPr>
          <a:lstStyle/>
          <a:p>
            <a:pPr algn="l"/>
            <a:r>
              <a:rPr sz="1200" b="0">
                <a:solidFill>
                  <a:srgbClr val="555555"/>
                </a:solidFill>
                <a:latin typeface="Open Sans"/>
              </a:rPr>
              <a:t>Populate the Stage 1 template with real financials. No interpretation yet — that comes at Stage 5.</a:t>
            </a:r>
          </a:p>
        </p:txBody>
      </p:sp>
      <p:sp>
        <p:nvSpPr>
          <p:cNvPr id="5" name="TextBox 4"/>
          <p:cNvSpPr txBox="1"/>
          <p:nvPr/>
        </p:nvSpPr>
        <p:spPr>
          <a:xfrm>
            <a:off x="457200" y="4818888"/>
            <a:ext cx="8229600" cy="228600"/>
          </a:xfrm>
          <a:prstGeom prst="rect">
            <a:avLst/>
          </a:prstGeom>
          <a:noFill/>
        </p:spPr>
        <p:txBody>
          <a:bodyPr wrap="square" lIns="0" tIns="0" rIns="0" bIns="0" anchor="t">
            <a:spAutoFit/>
          </a:bodyPr>
          <a:lstStyle/>
          <a:p>
            <a:pPr algn="l"/>
            <a:r>
              <a:rPr sz="900" b="0">
                <a:solidFill>
                  <a:srgbClr val="555555"/>
                </a:solidFill>
                <a:latin typeface="Open Sans"/>
              </a:rPr>
              <a:t>Stage 3  |  20% of project  |  Upload-only  |  models/builds/  |  see stage3-model-population-validation.md</a:t>
            </a:r>
          </a:p>
        </p:txBody>
      </p:sp>
      <p:sp>
        <p:nvSpPr>
          <p:cNvPr id="6" name="Oval 5"/>
          <p:cNvSpPr/>
          <p:nvPr/>
        </p:nvSpPr>
        <p:spPr>
          <a:xfrm>
            <a:off x="457200" y="1358900"/>
            <a:ext cx="329184" cy="329184"/>
          </a:xfrm>
          <a:prstGeom prst="ellipse">
            <a:avLst/>
          </a:prstGeom>
          <a:solidFill>
            <a:srgbClr val="024731"/>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latin typeface="Open Sans"/>
              </a:rPr>
              <a:t>1</a:t>
            </a:r>
          </a:p>
        </p:txBody>
      </p:sp>
      <p:sp>
        <p:nvSpPr>
          <p:cNvPr id="7" name="TextBox 6"/>
          <p:cNvSpPr txBox="1"/>
          <p:nvPr/>
        </p:nvSpPr>
        <p:spPr>
          <a:xfrm>
            <a:off x="914400" y="1320800"/>
            <a:ext cx="3703320" cy="256032"/>
          </a:xfrm>
          <a:prstGeom prst="rect">
            <a:avLst/>
          </a:prstGeom>
          <a:noFill/>
        </p:spPr>
        <p:txBody>
          <a:bodyPr wrap="square" lIns="0" tIns="0" rIns="0" bIns="0" anchor="t">
            <a:spAutoFit/>
          </a:bodyPr>
          <a:lstStyle/>
          <a:p>
            <a:pPr algn="l"/>
            <a:r>
              <a:rPr sz="1300" b="1">
                <a:solidFill>
                  <a:srgbClr val="024731"/>
                </a:solidFill>
                <a:latin typeface="Open Sans"/>
              </a:rPr>
              <a:t>Save your copy of the template</a:t>
            </a:r>
          </a:p>
        </p:txBody>
      </p:sp>
      <p:sp>
        <p:nvSpPr>
          <p:cNvPr id="8" name="TextBox 7"/>
          <p:cNvSpPr txBox="1"/>
          <p:nvPr/>
        </p:nvSpPr>
        <p:spPr>
          <a:xfrm>
            <a:off x="914400" y="1587500"/>
            <a:ext cx="3703320" cy="571500"/>
          </a:xfrm>
          <a:prstGeom prst="rect">
            <a:avLst/>
          </a:prstGeom>
          <a:noFill/>
        </p:spPr>
        <p:txBody>
          <a:bodyPr wrap="square" lIns="0" tIns="0" rIns="0" bIns="0" anchor="t">
            <a:spAutoFit/>
          </a:bodyPr>
          <a:lstStyle/>
          <a:p>
            <a:pPr algn="l">
              <a:lnSpc>
                <a:spcPct val="115000"/>
              </a:lnSpc>
            </a:pPr>
            <a:r>
              <a:rPr sz="1050" b="0" dirty="0">
                <a:solidFill>
                  <a:srgbClr val="0D0D0D"/>
                </a:solidFill>
                <a:latin typeface="Open Sans"/>
              </a:rPr>
              <a:t>Open the Stage 1 template. Save As: models/builds/YYYY-MM-DD-{</a:t>
            </a:r>
            <a:r>
              <a:rPr sz="1050" b="0" dirty="0" err="1">
                <a:solidFill>
                  <a:srgbClr val="0D0D0D"/>
                </a:solidFill>
                <a:latin typeface="Open Sans"/>
              </a:rPr>
              <a:t>lastname</a:t>
            </a:r>
            <a:r>
              <a:rPr sz="1050" b="0" dirty="0">
                <a:solidFill>
                  <a:srgbClr val="0D0D0D"/>
                </a:solidFill>
                <a:latin typeface="Open Sans"/>
              </a:rPr>
              <a:t>}-{company}-financials.xlsx. Lowercase, hyphen-separated.</a:t>
            </a:r>
          </a:p>
        </p:txBody>
      </p:sp>
      <p:sp>
        <p:nvSpPr>
          <p:cNvPr id="9" name="Oval 8"/>
          <p:cNvSpPr/>
          <p:nvPr/>
        </p:nvSpPr>
        <p:spPr>
          <a:xfrm>
            <a:off x="457200" y="2209800"/>
            <a:ext cx="329184" cy="329184"/>
          </a:xfrm>
          <a:prstGeom prst="ellipse">
            <a:avLst/>
          </a:prstGeom>
          <a:solidFill>
            <a:srgbClr val="024731"/>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latin typeface="Open Sans"/>
              </a:rPr>
              <a:t>2</a:t>
            </a:r>
          </a:p>
        </p:txBody>
      </p:sp>
      <p:sp>
        <p:nvSpPr>
          <p:cNvPr id="10" name="TextBox 9"/>
          <p:cNvSpPr txBox="1"/>
          <p:nvPr/>
        </p:nvSpPr>
        <p:spPr>
          <a:xfrm>
            <a:off x="914400" y="2171700"/>
            <a:ext cx="3703320" cy="256032"/>
          </a:xfrm>
          <a:prstGeom prst="rect">
            <a:avLst/>
          </a:prstGeom>
          <a:noFill/>
        </p:spPr>
        <p:txBody>
          <a:bodyPr wrap="square" lIns="0" tIns="0" rIns="0" bIns="0" anchor="t">
            <a:spAutoFit/>
          </a:bodyPr>
          <a:lstStyle/>
          <a:p>
            <a:pPr algn="l"/>
            <a:r>
              <a:rPr sz="1300" b="1">
                <a:solidFill>
                  <a:srgbClr val="024731"/>
                </a:solidFill>
                <a:latin typeface="Open Sans"/>
              </a:rPr>
              <a:t>Populate Income Statement</a:t>
            </a:r>
          </a:p>
        </p:txBody>
      </p:sp>
      <p:sp>
        <p:nvSpPr>
          <p:cNvPr id="11" name="TextBox 10"/>
          <p:cNvSpPr txBox="1"/>
          <p:nvPr/>
        </p:nvSpPr>
        <p:spPr>
          <a:xfrm>
            <a:off x="914400" y="2438400"/>
            <a:ext cx="3703320" cy="571500"/>
          </a:xfrm>
          <a:prstGeom prst="rect">
            <a:avLst/>
          </a:prstGeom>
          <a:noFill/>
        </p:spPr>
        <p:txBody>
          <a:bodyPr wrap="square" lIns="0" tIns="0" rIns="0" bIns="0" anchor="t">
            <a:spAutoFit/>
          </a:bodyPr>
          <a:lstStyle/>
          <a:p>
            <a:pPr algn="l">
              <a:lnSpc>
                <a:spcPct val="115000"/>
              </a:lnSpc>
            </a:pPr>
            <a:r>
              <a:rPr sz="1050" b="0" dirty="0">
                <a:solidFill>
                  <a:srgbClr val="0D0D0D"/>
                </a:solidFill>
                <a:latin typeface="Open Sans"/>
              </a:rPr>
              <a:t>Current year + prior year. Tie totals (Revenue, Net Income) to the source 10-K before trusting line items.</a:t>
            </a:r>
          </a:p>
        </p:txBody>
      </p:sp>
      <p:sp>
        <p:nvSpPr>
          <p:cNvPr id="12" name="Oval 11"/>
          <p:cNvSpPr/>
          <p:nvPr/>
        </p:nvSpPr>
        <p:spPr>
          <a:xfrm>
            <a:off x="457200" y="3060700"/>
            <a:ext cx="329184" cy="329184"/>
          </a:xfrm>
          <a:prstGeom prst="ellipse">
            <a:avLst/>
          </a:prstGeom>
          <a:solidFill>
            <a:srgbClr val="024731"/>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latin typeface="Open Sans"/>
              </a:rPr>
              <a:t>3</a:t>
            </a:r>
          </a:p>
        </p:txBody>
      </p:sp>
      <p:sp>
        <p:nvSpPr>
          <p:cNvPr id="13" name="TextBox 12"/>
          <p:cNvSpPr txBox="1"/>
          <p:nvPr/>
        </p:nvSpPr>
        <p:spPr>
          <a:xfrm>
            <a:off x="914400" y="3022600"/>
            <a:ext cx="3703320" cy="256032"/>
          </a:xfrm>
          <a:prstGeom prst="rect">
            <a:avLst/>
          </a:prstGeom>
          <a:noFill/>
        </p:spPr>
        <p:txBody>
          <a:bodyPr wrap="square" lIns="0" tIns="0" rIns="0" bIns="0" anchor="t">
            <a:spAutoFit/>
          </a:bodyPr>
          <a:lstStyle/>
          <a:p>
            <a:pPr algn="l"/>
            <a:r>
              <a:rPr sz="1300" b="1">
                <a:solidFill>
                  <a:srgbClr val="024731"/>
                </a:solidFill>
                <a:latin typeface="Open Sans"/>
              </a:rPr>
              <a:t>Populate Balance Sheet</a:t>
            </a:r>
          </a:p>
        </p:txBody>
      </p:sp>
      <p:sp>
        <p:nvSpPr>
          <p:cNvPr id="14" name="TextBox 13"/>
          <p:cNvSpPr txBox="1"/>
          <p:nvPr/>
        </p:nvSpPr>
        <p:spPr>
          <a:xfrm>
            <a:off x="914400" y="3289300"/>
            <a:ext cx="3703320" cy="571500"/>
          </a:xfrm>
          <a:prstGeom prst="rect">
            <a:avLst/>
          </a:prstGeom>
          <a:noFill/>
        </p:spPr>
        <p:txBody>
          <a:bodyPr wrap="square" lIns="0" tIns="0" rIns="0" bIns="0" anchor="t">
            <a:spAutoFit/>
          </a:bodyPr>
          <a:lstStyle/>
          <a:p>
            <a:pPr algn="l">
              <a:lnSpc>
                <a:spcPct val="115000"/>
              </a:lnSpc>
            </a:pPr>
            <a:r>
              <a:rPr sz="1050" b="0">
                <a:solidFill>
                  <a:srgbClr val="0D0D0D"/>
                </a:solidFill>
                <a:latin typeface="Open Sans"/>
              </a:rPr>
              <a:t>Current year + prior year. Prior-year fills the startYear_* named ranges — without these, start-of-year ratios fail silently.</a:t>
            </a:r>
          </a:p>
        </p:txBody>
      </p:sp>
      <p:sp>
        <p:nvSpPr>
          <p:cNvPr id="15" name="Oval 14"/>
          <p:cNvSpPr/>
          <p:nvPr/>
        </p:nvSpPr>
        <p:spPr>
          <a:xfrm>
            <a:off x="457200" y="3911600"/>
            <a:ext cx="329184" cy="329184"/>
          </a:xfrm>
          <a:prstGeom prst="ellipse">
            <a:avLst/>
          </a:prstGeom>
          <a:solidFill>
            <a:srgbClr val="024731"/>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latin typeface="Open Sans"/>
              </a:rPr>
              <a:t>4</a:t>
            </a:r>
          </a:p>
        </p:txBody>
      </p:sp>
      <p:sp>
        <p:nvSpPr>
          <p:cNvPr id="16" name="TextBox 15"/>
          <p:cNvSpPr txBox="1"/>
          <p:nvPr/>
        </p:nvSpPr>
        <p:spPr>
          <a:xfrm>
            <a:off x="914400" y="3873500"/>
            <a:ext cx="3703320" cy="256032"/>
          </a:xfrm>
          <a:prstGeom prst="rect">
            <a:avLst/>
          </a:prstGeom>
          <a:noFill/>
        </p:spPr>
        <p:txBody>
          <a:bodyPr wrap="square" lIns="0" tIns="0" rIns="0" bIns="0" anchor="t">
            <a:spAutoFit/>
          </a:bodyPr>
          <a:lstStyle/>
          <a:p>
            <a:pPr algn="l"/>
            <a:r>
              <a:rPr sz="1300" b="1">
                <a:solidFill>
                  <a:srgbClr val="024731"/>
                </a:solidFill>
                <a:latin typeface="Open Sans"/>
              </a:rPr>
              <a:t>Populate Cash Flow</a:t>
            </a:r>
          </a:p>
        </p:txBody>
      </p:sp>
      <p:sp>
        <p:nvSpPr>
          <p:cNvPr id="17" name="TextBox 16"/>
          <p:cNvSpPr txBox="1"/>
          <p:nvPr/>
        </p:nvSpPr>
        <p:spPr>
          <a:xfrm>
            <a:off x="914400" y="4140200"/>
            <a:ext cx="3703320" cy="571500"/>
          </a:xfrm>
          <a:prstGeom prst="rect">
            <a:avLst/>
          </a:prstGeom>
          <a:noFill/>
        </p:spPr>
        <p:txBody>
          <a:bodyPr wrap="square" lIns="0" tIns="0" rIns="0" bIns="0" anchor="t">
            <a:spAutoFit/>
          </a:bodyPr>
          <a:lstStyle/>
          <a:p>
            <a:pPr algn="l">
              <a:lnSpc>
                <a:spcPct val="115000"/>
              </a:lnSpc>
            </a:pPr>
            <a:r>
              <a:rPr sz="1050" b="0">
                <a:solidFill>
                  <a:srgbClr val="0D0D0D"/>
                </a:solidFill>
                <a:latin typeface="Open Sans"/>
              </a:rPr>
              <a:t>Current year + prior year. Verify operating, investing, financing subtotals match the source.</a:t>
            </a:r>
          </a:p>
        </p:txBody>
      </p:sp>
      <p:sp>
        <p:nvSpPr>
          <p:cNvPr id="18" name="Oval 17"/>
          <p:cNvSpPr/>
          <p:nvPr/>
        </p:nvSpPr>
        <p:spPr>
          <a:xfrm>
            <a:off x="4709160" y="1358900"/>
            <a:ext cx="329184" cy="329184"/>
          </a:xfrm>
          <a:prstGeom prst="ellipse">
            <a:avLst/>
          </a:prstGeom>
          <a:solidFill>
            <a:srgbClr val="024731"/>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latin typeface="Open Sans"/>
              </a:rPr>
              <a:t>5</a:t>
            </a:r>
          </a:p>
        </p:txBody>
      </p:sp>
      <p:sp>
        <p:nvSpPr>
          <p:cNvPr id="19" name="TextBox 18"/>
          <p:cNvSpPr txBox="1"/>
          <p:nvPr/>
        </p:nvSpPr>
        <p:spPr>
          <a:xfrm>
            <a:off x="5166360" y="1320800"/>
            <a:ext cx="3703320" cy="256032"/>
          </a:xfrm>
          <a:prstGeom prst="rect">
            <a:avLst/>
          </a:prstGeom>
          <a:noFill/>
        </p:spPr>
        <p:txBody>
          <a:bodyPr wrap="square" lIns="0" tIns="0" rIns="0" bIns="0" anchor="t">
            <a:spAutoFit/>
          </a:bodyPr>
          <a:lstStyle/>
          <a:p>
            <a:pPr algn="l"/>
            <a:r>
              <a:rPr sz="1300" b="1">
                <a:solidFill>
                  <a:srgbClr val="024731"/>
                </a:solidFill>
                <a:latin typeface="Open Sans"/>
              </a:rPr>
              <a:t>Add market &amp; analyst assumptions</a:t>
            </a:r>
          </a:p>
        </p:txBody>
      </p:sp>
      <p:sp>
        <p:nvSpPr>
          <p:cNvPr id="20" name="TextBox 19"/>
          <p:cNvSpPr txBox="1"/>
          <p:nvPr/>
        </p:nvSpPr>
        <p:spPr>
          <a:xfrm>
            <a:off x="5166360" y="1587500"/>
            <a:ext cx="3703320" cy="571500"/>
          </a:xfrm>
          <a:prstGeom prst="rect">
            <a:avLst/>
          </a:prstGeom>
          <a:noFill/>
        </p:spPr>
        <p:txBody>
          <a:bodyPr wrap="square" lIns="0" tIns="0" rIns="0" bIns="0" anchor="t">
            <a:spAutoFit/>
          </a:bodyPr>
          <a:lstStyle/>
          <a:p>
            <a:pPr algn="l">
              <a:lnSpc>
                <a:spcPct val="115000"/>
              </a:lnSpc>
            </a:pPr>
            <a:r>
              <a:rPr sz="1050" b="0">
                <a:solidFill>
                  <a:srgbClr val="0D0D0D"/>
                </a:solidFill>
                <a:latin typeface="Open Sans"/>
              </a:rPr>
              <a:t>Share price at fiscal year-end, shares outstanding, tax rate, cost of capital. Cover &amp; Instructions tab captures these inputs.</a:t>
            </a:r>
          </a:p>
        </p:txBody>
      </p:sp>
      <p:sp>
        <p:nvSpPr>
          <p:cNvPr id="21" name="Oval 20"/>
          <p:cNvSpPr/>
          <p:nvPr/>
        </p:nvSpPr>
        <p:spPr>
          <a:xfrm>
            <a:off x="4709160" y="2209800"/>
            <a:ext cx="329184" cy="329184"/>
          </a:xfrm>
          <a:prstGeom prst="ellipse">
            <a:avLst/>
          </a:prstGeom>
          <a:solidFill>
            <a:srgbClr val="024731"/>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latin typeface="Open Sans"/>
              </a:rPr>
              <a:t>6</a:t>
            </a:r>
          </a:p>
        </p:txBody>
      </p:sp>
      <p:sp>
        <p:nvSpPr>
          <p:cNvPr id="22" name="TextBox 21"/>
          <p:cNvSpPr txBox="1"/>
          <p:nvPr/>
        </p:nvSpPr>
        <p:spPr>
          <a:xfrm>
            <a:off x="5166360" y="2171700"/>
            <a:ext cx="3703320" cy="256032"/>
          </a:xfrm>
          <a:prstGeom prst="rect">
            <a:avLst/>
          </a:prstGeom>
          <a:noFill/>
        </p:spPr>
        <p:txBody>
          <a:bodyPr wrap="square" lIns="0" tIns="0" rIns="0" bIns="0" anchor="t">
            <a:spAutoFit/>
          </a:bodyPr>
          <a:lstStyle/>
          <a:p>
            <a:pPr algn="l"/>
            <a:r>
              <a:rPr sz="1300" b="1">
                <a:solidFill>
                  <a:srgbClr val="024731"/>
                </a:solidFill>
                <a:latin typeface="Open Sans"/>
              </a:rPr>
              <a:t>Update Cover &amp; Instructions tab</a:t>
            </a:r>
          </a:p>
        </p:txBody>
      </p:sp>
      <p:sp>
        <p:nvSpPr>
          <p:cNvPr id="23" name="TextBox 22"/>
          <p:cNvSpPr txBox="1"/>
          <p:nvPr/>
        </p:nvSpPr>
        <p:spPr>
          <a:xfrm>
            <a:off x="5166360" y="2438400"/>
            <a:ext cx="3703320" cy="571500"/>
          </a:xfrm>
          <a:prstGeom prst="rect">
            <a:avLst/>
          </a:prstGeom>
          <a:noFill/>
        </p:spPr>
        <p:txBody>
          <a:bodyPr wrap="square" lIns="0" tIns="0" rIns="0" bIns="0" anchor="t">
            <a:spAutoFit/>
          </a:bodyPr>
          <a:lstStyle/>
          <a:p>
            <a:pPr algn="l">
              <a:lnSpc>
                <a:spcPct val="115000"/>
              </a:lnSpc>
            </a:pPr>
            <a:r>
              <a:rPr sz="1050" b="0">
                <a:solidFill>
                  <a:srgbClr val="0D0D0D"/>
                </a:solidFill>
                <a:latin typeface="Open Sans"/>
              </a:rPr>
              <a:t>Source URL, reporting standard, currency, fiscal year end. Flag any IFRS / VAS adjustments here.</a:t>
            </a:r>
          </a:p>
        </p:txBody>
      </p:sp>
      <p:sp>
        <p:nvSpPr>
          <p:cNvPr id="24" name="Oval 23"/>
          <p:cNvSpPr/>
          <p:nvPr/>
        </p:nvSpPr>
        <p:spPr>
          <a:xfrm>
            <a:off x="4709160" y="3060700"/>
            <a:ext cx="329184" cy="329184"/>
          </a:xfrm>
          <a:prstGeom prst="ellipse">
            <a:avLst/>
          </a:prstGeom>
          <a:solidFill>
            <a:srgbClr val="024731"/>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latin typeface="Open Sans"/>
              </a:rPr>
              <a:t>7</a:t>
            </a:r>
          </a:p>
        </p:txBody>
      </p:sp>
      <p:sp>
        <p:nvSpPr>
          <p:cNvPr id="25" name="TextBox 24"/>
          <p:cNvSpPr txBox="1"/>
          <p:nvPr/>
        </p:nvSpPr>
        <p:spPr>
          <a:xfrm>
            <a:off x="5166360" y="3022600"/>
            <a:ext cx="3703320" cy="256032"/>
          </a:xfrm>
          <a:prstGeom prst="rect">
            <a:avLst/>
          </a:prstGeom>
          <a:noFill/>
        </p:spPr>
        <p:txBody>
          <a:bodyPr wrap="square" lIns="0" tIns="0" rIns="0" bIns="0" anchor="t">
            <a:spAutoFit/>
          </a:bodyPr>
          <a:lstStyle/>
          <a:p>
            <a:pPr algn="l"/>
            <a:r>
              <a:rPr sz="1300" b="1">
                <a:solidFill>
                  <a:srgbClr val="024731"/>
                </a:solidFill>
                <a:latin typeface="Open Sans"/>
              </a:rPr>
              <a:t>Run the self-check</a:t>
            </a:r>
          </a:p>
        </p:txBody>
      </p:sp>
      <p:sp>
        <p:nvSpPr>
          <p:cNvPr id="26" name="TextBox 25"/>
          <p:cNvSpPr txBox="1"/>
          <p:nvPr/>
        </p:nvSpPr>
        <p:spPr>
          <a:xfrm>
            <a:off x="5166360" y="3289300"/>
            <a:ext cx="3703320" cy="571500"/>
          </a:xfrm>
          <a:prstGeom prst="rect">
            <a:avLst/>
          </a:prstGeom>
          <a:noFill/>
        </p:spPr>
        <p:txBody>
          <a:bodyPr wrap="square" lIns="0" tIns="0" rIns="0" bIns="0" anchor="t">
            <a:spAutoFit/>
          </a:bodyPr>
          <a:lstStyle/>
          <a:p>
            <a:pPr algn="l">
              <a:lnSpc>
                <a:spcPct val="115000"/>
              </a:lnSpc>
            </a:pPr>
            <a:r>
              <a:rPr sz="1050" b="0">
                <a:solidFill>
                  <a:srgbClr val="0D0D0D"/>
                </a:solidFill>
                <a:latin typeface="Open Sans"/>
              </a:rPr>
              <a:t>Balance Sheet balances (Assets = Liabilities + Equity). No #REF! or #DIV/0! cells. Ratios tab populated — if blank, you missed a financial-statement tab.</a:t>
            </a:r>
          </a:p>
        </p:txBody>
      </p:sp>
      <p:sp>
        <p:nvSpPr>
          <p:cNvPr id="27" name="Oval 26"/>
          <p:cNvSpPr/>
          <p:nvPr/>
        </p:nvSpPr>
        <p:spPr>
          <a:xfrm>
            <a:off x="4709160" y="3911600"/>
            <a:ext cx="329184" cy="329184"/>
          </a:xfrm>
          <a:prstGeom prst="ellipse">
            <a:avLst/>
          </a:prstGeom>
          <a:solidFill>
            <a:srgbClr val="024731"/>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latin typeface="Open Sans"/>
              </a:rPr>
              <a:t>8</a:t>
            </a:r>
          </a:p>
        </p:txBody>
      </p:sp>
      <p:sp>
        <p:nvSpPr>
          <p:cNvPr id="28" name="TextBox 27"/>
          <p:cNvSpPr txBox="1"/>
          <p:nvPr/>
        </p:nvSpPr>
        <p:spPr>
          <a:xfrm>
            <a:off x="5166360" y="3873500"/>
            <a:ext cx="3703320" cy="256032"/>
          </a:xfrm>
          <a:prstGeom prst="rect">
            <a:avLst/>
          </a:prstGeom>
          <a:noFill/>
        </p:spPr>
        <p:txBody>
          <a:bodyPr wrap="square" lIns="0" tIns="0" rIns="0" bIns="0" anchor="t">
            <a:spAutoFit/>
          </a:bodyPr>
          <a:lstStyle/>
          <a:p>
            <a:pPr algn="l"/>
            <a:r>
              <a:rPr sz="1300" b="1">
                <a:solidFill>
                  <a:srgbClr val="024731"/>
                </a:solidFill>
                <a:latin typeface="Open Sans"/>
              </a:rPr>
              <a:t>Commit incrementally</a:t>
            </a:r>
          </a:p>
        </p:txBody>
      </p:sp>
      <p:sp>
        <p:nvSpPr>
          <p:cNvPr id="29" name="TextBox 28"/>
          <p:cNvSpPr txBox="1"/>
          <p:nvPr/>
        </p:nvSpPr>
        <p:spPr>
          <a:xfrm>
            <a:off x="5166360" y="4140200"/>
            <a:ext cx="3703320" cy="571500"/>
          </a:xfrm>
          <a:prstGeom prst="rect">
            <a:avLst/>
          </a:prstGeom>
          <a:noFill/>
        </p:spPr>
        <p:txBody>
          <a:bodyPr wrap="square" lIns="0" tIns="0" rIns="0" bIns="0" anchor="t">
            <a:spAutoFit/>
          </a:bodyPr>
          <a:lstStyle/>
          <a:p>
            <a:pPr algn="l">
              <a:lnSpc>
                <a:spcPct val="115000"/>
              </a:lnSpc>
            </a:pPr>
            <a:r>
              <a:rPr sz="1050" b="0">
                <a:solidFill>
                  <a:srgbClr val="0D0D0D"/>
                </a:solidFill>
                <a:latin typeface="Open Sans"/>
              </a:rPr>
              <a:t>One commit per statement (IS, BS, CF). Your Stage 4 retrospective benefits from a clean history. Push when done.</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3774B4-F44F-C4EE-0084-09005153A207}"/>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3EADEF2A-2669-BB3B-56BA-C21DEECFF240}"/>
              </a:ext>
            </a:extLst>
          </p:cNvPr>
          <p:cNvSpPr/>
          <p:nvPr/>
        </p:nvSpPr>
        <p:spPr>
          <a:xfrm>
            <a:off x="0" y="0"/>
            <a:ext cx="9144000" cy="36576"/>
          </a:xfrm>
          <a:prstGeom prst="rect">
            <a:avLst/>
          </a:prstGeom>
          <a:solidFill>
            <a:srgbClr val="B8975C"/>
          </a:solidFill>
          <a:ln/>
        </p:spPr>
        <p:txBody>
          <a:bodyPr/>
          <a:lstStyle/>
          <a:p>
            <a:endParaRPr lang="en-US"/>
          </a:p>
        </p:txBody>
      </p:sp>
      <p:sp>
        <p:nvSpPr>
          <p:cNvPr id="3" name="Text 1">
            <a:extLst>
              <a:ext uri="{FF2B5EF4-FFF2-40B4-BE49-F238E27FC236}">
                <a16:creationId xmlns:a16="http://schemas.microsoft.com/office/drawing/2014/main" id="{CF88345B-DAD0-ECD5-67D2-7AFD3FC28FC7}"/>
              </a:ext>
            </a:extLst>
          </p:cNvPr>
          <p:cNvSpPr/>
          <p:nvPr/>
        </p:nvSpPr>
        <p:spPr>
          <a:xfrm>
            <a:off x="731520" y="731520"/>
            <a:ext cx="7680960" cy="365760"/>
          </a:xfrm>
          <a:prstGeom prst="rect">
            <a:avLst/>
          </a:prstGeom>
          <a:noFill/>
          <a:ln/>
        </p:spPr>
        <p:txBody>
          <a:bodyPr wrap="square" lIns="0" tIns="0" rIns="0" bIns="0" rtlCol="0" anchor="ctr"/>
          <a:lstStyle/>
          <a:p>
            <a:pPr marL="0" indent="0">
              <a:buNone/>
            </a:pPr>
            <a:r>
              <a:rPr lang="en-US" sz="1400" b="1" kern="0" spc="600" dirty="0">
                <a:solidFill>
                  <a:srgbClr val="B8975C"/>
                </a:solidFill>
                <a:latin typeface="Open Sans" pitchFamily="34" charset="0"/>
                <a:ea typeface="Open Sans" pitchFamily="34" charset="-122"/>
                <a:cs typeface="Open Sans" pitchFamily="34" charset="-120"/>
              </a:rPr>
              <a:t>STAGE 4</a:t>
            </a:r>
            <a:endParaRPr lang="en-US" sz="1400" dirty="0"/>
          </a:p>
        </p:txBody>
      </p:sp>
      <p:sp>
        <p:nvSpPr>
          <p:cNvPr id="4" name="Text 2">
            <a:extLst>
              <a:ext uri="{FF2B5EF4-FFF2-40B4-BE49-F238E27FC236}">
                <a16:creationId xmlns:a16="http://schemas.microsoft.com/office/drawing/2014/main" id="{8B37101B-FF8D-831A-99E8-A1BF8BBA9198}"/>
              </a:ext>
            </a:extLst>
          </p:cNvPr>
          <p:cNvSpPr/>
          <p:nvPr/>
        </p:nvSpPr>
        <p:spPr>
          <a:xfrm>
            <a:off x="731520" y="1280160"/>
            <a:ext cx="7680960" cy="1645920"/>
          </a:xfrm>
          <a:prstGeom prst="rect">
            <a:avLst/>
          </a:prstGeom>
          <a:noFill/>
          <a:ln/>
        </p:spPr>
        <p:txBody>
          <a:bodyPr wrap="square" lIns="0" tIns="0" rIns="0" bIns="0" rtlCol="0" anchor="ctr"/>
          <a:lstStyle/>
          <a:p>
            <a:pPr marL="0" indent="0">
              <a:lnSpc>
                <a:spcPct val="110000"/>
              </a:lnSpc>
              <a:buNone/>
            </a:pPr>
            <a:r>
              <a:rPr lang="en-US" sz="4000" b="1" dirty="0">
                <a:solidFill>
                  <a:schemeClr val="accent6">
                    <a:lumMod val="50000"/>
                  </a:schemeClr>
                </a:solidFill>
                <a:latin typeface="Open Sans" pitchFamily="34" charset="0"/>
                <a:ea typeface="Open Sans" pitchFamily="34" charset="-122"/>
                <a:cs typeface="Open Sans" pitchFamily="34" charset="-120"/>
              </a:rPr>
              <a:t>Ratio </a:t>
            </a:r>
            <a:r>
              <a:rPr lang="en-US" sz="4000" b="1">
                <a:solidFill>
                  <a:schemeClr val="accent6">
                    <a:lumMod val="50000"/>
                  </a:schemeClr>
                </a:solidFill>
                <a:latin typeface="Open Sans" pitchFamily="34" charset="0"/>
                <a:ea typeface="Open Sans" pitchFamily="34" charset="-122"/>
                <a:cs typeface="Open Sans" pitchFamily="34" charset="-120"/>
              </a:rPr>
              <a:t>Analysis Specification</a:t>
            </a:r>
            <a:endParaRPr lang="en-US" sz="4000" dirty="0">
              <a:solidFill>
                <a:schemeClr val="accent6">
                  <a:lumMod val="50000"/>
                </a:schemeClr>
              </a:solidFill>
            </a:endParaRPr>
          </a:p>
        </p:txBody>
      </p:sp>
      <p:sp>
        <p:nvSpPr>
          <p:cNvPr id="5" name="Shape 3">
            <a:extLst>
              <a:ext uri="{FF2B5EF4-FFF2-40B4-BE49-F238E27FC236}">
                <a16:creationId xmlns:a16="http://schemas.microsoft.com/office/drawing/2014/main" id="{3011C909-3F10-A632-9DD9-E109AB136FD2}"/>
              </a:ext>
            </a:extLst>
          </p:cNvPr>
          <p:cNvSpPr/>
          <p:nvPr/>
        </p:nvSpPr>
        <p:spPr>
          <a:xfrm>
            <a:off x="731520" y="3108960"/>
            <a:ext cx="1828800" cy="36576"/>
          </a:xfrm>
          <a:prstGeom prst="rect">
            <a:avLst/>
          </a:prstGeom>
          <a:solidFill>
            <a:srgbClr val="B8975C"/>
          </a:solidFill>
          <a:ln/>
        </p:spPr>
        <p:txBody>
          <a:bodyPr/>
          <a:lstStyle/>
          <a:p>
            <a:endParaRPr lang="en-US"/>
          </a:p>
        </p:txBody>
      </p:sp>
      <p:sp>
        <p:nvSpPr>
          <p:cNvPr id="6" name="Text 4">
            <a:extLst>
              <a:ext uri="{FF2B5EF4-FFF2-40B4-BE49-F238E27FC236}">
                <a16:creationId xmlns:a16="http://schemas.microsoft.com/office/drawing/2014/main" id="{D848A7C0-C8A8-5C34-2028-5E93FEE15351}"/>
              </a:ext>
            </a:extLst>
          </p:cNvPr>
          <p:cNvSpPr/>
          <p:nvPr/>
        </p:nvSpPr>
        <p:spPr>
          <a:xfrm>
            <a:off x="731520" y="3337560"/>
            <a:ext cx="6400800" cy="640080"/>
          </a:xfrm>
          <a:prstGeom prst="rect">
            <a:avLst/>
          </a:prstGeom>
          <a:noFill/>
          <a:ln/>
        </p:spPr>
        <p:txBody>
          <a:bodyPr wrap="square" lIns="0" tIns="0" rIns="0" bIns="0" rtlCol="0" anchor="ctr"/>
          <a:lstStyle/>
          <a:p>
            <a:pPr marL="0" indent="0">
              <a:lnSpc>
                <a:spcPct val="140000"/>
              </a:lnSpc>
              <a:buNone/>
            </a:pPr>
            <a:r>
              <a:rPr lang="en-US" sz="1600" dirty="0">
                <a:solidFill>
                  <a:srgbClr val="36454F"/>
                </a:solidFill>
              </a:rPr>
              <a:t>Use an LLM to draft the technical specification that defines both the ratio model and the analysis. Edit, refine, and log every prompt — the spec is the central artifact.</a:t>
            </a:r>
          </a:p>
        </p:txBody>
      </p:sp>
      <p:pic>
        <p:nvPicPr>
          <p:cNvPr id="7" name="Image 0" descr="preencoded.png">
            <a:extLst>
              <a:ext uri="{FF2B5EF4-FFF2-40B4-BE49-F238E27FC236}">
                <a16:creationId xmlns:a16="http://schemas.microsoft.com/office/drawing/2014/main" id="{3E773439-2D20-2B91-6205-E56F538EDB86}"/>
              </a:ext>
            </a:extLst>
          </p:cNvPr>
          <p:cNvPicPr>
            <a:picLocks noChangeAspect="1"/>
          </p:cNvPicPr>
          <p:nvPr/>
        </p:nvPicPr>
        <p:blipFill>
          <a:blip r:embed="rId3"/>
          <a:stretch>
            <a:fillRect/>
          </a:stretch>
        </p:blipFill>
        <p:spPr>
          <a:xfrm>
            <a:off x="7132320" y="3017520"/>
            <a:ext cx="1097280" cy="1097280"/>
          </a:xfrm>
          <a:prstGeom prst="rect">
            <a:avLst/>
          </a:prstGeom>
        </p:spPr>
      </p:pic>
      <p:sp>
        <p:nvSpPr>
          <p:cNvPr id="8" name="Text 5">
            <a:extLst>
              <a:ext uri="{FF2B5EF4-FFF2-40B4-BE49-F238E27FC236}">
                <a16:creationId xmlns:a16="http://schemas.microsoft.com/office/drawing/2014/main" id="{1E2516BC-0792-AE30-9196-116A922CE673}"/>
              </a:ext>
            </a:extLst>
          </p:cNvPr>
          <p:cNvSpPr/>
          <p:nvPr/>
        </p:nvSpPr>
        <p:spPr>
          <a:xfrm>
            <a:off x="457200" y="4663440"/>
            <a:ext cx="8229600" cy="320040"/>
          </a:xfrm>
          <a:prstGeom prst="rect">
            <a:avLst/>
          </a:prstGeom>
          <a:noFill/>
          <a:ln/>
        </p:spPr>
        <p:txBody>
          <a:bodyPr wrap="square" lIns="0" tIns="0" rIns="0" bIns="0" rtlCol="0" anchor="ctr"/>
          <a:lstStyle/>
          <a:p>
            <a:pPr marL="0" indent="0" algn="ctr">
              <a:buNone/>
            </a:pPr>
            <a:r>
              <a:rPr lang="en-US" sz="1000" dirty="0">
                <a:solidFill>
                  <a:srgbClr val="5A6B7A"/>
                </a:solidFill>
                <a:latin typeface="Open Sans" pitchFamily="34" charset="0"/>
                <a:ea typeface="Open Sans" pitchFamily="34" charset="-122"/>
                <a:cs typeface="Open Sans" pitchFamily="34" charset="-120"/>
              </a:rPr>
              <a:t>Shidler College of Business  |  University of Hawaiʻi at Mānoa</a:t>
            </a:r>
            <a:endParaRPr lang="en-US" sz="1000" dirty="0"/>
          </a:p>
        </p:txBody>
      </p:sp>
    </p:spTree>
    <p:extLst>
      <p:ext uri="{BB962C8B-B14F-4D97-AF65-F5344CB8AC3E}">
        <p14:creationId xmlns:p14="http://schemas.microsoft.com/office/powerpoint/2010/main" val="274923526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24731"/>
          </a:solidFill>
          <a:ln/>
        </p:spPr>
        <p:txBody>
          <a:bodyPr/>
          <a:lstStyle/>
          <a:p>
            <a:endParaRPr lang="en-US"/>
          </a:p>
        </p:txBody>
      </p:sp>
      <p:sp>
        <p:nvSpPr>
          <p:cNvPr id="3" name="Text 1"/>
          <p:cNvSpPr/>
          <p:nvPr/>
        </p:nvSpPr>
        <p:spPr>
          <a:xfrm>
            <a:off x="548640" y="137160"/>
            <a:ext cx="6400800" cy="274320"/>
          </a:xfrm>
          <a:prstGeom prst="rect">
            <a:avLst/>
          </a:prstGeom>
          <a:noFill/>
          <a:ln/>
        </p:spPr>
        <p:txBody>
          <a:bodyPr wrap="square" lIns="0" tIns="0" rIns="0" bIns="0" rtlCol="0" anchor="ctr"/>
          <a:lstStyle/>
          <a:p>
            <a:pPr marL="0" indent="0">
              <a:buNone/>
            </a:pPr>
            <a:r>
              <a:rPr lang="en-US" sz="2000" b="1" dirty="0">
                <a:solidFill>
                  <a:srgbClr val="FFFFFF"/>
                </a:solidFill>
                <a:latin typeface="Open Sans" pitchFamily="34" charset="0"/>
                <a:ea typeface="Open Sans" pitchFamily="34" charset="-122"/>
                <a:cs typeface="Open Sans" pitchFamily="34" charset="-120"/>
              </a:rPr>
              <a:t>Stage 4 — Technical Specification</a:t>
            </a:r>
            <a:endParaRPr lang="en-US" sz="2000" dirty="0"/>
          </a:p>
        </p:txBody>
      </p:sp>
      <p:sp>
        <p:nvSpPr>
          <p:cNvPr id="4" name="Text 2"/>
          <p:cNvSpPr/>
          <p:nvPr/>
        </p:nvSpPr>
        <p:spPr>
          <a:xfrm>
            <a:off x="548640" y="429768"/>
            <a:ext cx="7315200" cy="228600"/>
          </a:xfrm>
          <a:prstGeom prst="rect">
            <a:avLst/>
          </a:prstGeom>
          <a:noFill/>
          <a:ln/>
        </p:spPr>
        <p:txBody>
          <a:bodyPr wrap="square" lIns="0" tIns="0" rIns="0" bIns="0" rtlCol="0" anchor="ctr"/>
          <a:lstStyle/>
          <a:p>
            <a:pPr marL="0" indent="0">
              <a:buNone/>
            </a:pPr>
            <a:r>
              <a:rPr lang="en-US" sz="1100" dirty="0">
                <a:solidFill>
                  <a:srgbClr val="B8DDD1"/>
                </a:solidFill>
                <a:latin typeface="Open Sans" pitchFamily="34" charset="0"/>
                <a:ea typeface="Open Sans" pitchFamily="34" charset="-122"/>
                <a:cs typeface="Open Sans" pitchFamily="34" charset="-120"/>
              </a:rPr>
              <a:t>20% of project  |  LLM-drafted, student-refined  |  Deliverable-only — no in-class presentation this semester</a:t>
            </a:r>
            <a:endParaRPr lang="en-US" sz="1100" dirty="0"/>
          </a:p>
        </p:txBody>
      </p:sp>
      <p:sp>
        <p:nvSpPr>
          <p:cNvPr id="5" name="Shape 3"/>
          <p:cNvSpPr/>
          <p:nvPr/>
        </p:nvSpPr>
        <p:spPr>
          <a:xfrm>
            <a:off x="7132320" y="0"/>
            <a:ext cx="2011680" cy="822960"/>
          </a:xfrm>
          <a:prstGeom prst="rect">
            <a:avLst/>
          </a:prstGeom>
          <a:solidFill>
            <a:srgbClr val="C9A84C"/>
          </a:solidFill>
          <a:ln/>
        </p:spPr>
        <p:txBody>
          <a:bodyPr/>
          <a:lstStyle/>
          <a:p>
            <a:endParaRPr lang="en-US"/>
          </a:p>
        </p:txBody>
      </p:sp>
      <p:sp>
        <p:nvSpPr>
          <p:cNvPr id="6" name="Text 4"/>
          <p:cNvSpPr/>
          <p:nvPr/>
        </p:nvSpPr>
        <p:spPr>
          <a:xfrm>
            <a:off x="7132320" y="91440"/>
            <a:ext cx="2011680" cy="640080"/>
          </a:xfrm>
          <a:prstGeom prst="rect">
            <a:avLst/>
          </a:prstGeom>
          <a:noFill/>
          <a:ln/>
        </p:spPr>
        <p:txBody>
          <a:bodyPr wrap="square" rtlCol="0" anchor="ctr"/>
          <a:lstStyle/>
          <a:p>
            <a:pPr marL="0" indent="0" algn="ctr">
              <a:buNone/>
            </a:pPr>
            <a:r>
              <a:rPr lang="en-US" sz="1200" b="1" dirty="0">
                <a:solidFill>
                  <a:srgbClr val="024731"/>
                </a:solidFill>
                <a:latin typeface="Open Sans" pitchFamily="34" charset="0"/>
                <a:ea typeface="Open Sans" pitchFamily="34" charset="-122"/>
                <a:cs typeface="Open Sans" pitchFamily="34" charset="-120"/>
              </a:rPr>
              <a:t>SPEC-DRIVEN</a:t>
            </a:r>
            <a:endParaRPr lang="en-US" sz="1200" dirty="0"/>
          </a:p>
          <a:p>
            <a:pPr marL="0" indent="0" algn="ctr">
              <a:buNone/>
            </a:pPr>
            <a:r>
              <a:rPr lang="en-US" sz="1200" b="1" dirty="0">
                <a:solidFill>
                  <a:srgbClr val="024731"/>
                </a:solidFill>
                <a:latin typeface="Open Sans" pitchFamily="34" charset="0"/>
                <a:ea typeface="Open Sans" pitchFamily="34" charset="-122"/>
                <a:cs typeface="Open Sans" pitchFamily="34" charset="-120"/>
              </a:rPr>
              <a:t>DESIGN</a:t>
            </a:r>
            <a:endParaRPr lang="en-US" sz="1200" dirty="0"/>
          </a:p>
        </p:txBody>
      </p:sp>
      <p:sp>
        <p:nvSpPr>
          <p:cNvPr id="7" name="Shape 5"/>
          <p:cNvSpPr/>
          <p:nvPr/>
        </p:nvSpPr>
        <p:spPr>
          <a:xfrm>
            <a:off x="457200" y="1051560"/>
            <a:ext cx="4023360" cy="3200400"/>
          </a:xfrm>
          <a:prstGeom prst="rect">
            <a:avLst/>
          </a:prstGeom>
          <a:solidFill>
            <a:srgbClr val="F5F7F6"/>
          </a:solidFill>
          <a:ln/>
          <a:effectLst>
            <a:outerShdw blurRad="50800" dist="12700" dir="8100000" algn="bl" rotWithShape="0">
              <a:srgbClr val="000000">
                <a:alpha val="10000"/>
              </a:srgbClr>
            </a:outerShdw>
          </a:effectLst>
        </p:spPr>
        <p:txBody>
          <a:bodyPr/>
          <a:lstStyle/>
          <a:p>
            <a:endParaRPr lang="en-US"/>
          </a:p>
        </p:txBody>
      </p:sp>
      <p:sp>
        <p:nvSpPr>
          <p:cNvPr id="8" name="Shape 6"/>
          <p:cNvSpPr/>
          <p:nvPr/>
        </p:nvSpPr>
        <p:spPr>
          <a:xfrm>
            <a:off x="457200" y="1051560"/>
            <a:ext cx="4023360" cy="411480"/>
          </a:xfrm>
          <a:prstGeom prst="rect">
            <a:avLst/>
          </a:prstGeom>
          <a:solidFill>
            <a:srgbClr val="024731"/>
          </a:solidFill>
          <a:ln/>
        </p:spPr>
        <p:txBody>
          <a:bodyPr/>
          <a:lstStyle/>
          <a:p>
            <a:endParaRPr lang="en-US"/>
          </a:p>
        </p:txBody>
      </p:sp>
      <p:sp>
        <p:nvSpPr>
          <p:cNvPr id="9" name="Text 7"/>
          <p:cNvSpPr/>
          <p:nvPr/>
        </p:nvSpPr>
        <p:spPr>
          <a:xfrm>
            <a:off x="594360" y="1069848"/>
            <a:ext cx="3749040" cy="365760"/>
          </a:xfrm>
          <a:prstGeom prst="rect">
            <a:avLst/>
          </a:prstGeom>
          <a:noFill/>
          <a:ln/>
        </p:spPr>
        <p:txBody>
          <a:bodyPr wrap="square" lIns="0" tIns="0" rIns="0" bIns="0" rtlCol="0" anchor="ctr"/>
          <a:lstStyle/>
          <a:p>
            <a:pPr marL="0" indent="0">
              <a:buNone/>
            </a:pPr>
            <a:r>
              <a:rPr lang="en-US" sz="1300" b="1" dirty="0">
                <a:solidFill>
                  <a:srgbClr val="FFFFFF"/>
                </a:solidFill>
                <a:latin typeface="Open Sans" pitchFamily="34" charset="0"/>
                <a:ea typeface="Open Sans" pitchFamily="34" charset="-122"/>
                <a:cs typeface="Open Sans" pitchFamily="34" charset="-120"/>
              </a:rPr>
              <a:t>Part A — Model Specification</a:t>
            </a:r>
            <a:endParaRPr lang="en-US" sz="1300" dirty="0"/>
          </a:p>
        </p:txBody>
      </p:sp>
      <p:sp>
        <p:nvSpPr>
          <p:cNvPr id="10" name="Text 8"/>
          <p:cNvSpPr/>
          <p:nvPr/>
        </p:nvSpPr>
        <p:spPr>
          <a:xfrm>
            <a:off x="594360" y="1600200"/>
            <a:ext cx="228600" cy="228600"/>
          </a:xfrm>
          <a:prstGeom prst="rect">
            <a:avLst/>
          </a:prstGeom>
          <a:noFill/>
          <a:ln/>
        </p:spPr>
        <p:txBody>
          <a:bodyPr wrap="square" lIns="0" tIns="0" rIns="0" bIns="0" rtlCol="0" anchor="ctr"/>
          <a:lstStyle/>
          <a:p>
            <a:pPr marL="0" indent="0">
              <a:buNone/>
            </a:pPr>
            <a:r>
              <a:rPr lang="en-US" sz="1000" b="1" dirty="0">
                <a:solidFill>
                  <a:srgbClr val="024731"/>
                </a:solidFill>
                <a:latin typeface="Open Sans" pitchFamily="34" charset="0"/>
                <a:ea typeface="Open Sans" pitchFamily="34" charset="-122"/>
                <a:cs typeface="Open Sans" pitchFamily="34" charset="-120"/>
              </a:rPr>
              <a:t>1</a:t>
            </a:r>
            <a:endParaRPr lang="en-US" sz="1000" dirty="0"/>
          </a:p>
        </p:txBody>
      </p:sp>
      <p:sp>
        <p:nvSpPr>
          <p:cNvPr id="11" name="Text 9"/>
          <p:cNvSpPr/>
          <p:nvPr/>
        </p:nvSpPr>
        <p:spPr>
          <a:xfrm>
            <a:off x="868680" y="1581912"/>
            <a:ext cx="1554480" cy="182880"/>
          </a:xfrm>
          <a:prstGeom prst="rect">
            <a:avLst/>
          </a:prstGeom>
          <a:noFill/>
          <a:ln/>
        </p:spPr>
        <p:txBody>
          <a:bodyPr wrap="square" lIns="0" tIns="0" rIns="0" bIns="0" rtlCol="0" anchor="ctr"/>
          <a:lstStyle/>
          <a:p>
            <a:pPr marL="0" indent="0">
              <a:buNone/>
            </a:pPr>
            <a:r>
              <a:rPr lang="en-US" sz="1000" b="1" dirty="0">
                <a:solidFill>
                  <a:srgbClr val="0D0D0D"/>
                </a:solidFill>
                <a:latin typeface="Open Sans" pitchFamily="34" charset="0"/>
                <a:ea typeface="Open Sans" pitchFamily="34" charset="-122"/>
                <a:cs typeface="Open Sans" pitchFamily="34" charset="-120"/>
              </a:rPr>
              <a:t>Scope &amp; Objective</a:t>
            </a:r>
            <a:endParaRPr lang="en-US" sz="1000" dirty="0"/>
          </a:p>
        </p:txBody>
      </p:sp>
      <p:sp>
        <p:nvSpPr>
          <p:cNvPr id="12" name="Text 10"/>
          <p:cNvSpPr/>
          <p:nvPr/>
        </p:nvSpPr>
        <p:spPr>
          <a:xfrm>
            <a:off x="868680" y="1755648"/>
            <a:ext cx="3474720" cy="182880"/>
          </a:xfrm>
          <a:prstGeom prst="rect">
            <a:avLst/>
          </a:prstGeom>
          <a:noFill/>
          <a:ln/>
        </p:spPr>
        <p:txBody>
          <a:bodyPr wrap="square" lIns="0" tIns="0" rIns="0" bIns="0" rtlCol="0" anchor="ctr"/>
          <a:lstStyle/>
          <a:p>
            <a:pPr marL="0" indent="0">
              <a:buNone/>
            </a:pPr>
            <a:r>
              <a:rPr lang="en-US" sz="900" dirty="0">
                <a:solidFill>
                  <a:srgbClr val="6B7280"/>
                </a:solidFill>
                <a:latin typeface="Open Sans" pitchFamily="34" charset="0"/>
                <a:ea typeface="Open Sans" pitchFamily="34" charset="-122"/>
                <a:cs typeface="Open Sans" pitchFamily="34" charset="-120"/>
              </a:rPr>
              <a:t>Company, fiscal period, reporting standard, currency</a:t>
            </a:r>
            <a:endParaRPr lang="en-US" sz="900" dirty="0"/>
          </a:p>
        </p:txBody>
      </p:sp>
      <p:sp>
        <p:nvSpPr>
          <p:cNvPr id="13" name="Text 11"/>
          <p:cNvSpPr/>
          <p:nvPr/>
        </p:nvSpPr>
        <p:spPr>
          <a:xfrm>
            <a:off x="594360" y="1965960"/>
            <a:ext cx="228600" cy="228600"/>
          </a:xfrm>
          <a:prstGeom prst="rect">
            <a:avLst/>
          </a:prstGeom>
          <a:noFill/>
          <a:ln/>
        </p:spPr>
        <p:txBody>
          <a:bodyPr wrap="square" lIns="0" tIns="0" rIns="0" bIns="0" rtlCol="0" anchor="ctr"/>
          <a:lstStyle/>
          <a:p>
            <a:pPr marL="0" indent="0">
              <a:buNone/>
            </a:pPr>
            <a:r>
              <a:rPr lang="en-US" sz="1000" b="1" dirty="0">
                <a:solidFill>
                  <a:srgbClr val="024731"/>
                </a:solidFill>
                <a:latin typeface="Open Sans" pitchFamily="34" charset="0"/>
                <a:ea typeface="Open Sans" pitchFamily="34" charset="-122"/>
                <a:cs typeface="Open Sans" pitchFamily="34" charset="-120"/>
              </a:rPr>
              <a:t>2</a:t>
            </a:r>
            <a:endParaRPr lang="en-US" sz="1000" dirty="0"/>
          </a:p>
        </p:txBody>
      </p:sp>
      <p:sp>
        <p:nvSpPr>
          <p:cNvPr id="14" name="Text 12"/>
          <p:cNvSpPr/>
          <p:nvPr/>
        </p:nvSpPr>
        <p:spPr>
          <a:xfrm>
            <a:off x="868680" y="1947672"/>
            <a:ext cx="1554480" cy="182880"/>
          </a:xfrm>
          <a:prstGeom prst="rect">
            <a:avLst/>
          </a:prstGeom>
          <a:noFill/>
          <a:ln/>
        </p:spPr>
        <p:txBody>
          <a:bodyPr wrap="square" lIns="0" tIns="0" rIns="0" bIns="0" rtlCol="0" anchor="ctr"/>
          <a:lstStyle/>
          <a:p>
            <a:pPr marL="0" indent="0">
              <a:buNone/>
            </a:pPr>
            <a:r>
              <a:rPr lang="en-US" sz="1000" b="1" dirty="0">
                <a:solidFill>
                  <a:srgbClr val="0D0D0D"/>
                </a:solidFill>
                <a:latin typeface="Open Sans" pitchFamily="34" charset="0"/>
                <a:ea typeface="Open Sans" pitchFamily="34" charset="-122"/>
                <a:cs typeface="Open Sans" pitchFamily="34" charset="-120"/>
              </a:rPr>
              <a:t>Model Architecture</a:t>
            </a:r>
            <a:endParaRPr lang="en-US" sz="1000" dirty="0"/>
          </a:p>
        </p:txBody>
      </p:sp>
      <p:sp>
        <p:nvSpPr>
          <p:cNvPr id="15" name="Text 13"/>
          <p:cNvSpPr/>
          <p:nvPr/>
        </p:nvSpPr>
        <p:spPr>
          <a:xfrm>
            <a:off x="868680" y="2121408"/>
            <a:ext cx="3474720" cy="182880"/>
          </a:xfrm>
          <a:prstGeom prst="rect">
            <a:avLst/>
          </a:prstGeom>
          <a:noFill/>
          <a:ln/>
        </p:spPr>
        <p:txBody>
          <a:bodyPr wrap="square" lIns="0" tIns="0" rIns="0" bIns="0" rtlCol="0" anchor="ctr"/>
          <a:lstStyle/>
          <a:p>
            <a:pPr marL="0" indent="0">
              <a:buNone/>
            </a:pPr>
            <a:r>
              <a:rPr lang="en-US" sz="900" dirty="0">
                <a:solidFill>
                  <a:srgbClr val="6B7280"/>
                </a:solidFill>
                <a:latin typeface="Open Sans" pitchFamily="34" charset="0"/>
                <a:ea typeface="Open Sans" pitchFamily="34" charset="-122"/>
                <a:cs typeface="Open Sans" pitchFamily="34" charset="-120"/>
              </a:rPr>
              <a:t>Tab layout, color coding, input/calc/output separation</a:t>
            </a:r>
            <a:endParaRPr lang="en-US" sz="900" dirty="0"/>
          </a:p>
        </p:txBody>
      </p:sp>
      <p:sp>
        <p:nvSpPr>
          <p:cNvPr id="16" name="Text 14"/>
          <p:cNvSpPr/>
          <p:nvPr/>
        </p:nvSpPr>
        <p:spPr>
          <a:xfrm>
            <a:off x="594360" y="2331720"/>
            <a:ext cx="228600" cy="228600"/>
          </a:xfrm>
          <a:prstGeom prst="rect">
            <a:avLst/>
          </a:prstGeom>
          <a:noFill/>
          <a:ln/>
        </p:spPr>
        <p:txBody>
          <a:bodyPr wrap="square" lIns="0" tIns="0" rIns="0" bIns="0" rtlCol="0" anchor="ctr"/>
          <a:lstStyle/>
          <a:p>
            <a:pPr marL="0" indent="0">
              <a:buNone/>
            </a:pPr>
            <a:r>
              <a:rPr lang="en-US" sz="1000" b="1" dirty="0">
                <a:solidFill>
                  <a:srgbClr val="024731"/>
                </a:solidFill>
                <a:latin typeface="Open Sans" pitchFamily="34" charset="0"/>
                <a:ea typeface="Open Sans" pitchFamily="34" charset="-122"/>
                <a:cs typeface="Open Sans" pitchFamily="34" charset="-120"/>
              </a:rPr>
              <a:t>3</a:t>
            </a:r>
            <a:endParaRPr lang="en-US" sz="1000" dirty="0"/>
          </a:p>
        </p:txBody>
      </p:sp>
      <p:sp>
        <p:nvSpPr>
          <p:cNvPr id="17" name="Text 15"/>
          <p:cNvSpPr/>
          <p:nvPr/>
        </p:nvSpPr>
        <p:spPr>
          <a:xfrm>
            <a:off x="868680" y="2313432"/>
            <a:ext cx="1554480" cy="182880"/>
          </a:xfrm>
          <a:prstGeom prst="rect">
            <a:avLst/>
          </a:prstGeom>
          <a:noFill/>
          <a:ln/>
        </p:spPr>
        <p:txBody>
          <a:bodyPr wrap="square" lIns="0" tIns="0" rIns="0" bIns="0" rtlCol="0" anchor="ctr"/>
          <a:lstStyle/>
          <a:p>
            <a:pPr marL="0" indent="0">
              <a:buNone/>
            </a:pPr>
            <a:r>
              <a:rPr lang="en-US" sz="1000" b="1" dirty="0">
                <a:solidFill>
                  <a:srgbClr val="0D0D0D"/>
                </a:solidFill>
                <a:latin typeface="Open Sans" pitchFamily="34" charset="0"/>
                <a:ea typeface="Open Sans" pitchFamily="34" charset="-122"/>
                <a:cs typeface="Open Sans" pitchFamily="34" charset="-120"/>
              </a:rPr>
              <a:t>Data Inputs</a:t>
            </a:r>
            <a:endParaRPr lang="en-US" sz="1000" dirty="0"/>
          </a:p>
        </p:txBody>
      </p:sp>
      <p:sp>
        <p:nvSpPr>
          <p:cNvPr id="18" name="Text 16"/>
          <p:cNvSpPr/>
          <p:nvPr/>
        </p:nvSpPr>
        <p:spPr>
          <a:xfrm>
            <a:off x="868680" y="2487168"/>
            <a:ext cx="3474720" cy="182880"/>
          </a:xfrm>
          <a:prstGeom prst="rect">
            <a:avLst/>
          </a:prstGeom>
          <a:noFill/>
          <a:ln/>
        </p:spPr>
        <p:txBody>
          <a:bodyPr wrap="square" lIns="0" tIns="0" rIns="0" bIns="0" rtlCol="0" anchor="ctr"/>
          <a:lstStyle/>
          <a:p>
            <a:pPr marL="0" indent="0">
              <a:buNone/>
            </a:pPr>
            <a:r>
              <a:rPr lang="en-US" sz="900" dirty="0">
                <a:solidFill>
                  <a:srgbClr val="6B7280"/>
                </a:solidFill>
                <a:latin typeface="Open Sans" pitchFamily="34" charset="0"/>
                <a:ea typeface="Open Sans" pitchFamily="34" charset="-122"/>
                <a:cs typeface="Open Sans" pitchFamily="34" charset="-120"/>
              </a:rPr>
              <a:t>Every value explicit — the executor does not infer data</a:t>
            </a:r>
            <a:endParaRPr lang="en-US" sz="900" dirty="0"/>
          </a:p>
        </p:txBody>
      </p:sp>
      <p:sp>
        <p:nvSpPr>
          <p:cNvPr id="19" name="Text 17"/>
          <p:cNvSpPr/>
          <p:nvPr/>
        </p:nvSpPr>
        <p:spPr>
          <a:xfrm>
            <a:off x="594360" y="2697480"/>
            <a:ext cx="228600" cy="228600"/>
          </a:xfrm>
          <a:prstGeom prst="rect">
            <a:avLst/>
          </a:prstGeom>
          <a:noFill/>
          <a:ln/>
        </p:spPr>
        <p:txBody>
          <a:bodyPr wrap="square" lIns="0" tIns="0" rIns="0" bIns="0" rtlCol="0" anchor="ctr"/>
          <a:lstStyle/>
          <a:p>
            <a:pPr marL="0" indent="0">
              <a:buNone/>
            </a:pPr>
            <a:r>
              <a:rPr lang="en-US" sz="1000" b="1" dirty="0">
                <a:solidFill>
                  <a:srgbClr val="024731"/>
                </a:solidFill>
                <a:latin typeface="Open Sans" pitchFamily="34" charset="0"/>
                <a:ea typeface="Open Sans" pitchFamily="34" charset="-122"/>
                <a:cs typeface="Open Sans" pitchFamily="34" charset="-120"/>
              </a:rPr>
              <a:t>4</a:t>
            </a:r>
            <a:endParaRPr lang="en-US" sz="1000" dirty="0"/>
          </a:p>
        </p:txBody>
      </p:sp>
      <p:sp>
        <p:nvSpPr>
          <p:cNvPr id="20" name="Text 18"/>
          <p:cNvSpPr/>
          <p:nvPr/>
        </p:nvSpPr>
        <p:spPr>
          <a:xfrm>
            <a:off x="868680" y="2679192"/>
            <a:ext cx="1554480" cy="182880"/>
          </a:xfrm>
          <a:prstGeom prst="rect">
            <a:avLst/>
          </a:prstGeom>
          <a:noFill/>
          <a:ln/>
        </p:spPr>
        <p:txBody>
          <a:bodyPr wrap="square" lIns="0" tIns="0" rIns="0" bIns="0" rtlCol="0" anchor="ctr"/>
          <a:lstStyle/>
          <a:p>
            <a:pPr marL="0" indent="0">
              <a:buNone/>
            </a:pPr>
            <a:r>
              <a:rPr lang="en-US" sz="1000" b="1" dirty="0">
                <a:solidFill>
                  <a:srgbClr val="0D0D0D"/>
                </a:solidFill>
                <a:latin typeface="Open Sans" pitchFamily="34" charset="0"/>
                <a:ea typeface="Open Sans" pitchFamily="34" charset="-122"/>
                <a:cs typeface="Open Sans" pitchFamily="34" charset="-120"/>
              </a:rPr>
              <a:t>Named Range Map</a:t>
            </a:r>
            <a:endParaRPr lang="en-US" sz="1000" dirty="0"/>
          </a:p>
        </p:txBody>
      </p:sp>
      <p:sp>
        <p:nvSpPr>
          <p:cNvPr id="21" name="Text 19"/>
          <p:cNvSpPr/>
          <p:nvPr/>
        </p:nvSpPr>
        <p:spPr>
          <a:xfrm>
            <a:off x="868680" y="2852928"/>
            <a:ext cx="3474720" cy="182880"/>
          </a:xfrm>
          <a:prstGeom prst="rect">
            <a:avLst/>
          </a:prstGeom>
          <a:noFill/>
          <a:ln/>
        </p:spPr>
        <p:txBody>
          <a:bodyPr wrap="square" lIns="0" tIns="0" rIns="0" bIns="0" rtlCol="0" anchor="ctr"/>
          <a:lstStyle/>
          <a:p>
            <a:pPr marL="0" indent="0">
              <a:buNone/>
            </a:pPr>
            <a:r>
              <a:rPr lang="en-US" sz="900" dirty="0">
                <a:solidFill>
                  <a:srgbClr val="6B7280"/>
                </a:solidFill>
                <a:latin typeface="Open Sans" pitchFamily="34" charset="0"/>
                <a:ea typeface="Open Sans" pitchFamily="34" charset="-122"/>
                <a:cs typeface="Open Sans" pitchFamily="34" charset="-120"/>
              </a:rPr>
              <a:t>Full map: name, source, value, unit</a:t>
            </a:r>
            <a:endParaRPr lang="en-US" sz="900" dirty="0"/>
          </a:p>
        </p:txBody>
      </p:sp>
      <p:sp>
        <p:nvSpPr>
          <p:cNvPr id="22" name="Text 20"/>
          <p:cNvSpPr/>
          <p:nvPr/>
        </p:nvSpPr>
        <p:spPr>
          <a:xfrm>
            <a:off x="594360" y="3063240"/>
            <a:ext cx="228600" cy="228600"/>
          </a:xfrm>
          <a:prstGeom prst="rect">
            <a:avLst/>
          </a:prstGeom>
          <a:noFill/>
          <a:ln/>
        </p:spPr>
        <p:txBody>
          <a:bodyPr wrap="square" lIns="0" tIns="0" rIns="0" bIns="0" rtlCol="0" anchor="ctr"/>
          <a:lstStyle/>
          <a:p>
            <a:pPr marL="0" indent="0">
              <a:buNone/>
            </a:pPr>
            <a:r>
              <a:rPr lang="en-US" sz="1000" b="1" dirty="0">
                <a:solidFill>
                  <a:srgbClr val="024731"/>
                </a:solidFill>
                <a:latin typeface="Open Sans" pitchFamily="34" charset="0"/>
                <a:ea typeface="Open Sans" pitchFamily="34" charset="-122"/>
                <a:cs typeface="Open Sans" pitchFamily="34" charset="-120"/>
              </a:rPr>
              <a:t>5</a:t>
            </a:r>
            <a:endParaRPr lang="en-US" sz="1000" dirty="0"/>
          </a:p>
        </p:txBody>
      </p:sp>
      <p:sp>
        <p:nvSpPr>
          <p:cNvPr id="23" name="Text 21"/>
          <p:cNvSpPr/>
          <p:nvPr/>
        </p:nvSpPr>
        <p:spPr>
          <a:xfrm>
            <a:off x="868680" y="3044952"/>
            <a:ext cx="1554480" cy="182880"/>
          </a:xfrm>
          <a:prstGeom prst="rect">
            <a:avLst/>
          </a:prstGeom>
          <a:noFill/>
          <a:ln/>
        </p:spPr>
        <p:txBody>
          <a:bodyPr wrap="square" lIns="0" tIns="0" rIns="0" bIns="0" rtlCol="0" anchor="ctr"/>
          <a:lstStyle/>
          <a:p>
            <a:pPr marL="0" indent="0">
              <a:buNone/>
            </a:pPr>
            <a:r>
              <a:rPr lang="en-US" sz="1000" b="1" dirty="0">
                <a:solidFill>
                  <a:srgbClr val="0D0D0D"/>
                </a:solidFill>
                <a:latin typeface="Open Sans" pitchFamily="34" charset="0"/>
                <a:ea typeface="Open Sans" pitchFamily="34" charset="-122"/>
                <a:cs typeface="Open Sans" pitchFamily="34" charset="-120"/>
              </a:rPr>
              <a:t>Derived Inputs</a:t>
            </a:r>
            <a:endParaRPr lang="en-US" sz="1000" dirty="0"/>
          </a:p>
        </p:txBody>
      </p:sp>
      <p:sp>
        <p:nvSpPr>
          <p:cNvPr id="24" name="Text 22"/>
          <p:cNvSpPr/>
          <p:nvPr/>
        </p:nvSpPr>
        <p:spPr>
          <a:xfrm>
            <a:off x="868680" y="3218688"/>
            <a:ext cx="3474720" cy="182880"/>
          </a:xfrm>
          <a:prstGeom prst="rect">
            <a:avLst/>
          </a:prstGeom>
          <a:noFill/>
          <a:ln/>
        </p:spPr>
        <p:txBody>
          <a:bodyPr wrap="square" lIns="0" tIns="0" rIns="0" bIns="0" rtlCol="0" anchor="ctr"/>
          <a:lstStyle/>
          <a:p>
            <a:pPr marL="0" indent="0">
              <a:buNone/>
            </a:pPr>
            <a:r>
              <a:rPr lang="en-US" sz="900" dirty="0">
                <a:solidFill>
                  <a:srgbClr val="6B7280"/>
                </a:solidFill>
                <a:latin typeface="Open Sans" pitchFamily="34" charset="0"/>
                <a:ea typeface="Open Sans" pitchFamily="34" charset="-122"/>
                <a:cs typeface="Open Sans" pitchFamily="34" charset="-120"/>
              </a:rPr>
              <a:t>Averages, start-of-year, daily rates with formulas</a:t>
            </a:r>
            <a:endParaRPr lang="en-US" sz="900" dirty="0"/>
          </a:p>
        </p:txBody>
      </p:sp>
      <p:sp>
        <p:nvSpPr>
          <p:cNvPr id="25" name="Text 23"/>
          <p:cNvSpPr/>
          <p:nvPr/>
        </p:nvSpPr>
        <p:spPr>
          <a:xfrm>
            <a:off x="594360" y="3429000"/>
            <a:ext cx="228600" cy="228600"/>
          </a:xfrm>
          <a:prstGeom prst="rect">
            <a:avLst/>
          </a:prstGeom>
          <a:noFill/>
          <a:ln/>
        </p:spPr>
        <p:txBody>
          <a:bodyPr wrap="square" lIns="0" tIns="0" rIns="0" bIns="0" rtlCol="0" anchor="ctr"/>
          <a:lstStyle/>
          <a:p>
            <a:pPr marL="0" indent="0">
              <a:buNone/>
            </a:pPr>
            <a:r>
              <a:rPr lang="en-US" sz="1000" b="1" dirty="0">
                <a:solidFill>
                  <a:srgbClr val="024731"/>
                </a:solidFill>
                <a:latin typeface="Open Sans" pitchFamily="34" charset="0"/>
                <a:ea typeface="Open Sans" pitchFamily="34" charset="-122"/>
                <a:cs typeface="Open Sans" pitchFamily="34" charset="-120"/>
              </a:rPr>
              <a:t>6</a:t>
            </a:r>
            <a:endParaRPr lang="en-US" sz="1000" dirty="0"/>
          </a:p>
        </p:txBody>
      </p:sp>
      <p:sp>
        <p:nvSpPr>
          <p:cNvPr id="26" name="Text 24"/>
          <p:cNvSpPr/>
          <p:nvPr/>
        </p:nvSpPr>
        <p:spPr>
          <a:xfrm>
            <a:off x="868680" y="3410712"/>
            <a:ext cx="1554480" cy="182880"/>
          </a:xfrm>
          <a:prstGeom prst="rect">
            <a:avLst/>
          </a:prstGeom>
          <a:noFill/>
          <a:ln/>
        </p:spPr>
        <p:txBody>
          <a:bodyPr wrap="square" lIns="0" tIns="0" rIns="0" bIns="0" rtlCol="0" anchor="ctr"/>
          <a:lstStyle/>
          <a:p>
            <a:pPr marL="0" indent="0">
              <a:buNone/>
            </a:pPr>
            <a:r>
              <a:rPr lang="en-US" sz="1000" b="1" dirty="0">
                <a:solidFill>
                  <a:srgbClr val="0D0D0D"/>
                </a:solidFill>
                <a:latin typeface="Open Sans" pitchFamily="34" charset="0"/>
                <a:ea typeface="Open Sans" pitchFamily="34" charset="-122"/>
                <a:cs typeface="Open Sans" pitchFamily="34" charset="-120"/>
              </a:rPr>
              <a:t>Ratio Formulas</a:t>
            </a:r>
            <a:endParaRPr lang="en-US" sz="1000" dirty="0"/>
          </a:p>
        </p:txBody>
      </p:sp>
      <p:sp>
        <p:nvSpPr>
          <p:cNvPr id="27" name="Text 25"/>
          <p:cNvSpPr/>
          <p:nvPr/>
        </p:nvSpPr>
        <p:spPr>
          <a:xfrm>
            <a:off x="868680" y="3584448"/>
            <a:ext cx="3474720" cy="182880"/>
          </a:xfrm>
          <a:prstGeom prst="rect">
            <a:avLst/>
          </a:prstGeom>
          <a:noFill/>
          <a:ln/>
        </p:spPr>
        <p:txBody>
          <a:bodyPr wrap="square" lIns="0" tIns="0" rIns="0" bIns="0" rtlCol="0" anchor="ctr"/>
          <a:lstStyle/>
          <a:p>
            <a:pPr marL="0" indent="0">
              <a:buNone/>
            </a:pPr>
            <a:r>
              <a:rPr lang="en-US" sz="900" dirty="0">
                <a:solidFill>
                  <a:srgbClr val="6B7280"/>
                </a:solidFill>
                <a:latin typeface="Open Sans" pitchFamily="34" charset="0"/>
                <a:ea typeface="Open Sans" pitchFamily="34" charset="-122"/>
                <a:cs typeface="Open Sans" pitchFamily="34" charset="-120"/>
              </a:rPr>
              <a:t>All 25+ ratios in named-range notation with units</a:t>
            </a:r>
            <a:endParaRPr lang="en-US" sz="900" dirty="0"/>
          </a:p>
        </p:txBody>
      </p:sp>
      <p:sp>
        <p:nvSpPr>
          <p:cNvPr id="28" name="Text 26"/>
          <p:cNvSpPr/>
          <p:nvPr/>
        </p:nvSpPr>
        <p:spPr>
          <a:xfrm>
            <a:off x="594360" y="3794760"/>
            <a:ext cx="228600" cy="228600"/>
          </a:xfrm>
          <a:prstGeom prst="rect">
            <a:avLst/>
          </a:prstGeom>
          <a:noFill/>
          <a:ln/>
        </p:spPr>
        <p:txBody>
          <a:bodyPr wrap="square" lIns="0" tIns="0" rIns="0" bIns="0" rtlCol="0" anchor="ctr"/>
          <a:lstStyle/>
          <a:p>
            <a:pPr marL="0" indent="0">
              <a:buNone/>
            </a:pPr>
            <a:r>
              <a:rPr lang="en-US" sz="1000" b="1" dirty="0">
                <a:solidFill>
                  <a:srgbClr val="024731"/>
                </a:solidFill>
                <a:latin typeface="Open Sans" pitchFamily="34" charset="0"/>
                <a:ea typeface="Open Sans" pitchFamily="34" charset="-122"/>
                <a:cs typeface="Open Sans" pitchFamily="34" charset="-120"/>
              </a:rPr>
              <a:t>7</a:t>
            </a:r>
            <a:endParaRPr lang="en-US" sz="1000" dirty="0"/>
          </a:p>
        </p:txBody>
      </p:sp>
      <p:sp>
        <p:nvSpPr>
          <p:cNvPr id="29" name="Text 27"/>
          <p:cNvSpPr/>
          <p:nvPr/>
        </p:nvSpPr>
        <p:spPr>
          <a:xfrm>
            <a:off x="868680" y="3776472"/>
            <a:ext cx="1554480" cy="182880"/>
          </a:xfrm>
          <a:prstGeom prst="rect">
            <a:avLst/>
          </a:prstGeom>
          <a:noFill/>
          <a:ln/>
        </p:spPr>
        <p:txBody>
          <a:bodyPr wrap="square" lIns="0" tIns="0" rIns="0" bIns="0" rtlCol="0" anchor="ctr"/>
          <a:lstStyle/>
          <a:p>
            <a:pPr marL="0" indent="0">
              <a:buNone/>
            </a:pPr>
            <a:r>
              <a:rPr lang="en-US" sz="1000" b="1" dirty="0">
                <a:solidFill>
                  <a:srgbClr val="0D0D0D"/>
                </a:solidFill>
                <a:latin typeface="Open Sans" pitchFamily="34" charset="0"/>
                <a:ea typeface="Open Sans" pitchFamily="34" charset="-122"/>
                <a:cs typeface="Open Sans" pitchFamily="34" charset="-120"/>
              </a:rPr>
              <a:t>Validation Rules</a:t>
            </a:r>
            <a:endParaRPr lang="en-US" sz="1000" dirty="0"/>
          </a:p>
        </p:txBody>
      </p:sp>
      <p:sp>
        <p:nvSpPr>
          <p:cNvPr id="30" name="Text 28"/>
          <p:cNvSpPr/>
          <p:nvPr/>
        </p:nvSpPr>
        <p:spPr>
          <a:xfrm>
            <a:off x="868680" y="3950208"/>
            <a:ext cx="3474720" cy="182880"/>
          </a:xfrm>
          <a:prstGeom prst="rect">
            <a:avLst/>
          </a:prstGeom>
          <a:noFill/>
          <a:ln/>
        </p:spPr>
        <p:txBody>
          <a:bodyPr wrap="square" lIns="0" tIns="0" rIns="0" bIns="0" rtlCol="0" anchor="ctr"/>
          <a:lstStyle/>
          <a:p>
            <a:pPr marL="0" indent="0">
              <a:buNone/>
            </a:pPr>
            <a:r>
              <a:rPr lang="en-US" sz="900" dirty="0">
                <a:solidFill>
                  <a:srgbClr val="6B7280"/>
                </a:solidFill>
                <a:latin typeface="Open Sans" pitchFamily="34" charset="0"/>
                <a:ea typeface="Open Sans" pitchFamily="34" charset="-122"/>
                <a:cs typeface="Open Sans" pitchFamily="34" charset="-120"/>
              </a:rPr>
              <a:t>Du Pont checks, BS balance, consistency tests</a:t>
            </a:r>
            <a:endParaRPr lang="en-US" sz="900" dirty="0"/>
          </a:p>
        </p:txBody>
      </p:sp>
      <p:sp>
        <p:nvSpPr>
          <p:cNvPr id="31" name="Shape 29"/>
          <p:cNvSpPr/>
          <p:nvPr/>
        </p:nvSpPr>
        <p:spPr>
          <a:xfrm>
            <a:off x="4663440" y="1051560"/>
            <a:ext cx="4023360" cy="3200400"/>
          </a:xfrm>
          <a:prstGeom prst="rect">
            <a:avLst/>
          </a:prstGeom>
          <a:solidFill>
            <a:srgbClr val="F5F7F6"/>
          </a:solidFill>
          <a:ln/>
          <a:effectLst>
            <a:outerShdw blurRad="50800" dist="12700" dir="8100000" algn="bl" rotWithShape="0">
              <a:srgbClr val="000000">
                <a:alpha val="10000"/>
              </a:srgbClr>
            </a:outerShdw>
          </a:effectLst>
        </p:spPr>
        <p:txBody>
          <a:bodyPr/>
          <a:lstStyle/>
          <a:p>
            <a:endParaRPr lang="en-US"/>
          </a:p>
        </p:txBody>
      </p:sp>
      <p:sp>
        <p:nvSpPr>
          <p:cNvPr id="32" name="Shape 30"/>
          <p:cNvSpPr/>
          <p:nvPr/>
        </p:nvSpPr>
        <p:spPr>
          <a:xfrm>
            <a:off x="4663440" y="1051560"/>
            <a:ext cx="4023360" cy="411480"/>
          </a:xfrm>
          <a:prstGeom prst="rect">
            <a:avLst/>
          </a:prstGeom>
          <a:solidFill>
            <a:srgbClr val="024731"/>
          </a:solidFill>
          <a:ln/>
        </p:spPr>
        <p:txBody>
          <a:bodyPr/>
          <a:lstStyle/>
          <a:p>
            <a:endParaRPr lang="en-US"/>
          </a:p>
        </p:txBody>
      </p:sp>
      <p:sp>
        <p:nvSpPr>
          <p:cNvPr id="33" name="Text 31"/>
          <p:cNvSpPr/>
          <p:nvPr/>
        </p:nvSpPr>
        <p:spPr>
          <a:xfrm>
            <a:off x="4800600" y="1069848"/>
            <a:ext cx="3749040" cy="365760"/>
          </a:xfrm>
          <a:prstGeom prst="rect">
            <a:avLst/>
          </a:prstGeom>
          <a:noFill/>
          <a:ln/>
        </p:spPr>
        <p:txBody>
          <a:bodyPr wrap="square" lIns="0" tIns="0" rIns="0" bIns="0" rtlCol="0" anchor="ctr"/>
          <a:lstStyle/>
          <a:p>
            <a:pPr marL="0" indent="0">
              <a:buNone/>
            </a:pPr>
            <a:r>
              <a:rPr lang="en-US" sz="1300" b="1" dirty="0">
                <a:solidFill>
                  <a:srgbClr val="FFFFFF"/>
                </a:solidFill>
                <a:latin typeface="Open Sans" pitchFamily="34" charset="0"/>
                <a:ea typeface="Open Sans" pitchFamily="34" charset="-122"/>
                <a:cs typeface="Open Sans" pitchFamily="34" charset="-120"/>
              </a:rPr>
              <a:t>Part B — Analysis Specification</a:t>
            </a:r>
            <a:endParaRPr lang="en-US" sz="1300" dirty="0"/>
          </a:p>
        </p:txBody>
      </p:sp>
      <p:sp>
        <p:nvSpPr>
          <p:cNvPr id="34" name="Text 32"/>
          <p:cNvSpPr/>
          <p:nvPr/>
        </p:nvSpPr>
        <p:spPr>
          <a:xfrm>
            <a:off x="4800600" y="1600200"/>
            <a:ext cx="320040" cy="228600"/>
          </a:xfrm>
          <a:prstGeom prst="rect">
            <a:avLst/>
          </a:prstGeom>
          <a:noFill/>
          <a:ln/>
        </p:spPr>
        <p:txBody>
          <a:bodyPr wrap="square" lIns="0" tIns="0" rIns="0" bIns="0" rtlCol="0" anchor="ctr"/>
          <a:lstStyle/>
          <a:p>
            <a:pPr marL="0" indent="0">
              <a:buNone/>
            </a:pPr>
            <a:r>
              <a:rPr lang="en-US" sz="1000" b="1" dirty="0">
                <a:solidFill>
                  <a:srgbClr val="024731"/>
                </a:solidFill>
                <a:latin typeface="Open Sans" pitchFamily="34" charset="0"/>
                <a:ea typeface="Open Sans" pitchFamily="34" charset="-122"/>
                <a:cs typeface="Open Sans" pitchFamily="34" charset="-120"/>
              </a:rPr>
              <a:t>8</a:t>
            </a:r>
            <a:endParaRPr lang="en-US" sz="1000" dirty="0"/>
          </a:p>
        </p:txBody>
      </p:sp>
      <p:sp>
        <p:nvSpPr>
          <p:cNvPr id="35" name="Text 33"/>
          <p:cNvSpPr/>
          <p:nvPr/>
        </p:nvSpPr>
        <p:spPr>
          <a:xfrm>
            <a:off x="5166360" y="1581912"/>
            <a:ext cx="2286000" cy="182880"/>
          </a:xfrm>
          <a:prstGeom prst="rect">
            <a:avLst/>
          </a:prstGeom>
          <a:noFill/>
          <a:ln/>
        </p:spPr>
        <p:txBody>
          <a:bodyPr wrap="square" lIns="0" tIns="0" rIns="0" bIns="0" rtlCol="0" anchor="ctr"/>
          <a:lstStyle/>
          <a:p>
            <a:pPr marL="0" indent="0">
              <a:buNone/>
            </a:pPr>
            <a:r>
              <a:rPr lang="en-US" sz="1000" b="1" dirty="0">
                <a:solidFill>
                  <a:srgbClr val="0D0D0D"/>
                </a:solidFill>
                <a:latin typeface="Open Sans" pitchFamily="34" charset="0"/>
                <a:ea typeface="Open Sans" pitchFamily="34" charset="-122"/>
                <a:cs typeface="Open Sans" pitchFamily="34" charset="-120"/>
              </a:rPr>
              <a:t>Analysis Requirements</a:t>
            </a:r>
            <a:endParaRPr lang="en-US" sz="1000" dirty="0"/>
          </a:p>
        </p:txBody>
      </p:sp>
      <p:sp>
        <p:nvSpPr>
          <p:cNvPr id="36" name="Text 34"/>
          <p:cNvSpPr/>
          <p:nvPr/>
        </p:nvSpPr>
        <p:spPr>
          <a:xfrm>
            <a:off x="5166360" y="1764792"/>
            <a:ext cx="3383280" cy="274320"/>
          </a:xfrm>
          <a:prstGeom prst="rect">
            <a:avLst/>
          </a:prstGeom>
          <a:noFill/>
          <a:ln/>
        </p:spPr>
        <p:txBody>
          <a:bodyPr wrap="square" lIns="0" tIns="0" rIns="0" bIns="0" rtlCol="0" anchor="ctr"/>
          <a:lstStyle/>
          <a:p>
            <a:pPr marL="0" indent="0">
              <a:buNone/>
            </a:pPr>
            <a:r>
              <a:rPr lang="en-US" sz="900" dirty="0">
                <a:solidFill>
                  <a:srgbClr val="6B7280"/>
                </a:solidFill>
                <a:latin typeface="Open Sans" pitchFamily="34" charset="0"/>
                <a:ea typeface="Open Sans" pitchFamily="34" charset="-122"/>
                <a:cs typeface="Open Sans" pitchFamily="34" charset="-120"/>
              </a:rPr>
              <a:t>What to interpret per category; benchmarks; cross-category connections</a:t>
            </a:r>
            <a:endParaRPr lang="en-US" sz="900" dirty="0"/>
          </a:p>
        </p:txBody>
      </p:sp>
      <p:sp>
        <p:nvSpPr>
          <p:cNvPr id="37" name="Text 35"/>
          <p:cNvSpPr/>
          <p:nvPr/>
        </p:nvSpPr>
        <p:spPr>
          <a:xfrm>
            <a:off x="4800600" y="2103120"/>
            <a:ext cx="320040" cy="228600"/>
          </a:xfrm>
          <a:prstGeom prst="rect">
            <a:avLst/>
          </a:prstGeom>
          <a:noFill/>
          <a:ln/>
        </p:spPr>
        <p:txBody>
          <a:bodyPr wrap="square" lIns="0" tIns="0" rIns="0" bIns="0" rtlCol="0" anchor="ctr"/>
          <a:lstStyle/>
          <a:p>
            <a:pPr marL="0" indent="0">
              <a:buNone/>
            </a:pPr>
            <a:r>
              <a:rPr lang="en-US" sz="1000" b="1" dirty="0">
                <a:solidFill>
                  <a:srgbClr val="024731"/>
                </a:solidFill>
                <a:latin typeface="Open Sans" pitchFamily="34" charset="0"/>
                <a:ea typeface="Open Sans" pitchFamily="34" charset="-122"/>
                <a:cs typeface="Open Sans" pitchFamily="34" charset="-120"/>
              </a:rPr>
              <a:t>9</a:t>
            </a:r>
            <a:endParaRPr lang="en-US" sz="1000" dirty="0"/>
          </a:p>
        </p:txBody>
      </p:sp>
      <p:sp>
        <p:nvSpPr>
          <p:cNvPr id="38" name="Text 36"/>
          <p:cNvSpPr/>
          <p:nvPr/>
        </p:nvSpPr>
        <p:spPr>
          <a:xfrm>
            <a:off x="5166360" y="2084832"/>
            <a:ext cx="2286000" cy="182880"/>
          </a:xfrm>
          <a:prstGeom prst="rect">
            <a:avLst/>
          </a:prstGeom>
          <a:noFill/>
          <a:ln/>
        </p:spPr>
        <p:txBody>
          <a:bodyPr wrap="square" lIns="0" tIns="0" rIns="0" bIns="0" rtlCol="0" anchor="ctr"/>
          <a:lstStyle/>
          <a:p>
            <a:pPr marL="0" indent="0">
              <a:buNone/>
            </a:pPr>
            <a:r>
              <a:rPr lang="en-US" sz="1000" b="1" dirty="0">
                <a:solidFill>
                  <a:srgbClr val="0D0D0D"/>
                </a:solidFill>
                <a:latin typeface="Open Sans" pitchFamily="34" charset="0"/>
                <a:ea typeface="Open Sans" pitchFamily="34" charset="-122"/>
                <a:cs typeface="Open Sans" pitchFamily="34" charset="-120"/>
              </a:rPr>
              <a:t>Du Pont Decomposition</a:t>
            </a:r>
            <a:endParaRPr lang="en-US" sz="1000" dirty="0"/>
          </a:p>
        </p:txBody>
      </p:sp>
      <p:sp>
        <p:nvSpPr>
          <p:cNvPr id="39" name="Text 37"/>
          <p:cNvSpPr/>
          <p:nvPr/>
        </p:nvSpPr>
        <p:spPr>
          <a:xfrm>
            <a:off x="5166360" y="2267712"/>
            <a:ext cx="3383280" cy="274320"/>
          </a:xfrm>
          <a:prstGeom prst="rect">
            <a:avLst/>
          </a:prstGeom>
          <a:noFill/>
          <a:ln/>
        </p:spPr>
        <p:txBody>
          <a:bodyPr wrap="square" lIns="0" tIns="0" rIns="0" bIns="0" rtlCol="0" anchor="ctr"/>
          <a:lstStyle/>
          <a:p>
            <a:pPr marL="0" indent="0">
              <a:buNone/>
            </a:pPr>
            <a:r>
              <a:rPr lang="en-US" sz="900" dirty="0">
                <a:solidFill>
                  <a:srgbClr val="6B7280"/>
                </a:solidFill>
                <a:latin typeface="Open Sans" pitchFamily="34" charset="0"/>
                <a:ea typeface="Open Sans" pitchFamily="34" charset="-122"/>
                <a:cs typeface="Open Sans" pitchFamily="34" charset="-120"/>
              </a:rPr>
              <a:t>ROE breakdown instructions: which driver? Sustainable?</a:t>
            </a:r>
            <a:endParaRPr lang="en-US" sz="900" dirty="0"/>
          </a:p>
        </p:txBody>
      </p:sp>
      <p:sp>
        <p:nvSpPr>
          <p:cNvPr id="40" name="Text 38"/>
          <p:cNvSpPr/>
          <p:nvPr/>
        </p:nvSpPr>
        <p:spPr>
          <a:xfrm>
            <a:off x="4800600" y="2606040"/>
            <a:ext cx="320040" cy="228600"/>
          </a:xfrm>
          <a:prstGeom prst="rect">
            <a:avLst/>
          </a:prstGeom>
          <a:noFill/>
          <a:ln/>
        </p:spPr>
        <p:txBody>
          <a:bodyPr wrap="square" lIns="0" tIns="0" rIns="0" bIns="0" rtlCol="0" anchor="ctr"/>
          <a:lstStyle/>
          <a:p>
            <a:pPr marL="0" indent="0">
              <a:buNone/>
            </a:pPr>
            <a:r>
              <a:rPr lang="en-US" sz="1000" b="1" dirty="0">
                <a:solidFill>
                  <a:srgbClr val="024731"/>
                </a:solidFill>
                <a:latin typeface="Open Sans" pitchFamily="34" charset="0"/>
                <a:ea typeface="Open Sans" pitchFamily="34" charset="-122"/>
                <a:cs typeface="Open Sans" pitchFamily="34" charset="-120"/>
              </a:rPr>
              <a:t>10</a:t>
            </a:r>
            <a:endParaRPr lang="en-US" sz="1000" dirty="0"/>
          </a:p>
        </p:txBody>
      </p:sp>
      <p:sp>
        <p:nvSpPr>
          <p:cNvPr id="41" name="Text 39"/>
          <p:cNvSpPr/>
          <p:nvPr/>
        </p:nvSpPr>
        <p:spPr>
          <a:xfrm>
            <a:off x="5166360" y="2587752"/>
            <a:ext cx="2286000" cy="182880"/>
          </a:xfrm>
          <a:prstGeom prst="rect">
            <a:avLst/>
          </a:prstGeom>
          <a:noFill/>
          <a:ln/>
        </p:spPr>
        <p:txBody>
          <a:bodyPr wrap="square" lIns="0" tIns="0" rIns="0" bIns="0" rtlCol="0" anchor="ctr"/>
          <a:lstStyle/>
          <a:p>
            <a:pPr marL="0" indent="0">
              <a:buNone/>
            </a:pPr>
            <a:r>
              <a:rPr lang="en-US" sz="1000" b="1" dirty="0">
                <a:solidFill>
                  <a:srgbClr val="0D0D0D"/>
                </a:solidFill>
                <a:latin typeface="Open Sans" pitchFamily="34" charset="0"/>
                <a:ea typeface="Open Sans" pitchFamily="34" charset="-122"/>
                <a:cs typeface="Open Sans" pitchFamily="34" charset="-120"/>
              </a:rPr>
              <a:t>Strategic Recommendations</a:t>
            </a:r>
            <a:endParaRPr lang="en-US" sz="1000" dirty="0"/>
          </a:p>
        </p:txBody>
      </p:sp>
      <p:sp>
        <p:nvSpPr>
          <p:cNvPr id="42" name="Text 40"/>
          <p:cNvSpPr/>
          <p:nvPr/>
        </p:nvSpPr>
        <p:spPr>
          <a:xfrm>
            <a:off x="5166360" y="2770632"/>
            <a:ext cx="3383280" cy="274320"/>
          </a:xfrm>
          <a:prstGeom prst="rect">
            <a:avLst/>
          </a:prstGeom>
          <a:noFill/>
          <a:ln/>
        </p:spPr>
        <p:txBody>
          <a:bodyPr wrap="square" lIns="0" tIns="0" rIns="0" bIns="0" rtlCol="0" anchor="ctr"/>
          <a:lstStyle/>
          <a:p>
            <a:pPr marL="0" indent="0">
              <a:buNone/>
            </a:pPr>
            <a:r>
              <a:rPr lang="en-US" sz="900" dirty="0">
                <a:solidFill>
                  <a:srgbClr val="6B7280"/>
                </a:solidFill>
                <a:latin typeface="Open Sans" pitchFamily="34" charset="0"/>
                <a:ea typeface="Open Sans" pitchFamily="34" charset="-122"/>
                <a:cs typeface="Open Sans" pitchFamily="34" charset="-120"/>
              </a:rPr>
              <a:t>3–5 recommendations; evidence standard; actionable specificity</a:t>
            </a:r>
            <a:endParaRPr lang="en-US" sz="900" dirty="0"/>
          </a:p>
        </p:txBody>
      </p:sp>
      <p:sp>
        <p:nvSpPr>
          <p:cNvPr id="43" name="Text 41"/>
          <p:cNvSpPr/>
          <p:nvPr/>
        </p:nvSpPr>
        <p:spPr>
          <a:xfrm>
            <a:off x="4800600" y="3108960"/>
            <a:ext cx="320040" cy="228600"/>
          </a:xfrm>
          <a:prstGeom prst="rect">
            <a:avLst/>
          </a:prstGeom>
          <a:noFill/>
          <a:ln/>
        </p:spPr>
        <p:txBody>
          <a:bodyPr wrap="square" lIns="0" tIns="0" rIns="0" bIns="0" rtlCol="0" anchor="ctr"/>
          <a:lstStyle/>
          <a:p>
            <a:pPr marL="0" indent="0">
              <a:buNone/>
            </a:pPr>
            <a:r>
              <a:rPr lang="en-US" sz="1000" b="1" dirty="0">
                <a:solidFill>
                  <a:srgbClr val="024731"/>
                </a:solidFill>
                <a:latin typeface="Open Sans" pitchFamily="34" charset="0"/>
                <a:ea typeface="Open Sans" pitchFamily="34" charset="-122"/>
                <a:cs typeface="Open Sans" pitchFamily="34" charset="-120"/>
              </a:rPr>
              <a:t>11</a:t>
            </a:r>
            <a:endParaRPr lang="en-US" sz="1000" dirty="0"/>
          </a:p>
        </p:txBody>
      </p:sp>
      <p:sp>
        <p:nvSpPr>
          <p:cNvPr id="44" name="Text 42"/>
          <p:cNvSpPr/>
          <p:nvPr/>
        </p:nvSpPr>
        <p:spPr>
          <a:xfrm>
            <a:off x="5166360" y="3090672"/>
            <a:ext cx="2286000" cy="182880"/>
          </a:xfrm>
          <a:prstGeom prst="rect">
            <a:avLst/>
          </a:prstGeom>
          <a:noFill/>
          <a:ln/>
        </p:spPr>
        <p:txBody>
          <a:bodyPr wrap="square" lIns="0" tIns="0" rIns="0" bIns="0" rtlCol="0" anchor="ctr"/>
          <a:lstStyle/>
          <a:p>
            <a:pPr marL="0" indent="0">
              <a:buNone/>
            </a:pPr>
            <a:r>
              <a:rPr lang="en-US" sz="1000" b="1" dirty="0">
                <a:solidFill>
                  <a:srgbClr val="0D0D0D"/>
                </a:solidFill>
                <a:latin typeface="Open Sans" pitchFamily="34" charset="0"/>
                <a:ea typeface="Open Sans" pitchFamily="34" charset="-122"/>
                <a:cs typeface="Open Sans" pitchFamily="34" charset="-120"/>
              </a:rPr>
              <a:t>Output Format</a:t>
            </a:r>
            <a:endParaRPr lang="en-US" sz="1000" dirty="0"/>
          </a:p>
        </p:txBody>
      </p:sp>
      <p:sp>
        <p:nvSpPr>
          <p:cNvPr id="45" name="Text 43"/>
          <p:cNvSpPr/>
          <p:nvPr/>
        </p:nvSpPr>
        <p:spPr>
          <a:xfrm>
            <a:off x="5166360" y="3273552"/>
            <a:ext cx="3383280" cy="274320"/>
          </a:xfrm>
          <a:prstGeom prst="rect">
            <a:avLst/>
          </a:prstGeom>
          <a:noFill/>
          <a:ln/>
        </p:spPr>
        <p:txBody>
          <a:bodyPr wrap="square" lIns="0" tIns="0" rIns="0" bIns="0" rtlCol="0" anchor="ctr"/>
          <a:lstStyle/>
          <a:p>
            <a:pPr marL="0" indent="0">
              <a:buNone/>
            </a:pPr>
            <a:r>
              <a:rPr lang="en-US" sz="900" dirty="0">
                <a:solidFill>
                  <a:srgbClr val="6B7280"/>
                </a:solidFill>
                <a:latin typeface="Open Sans" pitchFamily="34" charset="0"/>
                <a:ea typeface="Open Sans" pitchFamily="34" charset="-122"/>
                <a:cs typeface="Open Sans" pitchFamily="34" charset="-120"/>
              </a:rPr>
              <a:t>Exact deliverable structure, sections, length, tone, audience</a:t>
            </a:r>
            <a:endParaRPr lang="en-US" sz="900" dirty="0"/>
          </a:p>
        </p:txBody>
      </p:sp>
      <p:sp>
        <p:nvSpPr>
          <p:cNvPr id="46" name="Shape 44"/>
          <p:cNvSpPr/>
          <p:nvPr/>
        </p:nvSpPr>
        <p:spPr>
          <a:xfrm>
            <a:off x="457200" y="4356100"/>
            <a:ext cx="8229600" cy="533400"/>
          </a:xfrm>
          <a:prstGeom prst="rect">
            <a:avLst/>
          </a:prstGeom>
          <a:solidFill>
            <a:srgbClr val="E6F2EF"/>
          </a:solidFill>
          <a:ln/>
        </p:spPr>
        <p:txBody>
          <a:bodyPr/>
          <a:lstStyle/>
          <a:p>
            <a:endParaRPr lang="en-US"/>
          </a:p>
        </p:txBody>
      </p:sp>
      <p:sp>
        <p:nvSpPr>
          <p:cNvPr id="47" name="Shape 45"/>
          <p:cNvSpPr/>
          <p:nvPr/>
        </p:nvSpPr>
        <p:spPr>
          <a:xfrm>
            <a:off x="457200" y="4356100"/>
            <a:ext cx="54864" cy="533400"/>
          </a:xfrm>
          <a:prstGeom prst="rect">
            <a:avLst/>
          </a:prstGeom>
          <a:solidFill>
            <a:srgbClr val="C9A84C"/>
          </a:solidFill>
          <a:ln/>
        </p:spPr>
        <p:txBody>
          <a:bodyPr/>
          <a:lstStyle/>
          <a:p>
            <a:endParaRPr lang="en-US"/>
          </a:p>
        </p:txBody>
      </p:sp>
      <p:sp>
        <p:nvSpPr>
          <p:cNvPr id="48" name="Text 46"/>
          <p:cNvSpPr/>
          <p:nvPr/>
        </p:nvSpPr>
        <p:spPr>
          <a:xfrm>
            <a:off x="635000" y="4394200"/>
            <a:ext cx="1651000" cy="228600"/>
          </a:xfrm>
          <a:prstGeom prst="rect">
            <a:avLst/>
          </a:prstGeom>
          <a:noFill/>
          <a:ln/>
        </p:spPr>
        <p:txBody>
          <a:bodyPr wrap="square" lIns="0" tIns="0" rIns="0" bIns="0" rtlCol="0" anchor="ctr"/>
          <a:lstStyle/>
          <a:p>
            <a:pPr marL="0" indent="0" algn="l">
              <a:buNone/>
            </a:pPr>
            <a:r>
              <a:rPr lang="en-US" sz="1100" b="1" dirty="0">
                <a:solidFill>
                  <a:srgbClr val="024731"/>
                </a:solidFill>
                <a:latin typeface="Open Sans" pitchFamily="34" charset="0"/>
              </a:rPr>
              <a:t>Quality Test</a:t>
            </a:r>
          </a:p>
        </p:txBody>
      </p:sp>
      <p:sp>
        <p:nvSpPr>
          <p:cNvPr id="49" name="Text 47"/>
          <p:cNvSpPr/>
          <p:nvPr/>
        </p:nvSpPr>
        <p:spPr>
          <a:xfrm>
            <a:off x="2349500" y="4394200"/>
            <a:ext cx="6210300" cy="482600"/>
          </a:xfrm>
          <a:prstGeom prst="rect">
            <a:avLst/>
          </a:prstGeom>
          <a:noFill/>
          <a:ln/>
        </p:spPr>
        <p:txBody>
          <a:bodyPr wrap="square" lIns="0" tIns="0" rIns="0" bIns="0" rtlCol="0" anchor="ctr"/>
          <a:lstStyle/>
          <a:p>
            <a:pPr marL="0" indent="0">
              <a:buNone/>
            </a:pPr>
            <a:r>
              <a:rPr lang="en-US" sz="900" dirty="0">
                <a:solidFill>
                  <a:srgbClr val="6B7280"/>
                </a:solidFill>
                <a:latin typeface="Open Sans" pitchFamily="34" charset="0"/>
              </a:rPr>
              <a:t>Use an LLM to draft Part A + Part B from your Stage 3 model. Test against a fresh LLM session — if the cold output mirrors your model, the spec is precise enough. Log every prompt.</a:t>
            </a:r>
          </a:p>
        </p:txBody>
      </p:sp>
      <p:sp>
        <p:nvSpPr>
          <p:cNvPr id="50" name="Shape 48"/>
          <p:cNvSpPr/>
          <p:nvPr/>
        </p:nvSpPr>
        <p:spPr>
          <a:xfrm>
            <a:off x="457200" y="4927600"/>
            <a:ext cx="8229600" cy="215900"/>
          </a:xfrm>
          <a:prstGeom prst="rect">
            <a:avLst/>
          </a:prstGeom>
          <a:solidFill>
            <a:srgbClr val="024731"/>
          </a:solidFill>
          <a:ln/>
        </p:spPr>
        <p:txBody>
          <a:bodyPr/>
          <a:lstStyle/>
          <a:p>
            <a:endParaRPr lang="en-US"/>
          </a:p>
        </p:txBody>
      </p:sp>
      <p:sp>
        <p:nvSpPr>
          <p:cNvPr id="51" name="Text 49"/>
          <p:cNvSpPr/>
          <p:nvPr/>
        </p:nvSpPr>
        <p:spPr>
          <a:xfrm>
            <a:off x="594360" y="4927600"/>
            <a:ext cx="7955280" cy="215900"/>
          </a:xfrm>
          <a:prstGeom prst="rect">
            <a:avLst/>
          </a:prstGeom>
          <a:noFill/>
          <a:ln/>
        </p:spPr>
        <p:txBody>
          <a:bodyPr wrap="square" rtlCol="0" anchor="ctr"/>
          <a:lstStyle/>
          <a:p>
            <a:pPr marL="0" indent="0" algn="ctr">
              <a:buNone/>
            </a:pPr>
            <a:r>
              <a:rPr lang="en-US" sz="900" dirty="0">
                <a:solidFill>
                  <a:srgbClr val="FFFFFF"/>
                </a:solidFill>
                <a:latin typeface="Open Sans" pitchFamily="34" charset="0"/>
              </a:rPr>
              <a:t>Rubric:  Data &amp; Structure 25%  |  Ratios &amp; Validation 25%  |  Analysis Spec 25%  |  Spec Craft + Prompt Log 25%</a:t>
            </a:r>
          </a:p>
        </p:txBody>
      </p:sp>
    </p:spTree>
    <p:extLst>
      <p:ext uri="{BB962C8B-B14F-4D97-AF65-F5344CB8AC3E}">
        <p14:creationId xmlns:p14="http://schemas.microsoft.com/office/powerpoint/2010/main" val="171106393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64592" cy="5143500"/>
          </a:xfrm>
          <a:prstGeom prst="rect">
            <a:avLst/>
          </a:prstGeom>
          <a:solidFill>
            <a:srgbClr val="0247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20040"/>
            <a:ext cx="8229600" cy="369332"/>
          </a:xfrm>
          <a:prstGeom prst="rect">
            <a:avLst/>
          </a:prstGeom>
          <a:noFill/>
        </p:spPr>
        <p:txBody>
          <a:bodyPr wrap="square" lIns="0" tIns="0" rIns="0" bIns="0" anchor="t">
            <a:spAutoFit/>
          </a:bodyPr>
          <a:lstStyle/>
          <a:p>
            <a:pPr algn="l"/>
            <a:r>
              <a:rPr sz="2400" b="1" dirty="0">
                <a:solidFill>
                  <a:srgbClr val="024731"/>
                </a:solidFill>
                <a:latin typeface="Open Sans"/>
              </a:rPr>
              <a:t>Stage 4 — Technical Specification  |  Step by Step</a:t>
            </a:r>
          </a:p>
        </p:txBody>
      </p:sp>
      <p:sp>
        <p:nvSpPr>
          <p:cNvPr id="4" name="TextBox 3"/>
          <p:cNvSpPr txBox="1"/>
          <p:nvPr/>
        </p:nvSpPr>
        <p:spPr>
          <a:xfrm>
            <a:off x="457200" y="841248"/>
            <a:ext cx="8229600" cy="320040"/>
          </a:xfrm>
          <a:prstGeom prst="rect">
            <a:avLst/>
          </a:prstGeom>
          <a:noFill/>
        </p:spPr>
        <p:txBody>
          <a:bodyPr wrap="square" lIns="0" tIns="0" rIns="0" bIns="0" anchor="t">
            <a:spAutoFit/>
          </a:bodyPr>
          <a:lstStyle/>
          <a:p>
            <a:pPr algn="l"/>
            <a:r>
              <a:rPr sz="1200" b="0">
                <a:solidFill>
                  <a:srgbClr val="555555"/>
                </a:solidFill>
                <a:latin typeface="Open Sans"/>
              </a:rPr>
              <a:t>Use an LLM to draft the spec. The HIL iteration is what separates a strong submission from a one-shot dump.</a:t>
            </a:r>
          </a:p>
        </p:txBody>
      </p:sp>
      <p:sp>
        <p:nvSpPr>
          <p:cNvPr id="5" name="TextBox 4"/>
          <p:cNvSpPr txBox="1"/>
          <p:nvPr/>
        </p:nvSpPr>
        <p:spPr>
          <a:xfrm>
            <a:off x="457200" y="4818888"/>
            <a:ext cx="8229600" cy="228600"/>
          </a:xfrm>
          <a:prstGeom prst="rect">
            <a:avLst/>
          </a:prstGeom>
          <a:noFill/>
        </p:spPr>
        <p:txBody>
          <a:bodyPr wrap="square" lIns="0" tIns="0" rIns="0" bIns="0" anchor="t">
            <a:spAutoFit/>
          </a:bodyPr>
          <a:lstStyle/>
          <a:p>
            <a:pPr algn="l"/>
            <a:r>
              <a:rPr sz="900" b="0">
                <a:solidFill>
                  <a:srgbClr val="555555"/>
                </a:solidFill>
                <a:latin typeface="Open Sans"/>
              </a:rPr>
              <a:t>Stage 4  |  20% of project  |  Deliverable-only  |  docs/specs/  |  see stage4-technical-specification.md</a:t>
            </a:r>
          </a:p>
        </p:txBody>
      </p:sp>
      <p:sp>
        <p:nvSpPr>
          <p:cNvPr id="6" name="Oval 5"/>
          <p:cNvSpPr/>
          <p:nvPr/>
        </p:nvSpPr>
        <p:spPr>
          <a:xfrm>
            <a:off x="457200" y="1358900"/>
            <a:ext cx="329184" cy="329184"/>
          </a:xfrm>
          <a:prstGeom prst="ellipse">
            <a:avLst/>
          </a:prstGeom>
          <a:solidFill>
            <a:srgbClr val="024731"/>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latin typeface="Open Sans"/>
              </a:rPr>
              <a:t>1</a:t>
            </a:r>
          </a:p>
        </p:txBody>
      </p:sp>
      <p:sp>
        <p:nvSpPr>
          <p:cNvPr id="7" name="TextBox 6"/>
          <p:cNvSpPr txBox="1"/>
          <p:nvPr/>
        </p:nvSpPr>
        <p:spPr>
          <a:xfrm>
            <a:off x="914400" y="1320800"/>
            <a:ext cx="3703320" cy="256032"/>
          </a:xfrm>
          <a:prstGeom prst="rect">
            <a:avLst/>
          </a:prstGeom>
          <a:noFill/>
        </p:spPr>
        <p:txBody>
          <a:bodyPr wrap="square" lIns="0" tIns="0" rIns="0" bIns="0" anchor="t">
            <a:spAutoFit/>
          </a:bodyPr>
          <a:lstStyle/>
          <a:p>
            <a:pPr algn="l"/>
            <a:r>
              <a:rPr sz="1300" b="1">
                <a:solidFill>
                  <a:srgbClr val="024731"/>
                </a:solidFill>
                <a:latin typeface="Open Sans"/>
              </a:rPr>
              <a:t>Pick a workflow</a:t>
            </a:r>
          </a:p>
        </p:txBody>
      </p:sp>
      <p:sp>
        <p:nvSpPr>
          <p:cNvPr id="8" name="TextBox 7"/>
          <p:cNvSpPr txBox="1"/>
          <p:nvPr/>
        </p:nvSpPr>
        <p:spPr>
          <a:xfrm>
            <a:off x="914400" y="1587500"/>
            <a:ext cx="3703320" cy="825500"/>
          </a:xfrm>
          <a:prstGeom prst="rect">
            <a:avLst/>
          </a:prstGeom>
          <a:noFill/>
        </p:spPr>
        <p:txBody>
          <a:bodyPr wrap="square" lIns="0" tIns="0" rIns="0" bIns="0" anchor="t">
            <a:spAutoFit/>
          </a:bodyPr>
          <a:lstStyle/>
          <a:p>
            <a:pPr algn="l">
              <a:lnSpc>
                <a:spcPct val="115000"/>
              </a:lnSpc>
            </a:pPr>
            <a:r>
              <a:rPr sz="1050" b="0">
                <a:solidFill>
                  <a:srgbClr val="0D0D0D"/>
                </a:solidFill>
                <a:latin typeface="Open Sans"/>
              </a:rPr>
              <a:t>Workflow A (Claude desktop / ChatGPT, no install — recommended for first-time CLI users) or Workflow B (Claude Code in your terminal). Both produce the same deliverable.</a:t>
            </a:r>
          </a:p>
        </p:txBody>
      </p:sp>
      <p:sp>
        <p:nvSpPr>
          <p:cNvPr id="9" name="Oval 8"/>
          <p:cNvSpPr/>
          <p:nvPr/>
        </p:nvSpPr>
        <p:spPr>
          <a:xfrm>
            <a:off x="457200" y="2501900"/>
            <a:ext cx="329184" cy="329184"/>
          </a:xfrm>
          <a:prstGeom prst="ellipse">
            <a:avLst/>
          </a:prstGeom>
          <a:solidFill>
            <a:srgbClr val="024731"/>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latin typeface="Open Sans"/>
              </a:rPr>
              <a:t>2</a:t>
            </a:r>
          </a:p>
        </p:txBody>
      </p:sp>
      <p:sp>
        <p:nvSpPr>
          <p:cNvPr id="10" name="TextBox 9"/>
          <p:cNvSpPr txBox="1"/>
          <p:nvPr/>
        </p:nvSpPr>
        <p:spPr>
          <a:xfrm>
            <a:off x="914400" y="2463800"/>
            <a:ext cx="3703320" cy="256032"/>
          </a:xfrm>
          <a:prstGeom prst="rect">
            <a:avLst/>
          </a:prstGeom>
          <a:noFill/>
        </p:spPr>
        <p:txBody>
          <a:bodyPr wrap="square" lIns="0" tIns="0" rIns="0" bIns="0" anchor="t">
            <a:spAutoFit/>
          </a:bodyPr>
          <a:lstStyle/>
          <a:p>
            <a:pPr algn="l"/>
            <a:r>
              <a:rPr sz="1300" b="1">
                <a:solidFill>
                  <a:srgbClr val="024731"/>
                </a:solidFill>
                <a:latin typeface="Open Sans"/>
              </a:rPr>
              <a:t>Gather your context</a:t>
            </a:r>
          </a:p>
        </p:txBody>
      </p:sp>
      <p:sp>
        <p:nvSpPr>
          <p:cNvPr id="11" name="TextBox 10"/>
          <p:cNvSpPr txBox="1"/>
          <p:nvPr/>
        </p:nvSpPr>
        <p:spPr>
          <a:xfrm>
            <a:off x="914400" y="2730500"/>
            <a:ext cx="3703320" cy="825500"/>
          </a:xfrm>
          <a:prstGeom prst="rect">
            <a:avLst/>
          </a:prstGeom>
          <a:noFill/>
        </p:spPr>
        <p:txBody>
          <a:bodyPr wrap="square" lIns="0" tIns="0" rIns="0" bIns="0" anchor="t">
            <a:spAutoFit/>
          </a:bodyPr>
          <a:lstStyle/>
          <a:p>
            <a:pPr algn="l">
              <a:lnSpc>
                <a:spcPct val="115000"/>
              </a:lnSpc>
            </a:pPr>
            <a:r>
              <a:rPr sz="1050" b="0">
                <a:solidFill>
                  <a:srgbClr val="0D0D0D"/>
                </a:solidFill>
                <a:latin typeface="Open Sans"/>
              </a:rPr>
              <a:t>Stage 1 template (.xlsx), Stage 3 populated workbook (.xlsx), spec template (docs/templates/spec-template.md), and this Stage 4 brief. Upload all four to the LLM.</a:t>
            </a:r>
          </a:p>
        </p:txBody>
      </p:sp>
      <p:sp>
        <p:nvSpPr>
          <p:cNvPr id="12" name="Oval 11"/>
          <p:cNvSpPr/>
          <p:nvPr/>
        </p:nvSpPr>
        <p:spPr>
          <a:xfrm>
            <a:off x="457200" y="3644900"/>
            <a:ext cx="329184" cy="329184"/>
          </a:xfrm>
          <a:prstGeom prst="ellipse">
            <a:avLst/>
          </a:prstGeom>
          <a:solidFill>
            <a:srgbClr val="024731"/>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latin typeface="Open Sans"/>
              </a:rPr>
              <a:t>3</a:t>
            </a:r>
          </a:p>
        </p:txBody>
      </p:sp>
      <p:sp>
        <p:nvSpPr>
          <p:cNvPr id="13" name="TextBox 12"/>
          <p:cNvSpPr txBox="1"/>
          <p:nvPr/>
        </p:nvSpPr>
        <p:spPr>
          <a:xfrm>
            <a:off x="914400" y="3606800"/>
            <a:ext cx="3703320" cy="256032"/>
          </a:xfrm>
          <a:prstGeom prst="rect">
            <a:avLst/>
          </a:prstGeom>
          <a:noFill/>
        </p:spPr>
        <p:txBody>
          <a:bodyPr wrap="square" lIns="0" tIns="0" rIns="0" bIns="0" anchor="t">
            <a:spAutoFit/>
          </a:bodyPr>
          <a:lstStyle/>
          <a:p>
            <a:pPr algn="l"/>
            <a:r>
              <a:rPr sz="1300" b="1">
                <a:solidFill>
                  <a:srgbClr val="024731"/>
                </a:solidFill>
                <a:latin typeface="Open Sans"/>
              </a:rPr>
              <a:t>Prompt for the draft</a:t>
            </a:r>
          </a:p>
        </p:txBody>
      </p:sp>
      <p:sp>
        <p:nvSpPr>
          <p:cNvPr id="14" name="TextBox 13"/>
          <p:cNvSpPr txBox="1"/>
          <p:nvPr/>
        </p:nvSpPr>
        <p:spPr>
          <a:xfrm>
            <a:off x="914400" y="3873500"/>
            <a:ext cx="3703320" cy="825500"/>
          </a:xfrm>
          <a:prstGeom prst="rect">
            <a:avLst/>
          </a:prstGeom>
          <a:noFill/>
        </p:spPr>
        <p:txBody>
          <a:bodyPr wrap="square" lIns="0" tIns="0" rIns="0" bIns="0" anchor="t">
            <a:spAutoFit/>
          </a:bodyPr>
          <a:lstStyle/>
          <a:p>
            <a:pPr algn="l">
              <a:lnSpc>
                <a:spcPct val="115000"/>
              </a:lnSpc>
            </a:pPr>
            <a:r>
              <a:rPr sz="1050" b="0">
                <a:solidFill>
                  <a:srgbClr val="0D0D0D"/>
                </a:solidFill>
                <a:latin typeface="Open Sans"/>
              </a:rPr>
              <a:t>Ask the LLM to draft Part A (Model Spec, items 1–7) + Part B (Analysis Spec, items 8–11) using named-range notation. Insist on numeric Data Inputs from your Stage 3 workbook.</a:t>
            </a:r>
          </a:p>
        </p:txBody>
      </p:sp>
      <p:sp>
        <p:nvSpPr>
          <p:cNvPr id="15" name="Oval 14"/>
          <p:cNvSpPr/>
          <p:nvPr/>
        </p:nvSpPr>
        <p:spPr>
          <a:xfrm>
            <a:off x="4709160" y="1358900"/>
            <a:ext cx="329184" cy="329184"/>
          </a:xfrm>
          <a:prstGeom prst="ellipse">
            <a:avLst/>
          </a:prstGeom>
          <a:solidFill>
            <a:srgbClr val="024731"/>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latin typeface="Open Sans"/>
              </a:rPr>
              <a:t>4</a:t>
            </a:r>
          </a:p>
        </p:txBody>
      </p:sp>
      <p:sp>
        <p:nvSpPr>
          <p:cNvPr id="16" name="TextBox 15"/>
          <p:cNvSpPr txBox="1"/>
          <p:nvPr/>
        </p:nvSpPr>
        <p:spPr>
          <a:xfrm>
            <a:off x="5166360" y="1320800"/>
            <a:ext cx="3703320" cy="256032"/>
          </a:xfrm>
          <a:prstGeom prst="rect">
            <a:avLst/>
          </a:prstGeom>
          <a:noFill/>
        </p:spPr>
        <p:txBody>
          <a:bodyPr wrap="square" lIns="0" tIns="0" rIns="0" bIns="0" anchor="t">
            <a:spAutoFit/>
          </a:bodyPr>
          <a:lstStyle/>
          <a:p>
            <a:pPr algn="l"/>
            <a:r>
              <a:rPr sz="1300" b="1">
                <a:solidFill>
                  <a:srgbClr val="024731"/>
                </a:solidFill>
                <a:latin typeface="Open Sans"/>
              </a:rPr>
              <a:t>Run the HIL iteration</a:t>
            </a:r>
          </a:p>
        </p:txBody>
      </p:sp>
      <p:sp>
        <p:nvSpPr>
          <p:cNvPr id="17" name="TextBox 16"/>
          <p:cNvSpPr txBox="1"/>
          <p:nvPr/>
        </p:nvSpPr>
        <p:spPr>
          <a:xfrm>
            <a:off x="5166360" y="1587500"/>
            <a:ext cx="3703320" cy="825500"/>
          </a:xfrm>
          <a:prstGeom prst="rect">
            <a:avLst/>
          </a:prstGeom>
          <a:noFill/>
        </p:spPr>
        <p:txBody>
          <a:bodyPr wrap="square" lIns="0" tIns="0" rIns="0" bIns="0" anchor="t">
            <a:spAutoFit/>
          </a:bodyPr>
          <a:lstStyle/>
          <a:p>
            <a:pPr algn="l">
              <a:lnSpc>
                <a:spcPct val="115000"/>
              </a:lnSpc>
            </a:pPr>
            <a:r>
              <a:rPr sz="1050" b="0">
                <a:solidFill>
                  <a:srgbClr val="0D0D0D"/>
                </a:solidFill>
                <a:latin typeface="Open Sans"/>
              </a:rPr>
              <a:t>Read the LLM's draft critically. Identify one consequential gap (a missing value, an ambiguous formula, an unclear instruction). Revise either the prompt or the spec to address it.</a:t>
            </a:r>
          </a:p>
        </p:txBody>
      </p:sp>
      <p:sp>
        <p:nvSpPr>
          <p:cNvPr id="18" name="Oval 17"/>
          <p:cNvSpPr/>
          <p:nvPr/>
        </p:nvSpPr>
        <p:spPr>
          <a:xfrm>
            <a:off x="4709160" y="2501900"/>
            <a:ext cx="329184" cy="329184"/>
          </a:xfrm>
          <a:prstGeom prst="ellipse">
            <a:avLst/>
          </a:prstGeom>
          <a:solidFill>
            <a:srgbClr val="024731"/>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latin typeface="Open Sans"/>
              </a:rPr>
              <a:t>5</a:t>
            </a:r>
          </a:p>
        </p:txBody>
      </p:sp>
      <p:sp>
        <p:nvSpPr>
          <p:cNvPr id="19" name="TextBox 18"/>
          <p:cNvSpPr txBox="1"/>
          <p:nvPr/>
        </p:nvSpPr>
        <p:spPr>
          <a:xfrm>
            <a:off x="5166360" y="2463800"/>
            <a:ext cx="3703320" cy="256032"/>
          </a:xfrm>
          <a:prstGeom prst="rect">
            <a:avLst/>
          </a:prstGeom>
          <a:noFill/>
        </p:spPr>
        <p:txBody>
          <a:bodyPr wrap="square" lIns="0" tIns="0" rIns="0" bIns="0" anchor="t">
            <a:spAutoFit/>
          </a:bodyPr>
          <a:lstStyle/>
          <a:p>
            <a:pPr algn="l"/>
            <a:r>
              <a:rPr sz="1300" b="1">
                <a:solidFill>
                  <a:srgbClr val="024731"/>
                </a:solidFill>
                <a:latin typeface="Open Sans"/>
              </a:rPr>
              <a:t>Document the HIL pass</a:t>
            </a:r>
          </a:p>
        </p:txBody>
      </p:sp>
      <p:sp>
        <p:nvSpPr>
          <p:cNvPr id="20" name="TextBox 19"/>
          <p:cNvSpPr txBox="1"/>
          <p:nvPr/>
        </p:nvSpPr>
        <p:spPr>
          <a:xfrm>
            <a:off x="5166360" y="2730500"/>
            <a:ext cx="3703320" cy="825500"/>
          </a:xfrm>
          <a:prstGeom prst="rect">
            <a:avLst/>
          </a:prstGeom>
          <a:noFill/>
        </p:spPr>
        <p:txBody>
          <a:bodyPr wrap="square" lIns="0" tIns="0" rIns="0" bIns="0" anchor="t">
            <a:spAutoFit/>
          </a:bodyPr>
          <a:lstStyle/>
          <a:p>
            <a:pPr algn="l">
              <a:lnSpc>
                <a:spcPct val="115000"/>
              </a:lnSpc>
            </a:pPr>
            <a:r>
              <a:rPr sz="1050" b="0">
                <a:solidFill>
                  <a:srgbClr val="0D0D0D"/>
                </a:solidFill>
                <a:latin typeface="Open Sans"/>
              </a:rPr>
              <a:t>Easiest path: write a 150–250 word before/after note in your prompt log. Alternatives: a round-2 prompt entry, or a side-by-side diff file in analysis/validation/.</a:t>
            </a:r>
          </a:p>
        </p:txBody>
      </p:sp>
      <p:sp>
        <p:nvSpPr>
          <p:cNvPr id="21" name="Oval 20"/>
          <p:cNvSpPr/>
          <p:nvPr/>
        </p:nvSpPr>
        <p:spPr>
          <a:xfrm>
            <a:off x="4709160" y="3644900"/>
            <a:ext cx="329184" cy="329184"/>
          </a:xfrm>
          <a:prstGeom prst="ellipse">
            <a:avLst/>
          </a:prstGeom>
          <a:solidFill>
            <a:srgbClr val="024731"/>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latin typeface="Open Sans"/>
              </a:rPr>
              <a:t>6</a:t>
            </a:r>
          </a:p>
        </p:txBody>
      </p:sp>
      <p:sp>
        <p:nvSpPr>
          <p:cNvPr id="22" name="TextBox 21"/>
          <p:cNvSpPr txBox="1"/>
          <p:nvPr/>
        </p:nvSpPr>
        <p:spPr>
          <a:xfrm>
            <a:off x="5166360" y="3606800"/>
            <a:ext cx="3703320" cy="256032"/>
          </a:xfrm>
          <a:prstGeom prst="rect">
            <a:avLst/>
          </a:prstGeom>
          <a:noFill/>
        </p:spPr>
        <p:txBody>
          <a:bodyPr wrap="square" lIns="0" tIns="0" rIns="0" bIns="0" anchor="t">
            <a:spAutoFit/>
          </a:bodyPr>
          <a:lstStyle/>
          <a:p>
            <a:pPr algn="l"/>
            <a:r>
              <a:rPr sz="1300" b="1">
                <a:solidFill>
                  <a:srgbClr val="024731"/>
                </a:solidFill>
                <a:latin typeface="Open Sans"/>
              </a:rPr>
              <a:t>Save &amp; commit the spec</a:t>
            </a:r>
          </a:p>
        </p:txBody>
      </p:sp>
      <p:sp>
        <p:nvSpPr>
          <p:cNvPr id="23" name="TextBox 22"/>
          <p:cNvSpPr txBox="1"/>
          <p:nvPr/>
        </p:nvSpPr>
        <p:spPr>
          <a:xfrm>
            <a:off x="5166360" y="3873500"/>
            <a:ext cx="3703320" cy="825500"/>
          </a:xfrm>
          <a:prstGeom prst="rect">
            <a:avLst/>
          </a:prstGeom>
          <a:noFill/>
        </p:spPr>
        <p:txBody>
          <a:bodyPr wrap="square" lIns="0" tIns="0" rIns="0" bIns="0" anchor="t">
            <a:spAutoFit/>
          </a:bodyPr>
          <a:lstStyle/>
          <a:p>
            <a:pPr algn="l">
              <a:lnSpc>
                <a:spcPct val="115000"/>
              </a:lnSpc>
            </a:pPr>
            <a:r>
              <a:rPr sz="1050" b="0">
                <a:solidFill>
                  <a:srgbClr val="0D0D0D"/>
                </a:solidFill>
                <a:latin typeface="Open Sans"/>
              </a:rPr>
              <a:t>Save the final spec to docs/specs/YYYY-MM-DD-{lastname}-{company}-spec.md. Update deliverables/prompt-log.md with each meaningful prompt session. Commit and push.</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EBBFA0-4D01-5AAA-D79C-6BB4B52A8354}"/>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3F374225-1992-C4CF-9313-6D7F8C783623}"/>
              </a:ext>
            </a:extLst>
          </p:cNvPr>
          <p:cNvSpPr/>
          <p:nvPr/>
        </p:nvSpPr>
        <p:spPr>
          <a:xfrm>
            <a:off x="0" y="0"/>
            <a:ext cx="9144000" cy="36576"/>
          </a:xfrm>
          <a:prstGeom prst="rect">
            <a:avLst/>
          </a:prstGeom>
          <a:solidFill>
            <a:srgbClr val="B8975C"/>
          </a:solidFill>
          <a:ln/>
        </p:spPr>
        <p:txBody>
          <a:bodyPr/>
          <a:lstStyle/>
          <a:p>
            <a:endParaRPr lang="en-US"/>
          </a:p>
        </p:txBody>
      </p:sp>
      <p:sp>
        <p:nvSpPr>
          <p:cNvPr id="3" name="Text 1">
            <a:extLst>
              <a:ext uri="{FF2B5EF4-FFF2-40B4-BE49-F238E27FC236}">
                <a16:creationId xmlns:a16="http://schemas.microsoft.com/office/drawing/2014/main" id="{3C0ADF11-2DA6-4C9A-4323-902E407A1DB4}"/>
              </a:ext>
            </a:extLst>
          </p:cNvPr>
          <p:cNvSpPr/>
          <p:nvPr/>
        </p:nvSpPr>
        <p:spPr>
          <a:xfrm>
            <a:off x="731520" y="731520"/>
            <a:ext cx="7680960" cy="365760"/>
          </a:xfrm>
          <a:prstGeom prst="rect">
            <a:avLst/>
          </a:prstGeom>
          <a:noFill/>
          <a:ln/>
        </p:spPr>
        <p:txBody>
          <a:bodyPr wrap="square" lIns="0" tIns="0" rIns="0" bIns="0" rtlCol="0" anchor="ctr"/>
          <a:lstStyle/>
          <a:p>
            <a:pPr marL="0" indent="0">
              <a:buNone/>
            </a:pPr>
            <a:r>
              <a:rPr lang="en-US" sz="1400" b="1" kern="0" spc="600" dirty="0">
                <a:solidFill>
                  <a:srgbClr val="B8975C"/>
                </a:solidFill>
                <a:latin typeface="Open Sans" pitchFamily="34" charset="0"/>
                <a:ea typeface="Open Sans" pitchFamily="34" charset="-122"/>
                <a:cs typeface="Open Sans" pitchFamily="34" charset="-120"/>
              </a:rPr>
              <a:t>STAGE 5</a:t>
            </a:r>
            <a:endParaRPr lang="en-US" sz="1400" dirty="0"/>
          </a:p>
        </p:txBody>
      </p:sp>
      <p:sp>
        <p:nvSpPr>
          <p:cNvPr id="4" name="Text 2">
            <a:extLst>
              <a:ext uri="{FF2B5EF4-FFF2-40B4-BE49-F238E27FC236}">
                <a16:creationId xmlns:a16="http://schemas.microsoft.com/office/drawing/2014/main" id="{061844DB-524A-6AD9-D183-05F7571B3C9C}"/>
              </a:ext>
            </a:extLst>
          </p:cNvPr>
          <p:cNvSpPr/>
          <p:nvPr/>
        </p:nvSpPr>
        <p:spPr>
          <a:xfrm>
            <a:off x="731520" y="1280160"/>
            <a:ext cx="7680960" cy="1645920"/>
          </a:xfrm>
          <a:prstGeom prst="rect">
            <a:avLst/>
          </a:prstGeom>
          <a:noFill/>
          <a:ln/>
        </p:spPr>
        <p:txBody>
          <a:bodyPr wrap="square" lIns="0" tIns="0" rIns="0" bIns="0" rtlCol="0" anchor="ctr"/>
          <a:lstStyle/>
          <a:p>
            <a:pPr marL="0" indent="0">
              <a:lnSpc>
                <a:spcPct val="110000"/>
              </a:lnSpc>
              <a:buNone/>
            </a:pPr>
            <a:r>
              <a:rPr lang="en-US" sz="4000" b="1" dirty="0">
                <a:solidFill>
                  <a:schemeClr val="accent6">
                    <a:lumMod val="50000"/>
                  </a:schemeClr>
                </a:solidFill>
                <a:latin typeface="Open Sans" pitchFamily="34" charset="0"/>
                <a:ea typeface="Open Sans" pitchFamily="34" charset="-122"/>
                <a:cs typeface="Open Sans" pitchFamily="34" charset="-120"/>
              </a:rPr>
              <a:t>Standardized Analysis Leveraging LLMs &amp; Agents</a:t>
            </a:r>
            <a:endParaRPr lang="en-US" sz="4000" dirty="0">
              <a:solidFill>
                <a:schemeClr val="accent6">
                  <a:lumMod val="50000"/>
                </a:schemeClr>
              </a:solidFill>
            </a:endParaRPr>
          </a:p>
        </p:txBody>
      </p:sp>
      <p:sp>
        <p:nvSpPr>
          <p:cNvPr id="5" name="Shape 3">
            <a:extLst>
              <a:ext uri="{FF2B5EF4-FFF2-40B4-BE49-F238E27FC236}">
                <a16:creationId xmlns:a16="http://schemas.microsoft.com/office/drawing/2014/main" id="{C691E501-B474-6208-FFA7-39F8B158C131}"/>
              </a:ext>
            </a:extLst>
          </p:cNvPr>
          <p:cNvSpPr/>
          <p:nvPr/>
        </p:nvSpPr>
        <p:spPr>
          <a:xfrm>
            <a:off x="731520" y="3108960"/>
            <a:ext cx="1828800" cy="36576"/>
          </a:xfrm>
          <a:prstGeom prst="rect">
            <a:avLst/>
          </a:prstGeom>
          <a:solidFill>
            <a:srgbClr val="B8975C"/>
          </a:solidFill>
          <a:ln/>
        </p:spPr>
        <p:txBody>
          <a:bodyPr/>
          <a:lstStyle/>
          <a:p>
            <a:endParaRPr lang="en-US"/>
          </a:p>
        </p:txBody>
      </p:sp>
      <p:sp>
        <p:nvSpPr>
          <p:cNvPr id="6" name="Text 4">
            <a:extLst>
              <a:ext uri="{FF2B5EF4-FFF2-40B4-BE49-F238E27FC236}">
                <a16:creationId xmlns:a16="http://schemas.microsoft.com/office/drawing/2014/main" id="{7BB30C55-D73E-56E8-C40B-F2AE19AD9AEC}"/>
              </a:ext>
            </a:extLst>
          </p:cNvPr>
          <p:cNvSpPr/>
          <p:nvPr/>
        </p:nvSpPr>
        <p:spPr>
          <a:xfrm>
            <a:off x="731520" y="3337560"/>
            <a:ext cx="6400800" cy="640080"/>
          </a:xfrm>
          <a:prstGeom prst="rect">
            <a:avLst/>
          </a:prstGeom>
          <a:noFill/>
          <a:ln/>
        </p:spPr>
        <p:txBody>
          <a:bodyPr wrap="square" lIns="0" tIns="0" rIns="0" bIns="0" rtlCol="0" anchor="ctr"/>
          <a:lstStyle/>
          <a:p>
            <a:pPr marL="0" indent="0">
              <a:lnSpc>
                <a:spcPct val="140000"/>
              </a:lnSpc>
              <a:buNone/>
            </a:pPr>
            <a:r>
              <a:rPr lang="en-US" sz="1600" dirty="0">
                <a:solidFill>
                  <a:srgbClr val="36454F"/>
                </a:solidFill>
              </a:rPr>
              <a:t>Run your Stage 4 prompt through Claude, verify every number, and polish the repo into a portfolio-ready deliverable.</a:t>
            </a:r>
          </a:p>
        </p:txBody>
      </p:sp>
      <p:pic>
        <p:nvPicPr>
          <p:cNvPr id="7" name="Image 0" descr="preencoded.png">
            <a:extLst>
              <a:ext uri="{FF2B5EF4-FFF2-40B4-BE49-F238E27FC236}">
                <a16:creationId xmlns:a16="http://schemas.microsoft.com/office/drawing/2014/main" id="{00577F53-3F4D-B79C-5F1C-A1677FA0F043}"/>
              </a:ext>
            </a:extLst>
          </p:cNvPr>
          <p:cNvPicPr>
            <a:picLocks noChangeAspect="1"/>
          </p:cNvPicPr>
          <p:nvPr/>
        </p:nvPicPr>
        <p:blipFill>
          <a:blip r:embed="rId3"/>
          <a:stretch>
            <a:fillRect/>
          </a:stretch>
        </p:blipFill>
        <p:spPr>
          <a:xfrm>
            <a:off x="7132320" y="3017520"/>
            <a:ext cx="1097280" cy="1097280"/>
          </a:xfrm>
          <a:prstGeom prst="rect">
            <a:avLst/>
          </a:prstGeom>
        </p:spPr>
      </p:pic>
      <p:sp>
        <p:nvSpPr>
          <p:cNvPr id="8" name="Text 5">
            <a:extLst>
              <a:ext uri="{FF2B5EF4-FFF2-40B4-BE49-F238E27FC236}">
                <a16:creationId xmlns:a16="http://schemas.microsoft.com/office/drawing/2014/main" id="{7B683DE2-9EF8-DD81-453F-C22C35490221}"/>
              </a:ext>
            </a:extLst>
          </p:cNvPr>
          <p:cNvSpPr/>
          <p:nvPr/>
        </p:nvSpPr>
        <p:spPr>
          <a:xfrm>
            <a:off x="457200" y="4663440"/>
            <a:ext cx="8229600" cy="320040"/>
          </a:xfrm>
          <a:prstGeom prst="rect">
            <a:avLst/>
          </a:prstGeom>
          <a:noFill/>
          <a:ln/>
        </p:spPr>
        <p:txBody>
          <a:bodyPr wrap="square" lIns="0" tIns="0" rIns="0" bIns="0" rtlCol="0" anchor="ctr"/>
          <a:lstStyle/>
          <a:p>
            <a:pPr marL="0" indent="0" algn="ctr">
              <a:buNone/>
            </a:pPr>
            <a:r>
              <a:rPr lang="en-US" sz="1000" dirty="0">
                <a:solidFill>
                  <a:srgbClr val="5A6B7A"/>
                </a:solidFill>
                <a:latin typeface="Open Sans" pitchFamily="34" charset="0"/>
                <a:ea typeface="Open Sans" pitchFamily="34" charset="-122"/>
                <a:cs typeface="Open Sans" pitchFamily="34" charset="-120"/>
              </a:rPr>
              <a:t>Shidler College of Business  |  University of Hawaiʻi at Mānoa</a:t>
            </a:r>
            <a:endParaRPr lang="en-US" sz="1000" dirty="0"/>
          </a:p>
        </p:txBody>
      </p:sp>
    </p:spTree>
    <p:extLst>
      <p:ext uri="{BB962C8B-B14F-4D97-AF65-F5344CB8AC3E}">
        <p14:creationId xmlns:p14="http://schemas.microsoft.com/office/powerpoint/2010/main" val="424458532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24731"/>
          </a:solidFill>
          <a:ln/>
        </p:spPr>
        <p:txBody>
          <a:bodyPr/>
          <a:lstStyle/>
          <a:p>
            <a:endParaRPr lang="en-US"/>
          </a:p>
        </p:txBody>
      </p:sp>
      <p:sp>
        <p:nvSpPr>
          <p:cNvPr id="3" name="Text 1"/>
          <p:cNvSpPr/>
          <p:nvPr/>
        </p:nvSpPr>
        <p:spPr>
          <a:xfrm>
            <a:off x="548640" y="137160"/>
            <a:ext cx="7315200" cy="274320"/>
          </a:xfrm>
          <a:prstGeom prst="rect">
            <a:avLst/>
          </a:prstGeom>
          <a:noFill/>
          <a:ln/>
        </p:spPr>
        <p:txBody>
          <a:bodyPr wrap="square" lIns="0" tIns="0" rIns="0" bIns="0" rtlCol="0" anchor="ctr"/>
          <a:lstStyle/>
          <a:p>
            <a:pPr marL="0" indent="0">
              <a:buNone/>
            </a:pPr>
            <a:r>
              <a:rPr lang="en-US" sz="2000" b="1" dirty="0">
                <a:solidFill>
                  <a:srgbClr val="FFFFFF"/>
                </a:solidFill>
                <a:latin typeface="Open Sans" pitchFamily="34" charset="0"/>
                <a:ea typeface="Open Sans" pitchFamily="34" charset="-122"/>
                <a:cs typeface="Open Sans" pitchFamily="34" charset="-120"/>
              </a:rPr>
              <a:t>Stage 5 — LLM Analysis &amp; Executive Evaluation</a:t>
            </a:r>
            <a:endParaRPr lang="en-US" sz="2000" dirty="0"/>
          </a:p>
        </p:txBody>
      </p:sp>
      <p:sp>
        <p:nvSpPr>
          <p:cNvPr id="4" name="Text 2"/>
          <p:cNvSpPr/>
          <p:nvPr/>
        </p:nvSpPr>
        <p:spPr>
          <a:xfrm>
            <a:off x="548640" y="429768"/>
            <a:ext cx="7315200" cy="228600"/>
          </a:xfrm>
          <a:prstGeom prst="rect">
            <a:avLst/>
          </a:prstGeom>
          <a:noFill/>
          <a:ln/>
        </p:spPr>
        <p:txBody>
          <a:bodyPr wrap="square" lIns="0" tIns="0" rIns="0" bIns="0" rtlCol="0" anchor="ctr"/>
          <a:lstStyle/>
          <a:p>
            <a:pPr marL="0" indent="0">
              <a:buNone/>
            </a:pPr>
            <a:r>
              <a:rPr lang="en-US" sz="1100" dirty="0">
                <a:solidFill>
                  <a:srgbClr val="B8DDD1"/>
                </a:solidFill>
                <a:latin typeface="Open Sans" pitchFamily="34" charset="0"/>
                <a:ea typeface="Open Sans" pitchFamily="34" charset="-122"/>
                <a:cs typeface="Open Sans" pitchFamily="34" charset="-120"/>
              </a:rPr>
              <a:t>25% of project  |  Full analysis + LLM evaluation + repo polish  |  Deliverable-only — no in-class presentation this semester</a:t>
            </a:r>
            <a:endParaRPr lang="en-US" sz="1100" dirty="0"/>
          </a:p>
        </p:txBody>
      </p:sp>
      <p:sp>
        <p:nvSpPr>
          <p:cNvPr id="5" name="Text 3"/>
          <p:cNvSpPr/>
          <p:nvPr/>
        </p:nvSpPr>
        <p:spPr>
          <a:xfrm>
            <a:off x="548640" y="1051560"/>
            <a:ext cx="3657600" cy="274320"/>
          </a:xfrm>
          <a:prstGeom prst="rect">
            <a:avLst/>
          </a:prstGeom>
          <a:noFill/>
          <a:ln/>
        </p:spPr>
        <p:txBody>
          <a:bodyPr wrap="square" lIns="0" tIns="0" rIns="0" bIns="0" rtlCol="0" anchor="ctr"/>
          <a:lstStyle/>
          <a:p>
            <a:pPr marL="0" indent="0">
              <a:buNone/>
            </a:pPr>
            <a:r>
              <a:rPr lang="en-US" sz="1400" b="1" dirty="0">
                <a:solidFill>
                  <a:srgbClr val="024731"/>
                </a:solidFill>
                <a:latin typeface="Open Sans" pitchFamily="34" charset="0"/>
                <a:ea typeface="Open Sans" pitchFamily="34" charset="-122"/>
                <a:cs typeface="Open Sans" pitchFamily="34" charset="-120"/>
              </a:rPr>
              <a:t>How It Works</a:t>
            </a:r>
            <a:endParaRPr lang="en-US" sz="1400" dirty="0"/>
          </a:p>
        </p:txBody>
      </p:sp>
      <p:sp>
        <p:nvSpPr>
          <p:cNvPr id="6" name="Shape 4"/>
          <p:cNvSpPr/>
          <p:nvPr/>
        </p:nvSpPr>
        <p:spPr>
          <a:xfrm>
            <a:off x="594360" y="1463040"/>
            <a:ext cx="274320" cy="274320"/>
          </a:xfrm>
          <a:prstGeom prst="ellipse">
            <a:avLst/>
          </a:prstGeom>
          <a:solidFill>
            <a:srgbClr val="024731"/>
          </a:solidFill>
          <a:ln/>
        </p:spPr>
        <p:txBody>
          <a:bodyPr/>
          <a:lstStyle/>
          <a:p>
            <a:endParaRPr lang="en-US"/>
          </a:p>
        </p:txBody>
      </p:sp>
      <p:sp>
        <p:nvSpPr>
          <p:cNvPr id="7" name="Text 5"/>
          <p:cNvSpPr/>
          <p:nvPr/>
        </p:nvSpPr>
        <p:spPr>
          <a:xfrm>
            <a:off x="594360" y="1463040"/>
            <a:ext cx="274320" cy="274320"/>
          </a:xfrm>
          <a:prstGeom prst="rect">
            <a:avLst/>
          </a:prstGeom>
          <a:noFill/>
          <a:ln/>
        </p:spPr>
        <p:txBody>
          <a:bodyPr wrap="square" rtlCol="0" anchor="ctr"/>
          <a:lstStyle/>
          <a:p>
            <a:pPr marL="0" indent="0" algn="ctr">
              <a:buNone/>
            </a:pPr>
            <a:r>
              <a:rPr lang="en-US" sz="1100" b="1" dirty="0">
                <a:solidFill>
                  <a:srgbClr val="FFFFFF"/>
                </a:solidFill>
                <a:latin typeface="Open Sans" pitchFamily="34" charset="0"/>
                <a:ea typeface="Open Sans" pitchFamily="34" charset="-122"/>
                <a:cs typeface="Open Sans" pitchFamily="34" charset="-120"/>
              </a:rPr>
              <a:t>1</a:t>
            </a:r>
            <a:endParaRPr lang="en-US" sz="1100" dirty="0"/>
          </a:p>
        </p:txBody>
      </p:sp>
      <p:sp>
        <p:nvSpPr>
          <p:cNvPr id="8" name="Text 6"/>
          <p:cNvSpPr/>
          <p:nvPr/>
        </p:nvSpPr>
        <p:spPr>
          <a:xfrm>
            <a:off x="1005840" y="1463040"/>
            <a:ext cx="3657600" cy="274320"/>
          </a:xfrm>
          <a:prstGeom prst="rect">
            <a:avLst/>
          </a:prstGeom>
          <a:noFill/>
          <a:ln/>
        </p:spPr>
        <p:txBody>
          <a:bodyPr wrap="square" lIns="0" tIns="0" rIns="0" bIns="0" rtlCol="0" anchor="ctr"/>
          <a:lstStyle/>
          <a:p>
            <a:pPr marL="0" indent="0">
              <a:buNone/>
            </a:pPr>
            <a:r>
              <a:rPr lang="en-US" sz="1100" dirty="0">
                <a:solidFill>
                  <a:srgbClr val="0D0D0D"/>
                </a:solidFill>
                <a:latin typeface="Open Sans" pitchFamily="34" charset="0"/>
                <a:ea typeface="Open Sans" pitchFamily="34" charset="-122"/>
                <a:cs typeface="Open Sans" pitchFamily="34" charset="-120"/>
              </a:rPr>
              <a:t>Paste your Stage 4 spec into an LLM — nothing else</a:t>
            </a:r>
            <a:endParaRPr lang="en-US" sz="1100" dirty="0"/>
          </a:p>
        </p:txBody>
      </p:sp>
      <p:sp>
        <p:nvSpPr>
          <p:cNvPr id="9" name="Shape 7"/>
          <p:cNvSpPr/>
          <p:nvPr/>
        </p:nvSpPr>
        <p:spPr>
          <a:xfrm>
            <a:off x="594360" y="1847088"/>
            <a:ext cx="274320" cy="274320"/>
          </a:xfrm>
          <a:prstGeom prst="ellipse">
            <a:avLst/>
          </a:prstGeom>
          <a:solidFill>
            <a:srgbClr val="024731"/>
          </a:solidFill>
          <a:ln/>
        </p:spPr>
        <p:txBody>
          <a:bodyPr/>
          <a:lstStyle/>
          <a:p>
            <a:endParaRPr lang="en-US"/>
          </a:p>
        </p:txBody>
      </p:sp>
      <p:sp>
        <p:nvSpPr>
          <p:cNvPr id="10" name="Text 8"/>
          <p:cNvSpPr/>
          <p:nvPr/>
        </p:nvSpPr>
        <p:spPr>
          <a:xfrm>
            <a:off x="594360" y="1847088"/>
            <a:ext cx="274320" cy="274320"/>
          </a:xfrm>
          <a:prstGeom prst="rect">
            <a:avLst/>
          </a:prstGeom>
          <a:noFill/>
          <a:ln/>
        </p:spPr>
        <p:txBody>
          <a:bodyPr wrap="square" rtlCol="0" anchor="ctr"/>
          <a:lstStyle/>
          <a:p>
            <a:pPr marL="0" indent="0" algn="ctr">
              <a:buNone/>
            </a:pPr>
            <a:r>
              <a:rPr lang="en-US" sz="1100" b="1" dirty="0">
                <a:solidFill>
                  <a:srgbClr val="FFFFFF"/>
                </a:solidFill>
                <a:latin typeface="Open Sans" pitchFamily="34" charset="0"/>
                <a:ea typeface="Open Sans" pitchFamily="34" charset="-122"/>
                <a:cs typeface="Open Sans" pitchFamily="34" charset="-120"/>
              </a:rPr>
              <a:t>2</a:t>
            </a:r>
            <a:endParaRPr lang="en-US" sz="1100" dirty="0"/>
          </a:p>
        </p:txBody>
      </p:sp>
      <p:sp>
        <p:nvSpPr>
          <p:cNvPr id="11" name="Text 9"/>
          <p:cNvSpPr/>
          <p:nvPr/>
        </p:nvSpPr>
        <p:spPr>
          <a:xfrm>
            <a:off x="1005840" y="1847088"/>
            <a:ext cx="3657600" cy="274320"/>
          </a:xfrm>
          <a:prstGeom prst="rect">
            <a:avLst/>
          </a:prstGeom>
          <a:noFill/>
          <a:ln/>
        </p:spPr>
        <p:txBody>
          <a:bodyPr wrap="square" lIns="0" tIns="0" rIns="0" bIns="0" rtlCol="0" anchor="ctr"/>
          <a:lstStyle/>
          <a:p>
            <a:pPr marL="0" indent="0">
              <a:buNone/>
            </a:pPr>
            <a:r>
              <a:rPr lang="en-US" sz="1100" dirty="0">
                <a:solidFill>
                  <a:srgbClr val="0D0D0D"/>
                </a:solidFill>
                <a:latin typeface="Open Sans" pitchFamily="34" charset="0"/>
                <a:ea typeface="Open Sans" pitchFamily="34" charset="-122"/>
                <a:cs typeface="Open Sans" pitchFamily="34" charset="-120"/>
              </a:rPr>
              <a:t>Save the raw, unedited LLM response</a:t>
            </a:r>
            <a:endParaRPr lang="en-US" sz="1100" dirty="0"/>
          </a:p>
        </p:txBody>
      </p:sp>
      <p:sp>
        <p:nvSpPr>
          <p:cNvPr id="12" name="Shape 10"/>
          <p:cNvSpPr/>
          <p:nvPr/>
        </p:nvSpPr>
        <p:spPr>
          <a:xfrm>
            <a:off x="594360" y="2231136"/>
            <a:ext cx="274320" cy="274320"/>
          </a:xfrm>
          <a:prstGeom prst="ellipse">
            <a:avLst/>
          </a:prstGeom>
          <a:solidFill>
            <a:srgbClr val="024731"/>
          </a:solidFill>
          <a:ln/>
        </p:spPr>
        <p:txBody>
          <a:bodyPr/>
          <a:lstStyle/>
          <a:p>
            <a:endParaRPr lang="en-US"/>
          </a:p>
        </p:txBody>
      </p:sp>
      <p:sp>
        <p:nvSpPr>
          <p:cNvPr id="13" name="Text 11"/>
          <p:cNvSpPr/>
          <p:nvPr/>
        </p:nvSpPr>
        <p:spPr>
          <a:xfrm>
            <a:off x="594360" y="2231136"/>
            <a:ext cx="274320" cy="274320"/>
          </a:xfrm>
          <a:prstGeom prst="rect">
            <a:avLst/>
          </a:prstGeom>
          <a:noFill/>
          <a:ln/>
        </p:spPr>
        <p:txBody>
          <a:bodyPr wrap="square" rtlCol="0" anchor="ctr"/>
          <a:lstStyle/>
          <a:p>
            <a:pPr marL="0" indent="0" algn="ctr">
              <a:buNone/>
            </a:pPr>
            <a:r>
              <a:rPr lang="en-US" sz="1100" b="1" dirty="0">
                <a:solidFill>
                  <a:srgbClr val="FFFFFF"/>
                </a:solidFill>
                <a:latin typeface="Open Sans" pitchFamily="34" charset="0"/>
                <a:ea typeface="Open Sans" pitchFamily="34" charset="-122"/>
                <a:cs typeface="Open Sans" pitchFamily="34" charset="-120"/>
              </a:rPr>
              <a:t>3</a:t>
            </a:r>
            <a:endParaRPr lang="en-US" sz="1100" dirty="0"/>
          </a:p>
        </p:txBody>
      </p:sp>
      <p:sp>
        <p:nvSpPr>
          <p:cNvPr id="14" name="Text 12"/>
          <p:cNvSpPr/>
          <p:nvPr/>
        </p:nvSpPr>
        <p:spPr>
          <a:xfrm>
            <a:off x="1005840" y="2231136"/>
            <a:ext cx="3657600" cy="274320"/>
          </a:xfrm>
          <a:prstGeom prst="rect">
            <a:avLst/>
          </a:prstGeom>
          <a:noFill/>
          <a:ln/>
        </p:spPr>
        <p:txBody>
          <a:bodyPr wrap="square" lIns="0" tIns="0" rIns="0" bIns="0" rtlCol="0" anchor="ctr"/>
          <a:lstStyle/>
          <a:p>
            <a:pPr marL="0" indent="0">
              <a:buNone/>
            </a:pPr>
            <a:r>
              <a:rPr lang="en-US" sz="1100" dirty="0">
                <a:solidFill>
                  <a:srgbClr val="0D0D0D"/>
                </a:solidFill>
                <a:latin typeface="Open Sans" pitchFamily="34" charset="0"/>
                <a:ea typeface="Open Sans" pitchFamily="34" charset="-122"/>
                <a:cs typeface="Open Sans" pitchFamily="34" charset="-120"/>
              </a:rPr>
              <a:t>Compare against your Stage 3 model</a:t>
            </a:r>
            <a:endParaRPr lang="en-US" sz="1100" dirty="0"/>
          </a:p>
        </p:txBody>
      </p:sp>
      <p:sp>
        <p:nvSpPr>
          <p:cNvPr id="15" name="Shape 13"/>
          <p:cNvSpPr/>
          <p:nvPr/>
        </p:nvSpPr>
        <p:spPr>
          <a:xfrm>
            <a:off x="594360" y="2615184"/>
            <a:ext cx="274320" cy="274320"/>
          </a:xfrm>
          <a:prstGeom prst="ellipse">
            <a:avLst/>
          </a:prstGeom>
          <a:solidFill>
            <a:srgbClr val="024731"/>
          </a:solidFill>
          <a:ln/>
        </p:spPr>
        <p:txBody>
          <a:bodyPr/>
          <a:lstStyle/>
          <a:p>
            <a:endParaRPr lang="en-US"/>
          </a:p>
        </p:txBody>
      </p:sp>
      <p:sp>
        <p:nvSpPr>
          <p:cNvPr id="16" name="Text 14"/>
          <p:cNvSpPr/>
          <p:nvPr/>
        </p:nvSpPr>
        <p:spPr>
          <a:xfrm>
            <a:off x="594360" y="2615184"/>
            <a:ext cx="274320" cy="274320"/>
          </a:xfrm>
          <a:prstGeom prst="rect">
            <a:avLst/>
          </a:prstGeom>
          <a:noFill/>
          <a:ln/>
        </p:spPr>
        <p:txBody>
          <a:bodyPr wrap="square" rtlCol="0" anchor="ctr"/>
          <a:lstStyle/>
          <a:p>
            <a:pPr marL="0" indent="0" algn="ctr">
              <a:buNone/>
            </a:pPr>
            <a:r>
              <a:rPr lang="en-US" sz="1100" b="1" dirty="0">
                <a:solidFill>
                  <a:srgbClr val="FFFFFF"/>
                </a:solidFill>
                <a:latin typeface="Open Sans" pitchFamily="34" charset="0"/>
                <a:ea typeface="Open Sans" pitchFamily="34" charset="-122"/>
                <a:cs typeface="Open Sans" pitchFamily="34" charset="-120"/>
              </a:rPr>
              <a:t>4</a:t>
            </a:r>
            <a:endParaRPr lang="en-US" sz="1100" dirty="0"/>
          </a:p>
        </p:txBody>
      </p:sp>
      <p:sp>
        <p:nvSpPr>
          <p:cNvPr id="17" name="Text 15"/>
          <p:cNvSpPr/>
          <p:nvPr/>
        </p:nvSpPr>
        <p:spPr>
          <a:xfrm>
            <a:off x="1005840" y="2615184"/>
            <a:ext cx="3657600" cy="274320"/>
          </a:xfrm>
          <a:prstGeom prst="rect">
            <a:avLst/>
          </a:prstGeom>
          <a:noFill/>
          <a:ln/>
        </p:spPr>
        <p:txBody>
          <a:bodyPr wrap="square" lIns="0" tIns="0" rIns="0" bIns="0" rtlCol="0" anchor="ctr"/>
          <a:lstStyle/>
          <a:p>
            <a:pPr marL="0" indent="0">
              <a:buNone/>
            </a:pPr>
            <a:r>
              <a:rPr lang="en-US" sz="1100" dirty="0">
                <a:solidFill>
                  <a:srgbClr val="0D0D0D"/>
                </a:solidFill>
                <a:latin typeface="Open Sans" pitchFamily="34" charset="0"/>
                <a:ea typeface="Open Sans" pitchFamily="34" charset="-122"/>
                <a:cs typeface="Open Sans" pitchFamily="34" charset="-120"/>
              </a:rPr>
              <a:t>Evaluate, correct, and annotate the output</a:t>
            </a:r>
            <a:endParaRPr lang="en-US" sz="1100" dirty="0"/>
          </a:p>
        </p:txBody>
      </p:sp>
      <p:sp>
        <p:nvSpPr>
          <p:cNvPr id="18" name="Shape 16"/>
          <p:cNvSpPr/>
          <p:nvPr/>
        </p:nvSpPr>
        <p:spPr>
          <a:xfrm>
            <a:off x="594360" y="2999232"/>
            <a:ext cx="274320" cy="274320"/>
          </a:xfrm>
          <a:prstGeom prst="ellipse">
            <a:avLst/>
          </a:prstGeom>
          <a:solidFill>
            <a:srgbClr val="024731"/>
          </a:solidFill>
          <a:ln/>
        </p:spPr>
        <p:txBody>
          <a:bodyPr/>
          <a:lstStyle/>
          <a:p>
            <a:endParaRPr lang="en-US"/>
          </a:p>
        </p:txBody>
      </p:sp>
      <p:sp>
        <p:nvSpPr>
          <p:cNvPr id="19" name="Text 17"/>
          <p:cNvSpPr/>
          <p:nvPr/>
        </p:nvSpPr>
        <p:spPr>
          <a:xfrm>
            <a:off x="594360" y="2999232"/>
            <a:ext cx="274320" cy="274320"/>
          </a:xfrm>
          <a:prstGeom prst="rect">
            <a:avLst/>
          </a:prstGeom>
          <a:noFill/>
          <a:ln/>
        </p:spPr>
        <p:txBody>
          <a:bodyPr wrap="square" rtlCol="0" anchor="ctr"/>
          <a:lstStyle/>
          <a:p>
            <a:pPr marL="0" indent="0" algn="ctr">
              <a:buNone/>
            </a:pPr>
            <a:r>
              <a:rPr lang="en-US" sz="1100" b="1" dirty="0">
                <a:solidFill>
                  <a:srgbClr val="FFFFFF"/>
                </a:solidFill>
                <a:latin typeface="Open Sans" pitchFamily="34" charset="0"/>
                <a:ea typeface="Open Sans" pitchFamily="34" charset="-122"/>
                <a:cs typeface="Open Sans" pitchFamily="34" charset="-120"/>
              </a:rPr>
              <a:t>5</a:t>
            </a:r>
            <a:endParaRPr lang="en-US" sz="1100" dirty="0"/>
          </a:p>
        </p:txBody>
      </p:sp>
      <p:sp>
        <p:nvSpPr>
          <p:cNvPr id="20" name="Text 18"/>
          <p:cNvSpPr/>
          <p:nvPr/>
        </p:nvSpPr>
        <p:spPr>
          <a:xfrm>
            <a:off x="1005840" y="2999232"/>
            <a:ext cx="3657600" cy="274320"/>
          </a:xfrm>
          <a:prstGeom prst="rect">
            <a:avLst/>
          </a:prstGeom>
          <a:noFill/>
          <a:ln/>
        </p:spPr>
        <p:txBody>
          <a:bodyPr wrap="square" lIns="0" tIns="0" rIns="0" bIns="0" rtlCol="0" anchor="ctr"/>
          <a:lstStyle/>
          <a:p>
            <a:pPr marL="0" indent="0">
              <a:buNone/>
            </a:pPr>
            <a:r>
              <a:rPr lang="en-US" sz="1100" dirty="0">
                <a:solidFill>
                  <a:srgbClr val="0D0D0D"/>
                </a:solidFill>
                <a:latin typeface="Open Sans" pitchFamily="34" charset="0"/>
                <a:ea typeface="Open Sans" pitchFamily="34" charset="-122"/>
                <a:cs typeface="Open Sans" pitchFamily="34" charset="-120"/>
              </a:rPr>
              <a:t>Write your own executive justification</a:t>
            </a:r>
            <a:endParaRPr lang="en-US" sz="1100" dirty="0"/>
          </a:p>
        </p:txBody>
      </p:sp>
      <p:sp>
        <p:nvSpPr>
          <p:cNvPr id="21" name="Shape 19"/>
          <p:cNvSpPr/>
          <p:nvPr/>
        </p:nvSpPr>
        <p:spPr>
          <a:xfrm>
            <a:off x="4937760" y="1051560"/>
            <a:ext cx="3840480" cy="3794760"/>
          </a:xfrm>
          <a:prstGeom prst="rect">
            <a:avLst/>
          </a:prstGeom>
          <a:solidFill>
            <a:srgbClr val="F5F7F6"/>
          </a:solidFill>
          <a:ln/>
          <a:effectLst>
            <a:outerShdw blurRad="50800" dist="12700" dir="8100000" algn="bl" rotWithShape="0">
              <a:srgbClr val="000000">
                <a:alpha val="10000"/>
              </a:srgbClr>
            </a:outerShdw>
          </a:effectLst>
        </p:spPr>
        <p:txBody>
          <a:bodyPr/>
          <a:lstStyle/>
          <a:p>
            <a:endParaRPr lang="en-US"/>
          </a:p>
        </p:txBody>
      </p:sp>
      <p:sp>
        <p:nvSpPr>
          <p:cNvPr id="22" name="Text 20"/>
          <p:cNvSpPr/>
          <p:nvPr/>
        </p:nvSpPr>
        <p:spPr>
          <a:xfrm>
            <a:off x="5120640" y="1143000"/>
            <a:ext cx="3474720" cy="274320"/>
          </a:xfrm>
          <a:prstGeom prst="rect">
            <a:avLst/>
          </a:prstGeom>
          <a:noFill/>
          <a:ln/>
        </p:spPr>
        <p:txBody>
          <a:bodyPr wrap="square" lIns="0" tIns="0" rIns="0" bIns="0" rtlCol="0" anchor="ctr"/>
          <a:lstStyle/>
          <a:p>
            <a:pPr marL="0" indent="0">
              <a:buNone/>
            </a:pPr>
            <a:r>
              <a:rPr lang="en-US" sz="1200" b="1" dirty="0">
                <a:solidFill>
                  <a:srgbClr val="024731"/>
                </a:solidFill>
                <a:latin typeface="Open Sans" pitchFamily="34" charset="0"/>
                <a:ea typeface="Open Sans" pitchFamily="34" charset="-122"/>
                <a:cs typeface="Open Sans" pitchFamily="34" charset="-120"/>
              </a:rPr>
              <a:t>Evaluated Final Analysis Sections</a:t>
            </a:r>
            <a:endParaRPr lang="en-US" sz="1200" dirty="0"/>
          </a:p>
        </p:txBody>
      </p:sp>
      <p:sp>
        <p:nvSpPr>
          <p:cNvPr id="23" name="Text 21"/>
          <p:cNvSpPr/>
          <p:nvPr/>
        </p:nvSpPr>
        <p:spPr>
          <a:xfrm>
            <a:off x="5212080" y="1554480"/>
            <a:ext cx="274320" cy="228600"/>
          </a:xfrm>
          <a:prstGeom prst="rect">
            <a:avLst/>
          </a:prstGeom>
          <a:noFill/>
          <a:ln/>
        </p:spPr>
        <p:txBody>
          <a:bodyPr wrap="square" lIns="0" tIns="0" rIns="0" bIns="0" rtlCol="0" anchor="ctr"/>
          <a:lstStyle/>
          <a:p>
            <a:pPr marL="0" indent="0">
              <a:buNone/>
            </a:pPr>
            <a:r>
              <a:rPr lang="en-US" sz="1100" b="1" dirty="0">
                <a:solidFill>
                  <a:srgbClr val="024731"/>
                </a:solidFill>
                <a:latin typeface="Open Sans" pitchFamily="34" charset="0"/>
                <a:ea typeface="Open Sans" pitchFamily="34" charset="-122"/>
                <a:cs typeface="Open Sans" pitchFamily="34" charset="-120"/>
              </a:rPr>
              <a:t>1.</a:t>
            </a:r>
            <a:endParaRPr lang="en-US" sz="1100" dirty="0"/>
          </a:p>
        </p:txBody>
      </p:sp>
      <p:sp>
        <p:nvSpPr>
          <p:cNvPr id="24" name="Text 22"/>
          <p:cNvSpPr/>
          <p:nvPr/>
        </p:nvSpPr>
        <p:spPr>
          <a:xfrm>
            <a:off x="5486400" y="1554480"/>
            <a:ext cx="3108960" cy="274320"/>
          </a:xfrm>
          <a:prstGeom prst="rect">
            <a:avLst/>
          </a:prstGeom>
          <a:noFill/>
          <a:ln/>
        </p:spPr>
        <p:txBody>
          <a:bodyPr wrap="square" lIns="0" tIns="0" rIns="0" bIns="0" rtlCol="0" anchor="ctr"/>
          <a:lstStyle/>
          <a:p>
            <a:pPr marL="0" indent="0">
              <a:buNone/>
            </a:pPr>
            <a:r>
              <a:rPr lang="en-US" sz="1000" dirty="0">
                <a:solidFill>
                  <a:srgbClr val="0D0D0D"/>
                </a:solidFill>
                <a:latin typeface="Open Sans" pitchFamily="34" charset="0"/>
                <a:ea typeface="Open Sans" pitchFamily="34" charset="-122"/>
                <a:cs typeface="Open Sans" pitchFamily="34" charset="-120"/>
              </a:rPr>
              <a:t>Company &amp; Data Summary</a:t>
            </a:r>
            <a:endParaRPr lang="en-US" sz="1000" dirty="0"/>
          </a:p>
        </p:txBody>
      </p:sp>
      <p:sp>
        <p:nvSpPr>
          <p:cNvPr id="25" name="Text 23"/>
          <p:cNvSpPr/>
          <p:nvPr/>
        </p:nvSpPr>
        <p:spPr>
          <a:xfrm>
            <a:off x="5212080" y="2011680"/>
            <a:ext cx="274320" cy="228600"/>
          </a:xfrm>
          <a:prstGeom prst="rect">
            <a:avLst/>
          </a:prstGeom>
          <a:noFill/>
          <a:ln/>
        </p:spPr>
        <p:txBody>
          <a:bodyPr wrap="square" lIns="0" tIns="0" rIns="0" bIns="0" rtlCol="0" anchor="ctr"/>
          <a:lstStyle/>
          <a:p>
            <a:pPr marL="0" indent="0">
              <a:buNone/>
            </a:pPr>
            <a:r>
              <a:rPr lang="en-US" sz="1100" b="1" dirty="0">
                <a:solidFill>
                  <a:srgbClr val="024731"/>
                </a:solidFill>
                <a:latin typeface="Open Sans" pitchFamily="34" charset="0"/>
                <a:ea typeface="Open Sans" pitchFamily="34" charset="-122"/>
                <a:cs typeface="Open Sans" pitchFamily="34" charset="-120"/>
              </a:rPr>
              <a:t>2.</a:t>
            </a:r>
            <a:endParaRPr lang="en-US" sz="1100" dirty="0"/>
          </a:p>
        </p:txBody>
      </p:sp>
      <p:sp>
        <p:nvSpPr>
          <p:cNvPr id="26" name="Text 24"/>
          <p:cNvSpPr/>
          <p:nvPr/>
        </p:nvSpPr>
        <p:spPr>
          <a:xfrm>
            <a:off x="5486400" y="2011680"/>
            <a:ext cx="3108960" cy="274320"/>
          </a:xfrm>
          <a:prstGeom prst="rect">
            <a:avLst/>
          </a:prstGeom>
          <a:noFill/>
          <a:ln/>
        </p:spPr>
        <p:txBody>
          <a:bodyPr wrap="square" lIns="0" tIns="0" rIns="0" bIns="0" rtlCol="0" anchor="ctr"/>
          <a:lstStyle/>
          <a:p>
            <a:pPr marL="0" indent="0">
              <a:buNone/>
            </a:pPr>
            <a:r>
              <a:rPr lang="en-US" sz="1000" dirty="0">
                <a:solidFill>
                  <a:srgbClr val="0D0D0D"/>
                </a:solidFill>
                <a:latin typeface="Open Sans" pitchFamily="34" charset="0"/>
                <a:ea typeface="Open Sans" pitchFamily="34" charset="-122"/>
                <a:cs typeface="Open Sans" pitchFamily="34" charset="-120"/>
              </a:rPr>
              <a:t>Ratio Results &amp; Interpretation (all 6 categories)</a:t>
            </a:r>
            <a:endParaRPr lang="en-US" sz="1000" dirty="0"/>
          </a:p>
        </p:txBody>
      </p:sp>
      <p:sp>
        <p:nvSpPr>
          <p:cNvPr id="27" name="Text 25"/>
          <p:cNvSpPr/>
          <p:nvPr/>
        </p:nvSpPr>
        <p:spPr>
          <a:xfrm>
            <a:off x="5212080" y="2468880"/>
            <a:ext cx="274320" cy="228600"/>
          </a:xfrm>
          <a:prstGeom prst="rect">
            <a:avLst/>
          </a:prstGeom>
          <a:noFill/>
          <a:ln/>
        </p:spPr>
        <p:txBody>
          <a:bodyPr wrap="square" lIns="0" tIns="0" rIns="0" bIns="0" rtlCol="0" anchor="ctr"/>
          <a:lstStyle/>
          <a:p>
            <a:pPr marL="0" indent="0">
              <a:buNone/>
            </a:pPr>
            <a:r>
              <a:rPr lang="en-US" sz="1100" b="1" dirty="0">
                <a:solidFill>
                  <a:srgbClr val="024731"/>
                </a:solidFill>
                <a:latin typeface="Open Sans" pitchFamily="34" charset="0"/>
                <a:ea typeface="Open Sans" pitchFamily="34" charset="-122"/>
                <a:cs typeface="Open Sans" pitchFamily="34" charset="-120"/>
              </a:rPr>
              <a:t>3.</a:t>
            </a:r>
            <a:endParaRPr lang="en-US" sz="1100" dirty="0"/>
          </a:p>
        </p:txBody>
      </p:sp>
      <p:sp>
        <p:nvSpPr>
          <p:cNvPr id="28" name="Text 26"/>
          <p:cNvSpPr/>
          <p:nvPr/>
        </p:nvSpPr>
        <p:spPr>
          <a:xfrm>
            <a:off x="5486400" y="2468880"/>
            <a:ext cx="3108960" cy="274320"/>
          </a:xfrm>
          <a:prstGeom prst="rect">
            <a:avLst/>
          </a:prstGeom>
          <a:noFill/>
          <a:ln/>
        </p:spPr>
        <p:txBody>
          <a:bodyPr wrap="square" lIns="0" tIns="0" rIns="0" bIns="0" rtlCol="0" anchor="ctr"/>
          <a:lstStyle/>
          <a:p>
            <a:pPr marL="0" indent="0">
              <a:buNone/>
            </a:pPr>
            <a:r>
              <a:rPr lang="en-US" sz="1000" dirty="0">
                <a:solidFill>
                  <a:srgbClr val="0D0D0D"/>
                </a:solidFill>
                <a:latin typeface="Open Sans" pitchFamily="34" charset="0"/>
                <a:ea typeface="Open Sans" pitchFamily="34" charset="-122"/>
                <a:cs typeface="Open Sans" pitchFamily="34" charset="-120"/>
              </a:rPr>
              <a:t>Du Pont Analysis with your commentary</a:t>
            </a:r>
            <a:endParaRPr lang="en-US" sz="1000" dirty="0"/>
          </a:p>
        </p:txBody>
      </p:sp>
      <p:sp>
        <p:nvSpPr>
          <p:cNvPr id="29" name="Text 27"/>
          <p:cNvSpPr/>
          <p:nvPr/>
        </p:nvSpPr>
        <p:spPr>
          <a:xfrm>
            <a:off x="5212080" y="2926080"/>
            <a:ext cx="274320" cy="228600"/>
          </a:xfrm>
          <a:prstGeom prst="rect">
            <a:avLst/>
          </a:prstGeom>
          <a:noFill/>
          <a:ln/>
        </p:spPr>
        <p:txBody>
          <a:bodyPr wrap="square" lIns="0" tIns="0" rIns="0" bIns="0" rtlCol="0" anchor="ctr"/>
          <a:lstStyle/>
          <a:p>
            <a:pPr marL="0" indent="0">
              <a:buNone/>
            </a:pPr>
            <a:r>
              <a:rPr lang="en-US" sz="1100" b="1" dirty="0">
                <a:solidFill>
                  <a:srgbClr val="024731"/>
                </a:solidFill>
                <a:latin typeface="Open Sans" pitchFamily="34" charset="0"/>
                <a:ea typeface="Open Sans" pitchFamily="34" charset="-122"/>
                <a:cs typeface="Open Sans" pitchFamily="34" charset="-120"/>
              </a:rPr>
              <a:t>4.</a:t>
            </a:r>
            <a:endParaRPr lang="en-US" sz="1100" dirty="0"/>
          </a:p>
        </p:txBody>
      </p:sp>
      <p:sp>
        <p:nvSpPr>
          <p:cNvPr id="30" name="Text 28"/>
          <p:cNvSpPr/>
          <p:nvPr/>
        </p:nvSpPr>
        <p:spPr>
          <a:xfrm>
            <a:off x="5486400" y="2926080"/>
            <a:ext cx="3108960" cy="274320"/>
          </a:xfrm>
          <a:prstGeom prst="rect">
            <a:avLst/>
          </a:prstGeom>
          <a:noFill/>
          <a:ln/>
        </p:spPr>
        <p:txBody>
          <a:bodyPr wrap="square" lIns="0" tIns="0" rIns="0" bIns="0" rtlCol="0" anchor="ctr"/>
          <a:lstStyle/>
          <a:p>
            <a:pPr marL="0" indent="0">
              <a:buNone/>
            </a:pPr>
            <a:r>
              <a:rPr lang="en-US" sz="1000" dirty="0">
                <a:solidFill>
                  <a:srgbClr val="0D0D0D"/>
                </a:solidFill>
                <a:latin typeface="Open Sans" pitchFamily="34" charset="0"/>
                <a:ea typeface="Open Sans" pitchFamily="34" charset="-122"/>
                <a:cs typeface="Open Sans" pitchFamily="34" charset="-120"/>
              </a:rPr>
              <a:t>Strategic Recommendations (3–5, data-supported)</a:t>
            </a:r>
            <a:endParaRPr lang="en-US" sz="1000" dirty="0"/>
          </a:p>
        </p:txBody>
      </p:sp>
      <p:sp>
        <p:nvSpPr>
          <p:cNvPr id="31" name="Text 29"/>
          <p:cNvSpPr/>
          <p:nvPr/>
        </p:nvSpPr>
        <p:spPr>
          <a:xfrm>
            <a:off x="5212080" y="3383280"/>
            <a:ext cx="274320" cy="228600"/>
          </a:xfrm>
          <a:prstGeom prst="rect">
            <a:avLst/>
          </a:prstGeom>
          <a:noFill/>
          <a:ln/>
        </p:spPr>
        <p:txBody>
          <a:bodyPr wrap="square" lIns="0" tIns="0" rIns="0" bIns="0" rtlCol="0" anchor="ctr"/>
          <a:lstStyle/>
          <a:p>
            <a:pPr marL="0" indent="0">
              <a:buNone/>
            </a:pPr>
            <a:r>
              <a:rPr lang="en-US" sz="1100" b="1" dirty="0">
                <a:solidFill>
                  <a:srgbClr val="024731"/>
                </a:solidFill>
                <a:latin typeface="Open Sans" pitchFamily="34" charset="0"/>
                <a:ea typeface="Open Sans" pitchFamily="34" charset="-122"/>
                <a:cs typeface="Open Sans" pitchFamily="34" charset="-120"/>
              </a:rPr>
              <a:t>5.</a:t>
            </a:r>
            <a:endParaRPr lang="en-US" sz="1100" dirty="0"/>
          </a:p>
        </p:txBody>
      </p:sp>
      <p:sp>
        <p:nvSpPr>
          <p:cNvPr id="32" name="Text 30"/>
          <p:cNvSpPr/>
          <p:nvPr/>
        </p:nvSpPr>
        <p:spPr>
          <a:xfrm>
            <a:off x="5486400" y="3383280"/>
            <a:ext cx="3108960" cy="274320"/>
          </a:xfrm>
          <a:prstGeom prst="rect">
            <a:avLst/>
          </a:prstGeom>
          <a:noFill/>
          <a:ln/>
        </p:spPr>
        <p:txBody>
          <a:bodyPr wrap="square" lIns="0" tIns="0" rIns="0" bIns="0" rtlCol="0" anchor="ctr"/>
          <a:lstStyle/>
          <a:p>
            <a:pPr marL="0" indent="0">
              <a:buNone/>
            </a:pPr>
            <a:r>
              <a:rPr lang="en-US" sz="1000" dirty="0">
                <a:solidFill>
                  <a:srgbClr val="0D0D0D"/>
                </a:solidFill>
                <a:latin typeface="Open Sans" pitchFamily="34" charset="0"/>
                <a:ea typeface="Open Sans" pitchFamily="34" charset="-122"/>
                <a:cs typeface="Open Sans" pitchFamily="34" charset="-120"/>
              </a:rPr>
              <a:t>LLM Evaluation &amp; Annotations</a:t>
            </a:r>
            <a:endParaRPr lang="en-US" sz="1000" dirty="0"/>
          </a:p>
        </p:txBody>
      </p:sp>
      <p:sp>
        <p:nvSpPr>
          <p:cNvPr id="35" name="Text 33"/>
          <p:cNvSpPr/>
          <p:nvPr/>
        </p:nvSpPr>
        <p:spPr>
          <a:xfrm>
            <a:off x="5212080" y="3840480"/>
            <a:ext cx="274320" cy="228600"/>
          </a:xfrm>
          <a:prstGeom prst="rect">
            <a:avLst/>
          </a:prstGeom>
          <a:noFill/>
          <a:ln/>
        </p:spPr>
        <p:txBody>
          <a:bodyPr wrap="square" lIns="0" tIns="0" rIns="0" bIns="0" rtlCol="0" anchor="ctr"/>
          <a:lstStyle/>
          <a:p>
            <a:pPr marL="0" indent="0">
              <a:buNone/>
            </a:pPr>
            <a:r>
              <a:rPr lang="en-US" sz="1100" b="1" dirty="0">
                <a:solidFill>
                  <a:srgbClr val="024731"/>
                </a:solidFill>
                <a:latin typeface="Open Sans" pitchFamily="34" charset="0"/>
                <a:ea typeface="Open Sans" pitchFamily="34" charset="-122"/>
                <a:cs typeface="Open Sans" pitchFamily="34" charset="-120"/>
              </a:rPr>
              <a:t>6.</a:t>
            </a:r>
            <a:endParaRPr lang="en-US" sz="1100" dirty="0"/>
          </a:p>
        </p:txBody>
      </p:sp>
      <p:sp>
        <p:nvSpPr>
          <p:cNvPr id="36" name="Text 34"/>
          <p:cNvSpPr/>
          <p:nvPr/>
        </p:nvSpPr>
        <p:spPr>
          <a:xfrm>
            <a:off x="5486400" y="3773250"/>
            <a:ext cx="3108960" cy="365760"/>
          </a:xfrm>
          <a:prstGeom prst="rect">
            <a:avLst/>
          </a:prstGeom>
          <a:noFill/>
          <a:ln/>
        </p:spPr>
        <p:txBody>
          <a:bodyPr wrap="square" lIns="0" tIns="0" rIns="0" bIns="0" rtlCol="0" anchor="ctr"/>
          <a:lstStyle/>
          <a:p>
            <a:pPr marL="0" indent="0">
              <a:buNone/>
            </a:pPr>
            <a:r>
              <a:rPr lang="en-US" sz="1000" dirty="0">
                <a:solidFill>
                  <a:srgbClr val="0D0D0D"/>
                </a:solidFill>
                <a:latin typeface="Open Sans" pitchFamily="34" charset="0"/>
                <a:ea typeface="Open Sans" pitchFamily="34" charset="-122"/>
                <a:cs typeface="Open Sans" pitchFamily="34" charset="-120"/>
              </a:rPr>
              <a:t>Executive Justification (your voice, not the LLM’s)</a:t>
            </a:r>
            <a:endParaRPr lang="en-US" sz="1000" dirty="0"/>
          </a:p>
        </p:txBody>
      </p:sp>
      <p:sp>
        <p:nvSpPr>
          <p:cNvPr id="37" name="Shape 35"/>
          <p:cNvSpPr/>
          <p:nvPr/>
        </p:nvSpPr>
        <p:spPr>
          <a:xfrm>
            <a:off x="457200" y="4434840"/>
            <a:ext cx="8229600" cy="457200"/>
          </a:xfrm>
          <a:prstGeom prst="rect">
            <a:avLst/>
          </a:prstGeom>
          <a:solidFill>
            <a:srgbClr val="024731"/>
          </a:solidFill>
          <a:ln/>
        </p:spPr>
        <p:txBody>
          <a:bodyPr/>
          <a:lstStyle/>
          <a:p>
            <a:endParaRPr lang="en-US"/>
          </a:p>
        </p:txBody>
      </p:sp>
      <p:sp>
        <p:nvSpPr>
          <p:cNvPr id="38" name="Text 36"/>
          <p:cNvSpPr/>
          <p:nvPr/>
        </p:nvSpPr>
        <p:spPr>
          <a:xfrm>
            <a:off x="594360" y="4453128"/>
            <a:ext cx="7955280" cy="411480"/>
          </a:xfrm>
          <a:prstGeom prst="rect">
            <a:avLst/>
          </a:prstGeom>
          <a:noFill/>
          <a:ln/>
        </p:spPr>
        <p:txBody>
          <a:bodyPr wrap="square" rtlCol="0" anchor="ctr"/>
          <a:lstStyle/>
          <a:p>
            <a:pPr marL="0" indent="0" algn="ctr">
              <a:buNone/>
            </a:pPr>
            <a:r>
              <a:rPr lang="en-US" sz="1100" b="1" dirty="0">
                <a:solidFill>
                  <a:srgbClr val="FFFFFF"/>
                </a:solidFill>
                <a:latin typeface="Open Sans" pitchFamily="34" charset="0"/>
                <a:ea typeface="Open Sans" pitchFamily="34" charset="-122"/>
                <a:cs typeface="Open Sans" pitchFamily="34" charset="-120"/>
              </a:rPr>
              <a:t>The future of finance: specify the work, evaluate the output, take responsibility for the final product.</a:t>
            </a:r>
            <a:endParaRPr lang="en-US" sz="11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64592" cy="5143500"/>
          </a:xfrm>
          <a:prstGeom prst="rect">
            <a:avLst/>
          </a:prstGeom>
          <a:solidFill>
            <a:srgbClr val="0247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20040"/>
            <a:ext cx="8229600" cy="369332"/>
          </a:xfrm>
          <a:prstGeom prst="rect">
            <a:avLst/>
          </a:prstGeom>
          <a:noFill/>
        </p:spPr>
        <p:txBody>
          <a:bodyPr wrap="square" lIns="0" tIns="0" rIns="0" bIns="0" anchor="t">
            <a:spAutoFit/>
          </a:bodyPr>
          <a:lstStyle/>
          <a:p>
            <a:pPr algn="l"/>
            <a:r>
              <a:rPr sz="2400" b="1" dirty="0">
                <a:solidFill>
                  <a:srgbClr val="024731"/>
                </a:solidFill>
                <a:latin typeface="Open Sans"/>
              </a:rPr>
              <a:t>Stage 5 — LLM Analysis &amp; Repo Polish  |  Step by Step</a:t>
            </a:r>
          </a:p>
        </p:txBody>
      </p:sp>
      <p:sp>
        <p:nvSpPr>
          <p:cNvPr id="4" name="TextBox 3"/>
          <p:cNvSpPr txBox="1"/>
          <p:nvPr/>
        </p:nvSpPr>
        <p:spPr>
          <a:xfrm>
            <a:off x="457200" y="841248"/>
            <a:ext cx="8229600" cy="320040"/>
          </a:xfrm>
          <a:prstGeom prst="rect">
            <a:avLst/>
          </a:prstGeom>
          <a:noFill/>
        </p:spPr>
        <p:txBody>
          <a:bodyPr wrap="square" lIns="0" tIns="0" rIns="0" bIns="0" anchor="t">
            <a:spAutoFit/>
          </a:bodyPr>
          <a:lstStyle/>
          <a:p>
            <a:pPr algn="l"/>
            <a:r>
              <a:rPr sz="1200" b="0" dirty="0">
                <a:solidFill>
                  <a:srgbClr val="555555"/>
                </a:solidFill>
                <a:latin typeface="Open Sans"/>
              </a:rPr>
              <a:t>Execute → Verify → Evaluate → Retrospect → Polish. Your repo URL is the portfolio piece.</a:t>
            </a:r>
          </a:p>
        </p:txBody>
      </p:sp>
      <p:sp>
        <p:nvSpPr>
          <p:cNvPr id="5" name="TextBox 4"/>
          <p:cNvSpPr txBox="1"/>
          <p:nvPr/>
        </p:nvSpPr>
        <p:spPr>
          <a:xfrm>
            <a:off x="457200" y="4818888"/>
            <a:ext cx="8229600" cy="228600"/>
          </a:xfrm>
          <a:prstGeom prst="rect">
            <a:avLst/>
          </a:prstGeom>
          <a:noFill/>
        </p:spPr>
        <p:txBody>
          <a:bodyPr wrap="square" lIns="0" tIns="0" rIns="0" bIns="0" anchor="t">
            <a:spAutoFit/>
          </a:bodyPr>
          <a:lstStyle/>
          <a:p>
            <a:pPr algn="l"/>
            <a:r>
              <a:rPr sz="900" b="0">
                <a:solidFill>
                  <a:srgbClr val="555555"/>
                </a:solidFill>
                <a:latin typeface="Open Sans"/>
              </a:rPr>
              <a:t>Stage 5  |  25% of project  |  Deliverable-only  |  deliverables/ + repo polish  |  see stage5-llm-analysis-evaluation.md</a:t>
            </a:r>
          </a:p>
        </p:txBody>
      </p:sp>
      <p:sp>
        <p:nvSpPr>
          <p:cNvPr id="6" name="Oval 5"/>
          <p:cNvSpPr/>
          <p:nvPr/>
        </p:nvSpPr>
        <p:spPr>
          <a:xfrm>
            <a:off x="457200" y="1358900"/>
            <a:ext cx="329184" cy="329184"/>
          </a:xfrm>
          <a:prstGeom prst="ellipse">
            <a:avLst/>
          </a:prstGeom>
          <a:solidFill>
            <a:srgbClr val="024731"/>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latin typeface="Open Sans"/>
              </a:rPr>
              <a:t>1</a:t>
            </a:r>
          </a:p>
        </p:txBody>
      </p:sp>
      <p:sp>
        <p:nvSpPr>
          <p:cNvPr id="7" name="TextBox 6"/>
          <p:cNvSpPr txBox="1"/>
          <p:nvPr/>
        </p:nvSpPr>
        <p:spPr>
          <a:xfrm>
            <a:off x="914400" y="1320800"/>
            <a:ext cx="3703320" cy="256032"/>
          </a:xfrm>
          <a:prstGeom prst="rect">
            <a:avLst/>
          </a:prstGeom>
          <a:noFill/>
        </p:spPr>
        <p:txBody>
          <a:bodyPr wrap="square" lIns="0" tIns="0" rIns="0" bIns="0" anchor="t">
            <a:spAutoFit/>
          </a:bodyPr>
          <a:lstStyle/>
          <a:p>
            <a:pPr algn="l"/>
            <a:r>
              <a:rPr sz="1300" b="1">
                <a:solidFill>
                  <a:srgbClr val="024731"/>
                </a:solidFill>
                <a:latin typeface="Open Sans"/>
              </a:rPr>
              <a:t>Execute the spec</a:t>
            </a:r>
          </a:p>
        </p:txBody>
      </p:sp>
      <p:sp>
        <p:nvSpPr>
          <p:cNvPr id="8" name="TextBox 7"/>
          <p:cNvSpPr txBox="1"/>
          <p:nvPr/>
        </p:nvSpPr>
        <p:spPr>
          <a:xfrm>
            <a:off x="914400" y="1587500"/>
            <a:ext cx="3703320" cy="493853"/>
          </a:xfrm>
          <a:prstGeom prst="rect">
            <a:avLst/>
          </a:prstGeom>
          <a:noFill/>
        </p:spPr>
        <p:txBody>
          <a:bodyPr wrap="square" lIns="0" tIns="0" rIns="0" bIns="0" anchor="t">
            <a:spAutoFit/>
          </a:bodyPr>
          <a:lstStyle/>
          <a:p>
            <a:pPr algn="l">
              <a:lnSpc>
                <a:spcPct val="115000"/>
              </a:lnSpc>
            </a:pPr>
            <a:r>
              <a:rPr sz="950" b="0">
                <a:solidFill>
                  <a:srgbClr val="0D0D0D"/>
                </a:solidFill>
                <a:latin typeface="Open Sans"/>
              </a:rPr>
              <a:t>Open a fresh LLM session. Paste your Stage 4 spec — nothing else, no extra context. Save the unedited response to deliverables/...-llm-raw.md.</a:t>
            </a:r>
          </a:p>
        </p:txBody>
      </p:sp>
      <p:sp>
        <p:nvSpPr>
          <p:cNvPr id="9" name="Oval 8"/>
          <p:cNvSpPr/>
          <p:nvPr/>
        </p:nvSpPr>
        <p:spPr>
          <a:xfrm>
            <a:off x="457200" y="2209800"/>
            <a:ext cx="329184" cy="329184"/>
          </a:xfrm>
          <a:prstGeom prst="ellipse">
            <a:avLst/>
          </a:prstGeom>
          <a:solidFill>
            <a:srgbClr val="024731"/>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latin typeface="Open Sans"/>
              </a:rPr>
              <a:t>2</a:t>
            </a:r>
          </a:p>
        </p:txBody>
      </p:sp>
      <p:sp>
        <p:nvSpPr>
          <p:cNvPr id="10" name="TextBox 9"/>
          <p:cNvSpPr txBox="1"/>
          <p:nvPr/>
        </p:nvSpPr>
        <p:spPr>
          <a:xfrm>
            <a:off x="914400" y="2171700"/>
            <a:ext cx="3703320" cy="256032"/>
          </a:xfrm>
          <a:prstGeom prst="rect">
            <a:avLst/>
          </a:prstGeom>
          <a:noFill/>
        </p:spPr>
        <p:txBody>
          <a:bodyPr wrap="square" lIns="0" tIns="0" rIns="0" bIns="0" anchor="t">
            <a:spAutoFit/>
          </a:bodyPr>
          <a:lstStyle/>
          <a:p>
            <a:pPr algn="l"/>
            <a:r>
              <a:rPr sz="1300" b="1">
                <a:solidFill>
                  <a:srgbClr val="024731"/>
                </a:solidFill>
                <a:latin typeface="Open Sans"/>
              </a:rPr>
              <a:t>Verify ≥5 ratios manually</a:t>
            </a:r>
          </a:p>
        </p:txBody>
      </p:sp>
      <p:sp>
        <p:nvSpPr>
          <p:cNvPr id="11" name="TextBox 10"/>
          <p:cNvSpPr txBox="1"/>
          <p:nvPr/>
        </p:nvSpPr>
        <p:spPr>
          <a:xfrm>
            <a:off x="914400" y="2438400"/>
            <a:ext cx="3703320" cy="493853"/>
          </a:xfrm>
          <a:prstGeom prst="rect">
            <a:avLst/>
          </a:prstGeom>
          <a:noFill/>
        </p:spPr>
        <p:txBody>
          <a:bodyPr wrap="square" lIns="0" tIns="0" rIns="0" bIns="0" anchor="t">
            <a:spAutoFit/>
          </a:bodyPr>
          <a:lstStyle/>
          <a:p>
            <a:pPr algn="l">
              <a:lnSpc>
                <a:spcPct val="115000"/>
              </a:lnSpc>
            </a:pPr>
            <a:r>
              <a:rPr sz="950" b="0">
                <a:solidFill>
                  <a:srgbClr val="0D0D0D"/>
                </a:solidFill>
                <a:latin typeface="Open Sans"/>
              </a:rPr>
              <a:t>Recompute by hand from your Stage 3 financials. Build the table at analysis/validation/...-stage5-verification.md. Flag discrepancies with one-line explanations.</a:t>
            </a:r>
          </a:p>
        </p:txBody>
      </p:sp>
      <p:sp>
        <p:nvSpPr>
          <p:cNvPr id="12" name="Oval 11"/>
          <p:cNvSpPr/>
          <p:nvPr/>
        </p:nvSpPr>
        <p:spPr>
          <a:xfrm>
            <a:off x="457200" y="3060700"/>
            <a:ext cx="329184" cy="329184"/>
          </a:xfrm>
          <a:prstGeom prst="ellipse">
            <a:avLst/>
          </a:prstGeom>
          <a:solidFill>
            <a:srgbClr val="024731"/>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latin typeface="Open Sans"/>
              </a:rPr>
              <a:t>3</a:t>
            </a:r>
          </a:p>
        </p:txBody>
      </p:sp>
      <p:sp>
        <p:nvSpPr>
          <p:cNvPr id="13" name="TextBox 12"/>
          <p:cNvSpPr txBox="1"/>
          <p:nvPr/>
        </p:nvSpPr>
        <p:spPr>
          <a:xfrm>
            <a:off x="914400" y="3022600"/>
            <a:ext cx="3703320" cy="256032"/>
          </a:xfrm>
          <a:prstGeom prst="rect">
            <a:avLst/>
          </a:prstGeom>
          <a:noFill/>
        </p:spPr>
        <p:txBody>
          <a:bodyPr wrap="square" lIns="0" tIns="0" rIns="0" bIns="0" anchor="t">
            <a:spAutoFit/>
          </a:bodyPr>
          <a:lstStyle/>
          <a:p>
            <a:pPr algn="l"/>
            <a:r>
              <a:rPr sz="1300" b="1">
                <a:solidFill>
                  <a:srgbClr val="024731"/>
                </a:solidFill>
                <a:latin typeface="Open Sans"/>
              </a:rPr>
              <a:t>Write the evaluated final analysis</a:t>
            </a:r>
          </a:p>
        </p:txBody>
      </p:sp>
      <p:sp>
        <p:nvSpPr>
          <p:cNvPr id="14" name="TextBox 13"/>
          <p:cNvSpPr txBox="1"/>
          <p:nvPr/>
        </p:nvSpPr>
        <p:spPr>
          <a:xfrm>
            <a:off x="914400" y="3289300"/>
            <a:ext cx="3703320" cy="493853"/>
          </a:xfrm>
          <a:prstGeom prst="rect">
            <a:avLst/>
          </a:prstGeom>
          <a:noFill/>
        </p:spPr>
        <p:txBody>
          <a:bodyPr wrap="square" lIns="0" tIns="0" rIns="0" bIns="0" anchor="t">
            <a:spAutoFit/>
          </a:bodyPr>
          <a:lstStyle/>
          <a:p>
            <a:pPr algn="l">
              <a:lnSpc>
                <a:spcPct val="115000"/>
              </a:lnSpc>
            </a:pPr>
            <a:r>
              <a:rPr sz="950" b="0">
                <a:solidFill>
                  <a:srgbClr val="0D0D0D"/>
                </a:solidFill>
                <a:latin typeface="Open Sans"/>
              </a:rPr>
              <a:t>Edit, correct, annotate the LLM's draft. All six categories + Du Pont + recommendations + LLM evaluation + your own executive justification.</a:t>
            </a:r>
          </a:p>
        </p:txBody>
      </p:sp>
      <p:sp>
        <p:nvSpPr>
          <p:cNvPr id="15" name="Oval 14"/>
          <p:cNvSpPr/>
          <p:nvPr/>
        </p:nvSpPr>
        <p:spPr>
          <a:xfrm>
            <a:off x="457200" y="3911600"/>
            <a:ext cx="329184" cy="329184"/>
          </a:xfrm>
          <a:prstGeom prst="ellipse">
            <a:avLst/>
          </a:prstGeom>
          <a:solidFill>
            <a:srgbClr val="024731"/>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latin typeface="Open Sans"/>
              </a:rPr>
              <a:t>4</a:t>
            </a:r>
          </a:p>
        </p:txBody>
      </p:sp>
      <p:sp>
        <p:nvSpPr>
          <p:cNvPr id="16" name="TextBox 15"/>
          <p:cNvSpPr txBox="1"/>
          <p:nvPr/>
        </p:nvSpPr>
        <p:spPr>
          <a:xfrm>
            <a:off x="914400" y="3873500"/>
            <a:ext cx="3703320" cy="256032"/>
          </a:xfrm>
          <a:prstGeom prst="rect">
            <a:avLst/>
          </a:prstGeom>
          <a:noFill/>
        </p:spPr>
        <p:txBody>
          <a:bodyPr wrap="square" lIns="0" tIns="0" rIns="0" bIns="0" anchor="t">
            <a:spAutoFit/>
          </a:bodyPr>
          <a:lstStyle/>
          <a:p>
            <a:pPr algn="l"/>
            <a:r>
              <a:rPr sz="1300" b="1">
                <a:solidFill>
                  <a:srgbClr val="024731"/>
                </a:solidFill>
                <a:latin typeface="Open Sans"/>
              </a:rPr>
              <a:t>Fill out the spec retrospective</a:t>
            </a:r>
          </a:p>
        </p:txBody>
      </p:sp>
      <p:sp>
        <p:nvSpPr>
          <p:cNvPr id="17" name="TextBox 16"/>
          <p:cNvSpPr txBox="1"/>
          <p:nvPr/>
        </p:nvSpPr>
        <p:spPr>
          <a:xfrm>
            <a:off x="914400" y="4140200"/>
            <a:ext cx="3703320" cy="493853"/>
          </a:xfrm>
          <a:prstGeom prst="rect">
            <a:avLst/>
          </a:prstGeom>
          <a:noFill/>
        </p:spPr>
        <p:txBody>
          <a:bodyPr wrap="square" lIns="0" tIns="0" rIns="0" bIns="0" anchor="t">
            <a:spAutoFit/>
          </a:bodyPr>
          <a:lstStyle/>
          <a:p>
            <a:pPr algn="l">
              <a:lnSpc>
                <a:spcPct val="115000"/>
              </a:lnSpc>
            </a:pPr>
            <a:r>
              <a:rPr sz="950" b="0">
                <a:solidFill>
                  <a:srgbClr val="0D0D0D"/>
                </a:solidFill>
                <a:latin typeface="Open Sans"/>
              </a:rPr>
              <a:t>Use docs/templates/spec-retrospective-template.md. Section verdicts (Clear/Vague/Missing), top 3 gaps with evidence, effectiveness rating 1–5 with justification.</a:t>
            </a:r>
          </a:p>
        </p:txBody>
      </p:sp>
      <p:sp>
        <p:nvSpPr>
          <p:cNvPr id="18" name="Oval 17"/>
          <p:cNvSpPr/>
          <p:nvPr/>
        </p:nvSpPr>
        <p:spPr>
          <a:xfrm>
            <a:off x="4709160" y="1358900"/>
            <a:ext cx="329184" cy="329184"/>
          </a:xfrm>
          <a:prstGeom prst="ellipse">
            <a:avLst/>
          </a:prstGeom>
          <a:solidFill>
            <a:srgbClr val="024731"/>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latin typeface="Open Sans"/>
              </a:rPr>
              <a:t>5</a:t>
            </a:r>
          </a:p>
        </p:txBody>
      </p:sp>
      <p:sp>
        <p:nvSpPr>
          <p:cNvPr id="19" name="TextBox 18"/>
          <p:cNvSpPr txBox="1"/>
          <p:nvPr/>
        </p:nvSpPr>
        <p:spPr>
          <a:xfrm>
            <a:off x="5166360" y="1320800"/>
            <a:ext cx="3703320" cy="256032"/>
          </a:xfrm>
          <a:prstGeom prst="rect">
            <a:avLst/>
          </a:prstGeom>
          <a:noFill/>
        </p:spPr>
        <p:txBody>
          <a:bodyPr wrap="square" lIns="0" tIns="0" rIns="0" bIns="0" anchor="t">
            <a:spAutoFit/>
          </a:bodyPr>
          <a:lstStyle/>
          <a:p>
            <a:pPr algn="l"/>
            <a:r>
              <a:rPr sz="1300" b="1">
                <a:solidFill>
                  <a:srgbClr val="024731"/>
                </a:solidFill>
                <a:latin typeface="Open Sans"/>
              </a:rPr>
              <a:t>Incorporate Stage 2 feedback</a:t>
            </a:r>
          </a:p>
        </p:txBody>
      </p:sp>
      <p:sp>
        <p:nvSpPr>
          <p:cNvPr id="20" name="TextBox 19"/>
          <p:cNvSpPr txBox="1"/>
          <p:nvPr/>
        </p:nvSpPr>
        <p:spPr>
          <a:xfrm>
            <a:off x="5166360" y="1587500"/>
            <a:ext cx="3703320" cy="493853"/>
          </a:xfrm>
          <a:prstGeom prst="rect">
            <a:avLst/>
          </a:prstGeom>
          <a:noFill/>
        </p:spPr>
        <p:txBody>
          <a:bodyPr wrap="square" lIns="0" tIns="0" rIns="0" bIns="0" anchor="t">
            <a:spAutoFit/>
          </a:bodyPr>
          <a:lstStyle/>
          <a:p>
            <a:pPr algn="l">
              <a:lnSpc>
                <a:spcPct val="115000"/>
              </a:lnSpc>
            </a:pPr>
            <a:r>
              <a:rPr sz="950" b="0">
                <a:solidFill>
                  <a:srgbClr val="0D0D0D"/>
                </a:solidFill>
                <a:latin typeface="Open Sans"/>
              </a:rPr>
              <a:t>Show how you responded to the instructor's PR comments on your Stage 2 memo. Revised memo, follow-up memo, or commit messages that reference the PR. Disagreement is fine if visible.</a:t>
            </a:r>
          </a:p>
        </p:txBody>
      </p:sp>
      <p:sp>
        <p:nvSpPr>
          <p:cNvPr id="21" name="Oval 20"/>
          <p:cNvSpPr/>
          <p:nvPr/>
        </p:nvSpPr>
        <p:spPr>
          <a:xfrm>
            <a:off x="4709160" y="2209800"/>
            <a:ext cx="329184" cy="329184"/>
          </a:xfrm>
          <a:prstGeom prst="ellipse">
            <a:avLst/>
          </a:prstGeom>
          <a:solidFill>
            <a:srgbClr val="024731"/>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latin typeface="Open Sans"/>
              </a:rPr>
              <a:t>6</a:t>
            </a:r>
          </a:p>
        </p:txBody>
      </p:sp>
      <p:sp>
        <p:nvSpPr>
          <p:cNvPr id="22" name="TextBox 21"/>
          <p:cNvSpPr txBox="1"/>
          <p:nvPr/>
        </p:nvSpPr>
        <p:spPr>
          <a:xfrm>
            <a:off x="5166360" y="2171700"/>
            <a:ext cx="3703320" cy="256032"/>
          </a:xfrm>
          <a:prstGeom prst="rect">
            <a:avLst/>
          </a:prstGeom>
          <a:noFill/>
        </p:spPr>
        <p:txBody>
          <a:bodyPr wrap="square" lIns="0" tIns="0" rIns="0" bIns="0" anchor="t">
            <a:spAutoFit/>
          </a:bodyPr>
          <a:lstStyle/>
          <a:p>
            <a:pPr algn="l"/>
            <a:r>
              <a:rPr sz="1300" b="1">
                <a:solidFill>
                  <a:srgbClr val="024731"/>
                </a:solidFill>
                <a:latin typeface="Open Sans"/>
              </a:rPr>
              <a:t>Polish the repo (budget 2–3 hours)</a:t>
            </a:r>
          </a:p>
        </p:txBody>
      </p:sp>
      <p:sp>
        <p:nvSpPr>
          <p:cNvPr id="23" name="TextBox 22"/>
          <p:cNvSpPr txBox="1"/>
          <p:nvPr/>
        </p:nvSpPr>
        <p:spPr>
          <a:xfrm>
            <a:off x="5166360" y="2438400"/>
            <a:ext cx="3703320" cy="493853"/>
          </a:xfrm>
          <a:prstGeom prst="rect">
            <a:avLst/>
          </a:prstGeom>
          <a:noFill/>
        </p:spPr>
        <p:txBody>
          <a:bodyPr wrap="square" lIns="0" tIns="0" rIns="0" bIns="0" anchor="t">
            <a:spAutoFit/>
          </a:bodyPr>
          <a:lstStyle/>
          <a:p>
            <a:pPr algn="l">
              <a:lnSpc>
                <a:spcPct val="115000"/>
              </a:lnSpc>
            </a:pPr>
            <a:r>
              <a:rPr sz="950" b="0">
                <a:solidFill>
                  <a:srgbClr val="0D0D0D"/>
                </a:solidFill>
                <a:latin typeface="Open Sans"/>
              </a:rPr>
              <a:t>Top-of-README block, one-line repo description on GitHub, LICENSE, .gitignore, per-directory READMEs, clean commit history. The repo is the portfolio artifact.</a:t>
            </a:r>
          </a:p>
        </p:txBody>
      </p:sp>
      <p:sp>
        <p:nvSpPr>
          <p:cNvPr id="24" name="Oval 23"/>
          <p:cNvSpPr/>
          <p:nvPr/>
        </p:nvSpPr>
        <p:spPr>
          <a:xfrm>
            <a:off x="4709160" y="3060700"/>
            <a:ext cx="329184" cy="329184"/>
          </a:xfrm>
          <a:prstGeom prst="ellipse">
            <a:avLst/>
          </a:prstGeom>
          <a:solidFill>
            <a:srgbClr val="024731"/>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latin typeface="Open Sans"/>
              </a:rPr>
              <a:t>7</a:t>
            </a:r>
          </a:p>
        </p:txBody>
      </p:sp>
      <p:sp>
        <p:nvSpPr>
          <p:cNvPr id="25" name="TextBox 24"/>
          <p:cNvSpPr txBox="1"/>
          <p:nvPr/>
        </p:nvSpPr>
        <p:spPr>
          <a:xfrm>
            <a:off x="5166360" y="3022600"/>
            <a:ext cx="3703320" cy="256032"/>
          </a:xfrm>
          <a:prstGeom prst="rect">
            <a:avLst/>
          </a:prstGeom>
          <a:noFill/>
        </p:spPr>
        <p:txBody>
          <a:bodyPr wrap="square" lIns="0" tIns="0" rIns="0" bIns="0" anchor="t">
            <a:spAutoFit/>
          </a:bodyPr>
          <a:lstStyle/>
          <a:p>
            <a:pPr algn="l"/>
            <a:r>
              <a:rPr sz="1300" b="1">
                <a:solidFill>
                  <a:srgbClr val="024731"/>
                </a:solidFill>
                <a:latin typeface="Open Sans"/>
              </a:rPr>
              <a:t>Submit on Lamaku</a:t>
            </a:r>
          </a:p>
        </p:txBody>
      </p:sp>
      <p:sp>
        <p:nvSpPr>
          <p:cNvPr id="26" name="TextBox 25"/>
          <p:cNvSpPr txBox="1"/>
          <p:nvPr/>
        </p:nvSpPr>
        <p:spPr>
          <a:xfrm>
            <a:off x="5166360" y="3289300"/>
            <a:ext cx="3703320" cy="325730"/>
          </a:xfrm>
          <a:prstGeom prst="rect">
            <a:avLst/>
          </a:prstGeom>
          <a:noFill/>
        </p:spPr>
        <p:txBody>
          <a:bodyPr wrap="square" lIns="0" tIns="0" rIns="0" bIns="0" anchor="t">
            <a:spAutoFit/>
          </a:bodyPr>
          <a:lstStyle/>
          <a:p>
            <a:pPr algn="l">
              <a:lnSpc>
                <a:spcPct val="115000"/>
              </a:lnSpc>
            </a:pPr>
            <a:r>
              <a:rPr sz="950" b="0">
                <a:solidFill>
                  <a:srgbClr val="0D0D0D"/>
                </a:solidFill>
                <a:latin typeface="Open Sans"/>
              </a:rPr>
              <a:t>Submit the public GitHub repo URL via Lamaku. Confirm the repo is public and accessible without login before submitting.</a:t>
            </a:r>
          </a:p>
        </p:txBody>
      </p:sp>
    </p:spTree>
    <p:extLst>
      <p:ext uri="{BB962C8B-B14F-4D97-AF65-F5344CB8AC3E}">
        <p14:creationId xmlns:p14="http://schemas.microsoft.com/office/powerpoint/2010/main" val="1675205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D8C8A8-8564-943A-0CE2-B9EAD893FFB0}"/>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0053C377-5E53-F9E8-A27F-0C516CF4EE5A}"/>
              </a:ext>
            </a:extLst>
          </p:cNvPr>
          <p:cNvSpPr/>
          <p:nvPr/>
        </p:nvSpPr>
        <p:spPr>
          <a:xfrm>
            <a:off x="0" y="0"/>
            <a:ext cx="9144000" cy="36576"/>
          </a:xfrm>
          <a:prstGeom prst="rect">
            <a:avLst/>
          </a:prstGeom>
          <a:solidFill>
            <a:srgbClr val="B8975C"/>
          </a:solidFill>
          <a:ln/>
        </p:spPr>
        <p:txBody>
          <a:bodyPr/>
          <a:lstStyle/>
          <a:p>
            <a:endParaRPr lang="en-US"/>
          </a:p>
        </p:txBody>
      </p:sp>
      <p:sp>
        <p:nvSpPr>
          <p:cNvPr id="3" name="Text 1">
            <a:extLst>
              <a:ext uri="{FF2B5EF4-FFF2-40B4-BE49-F238E27FC236}">
                <a16:creationId xmlns:a16="http://schemas.microsoft.com/office/drawing/2014/main" id="{FB49E700-5A07-CB8D-CD15-D0780F2BA747}"/>
              </a:ext>
            </a:extLst>
          </p:cNvPr>
          <p:cNvSpPr/>
          <p:nvPr/>
        </p:nvSpPr>
        <p:spPr>
          <a:xfrm>
            <a:off x="731520" y="548640"/>
            <a:ext cx="7680960" cy="365760"/>
          </a:xfrm>
          <a:prstGeom prst="rect">
            <a:avLst/>
          </a:prstGeom>
          <a:noFill/>
          <a:ln/>
        </p:spPr>
        <p:txBody>
          <a:bodyPr wrap="square" lIns="0" tIns="0" rIns="0" bIns="0" rtlCol="0" anchor="ctr"/>
          <a:lstStyle/>
          <a:p>
            <a:pPr marL="0" indent="0">
              <a:buNone/>
            </a:pPr>
            <a:r>
              <a:rPr lang="en-US" sz="1400" b="1" kern="0" spc="600" dirty="0">
                <a:solidFill>
                  <a:srgbClr val="B8975C"/>
                </a:solidFill>
                <a:latin typeface="Open Sans" pitchFamily="34" charset="0"/>
                <a:ea typeface="Open Sans" pitchFamily="34" charset="-122"/>
                <a:cs typeface="Open Sans" pitchFamily="34" charset="-120"/>
              </a:rPr>
              <a:t>APPENDIX</a:t>
            </a:r>
            <a:endParaRPr lang="en-US" sz="1400" dirty="0"/>
          </a:p>
        </p:txBody>
      </p:sp>
      <p:sp>
        <p:nvSpPr>
          <p:cNvPr id="4" name="Text 2">
            <a:extLst>
              <a:ext uri="{FF2B5EF4-FFF2-40B4-BE49-F238E27FC236}">
                <a16:creationId xmlns:a16="http://schemas.microsoft.com/office/drawing/2014/main" id="{F54F229D-F05E-B476-5B3E-4BBC55431E5F}"/>
              </a:ext>
            </a:extLst>
          </p:cNvPr>
          <p:cNvSpPr/>
          <p:nvPr/>
        </p:nvSpPr>
        <p:spPr>
          <a:xfrm>
            <a:off x="731520" y="1097280"/>
            <a:ext cx="7680960" cy="1828800"/>
          </a:xfrm>
          <a:prstGeom prst="rect">
            <a:avLst/>
          </a:prstGeom>
          <a:noFill/>
          <a:ln/>
        </p:spPr>
        <p:txBody>
          <a:bodyPr wrap="square" lIns="0" tIns="0" rIns="0" bIns="0" rtlCol="0" anchor="ctr"/>
          <a:lstStyle/>
          <a:p>
            <a:pPr marL="0" indent="0">
              <a:lnSpc>
                <a:spcPct val="110000"/>
              </a:lnSpc>
              <a:buNone/>
            </a:pPr>
            <a:r>
              <a:rPr lang="en-US" sz="4000" b="1" dirty="0">
                <a:solidFill>
                  <a:schemeClr val="accent6">
                    <a:lumMod val="50000"/>
                  </a:schemeClr>
                </a:solidFill>
                <a:latin typeface="Open Sans" pitchFamily="34" charset="0"/>
                <a:ea typeface="Open Sans" pitchFamily="34" charset="-122"/>
                <a:cs typeface="Open Sans" pitchFamily="34" charset="-120"/>
              </a:rPr>
              <a:t>Using GitHub</a:t>
            </a:r>
            <a:endParaRPr lang="en-US" sz="4000" dirty="0">
              <a:solidFill>
                <a:schemeClr val="accent6">
                  <a:lumMod val="50000"/>
                </a:schemeClr>
              </a:solidFill>
            </a:endParaRPr>
          </a:p>
          <a:p>
            <a:pPr marL="0" indent="0">
              <a:lnSpc>
                <a:spcPct val="110000"/>
              </a:lnSpc>
              <a:buNone/>
            </a:pPr>
            <a:r>
              <a:rPr lang="en-US" sz="4000" b="1" dirty="0">
                <a:solidFill>
                  <a:schemeClr val="accent6">
                    <a:lumMod val="50000"/>
                  </a:schemeClr>
                </a:solidFill>
                <a:latin typeface="Open Sans" pitchFamily="34" charset="0"/>
                <a:ea typeface="Open Sans" pitchFamily="34" charset="-122"/>
                <a:cs typeface="Open Sans" pitchFamily="34" charset="-120"/>
              </a:rPr>
              <a:t>for Your Project</a:t>
            </a:r>
            <a:endParaRPr lang="en-US" sz="4000" dirty="0">
              <a:solidFill>
                <a:schemeClr val="accent6">
                  <a:lumMod val="50000"/>
                </a:schemeClr>
              </a:solidFill>
            </a:endParaRPr>
          </a:p>
        </p:txBody>
      </p:sp>
      <p:sp>
        <p:nvSpPr>
          <p:cNvPr id="5" name="Shape 3">
            <a:extLst>
              <a:ext uri="{FF2B5EF4-FFF2-40B4-BE49-F238E27FC236}">
                <a16:creationId xmlns:a16="http://schemas.microsoft.com/office/drawing/2014/main" id="{839A0219-6F48-03FD-88BB-49FB29159640}"/>
              </a:ext>
            </a:extLst>
          </p:cNvPr>
          <p:cNvSpPr/>
          <p:nvPr/>
        </p:nvSpPr>
        <p:spPr>
          <a:xfrm>
            <a:off x="731520" y="3108960"/>
            <a:ext cx="1828800" cy="36576"/>
          </a:xfrm>
          <a:prstGeom prst="rect">
            <a:avLst/>
          </a:prstGeom>
          <a:solidFill>
            <a:srgbClr val="B8975C"/>
          </a:solidFill>
          <a:ln/>
        </p:spPr>
        <p:txBody>
          <a:bodyPr/>
          <a:lstStyle/>
          <a:p>
            <a:endParaRPr lang="en-US"/>
          </a:p>
        </p:txBody>
      </p:sp>
      <p:sp>
        <p:nvSpPr>
          <p:cNvPr id="6" name="Text 4">
            <a:extLst>
              <a:ext uri="{FF2B5EF4-FFF2-40B4-BE49-F238E27FC236}">
                <a16:creationId xmlns:a16="http://schemas.microsoft.com/office/drawing/2014/main" id="{F2900D6E-9BE4-4C5F-F3CB-86C919186C1A}"/>
              </a:ext>
            </a:extLst>
          </p:cNvPr>
          <p:cNvSpPr/>
          <p:nvPr/>
        </p:nvSpPr>
        <p:spPr>
          <a:xfrm>
            <a:off x="731520" y="3337560"/>
            <a:ext cx="6400800" cy="731520"/>
          </a:xfrm>
          <a:prstGeom prst="rect">
            <a:avLst/>
          </a:prstGeom>
          <a:noFill/>
          <a:ln/>
        </p:spPr>
        <p:txBody>
          <a:bodyPr wrap="square" lIns="0" tIns="0" rIns="0" bIns="0" rtlCol="0" anchor="ctr"/>
          <a:lstStyle/>
          <a:p>
            <a:pPr marL="0" indent="0">
              <a:lnSpc>
                <a:spcPct val="140000"/>
              </a:lnSpc>
              <a:buNone/>
            </a:pPr>
            <a:r>
              <a:rPr lang="en-US" sz="1400" dirty="0">
                <a:solidFill>
                  <a:srgbClr val="8A9BAD"/>
                </a:solidFill>
                <a:latin typeface="Open Sans" pitchFamily="34" charset="0"/>
                <a:ea typeface="Open Sans" pitchFamily="34" charset="-122"/>
                <a:cs typeface="Open Sans" pitchFamily="34" charset="-120"/>
              </a:rPr>
              <a:t>A standalone quick guide to GitHub. No prior GH experience required.</a:t>
            </a:r>
            <a:endParaRPr lang="en-US" sz="1400" dirty="0"/>
          </a:p>
        </p:txBody>
      </p:sp>
      <p:pic>
        <p:nvPicPr>
          <p:cNvPr id="7" name="Image 0" descr="preencoded.png">
            <a:extLst>
              <a:ext uri="{FF2B5EF4-FFF2-40B4-BE49-F238E27FC236}">
                <a16:creationId xmlns:a16="http://schemas.microsoft.com/office/drawing/2014/main" id="{C3335FD3-0934-88F3-5290-2F0CA62CFE62}"/>
              </a:ext>
            </a:extLst>
          </p:cNvPr>
          <p:cNvPicPr>
            <a:picLocks noChangeAspect="1"/>
          </p:cNvPicPr>
          <p:nvPr/>
        </p:nvPicPr>
        <p:blipFill>
          <a:blip r:embed="rId3"/>
          <a:stretch>
            <a:fillRect/>
          </a:stretch>
        </p:blipFill>
        <p:spPr>
          <a:xfrm>
            <a:off x="7132320" y="3200400"/>
            <a:ext cx="1097280" cy="1097280"/>
          </a:xfrm>
          <a:prstGeom prst="rect">
            <a:avLst/>
          </a:prstGeom>
        </p:spPr>
      </p:pic>
      <p:sp>
        <p:nvSpPr>
          <p:cNvPr id="8" name="Text 5">
            <a:extLst>
              <a:ext uri="{FF2B5EF4-FFF2-40B4-BE49-F238E27FC236}">
                <a16:creationId xmlns:a16="http://schemas.microsoft.com/office/drawing/2014/main" id="{1E0F0504-7EA9-C4C2-CD3C-A13D947AD528}"/>
              </a:ext>
            </a:extLst>
          </p:cNvPr>
          <p:cNvSpPr/>
          <p:nvPr/>
        </p:nvSpPr>
        <p:spPr>
          <a:xfrm>
            <a:off x="457200" y="4663440"/>
            <a:ext cx="8229600" cy="320040"/>
          </a:xfrm>
          <a:prstGeom prst="rect">
            <a:avLst/>
          </a:prstGeom>
          <a:noFill/>
          <a:ln/>
        </p:spPr>
        <p:txBody>
          <a:bodyPr wrap="square" lIns="0" tIns="0" rIns="0" bIns="0" rtlCol="0" anchor="ctr"/>
          <a:lstStyle/>
          <a:p>
            <a:pPr marL="0" indent="0" algn="ctr">
              <a:buNone/>
            </a:pPr>
            <a:r>
              <a:rPr lang="en-US" sz="1000" dirty="0">
                <a:solidFill>
                  <a:srgbClr val="5A6B7A"/>
                </a:solidFill>
                <a:latin typeface="Open Sans" pitchFamily="34" charset="0"/>
                <a:ea typeface="Open Sans" pitchFamily="34" charset="-122"/>
                <a:cs typeface="Open Sans" pitchFamily="34" charset="-120"/>
              </a:rPr>
              <a:t>Shidler College of Business  |  University of Hawaiʻi at Mānoa</a:t>
            </a:r>
            <a:endParaRPr lang="en-US" sz="1000" dirty="0"/>
          </a:p>
        </p:txBody>
      </p:sp>
    </p:spTree>
    <p:extLst>
      <p:ext uri="{BB962C8B-B14F-4D97-AF65-F5344CB8AC3E}">
        <p14:creationId xmlns:p14="http://schemas.microsoft.com/office/powerpoint/2010/main" val="30361952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24731"/>
          </a:solidFill>
          <a:ln/>
        </p:spPr>
        <p:txBody>
          <a:bodyPr/>
          <a:lstStyle/>
          <a:p>
            <a:endParaRPr lang="en-US"/>
          </a:p>
        </p:txBody>
      </p:sp>
      <p:sp>
        <p:nvSpPr>
          <p:cNvPr id="4" name="Text 2"/>
          <p:cNvSpPr/>
          <p:nvPr/>
        </p:nvSpPr>
        <p:spPr>
          <a:xfrm>
            <a:off x="457200" y="4754880"/>
            <a:ext cx="8229600" cy="320040"/>
          </a:xfrm>
          <a:prstGeom prst="rect">
            <a:avLst/>
          </a:prstGeom>
          <a:noFill/>
          <a:ln/>
        </p:spPr>
        <p:txBody>
          <a:bodyPr wrap="square" rtlCol="0" anchor="ctr"/>
          <a:lstStyle/>
          <a:p>
            <a:pPr marL="0" indent="0" algn="ctr">
              <a:buNone/>
            </a:pPr>
            <a:r>
              <a:rPr lang="en-US" sz="1000" dirty="0">
                <a:solidFill>
                  <a:srgbClr val="5A6B7A"/>
                </a:solidFill>
                <a:latin typeface="Open Sans" pitchFamily="34" charset="0"/>
                <a:ea typeface="Open Sans" pitchFamily="34" charset="-122"/>
                <a:cs typeface="Open Sans" pitchFamily="34" charset="-120"/>
              </a:rPr>
              <a:t>Shidler College of Business  |  University of Hawaiʻi at Mānoa</a:t>
            </a:r>
            <a:endParaRPr lang="en-US" sz="1000" dirty="0"/>
          </a:p>
        </p:txBody>
      </p:sp>
      <p:sp>
        <p:nvSpPr>
          <p:cNvPr id="5" name="Text 3"/>
          <p:cNvSpPr/>
          <p:nvPr/>
        </p:nvSpPr>
        <p:spPr>
          <a:xfrm>
            <a:off x="731520" y="320040"/>
            <a:ext cx="7680960" cy="457200"/>
          </a:xfrm>
          <a:prstGeom prst="rect">
            <a:avLst/>
          </a:prstGeom>
          <a:noFill/>
          <a:ln/>
        </p:spPr>
        <p:txBody>
          <a:bodyPr wrap="square" lIns="0" tIns="0" rIns="0" bIns="0" rtlCol="0" anchor="ctr"/>
          <a:lstStyle/>
          <a:p>
            <a:pPr marL="0" indent="0">
              <a:buNone/>
            </a:pPr>
            <a:r>
              <a:rPr lang="en-US" sz="2800" b="1" dirty="0">
                <a:solidFill>
                  <a:srgbClr val="FFFFFF"/>
                </a:solidFill>
                <a:latin typeface="Open Sans" pitchFamily="34" charset="0"/>
                <a:ea typeface="Open Sans" pitchFamily="34" charset="-122"/>
                <a:cs typeface="Open Sans" pitchFamily="34" charset="-120"/>
              </a:rPr>
              <a:t>.gitignore — Keep Junk Out of Your Repo</a:t>
            </a:r>
            <a:endParaRPr lang="en-US" sz="2800" dirty="0"/>
          </a:p>
        </p:txBody>
      </p:sp>
      <p:sp>
        <p:nvSpPr>
          <p:cNvPr id="6" name="Text 4"/>
          <p:cNvSpPr/>
          <p:nvPr/>
        </p:nvSpPr>
        <p:spPr>
          <a:xfrm>
            <a:off x="731520" y="868680"/>
            <a:ext cx="7680960" cy="548640"/>
          </a:xfrm>
          <a:prstGeom prst="rect">
            <a:avLst/>
          </a:prstGeom>
          <a:noFill/>
          <a:ln/>
        </p:spPr>
        <p:txBody>
          <a:bodyPr wrap="square" lIns="0" tIns="0" rIns="0" bIns="0" rtlCol="0" anchor="ctr"/>
          <a:lstStyle/>
          <a:p>
            <a:pPr marL="0" indent="0">
              <a:lnSpc>
                <a:spcPct val="130000"/>
              </a:lnSpc>
              <a:buNone/>
            </a:pPr>
            <a:r>
              <a:rPr lang="en-US" sz="1300" dirty="0">
                <a:solidFill>
                  <a:srgbClr val="5A6B7A"/>
                </a:solidFill>
                <a:latin typeface="Open Sans" pitchFamily="34" charset="0"/>
                <a:ea typeface="Open Sans" pitchFamily="34" charset="-122"/>
                <a:cs typeface="Open Sans" pitchFamily="34" charset="-120"/>
              </a:rPr>
              <a:t>A .gitignore file at your repo root tells Git which files to ignore. Without one, your repo collects OS junk, Excel lock files, and (worst case) credentials. Use the course template as a starting point.</a:t>
            </a:r>
            <a:endParaRPr lang="en-US" sz="1300" dirty="0"/>
          </a:p>
        </p:txBody>
      </p:sp>
      <p:sp>
        <p:nvSpPr>
          <p:cNvPr id="7" name="Shape 5"/>
          <p:cNvSpPr/>
          <p:nvPr/>
        </p:nvSpPr>
        <p:spPr>
          <a:xfrm>
            <a:off x="731520" y="1691640"/>
            <a:ext cx="2377440" cy="2606040"/>
          </a:xfrm>
          <a:prstGeom prst="rect">
            <a:avLst/>
          </a:prstGeom>
          <a:solidFill>
            <a:srgbClr val="FFFFFF"/>
          </a:solidFill>
          <a:ln/>
          <a:effectLst>
            <a:outerShdw blurRad="76200" dist="25400" dir="8100000" algn="bl" rotWithShape="0">
              <a:srgbClr val="000000">
                <a:alpha val="8000"/>
              </a:srgbClr>
            </a:outerShdw>
          </a:effectLst>
        </p:spPr>
        <p:txBody>
          <a:bodyPr/>
          <a:lstStyle/>
          <a:p>
            <a:endParaRPr lang="en-US"/>
          </a:p>
        </p:txBody>
      </p:sp>
      <p:pic>
        <p:nvPicPr>
          <p:cNvPr id="8" name="Image 0" descr="preencoded.png"/>
          <p:cNvPicPr>
            <a:picLocks noChangeAspect="1"/>
          </p:cNvPicPr>
          <p:nvPr/>
        </p:nvPicPr>
        <p:blipFill>
          <a:blip r:embed="rId2"/>
          <a:stretch>
            <a:fillRect/>
          </a:stretch>
        </p:blipFill>
        <p:spPr>
          <a:xfrm>
            <a:off x="1554480" y="1920240"/>
            <a:ext cx="457200" cy="457200"/>
          </a:xfrm>
          <a:prstGeom prst="rect">
            <a:avLst/>
          </a:prstGeom>
        </p:spPr>
      </p:pic>
      <p:sp>
        <p:nvSpPr>
          <p:cNvPr id="9" name="Text 6"/>
          <p:cNvSpPr/>
          <p:nvPr/>
        </p:nvSpPr>
        <p:spPr>
          <a:xfrm>
            <a:off x="868680" y="2514600"/>
            <a:ext cx="2103120" cy="320040"/>
          </a:xfrm>
          <a:prstGeom prst="rect">
            <a:avLst/>
          </a:prstGeom>
          <a:noFill/>
          <a:ln/>
        </p:spPr>
        <p:txBody>
          <a:bodyPr wrap="square" lIns="0" tIns="0" rIns="0" bIns="0" rtlCol="0" anchor="ctr"/>
          <a:lstStyle/>
          <a:p>
            <a:pPr marL="0" indent="0" algn="ctr">
              <a:buNone/>
            </a:pPr>
            <a:r>
              <a:rPr lang="en-US" sz="1400" b="1" dirty="0">
                <a:solidFill>
                  <a:srgbClr val="1E2530"/>
                </a:solidFill>
                <a:latin typeface="Open Sans" pitchFamily="34" charset="0"/>
                <a:ea typeface="Open Sans" pitchFamily="34" charset="-122"/>
                <a:cs typeface="Open Sans" pitchFamily="34" charset="-120"/>
              </a:rPr>
              <a:t>OS Junk Files</a:t>
            </a:r>
            <a:endParaRPr lang="en-US" sz="1400" dirty="0"/>
          </a:p>
        </p:txBody>
      </p:sp>
      <p:sp>
        <p:nvSpPr>
          <p:cNvPr id="10" name="Text 7"/>
          <p:cNvSpPr/>
          <p:nvPr/>
        </p:nvSpPr>
        <p:spPr>
          <a:xfrm>
            <a:off x="868680" y="2880360"/>
            <a:ext cx="2103120" cy="1188720"/>
          </a:xfrm>
          <a:prstGeom prst="rect">
            <a:avLst/>
          </a:prstGeom>
          <a:noFill/>
          <a:ln/>
        </p:spPr>
        <p:txBody>
          <a:bodyPr wrap="square" lIns="0" tIns="0" rIns="0" bIns="0" rtlCol="0" anchor="t"/>
          <a:lstStyle/>
          <a:p>
            <a:pPr marL="0" indent="0" algn="ctr">
              <a:lnSpc>
                <a:spcPct val="140000"/>
              </a:lnSpc>
              <a:buNone/>
            </a:pPr>
            <a:r>
              <a:rPr lang="en-US" sz="1100" dirty="0">
                <a:solidFill>
                  <a:srgbClr val="5A6B7A"/>
                </a:solidFill>
                <a:latin typeface="Open Sans" pitchFamily="34" charset="0"/>
                <a:ea typeface="Open Sans" pitchFamily="34" charset="-122"/>
                <a:cs typeface="Open Sans" pitchFamily="34" charset="-120"/>
              </a:rPr>
              <a:t>.DS_Store (macOS), Thumbs.db (Windows), desktop.ini. Useless to anyone but your OS — never commit them.</a:t>
            </a:r>
            <a:endParaRPr lang="en-US" sz="1100" dirty="0"/>
          </a:p>
        </p:txBody>
      </p:sp>
      <p:sp>
        <p:nvSpPr>
          <p:cNvPr id="11" name="Shape 8"/>
          <p:cNvSpPr/>
          <p:nvPr/>
        </p:nvSpPr>
        <p:spPr>
          <a:xfrm>
            <a:off x="3383280" y="1691640"/>
            <a:ext cx="2377440" cy="2606040"/>
          </a:xfrm>
          <a:prstGeom prst="rect">
            <a:avLst/>
          </a:prstGeom>
          <a:solidFill>
            <a:srgbClr val="FFFFFF"/>
          </a:solidFill>
          <a:ln/>
          <a:effectLst>
            <a:outerShdw blurRad="76200" dist="25400" dir="8100000" algn="bl" rotWithShape="0">
              <a:srgbClr val="000000">
                <a:alpha val="8000"/>
              </a:srgbClr>
            </a:outerShdw>
          </a:effectLst>
        </p:spPr>
        <p:txBody>
          <a:bodyPr/>
          <a:lstStyle/>
          <a:p>
            <a:endParaRPr lang="en-US"/>
          </a:p>
        </p:txBody>
      </p:sp>
      <p:pic>
        <p:nvPicPr>
          <p:cNvPr id="12" name="Image 1" descr="preencoded.png"/>
          <p:cNvPicPr>
            <a:picLocks noChangeAspect="1"/>
          </p:cNvPicPr>
          <p:nvPr/>
        </p:nvPicPr>
        <p:blipFill>
          <a:blip r:embed="rId3"/>
          <a:stretch>
            <a:fillRect/>
          </a:stretch>
        </p:blipFill>
        <p:spPr>
          <a:xfrm>
            <a:off x="4206240" y="1920240"/>
            <a:ext cx="457200" cy="457200"/>
          </a:xfrm>
          <a:prstGeom prst="rect">
            <a:avLst/>
          </a:prstGeom>
        </p:spPr>
      </p:pic>
      <p:sp>
        <p:nvSpPr>
          <p:cNvPr id="13" name="Text 9"/>
          <p:cNvSpPr/>
          <p:nvPr/>
        </p:nvSpPr>
        <p:spPr>
          <a:xfrm>
            <a:off x="3520440" y="2514600"/>
            <a:ext cx="2103120" cy="320040"/>
          </a:xfrm>
          <a:prstGeom prst="rect">
            <a:avLst/>
          </a:prstGeom>
          <a:noFill/>
          <a:ln/>
        </p:spPr>
        <p:txBody>
          <a:bodyPr wrap="square" lIns="0" tIns="0" rIns="0" bIns="0" rtlCol="0" anchor="ctr"/>
          <a:lstStyle/>
          <a:p>
            <a:pPr marL="0" indent="0" algn="ctr">
              <a:buNone/>
            </a:pPr>
            <a:r>
              <a:rPr lang="en-US" sz="1400" b="1" dirty="0">
                <a:solidFill>
                  <a:srgbClr val="1E2530"/>
                </a:solidFill>
                <a:latin typeface="Open Sans" pitchFamily="34" charset="0"/>
                <a:ea typeface="Open Sans" pitchFamily="34" charset="-122"/>
                <a:cs typeface="Open Sans" pitchFamily="34" charset="-120"/>
              </a:rPr>
              <a:t>Office Lock Files</a:t>
            </a:r>
            <a:endParaRPr lang="en-US" sz="1400" dirty="0"/>
          </a:p>
        </p:txBody>
      </p:sp>
      <p:sp>
        <p:nvSpPr>
          <p:cNvPr id="14" name="Text 10"/>
          <p:cNvSpPr/>
          <p:nvPr/>
        </p:nvSpPr>
        <p:spPr>
          <a:xfrm>
            <a:off x="3520440" y="2880360"/>
            <a:ext cx="2103120" cy="1188720"/>
          </a:xfrm>
          <a:prstGeom prst="rect">
            <a:avLst/>
          </a:prstGeom>
          <a:noFill/>
          <a:ln/>
        </p:spPr>
        <p:txBody>
          <a:bodyPr wrap="square" lIns="0" tIns="0" rIns="0" bIns="0" rtlCol="0" anchor="t"/>
          <a:lstStyle/>
          <a:p>
            <a:pPr marL="0" indent="0" algn="ctr">
              <a:lnSpc>
                <a:spcPct val="140000"/>
              </a:lnSpc>
              <a:buNone/>
            </a:pPr>
            <a:r>
              <a:rPr lang="en-US" sz="1100" dirty="0">
                <a:solidFill>
                  <a:srgbClr val="5A6B7A"/>
                </a:solidFill>
                <a:latin typeface="Open Sans" pitchFamily="34" charset="0"/>
                <a:ea typeface="Open Sans" pitchFamily="34" charset="-122"/>
                <a:cs typeface="Open Sans" pitchFamily="34" charset="-120"/>
              </a:rPr>
              <a:t>~$*.xlsx, ~$*.docx — created when Excel/Word has a file open. Commits will fail until you close the file. Just ignore them.</a:t>
            </a:r>
            <a:endParaRPr lang="en-US" sz="1100" dirty="0"/>
          </a:p>
        </p:txBody>
      </p:sp>
      <p:sp>
        <p:nvSpPr>
          <p:cNvPr id="15" name="Shape 11"/>
          <p:cNvSpPr/>
          <p:nvPr/>
        </p:nvSpPr>
        <p:spPr>
          <a:xfrm>
            <a:off x="6035040" y="1691640"/>
            <a:ext cx="2377440" cy="2606040"/>
          </a:xfrm>
          <a:prstGeom prst="rect">
            <a:avLst/>
          </a:prstGeom>
          <a:solidFill>
            <a:srgbClr val="FFFFFF"/>
          </a:solidFill>
          <a:ln/>
          <a:effectLst>
            <a:outerShdw blurRad="76200" dist="25400" dir="8100000" algn="bl" rotWithShape="0">
              <a:srgbClr val="000000">
                <a:alpha val="8000"/>
              </a:srgbClr>
            </a:outerShdw>
          </a:effectLst>
        </p:spPr>
        <p:txBody>
          <a:bodyPr/>
          <a:lstStyle/>
          <a:p>
            <a:endParaRPr lang="en-US"/>
          </a:p>
        </p:txBody>
      </p:sp>
      <p:sp>
        <p:nvSpPr>
          <p:cNvPr id="17" name="Text 12"/>
          <p:cNvSpPr/>
          <p:nvPr/>
        </p:nvSpPr>
        <p:spPr>
          <a:xfrm>
            <a:off x="6172200" y="2514600"/>
            <a:ext cx="2103120" cy="320040"/>
          </a:xfrm>
          <a:prstGeom prst="rect">
            <a:avLst/>
          </a:prstGeom>
          <a:noFill/>
          <a:ln/>
        </p:spPr>
        <p:txBody>
          <a:bodyPr wrap="square" lIns="0" tIns="0" rIns="0" bIns="0" rtlCol="0" anchor="ctr"/>
          <a:lstStyle/>
          <a:p>
            <a:pPr marL="0" indent="0" algn="ctr">
              <a:buNone/>
            </a:pPr>
            <a:r>
              <a:rPr lang="en-US" sz="1400" b="1" dirty="0">
                <a:solidFill>
                  <a:srgbClr val="1E2530"/>
                </a:solidFill>
                <a:latin typeface="Open Sans" pitchFamily="34" charset="0"/>
                <a:ea typeface="Open Sans" pitchFamily="34" charset="-122"/>
                <a:cs typeface="Open Sans" pitchFamily="34" charset="-120"/>
              </a:rPr>
              <a:t>Secrets &amp; Credentials</a:t>
            </a:r>
            <a:endParaRPr lang="en-US" sz="1400" dirty="0"/>
          </a:p>
        </p:txBody>
      </p:sp>
      <p:sp>
        <p:nvSpPr>
          <p:cNvPr id="18" name="Text 13"/>
          <p:cNvSpPr/>
          <p:nvPr/>
        </p:nvSpPr>
        <p:spPr>
          <a:xfrm>
            <a:off x="6172200" y="2880360"/>
            <a:ext cx="2103120" cy="1188720"/>
          </a:xfrm>
          <a:prstGeom prst="rect">
            <a:avLst/>
          </a:prstGeom>
          <a:noFill/>
          <a:ln/>
        </p:spPr>
        <p:txBody>
          <a:bodyPr wrap="square" lIns="0" tIns="0" rIns="0" bIns="0" rtlCol="0" anchor="t"/>
          <a:lstStyle/>
          <a:p>
            <a:pPr marL="0" indent="0" algn="ctr">
              <a:lnSpc>
                <a:spcPct val="140000"/>
              </a:lnSpc>
              <a:buNone/>
            </a:pPr>
            <a:r>
              <a:rPr lang="en-US" sz="1100" dirty="0">
                <a:solidFill>
                  <a:srgbClr val="5A6B7A"/>
                </a:solidFill>
                <a:latin typeface="Open Sans" pitchFamily="34" charset="0"/>
                <a:ea typeface="Open Sans" pitchFamily="34" charset="-122"/>
                <a:cs typeface="Open Sans" pitchFamily="34" charset="-120"/>
              </a:rPr>
              <a:t>.env files, *.key, anything containing API keys or passwords. Once committed publicly, treat them as compromised — rotate.</a:t>
            </a:r>
            <a:endParaRPr lang="en-US" sz="1100" dirty="0"/>
          </a:p>
        </p:txBody>
      </p:sp>
      <p:pic>
        <p:nvPicPr>
          <p:cNvPr id="19" name="Graphic 19"/>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858000" y="1917700"/>
            <a:ext cx="457200" cy="457200"/>
          </a:xfrm>
          <a:prstGeom prst="rect">
            <a:avLst/>
          </a:prstGeom>
        </p:spPr>
      </p:pic>
    </p:spTree>
    <p:extLst>
      <p:ext uri="{BB962C8B-B14F-4D97-AF65-F5344CB8AC3E}">
        <p14:creationId xmlns:p14="http://schemas.microsoft.com/office/powerpoint/2010/main" val="231105687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9144000" cy="36576"/>
          </a:xfrm>
          <a:prstGeom prst="rect">
            <a:avLst/>
          </a:prstGeom>
          <a:solidFill>
            <a:srgbClr val="B8975C"/>
          </a:solidFill>
          <a:ln/>
        </p:spPr>
        <p:txBody>
          <a:bodyPr/>
          <a:lstStyle/>
          <a:p>
            <a:endParaRPr lang="en-US"/>
          </a:p>
        </p:txBody>
      </p:sp>
      <p:sp>
        <p:nvSpPr>
          <p:cNvPr id="3" name="Text 1"/>
          <p:cNvSpPr/>
          <p:nvPr/>
        </p:nvSpPr>
        <p:spPr>
          <a:xfrm>
            <a:off x="731520" y="274320"/>
            <a:ext cx="7680960" cy="457200"/>
          </a:xfrm>
          <a:prstGeom prst="rect">
            <a:avLst/>
          </a:prstGeom>
          <a:noFill/>
          <a:ln/>
        </p:spPr>
        <p:txBody>
          <a:bodyPr wrap="square" lIns="0" tIns="0" rIns="0" bIns="0" rtlCol="0" anchor="ctr"/>
          <a:lstStyle/>
          <a:p>
            <a:pPr marL="0" indent="0">
              <a:buNone/>
            </a:pPr>
            <a:r>
              <a:rPr lang="en-US" sz="2800" b="1" dirty="0">
                <a:solidFill>
                  <a:schemeClr val="accent6">
                    <a:lumMod val="50000"/>
                  </a:schemeClr>
                </a:solidFill>
                <a:latin typeface="Open Sans" pitchFamily="34" charset="0"/>
                <a:ea typeface="Open Sans" pitchFamily="34" charset="-122"/>
                <a:cs typeface="Open Sans" pitchFamily="34" charset="-120"/>
              </a:rPr>
              <a:t>Quick Reference Cheat Sheet</a:t>
            </a:r>
            <a:endParaRPr lang="en-US" sz="2800" dirty="0">
              <a:solidFill>
                <a:schemeClr val="accent6">
                  <a:lumMod val="50000"/>
                </a:schemeClr>
              </a:solidFill>
            </a:endParaRPr>
          </a:p>
        </p:txBody>
      </p:sp>
      <p:sp>
        <p:nvSpPr>
          <p:cNvPr id="4" name="Text 2"/>
          <p:cNvSpPr/>
          <p:nvPr/>
        </p:nvSpPr>
        <p:spPr>
          <a:xfrm>
            <a:off x="731520" y="868680"/>
            <a:ext cx="3657600" cy="320040"/>
          </a:xfrm>
          <a:prstGeom prst="rect">
            <a:avLst/>
          </a:prstGeom>
          <a:noFill/>
          <a:ln/>
        </p:spPr>
        <p:txBody>
          <a:bodyPr wrap="square" lIns="0" tIns="0" rIns="0" bIns="0" rtlCol="0" anchor="ctr"/>
          <a:lstStyle/>
          <a:p>
            <a:pPr marL="0" indent="0">
              <a:buNone/>
            </a:pPr>
            <a:r>
              <a:rPr lang="en-US" sz="1400" b="1" dirty="0">
                <a:solidFill>
                  <a:srgbClr val="B8975C"/>
                </a:solidFill>
                <a:latin typeface="Open Sans" pitchFamily="34" charset="0"/>
                <a:ea typeface="Open Sans" pitchFamily="34" charset="-122"/>
                <a:cs typeface="Open Sans" pitchFamily="34" charset="-120"/>
              </a:rPr>
              <a:t>Git Commands</a:t>
            </a:r>
            <a:endParaRPr lang="en-US" sz="1400" dirty="0"/>
          </a:p>
        </p:txBody>
      </p:sp>
      <p:sp>
        <p:nvSpPr>
          <p:cNvPr id="5" name="Text 3"/>
          <p:cNvSpPr/>
          <p:nvPr/>
        </p:nvSpPr>
        <p:spPr>
          <a:xfrm>
            <a:off x="731520" y="1280160"/>
            <a:ext cx="3200400" cy="228600"/>
          </a:xfrm>
          <a:prstGeom prst="rect">
            <a:avLst/>
          </a:prstGeom>
          <a:noFill/>
          <a:ln/>
        </p:spPr>
        <p:txBody>
          <a:bodyPr wrap="square" lIns="0" tIns="0" rIns="0" bIns="0" rtlCol="0" anchor="ctr"/>
          <a:lstStyle/>
          <a:p>
            <a:pPr marL="0" indent="0">
              <a:buNone/>
            </a:pPr>
            <a:r>
              <a:rPr lang="en-US" sz="1100" dirty="0">
                <a:solidFill>
                  <a:srgbClr val="B8975C"/>
                </a:solidFill>
                <a:latin typeface="Consolas" pitchFamily="34" charset="0"/>
                <a:ea typeface="Consolas" pitchFamily="34" charset="-122"/>
                <a:cs typeface="Consolas" pitchFamily="34" charset="-120"/>
              </a:rPr>
              <a:t>git clone &lt;url&gt;</a:t>
            </a:r>
            <a:endParaRPr lang="en-US" sz="1100" dirty="0"/>
          </a:p>
        </p:txBody>
      </p:sp>
      <p:sp>
        <p:nvSpPr>
          <p:cNvPr id="6" name="Text 4"/>
          <p:cNvSpPr/>
          <p:nvPr/>
        </p:nvSpPr>
        <p:spPr>
          <a:xfrm>
            <a:off x="731520" y="1481328"/>
            <a:ext cx="3200400" cy="201168"/>
          </a:xfrm>
          <a:prstGeom prst="rect">
            <a:avLst/>
          </a:prstGeom>
          <a:noFill/>
          <a:ln/>
        </p:spPr>
        <p:txBody>
          <a:bodyPr wrap="square" lIns="0" tIns="0" rIns="0" bIns="0" rtlCol="0" anchor="ctr"/>
          <a:lstStyle/>
          <a:p>
            <a:pPr marL="0" indent="0">
              <a:buNone/>
            </a:pPr>
            <a:r>
              <a:rPr lang="en-US" sz="900" dirty="0">
                <a:solidFill>
                  <a:srgbClr val="8A9BAD"/>
                </a:solidFill>
                <a:latin typeface="Open Sans" pitchFamily="34" charset="0"/>
                <a:ea typeface="Open Sans" pitchFamily="34" charset="-122"/>
                <a:cs typeface="Open Sans" pitchFamily="34" charset="-120"/>
              </a:rPr>
              <a:t>Download repository for the first time</a:t>
            </a:r>
            <a:endParaRPr lang="en-US" sz="900" dirty="0"/>
          </a:p>
        </p:txBody>
      </p:sp>
      <p:sp>
        <p:nvSpPr>
          <p:cNvPr id="7" name="Text 5"/>
          <p:cNvSpPr/>
          <p:nvPr/>
        </p:nvSpPr>
        <p:spPr>
          <a:xfrm>
            <a:off x="731520" y="1719072"/>
            <a:ext cx="3200400" cy="228600"/>
          </a:xfrm>
          <a:prstGeom prst="rect">
            <a:avLst/>
          </a:prstGeom>
          <a:noFill/>
          <a:ln/>
        </p:spPr>
        <p:txBody>
          <a:bodyPr wrap="square" lIns="0" tIns="0" rIns="0" bIns="0" rtlCol="0" anchor="ctr"/>
          <a:lstStyle/>
          <a:p>
            <a:pPr marL="0" indent="0">
              <a:buNone/>
            </a:pPr>
            <a:r>
              <a:rPr lang="en-US" sz="1100" dirty="0">
                <a:solidFill>
                  <a:srgbClr val="B8975C"/>
                </a:solidFill>
                <a:latin typeface="Consolas" pitchFamily="34" charset="0"/>
                <a:ea typeface="Consolas" pitchFamily="34" charset="-122"/>
                <a:cs typeface="Consolas" pitchFamily="34" charset="-120"/>
              </a:rPr>
              <a:t>git status</a:t>
            </a:r>
            <a:endParaRPr lang="en-US" sz="1100" dirty="0"/>
          </a:p>
        </p:txBody>
      </p:sp>
      <p:sp>
        <p:nvSpPr>
          <p:cNvPr id="8" name="Text 6"/>
          <p:cNvSpPr/>
          <p:nvPr/>
        </p:nvSpPr>
        <p:spPr>
          <a:xfrm>
            <a:off x="731520" y="1920240"/>
            <a:ext cx="3200400" cy="201168"/>
          </a:xfrm>
          <a:prstGeom prst="rect">
            <a:avLst/>
          </a:prstGeom>
          <a:noFill/>
          <a:ln/>
        </p:spPr>
        <p:txBody>
          <a:bodyPr wrap="square" lIns="0" tIns="0" rIns="0" bIns="0" rtlCol="0" anchor="ctr"/>
          <a:lstStyle/>
          <a:p>
            <a:pPr marL="0" indent="0">
              <a:buNone/>
            </a:pPr>
            <a:r>
              <a:rPr lang="en-US" sz="900" dirty="0">
                <a:solidFill>
                  <a:srgbClr val="8A9BAD"/>
                </a:solidFill>
                <a:latin typeface="Open Sans" pitchFamily="34" charset="0"/>
                <a:ea typeface="Open Sans" pitchFamily="34" charset="-122"/>
                <a:cs typeface="Open Sans" pitchFamily="34" charset="-120"/>
              </a:rPr>
              <a:t>See what files have changed</a:t>
            </a:r>
            <a:endParaRPr lang="en-US" sz="900" dirty="0"/>
          </a:p>
        </p:txBody>
      </p:sp>
      <p:sp>
        <p:nvSpPr>
          <p:cNvPr id="9" name="Text 7"/>
          <p:cNvSpPr/>
          <p:nvPr/>
        </p:nvSpPr>
        <p:spPr>
          <a:xfrm>
            <a:off x="731520" y="2157984"/>
            <a:ext cx="3200400" cy="228600"/>
          </a:xfrm>
          <a:prstGeom prst="rect">
            <a:avLst/>
          </a:prstGeom>
          <a:noFill/>
          <a:ln/>
        </p:spPr>
        <p:txBody>
          <a:bodyPr wrap="square" lIns="0" tIns="0" rIns="0" bIns="0" rtlCol="0" anchor="ctr"/>
          <a:lstStyle/>
          <a:p>
            <a:pPr marL="0" indent="0">
              <a:buNone/>
            </a:pPr>
            <a:r>
              <a:rPr lang="en-US" sz="1100" dirty="0">
                <a:solidFill>
                  <a:srgbClr val="B8975C"/>
                </a:solidFill>
                <a:latin typeface="Consolas" pitchFamily="34" charset="0"/>
                <a:ea typeface="Consolas" pitchFamily="34" charset="-122"/>
                <a:cs typeface="Consolas" pitchFamily="34" charset="-120"/>
              </a:rPr>
              <a:t>git add .</a:t>
            </a:r>
            <a:endParaRPr lang="en-US" sz="1100" dirty="0"/>
          </a:p>
        </p:txBody>
      </p:sp>
      <p:sp>
        <p:nvSpPr>
          <p:cNvPr id="10" name="Text 8"/>
          <p:cNvSpPr/>
          <p:nvPr/>
        </p:nvSpPr>
        <p:spPr>
          <a:xfrm>
            <a:off x="731520" y="2359152"/>
            <a:ext cx="3200400" cy="201168"/>
          </a:xfrm>
          <a:prstGeom prst="rect">
            <a:avLst/>
          </a:prstGeom>
          <a:noFill/>
          <a:ln/>
        </p:spPr>
        <p:txBody>
          <a:bodyPr wrap="square" lIns="0" tIns="0" rIns="0" bIns="0" rtlCol="0" anchor="ctr"/>
          <a:lstStyle/>
          <a:p>
            <a:pPr marL="0" indent="0">
              <a:buNone/>
            </a:pPr>
            <a:r>
              <a:rPr lang="en-US" sz="900" dirty="0">
                <a:solidFill>
                  <a:srgbClr val="8A9BAD"/>
                </a:solidFill>
                <a:latin typeface="Open Sans" pitchFamily="34" charset="0"/>
                <a:ea typeface="Open Sans" pitchFamily="34" charset="-122"/>
                <a:cs typeface="Open Sans" pitchFamily="34" charset="-120"/>
              </a:rPr>
              <a:t>Stage all changes for commit</a:t>
            </a:r>
            <a:endParaRPr lang="en-US" sz="900" dirty="0"/>
          </a:p>
        </p:txBody>
      </p:sp>
      <p:sp>
        <p:nvSpPr>
          <p:cNvPr id="11" name="Text 9"/>
          <p:cNvSpPr/>
          <p:nvPr/>
        </p:nvSpPr>
        <p:spPr>
          <a:xfrm>
            <a:off x="731520" y="2596896"/>
            <a:ext cx="3200400" cy="228600"/>
          </a:xfrm>
          <a:prstGeom prst="rect">
            <a:avLst/>
          </a:prstGeom>
          <a:noFill/>
          <a:ln/>
        </p:spPr>
        <p:txBody>
          <a:bodyPr wrap="square" lIns="0" tIns="0" rIns="0" bIns="0" rtlCol="0" anchor="ctr"/>
          <a:lstStyle/>
          <a:p>
            <a:pPr marL="0" indent="0">
              <a:buNone/>
            </a:pPr>
            <a:r>
              <a:rPr lang="en-US" sz="1100" dirty="0">
                <a:solidFill>
                  <a:srgbClr val="B8975C"/>
                </a:solidFill>
                <a:latin typeface="Consolas" pitchFamily="34" charset="0"/>
                <a:ea typeface="Consolas" pitchFamily="34" charset="-122"/>
                <a:cs typeface="Consolas" pitchFamily="34" charset="-120"/>
              </a:rPr>
              <a:t>git commit -m "msg"</a:t>
            </a:r>
            <a:endParaRPr lang="en-US" sz="1100" dirty="0"/>
          </a:p>
        </p:txBody>
      </p:sp>
      <p:sp>
        <p:nvSpPr>
          <p:cNvPr id="12" name="Text 10"/>
          <p:cNvSpPr/>
          <p:nvPr/>
        </p:nvSpPr>
        <p:spPr>
          <a:xfrm>
            <a:off x="731520" y="2798064"/>
            <a:ext cx="3200400" cy="201168"/>
          </a:xfrm>
          <a:prstGeom prst="rect">
            <a:avLst/>
          </a:prstGeom>
          <a:noFill/>
          <a:ln/>
        </p:spPr>
        <p:txBody>
          <a:bodyPr wrap="square" lIns="0" tIns="0" rIns="0" bIns="0" rtlCol="0" anchor="ctr"/>
          <a:lstStyle/>
          <a:p>
            <a:pPr marL="0" indent="0">
              <a:buNone/>
            </a:pPr>
            <a:r>
              <a:rPr lang="en-US" sz="900" dirty="0">
                <a:solidFill>
                  <a:srgbClr val="8A9BAD"/>
                </a:solidFill>
                <a:latin typeface="Open Sans" pitchFamily="34" charset="0"/>
                <a:ea typeface="Open Sans" pitchFamily="34" charset="-122"/>
                <a:cs typeface="Open Sans" pitchFamily="34" charset="-120"/>
              </a:rPr>
              <a:t>Save a snapshot with a message</a:t>
            </a:r>
            <a:endParaRPr lang="en-US" sz="900" dirty="0"/>
          </a:p>
        </p:txBody>
      </p:sp>
      <p:sp>
        <p:nvSpPr>
          <p:cNvPr id="13" name="Text 11"/>
          <p:cNvSpPr/>
          <p:nvPr/>
        </p:nvSpPr>
        <p:spPr>
          <a:xfrm>
            <a:off x="731520" y="3035808"/>
            <a:ext cx="3200400" cy="228600"/>
          </a:xfrm>
          <a:prstGeom prst="rect">
            <a:avLst/>
          </a:prstGeom>
          <a:noFill/>
          <a:ln/>
        </p:spPr>
        <p:txBody>
          <a:bodyPr wrap="square" lIns="0" tIns="0" rIns="0" bIns="0" rtlCol="0" anchor="ctr"/>
          <a:lstStyle/>
          <a:p>
            <a:pPr marL="0" indent="0">
              <a:buNone/>
            </a:pPr>
            <a:r>
              <a:rPr lang="en-US" sz="1100" dirty="0">
                <a:solidFill>
                  <a:srgbClr val="B8975C"/>
                </a:solidFill>
                <a:latin typeface="Consolas" pitchFamily="34" charset="0"/>
                <a:ea typeface="Consolas" pitchFamily="34" charset="-122"/>
                <a:cs typeface="Consolas" pitchFamily="34" charset="-120"/>
              </a:rPr>
              <a:t>git push</a:t>
            </a:r>
            <a:endParaRPr lang="en-US" sz="1100" dirty="0"/>
          </a:p>
        </p:txBody>
      </p:sp>
      <p:sp>
        <p:nvSpPr>
          <p:cNvPr id="14" name="Text 12"/>
          <p:cNvSpPr/>
          <p:nvPr/>
        </p:nvSpPr>
        <p:spPr>
          <a:xfrm>
            <a:off x="731520" y="3236976"/>
            <a:ext cx="3200400" cy="201168"/>
          </a:xfrm>
          <a:prstGeom prst="rect">
            <a:avLst/>
          </a:prstGeom>
          <a:noFill/>
          <a:ln/>
        </p:spPr>
        <p:txBody>
          <a:bodyPr wrap="square" lIns="0" tIns="0" rIns="0" bIns="0" rtlCol="0" anchor="ctr"/>
          <a:lstStyle/>
          <a:p>
            <a:pPr marL="0" indent="0">
              <a:buNone/>
            </a:pPr>
            <a:r>
              <a:rPr lang="en-US" sz="900" dirty="0">
                <a:solidFill>
                  <a:srgbClr val="8A9BAD"/>
                </a:solidFill>
                <a:latin typeface="Open Sans" pitchFamily="34" charset="0"/>
                <a:ea typeface="Open Sans" pitchFamily="34" charset="-122"/>
                <a:cs typeface="Open Sans" pitchFamily="34" charset="-120"/>
              </a:rPr>
              <a:t>Upload commits to GitHub</a:t>
            </a:r>
            <a:endParaRPr lang="en-US" sz="900" dirty="0"/>
          </a:p>
        </p:txBody>
      </p:sp>
      <p:sp>
        <p:nvSpPr>
          <p:cNvPr id="15" name="Text 13"/>
          <p:cNvSpPr/>
          <p:nvPr/>
        </p:nvSpPr>
        <p:spPr>
          <a:xfrm>
            <a:off x="731520" y="3474720"/>
            <a:ext cx="3200400" cy="228600"/>
          </a:xfrm>
          <a:prstGeom prst="rect">
            <a:avLst/>
          </a:prstGeom>
          <a:noFill/>
          <a:ln/>
        </p:spPr>
        <p:txBody>
          <a:bodyPr wrap="square" lIns="0" tIns="0" rIns="0" bIns="0" rtlCol="0" anchor="ctr"/>
          <a:lstStyle/>
          <a:p>
            <a:pPr marL="0" indent="0">
              <a:buNone/>
            </a:pPr>
            <a:r>
              <a:rPr lang="en-US" sz="1100" dirty="0">
                <a:solidFill>
                  <a:srgbClr val="B8975C"/>
                </a:solidFill>
                <a:latin typeface="Consolas" pitchFamily="34" charset="0"/>
                <a:ea typeface="Consolas" pitchFamily="34" charset="-122"/>
                <a:cs typeface="Consolas" pitchFamily="34" charset="-120"/>
              </a:rPr>
              <a:t>git pull</a:t>
            </a:r>
            <a:endParaRPr lang="en-US" sz="1100" dirty="0"/>
          </a:p>
        </p:txBody>
      </p:sp>
      <p:sp>
        <p:nvSpPr>
          <p:cNvPr id="16" name="Text 14"/>
          <p:cNvSpPr/>
          <p:nvPr/>
        </p:nvSpPr>
        <p:spPr>
          <a:xfrm>
            <a:off x="731520" y="3675888"/>
            <a:ext cx="3200400" cy="201168"/>
          </a:xfrm>
          <a:prstGeom prst="rect">
            <a:avLst/>
          </a:prstGeom>
          <a:noFill/>
          <a:ln/>
        </p:spPr>
        <p:txBody>
          <a:bodyPr wrap="square" lIns="0" tIns="0" rIns="0" bIns="0" rtlCol="0" anchor="ctr"/>
          <a:lstStyle/>
          <a:p>
            <a:pPr marL="0" indent="0">
              <a:buNone/>
            </a:pPr>
            <a:r>
              <a:rPr lang="en-US" sz="900" dirty="0">
                <a:solidFill>
                  <a:srgbClr val="8A9BAD"/>
                </a:solidFill>
                <a:latin typeface="Open Sans" pitchFamily="34" charset="0"/>
                <a:ea typeface="Open Sans" pitchFamily="34" charset="-122"/>
                <a:cs typeface="Open Sans" pitchFamily="34" charset="-120"/>
              </a:rPr>
              <a:t>Download latest changes from GitHub</a:t>
            </a:r>
            <a:endParaRPr lang="en-US" sz="900" dirty="0"/>
          </a:p>
        </p:txBody>
      </p:sp>
      <p:sp>
        <p:nvSpPr>
          <p:cNvPr id="17" name="Text 15"/>
          <p:cNvSpPr/>
          <p:nvPr/>
        </p:nvSpPr>
        <p:spPr>
          <a:xfrm>
            <a:off x="731520" y="3913632"/>
            <a:ext cx="3200400" cy="228600"/>
          </a:xfrm>
          <a:prstGeom prst="rect">
            <a:avLst/>
          </a:prstGeom>
          <a:noFill/>
          <a:ln/>
        </p:spPr>
        <p:txBody>
          <a:bodyPr wrap="square" lIns="0" tIns="0" rIns="0" bIns="0" rtlCol="0" anchor="ctr"/>
          <a:lstStyle/>
          <a:p>
            <a:pPr marL="0" indent="0">
              <a:buNone/>
            </a:pPr>
            <a:r>
              <a:rPr lang="en-US" sz="1100" dirty="0">
                <a:solidFill>
                  <a:srgbClr val="B8975C"/>
                </a:solidFill>
                <a:latin typeface="Consolas" pitchFamily="34" charset="0"/>
                <a:ea typeface="Consolas" pitchFamily="34" charset="-122"/>
                <a:cs typeface="Consolas" pitchFamily="34" charset="-120"/>
              </a:rPr>
              <a:t>git log --oneline</a:t>
            </a:r>
            <a:endParaRPr lang="en-US" sz="1100" dirty="0"/>
          </a:p>
        </p:txBody>
      </p:sp>
      <p:sp>
        <p:nvSpPr>
          <p:cNvPr id="18" name="Text 16"/>
          <p:cNvSpPr/>
          <p:nvPr/>
        </p:nvSpPr>
        <p:spPr>
          <a:xfrm>
            <a:off x="731520" y="4114800"/>
            <a:ext cx="3200400" cy="201168"/>
          </a:xfrm>
          <a:prstGeom prst="rect">
            <a:avLst/>
          </a:prstGeom>
          <a:noFill/>
          <a:ln/>
        </p:spPr>
        <p:txBody>
          <a:bodyPr wrap="square" lIns="0" tIns="0" rIns="0" bIns="0" rtlCol="0" anchor="ctr"/>
          <a:lstStyle/>
          <a:p>
            <a:pPr marL="0" indent="0">
              <a:buNone/>
            </a:pPr>
            <a:r>
              <a:rPr lang="en-US" sz="900" dirty="0">
                <a:solidFill>
                  <a:srgbClr val="8A9BAD"/>
                </a:solidFill>
                <a:latin typeface="Open Sans" pitchFamily="34" charset="0"/>
                <a:ea typeface="Open Sans" pitchFamily="34" charset="-122"/>
                <a:cs typeface="Open Sans" pitchFamily="34" charset="-120"/>
              </a:rPr>
              <a:t>View commit history</a:t>
            </a:r>
            <a:endParaRPr lang="en-US" sz="900" dirty="0"/>
          </a:p>
        </p:txBody>
      </p:sp>
      <p:sp>
        <p:nvSpPr>
          <p:cNvPr id="19" name="Shape 17"/>
          <p:cNvSpPr/>
          <p:nvPr/>
        </p:nvSpPr>
        <p:spPr>
          <a:xfrm>
            <a:off x="4389120" y="868680"/>
            <a:ext cx="18288" cy="3474720"/>
          </a:xfrm>
          <a:prstGeom prst="rect">
            <a:avLst/>
          </a:prstGeom>
          <a:solidFill>
            <a:srgbClr val="5A6B7A"/>
          </a:solidFill>
          <a:ln/>
        </p:spPr>
        <p:txBody>
          <a:bodyPr/>
          <a:lstStyle/>
          <a:p>
            <a:endParaRPr lang="en-US"/>
          </a:p>
        </p:txBody>
      </p:sp>
      <p:sp>
        <p:nvSpPr>
          <p:cNvPr id="20" name="Text 18"/>
          <p:cNvSpPr/>
          <p:nvPr/>
        </p:nvSpPr>
        <p:spPr>
          <a:xfrm>
            <a:off x="4754880" y="868680"/>
            <a:ext cx="3657600" cy="320040"/>
          </a:xfrm>
          <a:prstGeom prst="rect">
            <a:avLst/>
          </a:prstGeom>
          <a:noFill/>
          <a:ln/>
        </p:spPr>
        <p:txBody>
          <a:bodyPr wrap="square" lIns="0" tIns="0" rIns="0" bIns="0" rtlCol="0" anchor="ctr"/>
          <a:lstStyle/>
          <a:p>
            <a:pPr marL="0" indent="0">
              <a:buNone/>
            </a:pPr>
            <a:r>
              <a:rPr lang="en-US" sz="1400" b="1" dirty="0">
                <a:solidFill>
                  <a:srgbClr val="B8975C"/>
                </a:solidFill>
                <a:latin typeface="Open Sans" pitchFamily="34" charset="0"/>
                <a:ea typeface="Open Sans" pitchFamily="34" charset="-122"/>
                <a:cs typeface="Open Sans" pitchFamily="34" charset="-120"/>
              </a:rPr>
              <a:t>Useful Links</a:t>
            </a:r>
            <a:endParaRPr lang="en-US" sz="1400" dirty="0"/>
          </a:p>
        </p:txBody>
      </p:sp>
      <p:sp>
        <p:nvSpPr>
          <p:cNvPr id="21" name="Text 19"/>
          <p:cNvSpPr/>
          <p:nvPr/>
        </p:nvSpPr>
        <p:spPr>
          <a:xfrm>
            <a:off x="4754880" y="1280160"/>
            <a:ext cx="3657600" cy="228600"/>
          </a:xfrm>
          <a:prstGeom prst="rect">
            <a:avLst/>
          </a:prstGeom>
          <a:noFill/>
          <a:ln/>
        </p:spPr>
        <p:txBody>
          <a:bodyPr wrap="square" lIns="0" tIns="0" rIns="0" bIns="0" rtlCol="0" anchor="ctr"/>
          <a:lstStyle/>
          <a:p>
            <a:pPr marL="0" indent="0">
              <a:buNone/>
            </a:pPr>
            <a:r>
              <a:rPr lang="en-US" sz="1100" b="1" dirty="0">
                <a:solidFill>
                  <a:srgbClr val="6B8FA3"/>
                </a:solidFill>
                <a:latin typeface="Open Sans" pitchFamily="34" charset="0"/>
                <a:ea typeface="Open Sans" pitchFamily="34" charset="-122"/>
                <a:cs typeface="Open Sans" pitchFamily="34" charset="-120"/>
              </a:rPr>
              <a:t>github.com</a:t>
            </a:r>
            <a:endParaRPr lang="en-US" sz="1100" dirty="0"/>
          </a:p>
        </p:txBody>
      </p:sp>
      <p:sp>
        <p:nvSpPr>
          <p:cNvPr id="22" name="Text 20"/>
          <p:cNvSpPr/>
          <p:nvPr/>
        </p:nvSpPr>
        <p:spPr>
          <a:xfrm>
            <a:off x="4754880" y="1481328"/>
            <a:ext cx="3657600" cy="201168"/>
          </a:xfrm>
          <a:prstGeom prst="rect">
            <a:avLst/>
          </a:prstGeom>
          <a:noFill/>
          <a:ln/>
        </p:spPr>
        <p:txBody>
          <a:bodyPr wrap="square" lIns="0" tIns="0" rIns="0" bIns="0" rtlCol="0" anchor="ctr"/>
          <a:lstStyle/>
          <a:p>
            <a:pPr marL="0" indent="0">
              <a:buNone/>
            </a:pPr>
            <a:r>
              <a:rPr lang="en-US" sz="900" dirty="0">
                <a:solidFill>
                  <a:srgbClr val="8A9BAD"/>
                </a:solidFill>
                <a:latin typeface="Open Sans" pitchFamily="34" charset="0"/>
                <a:ea typeface="Open Sans" pitchFamily="34" charset="-122"/>
                <a:cs typeface="Open Sans" pitchFamily="34" charset="-120"/>
              </a:rPr>
              <a:t>Create account &amp; view repositories</a:t>
            </a:r>
            <a:endParaRPr lang="en-US" sz="900" dirty="0"/>
          </a:p>
        </p:txBody>
      </p:sp>
      <p:sp>
        <p:nvSpPr>
          <p:cNvPr id="23" name="Text 21"/>
          <p:cNvSpPr/>
          <p:nvPr/>
        </p:nvSpPr>
        <p:spPr>
          <a:xfrm>
            <a:off x="4754880" y="1719072"/>
            <a:ext cx="3657600" cy="228600"/>
          </a:xfrm>
          <a:prstGeom prst="rect">
            <a:avLst/>
          </a:prstGeom>
          <a:noFill/>
          <a:ln/>
        </p:spPr>
        <p:txBody>
          <a:bodyPr wrap="square" lIns="0" tIns="0" rIns="0" bIns="0" rtlCol="0" anchor="ctr"/>
          <a:lstStyle/>
          <a:p>
            <a:pPr marL="0" indent="0">
              <a:buNone/>
            </a:pPr>
            <a:r>
              <a:rPr lang="en-US" sz="1100" b="1" dirty="0">
                <a:solidFill>
                  <a:srgbClr val="6B8FA3"/>
                </a:solidFill>
                <a:latin typeface="Open Sans" pitchFamily="34" charset="0"/>
                <a:ea typeface="Open Sans" pitchFamily="34" charset="-122"/>
                <a:cs typeface="Open Sans" pitchFamily="34" charset="-120"/>
              </a:rPr>
              <a:t>desktop.github.com</a:t>
            </a:r>
            <a:endParaRPr lang="en-US" sz="1100" dirty="0"/>
          </a:p>
        </p:txBody>
      </p:sp>
      <p:sp>
        <p:nvSpPr>
          <p:cNvPr id="24" name="Text 22"/>
          <p:cNvSpPr/>
          <p:nvPr/>
        </p:nvSpPr>
        <p:spPr>
          <a:xfrm>
            <a:off x="4754880" y="1920240"/>
            <a:ext cx="3657600" cy="201168"/>
          </a:xfrm>
          <a:prstGeom prst="rect">
            <a:avLst/>
          </a:prstGeom>
          <a:noFill/>
          <a:ln/>
        </p:spPr>
        <p:txBody>
          <a:bodyPr wrap="square" lIns="0" tIns="0" rIns="0" bIns="0" rtlCol="0" anchor="ctr"/>
          <a:lstStyle/>
          <a:p>
            <a:pPr marL="0" indent="0">
              <a:buNone/>
            </a:pPr>
            <a:r>
              <a:rPr lang="en-US" sz="900" dirty="0">
                <a:solidFill>
                  <a:srgbClr val="8A9BAD"/>
                </a:solidFill>
                <a:latin typeface="Open Sans" pitchFamily="34" charset="0"/>
                <a:ea typeface="Open Sans" pitchFamily="34" charset="-122"/>
                <a:cs typeface="Open Sans" pitchFamily="34" charset="-120"/>
              </a:rPr>
              <a:t>GitHub Desktop (visual Git client)</a:t>
            </a:r>
            <a:endParaRPr lang="en-US" sz="900" dirty="0"/>
          </a:p>
        </p:txBody>
      </p:sp>
      <p:sp>
        <p:nvSpPr>
          <p:cNvPr id="25" name="Text 23"/>
          <p:cNvSpPr/>
          <p:nvPr/>
        </p:nvSpPr>
        <p:spPr>
          <a:xfrm>
            <a:off x="4754880" y="2157984"/>
            <a:ext cx="3657600" cy="228600"/>
          </a:xfrm>
          <a:prstGeom prst="rect">
            <a:avLst/>
          </a:prstGeom>
          <a:noFill/>
          <a:ln/>
        </p:spPr>
        <p:txBody>
          <a:bodyPr wrap="square" lIns="0" tIns="0" rIns="0" bIns="0" rtlCol="0" anchor="ctr"/>
          <a:lstStyle/>
          <a:p>
            <a:pPr marL="0" indent="0">
              <a:buNone/>
            </a:pPr>
            <a:r>
              <a:rPr lang="en-US" sz="1100" b="1" dirty="0">
                <a:solidFill>
                  <a:srgbClr val="6B8FA3"/>
                </a:solidFill>
                <a:latin typeface="Open Sans" pitchFamily="34" charset="0"/>
                <a:ea typeface="Open Sans" pitchFamily="34" charset="-122"/>
                <a:cs typeface="Open Sans" pitchFamily="34" charset="-120"/>
              </a:rPr>
              <a:t>chatgpt.com</a:t>
            </a:r>
            <a:endParaRPr lang="en-US" sz="1100" dirty="0"/>
          </a:p>
        </p:txBody>
      </p:sp>
      <p:sp>
        <p:nvSpPr>
          <p:cNvPr id="26" name="Text 24"/>
          <p:cNvSpPr/>
          <p:nvPr/>
        </p:nvSpPr>
        <p:spPr>
          <a:xfrm>
            <a:off x="4754880" y="2359152"/>
            <a:ext cx="3657600" cy="201168"/>
          </a:xfrm>
          <a:prstGeom prst="rect">
            <a:avLst/>
          </a:prstGeom>
          <a:noFill/>
          <a:ln/>
        </p:spPr>
        <p:txBody>
          <a:bodyPr wrap="square" lIns="0" tIns="0" rIns="0" bIns="0" rtlCol="0" anchor="ctr"/>
          <a:lstStyle/>
          <a:p>
            <a:pPr marL="0" indent="0">
              <a:buNone/>
            </a:pPr>
            <a:r>
              <a:rPr lang="en-US" sz="900" dirty="0">
                <a:solidFill>
                  <a:srgbClr val="8A9BAD"/>
                </a:solidFill>
                <a:latin typeface="Open Sans" pitchFamily="34" charset="0"/>
                <a:ea typeface="Open Sans" pitchFamily="34" charset="-122"/>
                <a:cs typeface="Open Sans" pitchFamily="34" charset="-120"/>
              </a:rPr>
              <a:t>ChatGPT (OpenAI)</a:t>
            </a:r>
            <a:endParaRPr lang="en-US" sz="900" dirty="0"/>
          </a:p>
        </p:txBody>
      </p:sp>
      <p:sp>
        <p:nvSpPr>
          <p:cNvPr id="27" name="Text 25"/>
          <p:cNvSpPr/>
          <p:nvPr/>
        </p:nvSpPr>
        <p:spPr>
          <a:xfrm>
            <a:off x="4754880" y="2596896"/>
            <a:ext cx="3657600" cy="228600"/>
          </a:xfrm>
          <a:prstGeom prst="rect">
            <a:avLst/>
          </a:prstGeom>
          <a:noFill/>
          <a:ln/>
        </p:spPr>
        <p:txBody>
          <a:bodyPr wrap="square" lIns="0" tIns="0" rIns="0" bIns="0" rtlCol="0" anchor="ctr"/>
          <a:lstStyle/>
          <a:p>
            <a:pPr marL="0" indent="0">
              <a:buNone/>
            </a:pPr>
            <a:r>
              <a:rPr lang="en-US" sz="1100" b="1" dirty="0">
                <a:solidFill>
                  <a:srgbClr val="6B8FA3"/>
                </a:solidFill>
                <a:latin typeface="Open Sans" pitchFamily="34" charset="0"/>
                <a:ea typeface="Open Sans" pitchFamily="34" charset="-122"/>
                <a:cs typeface="Open Sans" pitchFamily="34" charset="-120"/>
              </a:rPr>
              <a:t>claude.ai</a:t>
            </a:r>
            <a:endParaRPr lang="en-US" sz="1100" dirty="0"/>
          </a:p>
        </p:txBody>
      </p:sp>
      <p:sp>
        <p:nvSpPr>
          <p:cNvPr id="28" name="Text 26"/>
          <p:cNvSpPr/>
          <p:nvPr/>
        </p:nvSpPr>
        <p:spPr>
          <a:xfrm>
            <a:off x="4754880" y="2798064"/>
            <a:ext cx="3657600" cy="201168"/>
          </a:xfrm>
          <a:prstGeom prst="rect">
            <a:avLst/>
          </a:prstGeom>
          <a:noFill/>
          <a:ln/>
        </p:spPr>
        <p:txBody>
          <a:bodyPr wrap="square" lIns="0" tIns="0" rIns="0" bIns="0" rtlCol="0" anchor="ctr"/>
          <a:lstStyle/>
          <a:p>
            <a:pPr marL="0" indent="0">
              <a:buNone/>
            </a:pPr>
            <a:r>
              <a:rPr lang="en-US" sz="900" dirty="0">
                <a:solidFill>
                  <a:srgbClr val="8A9BAD"/>
                </a:solidFill>
                <a:latin typeface="Open Sans" pitchFamily="34" charset="0"/>
                <a:ea typeface="Open Sans" pitchFamily="34" charset="-122"/>
                <a:cs typeface="Open Sans" pitchFamily="34" charset="-120"/>
              </a:rPr>
              <a:t>Claude (Anthropic)</a:t>
            </a:r>
            <a:endParaRPr lang="en-US" sz="900" dirty="0"/>
          </a:p>
        </p:txBody>
      </p:sp>
      <p:sp>
        <p:nvSpPr>
          <p:cNvPr id="29" name="Text 27"/>
          <p:cNvSpPr/>
          <p:nvPr/>
        </p:nvSpPr>
        <p:spPr>
          <a:xfrm>
            <a:off x="4754880" y="3035808"/>
            <a:ext cx="3657600" cy="228600"/>
          </a:xfrm>
          <a:prstGeom prst="rect">
            <a:avLst/>
          </a:prstGeom>
          <a:noFill/>
          <a:ln/>
        </p:spPr>
        <p:txBody>
          <a:bodyPr wrap="square" lIns="0" tIns="0" rIns="0" bIns="0" rtlCol="0" anchor="ctr"/>
          <a:lstStyle/>
          <a:p>
            <a:pPr marL="0" indent="0">
              <a:buNone/>
            </a:pPr>
            <a:r>
              <a:rPr lang="en-US" sz="1100" b="1" dirty="0">
                <a:solidFill>
                  <a:srgbClr val="6B8FA3"/>
                </a:solidFill>
                <a:latin typeface="Open Sans" pitchFamily="34" charset="0"/>
                <a:ea typeface="Open Sans" pitchFamily="34" charset="-122"/>
                <a:cs typeface="Open Sans" pitchFamily="34" charset="-120"/>
              </a:rPr>
              <a:t>education.github.com</a:t>
            </a:r>
            <a:endParaRPr lang="en-US" sz="1100" dirty="0"/>
          </a:p>
        </p:txBody>
      </p:sp>
      <p:sp>
        <p:nvSpPr>
          <p:cNvPr id="30" name="Text 28"/>
          <p:cNvSpPr/>
          <p:nvPr/>
        </p:nvSpPr>
        <p:spPr>
          <a:xfrm>
            <a:off x="4754880" y="3236976"/>
            <a:ext cx="3657600" cy="201168"/>
          </a:xfrm>
          <a:prstGeom prst="rect">
            <a:avLst/>
          </a:prstGeom>
          <a:noFill/>
          <a:ln/>
        </p:spPr>
        <p:txBody>
          <a:bodyPr wrap="square" lIns="0" tIns="0" rIns="0" bIns="0" rtlCol="0" anchor="ctr"/>
          <a:lstStyle/>
          <a:p>
            <a:pPr marL="0" indent="0">
              <a:buNone/>
            </a:pPr>
            <a:r>
              <a:rPr lang="en-US" sz="900" dirty="0">
                <a:solidFill>
                  <a:srgbClr val="8A9BAD"/>
                </a:solidFill>
                <a:latin typeface="Open Sans" pitchFamily="34" charset="0"/>
                <a:ea typeface="Open Sans" pitchFamily="34" charset="-122"/>
                <a:cs typeface="Open Sans" pitchFamily="34" charset="-120"/>
              </a:rPr>
              <a:t>Student Developer Pack (free Pro)</a:t>
            </a:r>
            <a:endParaRPr lang="en-US" sz="900" dirty="0"/>
          </a:p>
        </p:txBody>
      </p:sp>
      <p:sp>
        <p:nvSpPr>
          <p:cNvPr id="31" name="Text 29"/>
          <p:cNvSpPr/>
          <p:nvPr/>
        </p:nvSpPr>
        <p:spPr>
          <a:xfrm>
            <a:off x="4754880" y="3474720"/>
            <a:ext cx="3657600" cy="228600"/>
          </a:xfrm>
          <a:prstGeom prst="rect">
            <a:avLst/>
          </a:prstGeom>
          <a:noFill/>
          <a:ln/>
        </p:spPr>
        <p:txBody>
          <a:bodyPr wrap="square" lIns="0" tIns="0" rIns="0" bIns="0" rtlCol="0" anchor="ctr"/>
          <a:lstStyle/>
          <a:p>
            <a:pPr marL="0" indent="0">
              <a:buNone/>
            </a:pPr>
            <a:r>
              <a:rPr lang="en-US" sz="1100" b="1" dirty="0">
                <a:solidFill>
                  <a:srgbClr val="6B8FA3"/>
                </a:solidFill>
                <a:latin typeface="Open Sans" pitchFamily="34" charset="0"/>
                <a:ea typeface="Open Sans" pitchFamily="34" charset="-122"/>
                <a:cs typeface="Open Sans" pitchFamily="34" charset="-120"/>
              </a:rPr>
              <a:t>code.visualstudio.com</a:t>
            </a:r>
            <a:endParaRPr lang="en-US" sz="1100" dirty="0"/>
          </a:p>
        </p:txBody>
      </p:sp>
      <p:sp>
        <p:nvSpPr>
          <p:cNvPr id="32" name="Text 30"/>
          <p:cNvSpPr/>
          <p:nvPr/>
        </p:nvSpPr>
        <p:spPr>
          <a:xfrm>
            <a:off x="4754880" y="3675888"/>
            <a:ext cx="3657600" cy="201168"/>
          </a:xfrm>
          <a:prstGeom prst="rect">
            <a:avLst/>
          </a:prstGeom>
          <a:noFill/>
          <a:ln/>
        </p:spPr>
        <p:txBody>
          <a:bodyPr wrap="square" lIns="0" tIns="0" rIns="0" bIns="0" rtlCol="0" anchor="ctr"/>
          <a:lstStyle/>
          <a:p>
            <a:pPr marL="0" indent="0">
              <a:buNone/>
            </a:pPr>
            <a:r>
              <a:rPr lang="en-US" sz="900" dirty="0">
                <a:solidFill>
                  <a:srgbClr val="8A9BAD"/>
                </a:solidFill>
                <a:latin typeface="Open Sans" pitchFamily="34" charset="0"/>
                <a:ea typeface="Open Sans" pitchFamily="34" charset="-122"/>
                <a:cs typeface="Open Sans" pitchFamily="34" charset="-120"/>
              </a:rPr>
              <a:t>VS Code (free text editor)</a:t>
            </a:r>
            <a:endParaRPr lang="en-US" sz="900" dirty="0"/>
          </a:p>
        </p:txBody>
      </p:sp>
      <p:sp>
        <p:nvSpPr>
          <p:cNvPr id="33" name="Text 31"/>
          <p:cNvSpPr/>
          <p:nvPr/>
        </p:nvSpPr>
        <p:spPr>
          <a:xfrm>
            <a:off x="4754880" y="3913632"/>
            <a:ext cx="3657600" cy="228600"/>
          </a:xfrm>
          <a:prstGeom prst="rect">
            <a:avLst/>
          </a:prstGeom>
          <a:noFill/>
          <a:ln/>
        </p:spPr>
        <p:txBody>
          <a:bodyPr wrap="square" lIns="0" tIns="0" rIns="0" bIns="0" rtlCol="0" anchor="ctr"/>
          <a:lstStyle/>
          <a:p>
            <a:pPr marL="0" indent="0">
              <a:buNone/>
            </a:pPr>
            <a:r>
              <a:rPr lang="en-US" sz="1100" b="1" dirty="0">
                <a:solidFill>
                  <a:srgbClr val="6B8FA3"/>
                </a:solidFill>
                <a:latin typeface="Open Sans" pitchFamily="34" charset="0"/>
                <a:ea typeface="Open Sans" pitchFamily="34" charset="-122"/>
                <a:cs typeface="Open Sans" pitchFamily="34" charset="-120"/>
              </a:rPr>
              <a:t>git-scm.com</a:t>
            </a:r>
            <a:endParaRPr lang="en-US" sz="1100" dirty="0"/>
          </a:p>
        </p:txBody>
      </p:sp>
      <p:sp>
        <p:nvSpPr>
          <p:cNvPr id="34" name="Text 32"/>
          <p:cNvSpPr/>
          <p:nvPr/>
        </p:nvSpPr>
        <p:spPr>
          <a:xfrm>
            <a:off x="4754880" y="4114800"/>
            <a:ext cx="3657600" cy="201168"/>
          </a:xfrm>
          <a:prstGeom prst="rect">
            <a:avLst/>
          </a:prstGeom>
          <a:noFill/>
          <a:ln/>
        </p:spPr>
        <p:txBody>
          <a:bodyPr wrap="square" lIns="0" tIns="0" rIns="0" bIns="0" rtlCol="0" anchor="ctr"/>
          <a:lstStyle/>
          <a:p>
            <a:pPr marL="0" indent="0">
              <a:buNone/>
            </a:pPr>
            <a:r>
              <a:rPr lang="en-US" sz="900" dirty="0">
                <a:solidFill>
                  <a:srgbClr val="8A9BAD"/>
                </a:solidFill>
                <a:latin typeface="Open Sans" pitchFamily="34" charset="0"/>
                <a:ea typeface="Open Sans" pitchFamily="34" charset="-122"/>
                <a:cs typeface="Open Sans" pitchFamily="34" charset="-120"/>
              </a:rPr>
              <a:t>Official Git download</a:t>
            </a:r>
            <a:endParaRPr lang="en-US" sz="900" dirty="0"/>
          </a:p>
        </p:txBody>
      </p:sp>
      <p:sp>
        <p:nvSpPr>
          <p:cNvPr id="35" name="Shape 33"/>
          <p:cNvSpPr/>
          <p:nvPr/>
        </p:nvSpPr>
        <p:spPr>
          <a:xfrm>
            <a:off x="0" y="4572000"/>
            <a:ext cx="9144000" cy="36576"/>
          </a:xfrm>
          <a:prstGeom prst="rect">
            <a:avLst/>
          </a:prstGeom>
          <a:solidFill>
            <a:srgbClr val="B8975C"/>
          </a:solidFill>
          <a:ln/>
        </p:spPr>
        <p:txBody>
          <a:bodyPr/>
          <a:lstStyle/>
          <a:p>
            <a:endParaRPr lang="en-US"/>
          </a:p>
        </p:txBody>
      </p:sp>
      <p:sp>
        <p:nvSpPr>
          <p:cNvPr id="36" name="Text 34"/>
          <p:cNvSpPr/>
          <p:nvPr/>
        </p:nvSpPr>
        <p:spPr>
          <a:xfrm>
            <a:off x="457200" y="4663440"/>
            <a:ext cx="8229600" cy="320040"/>
          </a:xfrm>
          <a:prstGeom prst="rect">
            <a:avLst/>
          </a:prstGeom>
          <a:noFill/>
          <a:ln/>
        </p:spPr>
        <p:txBody>
          <a:bodyPr wrap="square" rtlCol="0" anchor="ctr"/>
          <a:lstStyle/>
          <a:p>
            <a:pPr marL="0" indent="0" algn="ctr">
              <a:buNone/>
            </a:pPr>
            <a:r>
              <a:rPr lang="en-US" sz="1000" dirty="0">
                <a:solidFill>
                  <a:srgbClr val="5A6B7A"/>
                </a:solidFill>
                <a:latin typeface="Open Sans" pitchFamily="34" charset="0"/>
                <a:ea typeface="Open Sans" pitchFamily="34" charset="-122"/>
                <a:cs typeface="Open Sans" pitchFamily="34" charset="-120"/>
              </a:rPr>
              <a:t>Shidler College of Business  |  University of Hawaiʻi at Mānoa</a:t>
            </a:r>
            <a:endParaRPr lang="en-US" sz="1000" dirty="0"/>
          </a:p>
        </p:txBody>
      </p:sp>
    </p:spTree>
    <p:extLst>
      <p:ext uri="{BB962C8B-B14F-4D97-AF65-F5344CB8AC3E}">
        <p14:creationId xmlns:p14="http://schemas.microsoft.com/office/powerpoint/2010/main" val="142046486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9144000" cy="36576"/>
          </a:xfrm>
          <a:prstGeom prst="rect">
            <a:avLst/>
          </a:prstGeom>
          <a:solidFill>
            <a:srgbClr val="B8975C"/>
          </a:solidFill>
          <a:ln/>
        </p:spPr>
        <p:txBody>
          <a:bodyPr/>
          <a:lstStyle/>
          <a:p>
            <a:endParaRPr lang="en-US"/>
          </a:p>
        </p:txBody>
      </p:sp>
      <p:sp>
        <p:nvSpPr>
          <p:cNvPr id="3" name="Text 1"/>
          <p:cNvSpPr/>
          <p:nvPr/>
        </p:nvSpPr>
        <p:spPr>
          <a:xfrm>
            <a:off x="731520" y="548640"/>
            <a:ext cx="7680960" cy="365760"/>
          </a:xfrm>
          <a:prstGeom prst="rect">
            <a:avLst/>
          </a:prstGeom>
          <a:noFill/>
          <a:ln/>
        </p:spPr>
        <p:txBody>
          <a:bodyPr wrap="square" lIns="0" tIns="0" rIns="0" bIns="0" rtlCol="0" anchor="ctr"/>
          <a:lstStyle/>
          <a:p>
            <a:pPr marL="0" indent="0">
              <a:buNone/>
            </a:pPr>
            <a:r>
              <a:rPr lang="en-US" sz="1400" b="1" kern="0" spc="600" dirty="0">
                <a:solidFill>
                  <a:srgbClr val="B8975C"/>
                </a:solidFill>
                <a:latin typeface="Open Sans" pitchFamily="34" charset="0"/>
                <a:ea typeface="Open Sans" pitchFamily="34" charset="-122"/>
                <a:cs typeface="Open Sans" pitchFamily="34" charset="-120"/>
              </a:rPr>
              <a:t>APPENDIX</a:t>
            </a:r>
            <a:endParaRPr lang="en-US" sz="1400" dirty="0"/>
          </a:p>
        </p:txBody>
      </p:sp>
      <p:sp>
        <p:nvSpPr>
          <p:cNvPr id="4" name="Text 2"/>
          <p:cNvSpPr/>
          <p:nvPr/>
        </p:nvSpPr>
        <p:spPr>
          <a:xfrm>
            <a:off x="731520" y="1097280"/>
            <a:ext cx="7680960" cy="1828800"/>
          </a:xfrm>
          <a:prstGeom prst="rect">
            <a:avLst/>
          </a:prstGeom>
          <a:noFill/>
          <a:ln/>
        </p:spPr>
        <p:txBody>
          <a:bodyPr wrap="square" lIns="0" tIns="0" rIns="0" bIns="0" rtlCol="0" anchor="ctr"/>
          <a:lstStyle/>
          <a:p>
            <a:pPr marL="0" indent="0">
              <a:lnSpc>
                <a:spcPct val="110000"/>
              </a:lnSpc>
              <a:buNone/>
            </a:pPr>
            <a:r>
              <a:rPr lang="en-US" sz="4000" b="1" dirty="0">
                <a:solidFill>
                  <a:schemeClr val="accent6">
                    <a:lumMod val="50000"/>
                  </a:schemeClr>
                </a:solidFill>
                <a:latin typeface="Open Sans" pitchFamily="34" charset="0"/>
                <a:ea typeface="Open Sans" pitchFamily="34" charset="-122"/>
                <a:cs typeface="Open Sans" pitchFamily="34" charset="-120"/>
              </a:rPr>
              <a:t>Using Claude</a:t>
            </a:r>
            <a:endParaRPr lang="en-US" sz="4000" dirty="0">
              <a:solidFill>
                <a:schemeClr val="accent6">
                  <a:lumMod val="50000"/>
                </a:schemeClr>
              </a:solidFill>
            </a:endParaRPr>
          </a:p>
          <a:p>
            <a:pPr marL="0" indent="0">
              <a:lnSpc>
                <a:spcPct val="110000"/>
              </a:lnSpc>
              <a:buNone/>
            </a:pPr>
            <a:r>
              <a:rPr lang="en-US" sz="4000" b="1" dirty="0">
                <a:solidFill>
                  <a:schemeClr val="accent6">
                    <a:lumMod val="50000"/>
                  </a:schemeClr>
                </a:solidFill>
                <a:latin typeface="Open Sans" pitchFamily="34" charset="0"/>
                <a:ea typeface="Open Sans" pitchFamily="34" charset="-122"/>
                <a:cs typeface="Open Sans" pitchFamily="34" charset="-120"/>
              </a:rPr>
              <a:t>for Your Project</a:t>
            </a:r>
            <a:endParaRPr lang="en-US" sz="4000" dirty="0">
              <a:solidFill>
                <a:schemeClr val="accent6">
                  <a:lumMod val="50000"/>
                </a:schemeClr>
              </a:solidFill>
            </a:endParaRPr>
          </a:p>
        </p:txBody>
      </p:sp>
      <p:sp>
        <p:nvSpPr>
          <p:cNvPr id="5" name="Shape 3"/>
          <p:cNvSpPr/>
          <p:nvPr/>
        </p:nvSpPr>
        <p:spPr>
          <a:xfrm>
            <a:off x="731520" y="3108960"/>
            <a:ext cx="1828800" cy="36576"/>
          </a:xfrm>
          <a:prstGeom prst="rect">
            <a:avLst/>
          </a:prstGeom>
          <a:solidFill>
            <a:srgbClr val="B8975C"/>
          </a:solidFill>
          <a:ln/>
        </p:spPr>
        <p:txBody>
          <a:bodyPr/>
          <a:lstStyle/>
          <a:p>
            <a:endParaRPr lang="en-US"/>
          </a:p>
        </p:txBody>
      </p:sp>
      <p:sp>
        <p:nvSpPr>
          <p:cNvPr id="6" name="Text 4"/>
          <p:cNvSpPr/>
          <p:nvPr/>
        </p:nvSpPr>
        <p:spPr>
          <a:xfrm>
            <a:off x="731520" y="3337560"/>
            <a:ext cx="6400800" cy="731520"/>
          </a:xfrm>
          <a:prstGeom prst="rect">
            <a:avLst/>
          </a:prstGeom>
          <a:noFill/>
          <a:ln/>
        </p:spPr>
        <p:txBody>
          <a:bodyPr wrap="square" lIns="0" tIns="0" rIns="0" bIns="0" rtlCol="0" anchor="ctr"/>
          <a:lstStyle/>
          <a:p>
            <a:pPr marL="0" indent="0">
              <a:lnSpc>
                <a:spcPct val="140000"/>
              </a:lnSpc>
              <a:buNone/>
            </a:pPr>
            <a:r>
              <a:rPr lang="en-US" sz="1400" dirty="0">
                <a:solidFill>
                  <a:srgbClr val="8A9BAD"/>
                </a:solidFill>
                <a:latin typeface="Open Sans" pitchFamily="34" charset="0"/>
                <a:ea typeface="Open Sans" pitchFamily="34" charset="-122"/>
                <a:cs typeface="Open Sans" pitchFamily="34" charset="-120"/>
              </a:rPr>
              <a:t>A standalone guide to Claude — on the web, in the app,</a:t>
            </a:r>
            <a:endParaRPr lang="en-US" sz="1400" dirty="0"/>
          </a:p>
          <a:p>
            <a:pPr marL="0" indent="0">
              <a:lnSpc>
                <a:spcPct val="140000"/>
              </a:lnSpc>
              <a:buNone/>
            </a:pPr>
            <a:r>
              <a:rPr lang="en-US" sz="1400" dirty="0">
                <a:solidFill>
                  <a:srgbClr val="8A9BAD"/>
                </a:solidFill>
                <a:latin typeface="Open Sans" pitchFamily="34" charset="0"/>
                <a:ea typeface="Open Sans" pitchFamily="34" charset="-122"/>
                <a:cs typeface="Open Sans" pitchFamily="34" charset="-120"/>
              </a:rPr>
              <a:t>and in your terminal. No prior AI experience required.</a:t>
            </a:r>
            <a:endParaRPr lang="en-US" sz="1400" dirty="0"/>
          </a:p>
        </p:txBody>
      </p:sp>
      <p:pic>
        <p:nvPicPr>
          <p:cNvPr id="7" name="Image 0" descr="preencoded.png"/>
          <p:cNvPicPr>
            <a:picLocks noChangeAspect="1"/>
          </p:cNvPicPr>
          <p:nvPr/>
        </p:nvPicPr>
        <p:blipFill>
          <a:blip r:embed="rId3"/>
          <a:stretch>
            <a:fillRect/>
          </a:stretch>
        </p:blipFill>
        <p:spPr>
          <a:xfrm>
            <a:off x="7132320" y="3200400"/>
            <a:ext cx="1097280" cy="1097280"/>
          </a:xfrm>
          <a:prstGeom prst="rect">
            <a:avLst/>
          </a:prstGeom>
        </p:spPr>
      </p:pic>
      <p:sp>
        <p:nvSpPr>
          <p:cNvPr id="8" name="Text 5"/>
          <p:cNvSpPr/>
          <p:nvPr/>
        </p:nvSpPr>
        <p:spPr>
          <a:xfrm>
            <a:off x="457200" y="4663440"/>
            <a:ext cx="8229600" cy="320040"/>
          </a:xfrm>
          <a:prstGeom prst="rect">
            <a:avLst/>
          </a:prstGeom>
          <a:noFill/>
          <a:ln/>
        </p:spPr>
        <p:txBody>
          <a:bodyPr wrap="square" lIns="0" tIns="0" rIns="0" bIns="0" rtlCol="0" anchor="ctr"/>
          <a:lstStyle/>
          <a:p>
            <a:pPr marL="0" indent="0" algn="ctr">
              <a:buNone/>
            </a:pPr>
            <a:r>
              <a:rPr lang="en-US" sz="1000" dirty="0">
                <a:solidFill>
                  <a:srgbClr val="5A6B7A"/>
                </a:solidFill>
                <a:latin typeface="Open Sans" pitchFamily="34" charset="0"/>
                <a:ea typeface="Open Sans" pitchFamily="34" charset="-122"/>
                <a:cs typeface="Open Sans" pitchFamily="34" charset="-120"/>
              </a:rPr>
              <a:t>Shidler College of Business  |  University of Hawaiʻi at Mānoa</a:t>
            </a:r>
            <a:endParaRPr lang="en-US" sz="1000" dirty="0"/>
          </a:p>
        </p:txBody>
      </p:sp>
    </p:spTree>
    <p:extLst>
      <p:ext uri="{BB962C8B-B14F-4D97-AF65-F5344CB8AC3E}">
        <p14:creationId xmlns:p14="http://schemas.microsoft.com/office/powerpoint/2010/main" val="140731128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9144000" cy="825500"/>
          </a:xfrm>
          <a:prstGeom prst="rect">
            <a:avLst/>
          </a:prstGeom>
          <a:solidFill>
            <a:srgbClr val="024731"/>
          </a:solidFill>
          <a:ln>
            <a:noFill/>
          </a:ln>
        </p:spPr>
        <p:txBody>
          <a:bodyPr/>
          <a:lstStyle/>
          <a:p>
            <a:endParaRPr lang="en-US"/>
          </a:p>
        </p:txBody>
      </p:sp>
      <p:sp>
        <p:nvSpPr>
          <p:cNvPr id="4" name="Text 2"/>
          <p:cNvSpPr/>
          <p:nvPr/>
        </p:nvSpPr>
        <p:spPr>
          <a:xfrm>
            <a:off x="457200" y="4745736"/>
            <a:ext cx="8229600" cy="320040"/>
          </a:xfrm>
          <a:prstGeom prst="rect">
            <a:avLst/>
          </a:prstGeom>
          <a:noFill/>
          <a:ln/>
        </p:spPr>
        <p:txBody>
          <a:bodyPr wrap="square" lIns="0" tIns="0" rIns="0" bIns="0" rtlCol="0" anchor="ctr"/>
          <a:lstStyle/>
          <a:p>
            <a:pPr marL="0" indent="0" algn="ctr">
              <a:buNone/>
            </a:pPr>
            <a:r>
              <a:rPr lang="en-US" sz="1000" dirty="0">
                <a:solidFill>
                  <a:srgbClr val="5A6B7A"/>
                </a:solidFill>
                <a:latin typeface="Open Sans" pitchFamily="34" charset="0"/>
                <a:ea typeface="Open Sans" pitchFamily="34" charset="-122"/>
                <a:cs typeface="Open Sans" pitchFamily="34" charset="-120"/>
              </a:rPr>
              <a:t>Shidler College of Business  |  University of Hawaiʻi at Mānoa</a:t>
            </a:r>
            <a:endParaRPr lang="en-US" sz="1000" dirty="0"/>
          </a:p>
        </p:txBody>
      </p:sp>
      <p:sp>
        <p:nvSpPr>
          <p:cNvPr id="5" name="Text 3"/>
          <p:cNvSpPr/>
          <p:nvPr/>
        </p:nvSpPr>
        <p:spPr>
          <a:xfrm>
            <a:off x="731520" y="320040"/>
            <a:ext cx="7680960" cy="457200"/>
          </a:xfrm>
          <a:prstGeom prst="rect">
            <a:avLst/>
          </a:prstGeom>
          <a:noFill/>
          <a:ln/>
        </p:spPr>
        <p:txBody>
          <a:bodyPr wrap="square" lIns="0" tIns="0" rIns="0" bIns="0" rtlCol="0" anchor="ctr"/>
          <a:lstStyle/>
          <a:p>
            <a:pPr marL="0" indent="0">
              <a:buNone/>
            </a:pPr>
            <a:r>
              <a:rPr lang="en-US" sz="2800" b="1" dirty="0">
                <a:solidFill>
                  <a:srgbClr val="FFFFFF"/>
                </a:solidFill>
                <a:latin typeface="Open Sans" pitchFamily="34" charset="0"/>
                <a:ea typeface="Open Sans" pitchFamily="34" charset="-122"/>
                <a:cs typeface="Open Sans" pitchFamily="34" charset="-120"/>
              </a:rPr>
              <a:t>What Is Claude?</a:t>
            </a:r>
            <a:endParaRPr lang="en-US" sz="2800" dirty="0"/>
          </a:p>
        </p:txBody>
      </p:sp>
      <p:sp>
        <p:nvSpPr>
          <p:cNvPr id="6" name="Text 4"/>
          <p:cNvSpPr/>
          <p:nvPr/>
        </p:nvSpPr>
        <p:spPr>
          <a:xfrm>
            <a:off x="731520" y="952500"/>
            <a:ext cx="7680960" cy="548640"/>
          </a:xfrm>
          <a:prstGeom prst="rect">
            <a:avLst/>
          </a:prstGeom>
          <a:noFill/>
          <a:ln/>
        </p:spPr>
        <p:txBody>
          <a:bodyPr wrap="square" lIns="0" tIns="0" rIns="0" bIns="0" rtlCol="0" anchor="ctr"/>
          <a:lstStyle/>
          <a:p>
            <a:pPr marL="0" indent="0">
              <a:lnSpc>
                <a:spcPct val="130000"/>
              </a:lnSpc>
              <a:buNone/>
            </a:pPr>
            <a:r>
              <a:rPr lang="en-US" sz="1300" dirty="0">
                <a:solidFill>
                  <a:srgbClr val="5A6B7A"/>
                </a:solidFill>
                <a:latin typeface="Open Sans" pitchFamily="34" charset="0"/>
                <a:ea typeface="Open Sans" pitchFamily="34" charset="-122"/>
                <a:cs typeface="Open Sans" pitchFamily="34" charset="-120"/>
              </a:rPr>
              <a:t>Claude is an AI assistant made by Anthropic. Like ChatGPT, it can help you write, analyze data, explain concepts, and review your work — but it has a few distinct strengths that make it especially useful for this course.</a:t>
            </a:r>
            <a:endParaRPr lang="en-US" sz="1300" dirty="0"/>
          </a:p>
        </p:txBody>
      </p:sp>
      <p:sp>
        <p:nvSpPr>
          <p:cNvPr id="7" name="Shape 5"/>
          <p:cNvSpPr/>
          <p:nvPr/>
        </p:nvSpPr>
        <p:spPr>
          <a:xfrm>
            <a:off x="731520" y="1691640"/>
            <a:ext cx="2377440" cy="2606040"/>
          </a:xfrm>
          <a:prstGeom prst="rect">
            <a:avLst/>
          </a:prstGeom>
          <a:solidFill>
            <a:srgbClr val="FFFFFF"/>
          </a:solidFill>
          <a:ln/>
          <a:effectLst>
            <a:outerShdw blurRad="76200" dist="25400" dir="8100000" algn="bl" rotWithShape="0">
              <a:srgbClr val="000000">
                <a:alpha val="8000"/>
              </a:srgbClr>
            </a:outerShdw>
          </a:effectLst>
        </p:spPr>
        <p:txBody>
          <a:bodyPr/>
          <a:lstStyle/>
          <a:p>
            <a:endParaRPr lang="en-US"/>
          </a:p>
        </p:txBody>
      </p:sp>
      <p:pic>
        <p:nvPicPr>
          <p:cNvPr id="8" name="Image 0" descr="preencoded.png"/>
          <p:cNvPicPr>
            <a:picLocks noChangeAspect="1"/>
          </p:cNvPicPr>
          <p:nvPr/>
        </p:nvPicPr>
        <p:blipFill>
          <a:blip r:embed="rId3"/>
          <a:stretch>
            <a:fillRect/>
          </a:stretch>
        </p:blipFill>
        <p:spPr>
          <a:xfrm>
            <a:off x="1600200" y="1920240"/>
            <a:ext cx="457200" cy="457200"/>
          </a:xfrm>
          <a:prstGeom prst="rect">
            <a:avLst/>
          </a:prstGeom>
        </p:spPr>
      </p:pic>
      <p:sp>
        <p:nvSpPr>
          <p:cNvPr id="9" name="Text 6"/>
          <p:cNvSpPr/>
          <p:nvPr/>
        </p:nvSpPr>
        <p:spPr>
          <a:xfrm>
            <a:off x="868680" y="2514600"/>
            <a:ext cx="2103120" cy="320040"/>
          </a:xfrm>
          <a:prstGeom prst="rect">
            <a:avLst/>
          </a:prstGeom>
          <a:noFill/>
          <a:ln/>
        </p:spPr>
        <p:txBody>
          <a:bodyPr wrap="square" lIns="0" tIns="0" rIns="0" bIns="0" rtlCol="0" anchor="ctr"/>
          <a:lstStyle/>
          <a:p>
            <a:pPr marL="0" indent="0" algn="ctr">
              <a:buNone/>
            </a:pPr>
            <a:r>
              <a:rPr lang="en-US" sz="1400" b="1" dirty="0">
                <a:solidFill>
                  <a:srgbClr val="1E2530"/>
                </a:solidFill>
                <a:latin typeface="Open Sans" pitchFamily="34" charset="0"/>
                <a:ea typeface="Open Sans" pitchFamily="34" charset="-122"/>
                <a:cs typeface="Open Sans" pitchFamily="34" charset="-120"/>
              </a:rPr>
              <a:t>Long Documents</a:t>
            </a:r>
            <a:endParaRPr lang="en-US" sz="1400" dirty="0"/>
          </a:p>
        </p:txBody>
      </p:sp>
      <p:sp>
        <p:nvSpPr>
          <p:cNvPr id="10" name="Text 7"/>
          <p:cNvSpPr/>
          <p:nvPr/>
        </p:nvSpPr>
        <p:spPr>
          <a:xfrm>
            <a:off x="868680" y="2880360"/>
            <a:ext cx="2103120" cy="1188720"/>
          </a:xfrm>
          <a:prstGeom prst="rect">
            <a:avLst/>
          </a:prstGeom>
          <a:noFill/>
          <a:ln/>
        </p:spPr>
        <p:txBody>
          <a:bodyPr wrap="square" lIns="0" tIns="0" rIns="0" bIns="0" rtlCol="0" anchor="ctr"/>
          <a:lstStyle/>
          <a:p>
            <a:pPr marL="0" indent="0" algn="l">
              <a:lnSpc>
                <a:spcPct val="140000"/>
              </a:lnSpc>
              <a:buNone/>
            </a:pPr>
            <a:r>
              <a:rPr lang="en-US" sz="1100" dirty="0">
                <a:solidFill>
                  <a:srgbClr val="5A6B7A"/>
                </a:solidFill>
                <a:latin typeface="Open Sans" pitchFamily="34" charset="0"/>
                <a:ea typeface="Open Sans" pitchFamily="34" charset="-122"/>
                <a:cs typeface="Open Sans" pitchFamily="34" charset="-120"/>
              </a:rPr>
              <a:t>Claude can process very long inputs — paste your entire spec, memo, or data set and it keeps track of everything.</a:t>
            </a:r>
            <a:endParaRPr lang="en-US" sz="1100" dirty="0"/>
          </a:p>
        </p:txBody>
      </p:sp>
      <p:sp>
        <p:nvSpPr>
          <p:cNvPr id="11" name="Shape 8"/>
          <p:cNvSpPr/>
          <p:nvPr/>
        </p:nvSpPr>
        <p:spPr>
          <a:xfrm>
            <a:off x="3383280" y="1691640"/>
            <a:ext cx="2377440" cy="2606040"/>
          </a:xfrm>
          <a:prstGeom prst="rect">
            <a:avLst/>
          </a:prstGeom>
          <a:solidFill>
            <a:srgbClr val="FFFFFF"/>
          </a:solidFill>
          <a:ln/>
          <a:effectLst>
            <a:outerShdw blurRad="76200" dist="25400" dir="8100000" algn="bl" rotWithShape="0">
              <a:srgbClr val="000000">
                <a:alpha val="8000"/>
              </a:srgbClr>
            </a:outerShdw>
          </a:effectLst>
        </p:spPr>
        <p:txBody>
          <a:bodyPr/>
          <a:lstStyle/>
          <a:p>
            <a:endParaRPr lang="en-US"/>
          </a:p>
        </p:txBody>
      </p:sp>
      <p:pic>
        <p:nvPicPr>
          <p:cNvPr id="12" name="Image 1" descr="preencoded.png"/>
          <p:cNvPicPr>
            <a:picLocks noChangeAspect="1"/>
          </p:cNvPicPr>
          <p:nvPr/>
        </p:nvPicPr>
        <p:blipFill>
          <a:blip r:embed="rId4"/>
          <a:stretch>
            <a:fillRect/>
          </a:stretch>
        </p:blipFill>
        <p:spPr>
          <a:xfrm>
            <a:off x="4251960" y="1920240"/>
            <a:ext cx="457200" cy="457200"/>
          </a:xfrm>
          <a:prstGeom prst="rect">
            <a:avLst/>
          </a:prstGeom>
        </p:spPr>
      </p:pic>
      <p:sp>
        <p:nvSpPr>
          <p:cNvPr id="13" name="Text 9"/>
          <p:cNvSpPr/>
          <p:nvPr/>
        </p:nvSpPr>
        <p:spPr>
          <a:xfrm>
            <a:off x="3520440" y="2514600"/>
            <a:ext cx="2103120" cy="320040"/>
          </a:xfrm>
          <a:prstGeom prst="rect">
            <a:avLst/>
          </a:prstGeom>
          <a:noFill/>
          <a:ln/>
        </p:spPr>
        <p:txBody>
          <a:bodyPr wrap="square" lIns="0" tIns="0" rIns="0" bIns="0" rtlCol="0" anchor="ctr"/>
          <a:lstStyle/>
          <a:p>
            <a:pPr marL="0" indent="0" algn="ctr">
              <a:buNone/>
            </a:pPr>
            <a:r>
              <a:rPr lang="en-US" sz="1400" b="1" dirty="0">
                <a:solidFill>
                  <a:srgbClr val="1E2530"/>
                </a:solidFill>
                <a:latin typeface="Open Sans" pitchFamily="34" charset="0"/>
                <a:ea typeface="Open Sans" pitchFamily="34" charset="-122"/>
                <a:cs typeface="Open Sans" pitchFamily="34" charset="-120"/>
              </a:rPr>
              <a:t>Careful Reasoning</a:t>
            </a:r>
            <a:endParaRPr lang="en-US" sz="1400" dirty="0"/>
          </a:p>
        </p:txBody>
      </p:sp>
      <p:sp>
        <p:nvSpPr>
          <p:cNvPr id="14" name="Text 10"/>
          <p:cNvSpPr/>
          <p:nvPr/>
        </p:nvSpPr>
        <p:spPr>
          <a:xfrm>
            <a:off x="3520440" y="2880360"/>
            <a:ext cx="2103120" cy="1188720"/>
          </a:xfrm>
          <a:prstGeom prst="rect">
            <a:avLst/>
          </a:prstGeom>
          <a:noFill/>
          <a:ln/>
        </p:spPr>
        <p:txBody>
          <a:bodyPr wrap="square" lIns="0" tIns="0" rIns="0" bIns="0" rtlCol="0" anchor="ctr"/>
          <a:lstStyle/>
          <a:p>
            <a:pPr marL="0" indent="0" algn="l">
              <a:lnSpc>
                <a:spcPct val="140000"/>
              </a:lnSpc>
              <a:buNone/>
            </a:pPr>
            <a:r>
              <a:rPr lang="en-US" sz="1100" dirty="0">
                <a:solidFill>
                  <a:srgbClr val="5A6B7A"/>
                </a:solidFill>
                <a:latin typeface="Open Sans" pitchFamily="34" charset="0"/>
                <a:ea typeface="Open Sans" pitchFamily="34" charset="-122"/>
                <a:cs typeface="Open Sans" pitchFamily="34" charset="-120"/>
              </a:rPr>
              <a:t>Particularly strong at multi-step calculations like ratio analysis, hedge math, and Du Pont decomposition.</a:t>
            </a:r>
            <a:endParaRPr lang="en-US" sz="1100" dirty="0"/>
          </a:p>
        </p:txBody>
      </p:sp>
      <p:sp>
        <p:nvSpPr>
          <p:cNvPr id="15" name="Shape 11"/>
          <p:cNvSpPr/>
          <p:nvPr/>
        </p:nvSpPr>
        <p:spPr>
          <a:xfrm>
            <a:off x="6035040" y="1691640"/>
            <a:ext cx="2377440" cy="2606040"/>
          </a:xfrm>
          <a:prstGeom prst="rect">
            <a:avLst/>
          </a:prstGeom>
          <a:solidFill>
            <a:srgbClr val="FFFFFF"/>
          </a:solidFill>
          <a:ln/>
          <a:effectLst>
            <a:outerShdw blurRad="76200" dist="25400" dir="8100000" algn="bl" rotWithShape="0">
              <a:srgbClr val="000000">
                <a:alpha val="8000"/>
              </a:srgbClr>
            </a:outerShdw>
          </a:effectLst>
        </p:spPr>
        <p:txBody>
          <a:bodyPr/>
          <a:lstStyle/>
          <a:p>
            <a:endParaRPr lang="en-US"/>
          </a:p>
        </p:txBody>
      </p:sp>
      <p:pic>
        <p:nvPicPr>
          <p:cNvPr id="16" name="Image 2" descr="preencoded.png"/>
          <p:cNvPicPr>
            <a:picLocks noChangeAspect="1"/>
          </p:cNvPicPr>
          <p:nvPr/>
        </p:nvPicPr>
        <p:blipFill>
          <a:blip r:embed="rId5"/>
          <a:stretch>
            <a:fillRect/>
          </a:stretch>
        </p:blipFill>
        <p:spPr>
          <a:xfrm>
            <a:off x="6903720" y="1920240"/>
            <a:ext cx="457200" cy="457200"/>
          </a:xfrm>
          <a:prstGeom prst="rect">
            <a:avLst/>
          </a:prstGeom>
        </p:spPr>
      </p:pic>
      <p:sp>
        <p:nvSpPr>
          <p:cNvPr id="17" name="Text 12"/>
          <p:cNvSpPr/>
          <p:nvPr/>
        </p:nvSpPr>
        <p:spPr>
          <a:xfrm>
            <a:off x="6172200" y="2514600"/>
            <a:ext cx="2103120" cy="320040"/>
          </a:xfrm>
          <a:prstGeom prst="rect">
            <a:avLst/>
          </a:prstGeom>
          <a:noFill/>
          <a:ln/>
        </p:spPr>
        <p:txBody>
          <a:bodyPr wrap="square" lIns="0" tIns="0" rIns="0" bIns="0" rtlCol="0" anchor="ctr"/>
          <a:lstStyle/>
          <a:p>
            <a:pPr marL="0" indent="0" algn="ctr">
              <a:buNone/>
            </a:pPr>
            <a:r>
              <a:rPr lang="en-US" sz="1400" b="1" dirty="0">
                <a:solidFill>
                  <a:srgbClr val="1E2530"/>
                </a:solidFill>
                <a:latin typeface="Open Sans" pitchFamily="34" charset="0"/>
                <a:ea typeface="Open Sans" pitchFamily="34" charset="-122"/>
                <a:cs typeface="Open Sans" pitchFamily="34" charset="-120"/>
              </a:rPr>
              <a:t>File Uploads</a:t>
            </a:r>
            <a:endParaRPr lang="en-US" sz="1400" dirty="0"/>
          </a:p>
        </p:txBody>
      </p:sp>
      <p:sp>
        <p:nvSpPr>
          <p:cNvPr id="18" name="Text 13"/>
          <p:cNvSpPr/>
          <p:nvPr/>
        </p:nvSpPr>
        <p:spPr>
          <a:xfrm>
            <a:off x="6172200" y="2880360"/>
            <a:ext cx="2103120" cy="1188720"/>
          </a:xfrm>
          <a:prstGeom prst="rect">
            <a:avLst/>
          </a:prstGeom>
          <a:noFill/>
          <a:ln/>
        </p:spPr>
        <p:txBody>
          <a:bodyPr wrap="square" lIns="0" tIns="0" rIns="0" bIns="0" rtlCol="0" anchor="ctr"/>
          <a:lstStyle/>
          <a:p>
            <a:pPr marL="0" indent="0" algn="l">
              <a:lnSpc>
                <a:spcPct val="140000"/>
              </a:lnSpc>
              <a:buNone/>
            </a:pPr>
            <a:r>
              <a:rPr lang="en-US" sz="1100" dirty="0">
                <a:solidFill>
                  <a:srgbClr val="5A6B7A"/>
                </a:solidFill>
                <a:latin typeface="Open Sans" pitchFamily="34" charset="0"/>
                <a:ea typeface="Open Sans" pitchFamily="34" charset="-122"/>
                <a:cs typeface="Open Sans" pitchFamily="34" charset="-120"/>
              </a:rPr>
              <a:t>Upload Excel workbooks, PDFs, and images directly. Claude reads the content and can verify your formulas.</a:t>
            </a:r>
            <a:endParaRPr lang="en-US" sz="1100" dirty="0"/>
          </a:p>
        </p:txBody>
      </p:sp>
    </p:spTree>
    <p:extLst>
      <p:ext uri="{BB962C8B-B14F-4D97-AF65-F5344CB8AC3E}">
        <p14:creationId xmlns:p14="http://schemas.microsoft.com/office/powerpoint/2010/main" val="136901950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9144000" cy="825500"/>
          </a:xfrm>
          <a:prstGeom prst="rect">
            <a:avLst/>
          </a:prstGeom>
          <a:solidFill>
            <a:srgbClr val="024731"/>
          </a:solidFill>
          <a:ln>
            <a:noFill/>
          </a:ln>
        </p:spPr>
        <p:txBody>
          <a:bodyPr/>
          <a:lstStyle/>
          <a:p>
            <a:endParaRPr lang="en-US"/>
          </a:p>
        </p:txBody>
      </p:sp>
      <p:sp>
        <p:nvSpPr>
          <p:cNvPr id="4" name="Text 2"/>
          <p:cNvSpPr/>
          <p:nvPr/>
        </p:nvSpPr>
        <p:spPr>
          <a:xfrm>
            <a:off x="457200" y="4745736"/>
            <a:ext cx="8229600" cy="320040"/>
          </a:xfrm>
          <a:prstGeom prst="rect">
            <a:avLst/>
          </a:prstGeom>
          <a:noFill/>
          <a:ln/>
        </p:spPr>
        <p:txBody>
          <a:bodyPr wrap="square" lIns="0" tIns="0" rIns="0" bIns="0" rtlCol="0" anchor="ctr"/>
          <a:lstStyle/>
          <a:p>
            <a:pPr marL="0" indent="0" algn="ctr">
              <a:buNone/>
            </a:pPr>
            <a:r>
              <a:rPr lang="en-US" sz="1000" dirty="0">
                <a:solidFill>
                  <a:srgbClr val="5A6B7A"/>
                </a:solidFill>
                <a:latin typeface="Open Sans" pitchFamily="34" charset="0"/>
                <a:ea typeface="Open Sans" pitchFamily="34" charset="-122"/>
                <a:cs typeface="Open Sans" pitchFamily="34" charset="-120"/>
              </a:rPr>
              <a:t>Shidler College of Business  |  University of Hawaiʻi at Mānoa</a:t>
            </a:r>
            <a:endParaRPr lang="en-US" sz="1000" dirty="0"/>
          </a:p>
        </p:txBody>
      </p:sp>
      <p:sp>
        <p:nvSpPr>
          <p:cNvPr id="5" name="Text 3"/>
          <p:cNvSpPr/>
          <p:nvPr/>
        </p:nvSpPr>
        <p:spPr>
          <a:xfrm>
            <a:off x="731520" y="320040"/>
            <a:ext cx="7680960" cy="457200"/>
          </a:xfrm>
          <a:prstGeom prst="rect">
            <a:avLst/>
          </a:prstGeom>
          <a:noFill/>
          <a:ln/>
        </p:spPr>
        <p:txBody>
          <a:bodyPr wrap="square" lIns="0" tIns="0" rIns="0" bIns="0" rtlCol="0" anchor="ctr"/>
          <a:lstStyle/>
          <a:p>
            <a:pPr marL="0" indent="0">
              <a:buNone/>
            </a:pPr>
            <a:r>
              <a:rPr lang="en-US" sz="2800" b="1" dirty="0">
                <a:solidFill>
                  <a:srgbClr val="FFFFFF"/>
                </a:solidFill>
                <a:latin typeface="Open Sans" pitchFamily="34" charset="0"/>
                <a:ea typeface="Open Sans" pitchFamily="34" charset="-122"/>
                <a:cs typeface="Open Sans" pitchFamily="34" charset="-120"/>
              </a:rPr>
              <a:t>Claude vs ChatGPT — Both Are Useful</a:t>
            </a:r>
            <a:endParaRPr lang="en-US" sz="2800" dirty="0"/>
          </a:p>
        </p:txBody>
      </p:sp>
      <p:sp>
        <p:nvSpPr>
          <p:cNvPr id="6" name="Text 4"/>
          <p:cNvSpPr/>
          <p:nvPr/>
        </p:nvSpPr>
        <p:spPr>
          <a:xfrm>
            <a:off x="731520" y="952500"/>
            <a:ext cx="7680960" cy="365760"/>
          </a:xfrm>
          <a:prstGeom prst="rect">
            <a:avLst/>
          </a:prstGeom>
          <a:noFill/>
          <a:ln/>
        </p:spPr>
        <p:txBody>
          <a:bodyPr wrap="square" lIns="0" tIns="0" rIns="0" bIns="0" rtlCol="0" anchor="ctr"/>
          <a:lstStyle/>
          <a:p>
            <a:pPr marL="0" indent="0">
              <a:buNone/>
            </a:pPr>
            <a:r>
              <a:rPr lang="en-US" sz="1300" dirty="0">
                <a:solidFill>
                  <a:srgbClr val="5A6B7A"/>
                </a:solidFill>
                <a:latin typeface="Open Sans" pitchFamily="34" charset="0"/>
                <a:ea typeface="Open Sans" pitchFamily="34" charset="-122"/>
                <a:cs typeface="Open Sans" pitchFamily="34" charset="-120"/>
              </a:rPr>
              <a:t>You are welcome to use either tool (or both). Here’s when each one shines.</a:t>
            </a:r>
            <a:endParaRPr lang="en-US" sz="1300" dirty="0"/>
          </a:p>
        </p:txBody>
      </p:sp>
      <p:sp>
        <p:nvSpPr>
          <p:cNvPr id="7" name="Shape 5"/>
          <p:cNvSpPr/>
          <p:nvPr/>
        </p:nvSpPr>
        <p:spPr>
          <a:xfrm>
            <a:off x="731520" y="1463040"/>
            <a:ext cx="3566160" cy="3108960"/>
          </a:xfrm>
          <a:prstGeom prst="rect">
            <a:avLst/>
          </a:prstGeom>
          <a:solidFill>
            <a:srgbClr val="FFFFFF"/>
          </a:solidFill>
          <a:ln/>
          <a:effectLst>
            <a:outerShdw blurRad="76200" dist="25400" dir="8100000" algn="bl" rotWithShape="0">
              <a:srgbClr val="000000">
                <a:alpha val="8000"/>
              </a:srgbClr>
            </a:outerShdw>
          </a:effectLst>
        </p:spPr>
        <p:txBody>
          <a:bodyPr/>
          <a:lstStyle/>
          <a:p>
            <a:endParaRPr lang="en-US"/>
          </a:p>
        </p:txBody>
      </p:sp>
      <p:sp>
        <p:nvSpPr>
          <p:cNvPr id="8" name="Shape 6"/>
          <p:cNvSpPr/>
          <p:nvPr/>
        </p:nvSpPr>
        <p:spPr>
          <a:xfrm>
            <a:off x="731520" y="1463040"/>
            <a:ext cx="3566160" cy="457200"/>
          </a:xfrm>
          <a:prstGeom prst="rect">
            <a:avLst/>
          </a:prstGeom>
          <a:solidFill>
            <a:srgbClr val="1E2530"/>
          </a:solidFill>
          <a:ln/>
        </p:spPr>
        <p:txBody>
          <a:bodyPr/>
          <a:lstStyle/>
          <a:p>
            <a:endParaRPr lang="en-US"/>
          </a:p>
        </p:txBody>
      </p:sp>
      <p:sp>
        <p:nvSpPr>
          <p:cNvPr id="9" name="Text 7"/>
          <p:cNvSpPr/>
          <p:nvPr/>
        </p:nvSpPr>
        <p:spPr>
          <a:xfrm>
            <a:off x="731520" y="1463040"/>
            <a:ext cx="3566160" cy="457200"/>
          </a:xfrm>
          <a:prstGeom prst="rect">
            <a:avLst/>
          </a:prstGeom>
          <a:noFill/>
          <a:ln/>
        </p:spPr>
        <p:txBody>
          <a:bodyPr wrap="square" lIns="0" tIns="0" rIns="0" bIns="0" rtlCol="0" anchor="ctr"/>
          <a:lstStyle/>
          <a:p>
            <a:pPr marL="0" indent="0" algn="ctr">
              <a:buNone/>
            </a:pPr>
            <a:r>
              <a:rPr lang="en-US" sz="1600" b="1" dirty="0">
                <a:solidFill>
                  <a:srgbClr val="FFFFFF"/>
                </a:solidFill>
                <a:latin typeface="Open Sans" pitchFamily="34" charset="0"/>
                <a:ea typeface="Open Sans" pitchFamily="34" charset="-122"/>
                <a:cs typeface="Open Sans" pitchFamily="34" charset="-120"/>
              </a:rPr>
              <a:t>Claude</a:t>
            </a:r>
            <a:endParaRPr lang="en-US" sz="1600" dirty="0"/>
          </a:p>
        </p:txBody>
      </p:sp>
      <p:sp>
        <p:nvSpPr>
          <p:cNvPr id="10" name="Text 8"/>
          <p:cNvSpPr/>
          <p:nvPr/>
        </p:nvSpPr>
        <p:spPr>
          <a:xfrm>
            <a:off x="914400" y="2057400"/>
            <a:ext cx="3200400" cy="2286000"/>
          </a:xfrm>
          <a:prstGeom prst="rect">
            <a:avLst/>
          </a:prstGeom>
          <a:noFill/>
          <a:ln/>
        </p:spPr>
        <p:txBody>
          <a:bodyPr wrap="square" lIns="0" tIns="0" rIns="0" bIns="0" rtlCol="0" anchor="t"/>
          <a:lstStyle/>
          <a:p>
            <a:pPr marL="342900" indent="-342900">
              <a:lnSpc>
                <a:spcPct val="150000"/>
              </a:lnSpc>
              <a:buSzPct val="100000"/>
              <a:buChar char="•"/>
            </a:pPr>
            <a:r>
              <a:rPr lang="en-US" sz="1100" dirty="0">
                <a:solidFill>
                  <a:srgbClr val="5A6B7A"/>
                </a:solidFill>
                <a:latin typeface="Open Sans" pitchFamily="34" charset="0"/>
                <a:ea typeface="Open Sans" pitchFamily="34" charset="-122"/>
                <a:cs typeface="Open Sans" pitchFamily="34" charset="-120"/>
              </a:rPr>
              <a:t>Long context window — paste entire specs or data sets</a:t>
            </a:r>
            <a:endParaRPr lang="en-US" sz="1100" dirty="0"/>
          </a:p>
          <a:p>
            <a:pPr marL="342900" indent="-342900">
              <a:lnSpc>
                <a:spcPct val="150000"/>
              </a:lnSpc>
              <a:buSzPct val="100000"/>
              <a:buChar char="•"/>
            </a:pPr>
            <a:r>
              <a:rPr lang="en-US" sz="1100" dirty="0">
                <a:solidFill>
                  <a:srgbClr val="5A6B7A"/>
                </a:solidFill>
                <a:latin typeface="Open Sans" pitchFamily="34" charset="0"/>
                <a:ea typeface="Open Sans" pitchFamily="34" charset="-122"/>
                <a:cs typeface="Open Sans" pitchFamily="34" charset="-120"/>
              </a:rPr>
              <a:t>Strong structured output (memos, tables, Markdown)</a:t>
            </a:r>
            <a:endParaRPr lang="en-US" sz="1100" dirty="0"/>
          </a:p>
          <a:p>
            <a:pPr marL="342900" indent="-342900">
              <a:lnSpc>
                <a:spcPct val="150000"/>
              </a:lnSpc>
              <a:buSzPct val="100000"/>
              <a:buChar char="•"/>
            </a:pPr>
            <a:r>
              <a:rPr lang="en-US" sz="1100" dirty="0">
                <a:solidFill>
                  <a:srgbClr val="5A6B7A"/>
                </a:solidFill>
                <a:latin typeface="Open Sans" pitchFamily="34" charset="0"/>
                <a:ea typeface="Open Sans" pitchFamily="34" charset="-122"/>
                <a:cs typeface="Open Sans" pitchFamily="34" charset="-120"/>
              </a:rPr>
              <a:t>File uploads: Excel, PDF, images</a:t>
            </a:r>
            <a:endParaRPr lang="en-US" sz="1100" dirty="0"/>
          </a:p>
          <a:p>
            <a:pPr marL="342900" indent="-342900">
              <a:lnSpc>
                <a:spcPct val="150000"/>
              </a:lnSpc>
              <a:buSzPct val="100000"/>
              <a:buChar char="•"/>
            </a:pPr>
            <a:r>
              <a:rPr lang="en-US" sz="1100" dirty="0">
                <a:solidFill>
                  <a:srgbClr val="5A6B7A"/>
                </a:solidFill>
                <a:latin typeface="Open Sans" pitchFamily="34" charset="0"/>
                <a:ea typeface="Open Sans" pitchFamily="34" charset="-122"/>
                <a:cs typeface="Open Sans" pitchFamily="34" charset="-120"/>
              </a:rPr>
              <a:t>Careful multi-step reasoning and math</a:t>
            </a:r>
            <a:endParaRPr lang="en-US" sz="1100" dirty="0"/>
          </a:p>
          <a:p>
            <a:pPr marL="342900" indent="-342900">
              <a:lnSpc>
                <a:spcPct val="150000"/>
              </a:lnSpc>
              <a:buSzPct val="100000"/>
              <a:buChar char="•"/>
            </a:pPr>
            <a:r>
              <a:rPr lang="en-US" sz="1100" dirty="0">
                <a:solidFill>
                  <a:srgbClr val="5A6B7A"/>
                </a:solidFill>
                <a:latin typeface="Open Sans" pitchFamily="34" charset="0"/>
                <a:ea typeface="Open Sans" pitchFamily="34" charset="-122"/>
                <a:cs typeface="Open Sans" pitchFamily="34" charset="-120"/>
              </a:rPr>
              <a:t>Projects feature keeps course files as persistent context</a:t>
            </a:r>
            <a:endParaRPr lang="en-US" sz="1100" dirty="0"/>
          </a:p>
        </p:txBody>
      </p:sp>
      <p:sp>
        <p:nvSpPr>
          <p:cNvPr id="11" name="Shape 9"/>
          <p:cNvSpPr/>
          <p:nvPr/>
        </p:nvSpPr>
        <p:spPr>
          <a:xfrm>
            <a:off x="4846320" y="1463040"/>
            <a:ext cx="3566160" cy="3108960"/>
          </a:xfrm>
          <a:prstGeom prst="rect">
            <a:avLst/>
          </a:prstGeom>
          <a:solidFill>
            <a:srgbClr val="FFFFFF"/>
          </a:solidFill>
          <a:ln/>
          <a:effectLst>
            <a:outerShdw blurRad="76200" dist="25400" dir="8100000" algn="bl" rotWithShape="0">
              <a:srgbClr val="000000">
                <a:alpha val="8000"/>
              </a:srgbClr>
            </a:outerShdw>
          </a:effectLst>
        </p:spPr>
        <p:txBody>
          <a:bodyPr/>
          <a:lstStyle/>
          <a:p>
            <a:endParaRPr lang="en-US"/>
          </a:p>
        </p:txBody>
      </p:sp>
      <p:sp>
        <p:nvSpPr>
          <p:cNvPr id="12" name="Shape 10"/>
          <p:cNvSpPr/>
          <p:nvPr/>
        </p:nvSpPr>
        <p:spPr>
          <a:xfrm>
            <a:off x="4846320" y="1463040"/>
            <a:ext cx="3566160" cy="457200"/>
          </a:xfrm>
          <a:prstGeom prst="rect">
            <a:avLst/>
          </a:prstGeom>
          <a:solidFill>
            <a:srgbClr val="36454F"/>
          </a:solidFill>
          <a:ln/>
        </p:spPr>
        <p:txBody>
          <a:bodyPr/>
          <a:lstStyle/>
          <a:p>
            <a:endParaRPr lang="en-US"/>
          </a:p>
        </p:txBody>
      </p:sp>
      <p:sp>
        <p:nvSpPr>
          <p:cNvPr id="13" name="Text 11"/>
          <p:cNvSpPr/>
          <p:nvPr/>
        </p:nvSpPr>
        <p:spPr>
          <a:xfrm>
            <a:off x="4846320" y="1463040"/>
            <a:ext cx="3566160" cy="457200"/>
          </a:xfrm>
          <a:prstGeom prst="rect">
            <a:avLst/>
          </a:prstGeom>
          <a:noFill/>
          <a:ln/>
        </p:spPr>
        <p:txBody>
          <a:bodyPr wrap="square" lIns="0" tIns="0" rIns="0" bIns="0" rtlCol="0" anchor="ctr"/>
          <a:lstStyle/>
          <a:p>
            <a:pPr marL="0" indent="0" algn="ctr">
              <a:buNone/>
            </a:pPr>
            <a:r>
              <a:rPr lang="en-US" sz="1600" b="1" dirty="0">
                <a:solidFill>
                  <a:srgbClr val="FFFFFF"/>
                </a:solidFill>
                <a:latin typeface="Open Sans" pitchFamily="34" charset="0"/>
                <a:ea typeface="Open Sans" pitchFamily="34" charset="-122"/>
                <a:cs typeface="Open Sans" pitchFamily="34" charset="-120"/>
              </a:rPr>
              <a:t>ChatGPT</a:t>
            </a:r>
            <a:endParaRPr lang="en-US" sz="1600" dirty="0"/>
          </a:p>
        </p:txBody>
      </p:sp>
      <p:sp>
        <p:nvSpPr>
          <p:cNvPr id="14" name="Text 12"/>
          <p:cNvSpPr/>
          <p:nvPr/>
        </p:nvSpPr>
        <p:spPr>
          <a:xfrm>
            <a:off x="5029200" y="2057400"/>
            <a:ext cx="3200400" cy="2286000"/>
          </a:xfrm>
          <a:prstGeom prst="rect">
            <a:avLst/>
          </a:prstGeom>
          <a:noFill/>
          <a:ln/>
        </p:spPr>
        <p:txBody>
          <a:bodyPr wrap="square" lIns="0" tIns="0" rIns="0" bIns="0" rtlCol="0" anchor="t"/>
          <a:lstStyle/>
          <a:p>
            <a:pPr marL="342900" indent="-342900">
              <a:lnSpc>
                <a:spcPct val="150000"/>
              </a:lnSpc>
              <a:buSzPct val="100000"/>
              <a:buChar char="•"/>
            </a:pPr>
            <a:r>
              <a:rPr lang="en-US" sz="1100" dirty="0">
                <a:solidFill>
                  <a:srgbClr val="5A6B7A"/>
                </a:solidFill>
                <a:latin typeface="Open Sans" pitchFamily="34" charset="0"/>
                <a:ea typeface="Open Sans" pitchFamily="34" charset="-122"/>
                <a:cs typeface="Open Sans" pitchFamily="34" charset="-120"/>
              </a:rPr>
              <a:t>Web browsing and real-time search built in</a:t>
            </a:r>
            <a:endParaRPr lang="en-US" sz="1100" dirty="0"/>
          </a:p>
          <a:p>
            <a:pPr marL="342900" indent="-342900">
              <a:lnSpc>
                <a:spcPct val="150000"/>
              </a:lnSpc>
              <a:buSzPct val="100000"/>
              <a:buChar char="•"/>
            </a:pPr>
            <a:r>
              <a:rPr lang="en-US" sz="1100" dirty="0">
                <a:solidFill>
                  <a:srgbClr val="5A6B7A"/>
                </a:solidFill>
                <a:latin typeface="Open Sans" pitchFamily="34" charset="0"/>
                <a:ea typeface="Open Sans" pitchFamily="34" charset="-122"/>
                <a:cs typeface="Open Sans" pitchFamily="34" charset="-120"/>
              </a:rPr>
              <a:t>DALL·E image generation</a:t>
            </a:r>
            <a:endParaRPr lang="en-US" sz="1100" dirty="0"/>
          </a:p>
          <a:p>
            <a:pPr marL="342900" indent="-342900">
              <a:lnSpc>
                <a:spcPct val="150000"/>
              </a:lnSpc>
              <a:buSzPct val="100000"/>
              <a:buChar char="•"/>
            </a:pPr>
            <a:r>
              <a:rPr lang="en-US" sz="1100" dirty="0">
                <a:solidFill>
                  <a:srgbClr val="5A6B7A"/>
                </a:solidFill>
                <a:latin typeface="Open Sans" pitchFamily="34" charset="0"/>
                <a:ea typeface="Open Sans" pitchFamily="34" charset="-122"/>
                <a:cs typeface="Open Sans" pitchFamily="34" charset="-120"/>
              </a:rPr>
              <a:t>Code Interpreter runs Python in-browser</a:t>
            </a:r>
            <a:endParaRPr lang="en-US" sz="1100" dirty="0"/>
          </a:p>
          <a:p>
            <a:pPr marL="342900" indent="-342900">
              <a:lnSpc>
                <a:spcPct val="150000"/>
              </a:lnSpc>
              <a:buSzPct val="100000"/>
              <a:buChar char="•"/>
            </a:pPr>
            <a:r>
              <a:rPr lang="en-US" sz="1100" dirty="0">
                <a:solidFill>
                  <a:srgbClr val="5A6B7A"/>
                </a:solidFill>
                <a:latin typeface="Open Sans" pitchFamily="34" charset="0"/>
                <a:ea typeface="Open Sans" pitchFamily="34" charset="-122"/>
                <a:cs typeface="Open Sans" pitchFamily="34" charset="-120"/>
              </a:rPr>
              <a:t>Large plugin / GPT Store ecosystem</a:t>
            </a:r>
            <a:endParaRPr lang="en-US" sz="1100" dirty="0"/>
          </a:p>
          <a:p>
            <a:pPr marL="342900" indent="-342900">
              <a:lnSpc>
                <a:spcPct val="150000"/>
              </a:lnSpc>
              <a:buSzPct val="100000"/>
              <a:buChar char="•"/>
            </a:pPr>
            <a:r>
              <a:rPr lang="en-US" sz="1100" dirty="0">
                <a:solidFill>
                  <a:srgbClr val="5A6B7A"/>
                </a:solidFill>
                <a:latin typeface="Open Sans" pitchFamily="34" charset="0"/>
                <a:ea typeface="Open Sans" pitchFamily="34" charset="-122"/>
                <a:cs typeface="Open Sans" pitchFamily="34" charset="-120"/>
              </a:rPr>
              <a:t>Widely used — more community tutorials available</a:t>
            </a:r>
            <a:endParaRPr lang="en-US" sz="1100" dirty="0"/>
          </a:p>
        </p:txBody>
      </p:sp>
    </p:spTree>
    <p:extLst>
      <p:ext uri="{BB962C8B-B14F-4D97-AF65-F5344CB8AC3E}">
        <p14:creationId xmlns:p14="http://schemas.microsoft.com/office/powerpoint/2010/main" val="48861623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9144000" cy="825500"/>
          </a:xfrm>
          <a:prstGeom prst="rect">
            <a:avLst/>
          </a:prstGeom>
          <a:solidFill>
            <a:srgbClr val="024731"/>
          </a:solidFill>
          <a:ln>
            <a:noFill/>
          </a:ln>
        </p:spPr>
        <p:txBody>
          <a:bodyPr/>
          <a:lstStyle/>
          <a:p>
            <a:endParaRPr lang="en-US"/>
          </a:p>
        </p:txBody>
      </p:sp>
      <p:sp>
        <p:nvSpPr>
          <p:cNvPr id="4" name="Text 2"/>
          <p:cNvSpPr/>
          <p:nvPr/>
        </p:nvSpPr>
        <p:spPr>
          <a:xfrm>
            <a:off x="457200" y="4745736"/>
            <a:ext cx="8229600" cy="320040"/>
          </a:xfrm>
          <a:prstGeom prst="rect">
            <a:avLst/>
          </a:prstGeom>
          <a:noFill/>
          <a:ln/>
        </p:spPr>
        <p:txBody>
          <a:bodyPr wrap="square" lIns="0" tIns="0" rIns="0" bIns="0" rtlCol="0" anchor="ctr"/>
          <a:lstStyle/>
          <a:p>
            <a:pPr marL="0" indent="0" algn="ctr">
              <a:buNone/>
            </a:pPr>
            <a:r>
              <a:rPr lang="en-US" sz="1000" dirty="0">
                <a:solidFill>
                  <a:srgbClr val="5A6B7A"/>
                </a:solidFill>
                <a:latin typeface="Open Sans" pitchFamily="34" charset="0"/>
                <a:ea typeface="Open Sans" pitchFamily="34" charset="-122"/>
                <a:cs typeface="Open Sans" pitchFamily="34" charset="-120"/>
              </a:rPr>
              <a:t>Shidler College of Business  |  University of Hawaiʻi at Mānoa</a:t>
            </a:r>
            <a:endParaRPr lang="en-US" sz="1000" dirty="0"/>
          </a:p>
        </p:txBody>
      </p:sp>
      <p:sp>
        <p:nvSpPr>
          <p:cNvPr id="5" name="Text 3"/>
          <p:cNvSpPr/>
          <p:nvPr/>
        </p:nvSpPr>
        <p:spPr>
          <a:xfrm>
            <a:off x="731520" y="320040"/>
            <a:ext cx="7680960" cy="457200"/>
          </a:xfrm>
          <a:prstGeom prst="rect">
            <a:avLst/>
          </a:prstGeom>
          <a:noFill/>
          <a:ln/>
        </p:spPr>
        <p:txBody>
          <a:bodyPr wrap="square" lIns="0" tIns="0" rIns="0" bIns="0" rtlCol="0" anchor="ctr"/>
          <a:lstStyle/>
          <a:p>
            <a:pPr marL="0" indent="0">
              <a:buNone/>
            </a:pPr>
            <a:r>
              <a:rPr lang="en-US" sz="2000" b="1" dirty="0">
                <a:solidFill>
                  <a:srgbClr val="FFFFFF"/>
                </a:solidFill>
                <a:latin typeface="Open Sans" pitchFamily="34" charset="0"/>
                <a:ea typeface="Open Sans" pitchFamily="34" charset="-122"/>
                <a:cs typeface="Open Sans" pitchFamily="34" charset="-120"/>
              </a:rPr>
              <a:t>Chat vs Code — Why “Code” Versions Are a Superpower</a:t>
            </a:r>
            <a:endParaRPr lang="en-US" sz="2000" dirty="0"/>
          </a:p>
        </p:txBody>
      </p:sp>
      <p:sp>
        <p:nvSpPr>
          <p:cNvPr id="6" name="Text 4"/>
          <p:cNvSpPr/>
          <p:nvPr/>
        </p:nvSpPr>
        <p:spPr>
          <a:xfrm>
            <a:off x="731520" y="952500"/>
            <a:ext cx="7680960" cy="548640"/>
          </a:xfrm>
          <a:prstGeom prst="rect">
            <a:avLst/>
          </a:prstGeom>
          <a:noFill/>
          <a:ln/>
        </p:spPr>
        <p:txBody>
          <a:bodyPr wrap="square" lIns="0" tIns="0" rIns="0" bIns="0" rtlCol="0" anchor="ctr"/>
          <a:lstStyle/>
          <a:p>
            <a:pPr marL="0" indent="0">
              <a:buNone/>
            </a:pPr>
            <a:r>
              <a:rPr lang="en-US" sz="1300" dirty="0">
                <a:solidFill>
                  <a:srgbClr val="5A6B7A"/>
                </a:solidFill>
                <a:latin typeface="Open Sans" pitchFamily="34" charset="0"/>
              </a:rPr>
              <a:t>Both Claude and ChatGPT have "code" variants — agents that run in a harness with tools to read files and take action. Chat answers questions. Code does work.</a:t>
            </a:r>
          </a:p>
        </p:txBody>
      </p:sp>
      <p:sp>
        <p:nvSpPr>
          <p:cNvPr id="7" name="Shape 5"/>
          <p:cNvSpPr/>
          <p:nvPr/>
        </p:nvSpPr>
        <p:spPr>
          <a:xfrm>
            <a:off x="731520" y="1463039"/>
            <a:ext cx="3566160" cy="3108960"/>
          </a:xfrm>
          <a:prstGeom prst="rect">
            <a:avLst/>
          </a:prstGeom>
          <a:solidFill>
            <a:srgbClr val="FFFFFF"/>
          </a:solidFill>
          <a:ln/>
          <a:effectLst>
            <a:outerShdw blurRad="76200" dist="25400" dir="8100000" algn="bl" rotWithShape="0">
              <a:srgbClr val="000000">
                <a:alpha val="8000"/>
              </a:srgbClr>
            </a:outerShdw>
          </a:effectLst>
        </p:spPr>
        <p:txBody>
          <a:bodyPr/>
          <a:lstStyle/>
          <a:p>
            <a:endParaRPr lang="en-US"/>
          </a:p>
        </p:txBody>
      </p:sp>
      <p:sp>
        <p:nvSpPr>
          <p:cNvPr id="8" name="Shape 6"/>
          <p:cNvSpPr/>
          <p:nvPr/>
        </p:nvSpPr>
        <p:spPr>
          <a:xfrm>
            <a:off x="731520" y="1463039"/>
            <a:ext cx="3566160" cy="457200"/>
          </a:xfrm>
          <a:prstGeom prst="rect">
            <a:avLst/>
          </a:prstGeom>
          <a:solidFill>
            <a:srgbClr val="1E2530"/>
          </a:solidFill>
          <a:ln/>
        </p:spPr>
        <p:txBody>
          <a:bodyPr/>
          <a:lstStyle/>
          <a:p>
            <a:endParaRPr lang="en-US"/>
          </a:p>
        </p:txBody>
      </p:sp>
      <p:sp>
        <p:nvSpPr>
          <p:cNvPr id="9" name="Text 7"/>
          <p:cNvSpPr/>
          <p:nvPr/>
        </p:nvSpPr>
        <p:spPr>
          <a:xfrm>
            <a:off x="731520" y="1463039"/>
            <a:ext cx="3566160" cy="457200"/>
          </a:xfrm>
          <a:prstGeom prst="rect">
            <a:avLst/>
          </a:prstGeom>
          <a:noFill/>
          <a:ln/>
        </p:spPr>
        <p:txBody>
          <a:bodyPr wrap="square" lIns="0" tIns="0" rIns="0" bIns="0" rtlCol="0" anchor="ctr"/>
          <a:lstStyle/>
          <a:p>
            <a:pPr marL="0" indent="0" algn="ctr">
              <a:buNone/>
            </a:pPr>
            <a:r>
              <a:rPr lang="en-US" sz="1600" b="1" dirty="0">
                <a:solidFill>
                  <a:srgbClr val="FFFFFF"/>
                </a:solidFill>
                <a:latin typeface="Open Sans" pitchFamily="34" charset="0"/>
                <a:ea typeface="Open Sans" pitchFamily="34" charset="-122"/>
                <a:cs typeface="Open Sans" pitchFamily="34" charset="-120"/>
              </a:rPr>
              <a:t>Claude Code (Anthropic)</a:t>
            </a:r>
            <a:endParaRPr lang="en-US" sz="1600" dirty="0"/>
          </a:p>
        </p:txBody>
      </p:sp>
      <p:sp>
        <p:nvSpPr>
          <p:cNvPr id="10" name="Text 8"/>
          <p:cNvSpPr/>
          <p:nvPr/>
        </p:nvSpPr>
        <p:spPr>
          <a:xfrm>
            <a:off x="914400" y="2057400"/>
            <a:ext cx="3200400" cy="2286000"/>
          </a:xfrm>
          <a:prstGeom prst="rect">
            <a:avLst/>
          </a:prstGeom>
          <a:noFill/>
          <a:ln/>
        </p:spPr>
        <p:txBody>
          <a:bodyPr wrap="square" lIns="0" tIns="0" rIns="0" bIns="0" rtlCol="0" anchor="t"/>
          <a:lstStyle/>
          <a:p>
            <a:pPr marL="342900" indent="-342900">
              <a:lnSpc>
                <a:spcPct val="150000"/>
              </a:lnSpc>
              <a:buSzPct val="100000"/>
              <a:buChar char="•"/>
            </a:pPr>
            <a:r>
              <a:rPr lang="en-US" sz="1100" dirty="0">
                <a:solidFill>
                  <a:srgbClr val="5A6B7A"/>
                </a:solidFill>
                <a:latin typeface="Open Sans" pitchFamily="34" charset="0"/>
                <a:ea typeface="Open Sans" pitchFamily="34" charset="-122"/>
                <a:cs typeface="Open Sans" pitchFamily="34" charset="-120"/>
              </a:rPr>
              <a:t>Runs in your terminal — reads and writes files directly in your repo</a:t>
            </a:r>
            <a:endParaRPr lang="en-US" sz="1100" dirty="0"/>
          </a:p>
          <a:p>
            <a:pPr marL="342900" indent="-342900">
              <a:lnSpc>
                <a:spcPct val="150000"/>
              </a:lnSpc>
              <a:buSzPct val="100000"/>
              <a:buChar char="•"/>
            </a:pPr>
            <a:r>
              <a:rPr lang="en-US" sz="1100" dirty="0">
                <a:solidFill>
                  <a:srgbClr val="5A6B7A"/>
                </a:solidFill>
                <a:latin typeface="Open Sans" pitchFamily="34" charset="0"/>
                <a:ea typeface="Open Sans" pitchFamily="34" charset="-122"/>
                <a:cs typeface="Open Sans" pitchFamily="34" charset="-120"/>
              </a:rPr>
              <a:t>Executes Git commands, edits files, runs scripts — with your approval</a:t>
            </a:r>
            <a:endParaRPr lang="en-US" sz="1100" dirty="0"/>
          </a:p>
          <a:p>
            <a:pPr marL="342900" indent="-342900">
              <a:lnSpc>
                <a:spcPct val="150000"/>
              </a:lnSpc>
              <a:buSzPct val="100000"/>
              <a:buChar char="•"/>
            </a:pPr>
            <a:r>
              <a:rPr lang="en-US" sz="1100" dirty="0">
                <a:solidFill>
                  <a:srgbClr val="5A6B7A"/>
                </a:solidFill>
                <a:latin typeface="Open Sans" pitchFamily="34" charset="0"/>
                <a:ea typeface="Open Sans" pitchFamily="34" charset="-122"/>
                <a:cs typeface="Open Sans" pitchFamily="34" charset="-120"/>
              </a:rPr>
              <a:t>Sees your entire project: specs, Excel, memos, folder structure</a:t>
            </a:r>
            <a:endParaRPr lang="en-US" sz="1100" dirty="0"/>
          </a:p>
          <a:p>
            <a:pPr marL="342900" indent="-342900">
              <a:lnSpc>
                <a:spcPct val="150000"/>
              </a:lnSpc>
              <a:buSzPct val="100000"/>
              <a:buChar char="•"/>
            </a:pPr>
            <a:r>
              <a:rPr lang="en-US" sz="1100" dirty="0">
                <a:solidFill>
                  <a:srgbClr val="5A6B7A"/>
                </a:solidFill>
                <a:latin typeface="Open Sans" pitchFamily="34" charset="0"/>
                <a:ea typeface="Open Sans" pitchFamily="34" charset="-122"/>
                <a:cs typeface="Open Sans" pitchFamily="34" charset="-120"/>
              </a:rPr>
              <a:t>Free to use (requires Anthropic account); install via npm</a:t>
            </a:r>
            <a:endParaRPr lang="en-US" sz="1100" dirty="0"/>
          </a:p>
          <a:p>
            <a:pPr marL="342900" indent="-342900">
              <a:lnSpc>
                <a:spcPct val="150000"/>
              </a:lnSpc>
              <a:buSzPct val="100000"/>
              <a:buChar char="•"/>
            </a:pPr>
            <a:r>
              <a:rPr lang="en-US" sz="1100" dirty="0">
                <a:solidFill>
                  <a:srgbClr val="5A6B7A"/>
                </a:solidFill>
                <a:latin typeface="Open Sans" pitchFamily="34" charset="0"/>
                <a:ea typeface="Open Sans" pitchFamily="34" charset="-122"/>
                <a:cs typeface="Open Sans" pitchFamily="34" charset="-120"/>
              </a:rPr>
              <a:t>Best for: building deliverables, verifying models, committing to GitHub</a:t>
            </a:r>
            <a:endParaRPr lang="en-US" sz="1100" dirty="0"/>
          </a:p>
        </p:txBody>
      </p:sp>
      <p:sp>
        <p:nvSpPr>
          <p:cNvPr id="11" name="Shape 9"/>
          <p:cNvSpPr/>
          <p:nvPr/>
        </p:nvSpPr>
        <p:spPr>
          <a:xfrm>
            <a:off x="4846320" y="1463039"/>
            <a:ext cx="3566160" cy="3108960"/>
          </a:xfrm>
          <a:prstGeom prst="rect">
            <a:avLst/>
          </a:prstGeom>
          <a:solidFill>
            <a:srgbClr val="FFFFFF"/>
          </a:solidFill>
          <a:ln/>
          <a:effectLst>
            <a:outerShdw blurRad="76200" dist="25400" dir="8100000" algn="bl" rotWithShape="0">
              <a:srgbClr val="000000">
                <a:alpha val="8000"/>
              </a:srgbClr>
            </a:outerShdw>
          </a:effectLst>
        </p:spPr>
        <p:txBody>
          <a:bodyPr/>
          <a:lstStyle/>
          <a:p>
            <a:endParaRPr lang="en-US"/>
          </a:p>
        </p:txBody>
      </p:sp>
      <p:sp>
        <p:nvSpPr>
          <p:cNvPr id="12" name="Shape 10"/>
          <p:cNvSpPr/>
          <p:nvPr/>
        </p:nvSpPr>
        <p:spPr>
          <a:xfrm>
            <a:off x="4846320" y="1463039"/>
            <a:ext cx="3566160" cy="457200"/>
          </a:xfrm>
          <a:prstGeom prst="rect">
            <a:avLst/>
          </a:prstGeom>
          <a:solidFill>
            <a:srgbClr val="36454F"/>
          </a:solidFill>
          <a:ln/>
        </p:spPr>
        <p:txBody>
          <a:bodyPr/>
          <a:lstStyle/>
          <a:p>
            <a:endParaRPr lang="en-US"/>
          </a:p>
        </p:txBody>
      </p:sp>
      <p:sp>
        <p:nvSpPr>
          <p:cNvPr id="13" name="Text 11"/>
          <p:cNvSpPr/>
          <p:nvPr/>
        </p:nvSpPr>
        <p:spPr>
          <a:xfrm>
            <a:off x="4846320" y="1463039"/>
            <a:ext cx="3566160" cy="457200"/>
          </a:xfrm>
          <a:prstGeom prst="rect">
            <a:avLst/>
          </a:prstGeom>
          <a:noFill/>
          <a:ln/>
        </p:spPr>
        <p:txBody>
          <a:bodyPr wrap="square" lIns="0" tIns="0" rIns="0" bIns="0" rtlCol="0" anchor="ctr"/>
          <a:lstStyle/>
          <a:p>
            <a:pPr marL="0" indent="0" algn="ctr">
              <a:buNone/>
            </a:pPr>
            <a:r>
              <a:rPr lang="en-US" sz="1600" b="1" dirty="0">
                <a:solidFill>
                  <a:srgbClr val="FFFFFF"/>
                </a:solidFill>
                <a:latin typeface="Open Sans" pitchFamily="34" charset="0"/>
                <a:ea typeface="Open Sans" pitchFamily="34" charset="-122"/>
                <a:cs typeface="Open Sans" pitchFamily="34" charset="-120"/>
              </a:rPr>
              <a:t>Codex (OpenAI)</a:t>
            </a:r>
            <a:endParaRPr lang="en-US" sz="1600" dirty="0"/>
          </a:p>
        </p:txBody>
      </p:sp>
      <p:sp>
        <p:nvSpPr>
          <p:cNvPr id="14" name="Text 12"/>
          <p:cNvSpPr/>
          <p:nvPr/>
        </p:nvSpPr>
        <p:spPr>
          <a:xfrm>
            <a:off x="5029200" y="2057400"/>
            <a:ext cx="3200400" cy="2286000"/>
          </a:xfrm>
          <a:prstGeom prst="rect">
            <a:avLst/>
          </a:prstGeom>
          <a:noFill/>
          <a:ln/>
        </p:spPr>
        <p:txBody>
          <a:bodyPr wrap="square" lIns="0" tIns="0" rIns="0" bIns="0" rtlCol="0" anchor="t"/>
          <a:lstStyle/>
          <a:p>
            <a:pPr marL="342900" indent="-342900">
              <a:lnSpc>
                <a:spcPct val="150000"/>
              </a:lnSpc>
              <a:buSzPct val="100000"/>
              <a:buChar char="•"/>
            </a:pPr>
            <a:r>
              <a:rPr lang="en-US" sz="1100" dirty="0">
                <a:solidFill>
                  <a:srgbClr val="5A6B7A"/>
                </a:solidFill>
                <a:latin typeface="Open Sans" pitchFamily="34" charset="0"/>
                <a:ea typeface="Open Sans" pitchFamily="34" charset="-122"/>
                <a:cs typeface="Open Sans" pitchFamily="34" charset="-120"/>
              </a:rPr>
              <a:t>OpenAI’s coding agent — runs tasks in a cloud sandbox environment</a:t>
            </a:r>
            <a:endParaRPr lang="en-US" sz="1100" dirty="0"/>
          </a:p>
          <a:p>
            <a:pPr marL="342900" indent="-342900">
              <a:lnSpc>
                <a:spcPct val="150000"/>
              </a:lnSpc>
              <a:buSzPct val="100000"/>
              <a:buChar char="•"/>
            </a:pPr>
            <a:r>
              <a:rPr lang="en-US" sz="1100" dirty="0">
                <a:solidFill>
                  <a:srgbClr val="5A6B7A"/>
                </a:solidFill>
                <a:latin typeface="Open Sans" pitchFamily="34" charset="0"/>
                <a:ea typeface="Open Sans" pitchFamily="34" charset="-122"/>
                <a:cs typeface="Open Sans" pitchFamily="34" charset="-120"/>
              </a:rPr>
              <a:t>Connects to your GitHub repos and works asynchronously on tasks</a:t>
            </a:r>
            <a:endParaRPr lang="en-US" sz="1100" dirty="0"/>
          </a:p>
          <a:p>
            <a:pPr marL="342900" indent="-342900">
              <a:lnSpc>
                <a:spcPct val="150000"/>
              </a:lnSpc>
              <a:buSzPct val="100000"/>
              <a:buChar char="•"/>
            </a:pPr>
            <a:r>
              <a:rPr lang="en-US" sz="1100" dirty="0">
                <a:solidFill>
                  <a:srgbClr val="5A6B7A"/>
                </a:solidFill>
                <a:latin typeface="Open Sans" pitchFamily="34" charset="0"/>
                <a:ea typeface="Open Sans" pitchFamily="34" charset="-122"/>
                <a:cs typeface="Open Sans" pitchFamily="34" charset="-120"/>
              </a:rPr>
              <a:t>Writes code, creates PRs, and runs tests in an isolated environment</a:t>
            </a:r>
            <a:endParaRPr lang="en-US" sz="1100" dirty="0"/>
          </a:p>
          <a:p>
            <a:pPr marL="342900" indent="-342900">
              <a:lnSpc>
                <a:spcPct val="150000"/>
              </a:lnSpc>
              <a:buSzPct val="100000"/>
              <a:buChar char="•"/>
            </a:pPr>
            <a:r>
              <a:rPr lang="en-US" sz="1100" dirty="0">
                <a:solidFill>
                  <a:srgbClr val="5A6B7A"/>
                </a:solidFill>
                <a:latin typeface="Open Sans" pitchFamily="34" charset="0"/>
                <a:ea typeface="Open Sans" pitchFamily="34" charset="-122"/>
                <a:cs typeface="Open Sans" pitchFamily="34" charset="-120"/>
              </a:rPr>
              <a:t>Requires ChatGPT Pro ($200/mo); accessed via chatgpt.com</a:t>
            </a:r>
            <a:endParaRPr lang="en-US" sz="1100" dirty="0"/>
          </a:p>
          <a:p>
            <a:pPr marL="342900" indent="-342900">
              <a:lnSpc>
                <a:spcPct val="150000"/>
              </a:lnSpc>
              <a:buSzPct val="100000"/>
              <a:buChar char="•"/>
            </a:pPr>
            <a:r>
              <a:rPr lang="en-US" sz="1100" dirty="0">
                <a:solidFill>
                  <a:srgbClr val="5A6B7A"/>
                </a:solidFill>
                <a:latin typeface="Open Sans" pitchFamily="34" charset="0"/>
                <a:ea typeface="Open Sans" pitchFamily="34" charset="-122"/>
                <a:cs typeface="Open Sans" pitchFamily="34" charset="-120"/>
              </a:rPr>
              <a:t>Best for: automated coding tasks, background work, PR creation</a:t>
            </a:r>
            <a:endParaRPr lang="en-US" sz="1100" dirty="0"/>
          </a:p>
        </p:txBody>
      </p:sp>
    </p:spTree>
    <p:extLst>
      <p:ext uri="{BB962C8B-B14F-4D97-AF65-F5344CB8AC3E}">
        <p14:creationId xmlns:p14="http://schemas.microsoft.com/office/powerpoint/2010/main" val="45308955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9144000" cy="825500"/>
          </a:xfrm>
          <a:prstGeom prst="rect">
            <a:avLst/>
          </a:prstGeom>
          <a:solidFill>
            <a:srgbClr val="024731"/>
          </a:solidFill>
          <a:ln>
            <a:noFill/>
          </a:ln>
        </p:spPr>
        <p:txBody>
          <a:bodyPr/>
          <a:lstStyle/>
          <a:p>
            <a:endParaRPr lang="en-US"/>
          </a:p>
        </p:txBody>
      </p:sp>
      <p:sp>
        <p:nvSpPr>
          <p:cNvPr id="4" name="Text 2"/>
          <p:cNvSpPr/>
          <p:nvPr/>
        </p:nvSpPr>
        <p:spPr>
          <a:xfrm>
            <a:off x="457200" y="4745736"/>
            <a:ext cx="8229600" cy="320040"/>
          </a:xfrm>
          <a:prstGeom prst="rect">
            <a:avLst/>
          </a:prstGeom>
          <a:noFill/>
          <a:ln/>
        </p:spPr>
        <p:txBody>
          <a:bodyPr wrap="square" lIns="0" tIns="0" rIns="0" bIns="0" rtlCol="0" anchor="ctr"/>
          <a:lstStyle/>
          <a:p>
            <a:pPr marL="0" indent="0" algn="ctr">
              <a:buNone/>
            </a:pPr>
            <a:r>
              <a:rPr lang="en-US" sz="1000" dirty="0">
                <a:solidFill>
                  <a:srgbClr val="5A6B7A"/>
                </a:solidFill>
                <a:latin typeface="Open Sans" pitchFamily="34" charset="0"/>
                <a:ea typeface="Open Sans" pitchFamily="34" charset="-122"/>
                <a:cs typeface="Open Sans" pitchFamily="34" charset="-120"/>
              </a:rPr>
              <a:t>Shidler College of Business  |  University of Hawaiʻi at Mānoa</a:t>
            </a:r>
            <a:endParaRPr lang="en-US" sz="1000" dirty="0"/>
          </a:p>
        </p:txBody>
      </p:sp>
      <p:sp>
        <p:nvSpPr>
          <p:cNvPr id="5" name="Text 3"/>
          <p:cNvSpPr/>
          <p:nvPr/>
        </p:nvSpPr>
        <p:spPr>
          <a:xfrm>
            <a:off x="731520" y="320040"/>
            <a:ext cx="7680960" cy="457200"/>
          </a:xfrm>
          <a:prstGeom prst="rect">
            <a:avLst/>
          </a:prstGeom>
          <a:noFill/>
          <a:ln/>
        </p:spPr>
        <p:txBody>
          <a:bodyPr wrap="square" lIns="0" tIns="0" rIns="0" bIns="0" rtlCol="0" anchor="ctr"/>
          <a:lstStyle/>
          <a:p>
            <a:pPr marL="0" indent="0">
              <a:buNone/>
            </a:pPr>
            <a:r>
              <a:rPr lang="en-US" sz="2800" b="1" dirty="0">
                <a:solidFill>
                  <a:srgbClr val="FFFFFF"/>
                </a:solidFill>
                <a:latin typeface="Open Sans" pitchFamily="34" charset="0"/>
                <a:ea typeface="Open Sans" pitchFamily="34" charset="-122"/>
                <a:cs typeface="Open Sans" pitchFamily="34" charset="-120"/>
              </a:rPr>
              <a:t>Key Concepts Before You Start</a:t>
            </a:r>
            <a:endParaRPr lang="en-US" sz="2800" dirty="0"/>
          </a:p>
        </p:txBody>
      </p:sp>
      <p:sp>
        <p:nvSpPr>
          <p:cNvPr id="6" name="Shape 4"/>
          <p:cNvSpPr/>
          <p:nvPr/>
        </p:nvSpPr>
        <p:spPr>
          <a:xfrm>
            <a:off x="731520" y="1051560"/>
            <a:ext cx="3749040" cy="1463040"/>
          </a:xfrm>
          <a:prstGeom prst="rect">
            <a:avLst/>
          </a:prstGeom>
          <a:solidFill>
            <a:srgbClr val="FFFFFF"/>
          </a:solidFill>
          <a:ln/>
          <a:effectLst>
            <a:outerShdw blurRad="76200" dist="25400" dir="8100000" algn="bl" rotWithShape="0">
              <a:srgbClr val="000000">
                <a:alpha val="8000"/>
              </a:srgbClr>
            </a:outerShdw>
          </a:effectLst>
        </p:spPr>
        <p:txBody>
          <a:bodyPr/>
          <a:lstStyle/>
          <a:p>
            <a:endParaRPr lang="en-US"/>
          </a:p>
        </p:txBody>
      </p:sp>
      <p:pic>
        <p:nvPicPr>
          <p:cNvPr id="7" name="Image 0" descr="preencoded.png"/>
          <p:cNvPicPr>
            <a:picLocks noChangeAspect="1"/>
          </p:cNvPicPr>
          <p:nvPr/>
        </p:nvPicPr>
        <p:blipFill>
          <a:blip r:embed="rId3"/>
          <a:stretch>
            <a:fillRect/>
          </a:stretch>
        </p:blipFill>
        <p:spPr>
          <a:xfrm>
            <a:off x="914400" y="1325880"/>
            <a:ext cx="411480" cy="411480"/>
          </a:xfrm>
          <a:prstGeom prst="rect">
            <a:avLst/>
          </a:prstGeom>
        </p:spPr>
      </p:pic>
      <p:sp>
        <p:nvSpPr>
          <p:cNvPr id="8" name="Text 5"/>
          <p:cNvSpPr/>
          <p:nvPr/>
        </p:nvSpPr>
        <p:spPr>
          <a:xfrm>
            <a:off x="1463040" y="1234440"/>
            <a:ext cx="2834640" cy="320040"/>
          </a:xfrm>
          <a:prstGeom prst="rect">
            <a:avLst/>
          </a:prstGeom>
          <a:noFill/>
          <a:ln/>
        </p:spPr>
        <p:txBody>
          <a:bodyPr wrap="square" lIns="0" tIns="0" rIns="0" bIns="0" rtlCol="0" anchor="ctr"/>
          <a:lstStyle/>
          <a:p>
            <a:pPr marL="0" indent="0">
              <a:buNone/>
            </a:pPr>
            <a:r>
              <a:rPr lang="en-US" sz="1400" b="1" dirty="0">
                <a:solidFill>
                  <a:srgbClr val="1E2530"/>
                </a:solidFill>
                <a:latin typeface="Open Sans" pitchFamily="34" charset="0"/>
                <a:ea typeface="Open Sans" pitchFamily="34" charset="-122"/>
                <a:cs typeface="Open Sans" pitchFamily="34" charset="-120"/>
              </a:rPr>
              <a:t>Conversations</a:t>
            </a:r>
            <a:endParaRPr lang="en-US" sz="1400" dirty="0"/>
          </a:p>
        </p:txBody>
      </p:sp>
      <p:sp>
        <p:nvSpPr>
          <p:cNvPr id="9" name="Text 6"/>
          <p:cNvSpPr/>
          <p:nvPr/>
        </p:nvSpPr>
        <p:spPr>
          <a:xfrm>
            <a:off x="1463040" y="1600200"/>
            <a:ext cx="2834640" cy="777240"/>
          </a:xfrm>
          <a:prstGeom prst="rect">
            <a:avLst/>
          </a:prstGeom>
          <a:noFill/>
          <a:ln/>
        </p:spPr>
        <p:txBody>
          <a:bodyPr wrap="square" lIns="0" tIns="0" rIns="0" bIns="0" rtlCol="0" anchor="ctr"/>
          <a:lstStyle/>
          <a:p>
            <a:pPr marL="0" indent="0">
              <a:lnSpc>
                <a:spcPct val="140000"/>
              </a:lnSpc>
              <a:buNone/>
            </a:pPr>
            <a:r>
              <a:rPr lang="en-US" sz="1100" dirty="0">
                <a:solidFill>
                  <a:srgbClr val="5A6B7A"/>
                </a:solidFill>
                <a:latin typeface="Open Sans" pitchFamily="34" charset="0"/>
                <a:ea typeface="Open Sans" pitchFamily="34" charset="-122"/>
                <a:cs typeface="Open Sans" pitchFamily="34" charset="-120"/>
              </a:rPr>
              <a:t>Each chat is independent. Claude does not remember previous conversations unless you provide context.</a:t>
            </a:r>
            <a:endParaRPr lang="en-US" sz="1100" dirty="0"/>
          </a:p>
        </p:txBody>
      </p:sp>
      <p:sp>
        <p:nvSpPr>
          <p:cNvPr id="10" name="Shape 7"/>
          <p:cNvSpPr/>
          <p:nvPr/>
        </p:nvSpPr>
        <p:spPr>
          <a:xfrm>
            <a:off x="4846320" y="1051560"/>
            <a:ext cx="3749040" cy="1463040"/>
          </a:xfrm>
          <a:prstGeom prst="rect">
            <a:avLst/>
          </a:prstGeom>
          <a:solidFill>
            <a:srgbClr val="FFFFFF"/>
          </a:solidFill>
          <a:ln/>
          <a:effectLst>
            <a:outerShdw blurRad="76200" dist="25400" dir="8100000" algn="bl" rotWithShape="0">
              <a:srgbClr val="000000">
                <a:alpha val="8000"/>
              </a:srgbClr>
            </a:outerShdw>
          </a:effectLst>
        </p:spPr>
        <p:txBody>
          <a:bodyPr/>
          <a:lstStyle/>
          <a:p>
            <a:endParaRPr lang="en-US"/>
          </a:p>
        </p:txBody>
      </p:sp>
      <p:pic>
        <p:nvPicPr>
          <p:cNvPr id="11" name="Image 1" descr="preencoded.png"/>
          <p:cNvPicPr>
            <a:picLocks noChangeAspect="1"/>
          </p:cNvPicPr>
          <p:nvPr/>
        </p:nvPicPr>
        <p:blipFill>
          <a:blip r:embed="rId4"/>
          <a:stretch>
            <a:fillRect/>
          </a:stretch>
        </p:blipFill>
        <p:spPr>
          <a:xfrm>
            <a:off x="5029200" y="1325880"/>
            <a:ext cx="411480" cy="411480"/>
          </a:xfrm>
          <a:prstGeom prst="rect">
            <a:avLst/>
          </a:prstGeom>
        </p:spPr>
      </p:pic>
      <p:sp>
        <p:nvSpPr>
          <p:cNvPr id="12" name="Text 8"/>
          <p:cNvSpPr/>
          <p:nvPr/>
        </p:nvSpPr>
        <p:spPr>
          <a:xfrm>
            <a:off x="5577840" y="1234440"/>
            <a:ext cx="2834640" cy="320040"/>
          </a:xfrm>
          <a:prstGeom prst="rect">
            <a:avLst/>
          </a:prstGeom>
          <a:noFill/>
          <a:ln/>
        </p:spPr>
        <p:txBody>
          <a:bodyPr wrap="square" lIns="0" tIns="0" rIns="0" bIns="0" rtlCol="0" anchor="ctr"/>
          <a:lstStyle/>
          <a:p>
            <a:pPr marL="0" indent="0">
              <a:buNone/>
            </a:pPr>
            <a:r>
              <a:rPr lang="en-US" sz="1400" b="1" dirty="0">
                <a:solidFill>
                  <a:srgbClr val="1E2530"/>
                </a:solidFill>
                <a:latin typeface="Open Sans" pitchFamily="34" charset="0"/>
                <a:ea typeface="Open Sans" pitchFamily="34" charset="-122"/>
                <a:cs typeface="Open Sans" pitchFamily="34" charset="-120"/>
              </a:rPr>
              <a:t>Context Is Everything</a:t>
            </a:r>
            <a:endParaRPr lang="en-US" sz="1400" dirty="0"/>
          </a:p>
        </p:txBody>
      </p:sp>
      <p:sp>
        <p:nvSpPr>
          <p:cNvPr id="13" name="Text 9"/>
          <p:cNvSpPr/>
          <p:nvPr/>
        </p:nvSpPr>
        <p:spPr>
          <a:xfrm>
            <a:off x="5577840" y="1600200"/>
            <a:ext cx="2834640" cy="777240"/>
          </a:xfrm>
          <a:prstGeom prst="rect">
            <a:avLst/>
          </a:prstGeom>
          <a:noFill/>
          <a:ln/>
        </p:spPr>
        <p:txBody>
          <a:bodyPr wrap="square" lIns="0" tIns="0" rIns="0" bIns="0" rtlCol="0" anchor="ctr"/>
          <a:lstStyle/>
          <a:p>
            <a:pPr marL="0" indent="0">
              <a:lnSpc>
                <a:spcPct val="140000"/>
              </a:lnSpc>
              <a:buNone/>
            </a:pPr>
            <a:r>
              <a:rPr lang="en-US" sz="1100" dirty="0">
                <a:solidFill>
                  <a:srgbClr val="5A6B7A"/>
                </a:solidFill>
                <a:latin typeface="Open Sans" pitchFamily="34" charset="0"/>
                <a:ea typeface="Open Sans" pitchFamily="34" charset="-122"/>
                <a:cs typeface="Open Sans" pitchFamily="34" charset="-120"/>
              </a:rPr>
              <a:t>The more specific your input, the better the output. Paste your spec, state your variables, name your company.</a:t>
            </a:r>
            <a:endParaRPr lang="en-US" sz="1100" dirty="0"/>
          </a:p>
        </p:txBody>
      </p:sp>
      <p:sp>
        <p:nvSpPr>
          <p:cNvPr id="14" name="Shape 10"/>
          <p:cNvSpPr/>
          <p:nvPr/>
        </p:nvSpPr>
        <p:spPr>
          <a:xfrm>
            <a:off x="731520" y="2788920"/>
            <a:ext cx="3749040" cy="1463040"/>
          </a:xfrm>
          <a:prstGeom prst="rect">
            <a:avLst/>
          </a:prstGeom>
          <a:solidFill>
            <a:srgbClr val="FFFFFF"/>
          </a:solidFill>
          <a:ln/>
          <a:effectLst>
            <a:outerShdw blurRad="76200" dist="25400" dir="8100000" algn="bl" rotWithShape="0">
              <a:srgbClr val="000000">
                <a:alpha val="8000"/>
              </a:srgbClr>
            </a:outerShdw>
          </a:effectLst>
        </p:spPr>
        <p:txBody>
          <a:bodyPr/>
          <a:lstStyle/>
          <a:p>
            <a:endParaRPr lang="en-US"/>
          </a:p>
        </p:txBody>
      </p:sp>
      <p:pic>
        <p:nvPicPr>
          <p:cNvPr id="15" name="Image 2" descr="preencoded.png"/>
          <p:cNvPicPr>
            <a:picLocks noChangeAspect="1"/>
          </p:cNvPicPr>
          <p:nvPr/>
        </p:nvPicPr>
        <p:blipFill>
          <a:blip r:embed="rId5"/>
          <a:stretch>
            <a:fillRect/>
          </a:stretch>
        </p:blipFill>
        <p:spPr>
          <a:xfrm>
            <a:off x="914400" y="3063240"/>
            <a:ext cx="411480" cy="411480"/>
          </a:xfrm>
          <a:prstGeom prst="rect">
            <a:avLst/>
          </a:prstGeom>
        </p:spPr>
      </p:pic>
      <p:sp>
        <p:nvSpPr>
          <p:cNvPr id="16" name="Text 11"/>
          <p:cNvSpPr/>
          <p:nvPr/>
        </p:nvSpPr>
        <p:spPr>
          <a:xfrm>
            <a:off x="1463040" y="2971800"/>
            <a:ext cx="2834640" cy="320040"/>
          </a:xfrm>
          <a:prstGeom prst="rect">
            <a:avLst/>
          </a:prstGeom>
          <a:noFill/>
          <a:ln/>
        </p:spPr>
        <p:txBody>
          <a:bodyPr wrap="square" lIns="0" tIns="0" rIns="0" bIns="0" rtlCol="0" anchor="ctr"/>
          <a:lstStyle/>
          <a:p>
            <a:pPr marL="0" indent="0">
              <a:buNone/>
            </a:pPr>
            <a:r>
              <a:rPr lang="en-US" sz="1400" b="1" dirty="0">
                <a:solidFill>
                  <a:srgbClr val="1E2530"/>
                </a:solidFill>
                <a:latin typeface="Open Sans" pitchFamily="34" charset="0"/>
                <a:ea typeface="Open Sans" pitchFamily="34" charset="-122"/>
                <a:cs typeface="Open Sans" pitchFamily="34" charset="-120"/>
              </a:rPr>
              <a:t>Verify, Don’t Trust</a:t>
            </a:r>
            <a:endParaRPr lang="en-US" sz="1400" dirty="0"/>
          </a:p>
        </p:txBody>
      </p:sp>
      <p:sp>
        <p:nvSpPr>
          <p:cNvPr id="17" name="Text 12"/>
          <p:cNvSpPr/>
          <p:nvPr/>
        </p:nvSpPr>
        <p:spPr>
          <a:xfrm>
            <a:off x="1463040" y="3337560"/>
            <a:ext cx="2834640" cy="777240"/>
          </a:xfrm>
          <a:prstGeom prst="rect">
            <a:avLst/>
          </a:prstGeom>
          <a:noFill/>
          <a:ln/>
        </p:spPr>
        <p:txBody>
          <a:bodyPr wrap="square" lIns="0" tIns="0" rIns="0" bIns="0" rtlCol="0" anchor="ctr"/>
          <a:lstStyle/>
          <a:p>
            <a:pPr marL="0" indent="0">
              <a:lnSpc>
                <a:spcPct val="140000"/>
              </a:lnSpc>
              <a:buNone/>
            </a:pPr>
            <a:r>
              <a:rPr lang="en-US" sz="1100" dirty="0">
                <a:solidFill>
                  <a:srgbClr val="5A6B7A"/>
                </a:solidFill>
                <a:latin typeface="Open Sans" pitchFamily="34" charset="0"/>
                <a:ea typeface="Open Sans" pitchFamily="34" charset="-122"/>
                <a:cs typeface="Open Sans" pitchFamily="34" charset="-120"/>
              </a:rPr>
              <a:t>AI can produce plausible-sounding errors. Always cross-check formulas, numbers, and ratio definitions against your textbook or SEC filing.</a:t>
            </a:r>
            <a:endParaRPr lang="en-US" sz="1100" dirty="0"/>
          </a:p>
        </p:txBody>
      </p:sp>
      <p:sp>
        <p:nvSpPr>
          <p:cNvPr id="18" name="Shape 13"/>
          <p:cNvSpPr/>
          <p:nvPr/>
        </p:nvSpPr>
        <p:spPr>
          <a:xfrm>
            <a:off x="4846320" y="2788920"/>
            <a:ext cx="3749040" cy="1463040"/>
          </a:xfrm>
          <a:prstGeom prst="rect">
            <a:avLst/>
          </a:prstGeom>
          <a:solidFill>
            <a:srgbClr val="FFFFFF"/>
          </a:solidFill>
          <a:ln/>
          <a:effectLst>
            <a:outerShdw blurRad="76200" dist="25400" dir="8100000" algn="bl" rotWithShape="0">
              <a:srgbClr val="000000">
                <a:alpha val="8000"/>
              </a:srgbClr>
            </a:outerShdw>
          </a:effectLst>
        </p:spPr>
        <p:txBody>
          <a:bodyPr/>
          <a:lstStyle/>
          <a:p>
            <a:endParaRPr lang="en-US"/>
          </a:p>
        </p:txBody>
      </p:sp>
      <p:pic>
        <p:nvPicPr>
          <p:cNvPr id="19" name="Image 3" descr="preencoded.png"/>
          <p:cNvPicPr>
            <a:picLocks noChangeAspect="1"/>
          </p:cNvPicPr>
          <p:nvPr/>
        </p:nvPicPr>
        <p:blipFill>
          <a:blip r:embed="rId6"/>
          <a:stretch>
            <a:fillRect/>
          </a:stretch>
        </p:blipFill>
        <p:spPr>
          <a:xfrm>
            <a:off x="5029200" y="3063240"/>
            <a:ext cx="411480" cy="411480"/>
          </a:xfrm>
          <a:prstGeom prst="rect">
            <a:avLst/>
          </a:prstGeom>
        </p:spPr>
      </p:pic>
      <p:sp>
        <p:nvSpPr>
          <p:cNvPr id="20" name="Text 14"/>
          <p:cNvSpPr/>
          <p:nvPr/>
        </p:nvSpPr>
        <p:spPr>
          <a:xfrm>
            <a:off x="5577840" y="2971800"/>
            <a:ext cx="2834640" cy="320040"/>
          </a:xfrm>
          <a:prstGeom prst="rect">
            <a:avLst/>
          </a:prstGeom>
          <a:noFill/>
          <a:ln/>
        </p:spPr>
        <p:txBody>
          <a:bodyPr wrap="square" lIns="0" tIns="0" rIns="0" bIns="0" rtlCol="0" anchor="ctr"/>
          <a:lstStyle/>
          <a:p>
            <a:pPr marL="0" indent="0">
              <a:buNone/>
            </a:pPr>
            <a:r>
              <a:rPr lang="en-US" sz="1400" b="1" dirty="0">
                <a:solidFill>
                  <a:srgbClr val="1E2530"/>
                </a:solidFill>
                <a:latin typeface="Open Sans" pitchFamily="34" charset="0"/>
                <a:ea typeface="Open Sans" pitchFamily="34" charset="-122"/>
                <a:cs typeface="Open Sans" pitchFamily="34" charset="-120"/>
              </a:rPr>
              <a:t>Iterate</a:t>
            </a:r>
            <a:endParaRPr lang="en-US" sz="1400" dirty="0"/>
          </a:p>
        </p:txBody>
      </p:sp>
      <p:sp>
        <p:nvSpPr>
          <p:cNvPr id="21" name="Text 15"/>
          <p:cNvSpPr/>
          <p:nvPr/>
        </p:nvSpPr>
        <p:spPr>
          <a:xfrm>
            <a:off x="5577840" y="3337560"/>
            <a:ext cx="2834640" cy="777240"/>
          </a:xfrm>
          <a:prstGeom prst="rect">
            <a:avLst/>
          </a:prstGeom>
          <a:noFill/>
          <a:ln/>
        </p:spPr>
        <p:txBody>
          <a:bodyPr wrap="square" lIns="0" tIns="0" rIns="0" bIns="0" rtlCol="0" anchor="ctr"/>
          <a:lstStyle/>
          <a:p>
            <a:pPr marL="0" indent="0">
              <a:lnSpc>
                <a:spcPct val="140000"/>
              </a:lnSpc>
              <a:buNone/>
            </a:pPr>
            <a:r>
              <a:rPr lang="en-US" sz="1100" dirty="0">
                <a:solidFill>
                  <a:srgbClr val="5A6B7A"/>
                </a:solidFill>
                <a:latin typeface="Open Sans" pitchFamily="34" charset="0"/>
                <a:ea typeface="Open Sans" pitchFamily="34" charset="-122"/>
                <a:cs typeface="Open Sans" pitchFamily="34" charset="-120"/>
              </a:rPr>
              <a:t>Your first prompt rarely gives the final answer. Refine: “Make this more concise,” “Add the Du Pont breakdown,” “Format as Markdown table.”</a:t>
            </a:r>
            <a:endParaRPr lang="en-US" sz="1100" dirty="0"/>
          </a:p>
        </p:txBody>
      </p:sp>
    </p:spTree>
    <p:extLst>
      <p:ext uri="{BB962C8B-B14F-4D97-AF65-F5344CB8AC3E}">
        <p14:creationId xmlns:p14="http://schemas.microsoft.com/office/powerpoint/2010/main" val="39623019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9144000" cy="36576"/>
          </a:xfrm>
          <a:prstGeom prst="rect">
            <a:avLst/>
          </a:prstGeom>
          <a:solidFill>
            <a:srgbClr val="B8975C"/>
          </a:solidFill>
          <a:ln/>
        </p:spPr>
        <p:txBody>
          <a:bodyPr/>
          <a:lstStyle/>
          <a:p>
            <a:endParaRPr lang="en-US"/>
          </a:p>
        </p:txBody>
      </p:sp>
      <p:sp>
        <p:nvSpPr>
          <p:cNvPr id="3" name="Text 1"/>
          <p:cNvSpPr/>
          <p:nvPr/>
        </p:nvSpPr>
        <p:spPr>
          <a:xfrm>
            <a:off x="731520" y="731520"/>
            <a:ext cx="7680960" cy="365760"/>
          </a:xfrm>
          <a:prstGeom prst="rect">
            <a:avLst/>
          </a:prstGeom>
          <a:noFill/>
          <a:ln/>
        </p:spPr>
        <p:txBody>
          <a:bodyPr wrap="square" lIns="0" tIns="0" rIns="0" bIns="0" rtlCol="0" anchor="ctr"/>
          <a:lstStyle/>
          <a:p>
            <a:pPr marL="0" indent="0">
              <a:buNone/>
            </a:pPr>
            <a:r>
              <a:rPr lang="en-US" sz="1400" b="1" kern="0" spc="600" dirty="0">
                <a:solidFill>
                  <a:srgbClr val="B8975C"/>
                </a:solidFill>
                <a:latin typeface="Open Sans" pitchFamily="34" charset="0"/>
                <a:ea typeface="Open Sans" pitchFamily="34" charset="-122"/>
                <a:cs typeface="Open Sans" pitchFamily="34" charset="-120"/>
              </a:rPr>
              <a:t>PART 1</a:t>
            </a:r>
            <a:endParaRPr lang="en-US" sz="1400" dirty="0"/>
          </a:p>
        </p:txBody>
      </p:sp>
      <p:sp>
        <p:nvSpPr>
          <p:cNvPr id="4" name="Text 2"/>
          <p:cNvSpPr/>
          <p:nvPr/>
        </p:nvSpPr>
        <p:spPr>
          <a:xfrm>
            <a:off x="731520" y="1280160"/>
            <a:ext cx="7680960" cy="1645920"/>
          </a:xfrm>
          <a:prstGeom prst="rect">
            <a:avLst/>
          </a:prstGeom>
          <a:noFill/>
          <a:ln/>
        </p:spPr>
        <p:txBody>
          <a:bodyPr wrap="square" lIns="0" tIns="0" rIns="0" bIns="0" rtlCol="0" anchor="ctr"/>
          <a:lstStyle/>
          <a:p>
            <a:pPr marL="0" indent="0">
              <a:lnSpc>
                <a:spcPct val="110000"/>
              </a:lnSpc>
              <a:buNone/>
            </a:pPr>
            <a:r>
              <a:rPr lang="en-US" sz="4000" b="1" dirty="0">
                <a:solidFill>
                  <a:srgbClr val="024731"/>
                </a:solidFill>
                <a:latin typeface="Open Sans" pitchFamily="34" charset="0"/>
                <a:ea typeface="Open Sans" pitchFamily="34" charset="-122"/>
                <a:cs typeface="Open Sans" pitchFamily="34" charset="-120"/>
              </a:rPr>
              <a:t>Claude on the Web</a:t>
            </a:r>
            <a:endParaRPr lang="en-US" sz="4000" dirty="0"/>
          </a:p>
          <a:p>
            <a:pPr marL="0" indent="0">
              <a:lnSpc>
                <a:spcPct val="110000"/>
              </a:lnSpc>
              <a:buNone/>
            </a:pPr>
            <a:r>
              <a:rPr lang="en-US" sz="4000" b="1" dirty="0">
                <a:solidFill>
                  <a:srgbClr val="024731"/>
                </a:solidFill>
                <a:latin typeface="Open Sans" pitchFamily="34" charset="0"/>
                <a:ea typeface="Open Sans" pitchFamily="34" charset="-122"/>
                <a:cs typeface="Open Sans" pitchFamily="34" charset="-120"/>
              </a:rPr>
              <a:t>&amp; Desktop App</a:t>
            </a:r>
            <a:endParaRPr lang="en-US" sz="4000" dirty="0"/>
          </a:p>
        </p:txBody>
      </p:sp>
      <p:sp>
        <p:nvSpPr>
          <p:cNvPr id="5" name="Shape 3"/>
          <p:cNvSpPr/>
          <p:nvPr/>
        </p:nvSpPr>
        <p:spPr>
          <a:xfrm>
            <a:off x="731520" y="3108960"/>
            <a:ext cx="1828800" cy="36576"/>
          </a:xfrm>
          <a:prstGeom prst="rect">
            <a:avLst/>
          </a:prstGeom>
          <a:solidFill>
            <a:srgbClr val="B8975C"/>
          </a:solidFill>
          <a:ln/>
        </p:spPr>
        <p:txBody>
          <a:bodyPr/>
          <a:lstStyle/>
          <a:p>
            <a:endParaRPr lang="en-US"/>
          </a:p>
        </p:txBody>
      </p:sp>
      <p:sp>
        <p:nvSpPr>
          <p:cNvPr id="6" name="Text 4"/>
          <p:cNvSpPr/>
          <p:nvPr/>
        </p:nvSpPr>
        <p:spPr>
          <a:xfrm>
            <a:off x="731520" y="3337560"/>
            <a:ext cx="6400800" cy="640080"/>
          </a:xfrm>
          <a:prstGeom prst="rect">
            <a:avLst/>
          </a:prstGeom>
          <a:noFill/>
          <a:ln/>
        </p:spPr>
        <p:txBody>
          <a:bodyPr wrap="square" lIns="0" tIns="0" rIns="0" bIns="0" rtlCol="0" anchor="ctr"/>
          <a:lstStyle/>
          <a:p>
            <a:pPr marL="0" indent="0">
              <a:lnSpc>
                <a:spcPct val="140000"/>
              </a:lnSpc>
              <a:buNone/>
            </a:pPr>
            <a:r>
              <a:rPr lang="en-US" sz="1400" dirty="0">
                <a:solidFill>
                  <a:srgbClr val="8A9BAD"/>
                </a:solidFill>
                <a:latin typeface="Open Sans" pitchFamily="34" charset="0"/>
                <a:ea typeface="Open Sans" pitchFamily="34" charset="-122"/>
                <a:cs typeface="Open Sans" pitchFamily="34" charset="-120"/>
              </a:rPr>
              <a:t>How to use claude.ai for drafting memos, verifying formulas,</a:t>
            </a:r>
            <a:endParaRPr lang="en-US" sz="1400" dirty="0"/>
          </a:p>
          <a:p>
            <a:pPr marL="0" indent="0">
              <a:lnSpc>
                <a:spcPct val="140000"/>
              </a:lnSpc>
              <a:buNone/>
            </a:pPr>
            <a:r>
              <a:rPr lang="en-US" sz="1400" dirty="0">
                <a:solidFill>
                  <a:srgbClr val="8A9BAD"/>
                </a:solidFill>
                <a:latin typeface="Open Sans" pitchFamily="34" charset="0"/>
                <a:ea typeface="Open Sans" pitchFamily="34" charset="-122"/>
                <a:cs typeface="Open Sans" pitchFamily="34" charset="-120"/>
              </a:rPr>
              <a:t>and building your Stage 4 AI prompt.</a:t>
            </a:r>
            <a:endParaRPr lang="en-US" sz="1400" dirty="0"/>
          </a:p>
        </p:txBody>
      </p:sp>
      <p:pic>
        <p:nvPicPr>
          <p:cNvPr id="7" name="Image 0" descr="preencoded.png"/>
          <p:cNvPicPr>
            <a:picLocks noChangeAspect="1"/>
          </p:cNvPicPr>
          <p:nvPr/>
        </p:nvPicPr>
        <p:blipFill>
          <a:blip r:embed="rId3"/>
          <a:stretch>
            <a:fillRect/>
          </a:stretch>
        </p:blipFill>
        <p:spPr>
          <a:xfrm>
            <a:off x="7132320" y="3017520"/>
            <a:ext cx="1097280" cy="1097280"/>
          </a:xfrm>
          <a:prstGeom prst="rect">
            <a:avLst/>
          </a:prstGeom>
        </p:spPr>
      </p:pic>
      <p:sp>
        <p:nvSpPr>
          <p:cNvPr id="8" name="Text 5"/>
          <p:cNvSpPr/>
          <p:nvPr/>
        </p:nvSpPr>
        <p:spPr>
          <a:xfrm>
            <a:off x="457200" y="4663440"/>
            <a:ext cx="8229600" cy="320040"/>
          </a:xfrm>
          <a:prstGeom prst="rect">
            <a:avLst/>
          </a:prstGeom>
          <a:noFill/>
          <a:ln/>
        </p:spPr>
        <p:txBody>
          <a:bodyPr wrap="square" lIns="0" tIns="0" rIns="0" bIns="0" rtlCol="0" anchor="ctr"/>
          <a:lstStyle/>
          <a:p>
            <a:pPr marL="0" indent="0" algn="ctr">
              <a:buNone/>
            </a:pPr>
            <a:r>
              <a:rPr lang="en-US" sz="1000" dirty="0">
                <a:solidFill>
                  <a:srgbClr val="5A6B7A"/>
                </a:solidFill>
                <a:latin typeface="Open Sans" pitchFamily="34" charset="0"/>
                <a:ea typeface="Open Sans" pitchFamily="34" charset="-122"/>
                <a:cs typeface="Open Sans" pitchFamily="34" charset="-120"/>
              </a:rPr>
              <a:t>Shidler College of Business  |  University of Hawaiʻi at Mānoa</a:t>
            </a:r>
            <a:endParaRPr lang="en-US" sz="1000" dirty="0"/>
          </a:p>
        </p:txBody>
      </p:sp>
    </p:spTree>
    <p:extLst>
      <p:ext uri="{BB962C8B-B14F-4D97-AF65-F5344CB8AC3E}">
        <p14:creationId xmlns:p14="http://schemas.microsoft.com/office/powerpoint/2010/main" val="2048310211"/>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9144000" cy="825500"/>
          </a:xfrm>
          <a:prstGeom prst="rect">
            <a:avLst/>
          </a:prstGeom>
          <a:solidFill>
            <a:srgbClr val="024731"/>
          </a:solidFill>
          <a:ln>
            <a:noFill/>
          </a:ln>
        </p:spPr>
        <p:txBody>
          <a:bodyPr/>
          <a:lstStyle/>
          <a:p>
            <a:endParaRPr lang="en-US"/>
          </a:p>
        </p:txBody>
      </p:sp>
      <p:sp>
        <p:nvSpPr>
          <p:cNvPr id="4" name="Text 2"/>
          <p:cNvSpPr/>
          <p:nvPr/>
        </p:nvSpPr>
        <p:spPr>
          <a:xfrm>
            <a:off x="457200" y="4745736"/>
            <a:ext cx="8229600" cy="320040"/>
          </a:xfrm>
          <a:prstGeom prst="rect">
            <a:avLst/>
          </a:prstGeom>
          <a:noFill/>
          <a:ln/>
        </p:spPr>
        <p:txBody>
          <a:bodyPr wrap="square" lIns="0" tIns="0" rIns="0" bIns="0" rtlCol="0" anchor="ctr"/>
          <a:lstStyle/>
          <a:p>
            <a:pPr marL="0" indent="0" algn="ctr">
              <a:buNone/>
            </a:pPr>
            <a:r>
              <a:rPr lang="en-US" sz="1000" dirty="0">
                <a:solidFill>
                  <a:srgbClr val="5A6B7A"/>
                </a:solidFill>
                <a:latin typeface="Open Sans" pitchFamily="34" charset="0"/>
                <a:ea typeface="Open Sans" pitchFamily="34" charset="-122"/>
                <a:cs typeface="Open Sans" pitchFamily="34" charset="-120"/>
              </a:rPr>
              <a:t>Shidler College of Business  |  University of Hawaiʻi at Mānoa</a:t>
            </a:r>
            <a:endParaRPr lang="en-US" sz="1000" dirty="0"/>
          </a:p>
        </p:txBody>
      </p:sp>
      <p:sp>
        <p:nvSpPr>
          <p:cNvPr id="5" name="Text 3"/>
          <p:cNvSpPr/>
          <p:nvPr/>
        </p:nvSpPr>
        <p:spPr>
          <a:xfrm>
            <a:off x="731520" y="320040"/>
            <a:ext cx="7680960" cy="457200"/>
          </a:xfrm>
          <a:prstGeom prst="rect">
            <a:avLst/>
          </a:prstGeom>
          <a:noFill/>
          <a:ln/>
        </p:spPr>
        <p:txBody>
          <a:bodyPr wrap="square" lIns="0" tIns="0" rIns="0" bIns="0" rtlCol="0" anchor="ctr"/>
          <a:lstStyle/>
          <a:p>
            <a:pPr marL="0" indent="0">
              <a:buNone/>
            </a:pPr>
            <a:r>
              <a:rPr lang="en-US" sz="2800" b="1" dirty="0">
                <a:solidFill>
                  <a:srgbClr val="FFFFFF"/>
                </a:solidFill>
                <a:latin typeface="Open Sans" pitchFamily="34" charset="0"/>
                <a:ea typeface="Open Sans" pitchFamily="34" charset="-122"/>
                <a:cs typeface="Open Sans" pitchFamily="34" charset="-120"/>
              </a:rPr>
              <a:t>Getting Started with claude.ai</a:t>
            </a:r>
            <a:endParaRPr lang="en-US" sz="2800" dirty="0"/>
          </a:p>
        </p:txBody>
      </p:sp>
      <p:sp>
        <p:nvSpPr>
          <p:cNvPr id="6" name="Text 4"/>
          <p:cNvSpPr/>
          <p:nvPr/>
        </p:nvSpPr>
        <p:spPr>
          <a:xfrm>
            <a:off x="731520" y="952500"/>
            <a:ext cx="7680960" cy="365760"/>
          </a:xfrm>
          <a:prstGeom prst="rect">
            <a:avLst/>
          </a:prstGeom>
          <a:noFill/>
          <a:ln/>
        </p:spPr>
        <p:txBody>
          <a:bodyPr wrap="square" lIns="0" tIns="0" rIns="0" bIns="0" rtlCol="0" anchor="ctr"/>
          <a:lstStyle/>
          <a:p>
            <a:pPr marL="0" indent="0">
              <a:buNone/>
            </a:pPr>
            <a:r>
              <a:rPr lang="en-US" sz="1300" dirty="0">
                <a:solidFill>
                  <a:srgbClr val="5A6B7A"/>
                </a:solidFill>
                <a:latin typeface="Open Sans" pitchFamily="34" charset="0"/>
                <a:ea typeface="Open Sans" pitchFamily="34" charset="-122"/>
                <a:cs typeface="Open Sans" pitchFamily="34" charset="-120"/>
              </a:rPr>
              <a:t>claude.ai  |  Free tier is sufficient. Pro ($20/mo) gives extended thinking and longer conversations.</a:t>
            </a:r>
            <a:endParaRPr lang="en-US" sz="1300" dirty="0"/>
          </a:p>
        </p:txBody>
      </p:sp>
      <p:sp>
        <p:nvSpPr>
          <p:cNvPr id="7" name="Shape 5"/>
          <p:cNvSpPr/>
          <p:nvPr/>
        </p:nvSpPr>
        <p:spPr>
          <a:xfrm>
            <a:off x="731520" y="1417320"/>
            <a:ext cx="411480" cy="411480"/>
          </a:xfrm>
          <a:prstGeom prst="rect">
            <a:avLst/>
          </a:prstGeom>
          <a:solidFill>
            <a:srgbClr val="1E2530"/>
          </a:solidFill>
          <a:ln/>
        </p:spPr>
        <p:txBody>
          <a:bodyPr/>
          <a:lstStyle/>
          <a:p>
            <a:endParaRPr lang="en-US"/>
          </a:p>
        </p:txBody>
      </p:sp>
      <p:sp>
        <p:nvSpPr>
          <p:cNvPr id="8" name="Text 6"/>
          <p:cNvSpPr/>
          <p:nvPr/>
        </p:nvSpPr>
        <p:spPr>
          <a:xfrm>
            <a:off x="731520" y="1417320"/>
            <a:ext cx="411480" cy="411480"/>
          </a:xfrm>
          <a:prstGeom prst="rect">
            <a:avLst/>
          </a:prstGeom>
          <a:noFill/>
          <a:ln/>
        </p:spPr>
        <p:txBody>
          <a:bodyPr wrap="square" lIns="0" tIns="0" rIns="0" bIns="0" rtlCol="0" anchor="ctr"/>
          <a:lstStyle/>
          <a:p>
            <a:pPr marL="0" indent="0" algn="ctr">
              <a:buNone/>
            </a:pPr>
            <a:r>
              <a:rPr lang="en-US" sz="1400" b="1" dirty="0">
                <a:solidFill>
                  <a:srgbClr val="FFFFFF"/>
                </a:solidFill>
                <a:latin typeface="Open Sans" pitchFamily="34" charset="0"/>
                <a:ea typeface="Open Sans" pitchFamily="34" charset="-122"/>
                <a:cs typeface="Open Sans" pitchFamily="34" charset="-120"/>
              </a:rPr>
              <a:t>1</a:t>
            </a:r>
            <a:endParaRPr lang="en-US" sz="1400" dirty="0"/>
          </a:p>
        </p:txBody>
      </p:sp>
      <p:sp>
        <p:nvSpPr>
          <p:cNvPr id="9" name="Text 7"/>
          <p:cNvSpPr/>
          <p:nvPr/>
        </p:nvSpPr>
        <p:spPr>
          <a:xfrm>
            <a:off x="1325880" y="1417320"/>
            <a:ext cx="3749040" cy="411480"/>
          </a:xfrm>
          <a:prstGeom prst="rect">
            <a:avLst/>
          </a:prstGeom>
          <a:noFill/>
          <a:ln/>
        </p:spPr>
        <p:txBody>
          <a:bodyPr wrap="square" lIns="0" tIns="0" rIns="0" bIns="0" rtlCol="0" anchor="ctr"/>
          <a:lstStyle/>
          <a:p>
            <a:pPr marL="0" indent="0">
              <a:buNone/>
            </a:pPr>
            <a:r>
              <a:rPr lang="en-US" sz="1300" dirty="0">
                <a:solidFill>
                  <a:srgbClr val="1E2530"/>
                </a:solidFill>
                <a:latin typeface="Open Sans" pitchFamily="34" charset="0"/>
                <a:ea typeface="Open Sans" pitchFamily="34" charset="-122"/>
                <a:cs typeface="Open Sans" pitchFamily="34" charset="-120"/>
              </a:rPr>
              <a:t>Go to claude.ai and click Sign Up</a:t>
            </a:r>
            <a:endParaRPr lang="en-US" sz="1300" dirty="0"/>
          </a:p>
        </p:txBody>
      </p:sp>
      <p:sp>
        <p:nvSpPr>
          <p:cNvPr id="10" name="Shape 8"/>
          <p:cNvSpPr/>
          <p:nvPr/>
        </p:nvSpPr>
        <p:spPr>
          <a:xfrm>
            <a:off x="731520" y="1965960"/>
            <a:ext cx="411480" cy="411480"/>
          </a:xfrm>
          <a:prstGeom prst="rect">
            <a:avLst/>
          </a:prstGeom>
          <a:solidFill>
            <a:srgbClr val="1E2530"/>
          </a:solidFill>
          <a:ln/>
        </p:spPr>
        <p:txBody>
          <a:bodyPr/>
          <a:lstStyle/>
          <a:p>
            <a:endParaRPr lang="en-US"/>
          </a:p>
        </p:txBody>
      </p:sp>
      <p:sp>
        <p:nvSpPr>
          <p:cNvPr id="11" name="Text 9"/>
          <p:cNvSpPr/>
          <p:nvPr/>
        </p:nvSpPr>
        <p:spPr>
          <a:xfrm>
            <a:off x="731520" y="1965960"/>
            <a:ext cx="411480" cy="411480"/>
          </a:xfrm>
          <a:prstGeom prst="rect">
            <a:avLst/>
          </a:prstGeom>
          <a:noFill/>
          <a:ln/>
        </p:spPr>
        <p:txBody>
          <a:bodyPr wrap="square" lIns="0" tIns="0" rIns="0" bIns="0" rtlCol="0" anchor="ctr"/>
          <a:lstStyle/>
          <a:p>
            <a:pPr marL="0" indent="0" algn="ctr">
              <a:buNone/>
            </a:pPr>
            <a:r>
              <a:rPr lang="en-US" sz="1400" b="1" dirty="0">
                <a:solidFill>
                  <a:srgbClr val="FFFFFF"/>
                </a:solidFill>
                <a:latin typeface="Open Sans" pitchFamily="34" charset="0"/>
                <a:ea typeface="Open Sans" pitchFamily="34" charset="-122"/>
                <a:cs typeface="Open Sans" pitchFamily="34" charset="-120"/>
              </a:rPr>
              <a:t>2</a:t>
            </a:r>
            <a:endParaRPr lang="en-US" sz="1400" dirty="0"/>
          </a:p>
        </p:txBody>
      </p:sp>
      <p:sp>
        <p:nvSpPr>
          <p:cNvPr id="12" name="Text 10"/>
          <p:cNvSpPr/>
          <p:nvPr/>
        </p:nvSpPr>
        <p:spPr>
          <a:xfrm>
            <a:off x="1325880" y="1965960"/>
            <a:ext cx="3749040" cy="411480"/>
          </a:xfrm>
          <a:prstGeom prst="rect">
            <a:avLst/>
          </a:prstGeom>
          <a:noFill/>
          <a:ln/>
        </p:spPr>
        <p:txBody>
          <a:bodyPr wrap="square" lIns="0" tIns="0" rIns="0" bIns="0" rtlCol="0" anchor="ctr"/>
          <a:lstStyle/>
          <a:p>
            <a:pPr marL="0" indent="0">
              <a:buNone/>
            </a:pPr>
            <a:r>
              <a:rPr lang="en-US" sz="1300" dirty="0">
                <a:solidFill>
                  <a:srgbClr val="1E2530"/>
                </a:solidFill>
                <a:latin typeface="Open Sans" pitchFamily="34" charset="0"/>
                <a:ea typeface="Open Sans" pitchFamily="34" charset="-122"/>
                <a:cs typeface="Open Sans" pitchFamily="34" charset="-120"/>
              </a:rPr>
              <a:t>Create an account with your @hawaii.edu email</a:t>
            </a:r>
            <a:endParaRPr lang="en-US" sz="1300" dirty="0"/>
          </a:p>
        </p:txBody>
      </p:sp>
      <p:sp>
        <p:nvSpPr>
          <p:cNvPr id="13" name="Shape 11"/>
          <p:cNvSpPr/>
          <p:nvPr/>
        </p:nvSpPr>
        <p:spPr>
          <a:xfrm>
            <a:off x="731520" y="2514600"/>
            <a:ext cx="411480" cy="411480"/>
          </a:xfrm>
          <a:prstGeom prst="rect">
            <a:avLst/>
          </a:prstGeom>
          <a:solidFill>
            <a:srgbClr val="1E2530"/>
          </a:solidFill>
          <a:ln/>
        </p:spPr>
        <p:txBody>
          <a:bodyPr/>
          <a:lstStyle/>
          <a:p>
            <a:endParaRPr lang="en-US"/>
          </a:p>
        </p:txBody>
      </p:sp>
      <p:sp>
        <p:nvSpPr>
          <p:cNvPr id="14" name="Text 12"/>
          <p:cNvSpPr/>
          <p:nvPr/>
        </p:nvSpPr>
        <p:spPr>
          <a:xfrm>
            <a:off x="731520" y="2514600"/>
            <a:ext cx="411480" cy="411480"/>
          </a:xfrm>
          <a:prstGeom prst="rect">
            <a:avLst/>
          </a:prstGeom>
          <a:noFill/>
          <a:ln/>
        </p:spPr>
        <p:txBody>
          <a:bodyPr wrap="square" lIns="0" tIns="0" rIns="0" bIns="0" rtlCol="0" anchor="ctr"/>
          <a:lstStyle/>
          <a:p>
            <a:pPr marL="0" indent="0" algn="ctr">
              <a:buNone/>
            </a:pPr>
            <a:r>
              <a:rPr lang="en-US" sz="1400" b="1" dirty="0">
                <a:solidFill>
                  <a:srgbClr val="FFFFFF"/>
                </a:solidFill>
                <a:latin typeface="Open Sans" pitchFamily="34" charset="0"/>
                <a:ea typeface="Open Sans" pitchFamily="34" charset="-122"/>
                <a:cs typeface="Open Sans" pitchFamily="34" charset="-120"/>
              </a:rPr>
              <a:t>3</a:t>
            </a:r>
            <a:endParaRPr lang="en-US" sz="1400" dirty="0"/>
          </a:p>
        </p:txBody>
      </p:sp>
      <p:sp>
        <p:nvSpPr>
          <p:cNvPr id="15" name="Text 13"/>
          <p:cNvSpPr/>
          <p:nvPr/>
        </p:nvSpPr>
        <p:spPr>
          <a:xfrm>
            <a:off x="1325880" y="2514600"/>
            <a:ext cx="3749040" cy="411480"/>
          </a:xfrm>
          <a:prstGeom prst="rect">
            <a:avLst/>
          </a:prstGeom>
          <a:noFill/>
          <a:ln/>
        </p:spPr>
        <p:txBody>
          <a:bodyPr wrap="square" lIns="0" tIns="0" rIns="0" bIns="0" rtlCol="0" anchor="ctr"/>
          <a:lstStyle/>
          <a:p>
            <a:pPr marL="0" indent="0">
              <a:buNone/>
            </a:pPr>
            <a:r>
              <a:rPr lang="en-US" sz="1300" dirty="0">
                <a:solidFill>
                  <a:srgbClr val="1E2530"/>
                </a:solidFill>
                <a:latin typeface="Open Sans" pitchFamily="34" charset="0"/>
                <a:ea typeface="Open Sans" pitchFamily="34" charset="-122"/>
                <a:cs typeface="Open Sans" pitchFamily="34" charset="-120"/>
              </a:rPr>
              <a:t>Start a new conversation — type your question in the message box</a:t>
            </a:r>
            <a:endParaRPr lang="en-US" sz="1300" dirty="0"/>
          </a:p>
        </p:txBody>
      </p:sp>
      <p:sp>
        <p:nvSpPr>
          <p:cNvPr id="16" name="Shape 14"/>
          <p:cNvSpPr/>
          <p:nvPr/>
        </p:nvSpPr>
        <p:spPr>
          <a:xfrm>
            <a:off x="731520" y="3063240"/>
            <a:ext cx="411480" cy="411480"/>
          </a:xfrm>
          <a:prstGeom prst="rect">
            <a:avLst/>
          </a:prstGeom>
          <a:solidFill>
            <a:srgbClr val="1E2530"/>
          </a:solidFill>
          <a:ln/>
        </p:spPr>
        <p:txBody>
          <a:bodyPr/>
          <a:lstStyle/>
          <a:p>
            <a:endParaRPr lang="en-US"/>
          </a:p>
        </p:txBody>
      </p:sp>
      <p:sp>
        <p:nvSpPr>
          <p:cNvPr id="17" name="Text 15"/>
          <p:cNvSpPr/>
          <p:nvPr/>
        </p:nvSpPr>
        <p:spPr>
          <a:xfrm>
            <a:off x="731520" y="3063240"/>
            <a:ext cx="411480" cy="411480"/>
          </a:xfrm>
          <a:prstGeom prst="rect">
            <a:avLst/>
          </a:prstGeom>
          <a:noFill/>
          <a:ln/>
        </p:spPr>
        <p:txBody>
          <a:bodyPr wrap="square" lIns="0" tIns="0" rIns="0" bIns="0" rtlCol="0" anchor="ctr"/>
          <a:lstStyle/>
          <a:p>
            <a:pPr marL="0" indent="0" algn="ctr">
              <a:buNone/>
            </a:pPr>
            <a:r>
              <a:rPr lang="en-US" sz="1400" b="1" dirty="0">
                <a:solidFill>
                  <a:srgbClr val="FFFFFF"/>
                </a:solidFill>
                <a:latin typeface="Open Sans" pitchFamily="34" charset="0"/>
                <a:ea typeface="Open Sans" pitchFamily="34" charset="-122"/>
                <a:cs typeface="Open Sans" pitchFamily="34" charset="-120"/>
              </a:rPr>
              <a:t>4</a:t>
            </a:r>
            <a:endParaRPr lang="en-US" sz="1400" dirty="0"/>
          </a:p>
        </p:txBody>
      </p:sp>
      <p:sp>
        <p:nvSpPr>
          <p:cNvPr id="18" name="Text 16"/>
          <p:cNvSpPr/>
          <p:nvPr/>
        </p:nvSpPr>
        <p:spPr>
          <a:xfrm>
            <a:off x="1325880" y="3063240"/>
            <a:ext cx="3749040" cy="411480"/>
          </a:xfrm>
          <a:prstGeom prst="rect">
            <a:avLst/>
          </a:prstGeom>
          <a:noFill/>
          <a:ln/>
        </p:spPr>
        <p:txBody>
          <a:bodyPr wrap="square" lIns="0" tIns="0" rIns="0" bIns="0" rtlCol="0" anchor="ctr"/>
          <a:lstStyle/>
          <a:p>
            <a:pPr marL="0" indent="0">
              <a:buNone/>
            </a:pPr>
            <a:r>
              <a:rPr lang="en-US" sz="1300" dirty="0">
                <a:solidFill>
                  <a:srgbClr val="1E2530"/>
                </a:solidFill>
                <a:latin typeface="Open Sans" pitchFamily="34" charset="0"/>
                <a:ea typeface="Open Sans" pitchFamily="34" charset="-122"/>
                <a:cs typeface="Open Sans" pitchFamily="34" charset="-120"/>
              </a:rPr>
              <a:t>Upload files with the paperclip icon (Excel, PDF, images)</a:t>
            </a:r>
            <a:endParaRPr lang="en-US" sz="1300" dirty="0"/>
          </a:p>
        </p:txBody>
      </p:sp>
      <p:sp>
        <p:nvSpPr>
          <p:cNvPr id="19" name="Shape 17"/>
          <p:cNvSpPr/>
          <p:nvPr/>
        </p:nvSpPr>
        <p:spPr>
          <a:xfrm>
            <a:off x="731520" y="3611880"/>
            <a:ext cx="411480" cy="411480"/>
          </a:xfrm>
          <a:prstGeom prst="rect">
            <a:avLst/>
          </a:prstGeom>
          <a:solidFill>
            <a:srgbClr val="1E2530"/>
          </a:solidFill>
          <a:ln/>
        </p:spPr>
        <p:txBody>
          <a:bodyPr/>
          <a:lstStyle/>
          <a:p>
            <a:endParaRPr lang="en-US"/>
          </a:p>
        </p:txBody>
      </p:sp>
      <p:sp>
        <p:nvSpPr>
          <p:cNvPr id="20" name="Text 18"/>
          <p:cNvSpPr/>
          <p:nvPr/>
        </p:nvSpPr>
        <p:spPr>
          <a:xfrm>
            <a:off x="731520" y="3611880"/>
            <a:ext cx="411480" cy="411480"/>
          </a:xfrm>
          <a:prstGeom prst="rect">
            <a:avLst/>
          </a:prstGeom>
          <a:noFill/>
          <a:ln/>
        </p:spPr>
        <p:txBody>
          <a:bodyPr wrap="square" lIns="0" tIns="0" rIns="0" bIns="0" rtlCol="0" anchor="ctr"/>
          <a:lstStyle/>
          <a:p>
            <a:pPr marL="0" indent="0" algn="ctr">
              <a:buNone/>
            </a:pPr>
            <a:r>
              <a:rPr lang="en-US" sz="1400" b="1" dirty="0">
                <a:solidFill>
                  <a:srgbClr val="FFFFFF"/>
                </a:solidFill>
                <a:latin typeface="Open Sans" pitchFamily="34" charset="0"/>
                <a:ea typeface="Open Sans" pitchFamily="34" charset="-122"/>
                <a:cs typeface="Open Sans" pitchFamily="34" charset="-120"/>
              </a:rPr>
              <a:t>5</a:t>
            </a:r>
            <a:endParaRPr lang="en-US" sz="1400" dirty="0"/>
          </a:p>
        </p:txBody>
      </p:sp>
      <p:sp>
        <p:nvSpPr>
          <p:cNvPr id="21" name="Text 19"/>
          <p:cNvSpPr/>
          <p:nvPr/>
        </p:nvSpPr>
        <p:spPr>
          <a:xfrm>
            <a:off x="1325880" y="3611880"/>
            <a:ext cx="3749040" cy="411480"/>
          </a:xfrm>
          <a:prstGeom prst="rect">
            <a:avLst/>
          </a:prstGeom>
          <a:noFill/>
          <a:ln/>
        </p:spPr>
        <p:txBody>
          <a:bodyPr wrap="square" lIns="0" tIns="0" rIns="0" bIns="0" rtlCol="0" anchor="ctr"/>
          <a:lstStyle/>
          <a:p>
            <a:pPr marL="0" indent="0">
              <a:buNone/>
            </a:pPr>
            <a:r>
              <a:rPr lang="en-US" sz="1300" dirty="0">
                <a:solidFill>
                  <a:srgbClr val="1E2530"/>
                </a:solidFill>
                <a:latin typeface="Open Sans" pitchFamily="34" charset="0"/>
                <a:ea typeface="Open Sans" pitchFamily="34" charset="-122"/>
                <a:cs typeface="Open Sans" pitchFamily="34" charset="-120"/>
              </a:rPr>
              <a:t>Download the desktop app for Mac or Windows (same account)</a:t>
            </a:r>
            <a:endParaRPr lang="en-US" sz="1300" dirty="0"/>
          </a:p>
        </p:txBody>
      </p:sp>
      <p:sp>
        <p:nvSpPr>
          <p:cNvPr id="22" name="Shape 20"/>
          <p:cNvSpPr/>
          <p:nvPr/>
        </p:nvSpPr>
        <p:spPr>
          <a:xfrm>
            <a:off x="5303520" y="1417320"/>
            <a:ext cx="3200400" cy="2926080"/>
          </a:xfrm>
          <a:prstGeom prst="rect">
            <a:avLst/>
          </a:prstGeom>
          <a:solidFill>
            <a:srgbClr val="FFFFFF"/>
          </a:solidFill>
          <a:ln/>
          <a:effectLst>
            <a:outerShdw blurRad="76200" dist="25400" dir="8100000" algn="bl" rotWithShape="0">
              <a:srgbClr val="000000">
                <a:alpha val="8000"/>
              </a:srgbClr>
            </a:outerShdw>
          </a:effectLst>
        </p:spPr>
        <p:txBody>
          <a:bodyPr/>
          <a:lstStyle/>
          <a:p>
            <a:endParaRPr lang="en-US"/>
          </a:p>
        </p:txBody>
      </p:sp>
      <p:pic>
        <p:nvPicPr>
          <p:cNvPr id="23" name="Image 0" descr="preencoded.png"/>
          <p:cNvPicPr>
            <a:picLocks noChangeAspect="1"/>
          </p:cNvPicPr>
          <p:nvPr/>
        </p:nvPicPr>
        <p:blipFill>
          <a:blip r:embed="rId3"/>
          <a:stretch>
            <a:fillRect/>
          </a:stretch>
        </p:blipFill>
        <p:spPr>
          <a:xfrm>
            <a:off x="5532120" y="1600200"/>
            <a:ext cx="320040" cy="320040"/>
          </a:xfrm>
          <a:prstGeom prst="rect">
            <a:avLst/>
          </a:prstGeom>
        </p:spPr>
      </p:pic>
      <p:sp>
        <p:nvSpPr>
          <p:cNvPr id="24" name="Text 21"/>
          <p:cNvSpPr/>
          <p:nvPr/>
        </p:nvSpPr>
        <p:spPr>
          <a:xfrm>
            <a:off x="5943600" y="1600200"/>
            <a:ext cx="2377440" cy="320040"/>
          </a:xfrm>
          <a:prstGeom prst="rect">
            <a:avLst/>
          </a:prstGeom>
          <a:noFill/>
          <a:ln/>
        </p:spPr>
        <p:txBody>
          <a:bodyPr wrap="square" lIns="0" tIns="0" rIns="0" bIns="0" rtlCol="0" anchor="ctr"/>
          <a:lstStyle/>
          <a:p>
            <a:pPr marL="0" indent="0">
              <a:buNone/>
            </a:pPr>
            <a:r>
              <a:rPr lang="en-US" sz="1400" b="1" dirty="0">
                <a:solidFill>
                  <a:srgbClr val="1E2530"/>
                </a:solidFill>
                <a:latin typeface="Open Sans" pitchFamily="34" charset="0"/>
                <a:ea typeface="Open Sans" pitchFamily="34" charset="-122"/>
                <a:cs typeface="Open Sans" pitchFamily="34" charset="-120"/>
              </a:rPr>
              <a:t>Pro Tips</a:t>
            </a:r>
            <a:endParaRPr lang="en-US" sz="1400" dirty="0"/>
          </a:p>
        </p:txBody>
      </p:sp>
      <p:sp>
        <p:nvSpPr>
          <p:cNvPr id="25" name="Text 22"/>
          <p:cNvSpPr/>
          <p:nvPr/>
        </p:nvSpPr>
        <p:spPr>
          <a:xfrm>
            <a:off x="5532120" y="2103120"/>
            <a:ext cx="2743200" cy="685800"/>
          </a:xfrm>
          <a:prstGeom prst="rect">
            <a:avLst/>
          </a:prstGeom>
          <a:noFill/>
          <a:ln/>
        </p:spPr>
        <p:txBody>
          <a:bodyPr wrap="square" lIns="0" tIns="0" rIns="0" bIns="0" rtlCol="0" anchor="ctr"/>
          <a:lstStyle/>
          <a:p>
            <a:pPr marL="0" indent="0">
              <a:lnSpc>
                <a:spcPct val="135000"/>
              </a:lnSpc>
              <a:buNone/>
            </a:pPr>
            <a:r>
              <a:rPr lang="en-US" sz="1000" b="1" dirty="0">
                <a:solidFill>
                  <a:srgbClr val="5A6B7A"/>
                </a:solidFill>
                <a:latin typeface="Open Sans" pitchFamily="34" charset="0"/>
                <a:ea typeface="Open Sans" pitchFamily="34" charset="-122"/>
                <a:cs typeface="Open Sans" pitchFamily="34" charset="-120"/>
              </a:rPr>
              <a:t>Desktop app</a:t>
            </a:r>
            <a:endParaRPr lang="en-US" sz="1000" dirty="0"/>
          </a:p>
          <a:p>
            <a:pPr marL="0" indent="0">
              <a:lnSpc>
                <a:spcPct val="135000"/>
              </a:lnSpc>
              <a:buNone/>
            </a:pPr>
            <a:r>
              <a:rPr lang="en-US" sz="1000" dirty="0">
                <a:solidFill>
                  <a:srgbClr val="5A6B7A"/>
                </a:solidFill>
                <a:latin typeface="Open Sans" pitchFamily="34" charset="0"/>
                <a:ea typeface="Open Sans" pitchFamily="34" charset="-122"/>
                <a:cs typeface="Open Sans" pitchFamily="34" charset="-120"/>
              </a:rPr>
              <a:t>Same as the website but runs in its own window. Great for split-screen with Excel.</a:t>
            </a:r>
            <a:endParaRPr lang="en-US" sz="1000" dirty="0"/>
          </a:p>
        </p:txBody>
      </p:sp>
      <p:sp>
        <p:nvSpPr>
          <p:cNvPr id="26" name="Text 23"/>
          <p:cNvSpPr/>
          <p:nvPr/>
        </p:nvSpPr>
        <p:spPr>
          <a:xfrm>
            <a:off x="5532120" y="2834640"/>
            <a:ext cx="2743200" cy="685800"/>
          </a:xfrm>
          <a:prstGeom prst="rect">
            <a:avLst/>
          </a:prstGeom>
          <a:noFill/>
          <a:ln/>
        </p:spPr>
        <p:txBody>
          <a:bodyPr wrap="square" lIns="0" tIns="0" rIns="0" bIns="0" rtlCol="0" anchor="ctr"/>
          <a:lstStyle/>
          <a:p>
            <a:pPr marL="0" indent="0">
              <a:lnSpc>
                <a:spcPct val="135000"/>
              </a:lnSpc>
              <a:buNone/>
            </a:pPr>
            <a:r>
              <a:rPr lang="en-US" sz="1000" b="1" dirty="0">
                <a:solidFill>
                  <a:srgbClr val="5A6B7A"/>
                </a:solidFill>
                <a:latin typeface="Open Sans" pitchFamily="34" charset="0"/>
                <a:ea typeface="Open Sans" pitchFamily="34" charset="-122"/>
                <a:cs typeface="Open Sans" pitchFamily="34" charset="-120"/>
              </a:rPr>
              <a:t>Free vs Pro</a:t>
            </a:r>
            <a:endParaRPr lang="en-US" sz="1000" dirty="0"/>
          </a:p>
          <a:p>
            <a:pPr marL="0" indent="0">
              <a:lnSpc>
                <a:spcPct val="135000"/>
              </a:lnSpc>
              <a:buNone/>
            </a:pPr>
            <a:r>
              <a:rPr lang="en-US" sz="1000" dirty="0">
                <a:solidFill>
                  <a:srgbClr val="5A6B7A"/>
                </a:solidFill>
                <a:latin typeface="Open Sans" pitchFamily="34" charset="0"/>
                <a:ea typeface="Open Sans" pitchFamily="34" charset="-122"/>
                <a:cs typeface="Open Sans" pitchFamily="34" charset="-120"/>
              </a:rPr>
              <a:t>Free tier has daily message limits. Pro gives higher limits, extended thinking, and priority access.</a:t>
            </a:r>
            <a:endParaRPr lang="en-US" sz="1000" dirty="0"/>
          </a:p>
        </p:txBody>
      </p:sp>
      <p:sp>
        <p:nvSpPr>
          <p:cNvPr id="27" name="Text 24"/>
          <p:cNvSpPr/>
          <p:nvPr/>
        </p:nvSpPr>
        <p:spPr>
          <a:xfrm>
            <a:off x="5532120" y="3566160"/>
            <a:ext cx="2743200" cy="685800"/>
          </a:xfrm>
          <a:prstGeom prst="rect">
            <a:avLst/>
          </a:prstGeom>
          <a:noFill/>
          <a:ln/>
        </p:spPr>
        <p:txBody>
          <a:bodyPr wrap="square" lIns="0" tIns="0" rIns="0" bIns="0" rtlCol="0" anchor="ctr"/>
          <a:lstStyle/>
          <a:p>
            <a:pPr marL="0" indent="0">
              <a:lnSpc>
                <a:spcPct val="135000"/>
              </a:lnSpc>
              <a:buNone/>
            </a:pPr>
            <a:r>
              <a:rPr lang="en-US" sz="1000" b="1" dirty="0">
                <a:solidFill>
                  <a:srgbClr val="5A6B7A"/>
                </a:solidFill>
                <a:latin typeface="Open Sans" pitchFamily="34" charset="0"/>
                <a:ea typeface="Open Sans" pitchFamily="34" charset="-122"/>
                <a:cs typeface="Open Sans" pitchFamily="34" charset="-120"/>
              </a:rPr>
              <a:t>Privacy</a:t>
            </a:r>
            <a:endParaRPr lang="en-US" sz="1000" dirty="0"/>
          </a:p>
          <a:p>
            <a:pPr marL="0" indent="0">
              <a:lnSpc>
                <a:spcPct val="135000"/>
              </a:lnSpc>
              <a:buNone/>
            </a:pPr>
            <a:r>
              <a:rPr lang="en-US" sz="1000" dirty="0">
                <a:solidFill>
                  <a:srgbClr val="5A6B7A"/>
                </a:solidFill>
                <a:latin typeface="Open Sans" pitchFamily="34" charset="0"/>
                <a:ea typeface="Open Sans" pitchFamily="34" charset="-122"/>
                <a:cs typeface="Open Sans" pitchFamily="34" charset="-120"/>
              </a:rPr>
              <a:t>Don’t paste sensitive personal data. Course materials and public financial data are fine.</a:t>
            </a:r>
            <a:endParaRPr lang="en-US" sz="1000" dirty="0"/>
          </a:p>
        </p:txBody>
      </p:sp>
    </p:spTree>
    <p:extLst>
      <p:ext uri="{BB962C8B-B14F-4D97-AF65-F5344CB8AC3E}">
        <p14:creationId xmlns:p14="http://schemas.microsoft.com/office/powerpoint/2010/main" val="85635775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9144000" cy="825500"/>
          </a:xfrm>
          <a:prstGeom prst="rect">
            <a:avLst/>
          </a:prstGeom>
          <a:solidFill>
            <a:srgbClr val="024731"/>
          </a:solidFill>
          <a:ln>
            <a:noFill/>
          </a:ln>
        </p:spPr>
        <p:txBody>
          <a:bodyPr/>
          <a:lstStyle/>
          <a:p>
            <a:endParaRPr lang="en-US"/>
          </a:p>
        </p:txBody>
      </p:sp>
      <p:sp>
        <p:nvSpPr>
          <p:cNvPr id="4" name="Text 2"/>
          <p:cNvSpPr/>
          <p:nvPr/>
        </p:nvSpPr>
        <p:spPr>
          <a:xfrm>
            <a:off x="457200" y="4745736"/>
            <a:ext cx="8229600" cy="320040"/>
          </a:xfrm>
          <a:prstGeom prst="rect">
            <a:avLst/>
          </a:prstGeom>
          <a:noFill/>
          <a:ln/>
        </p:spPr>
        <p:txBody>
          <a:bodyPr wrap="square" lIns="0" tIns="0" rIns="0" bIns="0" rtlCol="0" anchor="ctr"/>
          <a:lstStyle/>
          <a:p>
            <a:pPr marL="0" indent="0" algn="ctr">
              <a:buNone/>
            </a:pPr>
            <a:r>
              <a:rPr lang="en-US" sz="1000" dirty="0">
                <a:solidFill>
                  <a:srgbClr val="5A6B7A"/>
                </a:solidFill>
                <a:latin typeface="Open Sans" pitchFamily="34" charset="0"/>
                <a:ea typeface="Open Sans" pitchFamily="34" charset="-122"/>
                <a:cs typeface="Open Sans" pitchFamily="34" charset="-120"/>
              </a:rPr>
              <a:t>Shidler College of Business  |  University of Hawaiʻi at Mānoa</a:t>
            </a:r>
            <a:endParaRPr lang="en-US" sz="1000" dirty="0"/>
          </a:p>
        </p:txBody>
      </p:sp>
      <p:sp>
        <p:nvSpPr>
          <p:cNvPr id="5" name="Text 3"/>
          <p:cNvSpPr/>
          <p:nvPr/>
        </p:nvSpPr>
        <p:spPr>
          <a:xfrm>
            <a:off x="731520" y="320040"/>
            <a:ext cx="7680960" cy="457200"/>
          </a:xfrm>
          <a:prstGeom prst="rect">
            <a:avLst/>
          </a:prstGeom>
          <a:noFill/>
          <a:ln/>
        </p:spPr>
        <p:txBody>
          <a:bodyPr wrap="square" lIns="0" tIns="0" rIns="0" bIns="0" rtlCol="0" anchor="ctr"/>
          <a:lstStyle/>
          <a:p>
            <a:pPr marL="0" indent="0">
              <a:buNone/>
            </a:pPr>
            <a:r>
              <a:rPr lang="en-US" sz="2800" b="1" dirty="0">
                <a:solidFill>
                  <a:srgbClr val="FFFFFF"/>
                </a:solidFill>
                <a:latin typeface="Open Sans" pitchFamily="34" charset="0"/>
                <a:ea typeface="Open Sans" pitchFamily="34" charset="-122"/>
                <a:cs typeface="Open Sans" pitchFamily="34" charset="-120"/>
              </a:rPr>
              <a:t>Uploading Files &amp; Using Projects</a:t>
            </a:r>
            <a:endParaRPr lang="en-US" sz="2800" dirty="0"/>
          </a:p>
        </p:txBody>
      </p:sp>
      <p:sp>
        <p:nvSpPr>
          <p:cNvPr id="6" name="Shape 4"/>
          <p:cNvSpPr/>
          <p:nvPr/>
        </p:nvSpPr>
        <p:spPr>
          <a:xfrm>
            <a:off x="731520" y="952500"/>
            <a:ext cx="3749040" cy="3429000"/>
          </a:xfrm>
          <a:prstGeom prst="rect">
            <a:avLst/>
          </a:prstGeom>
          <a:solidFill>
            <a:srgbClr val="FFFFFF"/>
          </a:solidFill>
          <a:ln/>
          <a:effectLst>
            <a:outerShdw blurRad="76200" dist="25400" dir="8100000" algn="bl" rotWithShape="0">
              <a:srgbClr val="000000">
                <a:alpha val="8000"/>
              </a:srgbClr>
            </a:outerShdw>
          </a:effectLst>
        </p:spPr>
        <p:txBody>
          <a:bodyPr/>
          <a:lstStyle/>
          <a:p>
            <a:endParaRPr lang="en-US"/>
          </a:p>
        </p:txBody>
      </p:sp>
      <p:pic>
        <p:nvPicPr>
          <p:cNvPr id="7" name="Image 0" descr="preencoded.png"/>
          <p:cNvPicPr>
            <a:picLocks noChangeAspect="1"/>
          </p:cNvPicPr>
          <p:nvPr/>
        </p:nvPicPr>
        <p:blipFill>
          <a:blip r:embed="rId3"/>
          <a:stretch>
            <a:fillRect/>
          </a:stretch>
        </p:blipFill>
        <p:spPr>
          <a:xfrm>
            <a:off x="914400" y="1188720"/>
            <a:ext cx="365760" cy="365760"/>
          </a:xfrm>
          <a:prstGeom prst="rect">
            <a:avLst/>
          </a:prstGeom>
        </p:spPr>
      </p:pic>
      <p:sp>
        <p:nvSpPr>
          <p:cNvPr id="8" name="Text 5"/>
          <p:cNvSpPr/>
          <p:nvPr/>
        </p:nvSpPr>
        <p:spPr>
          <a:xfrm>
            <a:off x="1371600" y="1188720"/>
            <a:ext cx="2926080" cy="365760"/>
          </a:xfrm>
          <a:prstGeom prst="rect">
            <a:avLst/>
          </a:prstGeom>
          <a:noFill/>
          <a:ln/>
        </p:spPr>
        <p:txBody>
          <a:bodyPr wrap="square" lIns="0" tIns="0" rIns="0" bIns="0" rtlCol="0" anchor="ctr"/>
          <a:lstStyle/>
          <a:p>
            <a:pPr marL="0" indent="0">
              <a:buNone/>
            </a:pPr>
            <a:r>
              <a:rPr lang="en-US" sz="1600" b="1" dirty="0">
                <a:solidFill>
                  <a:srgbClr val="1E2530"/>
                </a:solidFill>
                <a:latin typeface="Open Sans" pitchFamily="34" charset="0"/>
                <a:ea typeface="Open Sans" pitchFamily="34" charset="-122"/>
                <a:cs typeface="Open Sans" pitchFamily="34" charset="-120"/>
              </a:rPr>
              <a:t>File Uploads</a:t>
            </a:r>
            <a:endParaRPr lang="en-US" sz="1600" dirty="0"/>
          </a:p>
        </p:txBody>
      </p:sp>
      <p:sp>
        <p:nvSpPr>
          <p:cNvPr id="9" name="Text 6"/>
          <p:cNvSpPr/>
          <p:nvPr/>
        </p:nvSpPr>
        <p:spPr>
          <a:xfrm>
            <a:off x="914400" y="1737360"/>
            <a:ext cx="3383280" cy="2377440"/>
          </a:xfrm>
          <a:prstGeom prst="rect">
            <a:avLst/>
          </a:prstGeom>
          <a:noFill/>
          <a:ln/>
        </p:spPr>
        <p:txBody>
          <a:bodyPr wrap="square" lIns="0" tIns="0" rIns="0" bIns="0" rtlCol="0" anchor="ctr"/>
          <a:lstStyle/>
          <a:p>
            <a:pPr marL="342900" indent="-342900">
              <a:lnSpc>
                <a:spcPct val="160000"/>
              </a:lnSpc>
              <a:buSzPct val="100000"/>
              <a:buChar char="•"/>
            </a:pPr>
            <a:r>
              <a:rPr lang="en-US" sz="1100" dirty="0">
                <a:solidFill>
                  <a:srgbClr val="5A6B7A"/>
                </a:solidFill>
                <a:latin typeface="Open Sans" pitchFamily="34" charset="0"/>
                <a:ea typeface="Open Sans" pitchFamily="34" charset="-122"/>
                <a:cs typeface="Open Sans" pitchFamily="34" charset="-120"/>
              </a:rPr>
              <a:t>Click the paperclip icon or drag and drop</a:t>
            </a:r>
            <a:endParaRPr lang="en-US" sz="1100" dirty="0"/>
          </a:p>
          <a:p>
            <a:pPr marL="342900" indent="-342900">
              <a:lnSpc>
                <a:spcPct val="160000"/>
              </a:lnSpc>
              <a:buSzPct val="100000"/>
              <a:buChar char="•"/>
            </a:pPr>
            <a:r>
              <a:rPr lang="en-US" sz="1100" dirty="0">
                <a:solidFill>
                  <a:srgbClr val="5A6B7A"/>
                </a:solidFill>
                <a:latin typeface="Open Sans" pitchFamily="34" charset="0"/>
                <a:ea typeface="Open Sans" pitchFamily="34" charset="-122"/>
                <a:cs typeface="Open Sans" pitchFamily="34" charset="-120"/>
              </a:rPr>
              <a:t>Supported: .xlsx, .pdf, .csv, .png, .jpg, .md</a:t>
            </a:r>
            <a:endParaRPr lang="en-US" sz="1100" dirty="0"/>
          </a:p>
          <a:p>
            <a:pPr marL="342900" indent="-342900">
              <a:lnSpc>
                <a:spcPct val="160000"/>
              </a:lnSpc>
              <a:buSzPct val="100000"/>
              <a:buChar char="•"/>
            </a:pPr>
            <a:r>
              <a:rPr lang="en-US" sz="1100" dirty="0">
                <a:solidFill>
                  <a:srgbClr val="5A6B7A"/>
                </a:solidFill>
                <a:latin typeface="Open Sans" pitchFamily="34" charset="0"/>
                <a:ea typeface="Open Sans" pitchFamily="34" charset="-122"/>
                <a:cs typeface="Open Sans" pitchFamily="34" charset="-120"/>
              </a:rPr>
              <a:t>Claude reads the actual content — not just the filename</a:t>
            </a:r>
            <a:endParaRPr lang="en-US" sz="1100" dirty="0"/>
          </a:p>
          <a:p>
            <a:pPr marL="342900" indent="-342900">
              <a:lnSpc>
                <a:spcPct val="160000"/>
              </a:lnSpc>
              <a:buSzPct val="100000"/>
              <a:buChar char="•"/>
            </a:pPr>
            <a:r>
              <a:rPr lang="en-US" sz="1100" dirty="0">
                <a:solidFill>
                  <a:srgbClr val="5A6B7A"/>
                </a:solidFill>
                <a:latin typeface="Open Sans" pitchFamily="34" charset="0"/>
                <a:ea typeface="Open Sans" pitchFamily="34" charset="-122"/>
                <a:cs typeface="Open Sans" pitchFamily="34" charset="-120"/>
              </a:rPr>
              <a:t>Upload your Stage 2 Excel to verify ratios</a:t>
            </a:r>
            <a:endParaRPr lang="en-US" sz="1100" dirty="0"/>
          </a:p>
          <a:p>
            <a:pPr marL="342900" indent="-342900">
              <a:lnSpc>
                <a:spcPct val="160000"/>
              </a:lnSpc>
              <a:buSzPct val="100000"/>
              <a:buChar char="•"/>
            </a:pPr>
            <a:r>
              <a:rPr lang="en-US" sz="1100" dirty="0">
                <a:solidFill>
                  <a:srgbClr val="5A6B7A"/>
                </a:solidFill>
                <a:latin typeface="Open Sans" pitchFamily="34" charset="0"/>
                <a:ea typeface="Open Sans" pitchFamily="34" charset="-122"/>
                <a:cs typeface="Open Sans" pitchFamily="34" charset="-120"/>
              </a:rPr>
              <a:t>Upload your Stage 3 spec as context for Stage 4</a:t>
            </a:r>
            <a:endParaRPr lang="en-US" sz="1100" dirty="0"/>
          </a:p>
        </p:txBody>
      </p:sp>
      <p:sp>
        <p:nvSpPr>
          <p:cNvPr id="10" name="Shape 7"/>
          <p:cNvSpPr/>
          <p:nvPr/>
        </p:nvSpPr>
        <p:spPr>
          <a:xfrm>
            <a:off x="4663440" y="1005840"/>
            <a:ext cx="3749040" cy="3429000"/>
          </a:xfrm>
          <a:prstGeom prst="rect">
            <a:avLst/>
          </a:prstGeom>
          <a:solidFill>
            <a:srgbClr val="FFFFFF"/>
          </a:solidFill>
          <a:ln/>
          <a:effectLst>
            <a:outerShdw blurRad="76200" dist="25400" dir="8100000" algn="bl" rotWithShape="0">
              <a:srgbClr val="000000">
                <a:alpha val="8000"/>
              </a:srgbClr>
            </a:outerShdw>
          </a:effectLst>
        </p:spPr>
        <p:txBody>
          <a:bodyPr/>
          <a:lstStyle/>
          <a:p>
            <a:endParaRPr lang="en-US"/>
          </a:p>
        </p:txBody>
      </p:sp>
      <p:pic>
        <p:nvPicPr>
          <p:cNvPr id="11" name="Image 1" descr="preencoded.png"/>
          <p:cNvPicPr>
            <a:picLocks noChangeAspect="1"/>
          </p:cNvPicPr>
          <p:nvPr/>
        </p:nvPicPr>
        <p:blipFill>
          <a:blip r:embed="rId4"/>
          <a:stretch>
            <a:fillRect/>
          </a:stretch>
        </p:blipFill>
        <p:spPr>
          <a:xfrm>
            <a:off x="4846320" y="1188720"/>
            <a:ext cx="365760" cy="365760"/>
          </a:xfrm>
          <a:prstGeom prst="rect">
            <a:avLst/>
          </a:prstGeom>
        </p:spPr>
      </p:pic>
      <p:sp>
        <p:nvSpPr>
          <p:cNvPr id="12" name="Text 8"/>
          <p:cNvSpPr/>
          <p:nvPr/>
        </p:nvSpPr>
        <p:spPr>
          <a:xfrm>
            <a:off x="5303520" y="1188720"/>
            <a:ext cx="2926080" cy="365760"/>
          </a:xfrm>
          <a:prstGeom prst="rect">
            <a:avLst/>
          </a:prstGeom>
          <a:noFill/>
          <a:ln/>
        </p:spPr>
        <p:txBody>
          <a:bodyPr wrap="square" lIns="0" tIns="0" rIns="0" bIns="0" rtlCol="0" anchor="ctr"/>
          <a:lstStyle/>
          <a:p>
            <a:pPr marL="0" indent="0">
              <a:buNone/>
            </a:pPr>
            <a:r>
              <a:rPr lang="en-US" sz="1600" b="1" dirty="0">
                <a:solidFill>
                  <a:srgbClr val="1E2530"/>
                </a:solidFill>
                <a:latin typeface="Open Sans" pitchFamily="34" charset="0"/>
                <a:ea typeface="Open Sans" pitchFamily="34" charset="-122"/>
                <a:cs typeface="Open Sans" pitchFamily="34" charset="-120"/>
              </a:rPr>
              <a:t>Projects (Pro Feature)</a:t>
            </a:r>
            <a:endParaRPr lang="en-US" sz="1600" dirty="0"/>
          </a:p>
        </p:txBody>
      </p:sp>
      <p:sp>
        <p:nvSpPr>
          <p:cNvPr id="13" name="Text 9"/>
          <p:cNvSpPr/>
          <p:nvPr/>
        </p:nvSpPr>
        <p:spPr>
          <a:xfrm>
            <a:off x="4846320" y="1737360"/>
            <a:ext cx="3383280" cy="2377440"/>
          </a:xfrm>
          <a:prstGeom prst="rect">
            <a:avLst/>
          </a:prstGeom>
          <a:noFill/>
          <a:ln/>
        </p:spPr>
        <p:txBody>
          <a:bodyPr wrap="square" lIns="0" tIns="0" rIns="0" bIns="0" rtlCol="0" anchor="ctr"/>
          <a:lstStyle/>
          <a:p>
            <a:pPr marL="342900" indent="-342900">
              <a:lnSpc>
                <a:spcPct val="160000"/>
              </a:lnSpc>
              <a:buSzPct val="100000"/>
              <a:buChar char="•"/>
            </a:pPr>
            <a:r>
              <a:rPr lang="en-US" sz="1100" dirty="0">
                <a:solidFill>
                  <a:srgbClr val="5A6B7A"/>
                </a:solidFill>
                <a:latin typeface="Open Sans" pitchFamily="34" charset="0"/>
                <a:ea typeface="Open Sans" pitchFamily="34" charset="-122"/>
                <a:cs typeface="Open Sans" pitchFamily="34" charset="-120"/>
              </a:rPr>
              <a:t>Create a project and attach your spec, rubric, and data files</a:t>
            </a:r>
            <a:endParaRPr lang="en-US" sz="1100" dirty="0"/>
          </a:p>
          <a:p>
            <a:pPr marL="342900" indent="-342900">
              <a:lnSpc>
                <a:spcPct val="160000"/>
              </a:lnSpc>
              <a:buSzPct val="100000"/>
              <a:buChar char="•"/>
            </a:pPr>
            <a:r>
              <a:rPr lang="en-US" sz="1100" dirty="0">
                <a:solidFill>
                  <a:srgbClr val="5A6B7A"/>
                </a:solidFill>
                <a:latin typeface="Open Sans" pitchFamily="34" charset="0"/>
                <a:ea typeface="Open Sans" pitchFamily="34" charset="-122"/>
                <a:cs typeface="Open Sans" pitchFamily="34" charset="-120"/>
              </a:rPr>
              <a:t>Every conversation in that project automatically sees those files</a:t>
            </a:r>
            <a:endParaRPr lang="en-US" sz="1100" dirty="0"/>
          </a:p>
          <a:p>
            <a:pPr marL="342900" indent="-342900">
              <a:lnSpc>
                <a:spcPct val="160000"/>
              </a:lnSpc>
              <a:buSzPct val="100000"/>
              <a:buChar char="•"/>
            </a:pPr>
            <a:r>
              <a:rPr lang="en-US" sz="1100" dirty="0">
                <a:solidFill>
                  <a:srgbClr val="5A6B7A"/>
                </a:solidFill>
                <a:latin typeface="Open Sans" pitchFamily="34" charset="0"/>
                <a:ea typeface="Open Sans" pitchFamily="34" charset="-122"/>
                <a:cs typeface="Open Sans" pitchFamily="34" charset="-120"/>
              </a:rPr>
              <a:t>No need to re-upload each session</a:t>
            </a:r>
            <a:endParaRPr lang="en-US" sz="1100" dirty="0"/>
          </a:p>
          <a:p>
            <a:pPr marL="342900" indent="-342900">
              <a:lnSpc>
                <a:spcPct val="160000"/>
              </a:lnSpc>
              <a:buSzPct val="100000"/>
              <a:buChar char="•"/>
            </a:pPr>
            <a:r>
              <a:rPr lang="en-US" sz="1100" dirty="0">
                <a:solidFill>
                  <a:srgbClr val="5A6B7A"/>
                </a:solidFill>
                <a:latin typeface="Open Sans" pitchFamily="34" charset="0"/>
                <a:ea typeface="Open Sans" pitchFamily="34" charset="-122"/>
                <a:cs typeface="Open Sans" pitchFamily="34" charset="-120"/>
              </a:rPr>
              <a:t>Add custom instructions: “Always use BUS-314 named range conventions”</a:t>
            </a:r>
            <a:endParaRPr lang="en-US" sz="1100" dirty="0"/>
          </a:p>
          <a:p>
            <a:pPr marL="342900" indent="-342900">
              <a:lnSpc>
                <a:spcPct val="160000"/>
              </a:lnSpc>
              <a:buSzPct val="100000"/>
              <a:buChar char="•"/>
            </a:pPr>
            <a:r>
              <a:rPr lang="en-US" sz="1100" dirty="0">
                <a:solidFill>
                  <a:srgbClr val="5A6B7A"/>
                </a:solidFill>
                <a:latin typeface="Open Sans" pitchFamily="34" charset="0"/>
                <a:ea typeface="Open Sans" pitchFamily="34" charset="-122"/>
                <a:cs typeface="Open Sans" pitchFamily="34" charset="-120"/>
              </a:rPr>
              <a:t>Great for multi-session work across stages</a:t>
            </a:r>
            <a:endParaRPr lang="en-US" sz="1100" dirty="0"/>
          </a:p>
        </p:txBody>
      </p:sp>
    </p:spTree>
    <p:extLst>
      <p:ext uri="{BB962C8B-B14F-4D97-AF65-F5344CB8AC3E}">
        <p14:creationId xmlns:p14="http://schemas.microsoft.com/office/powerpoint/2010/main" val="253956105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9144000" cy="825500"/>
          </a:xfrm>
          <a:prstGeom prst="rect">
            <a:avLst/>
          </a:prstGeom>
          <a:solidFill>
            <a:srgbClr val="024731"/>
          </a:solidFill>
          <a:ln>
            <a:noFill/>
          </a:ln>
        </p:spPr>
        <p:txBody>
          <a:bodyPr/>
          <a:lstStyle/>
          <a:p>
            <a:endParaRPr lang="en-US"/>
          </a:p>
        </p:txBody>
      </p:sp>
      <p:sp>
        <p:nvSpPr>
          <p:cNvPr id="4" name="Text 2"/>
          <p:cNvSpPr/>
          <p:nvPr/>
        </p:nvSpPr>
        <p:spPr>
          <a:xfrm>
            <a:off x="457200" y="4745736"/>
            <a:ext cx="8229600" cy="320040"/>
          </a:xfrm>
          <a:prstGeom prst="rect">
            <a:avLst/>
          </a:prstGeom>
          <a:noFill/>
          <a:ln/>
        </p:spPr>
        <p:txBody>
          <a:bodyPr wrap="square" lIns="0" tIns="0" rIns="0" bIns="0" rtlCol="0" anchor="ctr"/>
          <a:lstStyle/>
          <a:p>
            <a:pPr marL="0" indent="0" algn="ctr">
              <a:buNone/>
            </a:pPr>
            <a:r>
              <a:rPr lang="en-US" sz="1000" dirty="0">
                <a:solidFill>
                  <a:srgbClr val="5A6B7A"/>
                </a:solidFill>
                <a:latin typeface="Open Sans" pitchFamily="34" charset="0"/>
                <a:ea typeface="Open Sans" pitchFamily="34" charset="-122"/>
                <a:cs typeface="Open Sans" pitchFamily="34" charset="-120"/>
              </a:rPr>
              <a:t>Shidler College of Business  |  University of Hawaiʻi at Mānoa</a:t>
            </a:r>
            <a:endParaRPr lang="en-US" sz="1000" dirty="0"/>
          </a:p>
        </p:txBody>
      </p:sp>
      <p:sp>
        <p:nvSpPr>
          <p:cNvPr id="5" name="Text 3"/>
          <p:cNvSpPr/>
          <p:nvPr/>
        </p:nvSpPr>
        <p:spPr>
          <a:xfrm>
            <a:off x="731520" y="320040"/>
            <a:ext cx="7680960" cy="457200"/>
          </a:xfrm>
          <a:prstGeom prst="rect">
            <a:avLst/>
          </a:prstGeom>
          <a:noFill/>
          <a:ln/>
        </p:spPr>
        <p:txBody>
          <a:bodyPr wrap="square" lIns="0" tIns="0" rIns="0" bIns="0" rtlCol="0" anchor="ctr"/>
          <a:lstStyle/>
          <a:p>
            <a:pPr marL="0" indent="0">
              <a:buNone/>
            </a:pPr>
            <a:r>
              <a:rPr lang="en-US" sz="2800" b="1" dirty="0">
                <a:solidFill>
                  <a:srgbClr val="FFFFFF"/>
                </a:solidFill>
                <a:latin typeface="Open Sans" pitchFamily="34" charset="0"/>
                <a:ea typeface="Open Sans" pitchFamily="34" charset="-122"/>
                <a:cs typeface="Open Sans" pitchFamily="34" charset="-120"/>
              </a:rPr>
              <a:t>Artifacts</a:t>
            </a:r>
            <a:endParaRPr lang="en-US" sz="2800" dirty="0"/>
          </a:p>
        </p:txBody>
      </p:sp>
      <p:sp>
        <p:nvSpPr>
          <p:cNvPr id="6" name="Text 4"/>
          <p:cNvSpPr/>
          <p:nvPr/>
        </p:nvSpPr>
        <p:spPr>
          <a:xfrm>
            <a:off x="731520" y="952500"/>
            <a:ext cx="7680960" cy="457200"/>
          </a:xfrm>
          <a:prstGeom prst="rect">
            <a:avLst/>
          </a:prstGeom>
          <a:noFill/>
          <a:ln/>
        </p:spPr>
        <p:txBody>
          <a:bodyPr wrap="square" lIns="0" tIns="0" rIns="0" bIns="0" rtlCol="0" anchor="ctr"/>
          <a:lstStyle/>
          <a:p>
            <a:pPr marL="0" indent="0">
              <a:lnSpc>
                <a:spcPct val="130000"/>
              </a:lnSpc>
              <a:buNone/>
            </a:pPr>
            <a:r>
              <a:rPr lang="en-US" sz="1300" dirty="0">
                <a:solidFill>
                  <a:srgbClr val="5A6B7A"/>
                </a:solidFill>
                <a:latin typeface="Open Sans" pitchFamily="34" charset="0"/>
                <a:ea typeface="Open Sans" pitchFamily="34" charset="-122"/>
                <a:cs typeface="Open Sans" pitchFamily="34" charset="-120"/>
              </a:rPr>
              <a:t>When Claude generates a memo, table, or code block, it appears in an Artifact panel — a side-by-side document you can copy, edit, or download directly.</a:t>
            </a:r>
            <a:endParaRPr lang="en-US" sz="1300" dirty="0"/>
          </a:p>
        </p:txBody>
      </p:sp>
      <p:sp>
        <p:nvSpPr>
          <p:cNvPr id="7" name="Shape 5"/>
          <p:cNvSpPr/>
          <p:nvPr/>
        </p:nvSpPr>
        <p:spPr>
          <a:xfrm>
            <a:off x="731520" y="1554480"/>
            <a:ext cx="2514600" cy="2560320"/>
          </a:xfrm>
          <a:prstGeom prst="rect">
            <a:avLst/>
          </a:prstGeom>
          <a:solidFill>
            <a:srgbClr val="FFFFFF"/>
          </a:solidFill>
          <a:ln/>
          <a:effectLst>
            <a:outerShdw blurRad="76200" dist="25400" dir="8100000" algn="bl" rotWithShape="0">
              <a:srgbClr val="000000">
                <a:alpha val="8000"/>
              </a:srgbClr>
            </a:outerShdw>
          </a:effectLst>
        </p:spPr>
        <p:txBody>
          <a:bodyPr/>
          <a:lstStyle/>
          <a:p>
            <a:endParaRPr lang="en-US"/>
          </a:p>
        </p:txBody>
      </p:sp>
      <p:pic>
        <p:nvPicPr>
          <p:cNvPr id="8" name="Image 0" descr="preencoded.png"/>
          <p:cNvPicPr>
            <a:picLocks noChangeAspect="1"/>
          </p:cNvPicPr>
          <p:nvPr/>
        </p:nvPicPr>
        <p:blipFill>
          <a:blip r:embed="rId3"/>
          <a:stretch>
            <a:fillRect/>
          </a:stretch>
        </p:blipFill>
        <p:spPr>
          <a:xfrm>
            <a:off x="1645920" y="1783080"/>
            <a:ext cx="457200" cy="457200"/>
          </a:xfrm>
          <a:prstGeom prst="rect">
            <a:avLst/>
          </a:prstGeom>
        </p:spPr>
      </p:pic>
      <p:sp>
        <p:nvSpPr>
          <p:cNvPr id="9" name="Text 6"/>
          <p:cNvSpPr/>
          <p:nvPr/>
        </p:nvSpPr>
        <p:spPr>
          <a:xfrm>
            <a:off x="868680" y="2377440"/>
            <a:ext cx="2240280" cy="320040"/>
          </a:xfrm>
          <a:prstGeom prst="rect">
            <a:avLst/>
          </a:prstGeom>
          <a:noFill/>
          <a:ln/>
        </p:spPr>
        <p:txBody>
          <a:bodyPr wrap="square" lIns="0" tIns="0" rIns="0" bIns="0" rtlCol="0" anchor="ctr"/>
          <a:lstStyle/>
          <a:p>
            <a:pPr marL="0" indent="0" algn="ctr">
              <a:buNone/>
            </a:pPr>
            <a:r>
              <a:rPr lang="en-US" sz="1400" b="1" dirty="0">
                <a:solidFill>
                  <a:srgbClr val="1E2530"/>
                </a:solidFill>
                <a:latin typeface="Open Sans" pitchFamily="34" charset="0"/>
                <a:ea typeface="Open Sans" pitchFamily="34" charset="-122"/>
                <a:cs typeface="Open Sans" pitchFamily="34" charset="-120"/>
              </a:rPr>
              <a:t>Markdown Memos</a:t>
            </a:r>
            <a:endParaRPr lang="en-US" sz="1400" dirty="0"/>
          </a:p>
        </p:txBody>
      </p:sp>
      <p:sp>
        <p:nvSpPr>
          <p:cNvPr id="10" name="Text 7"/>
          <p:cNvSpPr/>
          <p:nvPr/>
        </p:nvSpPr>
        <p:spPr>
          <a:xfrm>
            <a:off x="868680" y="2743200"/>
            <a:ext cx="2240280" cy="1188720"/>
          </a:xfrm>
          <a:prstGeom prst="rect">
            <a:avLst/>
          </a:prstGeom>
          <a:noFill/>
          <a:ln/>
        </p:spPr>
        <p:txBody>
          <a:bodyPr wrap="square" lIns="0" tIns="0" rIns="0" bIns="0" rtlCol="0" anchor="ctr"/>
          <a:lstStyle/>
          <a:p>
            <a:pPr marL="0" indent="0" algn="l">
              <a:lnSpc>
                <a:spcPct val="140000"/>
              </a:lnSpc>
              <a:buNone/>
            </a:pPr>
            <a:r>
              <a:rPr lang="en-US" sz="1100" dirty="0">
                <a:solidFill>
                  <a:srgbClr val="5A6B7A"/>
                </a:solidFill>
                <a:latin typeface="Open Sans" pitchFamily="34" charset="0"/>
                <a:ea typeface="Open Sans" pitchFamily="34" charset="-122"/>
                <a:cs typeface="Open Sans" pitchFamily="34" charset="-120"/>
              </a:rPr>
              <a:t>Ask Claude to draft your Stage 1 or Stage 4 memo. It appears as an editable Artifact you can copy into your .md file.</a:t>
            </a:r>
            <a:endParaRPr lang="en-US" sz="1100" dirty="0"/>
          </a:p>
        </p:txBody>
      </p:sp>
      <p:sp>
        <p:nvSpPr>
          <p:cNvPr id="11" name="Shape 8"/>
          <p:cNvSpPr/>
          <p:nvPr/>
        </p:nvSpPr>
        <p:spPr>
          <a:xfrm>
            <a:off x="3566160" y="1554480"/>
            <a:ext cx="2514600" cy="2560320"/>
          </a:xfrm>
          <a:prstGeom prst="rect">
            <a:avLst/>
          </a:prstGeom>
          <a:solidFill>
            <a:srgbClr val="FFFFFF"/>
          </a:solidFill>
          <a:ln/>
          <a:effectLst>
            <a:outerShdw blurRad="76200" dist="25400" dir="8100000" algn="bl" rotWithShape="0">
              <a:srgbClr val="000000">
                <a:alpha val="8000"/>
              </a:srgbClr>
            </a:outerShdw>
          </a:effectLst>
        </p:spPr>
        <p:txBody>
          <a:bodyPr/>
          <a:lstStyle/>
          <a:p>
            <a:endParaRPr lang="en-US"/>
          </a:p>
        </p:txBody>
      </p:sp>
      <p:pic>
        <p:nvPicPr>
          <p:cNvPr id="12" name="Image 1" descr="preencoded.png"/>
          <p:cNvPicPr>
            <a:picLocks noChangeAspect="1"/>
          </p:cNvPicPr>
          <p:nvPr/>
        </p:nvPicPr>
        <p:blipFill>
          <a:blip r:embed="rId4"/>
          <a:stretch>
            <a:fillRect/>
          </a:stretch>
        </p:blipFill>
        <p:spPr>
          <a:xfrm>
            <a:off x="4480560" y="1783080"/>
            <a:ext cx="457200" cy="457200"/>
          </a:xfrm>
          <a:prstGeom prst="rect">
            <a:avLst/>
          </a:prstGeom>
        </p:spPr>
      </p:pic>
      <p:sp>
        <p:nvSpPr>
          <p:cNvPr id="13" name="Text 9"/>
          <p:cNvSpPr/>
          <p:nvPr/>
        </p:nvSpPr>
        <p:spPr>
          <a:xfrm>
            <a:off x="3703320" y="2377440"/>
            <a:ext cx="2240280" cy="320040"/>
          </a:xfrm>
          <a:prstGeom prst="rect">
            <a:avLst/>
          </a:prstGeom>
          <a:noFill/>
          <a:ln/>
        </p:spPr>
        <p:txBody>
          <a:bodyPr wrap="square" lIns="0" tIns="0" rIns="0" bIns="0" rtlCol="0" anchor="ctr"/>
          <a:lstStyle/>
          <a:p>
            <a:pPr marL="0" indent="0" algn="ctr">
              <a:buNone/>
            </a:pPr>
            <a:r>
              <a:rPr lang="en-US" sz="1400" b="1" dirty="0">
                <a:solidFill>
                  <a:srgbClr val="1E2530"/>
                </a:solidFill>
                <a:latin typeface="Open Sans" pitchFamily="34" charset="0"/>
                <a:ea typeface="Open Sans" pitchFamily="34" charset="-122"/>
                <a:cs typeface="Open Sans" pitchFamily="34" charset="-120"/>
              </a:rPr>
              <a:t>Tables &amp; Charts</a:t>
            </a:r>
            <a:endParaRPr lang="en-US" sz="1400" dirty="0"/>
          </a:p>
        </p:txBody>
      </p:sp>
      <p:sp>
        <p:nvSpPr>
          <p:cNvPr id="14" name="Text 10"/>
          <p:cNvSpPr/>
          <p:nvPr/>
        </p:nvSpPr>
        <p:spPr>
          <a:xfrm>
            <a:off x="3703320" y="2743200"/>
            <a:ext cx="2240280" cy="1188720"/>
          </a:xfrm>
          <a:prstGeom prst="rect">
            <a:avLst/>
          </a:prstGeom>
          <a:noFill/>
          <a:ln/>
        </p:spPr>
        <p:txBody>
          <a:bodyPr wrap="square" lIns="0" tIns="0" rIns="0" bIns="0" rtlCol="0" anchor="ctr"/>
          <a:lstStyle/>
          <a:p>
            <a:pPr marL="0" indent="0" algn="l">
              <a:lnSpc>
                <a:spcPct val="140000"/>
              </a:lnSpc>
              <a:buNone/>
            </a:pPr>
            <a:r>
              <a:rPr lang="en-US" sz="1100" dirty="0">
                <a:solidFill>
                  <a:srgbClr val="5A6B7A"/>
                </a:solidFill>
                <a:latin typeface="Open Sans" pitchFamily="34" charset="0"/>
                <a:ea typeface="Open Sans" pitchFamily="34" charset="-122"/>
                <a:cs typeface="Open Sans" pitchFamily="34" charset="-120"/>
              </a:rPr>
              <a:t>Claude can generate Markdown tables, HTML previews, and structured data. Perfect for ratio summaries.</a:t>
            </a:r>
            <a:endParaRPr lang="en-US" sz="1100" dirty="0"/>
          </a:p>
        </p:txBody>
      </p:sp>
      <p:sp>
        <p:nvSpPr>
          <p:cNvPr id="15" name="Shape 11"/>
          <p:cNvSpPr/>
          <p:nvPr/>
        </p:nvSpPr>
        <p:spPr>
          <a:xfrm>
            <a:off x="6400800" y="1554480"/>
            <a:ext cx="2514600" cy="2560320"/>
          </a:xfrm>
          <a:prstGeom prst="rect">
            <a:avLst/>
          </a:prstGeom>
          <a:solidFill>
            <a:srgbClr val="FFFFFF"/>
          </a:solidFill>
          <a:ln/>
          <a:effectLst>
            <a:outerShdw blurRad="76200" dist="25400" dir="8100000" algn="bl" rotWithShape="0">
              <a:srgbClr val="000000">
                <a:alpha val="8000"/>
              </a:srgbClr>
            </a:outerShdw>
          </a:effectLst>
        </p:spPr>
        <p:txBody>
          <a:bodyPr/>
          <a:lstStyle/>
          <a:p>
            <a:endParaRPr lang="en-US"/>
          </a:p>
        </p:txBody>
      </p:sp>
      <p:pic>
        <p:nvPicPr>
          <p:cNvPr id="16" name="Image 2" descr="preencoded.png"/>
          <p:cNvPicPr>
            <a:picLocks noChangeAspect="1"/>
          </p:cNvPicPr>
          <p:nvPr/>
        </p:nvPicPr>
        <p:blipFill>
          <a:blip r:embed="rId5"/>
          <a:stretch>
            <a:fillRect/>
          </a:stretch>
        </p:blipFill>
        <p:spPr>
          <a:xfrm>
            <a:off x="7315200" y="1783080"/>
            <a:ext cx="457200" cy="457200"/>
          </a:xfrm>
          <a:prstGeom prst="rect">
            <a:avLst/>
          </a:prstGeom>
        </p:spPr>
      </p:pic>
      <p:sp>
        <p:nvSpPr>
          <p:cNvPr id="17" name="Text 12"/>
          <p:cNvSpPr/>
          <p:nvPr/>
        </p:nvSpPr>
        <p:spPr>
          <a:xfrm>
            <a:off x="6537960" y="2377440"/>
            <a:ext cx="2240280" cy="320040"/>
          </a:xfrm>
          <a:prstGeom prst="rect">
            <a:avLst/>
          </a:prstGeom>
          <a:noFill/>
          <a:ln/>
        </p:spPr>
        <p:txBody>
          <a:bodyPr wrap="square" lIns="0" tIns="0" rIns="0" bIns="0" rtlCol="0" anchor="ctr"/>
          <a:lstStyle/>
          <a:p>
            <a:pPr marL="0" indent="0" algn="ctr">
              <a:buNone/>
            </a:pPr>
            <a:r>
              <a:rPr lang="en-US" sz="1400" b="1" dirty="0">
                <a:solidFill>
                  <a:srgbClr val="1E2530"/>
                </a:solidFill>
                <a:latin typeface="Open Sans" pitchFamily="34" charset="0"/>
                <a:ea typeface="Open Sans" pitchFamily="34" charset="-122"/>
                <a:cs typeface="Open Sans" pitchFamily="34" charset="-120"/>
              </a:rPr>
              <a:t>Code &amp; Formulas</a:t>
            </a:r>
            <a:endParaRPr lang="en-US" sz="1400" dirty="0"/>
          </a:p>
        </p:txBody>
      </p:sp>
      <p:sp>
        <p:nvSpPr>
          <p:cNvPr id="18" name="Text 13"/>
          <p:cNvSpPr/>
          <p:nvPr/>
        </p:nvSpPr>
        <p:spPr>
          <a:xfrm>
            <a:off x="6537960" y="2743200"/>
            <a:ext cx="2240280" cy="1188720"/>
          </a:xfrm>
          <a:prstGeom prst="rect">
            <a:avLst/>
          </a:prstGeom>
          <a:noFill/>
          <a:ln/>
        </p:spPr>
        <p:txBody>
          <a:bodyPr wrap="square" lIns="0" tIns="0" rIns="0" bIns="0" rtlCol="0" anchor="ctr"/>
          <a:lstStyle/>
          <a:p>
            <a:pPr marL="0" indent="0" algn="l">
              <a:lnSpc>
                <a:spcPct val="140000"/>
              </a:lnSpc>
              <a:buNone/>
            </a:pPr>
            <a:r>
              <a:rPr lang="en-US" sz="1100" dirty="0">
                <a:solidFill>
                  <a:srgbClr val="5A6B7A"/>
                </a:solidFill>
                <a:latin typeface="Open Sans" pitchFamily="34" charset="0"/>
                <a:ea typeface="Open Sans" pitchFamily="34" charset="-122"/>
                <a:cs typeface="Open Sans" pitchFamily="34" charset="-120"/>
              </a:rPr>
              <a:t>Request Excel formulas or Python scripts. Artifacts let you preview and iterate without leaving the conversation.</a:t>
            </a:r>
            <a:endParaRPr lang="en-US" sz="1100" dirty="0"/>
          </a:p>
        </p:txBody>
      </p:sp>
    </p:spTree>
    <p:extLst>
      <p:ext uri="{BB962C8B-B14F-4D97-AF65-F5344CB8AC3E}">
        <p14:creationId xmlns:p14="http://schemas.microsoft.com/office/powerpoint/2010/main" val="70314109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9144000" cy="825500"/>
          </a:xfrm>
          <a:prstGeom prst="rect">
            <a:avLst/>
          </a:prstGeom>
          <a:solidFill>
            <a:srgbClr val="024731"/>
          </a:solidFill>
          <a:ln>
            <a:noFill/>
          </a:ln>
        </p:spPr>
        <p:txBody>
          <a:bodyPr/>
          <a:lstStyle/>
          <a:p>
            <a:endParaRPr lang="en-US"/>
          </a:p>
        </p:txBody>
      </p:sp>
      <p:sp>
        <p:nvSpPr>
          <p:cNvPr id="4" name="Text 2"/>
          <p:cNvSpPr/>
          <p:nvPr/>
        </p:nvSpPr>
        <p:spPr>
          <a:xfrm>
            <a:off x="457200" y="4745736"/>
            <a:ext cx="8229600" cy="320040"/>
          </a:xfrm>
          <a:prstGeom prst="rect">
            <a:avLst/>
          </a:prstGeom>
          <a:noFill/>
          <a:ln/>
        </p:spPr>
        <p:txBody>
          <a:bodyPr wrap="square" lIns="0" tIns="0" rIns="0" bIns="0" rtlCol="0" anchor="ctr"/>
          <a:lstStyle/>
          <a:p>
            <a:pPr marL="0" indent="0" algn="ctr">
              <a:buNone/>
            </a:pPr>
            <a:r>
              <a:rPr lang="en-US" sz="1000" dirty="0">
                <a:solidFill>
                  <a:srgbClr val="5A6B7A"/>
                </a:solidFill>
                <a:latin typeface="Open Sans" pitchFamily="34" charset="0"/>
                <a:ea typeface="Open Sans" pitchFamily="34" charset="-122"/>
                <a:cs typeface="Open Sans" pitchFamily="34" charset="-120"/>
              </a:rPr>
              <a:t>Shidler College of Business  |  University of Hawaiʻi at Mānoa</a:t>
            </a:r>
            <a:endParaRPr lang="en-US" sz="1000" dirty="0"/>
          </a:p>
        </p:txBody>
      </p:sp>
      <p:sp>
        <p:nvSpPr>
          <p:cNvPr id="5" name="Text 3"/>
          <p:cNvSpPr/>
          <p:nvPr/>
        </p:nvSpPr>
        <p:spPr>
          <a:xfrm>
            <a:off x="731520" y="320040"/>
            <a:ext cx="7680960" cy="457200"/>
          </a:xfrm>
          <a:prstGeom prst="rect">
            <a:avLst/>
          </a:prstGeom>
          <a:noFill/>
          <a:ln/>
        </p:spPr>
        <p:txBody>
          <a:bodyPr wrap="square" lIns="0" tIns="0" rIns="0" bIns="0" rtlCol="0" anchor="ctr"/>
          <a:lstStyle/>
          <a:p>
            <a:pPr marL="0" indent="0">
              <a:buNone/>
            </a:pPr>
            <a:r>
              <a:rPr lang="en-US" sz="2200" b="1" dirty="0">
                <a:solidFill>
                  <a:srgbClr val="FFFFFF"/>
                </a:solidFill>
                <a:latin typeface="Open Sans" pitchFamily="34" charset="0"/>
                <a:ea typeface="Open Sans" pitchFamily="34" charset="-122"/>
                <a:cs typeface="Open Sans" pitchFamily="34" charset="-120"/>
              </a:rPr>
              <a:t>Example: Using Claude for Structured Analysis</a:t>
            </a:r>
            <a:endParaRPr lang="en-US" sz="2200" dirty="0"/>
          </a:p>
        </p:txBody>
      </p:sp>
      <p:sp>
        <p:nvSpPr>
          <p:cNvPr id="6" name="Shape 4"/>
          <p:cNvSpPr/>
          <p:nvPr/>
        </p:nvSpPr>
        <p:spPr>
          <a:xfrm>
            <a:off x="731520" y="952500"/>
            <a:ext cx="457200" cy="457200"/>
          </a:xfrm>
          <a:prstGeom prst="rect">
            <a:avLst/>
          </a:prstGeom>
          <a:solidFill>
            <a:srgbClr val="1E2530"/>
          </a:solidFill>
          <a:ln/>
        </p:spPr>
        <p:txBody>
          <a:bodyPr/>
          <a:lstStyle/>
          <a:p>
            <a:endParaRPr lang="en-US"/>
          </a:p>
        </p:txBody>
      </p:sp>
      <p:sp>
        <p:nvSpPr>
          <p:cNvPr id="7" name="Text 5"/>
          <p:cNvSpPr/>
          <p:nvPr/>
        </p:nvSpPr>
        <p:spPr>
          <a:xfrm>
            <a:off x="731520" y="1005840"/>
            <a:ext cx="457200" cy="457200"/>
          </a:xfrm>
          <a:prstGeom prst="rect">
            <a:avLst/>
          </a:prstGeom>
          <a:noFill/>
          <a:ln/>
        </p:spPr>
        <p:txBody>
          <a:bodyPr wrap="square" lIns="0" tIns="0" rIns="0" bIns="0" rtlCol="0" anchor="ctr"/>
          <a:lstStyle/>
          <a:p>
            <a:pPr marL="0" indent="0" algn="ctr">
              <a:buNone/>
            </a:pPr>
            <a:r>
              <a:rPr lang="en-US" sz="1600" b="1" dirty="0">
                <a:solidFill>
                  <a:srgbClr val="FFFFFF"/>
                </a:solidFill>
                <a:latin typeface="Open Sans" pitchFamily="34" charset="0"/>
                <a:ea typeface="Open Sans" pitchFamily="34" charset="-122"/>
                <a:cs typeface="Open Sans" pitchFamily="34" charset="-120"/>
              </a:rPr>
              <a:t>1</a:t>
            </a:r>
            <a:endParaRPr lang="en-US" sz="1600" dirty="0"/>
          </a:p>
        </p:txBody>
      </p:sp>
      <p:sp>
        <p:nvSpPr>
          <p:cNvPr id="8" name="Text 6"/>
          <p:cNvSpPr/>
          <p:nvPr/>
        </p:nvSpPr>
        <p:spPr>
          <a:xfrm>
            <a:off x="1371600" y="1005840"/>
            <a:ext cx="1828800" cy="457200"/>
          </a:xfrm>
          <a:prstGeom prst="rect">
            <a:avLst/>
          </a:prstGeom>
          <a:noFill/>
          <a:ln/>
        </p:spPr>
        <p:txBody>
          <a:bodyPr wrap="square" lIns="0" tIns="0" rIns="0" bIns="0" rtlCol="0" anchor="ctr"/>
          <a:lstStyle/>
          <a:p>
            <a:pPr marL="0" indent="0">
              <a:buNone/>
            </a:pPr>
            <a:r>
              <a:rPr lang="en-US" sz="1400" b="1" dirty="0">
                <a:solidFill>
                  <a:srgbClr val="1E2530"/>
                </a:solidFill>
                <a:latin typeface="Open Sans" pitchFamily="34" charset="0"/>
                <a:ea typeface="Open Sans" pitchFamily="34" charset="-122"/>
                <a:cs typeface="Open Sans" pitchFamily="34" charset="-120"/>
              </a:rPr>
              <a:t>Upload Context</a:t>
            </a:r>
            <a:endParaRPr lang="en-US" sz="1400" dirty="0"/>
          </a:p>
        </p:txBody>
      </p:sp>
      <p:sp>
        <p:nvSpPr>
          <p:cNvPr id="9" name="Text 7"/>
          <p:cNvSpPr/>
          <p:nvPr/>
        </p:nvSpPr>
        <p:spPr>
          <a:xfrm>
            <a:off x="3200400" y="1005840"/>
            <a:ext cx="5303520" cy="640080"/>
          </a:xfrm>
          <a:prstGeom prst="rect">
            <a:avLst/>
          </a:prstGeom>
          <a:noFill/>
          <a:ln/>
        </p:spPr>
        <p:txBody>
          <a:bodyPr wrap="square" lIns="0" tIns="0" rIns="0" bIns="0" rtlCol="0" anchor="ctr"/>
          <a:lstStyle/>
          <a:p>
            <a:pPr marL="0" indent="0">
              <a:lnSpc>
                <a:spcPct val="130000"/>
              </a:lnSpc>
              <a:buNone/>
            </a:pPr>
            <a:r>
              <a:rPr lang="en-US" sz="1200" dirty="0">
                <a:solidFill>
                  <a:srgbClr val="5A6B7A"/>
                </a:solidFill>
                <a:latin typeface="Open Sans" pitchFamily="34" charset="0"/>
                <a:ea typeface="Open Sans" pitchFamily="34" charset="-122"/>
                <a:cs typeface="Open Sans" pitchFamily="34" charset="-120"/>
              </a:rPr>
              <a:t>Upload your spec (.md) and Excel (.xlsx) to Claude.</a:t>
            </a:r>
            <a:endParaRPr lang="en-US" sz="1200" dirty="0"/>
          </a:p>
        </p:txBody>
      </p:sp>
      <p:sp>
        <p:nvSpPr>
          <p:cNvPr id="10" name="Shape 8"/>
          <p:cNvSpPr/>
          <p:nvPr/>
        </p:nvSpPr>
        <p:spPr>
          <a:xfrm>
            <a:off x="731520" y="1920240"/>
            <a:ext cx="457200" cy="457200"/>
          </a:xfrm>
          <a:prstGeom prst="rect">
            <a:avLst/>
          </a:prstGeom>
          <a:solidFill>
            <a:srgbClr val="1E2530"/>
          </a:solidFill>
          <a:ln/>
        </p:spPr>
        <p:txBody>
          <a:bodyPr/>
          <a:lstStyle/>
          <a:p>
            <a:endParaRPr lang="en-US"/>
          </a:p>
        </p:txBody>
      </p:sp>
      <p:sp>
        <p:nvSpPr>
          <p:cNvPr id="11" name="Text 9"/>
          <p:cNvSpPr/>
          <p:nvPr/>
        </p:nvSpPr>
        <p:spPr>
          <a:xfrm>
            <a:off x="731520" y="1920240"/>
            <a:ext cx="457200" cy="457200"/>
          </a:xfrm>
          <a:prstGeom prst="rect">
            <a:avLst/>
          </a:prstGeom>
          <a:noFill/>
          <a:ln/>
        </p:spPr>
        <p:txBody>
          <a:bodyPr wrap="square" lIns="0" tIns="0" rIns="0" bIns="0" rtlCol="0" anchor="ctr"/>
          <a:lstStyle/>
          <a:p>
            <a:pPr marL="0" indent="0" algn="ctr">
              <a:buNone/>
            </a:pPr>
            <a:r>
              <a:rPr lang="en-US" sz="1600" b="1" dirty="0">
                <a:solidFill>
                  <a:srgbClr val="FFFFFF"/>
                </a:solidFill>
                <a:latin typeface="Open Sans" pitchFamily="34" charset="0"/>
                <a:ea typeface="Open Sans" pitchFamily="34" charset="-122"/>
                <a:cs typeface="Open Sans" pitchFamily="34" charset="-120"/>
              </a:rPr>
              <a:t>2</a:t>
            </a:r>
            <a:endParaRPr lang="en-US" sz="1600" dirty="0"/>
          </a:p>
        </p:txBody>
      </p:sp>
      <p:sp>
        <p:nvSpPr>
          <p:cNvPr id="12" name="Text 10"/>
          <p:cNvSpPr/>
          <p:nvPr/>
        </p:nvSpPr>
        <p:spPr>
          <a:xfrm>
            <a:off x="1371600" y="1920240"/>
            <a:ext cx="1828800" cy="457200"/>
          </a:xfrm>
          <a:prstGeom prst="rect">
            <a:avLst/>
          </a:prstGeom>
          <a:noFill/>
          <a:ln/>
        </p:spPr>
        <p:txBody>
          <a:bodyPr wrap="square" lIns="0" tIns="0" rIns="0" bIns="0" rtlCol="0" anchor="ctr"/>
          <a:lstStyle/>
          <a:p>
            <a:pPr marL="0" indent="0">
              <a:buNone/>
            </a:pPr>
            <a:r>
              <a:rPr lang="en-US" sz="1400" b="1" dirty="0">
                <a:solidFill>
                  <a:srgbClr val="1E2530"/>
                </a:solidFill>
                <a:latin typeface="Open Sans" pitchFamily="34" charset="0"/>
                <a:ea typeface="Open Sans" pitchFamily="34" charset="-122"/>
                <a:cs typeface="Open Sans" pitchFamily="34" charset="-120"/>
              </a:rPr>
              <a:t>Give the Prompt</a:t>
            </a:r>
            <a:endParaRPr lang="en-US" sz="1400" dirty="0"/>
          </a:p>
        </p:txBody>
      </p:sp>
      <p:sp>
        <p:nvSpPr>
          <p:cNvPr id="13" name="Text 11"/>
          <p:cNvSpPr/>
          <p:nvPr/>
        </p:nvSpPr>
        <p:spPr>
          <a:xfrm>
            <a:off x="3200400" y="1920240"/>
            <a:ext cx="5303520" cy="640080"/>
          </a:xfrm>
          <a:prstGeom prst="rect">
            <a:avLst/>
          </a:prstGeom>
          <a:noFill/>
          <a:ln/>
        </p:spPr>
        <p:txBody>
          <a:bodyPr wrap="square" lIns="0" tIns="0" rIns="0" bIns="0" rtlCol="0" anchor="ctr"/>
          <a:lstStyle/>
          <a:p>
            <a:pPr marL="0" indent="0">
              <a:lnSpc>
                <a:spcPct val="130000"/>
              </a:lnSpc>
              <a:buNone/>
            </a:pPr>
            <a:r>
              <a:rPr lang="en-US" sz="1200" dirty="0">
                <a:solidFill>
                  <a:srgbClr val="5A6B7A"/>
                </a:solidFill>
                <a:latin typeface="Open Sans" pitchFamily="34" charset="0"/>
                <a:ea typeface="Open Sans" pitchFamily="34" charset="-122"/>
                <a:cs typeface="Open Sans" pitchFamily="34" charset="-120"/>
              </a:rPr>
              <a:t>“Using the attached spec, write a structured AI prompt that could regenerate my Excel model. Use # GOAL → # DATA → # RATIOS → # VERIFY headers.”</a:t>
            </a:r>
            <a:endParaRPr lang="en-US" sz="1200" dirty="0"/>
          </a:p>
        </p:txBody>
      </p:sp>
      <p:sp>
        <p:nvSpPr>
          <p:cNvPr id="14" name="Shape 12"/>
          <p:cNvSpPr/>
          <p:nvPr/>
        </p:nvSpPr>
        <p:spPr>
          <a:xfrm>
            <a:off x="731520" y="2834640"/>
            <a:ext cx="457200" cy="457200"/>
          </a:xfrm>
          <a:prstGeom prst="rect">
            <a:avLst/>
          </a:prstGeom>
          <a:solidFill>
            <a:srgbClr val="1E2530"/>
          </a:solidFill>
          <a:ln/>
        </p:spPr>
        <p:txBody>
          <a:bodyPr/>
          <a:lstStyle/>
          <a:p>
            <a:endParaRPr lang="en-US"/>
          </a:p>
        </p:txBody>
      </p:sp>
      <p:sp>
        <p:nvSpPr>
          <p:cNvPr id="15" name="Text 13"/>
          <p:cNvSpPr/>
          <p:nvPr/>
        </p:nvSpPr>
        <p:spPr>
          <a:xfrm>
            <a:off x="731520" y="2834640"/>
            <a:ext cx="457200" cy="457200"/>
          </a:xfrm>
          <a:prstGeom prst="rect">
            <a:avLst/>
          </a:prstGeom>
          <a:noFill/>
          <a:ln/>
        </p:spPr>
        <p:txBody>
          <a:bodyPr wrap="square" lIns="0" tIns="0" rIns="0" bIns="0" rtlCol="0" anchor="ctr"/>
          <a:lstStyle/>
          <a:p>
            <a:pPr marL="0" indent="0" algn="ctr">
              <a:buNone/>
            </a:pPr>
            <a:r>
              <a:rPr lang="en-US" sz="1600" b="1" dirty="0">
                <a:solidFill>
                  <a:srgbClr val="FFFFFF"/>
                </a:solidFill>
                <a:latin typeface="Open Sans" pitchFamily="34" charset="0"/>
                <a:ea typeface="Open Sans" pitchFamily="34" charset="-122"/>
                <a:cs typeface="Open Sans" pitchFamily="34" charset="-120"/>
              </a:rPr>
              <a:t>3</a:t>
            </a:r>
            <a:endParaRPr lang="en-US" sz="1600" dirty="0"/>
          </a:p>
        </p:txBody>
      </p:sp>
      <p:sp>
        <p:nvSpPr>
          <p:cNvPr id="16" name="Text 14"/>
          <p:cNvSpPr/>
          <p:nvPr/>
        </p:nvSpPr>
        <p:spPr>
          <a:xfrm>
            <a:off x="1371600" y="2834640"/>
            <a:ext cx="1828800" cy="457200"/>
          </a:xfrm>
          <a:prstGeom prst="rect">
            <a:avLst/>
          </a:prstGeom>
          <a:noFill/>
          <a:ln/>
        </p:spPr>
        <p:txBody>
          <a:bodyPr wrap="square" lIns="0" tIns="0" rIns="0" bIns="0" rtlCol="0" anchor="ctr"/>
          <a:lstStyle/>
          <a:p>
            <a:pPr marL="0" indent="0">
              <a:buNone/>
            </a:pPr>
            <a:r>
              <a:rPr lang="en-US" sz="1400" b="1" dirty="0">
                <a:solidFill>
                  <a:srgbClr val="1E2530"/>
                </a:solidFill>
                <a:latin typeface="Open Sans" pitchFamily="34" charset="0"/>
                <a:ea typeface="Open Sans" pitchFamily="34" charset="-122"/>
                <a:cs typeface="Open Sans" pitchFamily="34" charset="-120"/>
              </a:rPr>
              <a:t>Review &amp; Refine</a:t>
            </a:r>
            <a:endParaRPr lang="en-US" sz="1400" dirty="0"/>
          </a:p>
        </p:txBody>
      </p:sp>
      <p:sp>
        <p:nvSpPr>
          <p:cNvPr id="17" name="Text 15"/>
          <p:cNvSpPr/>
          <p:nvPr/>
        </p:nvSpPr>
        <p:spPr>
          <a:xfrm>
            <a:off x="3200400" y="2834640"/>
            <a:ext cx="5303520" cy="640080"/>
          </a:xfrm>
          <a:prstGeom prst="rect">
            <a:avLst/>
          </a:prstGeom>
          <a:noFill/>
          <a:ln/>
        </p:spPr>
        <p:txBody>
          <a:bodyPr wrap="square" lIns="0" tIns="0" rIns="0" bIns="0" rtlCol="0" anchor="ctr"/>
          <a:lstStyle/>
          <a:p>
            <a:pPr marL="0" indent="0">
              <a:lnSpc>
                <a:spcPct val="130000"/>
              </a:lnSpc>
              <a:buNone/>
            </a:pPr>
            <a:r>
              <a:rPr lang="en-US" sz="1200" dirty="0">
                <a:solidFill>
                  <a:srgbClr val="5A6B7A"/>
                </a:solidFill>
                <a:latin typeface="Open Sans" pitchFamily="34" charset="0"/>
                <a:ea typeface="Open Sans" pitchFamily="34" charset="-122"/>
                <a:cs typeface="Open Sans" pitchFamily="34" charset="-120"/>
              </a:rPr>
              <a:t>Check that every named range appears. Ask: “Add the Du Pont cross-check step” or “Include color-coding instructions.”</a:t>
            </a:r>
            <a:endParaRPr lang="en-US" sz="1200" dirty="0"/>
          </a:p>
        </p:txBody>
      </p:sp>
      <p:sp>
        <p:nvSpPr>
          <p:cNvPr id="18" name="Shape 16"/>
          <p:cNvSpPr/>
          <p:nvPr/>
        </p:nvSpPr>
        <p:spPr>
          <a:xfrm>
            <a:off x="731520" y="3749040"/>
            <a:ext cx="457200" cy="457200"/>
          </a:xfrm>
          <a:prstGeom prst="rect">
            <a:avLst/>
          </a:prstGeom>
          <a:solidFill>
            <a:srgbClr val="1E2530"/>
          </a:solidFill>
          <a:ln/>
        </p:spPr>
        <p:txBody>
          <a:bodyPr/>
          <a:lstStyle/>
          <a:p>
            <a:endParaRPr lang="en-US"/>
          </a:p>
        </p:txBody>
      </p:sp>
      <p:sp>
        <p:nvSpPr>
          <p:cNvPr id="19" name="Text 17"/>
          <p:cNvSpPr/>
          <p:nvPr/>
        </p:nvSpPr>
        <p:spPr>
          <a:xfrm>
            <a:off x="731520" y="3749040"/>
            <a:ext cx="457200" cy="457200"/>
          </a:xfrm>
          <a:prstGeom prst="rect">
            <a:avLst/>
          </a:prstGeom>
          <a:noFill/>
          <a:ln/>
        </p:spPr>
        <p:txBody>
          <a:bodyPr wrap="square" lIns="0" tIns="0" rIns="0" bIns="0" rtlCol="0" anchor="ctr"/>
          <a:lstStyle/>
          <a:p>
            <a:pPr marL="0" indent="0" algn="ctr">
              <a:buNone/>
            </a:pPr>
            <a:r>
              <a:rPr lang="en-US" sz="1600" b="1" dirty="0">
                <a:solidFill>
                  <a:srgbClr val="FFFFFF"/>
                </a:solidFill>
                <a:latin typeface="Open Sans" pitchFamily="34" charset="0"/>
                <a:ea typeface="Open Sans" pitchFamily="34" charset="-122"/>
                <a:cs typeface="Open Sans" pitchFamily="34" charset="-120"/>
              </a:rPr>
              <a:t>4</a:t>
            </a:r>
            <a:endParaRPr lang="en-US" sz="1600" dirty="0"/>
          </a:p>
        </p:txBody>
      </p:sp>
      <p:sp>
        <p:nvSpPr>
          <p:cNvPr id="20" name="Text 18"/>
          <p:cNvSpPr/>
          <p:nvPr/>
        </p:nvSpPr>
        <p:spPr>
          <a:xfrm>
            <a:off x="1371600" y="3749040"/>
            <a:ext cx="1828800" cy="457200"/>
          </a:xfrm>
          <a:prstGeom prst="rect">
            <a:avLst/>
          </a:prstGeom>
          <a:noFill/>
          <a:ln/>
        </p:spPr>
        <p:txBody>
          <a:bodyPr wrap="square" lIns="0" tIns="0" rIns="0" bIns="0" rtlCol="0" anchor="ctr"/>
          <a:lstStyle/>
          <a:p>
            <a:pPr marL="0" indent="0">
              <a:buNone/>
            </a:pPr>
            <a:r>
              <a:rPr lang="en-US" sz="1400" b="1" dirty="0">
                <a:solidFill>
                  <a:srgbClr val="1E2530"/>
                </a:solidFill>
                <a:latin typeface="Open Sans" pitchFamily="34" charset="0"/>
                <a:ea typeface="Open Sans" pitchFamily="34" charset="-122"/>
                <a:cs typeface="Open Sans" pitchFamily="34" charset="-120"/>
              </a:rPr>
              <a:t>Export</a:t>
            </a:r>
            <a:endParaRPr lang="en-US" sz="1400" dirty="0"/>
          </a:p>
        </p:txBody>
      </p:sp>
      <p:sp>
        <p:nvSpPr>
          <p:cNvPr id="21" name="Text 19"/>
          <p:cNvSpPr/>
          <p:nvPr/>
        </p:nvSpPr>
        <p:spPr>
          <a:xfrm>
            <a:off x="3200400" y="3749040"/>
            <a:ext cx="5303520" cy="640080"/>
          </a:xfrm>
          <a:prstGeom prst="rect">
            <a:avLst/>
          </a:prstGeom>
          <a:noFill/>
          <a:ln/>
        </p:spPr>
        <p:txBody>
          <a:bodyPr wrap="square" lIns="0" tIns="0" rIns="0" bIns="0" rtlCol="0" anchor="ctr"/>
          <a:lstStyle/>
          <a:p>
            <a:pPr marL="0" indent="0">
              <a:lnSpc>
                <a:spcPct val="130000"/>
              </a:lnSpc>
              <a:buNone/>
            </a:pPr>
            <a:r>
              <a:rPr lang="en-US" sz="1200" dirty="0">
                <a:solidFill>
                  <a:srgbClr val="5A6B7A"/>
                </a:solidFill>
                <a:latin typeface="Open Sans" pitchFamily="34" charset="0"/>
                <a:ea typeface="Open Sans" pitchFamily="34" charset="-122"/>
                <a:cs typeface="Open Sans" pitchFamily="34" charset="-120"/>
              </a:rPr>
              <a:t>Copy the Artifact into your deliverable. Commit to GitHub.</a:t>
            </a:r>
            <a:endParaRPr lang="en-US" sz="1200" dirty="0"/>
          </a:p>
        </p:txBody>
      </p:sp>
    </p:spTree>
    <p:extLst>
      <p:ext uri="{BB962C8B-B14F-4D97-AF65-F5344CB8AC3E}">
        <p14:creationId xmlns:p14="http://schemas.microsoft.com/office/powerpoint/2010/main" val="352687407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9144000" cy="36576"/>
          </a:xfrm>
          <a:prstGeom prst="rect">
            <a:avLst/>
          </a:prstGeom>
          <a:solidFill>
            <a:srgbClr val="B8975C"/>
          </a:solidFill>
          <a:ln/>
        </p:spPr>
        <p:txBody>
          <a:bodyPr/>
          <a:lstStyle/>
          <a:p>
            <a:endParaRPr lang="en-US"/>
          </a:p>
        </p:txBody>
      </p:sp>
      <p:sp>
        <p:nvSpPr>
          <p:cNvPr id="3" name="Text 1"/>
          <p:cNvSpPr/>
          <p:nvPr/>
        </p:nvSpPr>
        <p:spPr>
          <a:xfrm>
            <a:off x="731520" y="731520"/>
            <a:ext cx="7680960" cy="365760"/>
          </a:xfrm>
          <a:prstGeom prst="rect">
            <a:avLst/>
          </a:prstGeom>
          <a:noFill/>
          <a:ln/>
        </p:spPr>
        <p:txBody>
          <a:bodyPr wrap="square" lIns="0" tIns="0" rIns="0" bIns="0" rtlCol="0" anchor="ctr"/>
          <a:lstStyle/>
          <a:p>
            <a:pPr marL="0" indent="0">
              <a:buNone/>
            </a:pPr>
            <a:r>
              <a:rPr lang="en-US" sz="1400" b="1" kern="0" spc="600" dirty="0">
                <a:solidFill>
                  <a:srgbClr val="B8975C"/>
                </a:solidFill>
                <a:latin typeface="Open Sans" pitchFamily="34" charset="0"/>
                <a:ea typeface="Open Sans" pitchFamily="34" charset="-122"/>
                <a:cs typeface="Open Sans" pitchFamily="34" charset="-120"/>
              </a:rPr>
              <a:t>PART 2</a:t>
            </a:r>
            <a:endParaRPr lang="en-US" sz="1400" dirty="0"/>
          </a:p>
        </p:txBody>
      </p:sp>
      <p:sp>
        <p:nvSpPr>
          <p:cNvPr id="4" name="Text 2"/>
          <p:cNvSpPr/>
          <p:nvPr/>
        </p:nvSpPr>
        <p:spPr>
          <a:xfrm>
            <a:off x="731520" y="1280160"/>
            <a:ext cx="7680960" cy="1645920"/>
          </a:xfrm>
          <a:prstGeom prst="rect">
            <a:avLst/>
          </a:prstGeom>
          <a:noFill/>
          <a:ln/>
        </p:spPr>
        <p:txBody>
          <a:bodyPr wrap="square" lIns="0" tIns="0" rIns="0" bIns="0" rtlCol="0" anchor="ctr"/>
          <a:lstStyle/>
          <a:p>
            <a:pPr marL="0" indent="0">
              <a:lnSpc>
                <a:spcPct val="110000"/>
              </a:lnSpc>
              <a:buNone/>
            </a:pPr>
            <a:r>
              <a:rPr lang="en-US" sz="4000" b="1" dirty="0">
                <a:solidFill>
                  <a:srgbClr val="024731"/>
                </a:solidFill>
                <a:latin typeface="Open Sans" pitchFamily="34" charset="0"/>
                <a:ea typeface="Open Sans" pitchFamily="34" charset="-122"/>
                <a:cs typeface="Open Sans" pitchFamily="34" charset="-120"/>
              </a:rPr>
              <a:t>Claude Code</a:t>
            </a:r>
            <a:endParaRPr lang="en-US" sz="4000" dirty="0"/>
          </a:p>
          <a:p>
            <a:pPr marL="0" indent="0">
              <a:lnSpc>
                <a:spcPct val="110000"/>
              </a:lnSpc>
              <a:buNone/>
            </a:pPr>
            <a:r>
              <a:rPr lang="en-US" sz="4000" b="1" dirty="0">
                <a:solidFill>
                  <a:srgbClr val="024731"/>
                </a:solidFill>
                <a:latin typeface="Open Sans" pitchFamily="34" charset="0"/>
                <a:ea typeface="Open Sans" pitchFamily="34" charset="-122"/>
                <a:cs typeface="Open Sans" pitchFamily="34" charset="-120"/>
              </a:rPr>
              <a:t>in Your Terminal</a:t>
            </a:r>
            <a:endParaRPr lang="en-US" sz="4000" dirty="0"/>
          </a:p>
        </p:txBody>
      </p:sp>
      <p:sp>
        <p:nvSpPr>
          <p:cNvPr id="5" name="Shape 3"/>
          <p:cNvSpPr/>
          <p:nvPr/>
        </p:nvSpPr>
        <p:spPr>
          <a:xfrm>
            <a:off x="731520" y="3108960"/>
            <a:ext cx="1828800" cy="36576"/>
          </a:xfrm>
          <a:prstGeom prst="rect">
            <a:avLst/>
          </a:prstGeom>
          <a:solidFill>
            <a:srgbClr val="B8975C"/>
          </a:solidFill>
          <a:ln/>
        </p:spPr>
        <p:txBody>
          <a:bodyPr/>
          <a:lstStyle/>
          <a:p>
            <a:endParaRPr lang="en-US"/>
          </a:p>
        </p:txBody>
      </p:sp>
      <p:sp>
        <p:nvSpPr>
          <p:cNvPr id="6" name="Text 4"/>
          <p:cNvSpPr/>
          <p:nvPr/>
        </p:nvSpPr>
        <p:spPr>
          <a:xfrm>
            <a:off x="731520" y="3337560"/>
            <a:ext cx="6400800" cy="640080"/>
          </a:xfrm>
          <a:prstGeom prst="rect">
            <a:avLst/>
          </a:prstGeom>
          <a:noFill/>
          <a:ln/>
        </p:spPr>
        <p:txBody>
          <a:bodyPr wrap="square" lIns="0" tIns="0" rIns="0" bIns="0" rtlCol="0" anchor="ctr"/>
          <a:lstStyle/>
          <a:p>
            <a:pPr marL="0" indent="0">
              <a:lnSpc>
                <a:spcPct val="140000"/>
              </a:lnSpc>
              <a:buNone/>
            </a:pPr>
            <a:r>
              <a:rPr lang="en-US" sz="1400" dirty="0">
                <a:solidFill>
                  <a:srgbClr val="8A9BAD"/>
                </a:solidFill>
                <a:latin typeface="Open Sans" pitchFamily="34" charset="0"/>
                <a:ea typeface="Open Sans" pitchFamily="34" charset="-122"/>
                <a:cs typeface="Open Sans" pitchFamily="34" charset="-120"/>
              </a:rPr>
              <a:t>Claude that lives in your terminal, reads your files,</a:t>
            </a:r>
            <a:endParaRPr lang="en-US" sz="1400" dirty="0"/>
          </a:p>
          <a:p>
            <a:pPr marL="0" indent="0">
              <a:lnSpc>
                <a:spcPct val="140000"/>
              </a:lnSpc>
              <a:buNone/>
            </a:pPr>
            <a:r>
              <a:rPr lang="en-US" sz="1400" dirty="0">
                <a:solidFill>
                  <a:srgbClr val="8A9BAD"/>
                </a:solidFill>
                <a:latin typeface="Open Sans" pitchFamily="34" charset="0"/>
                <a:ea typeface="Open Sans" pitchFamily="34" charset="-122"/>
                <a:cs typeface="Open Sans" pitchFamily="34" charset="-120"/>
              </a:rPr>
              <a:t>and works alongside Git. The power-user option.</a:t>
            </a:r>
            <a:endParaRPr lang="en-US" sz="1400" dirty="0"/>
          </a:p>
        </p:txBody>
      </p:sp>
      <p:pic>
        <p:nvPicPr>
          <p:cNvPr id="7" name="Image 0" descr="preencoded.png"/>
          <p:cNvPicPr>
            <a:picLocks noChangeAspect="1"/>
          </p:cNvPicPr>
          <p:nvPr/>
        </p:nvPicPr>
        <p:blipFill>
          <a:blip r:embed="rId3"/>
          <a:stretch>
            <a:fillRect/>
          </a:stretch>
        </p:blipFill>
        <p:spPr>
          <a:xfrm>
            <a:off x="7132320" y="3017520"/>
            <a:ext cx="1097280" cy="1097280"/>
          </a:xfrm>
          <a:prstGeom prst="rect">
            <a:avLst/>
          </a:prstGeom>
        </p:spPr>
      </p:pic>
      <p:sp>
        <p:nvSpPr>
          <p:cNvPr id="8" name="Text 5"/>
          <p:cNvSpPr/>
          <p:nvPr/>
        </p:nvSpPr>
        <p:spPr>
          <a:xfrm>
            <a:off x="457200" y="4663440"/>
            <a:ext cx="8229600" cy="320040"/>
          </a:xfrm>
          <a:prstGeom prst="rect">
            <a:avLst/>
          </a:prstGeom>
          <a:noFill/>
          <a:ln/>
        </p:spPr>
        <p:txBody>
          <a:bodyPr wrap="square" lIns="0" tIns="0" rIns="0" bIns="0" rtlCol="0" anchor="ctr"/>
          <a:lstStyle/>
          <a:p>
            <a:pPr marL="0" indent="0" algn="ctr">
              <a:buNone/>
            </a:pPr>
            <a:r>
              <a:rPr lang="en-US" sz="1000" dirty="0">
                <a:solidFill>
                  <a:srgbClr val="5A6B7A"/>
                </a:solidFill>
                <a:latin typeface="Open Sans" pitchFamily="34" charset="0"/>
                <a:ea typeface="Open Sans" pitchFamily="34" charset="-122"/>
                <a:cs typeface="Open Sans" pitchFamily="34" charset="-120"/>
              </a:rPr>
              <a:t>Shidler College of Business  |  University of Hawaiʻi at Mānoa</a:t>
            </a:r>
            <a:endParaRPr lang="en-US" sz="1000" dirty="0"/>
          </a:p>
        </p:txBody>
      </p:sp>
    </p:spTree>
    <p:extLst>
      <p:ext uri="{BB962C8B-B14F-4D97-AF65-F5344CB8AC3E}">
        <p14:creationId xmlns:p14="http://schemas.microsoft.com/office/powerpoint/2010/main" val="413740867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9144000" cy="825500"/>
          </a:xfrm>
          <a:prstGeom prst="rect">
            <a:avLst/>
          </a:prstGeom>
          <a:solidFill>
            <a:srgbClr val="024731"/>
          </a:solidFill>
          <a:ln>
            <a:noFill/>
          </a:ln>
        </p:spPr>
        <p:txBody>
          <a:bodyPr/>
          <a:lstStyle/>
          <a:p>
            <a:endParaRPr lang="en-US"/>
          </a:p>
        </p:txBody>
      </p:sp>
      <p:sp>
        <p:nvSpPr>
          <p:cNvPr id="4" name="Text 2"/>
          <p:cNvSpPr/>
          <p:nvPr/>
        </p:nvSpPr>
        <p:spPr>
          <a:xfrm>
            <a:off x="457200" y="4745736"/>
            <a:ext cx="8229600" cy="320040"/>
          </a:xfrm>
          <a:prstGeom prst="rect">
            <a:avLst/>
          </a:prstGeom>
          <a:noFill/>
          <a:ln/>
        </p:spPr>
        <p:txBody>
          <a:bodyPr wrap="square" lIns="0" tIns="0" rIns="0" bIns="0" rtlCol="0" anchor="ctr"/>
          <a:lstStyle/>
          <a:p>
            <a:pPr marL="0" indent="0" algn="ctr">
              <a:buNone/>
            </a:pPr>
            <a:r>
              <a:rPr lang="en-US" sz="1000" dirty="0">
                <a:solidFill>
                  <a:srgbClr val="5A6B7A"/>
                </a:solidFill>
                <a:latin typeface="Open Sans" pitchFamily="34" charset="0"/>
                <a:ea typeface="Open Sans" pitchFamily="34" charset="-122"/>
                <a:cs typeface="Open Sans" pitchFamily="34" charset="-120"/>
              </a:rPr>
              <a:t>Shidler College of Business  |  University of Hawaiʻi at Mānoa</a:t>
            </a:r>
            <a:endParaRPr lang="en-US" sz="1000" dirty="0"/>
          </a:p>
        </p:txBody>
      </p:sp>
      <p:sp>
        <p:nvSpPr>
          <p:cNvPr id="5" name="Text 3"/>
          <p:cNvSpPr/>
          <p:nvPr/>
        </p:nvSpPr>
        <p:spPr>
          <a:xfrm>
            <a:off x="731520" y="320040"/>
            <a:ext cx="7680960" cy="457200"/>
          </a:xfrm>
          <a:prstGeom prst="rect">
            <a:avLst/>
          </a:prstGeom>
          <a:noFill/>
          <a:ln/>
        </p:spPr>
        <p:txBody>
          <a:bodyPr wrap="square" lIns="0" tIns="0" rIns="0" bIns="0" rtlCol="0" anchor="ctr"/>
          <a:lstStyle/>
          <a:p>
            <a:pPr marL="0" indent="0">
              <a:buNone/>
            </a:pPr>
            <a:r>
              <a:rPr lang="en-US" sz="2800" b="1" dirty="0">
                <a:solidFill>
                  <a:srgbClr val="FFFFFF"/>
                </a:solidFill>
                <a:latin typeface="Open Sans" pitchFamily="34" charset="0"/>
                <a:ea typeface="Open Sans" pitchFamily="34" charset="-122"/>
                <a:cs typeface="Open Sans" pitchFamily="34" charset="-120"/>
              </a:rPr>
              <a:t>What Is Claude Code?</a:t>
            </a:r>
            <a:endParaRPr lang="en-US" sz="2800" dirty="0"/>
          </a:p>
        </p:txBody>
      </p:sp>
      <p:sp>
        <p:nvSpPr>
          <p:cNvPr id="6" name="Text 4"/>
          <p:cNvSpPr/>
          <p:nvPr/>
        </p:nvSpPr>
        <p:spPr>
          <a:xfrm>
            <a:off x="731520" y="952500"/>
            <a:ext cx="7680960" cy="502920"/>
          </a:xfrm>
          <a:prstGeom prst="rect">
            <a:avLst/>
          </a:prstGeom>
          <a:noFill/>
          <a:ln/>
        </p:spPr>
        <p:txBody>
          <a:bodyPr wrap="square" lIns="0" tIns="0" rIns="0" bIns="0" rtlCol="0" anchor="ctr"/>
          <a:lstStyle/>
          <a:p>
            <a:pPr marL="0" indent="0">
              <a:lnSpc>
                <a:spcPct val="130000"/>
              </a:lnSpc>
              <a:buNone/>
            </a:pPr>
            <a:r>
              <a:rPr lang="en-US" sz="1300" dirty="0">
                <a:solidFill>
                  <a:srgbClr val="5A6B7A"/>
                </a:solidFill>
                <a:latin typeface="Open Sans" pitchFamily="34" charset="0"/>
                <a:ea typeface="Open Sans" pitchFamily="34" charset="-122"/>
                <a:cs typeface="Open Sans" pitchFamily="34" charset="-120"/>
              </a:rPr>
              <a:t>Claude Code is a command-line tool that runs Claude directly in your terminal. It can read and write files in your repository, run Git commands, and help you build deliverables without leaving the command line.</a:t>
            </a:r>
            <a:endParaRPr lang="en-US" sz="1300" dirty="0"/>
          </a:p>
        </p:txBody>
      </p:sp>
      <p:sp>
        <p:nvSpPr>
          <p:cNvPr id="7" name="Shape 5"/>
          <p:cNvSpPr/>
          <p:nvPr/>
        </p:nvSpPr>
        <p:spPr>
          <a:xfrm>
            <a:off x="731520" y="1600200"/>
            <a:ext cx="3749040" cy="1188720"/>
          </a:xfrm>
          <a:prstGeom prst="rect">
            <a:avLst/>
          </a:prstGeom>
          <a:solidFill>
            <a:srgbClr val="FFFFFF"/>
          </a:solidFill>
          <a:ln/>
          <a:effectLst>
            <a:outerShdw blurRad="76200" dist="25400" dir="8100000" algn="bl" rotWithShape="0">
              <a:srgbClr val="000000">
                <a:alpha val="8000"/>
              </a:srgbClr>
            </a:outerShdw>
          </a:effectLst>
        </p:spPr>
        <p:txBody>
          <a:bodyPr/>
          <a:lstStyle/>
          <a:p>
            <a:endParaRPr lang="en-US"/>
          </a:p>
        </p:txBody>
      </p:sp>
      <p:pic>
        <p:nvPicPr>
          <p:cNvPr id="8" name="Image 0" descr="preencoded.png"/>
          <p:cNvPicPr>
            <a:picLocks noChangeAspect="1"/>
          </p:cNvPicPr>
          <p:nvPr/>
        </p:nvPicPr>
        <p:blipFill>
          <a:blip r:embed="rId3"/>
          <a:stretch>
            <a:fillRect/>
          </a:stretch>
        </p:blipFill>
        <p:spPr>
          <a:xfrm>
            <a:off x="914400" y="1828800"/>
            <a:ext cx="365760" cy="365760"/>
          </a:xfrm>
          <a:prstGeom prst="rect">
            <a:avLst/>
          </a:prstGeom>
        </p:spPr>
      </p:pic>
      <p:sp>
        <p:nvSpPr>
          <p:cNvPr id="9" name="Text 6"/>
          <p:cNvSpPr/>
          <p:nvPr/>
        </p:nvSpPr>
        <p:spPr>
          <a:xfrm>
            <a:off x="1417320" y="1737360"/>
            <a:ext cx="2880360" cy="274320"/>
          </a:xfrm>
          <a:prstGeom prst="rect">
            <a:avLst/>
          </a:prstGeom>
          <a:noFill/>
          <a:ln/>
        </p:spPr>
        <p:txBody>
          <a:bodyPr wrap="square" lIns="0" tIns="0" rIns="0" bIns="0" rtlCol="0" anchor="ctr"/>
          <a:lstStyle/>
          <a:p>
            <a:pPr marL="0" indent="0">
              <a:buNone/>
            </a:pPr>
            <a:r>
              <a:rPr lang="en-US" sz="1300" b="1" dirty="0">
                <a:solidFill>
                  <a:srgbClr val="1E2530"/>
                </a:solidFill>
                <a:latin typeface="Open Sans" pitchFamily="34" charset="0"/>
                <a:ea typeface="Open Sans" pitchFamily="34" charset="-122"/>
                <a:cs typeface="Open Sans" pitchFamily="34" charset="-120"/>
              </a:rPr>
              <a:t>Reads Your Repo</a:t>
            </a:r>
            <a:endParaRPr lang="en-US" sz="1300" dirty="0"/>
          </a:p>
        </p:txBody>
      </p:sp>
      <p:sp>
        <p:nvSpPr>
          <p:cNvPr id="10" name="Text 7"/>
          <p:cNvSpPr/>
          <p:nvPr/>
        </p:nvSpPr>
        <p:spPr>
          <a:xfrm>
            <a:off x="1417320" y="2057400"/>
            <a:ext cx="2880360" cy="640080"/>
          </a:xfrm>
          <a:prstGeom prst="rect">
            <a:avLst/>
          </a:prstGeom>
          <a:noFill/>
          <a:ln/>
        </p:spPr>
        <p:txBody>
          <a:bodyPr wrap="square" lIns="0" tIns="0" rIns="0" bIns="0" rtlCol="0" anchor="ctr"/>
          <a:lstStyle/>
          <a:p>
            <a:pPr marL="0" indent="0">
              <a:lnSpc>
                <a:spcPct val="135000"/>
              </a:lnSpc>
              <a:buNone/>
            </a:pPr>
            <a:r>
              <a:rPr lang="en-US" sz="1050" dirty="0">
                <a:solidFill>
                  <a:srgbClr val="5A6B7A"/>
                </a:solidFill>
                <a:latin typeface="Open Sans" pitchFamily="34" charset="0"/>
                <a:ea typeface="Open Sans" pitchFamily="34" charset="-122"/>
                <a:cs typeface="Open Sans" pitchFamily="34" charset="-120"/>
              </a:rPr>
              <a:t>Claude Code sees every file in your project. Ask about your spec, your Excel, your memo — it reads them directly.</a:t>
            </a:r>
            <a:endParaRPr lang="en-US" sz="1050" dirty="0"/>
          </a:p>
        </p:txBody>
      </p:sp>
      <p:sp>
        <p:nvSpPr>
          <p:cNvPr id="11" name="Shape 8"/>
          <p:cNvSpPr/>
          <p:nvPr/>
        </p:nvSpPr>
        <p:spPr>
          <a:xfrm>
            <a:off x="4846320" y="1600200"/>
            <a:ext cx="3749040" cy="1188720"/>
          </a:xfrm>
          <a:prstGeom prst="rect">
            <a:avLst/>
          </a:prstGeom>
          <a:solidFill>
            <a:srgbClr val="FFFFFF"/>
          </a:solidFill>
          <a:ln/>
          <a:effectLst>
            <a:outerShdw blurRad="76200" dist="25400" dir="8100000" algn="bl" rotWithShape="0">
              <a:srgbClr val="000000">
                <a:alpha val="8000"/>
              </a:srgbClr>
            </a:outerShdw>
          </a:effectLst>
        </p:spPr>
        <p:txBody>
          <a:bodyPr/>
          <a:lstStyle/>
          <a:p>
            <a:endParaRPr lang="en-US"/>
          </a:p>
        </p:txBody>
      </p:sp>
      <p:pic>
        <p:nvPicPr>
          <p:cNvPr id="12" name="Image 1" descr="preencoded.png"/>
          <p:cNvPicPr>
            <a:picLocks noChangeAspect="1"/>
          </p:cNvPicPr>
          <p:nvPr/>
        </p:nvPicPr>
        <p:blipFill>
          <a:blip r:embed="rId4"/>
          <a:stretch>
            <a:fillRect/>
          </a:stretch>
        </p:blipFill>
        <p:spPr>
          <a:xfrm>
            <a:off x="5029200" y="1828800"/>
            <a:ext cx="365760" cy="365760"/>
          </a:xfrm>
          <a:prstGeom prst="rect">
            <a:avLst/>
          </a:prstGeom>
        </p:spPr>
      </p:pic>
      <p:sp>
        <p:nvSpPr>
          <p:cNvPr id="13" name="Text 9"/>
          <p:cNvSpPr/>
          <p:nvPr/>
        </p:nvSpPr>
        <p:spPr>
          <a:xfrm>
            <a:off x="5532120" y="1737360"/>
            <a:ext cx="2880360" cy="274320"/>
          </a:xfrm>
          <a:prstGeom prst="rect">
            <a:avLst/>
          </a:prstGeom>
          <a:noFill/>
          <a:ln/>
        </p:spPr>
        <p:txBody>
          <a:bodyPr wrap="square" lIns="0" tIns="0" rIns="0" bIns="0" rtlCol="0" anchor="ctr"/>
          <a:lstStyle/>
          <a:p>
            <a:pPr marL="0" indent="0">
              <a:buNone/>
            </a:pPr>
            <a:r>
              <a:rPr lang="en-US" sz="1300" b="1" dirty="0">
                <a:solidFill>
                  <a:srgbClr val="1E2530"/>
                </a:solidFill>
                <a:latin typeface="Open Sans" pitchFamily="34" charset="0"/>
                <a:ea typeface="Open Sans" pitchFamily="34" charset="-122"/>
                <a:cs typeface="Open Sans" pitchFamily="34" charset="-120"/>
              </a:rPr>
              <a:t>Runs Commands</a:t>
            </a:r>
            <a:endParaRPr lang="en-US" sz="1300" dirty="0"/>
          </a:p>
        </p:txBody>
      </p:sp>
      <p:sp>
        <p:nvSpPr>
          <p:cNvPr id="14" name="Text 10"/>
          <p:cNvSpPr/>
          <p:nvPr/>
        </p:nvSpPr>
        <p:spPr>
          <a:xfrm>
            <a:off x="5532120" y="2057400"/>
            <a:ext cx="2880360" cy="640080"/>
          </a:xfrm>
          <a:prstGeom prst="rect">
            <a:avLst/>
          </a:prstGeom>
          <a:noFill/>
          <a:ln/>
        </p:spPr>
        <p:txBody>
          <a:bodyPr wrap="square" lIns="0" tIns="0" rIns="0" bIns="0" rtlCol="0" anchor="ctr"/>
          <a:lstStyle/>
          <a:p>
            <a:pPr marL="0" indent="0">
              <a:lnSpc>
                <a:spcPct val="135000"/>
              </a:lnSpc>
              <a:buNone/>
            </a:pPr>
            <a:r>
              <a:rPr lang="en-US" sz="1050" dirty="0">
                <a:solidFill>
                  <a:srgbClr val="5A6B7A"/>
                </a:solidFill>
                <a:latin typeface="Open Sans" pitchFamily="34" charset="0"/>
                <a:ea typeface="Open Sans" pitchFamily="34" charset="-122"/>
                <a:cs typeface="Open Sans" pitchFamily="34" charset="-120"/>
              </a:rPr>
              <a:t>It can execute Git commands, run scripts, and make file edits — all with your approval.</a:t>
            </a:r>
            <a:endParaRPr lang="en-US" sz="1050" dirty="0"/>
          </a:p>
        </p:txBody>
      </p:sp>
      <p:sp>
        <p:nvSpPr>
          <p:cNvPr id="15" name="Shape 11"/>
          <p:cNvSpPr/>
          <p:nvPr/>
        </p:nvSpPr>
        <p:spPr>
          <a:xfrm>
            <a:off x="731520" y="3063240"/>
            <a:ext cx="3749040" cy="1188720"/>
          </a:xfrm>
          <a:prstGeom prst="rect">
            <a:avLst/>
          </a:prstGeom>
          <a:solidFill>
            <a:srgbClr val="FFFFFF"/>
          </a:solidFill>
          <a:ln/>
          <a:effectLst>
            <a:outerShdw blurRad="76200" dist="25400" dir="8100000" algn="bl" rotWithShape="0">
              <a:srgbClr val="000000">
                <a:alpha val="8000"/>
              </a:srgbClr>
            </a:outerShdw>
          </a:effectLst>
        </p:spPr>
        <p:txBody>
          <a:bodyPr/>
          <a:lstStyle/>
          <a:p>
            <a:endParaRPr lang="en-US"/>
          </a:p>
        </p:txBody>
      </p:sp>
      <p:pic>
        <p:nvPicPr>
          <p:cNvPr id="16" name="Image 2" descr="preencoded.png"/>
          <p:cNvPicPr>
            <a:picLocks noChangeAspect="1"/>
          </p:cNvPicPr>
          <p:nvPr/>
        </p:nvPicPr>
        <p:blipFill>
          <a:blip r:embed="rId5"/>
          <a:stretch>
            <a:fillRect/>
          </a:stretch>
        </p:blipFill>
        <p:spPr>
          <a:xfrm>
            <a:off x="914400" y="3291840"/>
            <a:ext cx="365760" cy="365760"/>
          </a:xfrm>
          <a:prstGeom prst="rect">
            <a:avLst/>
          </a:prstGeom>
        </p:spPr>
      </p:pic>
      <p:sp>
        <p:nvSpPr>
          <p:cNvPr id="17" name="Text 12"/>
          <p:cNvSpPr/>
          <p:nvPr/>
        </p:nvSpPr>
        <p:spPr>
          <a:xfrm>
            <a:off x="1417320" y="3200400"/>
            <a:ext cx="2880360" cy="274320"/>
          </a:xfrm>
          <a:prstGeom prst="rect">
            <a:avLst/>
          </a:prstGeom>
          <a:noFill/>
          <a:ln/>
        </p:spPr>
        <p:txBody>
          <a:bodyPr wrap="square" lIns="0" tIns="0" rIns="0" bIns="0" rtlCol="0" anchor="ctr"/>
          <a:lstStyle/>
          <a:p>
            <a:pPr marL="0" indent="0">
              <a:buNone/>
            </a:pPr>
            <a:r>
              <a:rPr lang="en-US" sz="1300" b="1" dirty="0">
                <a:solidFill>
                  <a:srgbClr val="1E2530"/>
                </a:solidFill>
                <a:latin typeface="Open Sans" pitchFamily="34" charset="0"/>
                <a:ea typeface="Open Sans" pitchFamily="34" charset="-122"/>
                <a:cs typeface="Open Sans" pitchFamily="34" charset="-120"/>
              </a:rPr>
              <a:t>Git Integration</a:t>
            </a:r>
            <a:endParaRPr lang="en-US" sz="1300" dirty="0"/>
          </a:p>
        </p:txBody>
      </p:sp>
      <p:sp>
        <p:nvSpPr>
          <p:cNvPr id="18" name="Text 13"/>
          <p:cNvSpPr/>
          <p:nvPr/>
        </p:nvSpPr>
        <p:spPr>
          <a:xfrm>
            <a:off x="1417320" y="3520440"/>
            <a:ext cx="2880360" cy="640080"/>
          </a:xfrm>
          <a:prstGeom prst="rect">
            <a:avLst/>
          </a:prstGeom>
          <a:noFill/>
          <a:ln/>
        </p:spPr>
        <p:txBody>
          <a:bodyPr wrap="square" lIns="0" tIns="0" rIns="0" bIns="0" rtlCol="0" anchor="ctr"/>
          <a:lstStyle/>
          <a:p>
            <a:pPr marL="0" indent="0">
              <a:lnSpc>
                <a:spcPct val="135000"/>
              </a:lnSpc>
              <a:buNone/>
            </a:pPr>
            <a:r>
              <a:rPr lang="en-US" sz="1050" dirty="0">
                <a:solidFill>
                  <a:srgbClr val="5A6B7A"/>
                </a:solidFill>
                <a:latin typeface="Open Sans" pitchFamily="34" charset="0"/>
                <a:ea typeface="Open Sans" pitchFamily="34" charset="-122"/>
                <a:cs typeface="Open Sans" pitchFamily="34" charset="-120"/>
              </a:rPr>
              <a:t>Commit, push, create branches, and review diffs without switching tools.</a:t>
            </a:r>
            <a:endParaRPr lang="en-US" sz="1050" dirty="0"/>
          </a:p>
        </p:txBody>
      </p:sp>
      <p:sp>
        <p:nvSpPr>
          <p:cNvPr id="19" name="Shape 14"/>
          <p:cNvSpPr/>
          <p:nvPr/>
        </p:nvSpPr>
        <p:spPr>
          <a:xfrm>
            <a:off x="4846320" y="3063240"/>
            <a:ext cx="3749040" cy="1188720"/>
          </a:xfrm>
          <a:prstGeom prst="rect">
            <a:avLst/>
          </a:prstGeom>
          <a:solidFill>
            <a:srgbClr val="FFFFFF"/>
          </a:solidFill>
          <a:ln/>
          <a:effectLst>
            <a:outerShdw blurRad="76200" dist="25400" dir="8100000" algn="bl" rotWithShape="0">
              <a:srgbClr val="000000">
                <a:alpha val="8000"/>
              </a:srgbClr>
            </a:outerShdw>
          </a:effectLst>
        </p:spPr>
        <p:txBody>
          <a:bodyPr/>
          <a:lstStyle/>
          <a:p>
            <a:endParaRPr lang="en-US"/>
          </a:p>
        </p:txBody>
      </p:sp>
      <p:pic>
        <p:nvPicPr>
          <p:cNvPr id="20" name="Image 3" descr="preencoded.png"/>
          <p:cNvPicPr>
            <a:picLocks noChangeAspect="1"/>
          </p:cNvPicPr>
          <p:nvPr/>
        </p:nvPicPr>
        <p:blipFill>
          <a:blip r:embed="rId6"/>
          <a:stretch>
            <a:fillRect/>
          </a:stretch>
        </p:blipFill>
        <p:spPr>
          <a:xfrm>
            <a:off x="5029200" y="3291840"/>
            <a:ext cx="365760" cy="365760"/>
          </a:xfrm>
          <a:prstGeom prst="rect">
            <a:avLst/>
          </a:prstGeom>
        </p:spPr>
      </p:pic>
      <p:sp>
        <p:nvSpPr>
          <p:cNvPr id="21" name="Text 15"/>
          <p:cNvSpPr/>
          <p:nvPr/>
        </p:nvSpPr>
        <p:spPr>
          <a:xfrm>
            <a:off x="5532120" y="3200400"/>
            <a:ext cx="2880360" cy="274320"/>
          </a:xfrm>
          <a:prstGeom prst="rect">
            <a:avLst/>
          </a:prstGeom>
          <a:noFill/>
          <a:ln/>
        </p:spPr>
        <p:txBody>
          <a:bodyPr wrap="square" lIns="0" tIns="0" rIns="0" bIns="0" rtlCol="0" anchor="ctr"/>
          <a:lstStyle/>
          <a:p>
            <a:pPr marL="0" indent="0">
              <a:buNone/>
            </a:pPr>
            <a:r>
              <a:rPr lang="en-US" sz="1300" b="1" dirty="0">
                <a:solidFill>
                  <a:srgbClr val="1E2530"/>
                </a:solidFill>
                <a:latin typeface="Open Sans" pitchFamily="34" charset="0"/>
                <a:ea typeface="Open Sans" pitchFamily="34" charset="-122"/>
                <a:cs typeface="Open Sans" pitchFamily="34" charset="-120"/>
              </a:rPr>
              <a:t>Project Context</a:t>
            </a:r>
            <a:endParaRPr lang="en-US" sz="1300" dirty="0"/>
          </a:p>
        </p:txBody>
      </p:sp>
      <p:sp>
        <p:nvSpPr>
          <p:cNvPr id="22" name="Text 16"/>
          <p:cNvSpPr/>
          <p:nvPr/>
        </p:nvSpPr>
        <p:spPr>
          <a:xfrm>
            <a:off x="5532120" y="3520440"/>
            <a:ext cx="2880360" cy="640080"/>
          </a:xfrm>
          <a:prstGeom prst="rect">
            <a:avLst/>
          </a:prstGeom>
          <a:noFill/>
          <a:ln/>
        </p:spPr>
        <p:txBody>
          <a:bodyPr wrap="square" lIns="0" tIns="0" rIns="0" bIns="0" rtlCol="0" anchor="ctr"/>
          <a:lstStyle/>
          <a:p>
            <a:pPr marL="0" indent="0">
              <a:lnSpc>
                <a:spcPct val="135000"/>
              </a:lnSpc>
              <a:buNone/>
            </a:pPr>
            <a:r>
              <a:rPr lang="en-US" sz="1050" dirty="0">
                <a:solidFill>
                  <a:srgbClr val="5A6B7A"/>
                </a:solidFill>
                <a:latin typeface="Open Sans" pitchFamily="34" charset="0"/>
                <a:ea typeface="Open Sans" pitchFamily="34" charset="-122"/>
                <a:cs typeface="Open Sans" pitchFamily="34" charset="-120"/>
              </a:rPr>
              <a:t>When you launch Claude Code from your repo folder, it automatically understands your project structure.</a:t>
            </a:r>
            <a:endParaRPr lang="en-US" sz="1050" dirty="0"/>
          </a:p>
        </p:txBody>
      </p:sp>
    </p:spTree>
    <p:extLst>
      <p:ext uri="{BB962C8B-B14F-4D97-AF65-F5344CB8AC3E}">
        <p14:creationId xmlns:p14="http://schemas.microsoft.com/office/powerpoint/2010/main" val="115677990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9144000" cy="825500"/>
          </a:xfrm>
          <a:prstGeom prst="rect">
            <a:avLst/>
          </a:prstGeom>
          <a:solidFill>
            <a:srgbClr val="024731"/>
          </a:solidFill>
          <a:ln>
            <a:noFill/>
          </a:ln>
        </p:spPr>
        <p:txBody>
          <a:bodyPr/>
          <a:lstStyle/>
          <a:p>
            <a:endParaRPr lang="en-US"/>
          </a:p>
        </p:txBody>
      </p:sp>
      <p:sp>
        <p:nvSpPr>
          <p:cNvPr id="4" name="Text 2"/>
          <p:cNvSpPr/>
          <p:nvPr/>
        </p:nvSpPr>
        <p:spPr>
          <a:xfrm>
            <a:off x="457200" y="4745736"/>
            <a:ext cx="8229600" cy="320040"/>
          </a:xfrm>
          <a:prstGeom prst="rect">
            <a:avLst/>
          </a:prstGeom>
          <a:noFill/>
          <a:ln/>
        </p:spPr>
        <p:txBody>
          <a:bodyPr wrap="square" lIns="0" tIns="0" rIns="0" bIns="0" rtlCol="0" anchor="ctr"/>
          <a:lstStyle/>
          <a:p>
            <a:pPr marL="0" indent="0" algn="ctr">
              <a:buNone/>
            </a:pPr>
            <a:r>
              <a:rPr lang="en-US" sz="1000" dirty="0">
                <a:solidFill>
                  <a:srgbClr val="5A6B7A"/>
                </a:solidFill>
                <a:latin typeface="Open Sans" pitchFamily="34" charset="0"/>
                <a:ea typeface="Open Sans" pitchFamily="34" charset="-122"/>
                <a:cs typeface="Open Sans" pitchFamily="34" charset="-120"/>
              </a:rPr>
              <a:t>Shidler College of Business  |  University of Hawaiʻi at Mānoa</a:t>
            </a:r>
            <a:endParaRPr lang="en-US" sz="1000" dirty="0"/>
          </a:p>
        </p:txBody>
      </p:sp>
      <p:sp>
        <p:nvSpPr>
          <p:cNvPr id="5" name="Text 3"/>
          <p:cNvSpPr/>
          <p:nvPr/>
        </p:nvSpPr>
        <p:spPr>
          <a:xfrm>
            <a:off x="731520" y="320040"/>
            <a:ext cx="7680960" cy="457200"/>
          </a:xfrm>
          <a:prstGeom prst="rect">
            <a:avLst/>
          </a:prstGeom>
          <a:noFill/>
          <a:ln/>
        </p:spPr>
        <p:txBody>
          <a:bodyPr wrap="square" lIns="0" tIns="0" rIns="0" bIns="0" rtlCol="0" anchor="ctr"/>
          <a:lstStyle/>
          <a:p>
            <a:pPr marL="0" indent="0">
              <a:buNone/>
            </a:pPr>
            <a:r>
              <a:rPr lang="en-US" sz="2800" b="1" dirty="0">
                <a:solidFill>
                  <a:srgbClr val="FFFFFF"/>
                </a:solidFill>
                <a:latin typeface="Open Sans" pitchFamily="34" charset="0"/>
                <a:ea typeface="Open Sans" pitchFamily="34" charset="-122"/>
                <a:cs typeface="Open Sans" pitchFamily="34" charset="-120"/>
              </a:rPr>
              <a:t>Installing Claude Code</a:t>
            </a:r>
            <a:endParaRPr lang="en-US" sz="2800" dirty="0"/>
          </a:p>
        </p:txBody>
      </p:sp>
      <p:sp>
        <p:nvSpPr>
          <p:cNvPr id="6" name="Text 4"/>
          <p:cNvSpPr/>
          <p:nvPr/>
        </p:nvSpPr>
        <p:spPr>
          <a:xfrm>
            <a:off x="731520" y="952500"/>
            <a:ext cx="7680960" cy="320040"/>
          </a:xfrm>
          <a:prstGeom prst="rect">
            <a:avLst/>
          </a:prstGeom>
          <a:noFill/>
          <a:ln/>
        </p:spPr>
        <p:txBody>
          <a:bodyPr wrap="square" lIns="0" tIns="0" rIns="0" bIns="0" rtlCol="0" anchor="ctr"/>
          <a:lstStyle/>
          <a:p>
            <a:pPr marL="0" indent="0">
              <a:buNone/>
            </a:pPr>
            <a:r>
              <a:rPr lang="en-US" sz="1300" dirty="0">
                <a:solidFill>
                  <a:srgbClr val="5A6B7A"/>
                </a:solidFill>
                <a:latin typeface="Open Sans" pitchFamily="34" charset="0"/>
                <a:ea typeface="Open Sans" pitchFamily="34" charset="-122"/>
                <a:cs typeface="Open Sans" pitchFamily="34" charset="-120"/>
              </a:rPr>
              <a:t>Claude Code requires Node.js (v18+). If you already installed Git, you have a terminal ready.</a:t>
            </a:r>
            <a:endParaRPr lang="en-US" sz="1300" dirty="0"/>
          </a:p>
        </p:txBody>
      </p:sp>
      <p:sp>
        <p:nvSpPr>
          <p:cNvPr id="7" name="Shape 5"/>
          <p:cNvSpPr/>
          <p:nvPr/>
        </p:nvSpPr>
        <p:spPr>
          <a:xfrm>
            <a:off x="731520" y="1417320"/>
            <a:ext cx="3749040" cy="2286000"/>
          </a:xfrm>
          <a:prstGeom prst="rect">
            <a:avLst/>
          </a:prstGeom>
          <a:solidFill>
            <a:srgbClr val="FFFFFF"/>
          </a:solidFill>
          <a:ln/>
          <a:effectLst>
            <a:outerShdw blurRad="76200" dist="25400" dir="8100000" algn="bl" rotWithShape="0">
              <a:srgbClr val="000000">
                <a:alpha val="8000"/>
              </a:srgbClr>
            </a:outerShdw>
          </a:effectLst>
        </p:spPr>
        <p:txBody>
          <a:bodyPr/>
          <a:lstStyle/>
          <a:p>
            <a:endParaRPr lang="en-US"/>
          </a:p>
        </p:txBody>
      </p:sp>
      <p:sp>
        <p:nvSpPr>
          <p:cNvPr id="8" name="Shape 6"/>
          <p:cNvSpPr/>
          <p:nvPr/>
        </p:nvSpPr>
        <p:spPr>
          <a:xfrm>
            <a:off x="731520" y="1417320"/>
            <a:ext cx="3749040" cy="411480"/>
          </a:xfrm>
          <a:prstGeom prst="rect">
            <a:avLst/>
          </a:prstGeom>
          <a:solidFill>
            <a:srgbClr val="1E2530"/>
          </a:solidFill>
          <a:ln/>
        </p:spPr>
        <p:txBody>
          <a:bodyPr/>
          <a:lstStyle/>
          <a:p>
            <a:endParaRPr lang="en-US"/>
          </a:p>
        </p:txBody>
      </p:sp>
      <p:sp>
        <p:nvSpPr>
          <p:cNvPr id="9" name="Text 7"/>
          <p:cNvSpPr/>
          <p:nvPr/>
        </p:nvSpPr>
        <p:spPr>
          <a:xfrm>
            <a:off x="731520" y="1417320"/>
            <a:ext cx="3749040" cy="411480"/>
          </a:xfrm>
          <a:prstGeom prst="rect">
            <a:avLst/>
          </a:prstGeom>
          <a:noFill/>
          <a:ln/>
        </p:spPr>
        <p:txBody>
          <a:bodyPr wrap="square" lIns="0" tIns="0" rIns="0" bIns="0" rtlCol="0" anchor="ctr"/>
          <a:lstStyle/>
          <a:p>
            <a:pPr marL="0" indent="0" algn="ctr">
              <a:buNone/>
            </a:pPr>
            <a:r>
              <a:rPr lang="en-US" sz="1400" b="1" dirty="0">
                <a:solidFill>
                  <a:srgbClr val="FFFFFF"/>
                </a:solidFill>
                <a:latin typeface="Open Sans" pitchFamily="34" charset="0"/>
                <a:ea typeface="Open Sans" pitchFamily="34" charset="-122"/>
                <a:cs typeface="Open Sans" pitchFamily="34" charset="-120"/>
              </a:rPr>
              <a:t>Windows</a:t>
            </a:r>
            <a:endParaRPr lang="en-US" sz="1400" dirty="0"/>
          </a:p>
        </p:txBody>
      </p:sp>
      <p:sp>
        <p:nvSpPr>
          <p:cNvPr id="10" name="Text 8"/>
          <p:cNvSpPr/>
          <p:nvPr/>
        </p:nvSpPr>
        <p:spPr>
          <a:xfrm>
            <a:off x="914400" y="1965960"/>
            <a:ext cx="3383280" cy="1554480"/>
          </a:xfrm>
          <a:prstGeom prst="rect">
            <a:avLst/>
          </a:prstGeom>
          <a:noFill/>
          <a:ln/>
        </p:spPr>
        <p:txBody>
          <a:bodyPr wrap="square" lIns="0" tIns="0" rIns="0" bIns="0" rtlCol="0" anchor="ctr"/>
          <a:lstStyle/>
          <a:p>
            <a:pPr marL="342900" indent="-342900">
              <a:lnSpc>
                <a:spcPct val="160000"/>
              </a:lnSpc>
              <a:buSzPct val="100000"/>
              <a:buFont typeface="+mj-lt"/>
              <a:buAutoNum type="arabicPeriod"/>
            </a:pPr>
            <a:r>
              <a:rPr lang="en-US" sz="1200" dirty="0">
                <a:solidFill>
                  <a:srgbClr val="5A6B7A"/>
                </a:solidFill>
                <a:latin typeface="Open Sans" pitchFamily="34" charset="0"/>
                <a:ea typeface="Open Sans" pitchFamily="34" charset="-122"/>
                <a:cs typeface="Open Sans" pitchFamily="34" charset="-120"/>
              </a:rPr>
              <a:t>Install Node.js from nodejs.org</a:t>
            </a:r>
            <a:endParaRPr lang="en-US" sz="1200" dirty="0"/>
          </a:p>
          <a:p>
            <a:pPr marL="342900" indent="-342900">
              <a:lnSpc>
                <a:spcPct val="160000"/>
              </a:lnSpc>
              <a:buSzPct val="100000"/>
              <a:buFont typeface="+mj-lt"/>
              <a:buAutoNum type="arabicPeriod"/>
            </a:pPr>
            <a:r>
              <a:rPr lang="en-US" sz="1200" dirty="0">
                <a:solidFill>
                  <a:srgbClr val="5A6B7A"/>
                </a:solidFill>
                <a:latin typeface="Open Sans" pitchFamily="34" charset="0"/>
                <a:ea typeface="Open Sans" pitchFamily="34" charset="-122"/>
                <a:cs typeface="Open Sans" pitchFamily="34" charset="-120"/>
              </a:rPr>
              <a:t>Open Git Bash or PowerShell</a:t>
            </a:r>
            <a:endParaRPr lang="en-US" sz="1200" dirty="0"/>
          </a:p>
          <a:p>
            <a:pPr marL="342900" indent="-342900">
              <a:lnSpc>
                <a:spcPct val="160000"/>
              </a:lnSpc>
              <a:buSzPct val="100000"/>
              <a:buFont typeface="+mj-lt"/>
              <a:buAutoNum type="arabicPeriod"/>
            </a:pPr>
            <a:r>
              <a:rPr lang="en-US" sz="1200" dirty="0">
                <a:solidFill>
                  <a:srgbClr val="5A6B7A"/>
                </a:solidFill>
                <a:latin typeface="Open Sans" pitchFamily="34" charset="0"/>
                <a:ea typeface="Open Sans" pitchFamily="34" charset="-122"/>
                <a:cs typeface="Open Sans" pitchFamily="34" charset="-120"/>
              </a:rPr>
              <a:t>Run:  npm install -g @anthropic-ai/claude-code</a:t>
            </a:r>
            <a:endParaRPr lang="en-US" sz="1200" dirty="0"/>
          </a:p>
          <a:p>
            <a:pPr marL="342900" indent="-342900">
              <a:lnSpc>
                <a:spcPct val="160000"/>
              </a:lnSpc>
              <a:buSzPct val="100000"/>
              <a:buFont typeface="+mj-lt"/>
              <a:buAutoNum type="arabicPeriod"/>
            </a:pPr>
            <a:r>
              <a:rPr lang="en-US" sz="1200" dirty="0">
                <a:solidFill>
                  <a:srgbClr val="5A6B7A"/>
                </a:solidFill>
                <a:latin typeface="Open Sans" pitchFamily="34" charset="0"/>
                <a:ea typeface="Open Sans" pitchFamily="34" charset="-122"/>
                <a:cs typeface="Open Sans" pitchFamily="34" charset="-120"/>
              </a:rPr>
              <a:t>Type:  claude  to start</a:t>
            </a:r>
            <a:endParaRPr lang="en-US" sz="1200" dirty="0"/>
          </a:p>
        </p:txBody>
      </p:sp>
      <p:sp>
        <p:nvSpPr>
          <p:cNvPr id="11" name="Shape 9"/>
          <p:cNvSpPr/>
          <p:nvPr/>
        </p:nvSpPr>
        <p:spPr>
          <a:xfrm>
            <a:off x="4663440" y="1417320"/>
            <a:ext cx="3749040" cy="2286000"/>
          </a:xfrm>
          <a:prstGeom prst="rect">
            <a:avLst/>
          </a:prstGeom>
          <a:solidFill>
            <a:srgbClr val="FFFFFF"/>
          </a:solidFill>
          <a:ln/>
          <a:effectLst>
            <a:outerShdw blurRad="76200" dist="25400" dir="8100000" algn="bl" rotWithShape="0">
              <a:srgbClr val="000000">
                <a:alpha val="8000"/>
              </a:srgbClr>
            </a:outerShdw>
          </a:effectLst>
        </p:spPr>
        <p:txBody>
          <a:bodyPr/>
          <a:lstStyle/>
          <a:p>
            <a:endParaRPr lang="en-US"/>
          </a:p>
        </p:txBody>
      </p:sp>
      <p:sp>
        <p:nvSpPr>
          <p:cNvPr id="12" name="Shape 10"/>
          <p:cNvSpPr/>
          <p:nvPr/>
        </p:nvSpPr>
        <p:spPr>
          <a:xfrm>
            <a:off x="4663440" y="1417320"/>
            <a:ext cx="3749040" cy="411480"/>
          </a:xfrm>
          <a:prstGeom prst="rect">
            <a:avLst/>
          </a:prstGeom>
          <a:solidFill>
            <a:srgbClr val="36454F"/>
          </a:solidFill>
          <a:ln/>
        </p:spPr>
        <p:txBody>
          <a:bodyPr/>
          <a:lstStyle/>
          <a:p>
            <a:endParaRPr lang="en-US"/>
          </a:p>
        </p:txBody>
      </p:sp>
      <p:sp>
        <p:nvSpPr>
          <p:cNvPr id="13" name="Text 11"/>
          <p:cNvSpPr/>
          <p:nvPr/>
        </p:nvSpPr>
        <p:spPr>
          <a:xfrm>
            <a:off x="4663440" y="1417320"/>
            <a:ext cx="3749040" cy="411480"/>
          </a:xfrm>
          <a:prstGeom prst="rect">
            <a:avLst/>
          </a:prstGeom>
          <a:noFill/>
          <a:ln/>
        </p:spPr>
        <p:txBody>
          <a:bodyPr wrap="square" lIns="0" tIns="0" rIns="0" bIns="0" rtlCol="0" anchor="ctr"/>
          <a:lstStyle/>
          <a:p>
            <a:pPr marL="0" indent="0" algn="ctr">
              <a:buNone/>
            </a:pPr>
            <a:r>
              <a:rPr lang="en-US" sz="1400" b="1" dirty="0">
                <a:solidFill>
                  <a:srgbClr val="FFFFFF"/>
                </a:solidFill>
                <a:latin typeface="Open Sans" pitchFamily="34" charset="0"/>
                <a:ea typeface="Open Sans" pitchFamily="34" charset="-122"/>
                <a:cs typeface="Open Sans" pitchFamily="34" charset="-120"/>
              </a:rPr>
              <a:t>Mac</a:t>
            </a:r>
            <a:endParaRPr lang="en-US" sz="1400" dirty="0"/>
          </a:p>
        </p:txBody>
      </p:sp>
      <p:sp>
        <p:nvSpPr>
          <p:cNvPr id="14" name="Text 12"/>
          <p:cNvSpPr/>
          <p:nvPr/>
        </p:nvSpPr>
        <p:spPr>
          <a:xfrm>
            <a:off x="4846320" y="1965960"/>
            <a:ext cx="3383280" cy="1554480"/>
          </a:xfrm>
          <a:prstGeom prst="rect">
            <a:avLst/>
          </a:prstGeom>
          <a:noFill/>
          <a:ln/>
        </p:spPr>
        <p:txBody>
          <a:bodyPr wrap="square" lIns="0" tIns="0" rIns="0" bIns="0" rtlCol="0" anchor="ctr"/>
          <a:lstStyle/>
          <a:p>
            <a:pPr marL="342900" indent="-342900">
              <a:lnSpc>
                <a:spcPct val="160000"/>
              </a:lnSpc>
              <a:buSzPct val="100000"/>
              <a:buFont typeface="+mj-lt"/>
              <a:buAutoNum type="arabicPeriod"/>
            </a:pPr>
            <a:r>
              <a:rPr lang="en-US" sz="1200" dirty="0">
                <a:solidFill>
                  <a:srgbClr val="5A6B7A"/>
                </a:solidFill>
                <a:latin typeface="Open Sans" pitchFamily="34" charset="0"/>
                <a:ea typeface="Open Sans" pitchFamily="34" charset="-122"/>
                <a:cs typeface="Open Sans" pitchFamily="34" charset="-120"/>
              </a:rPr>
              <a:t>Install Node.js:  brew install node  (or nodejs.org)</a:t>
            </a:r>
            <a:endParaRPr lang="en-US" sz="1200" dirty="0"/>
          </a:p>
          <a:p>
            <a:pPr marL="342900" indent="-342900">
              <a:lnSpc>
                <a:spcPct val="160000"/>
              </a:lnSpc>
              <a:buSzPct val="100000"/>
              <a:buFont typeface="+mj-lt"/>
              <a:buAutoNum type="arabicPeriod"/>
            </a:pPr>
            <a:r>
              <a:rPr lang="en-US" sz="1200" dirty="0">
                <a:solidFill>
                  <a:srgbClr val="5A6B7A"/>
                </a:solidFill>
                <a:latin typeface="Open Sans" pitchFamily="34" charset="0"/>
                <a:ea typeface="Open Sans" pitchFamily="34" charset="-122"/>
                <a:cs typeface="Open Sans" pitchFamily="34" charset="-120"/>
              </a:rPr>
              <a:t>Open Terminal</a:t>
            </a:r>
            <a:endParaRPr lang="en-US" sz="1200" dirty="0"/>
          </a:p>
          <a:p>
            <a:pPr marL="342900" indent="-342900">
              <a:lnSpc>
                <a:spcPct val="160000"/>
              </a:lnSpc>
              <a:buSzPct val="100000"/>
              <a:buFont typeface="+mj-lt"/>
              <a:buAutoNum type="arabicPeriod"/>
            </a:pPr>
            <a:r>
              <a:rPr lang="en-US" sz="1200" dirty="0">
                <a:solidFill>
                  <a:srgbClr val="5A6B7A"/>
                </a:solidFill>
                <a:latin typeface="Open Sans" pitchFamily="34" charset="0"/>
                <a:ea typeface="Open Sans" pitchFamily="34" charset="-122"/>
                <a:cs typeface="Open Sans" pitchFamily="34" charset="-120"/>
              </a:rPr>
              <a:t>Run:  npm install -g @anthropic-ai/claude-code</a:t>
            </a:r>
            <a:endParaRPr lang="en-US" sz="1200" dirty="0"/>
          </a:p>
          <a:p>
            <a:pPr marL="342900" indent="-342900">
              <a:lnSpc>
                <a:spcPct val="160000"/>
              </a:lnSpc>
              <a:buSzPct val="100000"/>
              <a:buFont typeface="+mj-lt"/>
              <a:buAutoNum type="arabicPeriod"/>
            </a:pPr>
            <a:r>
              <a:rPr lang="en-US" sz="1200" dirty="0">
                <a:solidFill>
                  <a:srgbClr val="5A6B7A"/>
                </a:solidFill>
                <a:latin typeface="Open Sans" pitchFamily="34" charset="0"/>
                <a:ea typeface="Open Sans" pitchFamily="34" charset="-122"/>
                <a:cs typeface="Open Sans" pitchFamily="34" charset="-120"/>
              </a:rPr>
              <a:t>Type:  claude  to start</a:t>
            </a:r>
            <a:endParaRPr lang="en-US" sz="1200" dirty="0"/>
          </a:p>
        </p:txBody>
      </p:sp>
      <p:sp>
        <p:nvSpPr>
          <p:cNvPr id="15" name="Text 13"/>
          <p:cNvSpPr/>
          <p:nvPr/>
        </p:nvSpPr>
        <p:spPr>
          <a:xfrm>
            <a:off x="731520" y="3977640"/>
            <a:ext cx="7680960" cy="365760"/>
          </a:xfrm>
          <a:prstGeom prst="rect">
            <a:avLst/>
          </a:prstGeom>
          <a:noFill/>
          <a:ln/>
        </p:spPr>
        <p:txBody>
          <a:bodyPr wrap="square" lIns="0" tIns="0" rIns="0" bIns="0" rtlCol="0" anchor="ctr"/>
          <a:lstStyle/>
          <a:p>
            <a:pPr marL="0" indent="0">
              <a:buNone/>
            </a:pPr>
            <a:r>
              <a:rPr lang="en-US" sz="1200" i="1" dirty="0">
                <a:solidFill>
                  <a:srgbClr val="8A9BAD"/>
                </a:solidFill>
                <a:latin typeface="Open Sans" pitchFamily="34" charset="0"/>
                <a:ea typeface="Open Sans" pitchFamily="34" charset="-122"/>
                <a:cs typeface="Open Sans" pitchFamily="34" charset="-120"/>
              </a:rPr>
              <a:t>First-time setup:  Claude Code will prompt you to sign in with your Anthropic account (free tier works).</a:t>
            </a:r>
            <a:endParaRPr lang="en-US" sz="1200" dirty="0"/>
          </a:p>
        </p:txBody>
      </p:sp>
    </p:spTree>
    <p:extLst>
      <p:ext uri="{BB962C8B-B14F-4D97-AF65-F5344CB8AC3E}">
        <p14:creationId xmlns:p14="http://schemas.microsoft.com/office/powerpoint/2010/main" val="306215000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9144000" cy="825500"/>
          </a:xfrm>
          <a:prstGeom prst="rect">
            <a:avLst/>
          </a:prstGeom>
          <a:solidFill>
            <a:srgbClr val="024731"/>
          </a:solidFill>
          <a:ln>
            <a:noFill/>
          </a:ln>
        </p:spPr>
        <p:txBody>
          <a:bodyPr/>
          <a:lstStyle/>
          <a:p>
            <a:endParaRPr lang="en-US"/>
          </a:p>
        </p:txBody>
      </p:sp>
      <p:sp>
        <p:nvSpPr>
          <p:cNvPr id="4" name="Text 2"/>
          <p:cNvSpPr/>
          <p:nvPr/>
        </p:nvSpPr>
        <p:spPr>
          <a:xfrm>
            <a:off x="457200" y="4745736"/>
            <a:ext cx="8229600" cy="320040"/>
          </a:xfrm>
          <a:prstGeom prst="rect">
            <a:avLst/>
          </a:prstGeom>
          <a:noFill/>
          <a:ln/>
        </p:spPr>
        <p:txBody>
          <a:bodyPr wrap="square" lIns="0" tIns="0" rIns="0" bIns="0" rtlCol="0" anchor="ctr"/>
          <a:lstStyle/>
          <a:p>
            <a:pPr marL="0" indent="0" algn="ctr">
              <a:buNone/>
            </a:pPr>
            <a:r>
              <a:rPr lang="en-US" sz="1000" dirty="0">
                <a:solidFill>
                  <a:srgbClr val="5A6B7A"/>
                </a:solidFill>
                <a:latin typeface="Open Sans" pitchFamily="34" charset="0"/>
                <a:ea typeface="Open Sans" pitchFamily="34" charset="-122"/>
                <a:cs typeface="Open Sans" pitchFamily="34" charset="-120"/>
              </a:rPr>
              <a:t>Shidler College of Business  |  University of Hawaiʻi at Mānoa</a:t>
            </a:r>
            <a:endParaRPr lang="en-US" sz="1000" dirty="0"/>
          </a:p>
        </p:txBody>
      </p:sp>
      <p:sp>
        <p:nvSpPr>
          <p:cNvPr id="5" name="Text 3"/>
          <p:cNvSpPr/>
          <p:nvPr/>
        </p:nvSpPr>
        <p:spPr>
          <a:xfrm>
            <a:off x="731520" y="320040"/>
            <a:ext cx="7680960" cy="457200"/>
          </a:xfrm>
          <a:prstGeom prst="rect">
            <a:avLst/>
          </a:prstGeom>
          <a:noFill/>
          <a:ln/>
        </p:spPr>
        <p:txBody>
          <a:bodyPr wrap="square" lIns="0" tIns="0" rIns="0" bIns="0" rtlCol="0" anchor="ctr"/>
          <a:lstStyle/>
          <a:p>
            <a:pPr marL="0" indent="0">
              <a:buNone/>
            </a:pPr>
            <a:r>
              <a:rPr lang="en-US" sz="2800" b="1" dirty="0">
                <a:solidFill>
                  <a:srgbClr val="FFFFFF"/>
                </a:solidFill>
                <a:latin typeface="Open Sans" pitchFamily="34" charset="0"/>
                <a:ea typeface="Open Sans" pitchFamily="34" charset="-122"/>
                <a:cs typeface="Open Sans" pitchFamily="34" charset="-120"/>
              </a:rPr>
              <a:t>The Claude Code Workflow</a:t>
            </a:r>
            <a:endParaRPr lang="en-US" sz="2800" dirty="0"/>
          </a:p>
        </p:txBody>
      </p:sp>
      <p:sp>
        <p:nvSpPr>
          <p:cNvPr id="6" name="Text 4"/>
          <p:cNvSpPr/>
          <p:nvPr/>
        </p:nvSpPr>
        <p:spPr>
          <a:xfrm>
            <a:off x="731520" y="952500"/>
            <a:ext cx="7680960" cy="320040"/>
          </a:xfrm>
          <a:prstGeom prst="rect">
            <a:avLst/>
          </a:prstGeom>
          <a:noFill/>
          <a:ln/>
        </p:spPr>
        <p:txBody>
          <a:bodyPr wrap="square" lIns="0" tIns="0" rIns="0" bIns="0" rtlCol="0" anchor="ctr"/>
          <a:lstStyle/>
          <a:p>
            <a:pPr marL="0" indent="0">
              <a:buNone/>
            </a:pPr>
            <a:r>
              <a:rPr lang="en-US" sz="1300" dirty="0">
                <a:solidFill>
                  <a:srgbClr val="5A6B7A"/>
                </a:solidFill>
                <a:latin typeface="Open Sans" pitchFamily="34" charset="0"/>
                <a:ea typeface="Open Sans" pitchFamily="34" charset="-122"/>
                <a:cs typeface="Open Sans" pitchFamily="34" charset="-120"/>
              </a:rPr>
              <a:t>Navigate to your repo, type claude, and ask for help in plain English.</a:t>
            </a:r>
            <a:endParaRPr lang="en-US" sz="1300" dirty="0"/>
          </a:p>
        </p:txBody>
      </p:sp>
      <p:sp>
        <p:nvSpPr>
          <p:cNvPr id="7" name="Shape 5"/>
          <p:cNvSpPr/>
          <p:nvPr/>
        </p:nvSpPr>
        <p:spPr>
          <a:xfrm>
            <a:off x="731520" y="1417320"/>
            <a:ext cx="7680960" cy="868680"/>
          </a:xfrm>
          <a:prstGeom prst="rect">
            <a:avLst/>
          </a:prstGeom>
          <a:solidFill>
            <a:srgbClr val="FFFFFF"/>
          </a:solidFill>
          <a:ln/>
          <a:effectLst>
            <a:outerShdw blurRad="76200" dist="25400" dir="8100000" algn="bl" rotWithShape="0">
              <a:srgbClr val="000000">
                <a:alpha val="8000"/>
              </a:srgbClr>
            </a:outerShdw>
          </a:effectLst>
        </p:spPr>
        <p:txBody>
          <a:bodyPr/>
          <a:lstStyle/>
          <a:p>
            <a:endParaRPr lang="en-US"/>
          </a:p>
        </p:txBody>
      </p:sp>
      <p:sp>
        <p:nvSpPr>
          <p:cNvPr id="8" name="Shape 6"/>
          <p:cNvSpPr/>
          <p:nvPr/>
        </p:nvSpPr>
        <p:spPr>
          <a:xfrm>
            <a:off x="731520" y="1417320"/>
            <a:ext cx="502920" cy="868680"/>
          </a:xfrm>
          <a:prstGeom prst="rect">
            <a:avLst/>
          </a:prstGeom>
          <a:solidFill>
            <a:srgbClr val="1E2530"/>
          </a:solidFill>
          <a:ln/>
        </p:spPr>
        <p:txBody>
          <a:bodyPr/>
          <a:lstStyle/>
          <a:p>
            <a:endParaRPr lang="en-US"/>
          </a:p>
        </p:txBody>
      </p:sp>
      <p:sp>
        <p:nvSpPr>
          <p:cNvPr id="9" name="Text 7"/>
          <p:cNvSpPr/>
          <p:nvPr/>
        </p:nvSpPr>
        <p:spPr>
          <a:xfrm>
            <a:off x="731520" y="1417320"/>
            <a:ext cx="502920" cy="868680"/>
          </a:xfrm>
          <a:prstGeom prst="rect">
            <a:avLst/>
          </a:prstGeom>
          <a:noFill/>
          <a:ln/>
        </p:spPr>
        <p:txBody>
          <a:bodyPr wrap="square" lIns="0" tIns="0" rIns="0" bIns="0" rtlCol="0" anchor="ctr"/>
          <a:lstStyle/>
          <a:p>
            <a:pPr marL="0" indent="0" algn="ctr">
              <a:buNone/>
            </a:pPr>
            <a:r>
              <a:rPr lang="en-US" sz="1800" b="1" dirty="0">
                <a:solidFill>
                  <a:srgbClr val="FFFFFF"/>
                </a:solidFill>
                <a:latin typeface="Open Sans" pitchFamily="34" charset="0"/>
                <a:ea typeface="Open Sans" pitchFamily="34" charset="-122"/>
                <a:cs typeface="Open Sans" pitchFamily="34" charset="-120"/>
              </a:rPr>
              <a:t>1</a:t>
            </a:r>
            <a:endParaRPr lang="en-US" sz="1800" dirty="0"/>
          </a:p>
        </p:txBody>
      </p:sp>
      <p:sp>
        <p:nvSpPr>
          <p:cNvPr id="10" name="Text 8"/>
          <p:cNvSpPr/>
          <p:nvPr/>
        </p:nvSpPr>
        <p:spPr>
          <a:xfrm>
            <a:off x="1417320" y="1490472"/>
            <a:ext cx="1188720" cy="320040"/>
          </a:xfrm>
          <a:prstGeom prst="rect">
            <a:avLst/>
          </a:prstGeom>
          <a:noFill/>
          <a:ln/>
        </p:spPr>
        <p:txBody>
          <a:bodyPr wrap="square" lIns="0" tIns="0" rIns="0" bIns="0" rtlCol="0" anchor="ctr"/>
          <a:lstStyle/>
          <a:p>
            <a:pPr marL="0" indent="0">
              <a:buNone/>
            </a:pPr>
            <a:r>
              <a:rPr lang="en-US" sz="1400" b="1" dirty="0">
                <a:solidFill>
                  <a:srgbClr val="1E2530"/>
                </a:solidFill>
                <a:latin typeface="Open Sans" pitchFamily="34" charset="0"/>
                <a:ea typeface="Open Sans" pitchFamily="34" charset="-122"/>
                <a:cs typeface="Open Sans" pitchFamily="34" charset="-120"/>
              </a:rPr>
              <a:t>Navigate</a:t>
            </a:r>
            <a:endParaRPr lang="en-US" sz="1400" dirty="0"/>
          </a:p>
        </p:txBody>
      </p:sp>
      <p:sp>
        <p:nvSpPr>
          <p:cNvPr id="11" name="Text 9"/>
          <p:cNvSpPr/>
          <p:nvPr/>
        </p:nvSpPr>
        <p:spPr>
          <a:xfrm>
            <a:off x="2606040" y="1490472"/>
            <a:ext cx="5394960" cy="320040"/>
          </a:xfrm>
          <a:prstGeom prst="rect">
            <a:avLst/>
          </a:prstGeom>
          <a:noFill/>
          <a:ln/>
        </p:spPr>
        <p:txBody>
          <a:bodyPr wrap="square" lIns="0" tIns="0" rIns="0" bIns="0" rtlCol="0" anchor="ctr"/>
          <a:lstStyle/>
          <a:p>
            <a:pPr marL="0" indent="0">
              <a:buNone/>
            </a:pPr>
            <a:r>
              <a:rPr lang="en-US" sz="1200" dirty="0">
                <a:solidFill>
                  <a:srgbClr val="B8975C"/>
                </a:solidFill>
                <a:latin typeface="Consolas" pitchFamily="34" charset="0"/>
                <a:ea typeface="Consolas" pitchFamily="34" charset="-122"/>
                <a:cs typeface="Consolas" pitchFamily="34" charset="-120"/>
              </a:rPr>
              <a:t>cd ~/GitHub/shidler</a:t>
            </a:r>
            <a:endParaRPr lang="en-US" sz="1200" dirty="0"/>
          </a:p>
        </p:txBody>
      </p:sp>
      <p:sp>
        <p:nvSpPr>
          <p:cNvPr id="12" name="Text 10"/>
          <p:cNvSpPr/>
          <p:nvPr/>
        </p:nvSpPr>
        <p:spPr>
          <a:xfrm>
            <a:off x="1417320" y="1856232"/>
            <a:ext cx="6812280" cy="320040"/>
          </a:xfrm>
          <a:prstGeom prst="rect">
            <a:avLst/>
          </a:prstGeom>
          <a:noFill/>
          <a:ln/>
        </p:spPr>
        <p:txBody>
          <a:bodyPr wrap="square" lIns="0" tIns="0" rIns="0" bIns="0" rtlCol="0" anchor="ctr"/>
          <a:lstStyle/>
          <a:p>
            <a:pPr marL="0" indent="0">
              <a:buNone/>
            </a:pPr>
            <a:r>
              <a:rPr lang="en-US" sz="1100" dirty="0">
                <a:solidFill>
                  <a:srgbClr val="5A6B7A"/>
                </a:solidFill>
                <a:latin typeface="Open Sans" pitchFamily="34" charset="0"/>
                <a:ea typeface="Open Sans" pitchFamily="34" charset="-122"/>
                <a:cs typeface="Open Sans" pitchFamily="34" charset="-120"/>
              </a:rPr>
              <a:t>Open your terminal and navigate to the cloned repo folder.</a:t>
            </a:r>
            <a:endParaRPr lang="en-US" sz="1100" dirty="0"/>
          </a:p>
        </p:txBody>
      </p:sp>
      <p:sp>
        <p:nvSpPr>
          <p:cNvPr id="13" name="Shape 11"/>
          <p:cNvSpPr/>
          <p:nvPr/>
        </p:nvSpPr>
        <p:spPr>
          <a:xfrm>
            <a:off x="731520" y="2606040"/>
            <a:ext cx="7680960" cy="868680"/>
          </a:xfrm>
          <a:prstGeom prst="rect">
            <a:avLst/>
          </a:prstGeom>
          <a:solidFill>
            <a:srgbClr val="FFFFFF"/>
          </a:solidFill>
          <a:ln/>
          <a:effectLst>
            <a:outerShdw blurRad="76200" dist="25400" dir="8100000" algn="bl" rotWithShape="0">
              <a:srgbClr val="000000">
                <a:alpha val="8000"/>
              </a:srgbClr>
            </a:outerShdw>
          </a:effectLst>
        </p:spPr>
        <p:txBody>
          <a:bodyPr/>
          <a:lstStyle/>
          <a:p>
            <a:endParaRPr lang="en-US"/>
          </a:p>
        </p:txBody>
      </p:sp>
      <p:sp>
        <p:nvSpPr>
          <p:cNvPr id="14" name="Shape 12"/>
          <p:cNvSpPr/>
          <p:nvPr/>
        </p:nvSpPr>
        <p:spPr>
          <a:xfrm>
            <a:off x="731520" y="2606040"/>
            <a:ext cx="502920" cy="868680"/>
          </a:xfrm>
          <a:prstGeom prst="rect">
            <a:avLst/>
          </a:prstGeom>
          <a:solidFill>
            <a:srgbClr val="1E2530"/>
          </a:solidFill>
          <a:ln/>
        </p:spPr>
        <p:txBody>
          <a:bodyPr/>
          <a:lstStyle/>
          <a:p>
            <a:endParaRPr lang="en-US"/>
          </a:p>
        </p:txBody>
      </p:sp>
      <p:sp>
        <p:nvSpPr>
          <p:cNvPr id="15" name="Text 13"/>
          <p:cNvSpPr/>
          <p:nvPr/>
        </p:nvSpPr>
        <p:spPr>
          <a:xfrm>
            <a:off x="731520" y="2606040"/>
            <a:ext cx="502920" cy="868680"/>
          </a:xfrm>
          <a:prstGeom prst="rect">
            <a:avLst/>
          </a:prstGeom>
          <a:noFill/>
          <a:ln/>
        </p:spPr>
        <p:txBody>
          <a:bodyPr wrap="square" lIns="0" tIns="0" rIns="0" bIns="0" rtlCol="0" anchor="ctr"/>
          <a:lstStyle/>
          <a:p>
            <a:pPr marL="0" indent="0" algn="ctr">
              <a:buNone/>
            </a:pPr>
            <a:r>
              <a:rPr lang="en-US" sz="1800" b="1" dirty="0">
                <a:solidFill>
                  <a:srgbClr val="FFFFFF"/>
                </a:solidFill>
                <a:latin typeface="Open Sans" pitchFamily="34" charset="0"/>
                <a:ea typeface="Open Sans" pitchFamily="34" charset="-122"/>
                <a:cs typeface="Open Sans" pitchFamily="34" charset="-120"/>
              </a:rPr>
              <a:t>2</a:t>
            </a:r>
            <a:endParaRPr lang="en-US" sz="1800" dirty="0"/>
          </a:p>
        </p:txBody>
      </p:sp>
      <p:sp>
        <p:nvSpPr>
          <p:cNvPr id="16" name="Text 14"/>
          <p:cNvSpPr/>
          <p:nvPr/>
        </p:nvSpPr>
        <p:spPr>
          <a:xfrm>
            <a:off x="1417320" y="2679192"/>
            <a:ext cx="1188720" cy="320040"/>
          </a:xfrm>
          <a:prstGeom prst="rect">
            <a:avLst/>
          </a:prstGeom>
          <a:noFill/>
          <a:ln/>
        </p:spPr>
        <p:txBody>
          <a:bodyPr wrap="square" lIns="0" tIns="0" rIns="0" bIns="0" rtlCol="0" anchor="ctr"/>
          <a:lstStyle/>
          <a:p>
            <a:pPr marL="0" indent="0">
              <a:buNone/>
            </a:pPr>
            <a:r>
              <a:rPr lang="en-US" sz="1400" b="1" dirty="0">
                <a:solidFill>
                  <a:srgbClr val="1E2530"/>
                </a:solidFill>
                <a:latin typeface="Open Sans" pitchFamily="34" charset="0"/>
                <a:ea typeface="Open Sans" pitchFamily="34" charset="-122"/>
                <a:cs typeface="Open Sans" pitchFamily="34" charset="-120"/>
              </a:rPr>
              <a:t>Launch</a:t>
            </a:r>
            <a:endParaRPr lang="en-US" sz="1400" dirty="0"/>
          </a:p>
        </p:txBody>
      </p:sp>
      <p:sp>
        <p:nvSpPr>
          <p:cNvPr id="17" name="Text 15"/>
          <p:cNvSpPr/>
          <p:nvPr/>
        </p:nvSpPr>
        <p:spPr>
          <a:xfrm>
            <a:off x="2606040" y="2679192"/>
            <a:ext cx="5394960" cy="320040"/>
          </a:xfrm>
          <a:prstGeom prst="rect">
            <a:avLst/>
          </a:prstGeom>
          <a:noFill/>
          <a:ln/>
        </p:spPr>
        <p:txBody>
          <a:bodyPr wrap="square" lIns="0" tIns="0" rIns="0" bIns="0" rtlCol="0" anchor="ctr"/>
          <a:lstStyle/>
          <a:p>
            <a:pPr marL="0" indent="0">
              <a:buNone/>
            </a:pPr>
            <a:r>
              <a:rPr lang="en-US" sz="1200" dirty="0">
                <a:solidFill>
                  <a:srgbClr val="B8975C"/>
                </a:solidFill>
                <a:latin typeface="Consolas" pitchFamily="34" charset="0"/>
                <a:ea typeface="Consolas" pitchFamily="34" charset="-122"/>
                <a:cs typeface="Consolas" pitchFamily="34" charset="-120"/>
              </a:rPr>
              <a:t>claude</a:t>
            </a:r>
            <a:endParaRPr lang="en-US" sz="1200" dirty="0"/>
          </a:p>
        </p:txBody>
      </p:sp>
      <p:sp>
        <p:nvSpPr>
          <p:cNvPr id="18" name="Text 16"/>
          <p:cNvSpPr/>
          <p:nvPr/>
        </p:nvSpPr>
        <p:spPr>
          <a:xfrm>
            <a:off x="1417320" y="3044952"/>
            <a:ext cx="6812280" cy="320040"/>
          </a:xfrm>
          <a:prstGeom prst="rect">
            <a:avLst/>
          </a:prstGeom>
          <a:noFill/>
          <a:ln/>
        </p:spPr>
        <p:txBody>
          <a:bodyPr wrap="square" lIns="0" tIns="0" rIns="0" bIns="0" rtlCol="0" anchor="ctr"/>
          <a:lstStyle/>
          <a:p>
            <a:pPr marL="0" indent="0">
              <a:buNone/>
            </a:pPr>
            <a:r>
              <a:rPr lang="en-US" sz="1100" dirty="0">
                <a:solidFill>
                  <a:srgbClr val="5A6B7A"/>
                </a:solidFill>
                <a:latin typeface="Open Sans" pitchFamily="34" charset="0"/>
                <a:ea typeface="Open Sans" pitchFamily="34" charset="-122"/>
                <a:cs typeface="Open Sans" pitchFamily="34" charset="-120"/>
              </a:rPr>
              <a:t>Start Claude Code. It reads your project files and understands the structure.</a:t>
            </a:r>
            <a:endParaRPr lang="en-US" sz="1100" dirty="0"/>
          </a:p>
        </p:txBody>
      </p:sp>
      <p:sp>
        <p:nvSpPr>
          <p:cNvPr id="19" name="Shape 17"/>
          <p:cNvSpPr/>
          <p:nvPr/>
        </p:nvSpPr>
        <p:spPr>
          <a:xfrm>
            <a:off x="731520" y="3794760"/>
            <a:ext cx="7680960" cy="868680"/>
          </a:xfrm>
          <a:prstGeom prst="rect">
            <a:avLst/>
          </a:prstGeom>
          <a:solidFill>
            <a:srgbClr val="FFFFFF"/>
          </a:solidFill>
          <a:ln/>
          <a:effectLst>
            <a:outerShdw blurRad="76200" dist="25400" dir="8100000" algn="bl" rotWithShape="0">
              <a:srgbClr val="000000">
                <a:alpha val="8000"/>
              </a:srgbClr>
            </a:outerShdw>
          </a:effectLst>
        </p:spPr>
        <p:txBody>
          <a:bodyPr/>
          <a:lstStyle/>
          <a:p>
            <a:endParaRPr lang="en-US"/>
          </a:p>
        </p:txBody>
      </p:sp>
      <p:sp>
        <p:nvSpPr>
          <p:cNvPr id="20" name="Shape 18"/>
          <p:cNvSpPr/>
          <p:nvPr/>
        </p:nvSpPr>
        <p:spPr>
          <a:xfrm>
            <a:off x="731520" y="3794760"/>
            <a:ext cx="502920" cy="868680"/>
          </a:xfrm>
          <a:prstGeom prst="rect">
            <a:avLst/>
          </a:prstGeom>
          <a:solidFill>
            <a:srgbClr val="1E2530"/>
          </a:solidFill>
          <a:ln/>
        </p:spPr>
        <p:txBody>
          <a:bodyPr/>
          <a:lstStyle/>
          <a:p>
            <a:endParaRPr lang="en-US"/>
          </a:p>
        </p:txBody>
      </p:sp>
      <p:sp>
        <p:nvSpPr>
          <p:cNvPr id="21" name="Text 19"/>
          <p:cNvSpPr/>
          <p:nvPr/>
        </p:nvSpPr>
        <p:spPr>
          <a:xfrm>
            <a:off x="731520" y="3794760"/>
            <a:ext cx="502920" cy="868680"/>
          </a:xfrm>
          <a:prstGeom prst="rect">
            <a:avLst/>
          </a:prstGeom>
          <a:noFill/>
          <a:ln/>
        </p:spPr>
        <p:txBody>
          <a:bodyPr wrap="square" lIns="0" tIns="0" rIns="0" bIns="0" rtlCol="0" anchor="ctr"/>
          <a:lstStyle/>
          <a:p>
            <a:pPr marL="0" indent="0" algn="ctr">
              <a:buNone/>
            </a:pPr>
            <a:r>
              <a:rPr lang="en-US" sz="1800" b="1" dirty="0">
                <a:solidFill>
                  <a:srgbClr val="FFFFFF"/>
                </a:solidFill>
                <a:latin typeface="Open Sans" pitchFamily="34" charset="0"/>
                <a:ea typeface="Open Sans" pitchFamily="34" charset="-122"/>
                <a:cs typeface="Open Sans" pitchFamily="34" charset="-120"/>
              </a:rPr>
              <a:t>3</a:t>
            </a:r>
            <a:endParaRPr lang="en-US" sz="1800" dirty="0"/>
          </a:p>
        </p:txBody>
      </p:sp>
      <p:sp>
        <p:nvSpPr>
          <p:cNvPr id="22" name="Text 20"/>
          <p:cNvSpPr/>
          <p:nvPr/>
        </p:nvSpPr>
        <p:spPr>
          <a:xfrm>
            <a:off x="1417320" y="3867912"/>
            <a:ext cx="1188720" cy="320040"/>
          </a:xfrm>
          <a:prstGeom prst="rect">
            <a:avLst/>
          </a:prstGeom>
          <a:noFill/>
          <a:ln/>
        </p:spPr>
        <p:txBody>
          <a:bodyPr wrap="square" lIns="0" tIns="0" rIns="0" bIns="0" rtlCol="0" anchor="ctr"/>
          <a:lstStyle/>
          <a:p>
            <a:pPr marL="0" indent="0">
              <a:buNone/>
            </a:pPr>
            <a:r>
              <a:rPr lang="en-US" sz="1400" b="1" dirty="0">
                <a:solidFill>
                  <a:srgbClr val="1E2530"/>
                </a:solidFill>
                <a:latin typeface="Open Sans" pitchFamily="34" charset="0"/>
                <a:ea typeface="Open Sans" pitchFamily="34" charset="-122"/>
                <a:cs typeface="Open Sans" pitchFamily="34" charset="-120"/>
              </a:rPr>
              <a:t>Ask</a:t>
            </a:r>
            <a:endParaRPr lang="en-US" sz="1400" dirty="0"/>
          </a:p>
        </p:txBody>
      </p:sp>
      <p:sp>
        <p:nvSpPr>
          <p:cNvPr id="23" name="Text 21"/>
          <p:cNvSpPr/>
          <p:nvPr/>
        </p:nvSpPr>
        <p:spPr>
          <a:xfrm>
            <a:off x="2606040" y="3867912"/>
            <a:ext cx="5394960" cy="320040"/>
          </a:xfrm>
          <a:prstGeom prst="rect">
            <a:avLst/>
          </a:prstGeom>
          <a:noFill/>
          <a:ln/>
        </p:spPr>
        <p:txBody>
          <a:bodyPr wrap="square" lIns="0" tIns="0" rIns="0" bIns="0" rtlCol="0" anchor="ctr"/>
          <a:lstStyle/>
          <a:p>
            <a:pPr marL="0" indent="0">
              <a:buNone/>
            </a:pPr>
            <a:r>
              <a:rPr lang="en-US" sz="1200" dirty="0">
                <a:solidFill>
                  <a:srgbClr val="B8975C"/>
                </a:solidFill>
                <a:latin typeface="Consolas" pitchFamily="34" charset="0"/>
                <a:ea typeface="Consolas" pitchFamily="34" charset="-122"/>
                <a:cs typeface="Consolas" pitchFamily="34" charset="-120"/>
              </a:rPr>
              <a:t>“Review my Stage 3 spec for completeness”</a:t>
            </a:r>
            <a:endParaRPr lang="en-US" sz="1200" dirty="0"/>
          </a:p>
        </p:txBody>
      </p:sp>
      <p:sp>
        <p:nvSpPr>
          <p:cNvPr id="24" name="Text 22"/>
          <p:cNvSpPr/>
          <p:nvPr/>
        </p:nvSpPr>
        <p:spPr>
          <a:xfrm>
            <a:off x="1417320" y="4233672"/>
            <a:ext cx="6812280" cy="320040"/>
          </a:xfrm>
          <a:prstGeom prst="rect">
            <a:avLst/>
          </a:prstGeom>
          <a:noFill/>
          <a:ln/>
        </p:spPr>
        <p:txBody>
          <a:bodyPr wrap="square" lIns="0" tIns="0" rIns="0" bIns="0" rtlCol="0" anchor="ctr"/>
          <a:lstStyle/>
          <a:p>
            <a:pPr marL="0" indent="0">
              <a:buNone/>
            </a:pPr>
            <a:r>
              <a:rPr lang="en-US" sz="1100" dirty="0">
                <a:solidFill>
                  <a:srgbClr val="5A6B7A"/>
                </a:solidFill>
                <a:latin typeface="Open Sans" pitchFamily="34" charset="0"/>
                <a:ea typeface="Open Sans" pitchFamily="34" charset="-122"/>
                <a:cs typeface="Open Sans" pitchFamily="34" charset="-120"/>
              </a:rPr>
              <a:t>Type your request in natural language. Claude reads your files and responds.</a:t>
            </a:r>
            <a:endParaRPr lang="en-US" sz="1100" dirty="0"/>
          </a:p>
        </p:txBody>
      </p:sp>
    </p:spTree>
    <p:extLst>
      <p:ext uri="{BB962C8B-B14F-4D97-AF65-F5344CB8AC3E}">
        <p14:creationId xmlns:p14="http://schemas.microsoft.com/office/powerpoint/2010/main" val="336017543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9144000" cy="825500"/>
          </a:xfrm>
          <a:prstGeom prst="rect">
            <a:avLst/>
          </a:prstGeom>
          <a:solidFill>
            <a:srgbClr val="024731"/>
          </a:solidFill>
          <a:ln>
            <a:noFill/>
          </a:ln>
        </p:spPr>
        <p:txBody>
          <a:bodyPr/>
          <a:lstStyle/>
          <a:p>
            <a:endParaRPr lang="en-US"/>
          </a:p>
        </p:txBody>
      </p:sp>
      <p:sp>
        <p:nvSpPr>
          <p:cNvPr id="4" name="Text 2"/>
          <p:cNvSpPr/>
          <p:nvPr/>
        </p:nvSpPr>
        <p:spPr>
          <a:xfrm>
            <a:off x="457200" y="4745736"/>
            <a:ext cx="8229600" cy="320040"/>
          </a:xfrm>
          <a:prstGeom prst="rect">
            <a:avLst/>
          </a:prstGeom>
          <a:noFill/>
          <a:ln/>
        </p:spPr>
        <p:txBody>
          <a:bodyPr wrap="square" lIns="0" tIns="0" rIns="0" bIns="0" rtlCol="0" anchor="ctr"/>
          <a:lstStyle/>
          <a:p>
            <a:pPr marL="0" indent="0" algn="ctr">
              <a:buNone/>
            </a:pPr>
            <a:r>
              <a:rPr lang="en-US" sz="1000" dirty="0">
                <a:solidFill>
                  <a:srgbClr val="5A6B7A"/>
                </a:solidFill>
                <a:latin typeface="Open Sans" pitchFamily="34" charset="0"/>
                <a:ea typeface="Open Sans" pitchFamily="34" charset="-122"/>
                <a:cs typeface="Open Sans" pitchFamily="34" charset="-120"/>
              </a:rPr>
              <a:t>Shidler College of Business  |  University of Hawaiʻi at Mānoa</a:t>
            </a:r>
            <a:endParaRPr lang="en-US" sz="1000" dirty="0"/>
          </a:p>
        </p:txBody>
      </p:sp>
      <p:sp>
        <p:nvSpPr>
          <p:cNvPr id="5" name="Text 3"/>
          <p:cNvSpPr/>
          <p:nvPr/>
        </p:nvSpPr>
        <p:spPr>
          <a:xfrm>
            <a:off x="731520" y="320040"/>
            <a:ext cx="7680960" cy="457200"/>
          </a:xfrm>
          <a:prstGeom prst="rect">
            <a:avLst/>
          </a:prstGeom>
          <a:noFill/>
          <a:ln/>
        </p:spPr>
        <p:txBody>
          <a:bodyPr wrap="square" lIns="0" tIns="0" rIns="0" bIns="0" rtlCol="0" anchor="ctr"/>
          <a:lstStyle/>
          <a:p>
            <a:pPr marL="0" indent="0">
              <a:buNone/>
            </a:pPr>
            <a:r>
              <a:rPr lang="en-US" sz="2800" b="1" dirty="0">
                <a:solidFill>
                  <a:srgbClr val="FFFFFF"/>
                </a:solidFill>
                <a:latin typeface="Open Sans" pitchFamily="34" charset="0"/>
                <a:ea typeface="Open Sans" pitchFamily="34" charset="-122"/>
                <a:cs typeface="Open Sans" pitchFamily="34" charset="-120"/>
              </a:rPr>
              <a:t>Power Moves with Claude Code</a:t>
            </a:r>
            <a:endParaRPr lang="en-US" sz="2800" dirty="0"/>
          </a:p>
        </p:txBody>
      </p:sp>
      <p:sp>
        <p:nvSpPr>
          <p:cNvPr id="6" name="Text 4"/>
          <p:cNvSpPr/>
          <p:nvPr/>
        </p:nvSpPr>
        <p:spPr>
          <a:xfrm>
            <a:off x="731520" y="952500"/>
            <a:ext cx="7680960" cy="320040"/>
          </a:xfrm>
          <a:prstGeom prst="rect">
            <a:avLst/>
          </a:prstGeom>
          <a:noFill/>
          <a:ln/>
        </p:spPr>
        <p:txBody>
          <a:bodyPr wrap="square" lIns="0" tIns="0" rIns="0" bIns="0" rtlCol="0" anchor="ctr"/>
          <a:lstStyle/>
          <a:p>
            <a:pPr marL="0" indent="0">
              <a:buNone/>
            </a:pPr>
            <a:r>
              <a:rPr lang="en-US" sz="1300" dirty="0">
                <a:solidFill>
                  <a:srgbClr val="5A6B7A"/>
                </a:solidFill>
                <a:latin typeface="Open Sans" pitchFamily="34" charset="0"/>
                <a:ea typeface="Open Sans" pitchFamily="34" charset="-122"/>
                <a:cs typeface="Open Sans" pitchFamily="34" charset="-120"/>
              </a:rPr>
              <a:t>Once you’re comfortable with the basics, try these.</a:t>
            </a:r>
            <a:endParaRPr lang="en-US" sz="1300" dirty="0"/>
          </a:p>
        </p:txBody>
      </p:sp>
      <p:sp>
        <p:nvSpPr>
          <p:cNvPr id="7" name="Shape 5"/>
          <p:cNvSpPr/>
          <p:nvPr/>
        </p:nvSpPr>
        <p:spPr>
          <a:xfrm>
            <a:off x="731520" y="1371600"/>
            <a:ext cx="7680960" cy="658368"/>
          </a:xfrm>
          <a:prstGeom prst="rect">
            <a:avLst/>
          </a:prstGeom>
          <a:solidFill>
            <a:srgbClr val="FFFFFF"/>
          </a:solidFill>
          <a:ln/>
          <a:effectLst>
            <a:outerShdw blurRad="76200" dist="25400" dir="8100000" algn="bl" rotWithShape="0">
              <a:srgbClr val="000000">
                <a:alpha val="8000"/>
              </a:srgbClr>
            </a:outerShdw>
          </a:effectLst>
        </p:spPr>
        <p:txBody>
          <a:bodyPr/>
          <a:lstStyle/>
          <a:p>
            <a:endParaRPr lang="en-US"/>
          </a:p>
        </p:txBody>
      </p:sp>
      <p:sp>
        <p:nvSpPr>
          <p:cNvPr id="8" name="Shape 6"/>
          <p:cNvSpPr/>
          <p:nvPr/>
        </p:nvSpPr>
        <p:spPr>
          <a:xfrm>
            <a:off x="731520" y="1371600"/>
            <a:ext cx="73152" cy="658368"/>
          </a:xfrm>
          <a:prstGeom prst="rect">
            <a:avLst/>
          </a:prstGeom>
          <a:solidFill>
            <a:srgbClr val="B8975C"/>
          </a:solidFill>
          <a:ln/>
        </p:spPr>
        <p:txBody>
          <a:bodyPr/>
          <a:lstStyle/>
          <a:p>
            <a:endParaRPr lang="en-US"/>
          </a:p>
        </p:txBody>
      </p:sp>
      <p:sp>
        <p:nvSpPr>
          <p:cNvPr id="9" name="Text 7"/>
          <p:cNvSpPr/>
          <p:nvPr/>
        </p:nvSpPr>
        <p:spPr>
          <a:xfrm>
            <a:off x="1005840" y="1417320"/>
            <a:ext cx="2377440" cy="274320"/>
          </a:xfrm>
          <a:prstGeom prst="rect">
            <a:avLst/>
          </a:prstGeom>
          <a:noFill/>
          <a:ln/>
        </p:spPr>
        <p:txBody>
          <a:bodyPr wrap="square" lIns="0" tIns="0" rIns="0" bIns="0" rtlCol="0" anchor="ctr"/>
          <a:lstStyle/>
          <a:p>
            <a:pPr marL="0" indent="0">
              <a:buNone/>
            </a:pPr>
            <a:r>
              <a:rPr lang="en-US" sz="1300" b="1" dirty="0">
                <a:solidFill>
                  <a:srgbClr val="1E2530"/>
                </a:solidFill>
                <a:latin typeface="Open Sans" pitchFamily="34" charset="0"/>
                <a:ea typeface="Open Sans" pitchFamily="34" charset="-122"/>
                <a:cs typeface="Open Sans" pitchFamily="34" charset="-120"/>
              </a:rPr>
              <a:t>Verify Your Model</a:t>
            </a:r>
            <a:endParaRPr lang="en-US" sz="1300" dirty="0"/>
          </a:p>
        </p:txBody>
      </p:sp>
      <p:sp>
        <p:nvSpPr>
          <p:cNvPr id="10" name="Text 8"/>
          <p:cNvSpPr/>
          <p:nvPr/>
        </p:nvSpPr>
        <p:spPr>
          <a:xfrm>
            <a:off x="1005840" y="1691640"/>
            <a:ext cx="7223760" cy="274320"/>
          </a:xfrm>
          <a:prstGeom prst="rect">
            <a:avLst/>
          </a:prstGeom>
          <a:noFill/>
          <a:ln/>
        </p:spPr>
        <p:txBody>
          <a:bodyPr wrap="square" lIns="0" tIns="0" rIns="0" bIns="0" rtlCol="0" anchor="ctr"/>
          <a:lstStyle/>
          <a:p>
            <a:pPr marL="0" indent="0">
              <a:buNone/>
            </a:pPr>
            <a:r>
              <a:rPr lang="en-US" sz="1150" i="1" dirty="0">
                <a:solidFill>
                  <a:srgbClr val="5A6B7A"/>
                </a:solidFill>
                <a:latin typeface="Open Sans" pitchFamily="34" charset="0"/>
                <a:ea typeface="Open Sans" pitchFamily="34" charset="-122"/>
                <a:cs typeface="Open Sans" pitchFamily="34" charset="-120"/>
              </a:rPr>
              <a:t>“Read my Stage 2 Excel and check if all 25 ratios are present.”</a:t>
            </a:r>
            <a:endParaRPr lang="en-US" sz="1150" dirty="0"/>
          </a:p>
        </p:txBody>
      </p:sp>
      <p:sp>
        <p:nvSpPr>
          <p:cNvPr id="11" name="Shape 9"/>
          <p:cNvSpPr/>
          <p:nvPr/>
        </p:nvSpPr>
        <p:spPr>
          <a:xfrm>
            <a:off x="731520" y="2194560"/>
            <a:ext cx="7680960" cy="658368"/>
          </a:xfrm>
          <a:prstGeom prst="rect">
            <a:avLst/>
          </a:prstGeom>
          <a:solidFill>
            <a:srgbClr val="FFFFFF"/>
          </a:solidFill>
          <a:ln/>
          <a:effectLst>
            <a:outerShdw blurRad="76200" dist="25400" dir="8100000" algn="bl" rotWithShape="0">
              <a:srgbClr val="000000">
                <a:alpha val="8000"/>
              </a:srgbClr>
            </a:outerShdw>
          </a:effectLst>
        </p:spPr>
        <p:txBody>
          <a:bodyPr/>
          <a:lstStyle/>
          <a:p>
            <a:endParaRPr lang="en-US"/>
          </a:p>
        </p:txBody>
      </p:sp>
      <p:sp>
        <p:nvSpPr>
          <p:cNvPr id="12" name="Shape 10"/>
          <p:cNvSpPr/>
          <p:nvPr/>
        </p:nvSpPr>
        <p:spPr>
          <a:xfrm>
            <a:off x="731520" y="2194560"/>
            <a:ext cx="73152" cy="658368"/>
          </a:xfrm>
          <a:prstGeom prst="rect">
            <a:avLst/>
          </a:prstGeom>
          <a:solidFill>
            <a:srgbClr val="B8975C"/>
          </a:solidFill>
          <a:ln/>
        </p:spPr>
        <p:txBody>
          <a:bodyPr/>
          <a:lstStyle/>
          <a:p>
            <a:endParaRPr lang="en-US"/>
          </a:p>
        </p:txBody>
      </p:sp>
      <p:sp>
        <p:nvSpPr>
          <p:cNvPr id="13" name="Text 11"/>
          <p:cNvSpPr/>
          <p:nvPr/>
        </p:nvSpPr>
        <p:spPr>
          <a:xfrm>
            <a:off x="1005840" y="2240280"/>
            <a:ext cx="2377440" cy="274320"/>
          </a:xfrm>
          <a:prstGeom prst="rect">
            <a:avLst/>
          </a:prstGeom>
          <a:noFill/>
          <a:ln/>
        </p:spPr>
        <p:txBody>
          <a:bodyPr wrap="square" lIns="0" tIns="0" rIns="0" bIns="0" rtlCol="0" anchor="ctr"/>
          <a:lstStyle/>
          <a:p>
            <a:pPr marL="0" indent="0">
              <a:buNone/>
            </a:pPr>
            <a:r>
              <a:rPr lang="en-US" sz="1300" b="1" dirty="0">
                <a:solidFill>
                  <a:srgbClr val="1E2530"/>
                </a:solidFill>
                <a:latin typeface="Open Sans" pitchFamily="34" charset="0"/>
                <a:ea typeface="Open Sans" pitchFamily="34" charset="-122"/>
                <a:cs typeface="Open Sans" pitchFamily="34" charset="-120"/>
              </a:rPr>
              <a:t>Git Without Leaving</a:t>
            </a:r>
            <a:endParaRPr lang="en-US" sz="1300" dirty="0"/>
          </a:p>
        </p:txBody>
      </p:sp>
      <p:sp>
        <p:nvSpPr>
          <p:cNvPr id="14" name="Text 12"/>
          <p:cNvSpPr/>
          <p:nvPr/>
        </p:nvSpPr>
        <p:spPr>
          <a:xfrm>
            <a:off x="1005840" y="2514600"/>
            <a:ext cx="7223760" cy="274320"/>
          </a:xfrm>
          <a:prstGeom prst="rect">
            <a:avLst/>
          </a:prstGeom>
          <a:noFill/>
          <a:ln/>
        </p:spPr>
        <p:txBody>
          <a:bodyPr wrap="square" lIns="0" tIns="0" rIns="0" bIns="0" rtlCol="0" anchor="ctr"/>
          <a:lstStyle/>
          <a:p>
            <a:pPr marL="0" indent="0">
              <a:buNone/>
            </a:pPr>
            <a:r>
              <a:rPr lang="en-US" sz="1150" i="1" dirty="0">
                <a:solidFill>
                  <a:srgbClr val="5A6B7A"/>
                </a:solidFill>
                <a:latin typeface="Open Sans" pitchFamily="34" charset="0"/>
                <a:ea typeface="Open Sans" pitchFamily="34" charset="-122"/>
                <a:cs typeface="Open Sans" pitchFamily="34" charset="-120"/>
              </a:rPr>
              <a:t>“Draft a commit message for my Stage 3 spec and push to GitHub.”</a:t>
            </a:r>
            <a:endParaRPr lang="en-US" sz="1150" dirty="0"/>
          </a:p>
        </p:txBody>
      </p:sp>
      <p:sp>
        <p:nvSpPr>
          <p:cNvPr id="15" name="Shape 13"/>
          <p:cNvSpPr/>
          <p:nvPr/>
        </p:nvSpPr>
        <p:spPr>
          <a:xfrm>
            <a:off x="731520" y="3017520"/>
            <a:ext cx="7680960" cy="658368"/>
          </a:xfrm>
          <a:prstGeom prst="rect">
            <a:avLst/>
          </a:prstGeom>
          <a:solidFill>
            <a:srgbClr val="FFFFFF"/>
          </a:solidFill>
          <a:ln/>
          <a:effectLst>
            <a:outerShdw blurRad="76200" dist="25400" dir="8100000" algn="bl" rotWithShape="0">
              <a:srgbClr val="000000">
                <a:alpha val="8000"/>
              </a:srgbClr>
            </a:outerShdw>
          </a:effectLst>
        </p:spPr>
        <p:txBody>
          <a:bodyPr/>
          <a:lstStyle/>
          <a:p>
            <a:endParaRPr lang="en-US"/>
          </a:p>
        </p:txBody>
      </p:sp>
      <p:sp>
        <p:nvSpPr>
          <p:cNvPr id="16" name="Shape 14"/>
          <p:cNvSpPr/>
          <p:nvPr/>
        </p:nvSpPr>
        <p:spPr>
          <a:xfrm>
            <a:off x="731520" y="3017520"/>
            <a:ext cx="73152" cy="658368"/>
          </a:xfrm>
          <a:prstGeom prst="rect">
            <a:avLst/>
          </a:prstGeom>
          <a:solidFill>
            <a:srgbClr val="B8975C"/>
          </a:solidFill>
          <a:ln/>
        </p:spPr>
        <p:txBody>
          <a:bodyPr/>
          <a:lstStyle/>
          <a:p>
            <a:endParaRPr lang="en-US"/>
          </a:p>
        </p:txBody>
      </p:sp>
      <p:sp>
        <p:nvSpPr>
          <p:cNvPr id="17" name="Text 15"/>
          <p:cNvSpPr/>
          <p:nvPr/>
        </p:nvSpPr>
        <p:spPr>
          <a:xfrm>
            <a:off x="1005840" y="3063240"/>
            <a:ext cx="2377440" cy="274320"/>
          </a:xfrm>
          <a:prstGeom prst="rect">
            <a:avLst/>
          </a:prstGeom>
          <a:noFill/>
          <a:ln/>
        </p:spPr>
        <p:txBody>
          <a:bodyPr wrap="square" lIns="0" tIns="0" rIns="0" bIns="0" rtlCol="0" anchor="ctr"/>
          <a:lstStyle/>
          <a:p>
            <a:pPr marL="0" indent="0">
              <a:buNone/>
            </a:pPr>
            <a:r>
              <a:rPr lang="en-US" sz="1300" b="1" dirty="0">
                <a:solidFill>
                  <a:srgbClr val="1E2530"/>
                </a:solidFill>
                <a:latin typeface="Open Sans" pitchFamily="34" charset="0"/>
                <a:ea typeface="Open Sans" pitchFamily="34" charset="-122"/>
                <a:cs typeface="Open Sans" pitchFamily="34" charset="-120"/>
              </a:rPr>
              <a:t>Rubric Check</a:t>
            </a:r>
            <a:endParaRPr lang="en-US" sz="1300" dirty="0"/>
          </a:p>
        </p:txBody>
      </p:sp>
      <p:sp>
        <p:nvSpPr>
          <p:cNvPr id="18" name="Text 16"/>
          <p:cNvSpPr/>
          <p:nvPr/>
        </p:nvSpPr>
        <p:spPr>
          <a:xfrm>
            <a:off x="1005840" y="3337560"/>
            <a:ext cx="7223760" cy="274320"/>
          </a:xfrm>
          <a:prstGeom prst="rect">
            <a:avLst/>
          </a:prstGeom>
          <a:noFill/>
          <a:ln/>
        </p:spPr>
        <p:txBody>
          <a:bodyPr wrap="square" lIns="0" tIns="0" rIns="0" bIns="0" rtlCol="0" anchor="ctr"/>
          <a:lstStyle/>
          <a:p>
            <a:pPr marL="0" indent="0">
              <a:buNone/>
            </a:pPr>
            <a:r>
              <a:rPr lang="en-US" sz="1150" i="1" dirty="0">
                <a:solidFill>
                  <a:srgbClr val="5A6B7A"/>
                </a:solidFill>
                <a:latin typeface="Open Sans" pitchFamily="34" charset="0"/>
                <a:ea typeface="Open Sans" pitchFamily="34" charset="-122"/>
                <a:cs typeface="Open Sans" pitchFamily="34" charset="-120"/>
              </a:rPr>
              <a:t>“Compare my Stage 1 memo to the rubric and suggest improvements.”</a:t>
            </a:r>
            <a:endParaRPr lang="en-US" sz="1150" dirty="0"/>
          </a:p>
        </p:txBody>
      </p:sp>
      <p:sp>
        <p:nvSpPr>
          <p:cNvPr id="19" name="Shape 17"/>
          <p:cNvSpPr/>
          <p:nvPr/>
        </p:nvSpPr>
        <p:spPr>
          <a:xfrm>
            <a:off x="731520" y="3840480"/>
            <a:ext cx="7680960" cy="658368"/>
          </a:xfrm>
          <a:prstGeom prst="rect">
            <a:avLst/>
          </a:prstGeom>
          <a:solidFill>
            <a:srgbClr val="FFFFFF"/>
          </a:solidFill>
          <a:ln/>
          <a:effectLst>
            <a:outerShdw blurRad="76200" dist="25400" dir="8100000" algn="bl" rotWithShape="0">
              <a:srgbClr val="000000">
                <a:alpha val="8000"/>
              </a:srgbClr>
            </a:outerShdw>
          </a:effectLst>
        </p:spPr>
        <p:txBody>
          <a:bodyPr/>
          <a:lstStyle/>
          <a:p>
            <a:endParaRPr lang="en-US"/>
          </a:p>
        </p:txBody>
      </p:sp>
      <p:sp>
        <p:nvSpPr>
          <p:cNvPr id="20" name="Shape 18"/>
          <p:cNvSpPr/>
          <p:nvPr/>
        </p:nvSpPr>
        <p:spPr>
          <a:xfrm>
            <a:off x="731520" y="3840480"/>
            <a:ext cx="73152" cy="658368"/>
          </a:xfrm>
          <a:prstGeom prst="rect">
            <a:avLst/>
          </a:prstGeom>
          <a:solidFill>
            <a:srgbClr val="B8975C"/>
          </a:solidFill>
          <a:ln/>
        </p:spPr>
        <p:txBody>
          <a:bodyPr/>
          <a:lstStyle/>
          <a:p>
            <a:endParaRPr lang="en-US"/>
          </a:p>
        </p:txBody>
      </p:sp>
      <p:sp>
        <p:nvSpPr>
          <p:cNvPr id="21" name="Text 19"/>
          <p:cNvSpPr/>
          <p:nvPr/>
        </p:nvSpPr>
        <p:spPr>
          <a:xfrm>
            <a:off x="1005840" y="3886200"/>
            <a:ext cx="2377440" cy="274320"/>
          </a:xfrm>
          <a:prstGeom prst="rect">
            <a:avLst/>
          </a:prstGeom>
          <a:noFill/>
          <a:ln/>
        </p:spPr>
        <p:txBody>
          <a:bodyPr wrap="square" lIns="0" tIns="0" rIns="0" bIns="0" rtlCol="0" anchor="ctr"/>
          <a:lstStyle/>
          <a:p>
            <a:pPr marL="0" indent="0">
              <a:buNone/>
            </a:pPr>
            <a:r>
              <a:rPr lang="en-US" sz="1300" b="1" dirty="0">
                <a:solidFill>
                  <a:srgbClr val="1E2530"/>
                </a:solidFill>
                <a:latin typeface="Open Sans" pitchFamily="34" charset="0"/>
                <a:ea typeface="Open Sans" pitchFamily="34" charset="-122"/>
                <a:cs typeface="Open Sans" pitchFamily="34" charset="-120"/>
              </a:rPr>
              <a:t>Auto-Generate Prompt</a:t>
            </a:r>
            <a:endParaRPr lang="en-US" sz="1300" dirty="0"/>
          </a:p>
        </p:txBody>
      </p:sp>
      <p:sp>
        <p:nvSpPr>
          <p:cNvPr id="22" name="Text 20"/>
          <p:cNvSpPr/>
          <p:nvPr/>
        </p:nvSpPr>
        <p:spPr>
          <a:xfrm>
            <a:off x="1005840" y="4160520"/>
            <a:ext cx="7223760" cy="274320"/>
          </a:xfrm>
          <a:prstGeom prst="rect">
            <a:avLst/>
          </a:prstGeom>
          <a:noFill/>
          <a:ln/>
        </p:spPr>
        <p:txBody>
          <a:bodyPr wrap="square" lIns="0" tIns="0" rIns="0" bIns="0" rtlCol="0" anchor="ctr"/>
          <a:lstStyle/>
          <a:p>
            <a:pPr marL="0" indent="0">
              <a:buNone/>
            </a:pPr>
            <a:r>
              <a:rPr lang="en-US" sz="1150" i="1" dirty="0">
                <a:solidFill>
                  <a:srgbClr val="5A6B7A"/>
                </a:solidFill>
                <a:latin typeface="Open Sans" pitchFamily="34" charset="0"/>
                <a:ea typeface="Open Sans" pitchFamily="34" charset="-122"/>
                <a:cs typeface="Open Sans" pitchFamily="34" charset="-120"/>
              </a:rPr>
              <a:t>“Generate the Stage 4 AI prompt using my spec as the template.”</a:t>
            </a:r>
            <a:endParaRPr lang="en-US" sz="1150" dirty="0"/>
          </a:p>
        </p:txBody>
      </p:sp>
    </p:spTree>
    <p:extLst>
      <p:ext uri="{BB962C8B-B14F-4D97-AF65-F5344CB8AC3E}">
        <p14:creationId xmlns:p14="http://schemas.microsoft.com/office/powerpoint/2010/main" val="3929367821"/>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9144000" cy="825500"/>
          </a:xfrm>
          <a:prstGeom prst="rect">
            <a:avLst/>
          </a:prstGeom>
          <a:solidFill>
            <a:srgbClr val="024731"/>
          </a:solidFill>
          <a:ln>
            <a:noFill/>
          </a:ln>
        </p:spPr>
        <p:txBody>
          <a:bodyPr/>
          <a:lstStyle/>
          <a:p>
            <a:endParaRPr lang="en-US"/>
          </a:p>
        </p:txBody>
      </p:sp>
      <p:sp>
        <p:nvSpPr>
          <p:cNvPr id="4" name="Text 2"/>
          <p:cNvSpPr/>
          <p:nvPr/>
        </p:nvSpPr>
        <p:spPr>
          <a:xfrm>
            <a:off x="457200" y="4745736"/>
            <a:ext cx="8229600" cy="320040"/>
          </a:xfrm>
          <a:prstGeom prst="rect">
            <a:avLst/>
          </a:prstGeom>
          <a:noFill/>
          <a:ln/>
        </p:spPr>
        <p:txBody>
          <a:bodyPr wrap="square" lIns="0" tIns="0" rIns="0" bIns="0" rtlCol="0" anchor="ctr"/>
          <a:lstStyle/>
          <a:p>
            <a:pPr marL="0" indent="0" algn="ctr">
              <a:buNone/>
            </a:pPr>
            <a:r>
              <a:rPr lang="en-US" sz="1000" dirty="0">
                <a:solidFill>
                  <a:srgbClr val="5A6B7A"/>
                </a:solidFill>
                <a:latin typeface="Open Sans" pitchFamily="34" charset="0"/>
                <a:ea typeface="Open Sans" pitchFamily="34" charset="-122"/>
                <a:cs typeface="Open Sans" pitchFamily="34" charset="-120"/>
              </a:rPr>
              <a:t>Shidler College of Business  |  University of Hawaiʻi at Mānoa</a:t>
            </a:r>
            <a:endParaRPr lang="en-US" sz="1000" dirty="0"/>
          </a:p>
        </p:txBody>
      </p:sp>
      <p:sp>
        <p:nvSpPr>
          <p:cNvPr id="5" name="Text 3"/>
          <p:cNvSpPr/>
          <p:nvPr/>
        </p:nvSpPr>
        <p:spPr>
          <a:xfrm>
            <a:off x="731520" y="320040"/>
            <a:ext cx="7680960" cy="457200"/>
          </a:xfrm>
          <a:prstGeom prst="rect">
            <a:avLst/>
          </a:prstGeom>
          <a:noFill/>
          <a:ln/>
        </p:spPr>
        <p:txBody>
          <a:bodyPr wrap="square" lIns="0" tIns="0" rIns="0" bIns="0" rtlCol="0" anchor="ctr"/>
          <a:lstStyle/>
          <a:p>
            <a:pPr marL="0" indent="0">
              <a:buNone/>
            </a:pPr>
            <a:r>
              <a:rPr lang="en-US" sz="2800" b="1" dirty="0">
                <a:solidFill>
                  <a:srgbClr val="FFFFFF"/>
                </a:solidFill>
                <a:latin typeface="Open Sans" pitchFamily="34" charset="0"/>
                <a:ea typeface="Open Sans" pitchFamily="34" charset="-122"/>
                <a:cs typeface="Open Sans" pitchFamily="34" charset="-120"/>
              </a:rPr>
              <a:t>Skills &amp; Slash Commands</a:t>
            </a:r>
            <a:endParaRPr lang="en-US" sz="2800" dirty="0"/>
          </a:p>
        </p:txBody>
      </p:sp>
      <p:sp>
        <p:nvSpPr>
          <p:cNvPr id="6" name="Text 4"/>
          <p:cNvSpPr/>
          <p:nvPr/>
        </p:nvSpPr>
        <p:spPr>
          <a:xfrm>
            <a:off x="731520" y="952500"/>
            <a:ext cx="7680960" cy="320040"/>
          </a:xfrm>
          <a:prstGeom prst="rect">
            <a:avLst/>
          </a:prstGeom>
          <a:noFill/>
          <a:ln/>
        </p:spPr>
        <p:txBody>
          <a:bodyPr wrap="square" lIns="0" tIns="0" rIns="0" bIns="0" rtlCol="0" anchor="ctr"/>
          <a:lstStyle/>
          <a:p>
            <a:pPr marL="0" indent="0">
              <a:buNone/>
            </a:pPr>
            <a:r>
              <a:rPr lang="en-US" sz="1300" dirty="0">
                <a:solidFill>
                  <a:srgbClr val="5A6B7A"/>
                </a:solidFill>
                <a:latin typeface="Open Sans" pitchFamily="34" charset="0"/>
                <a:ea typeface="Open Sans" pitchFamily="34" charset="-122"/>
                <a:cs typeface="Open Sans" pitchFamily="34" charset="-120"/>
              </a:rPr>
              <a:t>Claude Code supports custom skills and /commands that extend its capabilities for your project.</a:t>
            </a:r>
            <a:endParaRPr lang="en-US" sz="1300" dirty="0"/>
          </a:p>
        </p:txBody>
      </p:sp>
      <p:sp>
        <p:nvSpPr>
          <p:cNvPr id="7" name="Shape 5"/>
          <p:cNvSpPr/>
          <p:nvPr/>
        </p:nvSpPr>
        <p:spPr>
          <a:xfrm>
            <a:off x="731520" y="1371600"/>
            <a:ext cx="7680960" cy="658368"/>
          </a:xfrm>
          <a:prstGeom prst="rect">
            <a:avLst/>
          </a:prstGeom>
          <a:solidFill>
            <a:srgbClr val="FFFFFF"/>
          </a:solidFill>
          <a:ln/>
          <a:effectLst>
            <a:outerShdw blurRad="76200" dist="25400" dir="8100000" algn="bl" rotWithShape="0">
              <a:srgbClr val="000000">
                <a:alpha val="8000"/>
              </a:srgbClr>
            </a:outerShdw>
          </a:effectLst>
        </p:spPr>
        <p:txBody>
          <a:bodyPr/>
          <a:lstStyle/>
          <a:p>
            <a:endParaRPr lang="en-US"/>
          </a:p>
        </p:txBody>
      </p:sp>
      <p:sp>
        <p:nvSpPr>
          <p:cNvPr id="8" name="Shape 6"/>
          <p:cNvSpPr/>
          <p:nvPr/>
        </p:nvSpPr>
        <p:spPr>
          <a:xfrm>
            <a:off x="731520" y="1371600"/>
            <a:ext cx="73152" cy="658368"/>
          </a:xfrm>
          <a:prstGeom prst="rect">
            <a:avLst/>
          </a:prstGeom>
          <a:solidFill>
            <a:srgbClr val="B8975C"/>
          </a:solidFill>
          <a:ln/>
        </p:spPr>
        <p:txBody>
          <a:bodyPr/>
          <a:lstStyle/>
          <a:p>
            <a:endParaRPr lang="en-US"/>
          </a:p>
        </p:txBody>
      </p:sp>
      <p:sp>
        <p:nvSpPr>
          <p:cNvPr id="9" name="Text 7"/>
          <p:cNvSpPr/>
          <p:nvPr/>
        </p:nvSpPr>
        <p:spPr>
          <a:xfrm>
            <a:off x="1005840" y="1417320"/>
            <a:ext cx="2377440" cy="274320"/>
          </a:xfrm>
          <a:prstGeom prst="rect">
            <a:avLst/>
          </a:prstGeom>
          <a:noFill/>
          <a:ln/>
        </p:spPr>
        <p:txBody>
          <a:bodyPr wrap="square" lIns="0" tIns="0" rIns="0" bIns="0" rtlCol="0" anchor="ctr"/>
          <a:lstStyle/>
          <a:p>
            <a:pPr marL="0" indent="0">
              <a:buNone/>
            </a:pPr>
            <a:r>
              <a:rPr lang="en-US" sz="1300" b="1" dirty="0">
                <a:solidFill>
                  <a:srgbClr val="1E2530"/>
                </a:solidFill>
                <a:latin typeface="Open Sans" pitchFamily="34" charset="0"/>
                <a:ea typeface="Open Sans" pitchFamily="34" charset="-122"/>
                <a:cs typeface="Open Sans" pitchFamily="34" charset="-120"/>
              </a:rPr>
              <a:t>What Are Skills?</a:t>
            </a:r>
            <a:endParaRPr lang="en-US" sz="1300" dirty="0"/>
          </a:p>
        </p:txBody>
      </p:sp>
      <p:sp>
        <p:nvSpPr>
          <p:cNvPr id="10" name="Text 8"/>
          <p:cNvSpPr/>
          <p:nvPr/>
        </p:nvSpPr>
        <p:spPr>
          <a:xfrm>
            <a:off x="1005840" y="1691640"/>
            <a:ext cx="7223760" cy="274320"/>
          </a:xfrm>
          <a:prstGeom prst="rect">
            <a:avLst/>
          </a:prstGeom>
          <a:noFill/>
          <a:ln/>
        </p:spPr>
        <p:txBody>
          <a:bodyPr wrap="square" lIns="0" tIns="0" rIns="0" bIns="0" rtlCol="0" anchor="ctr"/>
          <a:lstStyle/>
          <a:p>
            <a:pPr marL="0" indent="0">
              <a:buNone/>
            </a:pPr>
            <a:r>
              <a:rPr lang="en-US" sz="1150" i="1" dirty="0">
                <a:solidFill>
                  <a:srgbClr val="5A6B7A"/>
                </a:solidFill>
                <a:latin typeface="Open Sans" pitchFamily="34" charset="0"/>
                <a:ea typeface="Open Sans" pitchFamily="34" charset="-122"/>
                <a:cs typeface="Open Sans" pitchFamily="34" charset="-120"/>
              </a:rPr>
              <a:t>“Skills are reusable instruction sets in .claude/skills/. They teach Claude domain knowledge — like how to build Excel models or apply UH branding.”</a:t>
            </a:r>
            <a:endParaRPr lang="en-US" sz="1150" dirty="0"/>
          </a:p>
        </p:txBody>
      </p:sp>
      <p:sp>
        <p:nvSpPr>
          <p:cNvPr id="11" name="Shape 9"/>
          <p:cNvSpPr/>
          <p:nvPr/>
        </p:nvSpPr>
        <p:spPr>
          <a:xfrm>
            <a:off x="731520" y="2194560"/>
            <a:ext cx="7680960" cy="658368"/>
          </a:xfrm>
          <a:prstGeom prst="rect">
            <a:avLst/>
          </a:prstGeom>
          <a:solidFill>
            <a:srgbClr val="FFFFFF"/>
          </a:solidFill>
          <a:ln/>
          <a:effectLst>
            <a:outerShdw blurRad="76200" dist="25400" dir="8100000" algn="bl" rotWithShape="0">
              <a:srgbClr val="000000">
                <a:alpha val="8000"/>
              </a:srgbClr>
            </a:outerShdw>
          </a:effectLst>
        </p:spPr>
        <p:txBody>
          <a:bodyPr/>
          <a:lstStyle/>
          <a:p>
            <a:endParaRPr lang="en-US"/>
          </a:p>
        </p:txBody>
      </p:sp>
      <p:sp>
        <p:nvSpPr>
          <p:cNvPr id="12" name="Shape 10"/>
          <p:cNvSpPr/>
          <p:nvPr/>
        </p:nvSpPr>
        <p:spPr>
          <a:xfrm>
            <a:off x="731520" y="2194560"/>
            <a:ext cx="73152" cy="658368"/>
          </a:xfrm>
          <a:prstGeom prst="rect">
            <a:avLst/>
          </a:prstGeom>
          <a:solidFill>
            <a:srgbClr val="B8975C"/>
          </a:solidFill>
          <a:ln/>
        </p:spPr>
        <p:txBody>
          <a:bodyPr/>
          <a:lstStyle/>
          <a:p>
            <a:endParaRPr lang="en-US"/>
          </a:p>
        </p:txBody>
      </p:sp>
      <p:sp>
        <p:nvSpPr>
          <p:cNvPr id="13" name="Text 11"/>
          <p:cNvSpPr/>
          <p:nvPr/>
        </p:nvSpPr>
        <p:spPr>
          <a:xfrm>
            <a:off x="1005840" y="2240280"/>
            <a:ext cx="2377440" cy="274320"/>
          </a:xfrm>
          <a:prstGeom prst="rect">
            <a:avLst/>
          </a:prstGeom>
          <a:noFill/>
          <a:ln/>
        </p:spPr>
        <p:txBody>
          <a:bodyPr wrap="square" lIns="0" tIns="0" rIns="0" bIns="0" rtlCol="0" anchor="ctr"/>
          <a:lstStyle/>
          <a:p>
            <a:pPr marL="0" indent="0">
              <a:buNone/>
            </a:pPr>
            <a:r>
              <a:rPr lang="en-US" sz="1300" b="1" dirty="0">
                <a:solidFill>
                  <a:srgbClr val="1E2530"/>
                </a:solidFill>
                <a:latin typeface="Open Sans" pitchFamily="34" charset="0"/>
                <a:ea typeface="Open Sans" pitchFamily="34" charset="-122"/>
                <a:cs typeface="Open Sans" pitchFamily="34" charset="-120"/>
              </a:rPr>
              <a:t>Using /Commands</a:t>
            </a:r>
            <a:endParaRPr lang="en-US" sz="1300" dirty="0"/>
          </a:p>
        </p:txBody>
      </p:sp>
      <p:sp>
        <p:nvSpPr>
          <p:cNvPr id="14" name="Text 12"/>
          <p:cNvSpPr/>
          <p:nvPr/>
        </p:nvSpPr>
        <p:spPr>
          <a:xfrm>
            <a:off x="1005840" y="2514600"/>
            <a:ext cx="7223760" cy="274320"/>
          </a:xfrm>
          <a:prstGeom prst="rect">
            <a:avLst/>
          </a:prstGeom>
          <a:noFill/>
          <a:ln/>
        </p:spPr>
        <p:txBody>
          <a:bodyPr wrap="square" lIns="0" tIns="0" rIns="0" bIns="0" rtlCol="0" anchor="ctr"/>
          <a:lstStyle/>
          <a:p>
            <a:pPr marL="0" indent="0">
              <a:buNone/>
            </a:pPr>
            <a:r>
              <a:rPr lang="en-US" sz="1150" i="1" dirty="0">
                <a:solidFill>
                  <a:srgbClr val="5A6B7A"/>
                </a:solidFill>
                <a:latin typeface="Open Sans" pitchFamily="34" charset="0"/>
                <a:ea typeface="Open Sans" pitchFamily="34" charset="-122"/>
                <a:cs typeface="Open Sans" pitchFamily="34" charset="-120"/>
              </a:rPr>
              <a:t>“Type /pptx, /xlsx, /docx, /brand-guidelines, or /pdf to activate a skill. Claude loads specialized instructions and produces higher-quality output.”</a:t>
            </a:r>
            <a:endParaRPr lang="en-US" sz="1150" dirty="0"/>
          </a:p>
        </p:txBody>
      </p:sp>
      <p:sp>
        <p:nvSpPr>
          <p:cNvPr id="15" name="Shape 13"/>
          <p:cNvSpPr/>
          <p:nvPr/>
        </p:nvSpPr>
        <p:spPr>
          <a:xfrm>
            <a:off x="731520" y="3017520"/>
            <a:ext cx="7680960" cy="658368"/>
          </a:xfrm>
          <a:prstGeom prst="rect">
            <a:avLst/>
          </a:prstGeom>
          <a:solidFill>
            <a:srgbClr val="FFFFFF"/>
          </a:solidFill>
          <a:ln/>
          <a:effectLst>
            <a:outerShdw blurRad="76200" dist="25400" dir="8100000" algn="bl" rotWithShape="0">
              <a:srgbClr val="000000">
                <a:alpha val="8000"/>
              </a:srgbClr>
            </a:outerShdw>
          </a:effectLst>
        </p:spPr>
        <p:txBody>
          <a:bodyPr/>
          <a:lstStyle/>
          <a:p>
            <a:endParaRPr lang="en-US"/>
          </a:p>
        </p:txBody>
      </p:sp>
      <p:sp>
        <p:nvSpPr>
          <p:cNvPr id="16" name="Shape 14"/>
          <p:cNvSpPr/>
          <p:nvPr/>
        </p:nvSpPr>
        <p:spPr>
          <a:xfrm>
            <a:off x="731520" y="3017520"/>
            <a:ext cx="73152" cy="658368"/>
          </a:xfrm>
          <a:prstGeom prst="rect">
            <a:avLst/>
          </a:prstGeom>
          <a:solidFill>
            <a:srgbClr val="B8975C"/>
          </a:solidFill>
          <a:ln/>
        </p:spPr>
        <p:txBody>
          <a:bodyPr/>
          <a:lstStyle/>
          <a:p>
            <a:endParaRPr lang="en-US"/>
          </a:p>
        </p:txBody>
      </p:sp>
      <p:sp>
        <p:nvSpPr>
          <p:cNvPr id="17" name="Text 15"/>
          <p:cNvSpPr/>
          <p:nvPr/>
        </p:nvSpPr>
        <p:spPr>
          <a:xfrm>
            <a:off x="1005840" y="3063240"/>
            <a:ext cx="2377440" cy="274320"/>
          </a:xfrm>
          <a:prstGeom prst="rect">
            <a:avLst/>
          </a:prstGeom>
          <a:noFill/>
          <a:ln/>
        </p:spPr>
        <p:txBody>
          <a:bodyPr wrap="square" lIns="0" tIns="0" rIns="0" bIns="0" rtlCol="0" anchor="ctr"/>
          <a:lstStyle/>
          <a:p>
            <a:pPr marL="0" indent="0">
              <a:buNone/>
            </a:pPr>
            <a:r>
              <a:rPr lang="en-US" sz="1300" b="1" dirty="0">
                <a:solidFill>
                  <a:srgbClr val="1E2530"/>
                </a:solidFill>
                <a:latin typeface="Open Sans" pitchFamily="34" charset="0"/>
                <a:ea typeface="Open Sans" pitchFamily="34" charset="-122"/>
                <a:cs typeface="Open Sans" pitchFamily="34" charset="-120"/>
              </a:rPr>
              <a:t>Installing Skills</a:t>
            </a:r>
            <a:endParaRPr lang="en-US" sz="1300" dirty="0"/>
          </a:p>
        </p:txBody>
      </p:sp>
      <p:sp>
        <p:nvSpPr>
          <p:cNvPr id="18" name="Text 16"/>
          <p:cNvSpPr/>
          <p:nvPr/>
        </p:nvSpPr>
        <p:spPr>
          <a:xfrm>
            <a:off x="1005840" y="3337560"/>
            <a:ext cx="7223760" cy="274320"/>
          </a:xfrm>
          <a:prstGeom prst="rect">
            <a:avLst/>
          </a:prstGeom>
          <a:noFill/>
          <a:ln/>
        </p:spPr>
        <p:txBody>
          <a:bodyPr wrap="square" lIns="0" tIns="0" rIns="0" bIns="0" rtlCol="0" anchor="ctr"/>
          <a:lstStyle/>
          <a:p>
            <a:pPr marL="0" indent="0">
              <a:buNone/>
            </a:pPr>
            <a:r>
              <a:rPr lang="en-US" sz="1150" i="1" dirty="0">
                <a:solidFill>
                  <a:srgbClr val="5A6B7A"/>
                </a:solidFill>
                <a:latin typeface="Open Sans" pitchFamily="34" charset="0"/>
                <a:ea typeface="Open Sans" pitchFamily="34" charset="-122"/>
                <a:cs typeface="Open Sans" pitchFamily="34" charset="-120"/>
              </a:rPr>
              <a:t>“Skills live in .claude/skills/ folders. Clone the repo and they’re ready — no separate install. Claude Code detects them automatically.”</a:t>
            </a:r>
            <a:endParaRPr lang="en-US" sz="1150" dirty="0"/>
          </a:p>
        </p:txBody>
      </p:sp>
      <p:sp>
        <p:nvSpPr>
          <p:cNvPr id="19" name="Shape 17"/>
          <p:cNvSpPr/>
          <p:nvPr/>
        </p:nvSpPr>
        <p:spPr>
          <a:xfrm>
            <a:off x="731520" y="3840480"/>
            <a:ext cx="7680960" cy="658368"/>
          </a:xfrm>
          <a:prstGeom prst="rect">
            <a:avLst/>
          </a:prstGeom>
          <a:solidFill>
            <a:srgbClr val="FFFFFF"/>
          </a:solidFill>
          <a:ln/>
          <a:effectLst>
            <a:outerShdw blurRad="76200" dist="25400" dir="8100000" algn="bl" rotWithShape="0">
              <a:srgbClr val="000000">
                <a:alpha val="8000"/>
              </a:srgbClr>
            </a:outerShdw>
          </a:effectLst>
        </p:spPr>
        <p:txBody>
          <a:bodyPr/>
          <a:lstStyle/>
          <a:p>
            <a:endParaRPr lang="en-US"/>
          </a:p>
        </p:txBody>
      </p:sp>
      <p:sp>
        <p:nvSpPr>
          <p:cNvPr id="20" name="Shape 18"/>
          <p:cNvSpPr/>
          <p:nvPr/>
        </p:nvSpPr>
        <p:spPr>
          <a:xfrm>
            <a:off x="731520" y="3840480"/>
            <a:ext cx="73152" cy="658368"/>
          </a:xfrm>
          <a:prstGeom prst="rect">
            <a:avLst/>
          </a:prstGeom>
          <a:solidFill>
            <a:srgbClr val="B8975C"/>
          </a:solidFill>
          <a:ln/>
        </p:spPr>
        <p:txBody>
          <a:bodyPr/>
          <a:lstStyle/>
          <a:p>
            <a:endParaRPr lang="en-US"/>
          </a:p>
        </p:txBody>
      </p:sp>
      <p:sp>
        <p:nvSpPr>
          <p:cNvPr id="21" name="Text 19"/>
          <p:cNvSpPr/>
          <p:nvPr/>
        </p:nvSpPr>
        <p:spPr>
          <a:xfrm>
            <a:off x="1005840" y="3886200"/>
            <a:ext cx="2377440" cy="274320"/>
          </a:xfrm>
          <a:prstGeom prst="rect">
            <a:avLst/>
          </a:prstGeom>
          <a:noFill/>
          <a:ln/>
        </p:spPr>
        <p:txBody>
          <a:bodyPr wrap="square" lIns="0" tIns="0" rIns="0" bIns="0" rtlCol="0" anchor="ctr"/>
          <a:lstStyle/>
          <a:p>
            <a:pPr marL="0" indent="0">
              <a:buNone/>
            </a:pPr>
            <a:r>
              <a:rPr lang="en-US" sz="1300" b="1" dirty="0">
                <a:solidFill>
                  <a:srgbClr val="1E2530"/>
                </a:solidFill>
                <a:latin typeface="Open Sans" pitchFamily="34" charset="0"/>
                <a:ea typeface="Open Sans" pitchFamily="34" charset="-122"/>
                <a:cs typeface="Open Sans" pitchFamily="34" charset="-120"/>
              </a:rPr>
              <a:t>Available in This Repo</a:t>
            </a:r>
            <a:endParaRPr lang="en-US" sz="1300" dirty="0"/>
          </a:p>
        </p:txBody>
      </p:sp>
      <p:sp>
        <p:nvSpPr>
          <p:cNvPr id="22" name="Text 20"/>
          <p:cNvSpPr/>
          <p:nvPr/>
        </p:nvSpPr>
        <p:spPr>
          <a:xfrm>
            <a:off x="1005840" y="4160520"/>
            <a:ext cx="7223760" cy="274320"/>
          </a:xfrm>
          <a:prstGeom prst="rect">
            <a:avLst/>
          </a:prstGeom>
          <a:noFill/>
          <a:ln/>
        </p:spPr>
        <p:txBody>
          <a:bodyPr wrap="square" lIns="0" tIns="0" rIns="0" bIns="0" rtlCol="0" anchor="ctr"/>
          <a:lstStyle/>
          <a:p>
            <a:pPr marL="0" indent="0">
              <a:buNone/>
            </a:pPr>
            <a:r>
              <a:rPr lang="en-US" sz="1150" i="1" dirty="0">
                <a:solidFill>
                  <a:srgbClr val="5A6B7A"/>
                </a:solidFill>
                <a:latin typeface="Open Sans" pitchFamily="34" charset="0"/>
                <a:ea typeface="Open Sans" pitchFamily="34" charset="-122"/>
                <a:cs typeface="Open Sans" pitchFamily="34" charset="-120"/>
              </a:rPr>
              <a:t>“brand-guidelines, bus314-accounting-ratios, docx, xlsx, pptx, pdf, internal-comms, skill-creator — type /help to see all.”</a:t>
            </a:r>
            <a:endParaRPr lang="en-US" sz="1150" dirty="0"/>
          </a:p>
        </p:txBody>
      </p:sp>
    </p:spTree>
    <p:extLst>
      <p:ext uri="{BB962C8B-B14F-4D97-AF65-F5344CB8AC3E}">
        <p14:creationId xmlns:p14="http://schemas.microsoft.com/office/powerpoint/2010/main" val="4095452432"/>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9144000" cy="825500"/>
          </a:xfrm>
          <a:prstGeom prst="rect">
            <a:avLst/>
          </a:prstGeom>
          <a:solidFill>
            <a:srgbClr val="024731"/>
          </a:solidFill>
          <a:ln>
            <a:noFill/>
          </a:ln>
        </p:spPr>
        <p:txBody>
          <a:bodyPr/>
          <a:lstStyle/>
          <a:p>
            <a:endParaRPr lang="en-US"/>
          </a:p>
        </p:txBody>
      </p:sp>
      <p:sp>
        <p:nvSpPr>
          <p:cNvPr id="4" name="Text 2"/>
          <p:cNvSpPr/>
          <p:nvPr/>
        </p:nvSpPr>
        <p:spPr>
          <a:xfrm>
            <a:off x="457200" y="4745736"/>
            <a:ext cx="8229600" cy="320040"/>
          </a:xfrm>
          <a:prstGeom prst="rect">
            <a:avLst/>
          </a:prstGeom>
          <a:noFill/>
          <a:ln/>
        </p:spPr>
        <p:txBody>
          <a:bodyPr wrap="square" lIns="0" tIns="0" rIns="0" bIns="0" rtlCol="0" anchor="ctr"/>
          <a:lstStyle/>
          <a:p>
            <a:pPr marL="0" indent="0" algn="ctr">
              <a:buNone/>
            </a:pPr>
            <a:r>
              <a:rPr lang="en-US" sz="1000" dirty="0">
                <a:solidFill>
                  <a:srgbClr val="5A6B7A"/>
                </a:solidFill>
                <a:latin typeface="Open Sans" pitchFamily="34" charset="0"/>
                <a:ea typeface="Open Sans" pitchFamily="34" charset="-122"/>
                <a:cs typeface="Open Sans" pitchFamily="34" charset="-120"/>
              </a:rPr>
              <a:t>Shidler College of Business  |  University of Hawaiʻi at Mānoa</a:t>
            </a:r>
            <a:endParaRPr lang="en-US" sz="1000" dirty="0"/>
          </a:p>
        </p:txBody>
      </p:sp>
      <p:sp>
        <p:nvSpPr>
          <p:cNvPr id="5" name="Text 3"/>
          <p:cNvSpPr/>
          <p:nvPr/>
        </p:nvSpPr>
        <p:spPr>
          <a:xfrm>
            <a:off x="731520" y="320040"/>
            <a:ext cx="7680960" cy="457200"/>
          </a:xfrm>
          <a:prstGeom prst="rect">
            <a:avLst/>
          </a:prstGeom>
          <a:noFill/>
          <a:ln/>
        </p:spPr>
        <p:txBody>
          <a:bodyPr wrap="square" lIns="0" tIns="0" rIns="0" bIns="0" rtlCol="0" anchor="ctr"/>
          <a:lstStyle/>
          <a:p>
            <a:pPr marL="0" indent="0">
              <a:buNone/>
            </a:pPr>
            <a:r>
              <a:rPr lang="en-US" sz="2800" b="1" dirty="0">
                <a:solidFill>
                  <a:srgbClr val="FFFFFF"/>
                </a:solidFill>
                <a:latin typeface="Open Sans" pitchFamily="34" charset="0"/>
                <a:ea typeface="Open Sans" pitchFamily="34" charset="-122"/>
                <a:cs typeface="Open Sans" pitchFamily="34" charset="-120"/>
              </a:rPr>
              <a:t>The Design System</a:t>
            </a:r>
            <a:endParaRPr lang="en-US" sz="2800" dirty="0"/>
          </a:p>
        </p:txBody>
      </p:sp>
      <p:sp>
        <p:nvSpPr>
          <p:cNvPr id="6" name="Shape 4"/>
          <p:cNvSpPr/>
          <p:nvPr/>
        </p:nvSpPr>
        <p:spPr>
          <a:xfrm>
            <a:off x="731520" y="1051560"/>
            <a:ext cx="3749040" cy="1463040"/>
          </a:xfrm>
          <a:prstGeom prst="rect">
            <a:avLst/>
          </a:prstGeom>
          <a:solidFill>
            <a:srgbClr val="FFFFFF"/>
          </a:solidFill>
          <a:ln/>
          <a:effectLst>
            <a:outerShdw blurRad="76200" dist="25400" dir="8100000" algn="bl" rotWithShape="0">
              <a:srgbClr val="000000">
                <a:alpha val="8000"/>
              </a:srgbClr>
            </a:outerShdw>
          </a:effectLst>
        </p:spPr>
        <p:txBody>
          <a:bodyPr/>
          <a:lstStyle/>
          <a:p>
            <a:endParaRPr lang="en-US"/>
          </a:p>
        </p:txBody>
      </p:sp>
      <p:pic>
        <p:nvPicPr>
          <p:cNvPr id="7" name="Image 0" descr="preencoded.png"/>
          <p:cNvPicPr>
            <a:picLocks noChangeAspect="1"/>
          </p:cNvPicPr>
          <p:nvPr/>
        </p:nvPicPr>
        <p:blipFill>
          <a:blip r:embed="rId2"/>
          <a:stretch>
            <a:fillRect/>
          </a:stretch>
        </p:blipFill>
        <p:spPr>
          <a:xfrm>
            <a:off x="914400" y="1325880"/>
            <a:ext cx="411480" cy="411480"/>
          </a:xfrm>
          <a:prstGeom prst="rect">
            <a:avLst/>
          </a:prstGeom>
        </p:spPr>
      </p:pic>
      <p:sp>
        <p:nvSpPr>
          <p:cNvPr id="8" name="Text 5"/>
          <p:cNvSpPr/>
          <p:nvPr/>
        </p:nvSpPr>
        <p:spPr>
          <a:xfrm>
            <a:off x="1463040" y="1234440"/>
            <a:ext cx="2834640" cy="320040"/>
          </a:xfrm>
          <a:prstGeom prst="rect">
            <a:avLst/>
          </a:prstGeom>
          <a:noFill/>
          <a:ln/>
        </p:spPr>
        <p:txBody>
          <a:bodyPr wrap="square" lIns="0" tIns="0" rIns="0" bIns="0" rtlCol="0" anchor="ctr"/>
          <a:lstStyle/>
          <a:p>
            <a:pPr marL="0" indent="0">
              <a:buNone/>
            </a:pPr>
            <a:r>
              <a:rPr lang="en-US" sz="1400" b="1" dirty="0">
                <a:solidFill>
                  <a:srgbClr val="1E2530"/>
                </a:solidFill>
                <a:latin typeface="Open Sans" pitchFamily="34" charset="0"/>
                <a:ea typeface="Open Sans" pitchFamily="34" charset="-122"/>
                <a:cs typeface="Open Sans" pitchFamily="34" charset="-120"/>
              </a:rPr>
              <a:t>design.json</a:t>
            </a:r>
            <a:endParaRPr lang="en-US" sz="1400" dirty="0"/>
          </a:p>
        </p:txBody>
      </p:sp>
      <p:sp>
        <p:nvSpPr>
          <p:cNvPr id="9" name="Text 6"/>
          <p:cNvSpPr/>
          <p:nvPr/>
        </p:nvSpPr>
        <p:spPr>
          <a:xfrm>
            <a:off x="1463040" y="1600200"/>
            <a:ext cx="2834640" cy="777240"/>
          </a:xfrm>
          <a:prstGeom prst="rect">
            <a:avLst/>
          </a:prstGeom>
          <a:noFill/>
          <a:ln/>
        </p:spPr>
        <p:txBody>
          <a:bodyPr wrap="square" lIns="0" tIns="0" rIns="0" bIns="0" rtlCol="0" anchor="ctr"/>
          <a:lstStyle/>
          <a:p>
            <a:pPr marL="0" indent="0">
              <a:lnSpc>
                <a:spcPct val="140000"/>
              </a:lnSpc>
              <a:buNone/>
            </a:pPr>
            <a:r>
              <a:rPr lang="en-US" sz="1100" dirty="0">
                <a:solidFill>
                  <a:srgbClr val="5A6B7A"/>
                </a:solidFill>
                <a:latin typeface="Open Sans" pitchFamily="34" charset="0"/>
                <a:ea typeface="Open Sans" pitchFamily="34" charset="-122"/>
                <a:cs typeface="Open Sans" pitchFamily="34" charset="-120"/>
              </a:rPr>
              <a:t>Machine-readable design tokens: colors, typography, spacing, components. Claude reads this file to apply UH branding to any artifact automatically.</a:t>
            </a:r>
            <a:endParaRPr lang="en-US" sz="1100" dirty="0"/>
          </a:p>
        </p:txBody>
      </p:sp>
      <p:sp>
        <p:nvSpPr>
          <p:cNvPr id="10" name="Shape 7"/>
          <p:cNvSpPr/>
          <p:nvPr/>
        </p:nvSpPr>
        <p:spPr>
          <a:xfrm>
            <a:off x="4846320" y="1051560"/>
            <a:ext cx="3749040" cy="1463040"/>
          </a:xfrm>
          <a:prstGeom prst="rect">
            <a:avLst/>
          </a:prstGeom>
          <a:solidFill>
            <a:srgbClr val="FFFFFF"/>
          </a:solidFill>
          <a:ln/>
          <a:effectLst>
            <a:outerShdw blurRad="76200" dist="25400" dir="8100000" algn="bl" rotWithShape="0">
              <a:srgbClr val="000000">
                <a:alpha val="8000"/>
              </a:srgbClr>
            </a:outerShdw>
          </a:effectLst>
        </p:spPr>
        <p:txBody>
          <a:bodyPr/>
          <a:lstStyle/>
          <a:p>
            <a:endParaRPr lang="en-US"/>
          </a:p>
        </p:txBody>
      </p:sp>
      <p:pic>
        <p:nvPicPr>
          <p:cNvPr id="11" name="Image 1" descr="preencoded.png"/>
          <p:cNvPicPr>
            <a:picLocks noChangeAspect="1"/>
          </p:cNvPicPr>
          <p:nvPr/>
        </p:nvPicPr>
        <p:blipFill>
          <a:blip r:embed="rId3"/>
          <a:stretch>
            <a:fillRect/>
          </a:stretch>
        </p:blipFill>
        <p:spPr>
          <a:xfrm>
            <a:off x="5029200" y="1325880"/>
            <a:ext cx="411480" cy="411480"/>
          </a:xfrm>
          <a:prstGeom prst="rect">
            <a:avLst/>
          </a:prstGeom>
        </p:spPr>
      </p:pic>
      <p:sp>
        <p:nvSpPr>
          <p:cNvPr id="12" name="Text 8"/>
          <p:cNvSpPr/>
          <p:nvPr/>
        </p:nvSpPr>
        <p:spPr>
          <a:xfrm>
            <a:off x="5577840" y="1234440"/>
            <a:ext cx="2834640" cy="320040"/>
          </a:xfrm>
          <a:prstGeom prst="rect">
            <a:avLst/>
          </a:prstGeom>
          <a:noFill/>
          <a:ln/>
        </p:spPr>
        <p:txBody>
          <a:bodyPr wrap="square" lIns="0" tIns="0" rIns="0" bIns="0" rtlCol="0" anchor="ctr"/>
          <a:lstStyle/>
          <a:p>
            <a:pPr marL="0" indent="0">
              <a:buNone/>
            </a:pPr>
            <a:r>
              <a:rPr lang="en-US" sz="1400" b="1" dirty="0">
                <a:solidFill>
                  <a:srgbClr val="1E2530"/>
                </a:solidFill>
                <a:latin typeface="Open Sans" pitchFamily="34" charset="0"/>
                <a:ea typeface="Open Sans" pitchFamily="34" charset="-122"/>
                <a:cs typeface="Open Sans" pitchFamily="34" charset="-120"/>
              </a:rPr>
              <a:t>design-system.html</a:t>
            </a:r>
            <a:endParaRPr lang="en-US" sz="1400" dirty="0"/>
          </a:p>
        </p:txBody>
      </p:sp>
      <p:sp>
        <p:nvSpPr>
          <p:cNvPr id="13" name="Text 9"/>
          <p:cNvSpPr/>
          <p:nvPr/>
        </p:nvSpPr>
        <p:spPr>
          <a:xfrm>
            <a:off x="5577840" y="1600200"/>
            <a:ext cx="2834640" cy="777240"/>
          </a:xfrm>
          <a:prstGeom prst="rect">
            <a:avLst/>
          </a:prstGeom>
          <a:noFill/>
          <a:ln/>
        </p:spPr>
        <p:txBody>
          <a:bodyPr wrap="square" lIns="0" tIns="0" rIns="0" bIns="0" rtlCol="0" anchor="ctr"/>
          <a:lstStyle/>
          <a:p>
            <a:pPr marL="0" indent="0">
              <a:lnSpc>
                <a:spcPct val="140000"/>
              </a:lnSpc>
              <a:buNone/>
            </a:pPr>
            <a:r>
              <a:rPr lang="en-US" sz="1100" dirty="0">
                <a:solidFill>
                  <a:srgbClr val="5A6B7A"/>
                </a:solidFill>
                <a:latin typeface="Open Sans" pitchFamily="34" charset="0"/>
                <a:ea typeface="Open Sans" pitchFamily="34" charset="-122"/>
                <a:cs typeface="Open Sans" pitchFamily="34" charset="-120"/>
              </a:rPr>
              <a:t>Human-readable visual reference. Open in a browser to see the full color palette, typography scale, component examples, and spacing rules.</a:t>
            </a:r>
            <a:endParaRPr lang="en-US" sz="1100" dirty="0"/>
          </a:p>
        </p:txBody>
      </p:sp>
      <p:sp>
        <p:nvSpPr>
          <p:cNvPr id="14" name="Shape 10"/>
          <p:cNvSpPr/>
          <p:nvPr/>
        </p:nvSpPr>
        <p:spPr>
          <a:xfrm>
            <a:off x="731520" y="2788920"/>
            <a:ext cx="3749040" cy="1463040"/>
          </a:xfrm>
          <a:prstGeom prst="rect">
            <a:avLst/>
          </a:prstGeom>
          <a:solidFill>
            <a:srgbClr val="FFFFFF"/>
          </a:solidFill>
          <a:ln/>
          <a:effectLst>
            <a:outerShdw blurRad="76200" dist="25400" dir="8100000" algn="bl" rotWithShape="0">
              <a:srgbClr val="000000">
                <a:alpha val="8000"/>
              </a:srgbClr>
            </a:outerShdw>
          </a:effectLst>
        </p:spPr>
        <p:txBody>
          <a:bodyPr/>
          <a:lstStyle/>
          <a:p>
            <a:endParaRPr lang="en-US"/>
          </a:p>
        </p:txBody>
      </p:sp>
      <p:pic>
        <p:nvPicPr>
          <p:cNvPr id="15" name="Image 2" descr="preencoded.png"/>
          <p:cNvPicPr>
            <a:picLocks noChangeAspect="1"/>
          </p:cNvPicPr>
          <p:nvPr/>
        </p:nvPicPr>
        <p:blipFill>
          <a:blip r:embed="rId4"/>
          <a:stretch>
            <a:fillRect/>
          </a:stretch>
        </p:blipFill>
        <p:spPr>
          <a:xfrm>
            <a:off x="914400" y="3063240"/>
            <a:ext cx="411480" cy="411480"/>
          </a:xfrm>
          <a:prstGeom prst="rect">
            <a:avLst/>
          </a:prstGeom>
        </p:spPr>
      </p:pic>
      <p:sp>
        <p:nvSpPr>
          <p:cNvPr id="16" name="Text 11"/>
          <p:cNvSpPr/>
          <p:nvPr/>
        </p:nvSpPr>
        <p:spPr>
          <a:xfrm>
            <a:off x="1463040" y="2971800"/>
            <a:ext cx="2834640" cy="320040"/>
          </a:xfrm>
          <a:prstGeom prst="rect">
            <a:avLst/>
          </a:prstGeom>
          <a:noFill/>
          <a:ln/>
        </p:spPr>
        <p:txBody>
          <a:bodyPr wrap="square" lIns="0" tIns="0" rIns="0" bIns="0" rtlCol="0" anchor="ctr"/>
          <a:lstStyle/>
          <a:p>
            <a:pPr marL="0" indent="0">
              <a:buNone/>
            </a:pPr>
            <a:r>
              <a:rPr lang="en-US" sz="1400" b="1" dirty="0">
                <a:solidFill>
                  <a:srgbClr val="1E2530"/>
                </a:solidFill>
                <a:latin typeface="Open Sans" pitchFamily="34" charset="0"/>
                <a:ea typeface="Open Sans" pitchFamily="34" charset="-122"/>
                <a:cs typeface="Open Sans" pitchFamily="34" charset="-120"/>
              </a:rPr>
              <a:t>How Claude Uses It</a:t>
            </a:r>
            <a:endParaRPr lang="en-US" sz="1400" dirty="0"/>
          </a:p>
        </p:txBody>
      </p:sp>
      <p:sp>
        <p:nvSpPr>
          <p:cNvPr id="17" name="Text 12"/>
          <p:cNvSpPr/>
          <p:nvPr/>
        </p:nvSpPr>
        <p:spPr>
          <a:xfrm>
            <a:off x="1463040" y="3337560"/>
            <a:ext cx="2834640" cy="777240"/>
          </a:xfrm>
          <a:prstGeom prst="rect">
            <a:avLst/>
          </a:prstGeom>
          <a:noFill/>
          <a:ln/>
        </p:spPr>
        <p:txBody>
          <a:bodyPr wrap="square" lIns="0" tIns="0" rIns="0" bIns="0" rtlCol="0" anchor="ctr"/>
          <a:lstStyle/>
          <a:p>
            <a:pPr marL="0" indent="0">
              <a:lnSpc>
                <a:spcPct val="140000"/>
              </a:lnSpc>
              <a:buNone/>
            </a:pPr>
            <a:r>
              <a:rPr lang="en-US" sz="1100" dirty="0">
                <a:solidFill>
                  <a:srgbClr val="5A6B7A"/>
                </a:solidFill>
                <a:latin typeface="Open Sans" pitchFamily="34" charset="0"/>
                <a:ea typeface="Open Sans" pitchFamily="34" charset="-122"/>
                <a:cs typeface="Open Sans" pitchFamily="34" charset="-120"/>
              </a:rPr>
              <a:t>When you invoke /brand-guidelines or ask Claude to format a document, it reads design.json for exact hex codes, font names, and sizing rules.</a:t>
            </a:r>
            <a:endParaRPr lang="en-US" sz="1100" dirty="0"/>
          </a:p>
        </p:txBody>
      </p:sp>
      <p:sp>
        <p:nvSpPr>
          <p:cNvPr id="18" name="Shape 13"/>
          <p:cNvSpPr/>
          <p:nvPr/>
        </p:nvSpPr>
        <p:spPr>
          <a:xfrm>
            <a:off x="4846320" y="2788920"/>
            <a:ext cx="3749040" cy="1463040"/>
          </a:xfrm>
          <a:prstGeom prst="rect">
            <a:avLst/>
          </a:prstGeom>
          <a:solidFill>
            <a:srgbClr val="FFFFFF"/>
          </a:solidFill>
          <a:ln/>
          <a:effectLst>
            <a:outerShdw blurRad="76200" dist="25400" dir="8100000" algn="bl" rotWithShape="0">
              <a:srgbClr val="000000">
                <a:alpha val="8000"/>
              </a:srgbClr>
            </a:outerShdw>
          </a:effectLst>
        </p:spPr>
        <p:txBody>
          <a:bodyPr/>
          <a:lstStyle/>
          <a:p>
            <a:endParaRPr lang="en-US"/>
          </a:p>
        </p:txBody>
      </p:sp>
      <p:pic>
        <p:nvPicPr>
          <p:cNvPr id="19" name="Image 3" descr="preencoded.png"/>
          <p:cNvPicPr>
            <a:picLocks noChangeAspect="1"/>
          </p:cNvPicPr>
          <p:nvPr/>
        </p:nvPicPr>
        <p:blipFill>
          <a:blip r:embed="rId5"/>
          <a:stretch>
            <a:fillRect/>
          </a:stretch>
        </p:blipFill>
        <p:spPr>
          <a:xfrm>
            <a:off x="5029200" y="3063240"/>
            <a:ext cx="411480" cy="411480"/>
          </a:xfrm>
          <a:prstGeom prst="rect">
            <a:avLst/>
          </a:prstGeom>
        </p:spPr>
      </p:pic>
      <p:sp>
        <p:nvSpPr>
          <p:cNvPr id="20" name="Text 14"/>
          <p:cNvSpPr/>
          <p:nvPr/>
        </p:nvSpPr>
        <p:spPr>
          <a:xfrm>
            <a:off x="5577840" y="2971800"/>
            <a:ext cx="2834640" cy="320040"/>
          </a:xfrm>
          <a:prstGeom prst="rect">
            <a:avLst/>
          </a:prstGeom>
          <a:noFill/>
          <a:ln/>
        </p:spPr>
        <p:txBody>
          <a:bodyPr wrap="square" lIns="0" tIns="0" rIns="0" bIns="0" rtlCol="0" anchor="ctr"/>
          <a:lstStyle/>
          <a:p>
            <a:pPr marL="0" indent="0">
              <a:buNone/>
            </a:pPr>
            <a:r>
              <a:rPr lang="en-US" sz="1400" b="1" dirty="0">
                <a:solidFill>
                  <a:srgbClr val="1E2530"/>
                </a:solidFill>
                <a:latin typeface="Open Sans" pitchFamily="34" charset="0"/>
                <a:ea typeface="Open Sans" pitchFamily="34" charset="-122"/>
                <a:cs typeface="Open Sans" pitchFamily="34" charset="-120"/>
              </a:rPr>
              <a:t>Where to Find Them</a:t>
            </a:r>
            <a:endParaRPr lang="en-US" sz="1400" dirty="0"/>
          </a:p>
        </p:txBody>
      </p:sp>
      <p:sp>
        <p:nvSpPr>
          <p:cNvPr id="21" name="Text 15"/>
          <p:cNvSpPr/>
          <p:nvPr/>
        </p:nvSpPr>
        <p:spPr>
          <a:xfrm>
            <a:off x="5577840" y="3337560"/>
            <a:ext cx="2834640" cy="777240"/>
          </a:xfrm>
          <a:prstGeom prst="rect">
            <a:avLst/>
          </a:prstGeom>
          <a:noFill/>
          <a:ln/>
        </p:spPr>
        <p:txBody>
          <a:bodyPr wrap="square" lIns="0" tIns="0" rIns="0" bIns="0" rtlCol="0" anchor="ctr"/>
          <a:lstStyle/>
          <a:p>
            <a:pPr marL="0" indent="0">
              <a:lnSpc>
                <a:spcPct val="140000"/>
              </a:lnSpc>
              <a:buNone/>
            </a:pPr>
            <a:r>
              <a:rPr lang="en-US" sz="1100" dirty="0">
                <a:solidFill>
                  <a:srgbClr val="5A6B7A"/>
                </a:solidFill>
                <a:latin typeface="Open Sans" pitchFamily="34" charset="0"/>
                <a:ea typeface="Open Sans" pitchFamily="34" charset="-122"/>
                <a:cs typeface="Open Sans" pitchFamily="34" charset="-120"/>
              </a:rPr>
              <a:t>Both files live at docs/_branding/. The JSON is the source of truth; the HTML is for your visual review. Keep them in sync.</a:t>
            </a:r>
            <a:endParaRPr lang="en-US" sz="1100" dirty="0"/>
          </a:p>
        </p:txBody>
      </p:sp>
    </p:spTree>
    <p:extLst>
      <p:ext uri="{BB962C8B-B14F-4D97-AF65-F5344CB8AC3E}">
        <p14:creationId xmlns:p14="http://schemas.microsoft.com/office/powerpoint/2010/main" val="2987399899"/>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9144000" cy="825500"/>
          </a:xfrm>
          <a:prstGeom prst="rect">
            <a:avLst/>
          </a:prstGeom>
          <a:solidFill>
            <a:srgbClr val="024731"/>
          </a:solidFill>
          <a:ln>
            <a:noFill/>
          </a:ln>
        </p:spPr>
        <p:txBody>
          <a:bodyPr/>
          <a:lstStyle/>
          <a:p>
            <a:endParaRPr lang="en-US"/>
          </a:p>
        </p:txBody>
      </p:sp>
      <p:sp>
        <p:nvSpPr>
          <p:cNvPr id="3" name="Text 1"/>
          <p:cNvSpPr/>
          <p:nvPr/>
        </p:nvSpPr>
        <p:spPr>
          <a:xfrm>
            <a:off x="731520" y="411480"/>
            <a:ext cx="7680960" cy="457200"/>
          </a:xfrm>
          <a:prstGeom prst="rect">
            <a:avLst/>
          </a:prstGeom>
          <a:noFill/>
          <a:ln/>
        </p:spPr>
        <p:txBody>
          <a:bodyPr wrap="square" lIns="0" tIns="0" rIns="0" bIns="0" rtlCol="0" anchor="ctr"/>
          <a:lstStyle/>
          <a:p>
            <a:pPr marL="0" indent="0">
              <a:buNone/>
            </a:pPr>
            <a:r>
              <a:rPr lang="en-US" sz="2800" b="1" dirty="0">
                <a:solidFill>
                  <a:srgbClr val="FFFFFF"/>
                </a:solidFill>
                <a:latin typeface="Open Sans" pitchFamily="34" charset="0"/>
                <a:ea typeface="Open Sans" pitchFamily="34" charset="-122"/>
                <a:cs typeface="Open Sans" pitchFamily="34" charset="-120"/>
              </a:rPr>
              <a:t>Quick Reference</a:t>
            </a:r>
            <a:endParaRPr lang="en-US" sz="2800" dirty="0"/>
          </a:p>
        </p:txBody>
      </p:sp>
      <p:sp>
        <p:nvSpPr>
          <p:cNvPr id="4" name="Text 2"/>
          <p:cNvSpPr/>
          <p:nvPr/>
        </p:nvSpPr>
        <p:spPr>
          <a:xfrm>
            <a:off x="731520" y="1051560"/>
            <a:ext cx="3657600" cy="320040"/>
          </a:xfrm>
          <a:prstGeom prst="rect">
            <a:avLst/>
          </a:prstGeom>
          <a:noFill/>
          <a:ln/>
        </p:spPr>
        <p:txBody>
          <a:bodyPr wrap="square" lIns="0" tIns="0" rIns="0" bIns="0" rtlCol="0" anchor="ctr"/>
          <a:lstStyle/>
          <a:p>
            <a:pPr marL="0" indent="0">
              <a:buNone/>
            </a:pPr>
            <a:r>
              <a:rPr lang="en-US" sz="1400" b="1" dirty="0">
                <a:solidFill>
                  <a:srgbClr val="B8975C"/>
                </a:solidFill>
                <a:latin typeface="Open Sans" pitchFamily="34" charset="0"/>
                <a:ea typeface="Open Sans" pitchFamily="34" charset="-122"/>
                <a:cs typeface="Open Sans" pitchFamily="34" charset="-120"/>
              </a:rPr>
              <a:t>Useful Links</a:t>
            </a:r>
            <a:endParaRPr lang="en-US" sz="1400" dirty="0"/>
          </a:p>
        </p:txBody>
      </p:sp>
      <p:sp>
        <p:nvSpPr>
          <p:cNvPr id="5" name="Text 3"/>
          <p:cNvSpPr/>
          <p:nvPr/>
        </p:nvSpPr>
        <p:spPr>
          <a:xfrm>
            <a:off x="731520" y="1508760"/>
            <a:ext cx="2743200" cy="182880"/>
          </a:xfrm>
          <a:prstGeom prst="rect">
            <a:avLst/>
          </a:prstGeom>
          <a:noFill/>
          <a:ln/>
        </p:spPr>
        <p:txBody>
          <a:bodyPr wrap="square" lIns="0" tIns="0" rIns="0" bIns="0" rtlCol="0" anchor="ctr"/>
          <a:lstStyle/>
          <a:p>
            <a:pPr marL="0" indent="0">
              <a:buNone/>
            </a:pPr>
            <a:r>
              <a:rPr lang="en-US" sz="1100" dirty="0">
                <a:solidFill>
                  <a:srgbClr val="B8975C"/>
                </a:solidFill>
                <a:latin typeface="Consolas" pitchFamily="34" charset="0"/>
                <a:ea typeface="Consolas" pitchFamily="34" charset="-122"/>
                <a:cs typeface="Consolas" pitchFamily="34" charset="-120"/>
              </a:rPr>
              <a:t>claude.ai</a:t>
            </a:r>
            <a:endParaRPr lang="en-US" sz="1100" dirty="0"/>
          </a:p>
        </p:txBody>
      </p:sp>
      <p:sp>
        <p:nvSpPr>
          <p:cNvPr id="6" name="Text 4"/>
          <p:cNvSpPr/>
          <p:nvPr/>
        </p:nvSpPr>
        <p:spPr>
          <a:xfrm>
            <a:off x="731520" y="1691640"/>
            <a:ext cx="3657600" cy="182880"/>
          </a:xfrm>
          <a:prstGeom prst="rect">
            <a:avLst/>
          </a:prstGeom>
          <a:noFill/>
          <a:ln/>
        </p:spPr>
        <p:txBody>
          <a:bodyPr wrap="square" lIns="0" tIns="0" rIns="0" bIns="0" rtlCol="0" anchor="ctr"/>
          <a:lstStyle/>
          <a:p>
            <a:pPr marL="0" indent="0">
              <a:buNone/>
            </a:pPr>
            <a:r>
              <a:rPr lang="en-US" sz="1000" dirty="0">
                <a:solidFill>
                  <a:srgbClr val="8A9BAD"/>
                </a:solidFill>
                <a:latin typeface="Open Sans" pitchFamily="34" charset="0"/>
                <a:ea typeface="Open Sans" pitchFamily="34" charset="-122"/>
                <a:cs typeface="Open Sans" pitchFamily="34" charset="-120"/>
              </a:rPr>
              <a:t>Web interface (free sign-up)</a:t>
            </a:r>
            <a:endParaRPr lang="en-US" sz="1000" dirty="0"/>
          </a:p>
        </p:txBody>
      </p:sp>
      <p:sp>
        <p:nvSpPr>
          <p:cNvPr id="7" name="Text 5"/>
          <p:cNvSpPr/>
          <p:nvPr/>
        </p:nvSpPr>
        <p:spPr>
          <a:xfrm>
            <a:off x="731520" y="1920240"/>
            <a:ext cx="2743200" cy="182880"/>
          </a:xfrm>
          <a:prstGeom prst="rect">
            <a:avLst/>
          </a:prstGeom>
          <a:noFill/>
          <a:ln/>
        </p:spPr>
        <p:txBody>
          <a:bodyPr wrap="square" lIns="0" tIns="0" rIns="0" bIns="0" rtlCol="0" anchor="ctr"/>
          <a:lstStyle/>
          <a:p>
            <a:pPr marL="0" indent="0">
              <a:buNone/>
            </a:pPr>
            <a:r>
              <a:rPr lang="en-US" sz="1100" dirty="0">
                <a:solidFill>
                  <a:srgbClr val="B8975C"/>
                </a:solidFill>
                <a:latin typeface="Consolas" pitchFamily="34" charset="0"/>
                <a:ea typeface="Consolas" pitchFamily="34" charset="-122"/>
                <a:cs typeface="Consolas" pitchFamily="34" charset="-120"/>
              </a:rPr>
              <a:t>claude.ai/download</a:t>
            </a:r>
            <a:endParaRPr lang="en-US" sz="1100" dirty="0"/>
          </a:p>
        </p:txBody>
      </p:sp>
      <p:sp>
        <p:nvSpPr>
          <p:cNvPr id="8" name="Text 6"/>
          <p:cNvSpPr/>
          <p:nvPr/>
        </p:nvSpPr>
        <p:spPr>
          <a:xfrm>
            <a:off x="731520" y="2103120"/>
            <a:ext cx="3657600" cy="182880"/>
          </a:xfrm>
          <a:prstGeom prst="rect">
            <a:avLst/>
          </a:prstGeom>
          <a:noFill/>
          <a:ln/>
        </p:spPr>
        <p:txBody>
          <a:bodyPr wrap="square" lIns="0" tIns="0" rIns="0" bIns="0" rtlCol="0" anchor="ctr"/>
          <a:lstStyle/>
          <a:p>
            <a:pPr marL="0" indent="0">
              <a:buNone/>
            </a:pPr>
            <a:r>
              <a:rPr lang="en-US" sz="1000" dirty="0">
                <a:solidFill>
                  <a:srgbClr val="8A9BAD"/>
                </a:solidFill>
                <a:latin typeface="Open Sans" pitchFamily="34" charset="0"/>
                <a:ea typeface="Open Sans" pitchFamily="34" charset="-122"/>
                <a:cs typeface="Open Sans" pitchFamily="34" charset="-120"/>
              </a:rPr>
              <a:t>Desktop app (Mac &amp; Windows)</a:t>
            </a:r>
            <a:endParaRPr lang="en-US" sz="1000" dirty="0"/>
          </a:p>
        </p:txBody>
      </p:sp>
      <p:sp>
        <p:nvSpPr>
          <p:cNvPr id="9" name="Text 7"/>
          <p:cNvSpPr/>
          <p:nvPr/>
        </p:nvSpPr>
        <p:spPr>
          <a:xfrm>
            <a:off x="731520" y="2331720"/>
            <a:ext cx="2743200" cy="182880"/>
          </a:xfrm>
          <a:prstGeom prst="rect">
            <a:avLst/>
          </a:prstGeom>
          <a:noFill/>
          <a:ln/>
        </p:spPr>
        <p:txBody>
          <a:bodyPr wrap="square" lIns="0" tIns="0" rIns="0" bIns="0" rtlCol="0" anchor="ctr"/>
          <a:lstStyle/>
          <a:p>
            <a:pPr marL="0" indent="0">
              <a:buNone/>
            </a:pPr>
            <a:r>
              <a:rPr lang="en-US" sz="1100" dirty="0">
                <a:solidFill>
                  <a:srgbClr val="B8975C"/>
                </a:solidFill>
                <a:latin typeface="Consolas" pitchFamily="34" charset="0"/>
                <a:ea typeface="Consolas" pitchFamily="34" charset="-122"/>
                <a:cs typeface="Consolas" pitchFamily="34" charset="-120"/>
              </a:rPr>
              <a:t>docs.anthropic.com</a:t>
            </a:r>
            <a:endParaRPr lang="en-US" sz="1100" dirty="0"/>
          </a:p>
        </p:txBody>
      </p:sp>
      <p:sp>
        <p:nvSpPr>
          <p:cNvPr id="10" name="Text 8"/>
          <p:cNvSpPr/>
          <p:nvPr/>
        </p:nvSpPr>
        <p:spPr>
          <a:xfrm>
            <a:off x="731520" y="2514600"/>
            <a:ext cx="3657600" cy="182880"/>
          </a:xfrm>
          <a:prstGeom prst="rect">
            <a:avLst/>
          </a:prstGeom>
          <a:noFill/>
          <a:ln/>
        </p:spPr>
        <p:txBody>
          <a:bodyPr wrap="square" lIns="0" tIns="0" rIns="0" bIns="0" rtlCol="0" anchor="ctr"/>
          <a:lstStyle/>
          <a:p>
            <a:pPr marL="0" indent="0">
              <a:buNone/>
            </a:pPr>
            <a:r>
              <a:rPr lang="en-US" sz="1000" dirty="0">
                <a:solidFill>
                  <a:srgbClr val="8A9BAD"/>
                </a:solidFill>
                <a:latin typeface="Open Sans" pitchFamily="34" charset="0"/>
                <a:ea typeface="Open Sans" pitchFamily="34" charset="-122"/>
                <a:cs typeface="Open Sans" pitchFamily="34" charset="-120"/>
              </a:rPr>
              <a:t>Official Claude documentation</a:t>
            </a:r>
            <a:endParaRPr lang="en-US" sz="1000" dirty="0"/>
          </a:p>
        </p:txBody>
      </p:sp>
      <p:sp>
        <p:nvSpPr>
          <p:cNvPr id="11" name="Text 9"/>
          <p:cNvSpPr/>
          <p:nvPr/>
        </p:nvSpPr>
        <p:spPr>
          <a:xfrm>
            <a:off x="731520" y="2743200"/>
            <a:ext cx="2743200" cy="182880"/>
          </a:xfrm>
          <a:prstGeom prst="rect">
            <a:avLst/>
          </a:prstGeom>
          <a:noFill/>
          <a:ln/>
        </p:spPr>
        <p:txBody>
          <a:bodyPr wrap="square" lIns="0" tIns="0" rIns="0" bIns="0" rtlCol="0" anchor="ctr"/>
          <a:lstStyle/>
          <a:p>
            <a:pPr marL="0" indent="0">
              <a:buNone/>
            </a:pPr>
            <a:r>
              <a:rPr lang="en-US" sz="1100" dirty="0">
                <a:solidFill>
                  <a:srgbClr val="B8975C"/>
                </a:solidFill>
                <a:latin typeface="Consolas" pitchFamily="34" charset="0"/>
                <a:ea typeface="Consolas" pitchFamily="34" charset="-122"/>
                <a:cs typeface="Consolas" pitchFamily="34" charset="-120"/>
              </a:rPr>
              <a:t>claude.ai/code</a:t>
            </a:r>
            <a:endParaRPr lang="en-US" sz="1100" dirty="0"/>
          </a:p>
        </p:txBody>
      </p:sp>
      <p:sp>
        <p:nvSpPr>
          <p:cNvPr id="12" name="Text 10"/>
          <p:cNvSpPr/>
          <p:nvPr/>
        </p:nvSpPr>
        <p:spPr>
          <a:xfrm>
            <a:off x="731520" y="2926080"/>
            <a:ext cx="3657600" cy="182880"/>
          </a:xfrm>
          <a:prstGeom prst="rect">
            <a:avLst/>
          </a:prstGeom>
          <a:noFill/>
          <a:ln/>
        </p:spPr>
        <p:txBody>
          <a:bodyPr wrap="square" lIns="0" tIns="0" rIns="0" bIns="0" rtlCol="0" anchor="ctr"/>
          <a:lstStyle/>
          <a:p>
            <a:pPr marL="0" indent="0">
              <a:buNone/>
            </a:pPr>
            <a:r>
              <a:rPr lang="en-US" sz="1000" dirty="0">
                <a:solidFill>
                  <a:srgbClr val="8A9BAD"/>
                </a:solidFill>
                <a:latin typeface="Open Sans" pitchFamily="34" charset="0"/>
                <a:ea typeface="Open Sans" pitchFamily="34" charset="-122"/>
                <a:cs typeface="Open Sans" pitchFamily="34" charset="-120"/>
              </a:rPr>
              <a:t>Claude Code (CLI tool)</a:t>
            </a:r>
            <a:endParaRPr lang="en-US" sz="1000" dirty="0"/>
          </a:p>
        </p:txBody>
      </p:sp>
      <p:sp>
        <p:nvSpPr>
          <p:cNvPr id="13" name="Text 11"/>
          <p:cNvSpPr/>
          <p:nvPr/>
        </p:nvSpPr>
        <p:spPr>
          <a:xfrm>
            <a:off x="731520" y="3154680"/>
            <a:ext cx="4064000" cy="182880"/>
          </a:xfrm>
          <a:prstGeom prst="rect">
            <a:avLst/>
          </a:prstGeom>
          <a:noFill/>
          <a:ln/>
        </p:spPr>
        <p:txBody>
          <a:bodyPr wrap="square" lIns="0" tIns="0" rIns="0" bIns="0" rtlCol="0" anchor="ctr"/>
          <a:lstStyle/>
          <a:p>
            <a:pPr marL="0" indent="0">
              <a:buNone/>
            </a:pPr>
            <a:r>
              <a:rPr lang="en-US" sz="1100" dirty="0">
                <a:solidFill>
                  <a:srgbClr val="B8975C"/>
                </a:solidFill>
                <a:latin typeface="Consolas" pitchFamily="34" charset="0"/>
                <a:ea typeface="Consolas" pitchFamily="34" charset="-122"/>
                <a:cs typeface="Consolas" pitchFamily="34" charset="-120"/>
              </a:rPr>
              <a:t>npmjs.com/package/@anthropic-ai/claude-code</a:t>
            </a:r>
            <a:endParaRPr lang="en-US" sz="1100" dirty="0"/>
          </a:p>
        </p:txBody>
      </p:sp>
      <p:sp>
        <p:nvSpPr>
          <p:cNvPr id="14" name="Text 12"/>
          <p:cNvSpPr/>
          <p:nvPr/>
        </p:nvSpPr>
        <p:spPr>
          <a:xfrm>
            <a:off x="731520" y="3337560"/>
            <a:ext cx="3657600" cy="182880"/>
          </a:xfrm>
          <a:prstGeom prst="rect">
            <a:avLst/>
          </a:prstGeom>
          <a:noFill/>
          <a:ln/>
        </p:spPr>
        <p:txBody>
          <a:bodyPr wrap="square" lIns="0" tIns="0" rIns="0" bIns="0" rtlCol="0" anchor="ctr"/>
          <a:lstStyle/>
          <a:p>
            <a:pPr marL="0" indent="0">
              <a:buNone/>
            </a:pPr>
            <a:r>
              <a:rPr lang="en-US" sz="1000" dirty="0">
                <a:solidFill>
                  <a:srgbClr val="8A9BAD"/>
                </a:solidFill>
                <a:latin typeface="Open Sans" pitchFamily="34" charset="0"/>
                <a:ea typeface="Open Sans" pitchFamily="34" charset="-122"/>
                <a:cs typeface="Open Sans" pitchFamily="34" charset="-120"/>
              </a:rPr>
              <a:t>Claude Code npm package</a:t>
            </a:r>
            <a:endParaRPr lang="en-US" sz="1000" dirty="0"/>
          </a:p>
        </p:txBody>
      </p:sp>
      <p:sp>
        <p:nvSpPr>
          <p:cNvPr id="15" name="Text 13"/>
          <p:cNvSpPr/>
          <p:nvPr/>
        </p:nvSpPr>
        <p:spPr>
          <a:xfrm>
            <a:off x="4846320" y="1051560"/>
            <a:ext cx="3657600" cy="320040"/>
          </a:xfrm>
          <a:prstGeom prst="rect">
            <a:avLst/>
          </a:prstGeom>
          <a:noFill/>
          <a:ln/>
        </p:spPr>
        <p:txBody>
          <a:bodyPr wrap="square" lIns="0" tIns="0" rIns="0" bIns="0" rtlCol="0" anchor="ctr"/>
          <a:lstStyle/>
          <a:p>
            <a:pPr marL="0" indent="0">
              <a:buNone/>
            </a:pPr>
            <a:r>
              <a:rPr lang="en-US" sz="1400" b="1" dirty="0">
                <a:solidFill>
                  <a:srgbClr val="B8975C"/>
                </a:solidFill>
                <a:latin typeface="Open Sans" pitchFamily="34" charset="0"/>
                <a:ea typeface="Open Sans" pitchFamily="34" charset="-122"/>
                <a:cs typeface="Open Sans" pitchFamily="34" charset="-120"/>
              </a:rPr>
              <a:t>Claude Code Commands</a:t>
            </a:r>
            <a:endParaRPr lang="en-US" sz="1400" dirty="0"/>
          </a:p>
        </p:txBody>
      </p:sp>
      <p:sp>
        <p:nvSpPr>
          <p:cNvPr id="16" name="Text 14"/>
          <p:cNvSpPr/>
          <p:nvPr/>
        </p:nvSpPr>
        <p:spPr>
          <a:xfrm>
            <a:off x="4846320" y="1508760"/>
            <a:ext cx="3200400" cy="182880"/>
          </a:xfrm>
          <a:prstGeom prst="rect">
            <a:avLst/>
          </a:prstGeom>
          <a:noFill/>
          <a:ln/>
        </p:spPr>
        <p:txBody>
          <a:bodyPr wrap="square" lIns="0" tIns="0" rIns="0" bIns="0" rtlCol="0" anchor="ctr"/>
          <a:lstStyle/>
          <a:p>
            <a:pPr marL="0" indent="0">
              <a:buNone/>
            </a:pPr>
            <a:r>
              <a:rPr lang="en-US" sz="1100" dirty="0">
                <a:solidFill>
                  <a:srgbClr val="B8975C"/>
                </a:solidFill>
                <a:latin typeface="Consolas" pitchFamily="34" charset="0"/>
                <a:ea typeface="Consolas" pitchFamily="34" charset="-122"/>
                <a:cs typeface="Consolas" pitchFamily="34" charset="-120"/>
              </a:rPr>
              <a:t>claude</a:t>
            </a:r>
            <a:endParaRPr lang="en-US" sz="1100" dirty="0"/>
          </a:p>
        </p:txBody>
      </p:sp>
      <p:sp>
        <p:nvSpPr>
          <p:cNvPr id="17" name="Text 15"/>
          <p:cNvSpPr/>
          <p:nvPr/>
        </p:nvSpPr>
        <p:spPr>
          <a:xfrm>
            <a:off x="4846320" y="1691640"/>
            <a:ext cx="3657600" cy="182880"/>
          </a:xfrm>
          <a:prstGeom prst="rect">
            <a:avLst/>
          </a:prstGeom>
          <a:noFill/>
          <a:ln/>
        </p:spPr>
        <p:txBody>
          <a:bodyPr wrap="square" lIns="0" tIns="0" rIns="0" bIns="0" rtlCol="0" anchor="ctr"/>
          <a:lstStyle/>
          <a:p>
            <a:pPr marL="0" indent="0">
              <a:buNone/>
            </a:pPr>
            <a:r>
              <a:rPr lang="en-US" sz="1000" dirty="0">
                <a:solidFill>
                  <a:srgbClr val="8A9BAD"/>
                </a:solidFill>
                <a:latin typeface="Open Sans" pitchFamily="34" charset="0"/>
                <a:ea typeface="Open Sans" pitchFamily="34" charset="-122"/>
                <a:cs typeface="Open Sans" pitchFamily="34" charset="-120"/>
              </a:rPr>
              <a:t>Start Claude Code in current directory</a:t>
            </a:r>
            <a:endParaRPr lang="en-US" sz="1000" dirty="0"/>
          </a:p>
        </p:txBody>
      </p:sp>
      <p:sp>
        <p:nvSpPr>
          <p:cNvPr id="18" name="Text 16"/>
          <p:cNvSpPr/>
          <p:nvPr/>
        </p:nvSpPr>
        <p:spPr>
          <a:xfrm>
            <a:off x="4846320" y="1920240"/>
            <a:ext cx="3200400" cy="182880"/>
          </a:xfrm>
          <a:prstGeom prst="rect">
            <a:avLst/>
          </a:prstGeom>
          <a:noFill/>
          <a:ln/>
        </p:spPr>
        <p:txBody>
          <a:bodyPr wrap="square" lIns="0" tIns="0" rIns="0" bIns="0" rtlCol="0" anchor="ctr"/>
          <a:lstStyle/>
          <a:p>
            <a:pPr marL="0" indent="0">
              <a:buNone/>
            </a:pPr>
            <a:r>
              <a:rPr lang="en-US" sz="1100" dirty="0">
                <a:solidFill>
                  <a:srgbClr val="B8975C"/>
                </a:solidFill>
                <a:latin typeface="Consolas" pitchFamily="34" charset="0"/>
                <a:ea typeface="Consolas" pitchFamily="34" charset="-122"/>
                <a:cs typeface="Consolas" pitchFamily="34" charset="-120"/>
              </a:rPr>
              <a:t>/help</a:t>
            </a:r>
            <a:endParaRPr lang="en-US" sz="1100" dirty="0"/>
          </a:p>
        </p:txBody>
      </p:sp>
      <p:sp>
        <p:nvSpPr>
          <p:cNvPr id="19" name="Text 17"/>
          <p:cNvSpPr/>
          <p:nvPr/>
        </p:nvSpPr>
        <p:spPr>
          <a:xfrm>
            <a:off x="4846320" y="2103120"/>
            <a:ext cx="3657600" cy="182880"/>
          </a:xfrm>
          <a:prstGeom prst="rect">
            <a:avLst/>
          </a:prstGeom>
          <a:noFill/>
          <a:ln/>
        </p:spPr>
        <p:txBody>
          <a:bodyPr wrap="square" lIns="0" tIns="0" rIns="0" bIns="0" rtlCol="0" anchor="ctr"/>
          <a:lstStyle/>
          <a:p>
            <a:pPr marL="0" indent="0">
              <a:buNone/>
            </a:pPr>
            <a:r>
              <a:rPr lang="en-US" sz="1000" dirty="0">
                <a:solidFill>
                  <a:srgbClr val="8A9BAD"/>
                </a:solidFill>
                <a:latin typeface="Open Sans" pitchFamily="34" charset="0"/>
                <a:ea typeface="Open Sans" pitchFamily="34" charset="-122"/>
                <a:cs typeface="Open Sans" pitchFamily="34" charset="-120"/>
              </a:rPr>
              <a:t>Show available commands</a:t>
            </a:r>
            <a:endParaRPr lang="en-US" sz="1000" dirty="0"/>
          </a:p>
        </p:txBody>
      </p:sp>
      <p:sp>
        <p:nvSpPr>
          <p:cNvPr id="20" name="Text 18"/>
          <p:cNvSpPr/>
          <p:nvPr/>
        </p:nvSpPr>
        <p:spPr>
          <a:xfrm>
            <a:off x="4846320" y="2331720"/>
            <a:ext cx="3200400" cy="182880"/>
          </a:xfrm>
          <a:prstGeom prst="rect">
            <a:avLst/>
          </a:prstGeom>
          <a:noFill/>
          <a:ln/>
        </p:spPr>
        <p:txBody>
          <a:bodyPr wrap="square" lIns="0" tIns="0" rIns="0" bIns="0" rtlCol="0" anchor="ctr"/>
          <a:lstStyle/>
          <a:p>
            <a:pPr marL="0" indent="0">
              <a:buNone/>
            </a:pPr>
            <a:r>
              <a:rPr lang="en-US" sz="1100" dirty="0">
                <a:solidFill>
                  <a:srgbClr val="B8975C"/>
                </a:solidFill>
                <a:latin typeface="Consolas" pitchFamily="34" charset="0"/>
                <a:ea typeface="Consolas" pitchFamily="34" charset="-122"/>
                <a:cs typeface="Consolas" pitchFamily="34" charset="-120"/>
              </a:rPr>
              <a:t>/clear</a:t>
            </a:r>
            <a:endParaRPr lang="en-US" sz="1100" dirty="0"/>
          </a:p>
        </p:txBody>
      </p:sp>
      <p:sp>
        <p:nvSpPr>
          <p:cNvPr id="21" name="Text 19"/>
          <p:cNvSpPr/>
          <p:nvPr/>
        </p:nvSpPr>
        <p:spPr>
          <a:xfrm>
            <a:off x="4846320" y="2514600"/>
            <a:ext cx="3657600" cy="182880"/>
          </a:xfrm>
          <a:prstGeom prst="rect">
            <a:avLst/>
          </a:prstGeom>
          <a:noFill/>
          <a:ln/>
        </p:spPr>
        <p:txBody>
          <a:bodyPr wrap="square" lIns="0" tIns="0" rIns="0" bIns="0" rtlCol="0" anchor="ctr"/>
          <a:lstStyle/>
          <a:p>
            <a:pPr marL="0" indent="0">
              <a:buNone/>
            </a:pPr>
            <a:r>
              <a:rPr lang="en-US" sz="1000" dirty="0">
                <a:solidFill>
                  <a:srgbClr val="8A9BAD"/>
                </a:solidFill>
                <a:latin typeface="Open Sans" pitchFamily="34" charset="0"/>
                <a:ea typeface="Open Sans" pitchFamily="34" charset="-122"/>
                <a:cs typeface="Open Sans" pitchFamily="34" charset="-120"/>
              </a:rPr>
              <a:t>Clear conversation context</a:t>
            </a:r>
            <a:endParaRPr lang="en-US" sz="1000" dirty="0"/>
          </a:p>
        </p:txBody>
      </p:sp>
      <p:sp>
        <p:nvSpPr>
          <p:cNvPr id="22" name="Text 20"/>
          <p:cNvSpPr/>
          <p:nvPr/>
        </p:nvSpPr>
        <p:spPr>
          <a:xfrm>
            <a:off x="4846320" y="2743200"/>
            <a:ext cx="3200400" cy="182880"/>
          </a:xfrm>
          <a:prstGeom prst="rect">
            <a:avLst/>
          </a:prstGeom>
          <a:noFill/>
          <a:ln/>
        </p:spPr>
        <p:txBody>
          <a:bodyPr wrap="square" lIns="0" tIns="0" rIns="0" bIns="0" rtlCol="0" anchor="ctr"/>
          <a:lstStyle/>
          <a:p>
            <a:pPr marL="0" indent="0">
              <a:buNone/>
            </a:pPr>
            <a:r>
              <a:rPr lang="en-US" sz="1100" dirty="0">
                <a:solidFill>
                  <a:srgbClr val="B8975C"/>
                </a:solidFill>
                <a:latin typeface="Consolas" pitchFamily="34" charset="0"/>
                <a:ea typeface="Consolas" pitchFamily="34" charset="-122"/>
                <a:cs typeface="Consolas" pitchFamily="34" charset="-120"/>
              </a:rPr>
              <a:t>Ctrl+C</a:t>
            </a:r>
            <a:endParaRPr lang="en-US" sz="1100" dirty="0"/>
          </a:p>
        </p:txBody>
      </p:sp>
      <p:sp>
        <p:nvSpPr>
          <p:cNvPr id="23" name="Text 21"/>
          <p:cNvSpPr/>
          <p:nvPr/>
        </p:nvSpPr>
        <p:spPr>
          <a:xfrm>
            <a:off x="4846320" y="2926080"/>
            <a:ext cx="3657600" cy="182880"/>
          </a:xfrm>
          <a:prstGeom prst="rect">
            <a:avLst/>
          </a:prstGeom>
          <a:noFill/>
          <a:ln/>
        </p:spPr>
        <p:txBody>
          <a:bodyPr wrap="square" lIns="0" tIns="0" rIns="0" bIns="0" rtlCol="0" anchor="ctr"/>
          <a:lstStyle/>
          <a:p>
            <a:pPr marL="0" indent="0">
              <a:buNone/>
            </a:pPr>
            <a:r>
              <a:rPr lang="en-US" sz="1000" dirty="0">
                <a:solidFill>
                  <a:srgbClr val="8A9BAD"/>
                </a:solidFill>
                <a:latin typeface="Open Sans" pitchFamily="34" charset="0"/>
                <a:ea typeface="Open Sans" pitchFamily="34" charset="-122"/>
                <a:cs typeface="Open Sans" pitchFamily="34" charset="-120"/>
              </a:rPr>
              <a:t>Cancel current operation</a:t>
            </a:r>
            <a:endParaRPr lang="en-US" sz="1000" dirty="0"/>
          </a:p>
        </p:txBody>
      </p:sp>
      <p:sp>
        <p:nvSpPr>
          <p:cNvPr id="24" name="Text 22"/>
          <p:cNvSpPr/>
          <p:nvPr/>
        </p:nvSpPr>
        <p:spPr>
          <a:xfrm>
            <a:off x="4846320" y="3154680"/>
            <a:ext cx="3200400" cy="182880"/>
          </a:xfrm>
          <a:prstGeom prst="rect">
            <a:avLst/>
          </a:prstGeom>
          <a:noFill/>
          <a:ln/>
        </p:spPr>
        <p:txBody>
          <a:bodyPr wrap="square" lIns="0" tIns="0" rIns="0" bIns="0" rtlCol="0" anchor="ctr"/>
          <a:lstStyle/>
          <a:p>
            <a:pPr marL="0" indent="0">
              <a:buNone/>
            </a:pPr>
            <a:r>
              <a:rPr lang="en-US" sz="1100" dirty="0">
                <a:solidFill>
                  <a:srgbClr val="B8975C"/>
                </a:solidFill>
                <a:latin typeface="Consolas" pitchFamily="34" charset="0"/>
                <a:ea typeface="Consolas" pitchFamily="34" charset="-122"/>
                <a:cs typeface="Consolas" pitchFamily="34" charset="-120"/>
              </a:rPr>
              <a:t>Type your request</a:t>
            </a:r>
            <a:endParaRPr lang="en-US" sz="1100" dirty="0"/>
          </a:p>
        </p:txBody>
      </p:sp>
      <p:sp>
        <p:nvSpPr>
          <p:cNvPr id="25" name="Text 23"/>
          <p:cNvSpPr/>
          <p:nvPr/>
        </p:nvSpPr>
        <p:spPr>
          <a:xfrm>
            <a:off x="4846320" y="3337560"/>
            <a:ext cx="3657600" cy="182880"/>
          </a:xfrm>
          <a:prstGeom prst="rect">
            <a:avLst/>
          </a:prstGeom>
          <a:noFill/>
          <a:ln/>
        </p:spPr>
        <p:txBody>
          <a:bodyPr wrap="square" lIns="0" tIns="0" rIns="0" bIns="0" rtlCol="0" anchor="ctr"/>
          <a:lstStyle/>
          <a:p>
            <a:pPr marL="0" indent="0">
              <a:buNone/>
            </a:pPr>
            <a:r>
              <a:rPr lang="en-US" sz="1000" dirty="0">
                <a:solidFill>
                  <a:srgbClr val="8A9BAD"/>
                </a:solidFill>
                <a:latin typeface="Open Sans" pitchFamily="34" charset="0"/>
                <a:ea typeface="Open Sans" pitchFamily="34" charset="-122"/>
                <a:cs typeface="Open Sans" pitchFamily="34" charset="-120"/>
              </a:rPr>
              <a:t>Claude reads your files and responds</a:t>
            </a:r>
            <a:endParaRPr lang="en-US" sz="1000" dirty="0"/>
          </a:p>
        </p:txBody>
      </p:sp>
      <p:sp>
        <p:nvSpPr>
          <p:cNvPr id="26" name="Shape 24"/>
          <p:cNvSpPr/>
          <p:nvPr/>
        </p:nvSpPr>
        <p:spPr>
          <a:xfrm>
            <a:off x="731520" y="3931920"/>
            <a:ext cx="1828800" cy="36576"/>
          </a:xfrm>
          <a:prstGeom prst="rect">
            <a:avLst/>
          </a:prstGeom>
          <a:solidFill>
            <a:srgbClr val="B8975C"/>
          </a:solidFill>
          <a:ln/>
        </p:spPr>
        <p:txBody>
          <a:bodyPr/>
          <a:lstStyle/>
          <a:p>
            <a:endParaRPr lang="en-US"/>
          </a:p>
        </p:txBody>
      </p:sp>
      <p:sp>
        <p:nvSpPr>
          <p:cNvPr id="27" name="Text 25"/>
          <p:cNvSpPr/>
          <p:nvPr/>
        </p:nvSpPr>
        <p:spPr>
          <a:xfrm>
            <a:off x="731520" y="4114800"/>
            <a:ext cx="7680960" cy="274320"/>
          </a:xfrm>
          <a:prstGeom prst="rect">
            <a:avLst/>
          </a:prstGeom>
          <a:noFill/>
          <a:ln/>
        </p:spPr>
        <p:txBody>
          <a:bodyPr wrap="square" lIns="0" tIns="0" rIns="0" bIns="0" rtlCol="0" anchor="ctr"/>
          <a:lstStyle/>
          <a:p>
            <a:pPr marL="0" indent="0">
              <a:buNone/>
            </a:pPr>
            <a:r>
              <a:rPr lang="en-US" sz="1300" dirty="0">
                <a:solidFill>
                  <a:srgbClr val="8A9BAD"/>
                </a:solidFill>
                <a:latin typeface="Open Sans" pitchFamily="34" charset="0"/>
                <a:ea typeface="Open Sans" pitchFamily="34" charset="-122"/>
                <a:cs typeface="Open Sans" pitchFamily="34" charset="-120"/>
              </a:rPr>
              <a:t>Start with the web app. Graduate to Claude Code when you’re ready.</a:t>
            </a:r>
            <a:endParaRPr lang="en-US" sz="1300" dirty="0"/>
          </a:p>
        </p:txBody>
      </p:sp>
      <p:sp>
        <p:nvSpPr>
          <p:cNvPr id="28" name="Text 26"/>
          <p:cNvSpPr/>
          <p:nvPr/>
        </p:nvSpPr>
        <p:spPr>
          <a:xfrm>
            <a:off x="457200" y="4737100"/>
            <a:ext cx="8229600" cy="320040"/>
          </a:xfrm>
          <a:prstGeom prst="rect">
            <a:avLst/>
          </a:prstGeom>
          <a:noFill/>
          <a:ln/>
        </p:spPr>
        <p:txBody>
          <a:bodyPr wrap="square" lIns="0" tIns="0" rIns="0" bIns="0" rtlCol="0" anchor="ctr"/>
          <a:lstStyle/>
          <a:p>
            <a:pPr marL="0" indent="0" algn="ctr">
              <a:buNone/>
            </a:pPr>
            <a:r>
              <a:rPr lang="en-US" sz="1000" dirty="0">
                <a:solidFill>
                  <a:srgbClr val="5A6B7A"/>
                </a:solidFill>
                <a:latin typeface="Open Sans" pitchFamily="34" charset="0"/>
                <a:ea typeface="Open Sans" pitchFamily="34" charset="-122"/>
                <a:cs typeface="Open Sans" pitchFamily="34" charset="-120"/>
              </a:rPr>
              <a:t>Shidler College of Business  |  University of Hawaiʻi at Mānoa</a:t>
            </a:r>
            <a:endParaRPr lang="en-US" sz="1000" dirty="0"/>
          </a:p>
        </p:txBody>
      </p:sp>
    </p:spTree>
    <p:extLst>
      <p:ext uri="{BB962C8B-B14F-4D97-AF65-F5344CB8AC3E}">
        <p14:creationId xmlns:p14="http://schemas.microsoft.com/office/powerpoint/2010/main" val="69669936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525"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4FCB7AB8-9407-4B2C-9215-3CED18147A17}">
  <we:reference id="wa200010001" version="1.0.0.1" store="en-US" storeType="OMEX"/>
  <we:alternateReferences>
    <we:reference id="WA200010001" version="1.0.0.1" store="" storeType="OMEX"/>
  </we:alternateReferences>
  <we:properties>
    <we:property name="claude.fileId" value="&quot;5d340877-b20c-4673-bff6-ef7d73973d78&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905</TotalTime>
  <Words>6602</Words>
  <Application>Microsoft Office PowerPoint</Application>
  <PresentationFormat>On-screen Show (16:9)</PresentationFormat>
  <Paragraphs>869</Paragraphs>
  <Slides>51</Slides>
  <Notes>39</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51</vt:i4>
      </vt:variant>
    </vt:vector>
  </HeadingPairs>
  <TitlesOfParts>
    <vt:vector size="55" baseType="lpstr">
      <vt:lpstr>Arial</vt:lpstr>
      <vt:lpstr>Consolas</vt:lpstr>
      <vt:lpstr>Open Sans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BUS-629 Accounting &amp; Performance Ratios — Spec-Driven Design Project</dc:title>
  <dc:subject>PptxGenJS Presentation</dc:subject>
  <dc:creator>Adam W. Stauffer</dc:creator>
  <cp:lastModifiedBy>Adam Stauffer</cp:lastModifiedBy>
  <cp:revision>14</cp:revision>
  <dcterms:created xsi:type="dcterms:W3CDTF">2026-04-03T18:35:26Z</dcterms:created>
  <dcterms:modified xsi:type="dcterms:W3CDTF">2026-05-14T00:25:11Z</dcterms:modified>
</cp:coreProperties>
</file>
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7" r:id="rId6"/>
    <p:sldId id="269" r:id="rId7"/>
    <p:sldId id="260" r:id="rId8"/>
    <p:sldId id="270" r:id="rId9"/>
    <p:sldId id="274" r:id="rId10"/>
    <p:sldId id="275" r:id="rId26"/>
    <p:sldId id="276" r:id="rId27"/>
    <p:sldId id="271" r:id="rId11"/>
    <p:sldId id="261" r:id="rId12"/>
    <p:sldId id="262" r:id="rId13"/>
    <p:sldId id="263" r:id="rId14"/>
    <p:sldId id="264" r:id="rId15"/>
    <p:sldId id="265" r:id="rId16"/>
    <p:sldId id="266" r:id="rId17"/>
    <p:sldId id="268" r:id="rId18"/>
    <p:sldId id="272"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2" d="100"/>
          <a:sy n="142" d="100"/>
        </p:scale>
        <p:origin x="108" y="80"/>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689996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7247922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556106120"/>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Relationships xmlns="http://schemas.openxmlformats.org/package/2006/relationships"><Relationship Id="rId3" Type="http://schemas.openxmlformats.org/officeDocument/2006/relationships/image" Target="../media/image12.png"/><Relationship Id="rId1" Type="http://schemas.openxmlformats.org/officeDocument/2006/relationships/slideLayout" Target="../slideLayouts/slideLayout1.xml"/></Relationships>
</file>

<file path=ppt/slides/_rels/slide21.xml.rels><?xml version="1.0" encoding="UTF-8"?><Relationships xmlns="http://schemas.openxmlformats.org/package/2006/relationships"><Relationship Id="rId3" Type="http://schemas.openxmlformats.org/officeDocument/2006/relationships/image" Target="../media/image1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4731"/>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DA78F"/>
          </a:solidFill>
          <a:ln/>
        </p:spPr>
        <p:txBody>
          <a:bodyPr/>
          <a:lstStyle/>
          <a:p>
            <a:endParaRPr lang="en-US"/>
          </a:p>
        </p:txBody>
      </p:sp>
      <p:sp>
        <p:nvSpPr>
          <p:cNvPr id="3" name="Shape 1"/>
          <p:cNvSpPr/>
          <p:nvPr/>
        </p:nvSpPr>
        <p:spPr>
          <a:xfrm>
            <a:off x="6858000" y="0"/>
            <a:ext cx="2286000" cy="5143500"/>
          </a:xfrm>
          <a:prstGeom prst="rect">
            <a:avLst/>
          </a:prstGeom>
          <a:solidFill>
            <a:srgbClr val="01362A">
              <a:alpha val="60000"/>
            </a:srgbClr>
          </a:solidFill>
          <a:ln/>
        </p:spPr>
        <p:txBody>
          <a:bodyPr/>
          <a:lstStyle/>
          <a:p>
            <a:endParaRPr lang="en-US"/>
          </a:p>
        </p:txBody>
      </p:sp>
      <p:sp>
        <p:nvSpPr>
          <p:cNvPr id="4" name="Text 2"/>
          <p:cNvSpPr/>
          <p:nvPr/>
        </p:nvSpPr>
        <p:spPr>
          <a:xfrm>
            <a:off x="640080" y="548640"/>
            <a:ext cx="5943600" cy="822960"/>
          </a:xfrm>
          <a:prstGeom prst="rect">
            <a:avLst/>
          </a:prstGeom>
          <a:noFill/>
          <a:ln/>
        </p:spPr>
        <p:txBody>
          <a:bodyPr wrap="square" rtlCol="0" anchor="ctr"/>
          <a:lstStyle/>
          <a:p>
            <a:pPr marL="0" indent="0">
              <a:buNone/>
            </a:pPr>
            <a:r>
              <a:rPr lang="en-US" sz="4800" b="1" kern="0" spc="400" dirty="0">
                <a:solidFill>
                  <a:srgbClr val="FFFFFF"/>
                </a:solidFill>
                <a:latin typeface="Open Sans" pitchFamily="34" charset="0"/>
                <a:ea typeface="Open Sans" pitchFamily="34" charset="-122"/>
                <a:cs typeface="Open Sans" pitchFamily="34" charset="-120"/>
              </a:rPr>
              <a:t>BUS-629</a:t>
            </a:r>
            <a:endParaRPr lang="en-US" sz="4800" dirty="0"/>
          </a:p>
        </p:txBody>
      </p:sp>
      <p:sp>
        <p:nvSpPr>
          <p:cNvPr id="5" name="Text 3"/>
          <p:cNvSpPr/>
          <p:nvPr/>
        </p:nvSpPr>
        <p:spPr>
          <a:xfrm>
            <a:off x="640080" y="1371600"/>
            <a:ext cx="5943600" cy="1097280"/>
          </a:xfrm>
          <a:prstGeom prst="rect">
            <a:avLst/>
          </a:prstGeom>
          <a:noFill/>
          <a:ln/>
        </p:spPr>
        <p:txBody>
          <a:bodyPr wrap="square" rtlCol="0" anchor="ctr"/>
          <a:lstStyle/>
          <a:p>
            <a:pPr marL="0" indent="0">
              <a:buNone/>
            </a:pPr>
            <a:r>
              <a:rPr lang="en-US" sz="3200" b="1" dirty="0">
                <a:solidFill>
                  <a:srgbClr val="B8DDD1"/>
                </a:solidFill>
                <a:latin typeface="Open Sans" pitchFamily="34" charset="0"/>
                <a:ea typeface="Open Sans" pitchFamily="34" charset="-122"/>
                <a:cs typeface="Open Sans" pitchFamily="34" charset="-120"/>
              </a:rPr>
              <a:t>Accounting &amp;</a:t>
            </a:r>
            <a:endParaRPr lang="en-US" sz="3200" dirty="0"/>
          </a:p>
          <a:p>
            <a:pPr marL="0" indent="0">
              <a:buNone/>
            </a:pPr>
            <a:r>
              <a:rPr lang="en-US" sz="3200" b="1" dirty="0">
                <a:solidFill>
                  <a:srgbClr val="B8DDD1"/>
                </a:solidFill>
                <a:latin typeface="Open Sans" pitchFamily="34" charset="0"/>
                <a:ea typeface="Open Sans" pitchFamily="34" charset="-122"/>
                <a:cs typeface="Open Sans" pitchFamily="34" charset="-120"/>
              </a:rPr>
              <a:t>Performance Ratios</a:t>
            </a:r>
            <a:endParaRPr lang="en-US" sz="3200" dirty="0"/>
          </a:p>
        </p:txBody>
      </p:sp>
      <p:sp>
        <p:nvSpPr>
          <p:cNvPr id="6" name="Text 4"/>
          <p:cNvSpPr/>
          <p:nvPr/>
        </p:nvSpPr>
        <p:spPr>
          <a:xfrm>
            <a:off x="640080" y="2560320"/>
            <a:ext cx="5943600" cy="548640"/>
          </a:xfrm>
          <a:prstGeom prst="rect">
            <a:avLst/>
          </a:prstGeom>
          <a:noFill/>
          <a:ln/>
        </p:spPr>
        <p:txBody>
          <a:bodyPr wrap="square" rtlCol="0" anchor="ctr"/>
          <a:lstStyle/>
          <a:p>
            <a:pPr marL="0" indent="0">
              <a:buNone/>
            </a:pPr>
            <a:r>
              <a:rPr lang="en-US" sz="2000" i="1" dirty="0">
                <a:solidFill>
                  <a:srgbClr val="4DA78F"/>
                </a:solidFill>
                <a:latin typeface="Open Sans" pitchFamily="34" charset="0"/>
                <a:ea typeface="Open Sans" pitchFamily="34" charset="-122"/>
                <a:cs typeface="Open Sans" pitchFamily="34" charset="-120"/>
              </a:rPr>
              <a:t>Spec-Driven Design Project</a:t>
            </a:r>
            <a:endParaRPr lang="en-US" sz="2000" dirty="0"/>
          </a:p>
        </p:txBody>
      </p:sp>
      <p:sp>
        <p:nvSpPr>
          <p:cNvPr id="7" name="Shape 5"/>
          <p:cNvSpPr/>
          <p:nvPr/>
        </p:nvSpPr>
        <p:spPr>
          <a:xfrm>
            <a:off x="640080" y="3474720"/>
            <a:ext cx="411480" cy="411480"/>
          </a:xfrm>
          <a:prstGeom prst="ellipse">
            <a:avLst/>
          </a:prstGeom>
          <a:solidFill>
            <a:srgbClr val="4DA78F"/>
          </a:solidFill>
          <a:ln/>
        </p:spPr>
        <p:txBody>
          <a:bodyPr/>
          <a:lstStyle/>
          <a:p>
            <a:endParaRPr lang="en-US"/>
          </a:p>
        </p:txBody>
      </p:sp>
      <p:sp>
        <p:nvSpPr>
          <p:cNvPr id="8" name="Text 6"/>
          <p:cNvSpPr/>
          <p:nvPr/>
        </p:nvSpPr>
        <p:spPr>
          <a:xfrm>
            <a:off x="64008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0</a:t>
            </a:r>
            <a:endParaRPr lang="en-US" sz="1400" dirty="0"/>
          </a:p>
        </p:txBody>
      </p:sp>
      <p:sp>
        <p:nvSpPr>
          <p:cNvPr id="9" name="Text 7"/>
          <p:cNvSpPr/>
          <p:nvPr/>
        </p:nvSpPr>
        <p:spPr>
          <a:xfrm>
            <a:off x="45720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Setup</a:t>
            </a:r>
            <a:endParaRPr lang="en-US" sz="900" dirty="0"/>
          </a:p>
        </p:txBody>
      </p:sp>
      <p:sp>
        <p:nvSpPr>
          <p:cNvPr id="10" name="Shape 8"/>
          <p:cNvSpPr/>
          <p:nvPr/>
        </p:nvSpPr>
        <p:spPr>
          <a:xfrm>
            <a:off x="1097280" y="3680460"/>
            <a:ext cx="731520" cy="0"/>
          </a:xfrm>
          <a:prstGeom prst="line">
            <a:avLst/>
          </a:prstGeom>
          <a:noFill/>
          <a:ln w="19050">
            <a:solidFill>
              <a:srgbClr val="4DA78F"/>
            </a:solidFill>
            <a:prstDash val="dash"/>
          </a:ln>
        </p:spPr>
        <p:txBody>
          <a:bodyPr/>
          <a:lstStyle/>
          <a:p>
            <a:endParaRPr lang="en-US"/>
          </a:p>
        </p:txBody>
      </p:sp>
      <p:sp>
        <p:nvSpPr>
          <p:cNvPr id="11" name="Shape 9"/>
          <p:cNvSpPr/>
          <p:nvPr/>
        </p:nvSpPr>
        <p:spPr>
          <a:xfrm>
            <a:off x="1874520" y="3474720"/>
            <a:ext cx="411480" cy="411480"/>
          </a:xfrm>
          <a:prstGeom prst="ellipse">
            <a:avLst/>
          </a:prstGeom>
          <a:solidFill>
            <a:srgbClr val="4DA78F"/>
          </a:solidFill>
          <a:ln/>
        </p:spPr>
        <p:txBody>
          <a:bodyPr/>
          <a:lstStyle/>
          <a:p>
            <a:endParaRPr lang="en-US"/>
          </a:p>
        </p:txBody>
      </p:sp>
      <p:sp>
        <p:nvSpPr>
          <p:cNvPr id="12" name="Text 10"/>
          <p:cNvSpPr/>
          <p:nvPr/>
        </p:nvSpPr>
        <p:spPr>
          <a:xfrm>
            <a:off x="187452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1</a:t>
            </a:r>
            <a:endParaRPr lang="en-US" sz="1400" dirty="0"/>
          </a:p>
        </p:txBody>
      </p:sp>
      <p:sp>
        <p:nvSpPr>
          <p:cNvPr id="13" name="Text 11"/>
          <p:cNvSpPr/>
          <p:nvPr/>
        </p:nvSpPr>
        <p:spPr>
          <a:xfrm>
            <a:off x="169164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Build</a:t>
            </a:r>
            <a:endParaRPr lang="en-US" sz="900" dirty="0"/>
          </a:p>
        </p:txBody>
      </p:sp>
      <p:sp>
        <p:nvSpPr>
          <p:cNvPr id="14" name="Shape 12"/>
          <p:cNvSpPr/>
          <p:nvPr/>
        </p:nvSpPr>
        <p:spPr>
          <a:xfrm>
            <a:off x="2331720" y="3680460"/>
            <a:ext cx="731520" cy="0"/>
          </a:xfrm>
          <a:prstGeom prst="line">
            <a:avLst/>
          </a:prstGeom>
          <a:noFill/>
          <a:ln w="19050">
            <a:solidFill>
              <a:srgbClr val="4DA78F"/>
            </a:solidFill>
            <a:prstDash val="dash"/>
          </a:ln>
        </p:spPr>
        <p:txBody>
          <a:bodyPr/>
          <a:lstStyle/>
          <a:p>
            <a:endParaRPr lang="en-US"/>
          </a:p>
        </p:txBody>
      </p:sp>
      <p:sp>
        <p:nvSpPr>
          <p:cNvPr id="15" name="Shape 13"/>
          <p:cNvSpPr/>
          <p:nvPr/>
        </p:nvSpPr>
        <p:spPr>
          <a:xfrm>
            <a:off x="3108960" y="3474720"/>
            <a:ext cx="411480" cy="411480"/>
          </a:xfrm>
          <a:prstGeom prst="ellipse">
            <a:avLst/>
          </a:prstGeom>
          <a:solidFill>
            <a:srgbClr val="4DA78F"/>
          </a:solidFill>
          <a:ln/>
        </p:spPr>
        <p:txBody>
          <a:bodyPr/>
          <a:lstStyle/>
          <a:p>
            <a:endParaRPr lang="en-US"/>
          </a:p>
        </p:txBody>
      </p:sp>
      <p:sp>
        <p:nvSpPr>
          <p:cNvPr id="16" name="Text 14"/>
          <p:cNvSpPr/>
          <p:nvPr/>
        </p:nvSpPr>
        <p:spPr>
          <a:xfrm>
            <a:off x="310896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2</a:t>
            </a:r>
            <a:endParaRPr lang="en-US" sz="1400" dirty="0"/>
          </a:p>
        </p:txBody>
      </p:sp>
      <p:sp>
        <p:nvSpPr>
          <p:cNvPr id="17" name="Text 15"/>
          <p:cNvSpPr/>
          <p:nvPr/>
        </p:nvSpPr>
        <p:spPr>
          <a:xfrm>
            <a:off x="292608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Memo</a:t>
            </a:r>
            <a:endParaRPr lang="en-US" sz="900" dirty="0"/>
          </a:p>
        </p:txBody>
      </p:sp>
      <p:sp>
        <p:nvSpPr>
          <p:cNvPr id="18" name="Shape 16"/>
          <p:cNvSpPr/>
          <p:nvPr/>
        </p:nvSpPr>
        <p:spPr>
          <a:xfrm>
            <a:off x="3566160" y="3680460"/>
            <a:ext cx="731520" cy="0"/>
          </a:xfrm>
          <a:prstGeom prst="line">
            <a:avLst/>
          </a:prstGeom>
          <a:noFill/>
          <a:ln w="19050">
            <a:solidFill>
              <a:srgbClr val="4DA78F"/>
            </a:solidFill>
            <a:prstDash val="dash"/>
          </a:ln>
        </p:spPr>
        <p:txBody>
          <a:bodyPr/>
          <a:lstStyle/>
          <a:p>
            <a:endParaRPr lang="en-US"/>
          </a:p>
        </p:txBody>
      </p:sp>
      <p:sp>
        <p:nvSpPr>
          <p:cNvPr id="19" name="Shape 17"/>
          <p:cNvSpPr/>
          <p:nvPr/>
        </p:nvSpPr>
        <p:spPr>
          <a:xfrm>
            <a:off x="4343400" y="3474720"/>
            <a:ext cx="411480" cy="411480"/>
          </a:xfrm>
          <a:prstGeom prst="ellipse">
            <a:avLst/>
          </a:prstGeom>
          <a:solidFill>
            <a:srgbClr val="4DA78F"/>
          </a:solidFill>
          <a:ln/>
        </p:spPr>
        <p:txBody>
          <a:bodyPr/>
          <a:lstStyle/>
          <a:p>
            <a:endParaRPr lang="en-US"/>
          </a:p>
        </p:txBody>
      </p:sp>
      <p:sp>
        <p:nvSpPr>
          <p:cNvPr id="20" name="Text 18"/>
          <p:cNvSpPr/>
          <p:nvPr/>
        </p:nvSpPr>
        <p:spPr>
          <a:xfrm>
            <a:off x="434340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3</a:t>
            </a:r>
            <a:endParaRPr lang="en-US" sz="1400" dirty="0"/>
          </a:p>
        </p:txBody>
      </p:sp>
      <p:sp>
        <p:nvSpPr>
          <p:cNvPr id="21" name="Text 19"/>
          <p:cNvSpPr/>
          <p:nvPr/>
        </p:nvSpPr>
        <p:spPr>
          <a:xfrm>
            <a:off x="416052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Model</a:t>
            </a:r>
            <a:endParaRPr lang="en-US" sz="900" dirty="0"/>
          </a:p>
        </p:txBody>
      </p:sp>
      <p:sp>
        <p:nvSpPr>
          <p:cNvPr id="22" name="Shape 20"/>
          <p:cNvSpPr/>
          <p:nvPr/>
        </p:nvSpPr>
        <p:spPr>
          <a:xfrm>
            <a:off x="4800600" y="3680460"/>
            <a:ext cx="731520" cy="0"/>
          </a:xfrm>
          <a:prstGeom prst="line">
            <a:avLst/>
          </a:prstGeom>
          <a:noFill/>
          <a:ln w="19050">
            <a:solidFill>
              <a:srgbClr val="4DA78F"/>
            </a:solidFill>
            <a:prstDash val="dash"/>
          </a:ln>
        </p:spPr>
        <p:txBody>
          <a:bodyPr/>
          <a:lstStyle/>
          <a:p>
            <a:endParaRPr lang="en-US"/>
          </a:p>
        </p:txBody>
      </p:sp>
      <p:sp>
        <p:nvSpPr>
          <p:cNvPr id="23" name="Shape 21"/>
          <p:cNvSpPr/>
          <p:nvPr/>
        </p:nvSpPr>
        <p:spPr>
          <a:xfrm>
            <a:off x="5577840" y="3474720"/>
            <a:ext cx="411480" cy="411480"/>
          </a:xfrm>
          <a:prstGeom prst="ellipse">
            <a:avLst/>
          </a:prstGeom>
          <a:solidFill>
            <a:srgbClr val="C9A84C"/>
          </a:solidFill>
          <a:ln/>
        </p:spPr>
        <p:txBody>
          <a:bodyPr/>
          <a:lstStyle/>
          <a:p>
            <a:endParaRPr lang="en-US"/>
          </a:p>
        </p:txBody>
      </p:sp>
      <p:sp>
        <p:nvSpPr>
          <p:cNvPr id="24" name="Text 22"/>
          <p:cNvSpPr/>
          <p:nvPr/>
        </p:nvSpPr>
        <p:spPr>
          <a:xfrm>
            <a:off x="557784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4</a:t>
            </a:r>
            <a:endParaRPr lang="en-US" sz="1400" dirty="0"/>
          </a:p>
        </p:txBody>
      </p:sp>
      <p:sp>
        <p:nvSpPr>
          <p:cNvPr id="25" name="Text 23"/>
          <p:cNvSpPr/>
          <p:nvPr/>
        </p:nvSpPr>
        <p:spPr>
          <a:xfrm>
            <a:off x="539496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Spec</a:t>
            </a:r>
            <a:endParaRPr lang="en-US" sz="900" dirty="0"/>
          </a:p>
        </p:txBody>
      </p:sp>
      <p:sp>
        <p:nvSpPr>
          <p:cNvPr id="26" name="Shape 24"/>
          <p:cNvSpPr/>
          <p:nvPr/>
        </p:nvSpPr>
        <p:spPr>
          <a:xfrm>
            <a:off x="6035040" y="3680460"/>
            <a:ext cx="731520" cy="0"/>
          </a:xfrm>
          <a:prstGeom prst="line">
            <a:avLst/>
          </a:prstGeom>
          <a:noFill/>
          <a:ln w="19050">
            <a:solidFill>
              <a:srgbClr val="4DA78F"/>
            </a:solidFill>
            <a:prstDash val="dash"/>
          </a:ln>
        </p:spPr>
        <p:txBody>
          <a:bodyPr/>
          <a:lstStyle/>
          <a:p>
            <a:endParaRPr lang="en-US"/>
          </a:p>
        </p:txBody>
      </p:sp>
      <p:sp>
        <p:nvSpPr>
          <p:cNvPr id="27" name="Shape 25"/>
          <p:cNvSpPr/>
          <p:nvPr/>
        </p:nvSpPr>
        <p:spPr>
          <a:xfrm>
            <a:off x="6812280" y="3474720"/>
            <a:ext cx="411480" cy="411480"/>
          </a:xfrm>
          <a:prstGeom prst="ellipse">
            <a:avLst/>
          </a:prstGeom>
          <a:solidFill>
            <a:srgbClr val="4DA78F"/>
          </a:solidFill>
          <a:ln/>
        </p:spPr>
        <p:txBody>
          <a:bodyPr/>
          <a:lstStyle/>
          <a:p>
            <a:endParaRPr lang="en-US"/>
          </a:p>
        </p:txBody>
      </p:sp>
      <p:sp>
        <p:nvSpPr>
          <p:cNvPr id="28" name="Text 26"/>
          <p:cNvSpPr/>
          <p:nvPr/>
        </p:nvSpPr>
        <p:spPr>
          <a:xfrm>
            <a:off x="681228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5</a:t>
            </a:r>
            <a:endParaRPr lang="en-US" sz="1400" dirty="0"/>
          </a:p>
        </p:txBody>
      </p:sp>
      <p:sp>
        <p:nvSpPr>
          <p:cNvPr id="29" name="Text 27"/>
          <p:cNvSpPr/>
          <p:nvPr/>
        </p:nvSpPr>
        <p:spPr>
          <a:xfrm>
            <a:off x="662940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Evaluate</a:t>
            </a:r>
            <a:endParaRPr lang="en-US" sz="900" dirty="0"/>
          </a:p>
        </p:txBody>
      </p:sp>
      <p:sp>
        <p:nvSpPr>
          <p:cNvPr id="30" name="Text 28"/>
          <p:cNvSpPr/>
          <p:nvPr/>
        </p:nvSpPr>
        <p:spPr>
          <a:xfrm>
            <a:off x="640080" y="4663440"/>
            <a:ext cx="7772400" cy="274320"/>
          </a:xfrm>
          <a:prstGeom prst="rect">
            <a:avLst/>
          </a:prstGeom>
          <a:noFill/>
          <a:ln/>
        </p:spPr>
        <p:txBody>
          <a:bodyPr wrap="square"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Adam W. Stauffer  |  Shidler College of Business  |  University of Hawaiʻi at Mānoa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a:effectLst/>
      </p:bgPr>
    </p:bg>
    <p:spTree>
      <p:nvGrpSpPr>
        <p:cNvPr id="1" name=""/>
        <p:cNvGrpSpPr/>
        <p:nvPr/>
      </p:nvGrpSpPr>
      <p:grpSpPr>
        <a:xfrm>
          <a:off x="0" y="0"/>
          <a:ext cx="0" cy="0"/>
          <a:chOff x="0" y="0"/>
          <a:chExt cx="0" cy="0"/>
        </a:xfrm>
      </p:grpSpPr>
      <p:sp>
        <p:nvSpPr>
          <p:cNvPr id="2" name="Text 0"/>
          <p:cNvSpPr/>
          <p:nvPr/>
        </p:nvSpPr>
        <p:spPr>
          <a:xfrm>
            <a:off x="548640" y="320040"/>
            <a:ext cx="8229600" cy="594360"/>
          </a:xfrm>
          <a:prstGeom prst="rect">
            <a:avLst/>
          </a:prstGeom>
          <a:noFill/>
          <a:ln/>
        </p:spPr>
        <p:txBody>
          <a:bodyPr wrap="square" lIns="0" tIns="0" rIns="0" bIns="0" rtlCol="0" anchor="ctr"/>
          <a:lstStyle/>
          <a:p>
            <a:pPr marL="0" indent="0">
              <a:buNone/>
            </a:pPr>
            <a:r>
              <a:rPr lang="en-US" sz="3000" b="1" dirty="0">
                <a:solidFill>
                  <a:srgbClr val="024731"/>
                </a:solidFill>
                <a:latin typeface="Open Sans" pitchFamily="34" charset="0"/>
                <a:ea typeface="Open Sans" pitchFamily="34" charset="-122"/>
                <a:cs typeface="Open Sans" pitchFamily="34" charset="-120"/>
              </a:rPr>
              <a:t>Why This Project Matters</a:t>
            </a:r>
            <a:endParaRPr lang="en-US" sz="3000" dirty="0"/>
          </a:p>
        </p:txBody>
      </p:sp>
      <p:sp>
        <p:nvSpPr>
          <p:cNvPr id="3" name="Text 1"/>
          <p:cNvSpPr/>
          <p:nvPr/>
        </p:nvSpPr>
        <p:spPr>
          <a:xfrm>
            <a:off x="548640" y="960120"/>
            <a:ext cx="8046720" cy="548640"/>
          </a:xfrm>
          <a:prstGeom prst="rect">
            <a:avLst/>
          </a:prstGeom>
          <a:noFill/>
          <a:ln/>
        </p:spPr>
        <p:txBody>
          <a:bodyPr wrap="square" rtlCol="0" anchor="ctr"/>
          <a:lstStyle/>
          <a:p>
            <a:pPr marL="0" indent="0">
              <a:buNone/>
            </a:pPr>
            <a:r>
              <a:rPr lang="en-US" sz="1200" dirty="0">
                <a:solidFill>
                  <a:srgbClr val="6B7280"/>
                </a:solidFill>
                <a:latin typeface="Open Sans" pitchFamily="34" charset="0"/>
                <a:ea typeface="Open Sans" pitchFamily="34" charset="-122"/>
                <a:cs typeface="Open Sans" pitchFamily="34" charset="-120"/>
              </a:rPr>
              <a:t>This project teaches you to specify analytical work precisely enough that any competent executor — human or AI — can produce correct output. That is a more valuable skill than doing the analysis yourself.</a:t>
            </a:r>
            <a:endParaRPr lang="en-US" sz="1200" dirty="0"/>
          </a:p>
        </p:txBody>
      </p:sp>
      <p:sp>
        <p:nvSpPr>
          <p:cNvPr id="4" name="Shape 2"/>
          <p:cNvSpPr/>
          <p:nvPr/>
        </p:nvSpPr>
        <p:spPr>
          <a:xfrm>
            <a:off x="548640" y="1737360"/>
            <a:ext cx="3931920" cy="128016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5" name="Shape 3"/>
          <p:cNvSpPr/>
          <p:nvPr/>
        </p:nvSpPr>
        <p:spPr>
          <a:xfrm>
            <a:off x="548640" y="1737360"/>
            <a:ext cx="54864" cy="1280160"/>
          </a:xfrm>
          <a:prstGeom prst="rect">
            <a:avLst/>
          </a:prstGeom>
          <a:solidFill>
            <a:srgbClr val="024731"/>
          </a:solidFill>
          <a:ln/>
        </p:spPr>
        <p:txBody>
          <a:bodyPr/>
          <a:lstStyle/>
          <a:p>
            <a:endParaRPr lang="en-US"/>
          </a:p>
        </p:txBody>
      </p:sp>
      <p:sp>
        <p:nvSpPr>
          <p:cNvPr id="6" name="Shape 4"/>
          <p:cNvSpPr/>
          <p:nvPr/>
        </p:nvSpPr>
        <p:spPr>
          <a:xfrm>
            <a:off x="777240" y="1965960"/>
            <a:ext cx="457200" cy="457200"/>
          </a:xfrm>
          <a:prstGeom prst="ellipse">
            <a:avLst/>
          </a:prstGeom>
          <a:solidFill>
            <a:srgbClr val="E6F2EF"/>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877824" y="2066544"/>
            <a:ext cx="256032" cy="256032"/>
          </a:xfrm>
          <a:prstGeom prst="rect">
            <a:avLst/>
          </a:prstGeom>
        </p:spPr>
      </p:pic>
      <p:sp>
        <p:nvSpPr>
          <p:cNvPr id="8" name="Text 5"/>
          <p:cNvSpPr/>
          <p:nvPr/>
        </p:nvSpPr>
        <p:spPr>
          <a:xfrm>
            <a:off x="1371600" y="1920240"/>
            <a:ext cx="2926080"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Spec-Driven Design</a:t>
            </a:r>
            <a:endParaRPr lang="en-US" sz="1400" dirty="0"/>
          </a:p>
        </p:txBody>
      </p:sp>
      <p:sp>
        <p:nvSpPr>
          <p:cNvPr id="9" name="Text 6"/>
          <p:cNvSpPr/>
          <p:nvPr/>
        </p:nvSpPr>
        <p:spPr>
          <a:xfrm>
            <a:off x="1371600" y="2240280"/>
            <a:ext cx="2926080" cy="64008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Write specifications precise enough to delegate. The spec is the central artifact — not the spreadsheet, not the prompt.</a:t>
            </a:r>
            <a:endParaRPr lang="en-US" sz="1000" dirty="0"/>
          </a:p>
        </p:txBody>
      </p:sp>
      <p:sp>
        <p:nvSpPr>
          <p:cNvPr id="10" name="Shape 7"/>
          <p:cNvSpPr/>
          <p:nvPr/>
        </p:nvSpPr>
        <p:spPr>
          <a:xfrm>
            <a:off x="4754880" y="1737360"/>
            <a:ext cx="3931920" cy="128016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11" name="Shape 8"/>
          <p:cNvSpPr/>
          <p:nvPr/>
        </p:nvSpPr>
        <p:spPr>
          <a:xfrm>
            <a:off x="4754880" y="1737360"/>
            <a:ext cx="54864" cy="1280160"/>
          </a:xfrm>
          <a:prstGeom prst="rect">
            <a:avLst/>
          </a:prstGeom>
          <a:solidFill>
            <a:srgbClr val="024731"/>
          </a:solidFill>
          <a:ln/>
        </p:spPr>
        <p:txBody>
          <a:bodyPr/>
          <a:lstStyle/>
          <a:p>
            <a:endParaRPr lang="en-US"/>
          </a:p>
        </p:txBody>
      </p:sp>
      <p:sp>
        <p:nvSpPr>
          <p:cNvPr id="12" name="Shape 9"/>
          <p:cNvSpPr/>
          <p:nvPr/>
        </p:nvSpPr>
        <p:spPr>
          <a:xfrm>
            <a:off x="4983480" y="1965960"/>
            <a:ext cx="457200" cy="457200"/>
          </a:xfrm>
          <a:prstGeom prst="ellipse">
            <a:avLst/>
          </a:prstGeom>
          <a:solidFill>
            <a:srgbClr val="E6F2EF"/>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5084064" y="2066544"/>
            <a:ext cx="256032" cy="256032"/>
          </a:xfrm>
          <a:prstGeom prst="rect">
            <a:avLst/>
          </a:prstGeom>
        </p:spPr>
      </p:pic>
      <p:sp>
        <p:nvSpPr>
          <p:cNvPr id="14" name="Text 10"/>
          <p:cNvSpPr/>
          <p:nvPr/>
        </p:nvSpPr>
        <p:spPr>
          <a:xfrm>
            <a:off x="5577840" y="1920240"/>
            <a:ext cx="2926080"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Real-World Skills</a:t>
            </a:r>
            <a:endParaRPr lang="en-US" sz="1400" dirty="0"/>
          </a:p>
        </p:txBody>
      </p:sp>
      <p:sp>
        <p:nvSpPr>
          <p:cNvPr id="15" name="Text 11"/>
          <p:cNvSpPr/>
          <p:nvPr/>
        </p:nvSpPr>
        <p:spPr>
          <a:xfrm>
            <a:off x="5577840" y="2240280"/>
            <a:ext cx="2926080" cy="64008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Build financial models, validate data, interpret ratios. The same workflow used by FP&amp;A analysts, equity researchers, and auditors.</a:t>
            </a:r>
            <a:endParaRPr lang="en-US" sz="1000" dirty="0"/>
          </a:p>
        </p:txBody>
      </p:sp>
      <p:sp>
        <p:nvSpPr>
          <p:cNvPr id="16" name="Shape 12"/>
          <p:cNvSpPr/>
          <p:nvPr/>
        </p:nvSpPr>
        <p:spPr>
          <a:xfrm>
            <a:off x="548640" y="3200400"/>
            <a:ext cx="3931920" cy="128016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17" name="Shape 13"/>
          <p:cNvSpPr/>
          <p:nvPr/>
        </p:nvSpPr>
        <p:spPr>
          <a:xfrm>
            <a:off x="548640" y="3200400"/>
            <a:ext cx="54864" cy="1280160"/>
          </a:xfrm>
          <a:prstGeom prst="rect">
            <a:avLst/>
          </a:prstGeom>
          <a:solidFill>
            <a:srgbClr val="024731"/>
          </a:solidFill>
          <a:ln/>
        </p:spPr>
        <p:txBody>
          <a:bodyPr/>
          <a:lstStyle/>
          <a:p>
            <a:endParaRPr lang="en-US"/>
          </a:p>
        </p:txBody>
      </p:sp>
      <p:sp>
        <p:nvSpPr>
          <p:cNvPr id="18" name="Shape 14"/>
          <p:cNvSpPr/>
          <p:nvPr/>
        </p:nvSpPr>
        <p:spPr>
          <a:xfrm>
            <a:off x="777240" y="3429000"/>
            <a:ext cx="457200" cy="457200"/>
          </a:xfrm>
          <a:prstGeom prst="ellipse">
            <a:avLst/>
          </a:prstGeom>
          <a:solidFill>
            <a:srgbClr val="E6F2EF"/>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877824" y="3529584"/>
            <a:ext cx="256032" cy="256032"/>
          </a:xfrm>
          <a:prstGeom prst="rect">
            <a:avLst/>
          </a:prstGeom>
        </p:spPr>
      </p:pic>
      <p:sp>
        <p:nvSpPr>
          <p:cNvPr id="20" name="Text 15"/>
          <p:cNvSpPr/>
          <p:nvPr/>
        </p:nvSpPr>
        <p:spPr>
          <a:xfrm>
            <a:off x="1371600" y="3383280"/>
            <a:ext cx="2926080"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Critical AI Literacy</a:t>
            </a:r>
            <a:endParaRPr lang="en-US" sz="1400" dirty="0"/>
          </a:p>
        </p:txBody>
      </p:sp>
      <p:sp>
        <p:nvSpPr>
          <p:cNvPr id="21" name="Text 16"/>
          <p:cNvSpPr/>
          <p:nvPr/>
        </p:nvSpPr>
        <p:spPr>
          <a:xfrm>
            <a:off x="1371600" y="3703320"/>
            <a:ext cx="2926080" cy="64008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Don’t just use AI — evaluate its output. Identify what it gets right, what it misses, and what only a human expert catches.</a:t>
            </a:r>
            <a:endParaRPr lang="en-US" sz="1000" dirty="0"/>
          </a:p>
        </p:txBody>
      </p:sp>
      <p:sp>
        <p:nvSpPr>
          <p:cNvPr id="22" name="Shape 17"/>
          <p:cNvSpPr/>
          <p:nvPr/>
        </p:nvSpPr>
        <p:spPr>
          <a:xfrm>
            <a:off x="4754880" y="3200400"/>
            <a:ext cx="3931920" cy="128016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23" name="Shape 18"/>
          <p:cNvSpPr/>
          <p:nvPr/>
        </p:nvSpPr>
        <p:spPr>
          <a:xfrm>
            <a:off x="4754880" y="3200400"/>
            <a:ext cx="54864" cy="1280160"/>
          </a:xfrm>
          <a:prstGeom prst="rect">
            <a:avLst/>
          </a:prstGeom>
          <a:solidFill>
            <a:srgbClr val="024731"/>
          </a:solidFill>
          <a:ln/>
        </p:spPr>
        <p:txBody>
          <a:bodyPr/>
          <a:lstStyle/>
          <a:p>
            <a:endParaRPr lang="en-US"/>
          </a:p>
        </p:txBody>
      </p:sp>
      <p:sp>
        <p:nvSpPr>
          <p:cNvPr id="24" name="Shape 19"/>
          <p:cNvSpPr/>
          <p:nvPr/>
        </p:nvSpPr>
        <p:spPr>
          <a:xfrm>
            <a:off x="4983480" y="3429000"/>
            <a:ext cx="457200" cy="457200"/>
          </a:xfrm>
          <a:prstGeom prst="ellipse">
            <a:avLst/>
          </a:prstGeom>
          <a:solidFill>
            <a:srgbClr val="E6F2EF"/>
          </a:solidFill>
          <a:ln/>
        </p:spPr>
        <p:txBody>
          <a:bodyPr/>
          <a:lstStyle/>
          <a:p>
            <a:endParaRPr lang="en-US"/>
          </a:p>
        </p:txBody>
      </p:sp>
      <p:pic>
        <p:nvPicPr>
          <p:cNvPr id="25" name="Image 3" descr="preencoded.png"/>
          <p:cNvPicPr>
            <a:picLocks noChangeAspect="1"/>
          </p:cNvPicPr>
          <p:nvPr/>
        </p:nvPicPr>
        <p:blipFill>
          <a:blip r:embed="rId6"/>
          <a:stretch>
            <a:fillRect/>
          </a:stretch>
        </p:blipFill>
        <p:spPr>
          <a:xfrm>
            <a:off x="5084064" y="3529584"/>
            <a:ext cx="256032" cy="256032"/>
          </a:xfrm>
          <a:prstGeom prst="rect">
            <a:avLst/>
          </a:prstGeom>
        </p:spPr>
      </p:pic>
      <p:sp>
        <p:nvSpPr>
          <p:cNvPr id="26" name="Text 20"/>
          <p:cNvSpPr/>
          <p:nvPr/>
        </p:nvSpPr>
        <p:spPr>
          <a:xfrm>
            <a:off x="5577840" y="3383280"/>
            <a:ext cx="2926080"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Portfolio Artifact</a:t>
            </a:r>
            <a:endParaRPr lang="en-US" sz="1400" dirty="0"/>
          </a:p>
        </p:txBody>
      </p:sp>
      <p:sp>
        <p:nvSpPr>
          <p:cNvPr id="27" name="Text 21"/>
          <p:cNvSpPr/>
          <p:nvPr/>
        </p:nvSpPr>
        <p:spPr>
          <a:xfrm>
            <a:off x="5577840" y="3703320"/>
            <a:ext cx="2926080" cy="64008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A six-stage deliverable for interviews: repo setup, model, memo, spec, LLM analysis, and executive evaluation.</a:t>
            </a:r>
            <a:endParaRPr lang="en-US" sz="1000" dirty="0"/>
          </a:p>
        </p:txBody>
      </p:sp>
      <p:sp>
        <p:nvSpPr>
          <p:cNvPr id="28" name="Text 22"/>
          <p:cNvSpPr/>
          <p:nvPr/>
        </p:nvSpPr>
        <p:spPr>
          <a:xfrm>
            <a:off x="548640" y="4617720"/>
            <a:ext cx="8046720" cy="365760"/>
          </a:xfrm>
          <a:prstGeom prst="rect">
            <a:avLst/>
          </a:prstGeom>
          <a:noFill/>
          <a:ln/>
        </p:spPr>
        <p:txBody>
          <a:bodyPr wrap="square" rtlCol="0" anchor="ctr"/>
          <a:lstStyle/>
          <a:p>
            <a:pPr marL="0" indent="0">
              <a:buNone/>
            </a:pPr>
            <a:r>
              <a:rPr lang="en-US" sz="1000" i="1" dirty="0">
                <a:solidFill>
                  <a:srgbClr val="6B7280"/>
                </a:solidFill>
                <a:latin typeface="Open Sans" pitchFamily="34" charset="0"/>
                <a:ea typeface="Open Sans" pitchFamily="34" charset="-122"/>
                <a:cs typeface="Open Sans" pitchFamily="34" charset="-120"/>
              </a:rPr>
              <a:t>“Incomplete understanding is normal. Playing with AI tools is more than half the battle. We’re all figuring this out together.”</a:t>
            </a:r>
            <a:r>
              <a:rPr lang="en-US" sz="1000" b="1" dirty="0">
                <a:solidFill>
                  <a:srgbClr val="6B7280"/>
                </a:solidFill>
                <a:latin typeface="Open Sans" pitchFamily="34" charset="0"/>
                <a:ea typeface="Open Sans" pitchFamily="34" charset="-122"/>
                <a:cs typeface="Open Sans" pitchFamily="34" charset="-120"/>
              </a:rPr>
              <a:t xml:space="preserve">  — Instructor</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marL="0" indent="0">
              <a:buNone/>
            </a:pPr>
            <a:r>
              <a:rPr lang="en-US" sz="2800" b="1" dirty="0">
                <a:solidFill>
                  <a:srgbClr val="024731"/>
                </a:solidFill>
                <a:latin typeface="Open Sans" pitchFamily="34" charset="0"/>
                <a:ea typeface="Open Sans" pitchFamily="34" charset="-122"/>
                <a:cs typeface="Open Sans" pitchFamily="34" charset="-120"/>
              </a:rPr>
              <a:t>Project Overview — Six Stages</a:t>
            </a:r>
            <a:endParaRPr lang="en-US" sz="2800" dirty="0"/>
          </a:p>
        </p:txBody>
      </p:sp>
      <p:sp>
        <p:nvSpPr>
          <p:cNvPr id="3" name="Text 1"/>
          <p:cNvSpPr/>
          <p:nvPr/>
        </p:nvSpPr>
        <p:spPr>
          <a:xfrm>
            <a:off x="548640" y="777240"/>
            <a:ext cx="8229600" cy="274320"/>
          </a:xfrm>
          <a:prstGeom prst="rect">
            <a:avLst/>
          </a:prstGeom>
          <a:noFill/>
          <a:ln/>
        </p:spPr>
        <p:txBody>
          <a:bodyPr wrap="square" rtlCol="0" anchor="ctr"/>
          <a:lstStyle/>
          <a:p>
            <a:pPr marL="0" indent="0">
              <a:buNone/>
            </a:pPr>
            <a:r>
              <a:rPr lang="en-US" sz="1100" b="1" kern="0" spc="200" dirty="0">
                <a:solidFill>
                  <a:srgbClr val="4DA78F"/>
                </a:solidFill>
                <a:latin typeface="Open Sans" pitchFamily="34" charset="0"/>
                <a:ea typeface="Open Sans" pitchFamily="34" charset="-122"/>
                <a:cs typeface="Open Sans" pitchFamily="34" charset="-120"/>
              </a:rPr>
              <a:t>SETUP  →  TEMPLATE  →  FRAME  →  POPULATE  →  SPECIFY  →  EVALUATE</a:t>
            </a:r>
            <a:endParaRPr lang="en-US" sz="1100" dirty="0"/>
          </a:p>
        </p:txBody>
      </p:sp>
      <p:sp>
        <p:nvSpPr>
          <p:cNvPr id="4" name="Shape 2"/>
          <p:cNvSpPr/>
          <p:nvPr/>
        </p:nvSpPr>
        <p:spPr>
          <a:xfrm>
            <a:off x="548640" y="123444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5" name="Shape 3"/>
          <p:cNvSpPr/>
          <p:nvPr/>
        </p:nvSpPr>
        <p:spPr>
          <a:xfrm>
            <a:off x="685800" y="1371600"/>
            <a:ext cx="384048" cy="384048"/>
          </a:xfrm>
          <a:prstGeom prst="ellipse">
            <a:avLst/>
          </a:prstGeom>
          <a:solidFill>
            <a:srgbClr val="024731"/>
          </a:solidFill>
          <a:ln/>
        </p:spPr>
        <p:txBody>
          <a:bodyPr/>
          <a:lstStyle/>
          <a:p>
            <a:endParaRPr lang="en-US"/>
          </a:p>
        </p:txBody>
      </p:sp>
      <p:sp>
        <p:nvSpPr>
          <p:cNvPr id="6" name="Text 4"/>
          <p:cNvSpPr/>
          <p:nvPr/>
        </p:nvSpPr>
        <p:spPr>
          <a:xfrm>
            <a:off x="685800" y="137160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0</a:t>
            </a:r>
            <a:endParaRPr lang="en-US" sz="1600" dirty="0"/>
          </a:p>
        </p:txBody>
      </p:sp>
      <p:sp>
        <p:nvSpPr>
          <p:cNvPr id="7" name="Text 5"/>
          <p:cNvSpPr/>
          <p:nvPr/>
        </p:nvSpPr>
        <p:spPr>
          <a:xfrm>
            <a:off x="2423160" y="139903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5%</a:t>
            </a:r>
            <a:endParaRPr lang="en-US" sz="1100" dirty="0"/>
          </a:p>
        </p:txBody>
      </p:sp>
      <p:sp>
        <p:nvSpPr>
          <p:cNvPr id="8" name="Text 6"/>
          <p:cNvSpPr/>
          <p:nvPr/>
        </p:nvSpPr>
        <p:spPr>
          <a:xfrm>
            <a:off x="1188720" y="139903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Repo Setup</a:t>
            </a:r>
            <a:endParaRPr lang="en-US" sz="1200" dirty="0"/>
          </a:p>
        </p:txBody>
      </p:sp>
      <p:sp>
        <p:nvSpPr>
          <p:cNvPr id="9" name="Text 7"/>
          <p:cNvSpPr/>
          <p:nvPr/>
        </p:nvSpPr>
        <p:spPr>
          <a:xfrm>
            <a:off x="685800" y="187452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Create GitHub repo with IB-style directory structure. Learn Git, Markdown, READMEs.</a:t>
            </a:r>
            <a:endParaRPr lang="en-US" sz="1000" dirty="0"/>
          </a:p>
        </p:txBody>
      </p:sp>
      <p:sp>
        <p:nvSpPr>
          <p:cNvPr id="10" name="Shape 8"/>
          <p:cNvSpPr/>
          <p:nvPr/>
        </p:nvSpPr>
        <p:spPr>
          <a:xfrm>
            <a:off x="3383280" y="123444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11" name="Shape 9"/>
          <p:cNvSpPr/>
          <p:nvPr/>
        </p:nvSpPr>
        <p:spPr>
          <a:xfrm>
            <a:off x="3520440" y="1371600"/>
            <a:ext cx="384048" cy="384048"/>
          </a:xfrm>
          <a:prstGeom prst="ellipse">
            <a:avLst/>
          </a:prstGeom>
          <a:solidFill>
            <a:srgbClr val="024731"/>
          </a:solidFill>
          <a:ln/>
        </p:spPr>
        <p:txBody>
          <a:bodyPr/>
          <a:lstStyle/>
          <a:p>
            <a:endParaRPr lang="en-US"/>
          </a:p>
        </p:txBody>
      </p:sp>
      <p:sp>
        <p:nvSpPr>
          <p:cNvPr id="12" name="Text 10"/>
          <p:cNvSpPr/>
          <p:nvPr/>
        </p:nvSpPr>
        <p:spPr>
          <a:xfrm>
            <a:off x="3520440" y="137160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1</a:t>
            </a:r>
            <a:endParaRPr lang="en-US" sz="1600" dirty="0"/>
          </a:p>
        </p:txBody>
      </p:sp>
      <p:sp>
        <p:nvSpPr>
          <p:cNvPr id="13" name="Text 11"/>
          <p:cNvSpPr/>
          <p:nvPr/>
        </p:nvSpPr>
        <p:spPr>
          <a:xfrm>
            <a:off x="5257800" y="139903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14" name="Text 12"/>
          <p:cNvSpPr/>
          <p:nvPr/>
        </p:nvSpPr>
        <p:spPr>
          <a:xfrm>
            <a:off x="4023360" y="139903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Ratios Template Upload</a:t>
            </a:r>
            <a:endParaRPr lang="en-US" sz="1200" dirty="0"/>
          </a:p>
        </p:txBody>
      </p:sp>
      <p:sp>
        <p:nvSpPr>
          <p:cNvPr id="15" name="Text 13"/>
          <p:cNvSpPr/>
          <p:nvPr/>
        </p:nvSpPr>
        <p:spPr>
          <a:xfrm>
            <a:off x="3520440" y="187452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Use the provided ratios template. Upload an unmodified copy and study its structure.</a:t>
            </a:r>
            <a:endParaRPr lang="en-US" sz="1000" dirty="0"/>
          </a:p>
        </p:txBody>
      </p:sp>
      <p:sp>
        <p:nvSpPr>
          <p:cNvPr id="16" name="Shape 14"/>
          <p:cNvSpPr/>
          <p:nvPr/>
        </p:nvSpPr>
        <p:spPr>
          <a:xfrm>
            <a:off x="6217920" y="123444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17" name="Shape 15"/>
          <p:cNvSpPr/>
          <p:nvPr/>
        </p:nvSpPr>
        <p:spPr>
          <a:xfrm>
            <a:off x="6355080" y="1371600"/>
            <a:ext cx="384048" cy="384048"/>
          </a:xfrm>
          <a:prstGeom prst="ellipse">
            <a:avLst/>
          </a:prstGeom>
          <a:solidFill>
            <a:srgbClr val="024731"/>
          </a:solidFill>
          <a:ln/>
        </p:spPr>
        <p:txBody>
          <a:bodyPr/>
          <a:lstStyle/>
          <a:p>
            <a:endParaRPr lang="en-US"/>
          </a:p>
        </p:txBody>
      </p:sp>
      <p:sp>
        <p:nvSpPr>
          <p:cNvPr id="18" name="Text 16"/>
          <p:cNvSpPr/>
          <p:nvPr/>
        </p:nvSpPr>
        <p:spPr>
          <a:xfrm>
            <a:off x="6355080" y="137160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2</a:t>
            </a:r>
            <a:endParaRPr lang="en-US" sz="1600" dirty="0"/>
          </a:p>
        </p:txBody>
      </p:sp>
      <p:sp>
        <p:nvSpPr>
          <p:cNvPr id="19" name="Text 17"/>
          <p:cNvSpPr/>
          <p:nvPr/>
        </p:nvSpPr>
        <p:spPr>
          <a:xfrm>
            <a:off x="8092440" y="139903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10%</a:t>
            </a:r>
            <a:endParaRPr lang="en-US" sz="1100" dirty="0"/>
          </a:p>
        </p:txBody>
      </p:sp>
      <p:sp>
        <p:nvSpPr>
          <p:cNvPr id="20" name="Text 18"/>
          <p:cNvSpPr/>
          <p:nvPr/>
        </p:nvSpPr>
        <p:spPr>
          <a:xfrm>
            <a:off x="6858000" y="139903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Company Selection Memo</a:t>
            </a:r>
            <a:endParaRPr lang="en-US" sz="1200" dirty="0"/>
          </a:p>
        </p:txBody>
      </p:sp>
      <p:sp>
        <p:nvSpPr>
          <p:cNvPr id="21" name="Text 19"/>
          <p:cNvSpPr/>
          <p:nvPr/>
        </p:nvSpPr>
        <p:spPr>
          <a:xfrm>
            <a:off x="6355080" y="187452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Choose your company, frame the analysis, identify data sources and hypotheses.</a:t>
            </a:r>
            <a:endParaRPr lang="en-US" sz="1000" dirty="0"/>
          </a:p>
        </p:txBody>
      </p:sp>
      <p:sp>
        <p:nvSpPr>
          <p:cNvPr id="22" name="Shape 20"/>
          <p:cNvSpPr/>
          <p:nvPr/>
        </p:nvSpPr>
        <p:spPr>
          <a:xfrm>
            <a:off x="548640" y="310896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23" name="Shape 21"/>
          <p:cNvSpPr/>
          <p:nvPr/>
        </p:nvSpPr>
        <p:spPr>
          <a:xfrm>
            <a:off x="685800" y="3246120"/>
            <a:ext cx="384048" cy="384048"/>
          </a:xfrm>
          <a:prstGeom prst="ellipse">
            <a:avLst/>
          </a:prstGeom>
          <a:solidFill>
            <a:srgbClr val="024731"/>
          </a:solidFill>
          <a:ln/>
        </p:spPr>
        <p:txBody>
          <a:bodyPr/>
          <a:lstStyle/>
          <a:p>
            <a:endParaRPr lang="en-US"/>
          </a:p>
        </p:txBody>
      </p:sp>
      <p:sp>
        <p:nvSpPr>
          <p:cNvPr id="24" name="Text 22"/>
          <p:cNvSpPr/>
          <p:nvPr/>
        </p:nvSpPr>
        <p:spPr>
          <a:xfrm>
            <a:off x="685800" y="324612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3</a:t>
            </a:r>
            <a:endParaRPr lang="en-US" sz="1600" dirty="0"/>
          </a:p>
        </p:txBody>
      </p:sp>
      <p:sp>
        <p:nvSpPr>
          <p:cNvPr id="25" name="Text 23"/>
          <p:cNvSpPr/>
          <p:nvPr/>
        </p:nvSpPr>
        <p:spPr>
          <a:xfrm>
            <a:off x="2423160" y="327355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26" name="Text 24"/>
          <p:cNvSpPr/>
          <p:nvPr/>
        </p:nvSpPr>
        <p:spPr>
          <a:xfrm>
            <a:off x="1188720" y="327355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Model Population &amp; Validation</a:t>
            </a:r>
            <a:endParaRPr lang="en-US" sz="1200" dirty="0"/>
          </a:p>
        </p:txBody>
      </p:sp>
      <p:sp>
        <p:nvSpPr>
          <p:cNvPr id="27" name="Text 25"/>
          <p:cNvSpPr/>
          <p:nvPr/>
        </p:nvSpPr>
        <p:spPr>
          <a:xfrm>
            <a:off x="685800" y="374904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Populate the template with real financials. Ratios auto-compute. Self-audit with Big 4-style checklist.</a:t>
            </a:r>
            <a:endParaRPr lang="en-US" sz="1000" dirty="0"/>
          </a:p>
        </p:txBody>
      </p:sp>
      <p:sp>
        <p:nvSpPr>
          <p:cNvPr id="28" name="Shape 26"/>
          <p:cNvSpPr/>
          <p:nvPr/>
        </p:nvSpPr>
        <p:spPr>
          <a:xfrm>
            <a:off x="3383280" y="310896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29" name="Shape 27"/>
          <p:cNvSpPr/>
          <p:nvPr/>
        </p:nvSpPr>
        <p:spPr>
          <a:xfrm>
            <a:off x="3520440" y="3246120"/>
            <a:ext cx="384048" cy="384048"/>
          </a:xfrm>
          <a:prstGeom prst="ellipse">
            <a:avLst/>
          </a:prstGeom>
          <a:solidFill>
            <a:srgbClr val="C9A84C"/>
          </a:solidFill>
          <a:ln/>
        </p:spPr>
        <p:txBody>
          <a:bodyPr/>
          <a:lstStyle/>
          <a:p>
            <a:endParaRPr lang="en-US"/>
          </a:p>
        </p:txBody>
      </p:sp>
      <p:sp>
        <p:nvSpPr>
          <p:cNvPr id="30" name="Text 28"/>
          <p:cNvSpPr/>
          <p:nvPr/>
        </p:nvSpPr>
        <p:spPr>
          <a:xfrm>
            <a:off x="3520440" y="324612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4</a:t>
            </a:r>
            <a:endParaRPr lang="en-US" sz="1600" dirty="0"/>
          </a:p>
        </p:txBody>
      </p:sp>
      <p:sp>
        <p:nvSpPr>
          <p:cNvPr id="31" name="Text 29"/>
          <p:cNvSpPr/>
          <p:nvPr/>
        </p:nvSpPr>
        <p:spPr>
          <a:xfrm>
            <a:off x="5257800" y="327355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32" name="Text 30"/>
          <p:cNvSpPr/>
          <p:nvPr/>
        </p:nvSpPr>
        <p:spPr>
          <a:xfrm>
            <a:off x="4023360" y="327355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Technical Specification</a:t>
            </a:r>
            <a:endParaRPr lang="en-US" sz="1200" dirty="0"/>
          </a:p>
        </p:txBody>
      </p:sp>
      <p:sp>
        <p:nvSpPr>
          <p:cNvPr id="33" name="Text 31"/>
          <p:cNvSpPr/>
          <p:nvPr/>
        </p:nvSpPr>
        <p:spPr>
          <a:xfrm>
            <a:off x="3520440" y="374904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Use an LLM to draft a spec defining the model AND the analysis. Edit, refine, and log every prompt.</a:t>
            </a:r>
            <a:endParaRPr lang="en-US" sz="1000" dirty="0"/>
          </a:p>
        </p:txBody>
      </p:sp>
      <p:sp>
        <p:nvSpPr>
          <p:cNvPr id="34" name="Shape 32"/>
          <p:cNvSpPr/>
          <p:nvPr/>
        </p:nvSpPr>
        <p:spPr>
          <a:xfrm>
            <a:off x="6217920" y="310896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35" name="Shape 33"/>
          <p:cNvSpPr/>
          <p:nvPr/>
        </p:nvSpPr>
        <p:spPr>
          <a:xfrm>
            <a:off x="6355080" y="3246120"/>
            <a:ext cx="384048" cy="384048"/>
          </a:xfrm>
          <a:prstGeom prst="ellipse">
            <a:avLst/>
          </a:prstGeom>
          <a:solidFill>
            <a:srgbClr val="024731"/>
          </a:solidFill>
          <a:ln/>
        </p:spPr>
        <p:txBody>
          <a:bodyPr/>
          <a:lstStyle/>
          <a:p>
            <a:endParaRPr lang="en-US"/>
          </a:p>
        </p:txBody>
      </p:sp>
      <p:sp>
        <p:nvSpPr>
          <p:cNvPr id="36" name="Text 34"/>
          <p:cNvSpPr/>
          <p:nvPr/>
        </p:nvSpPr>
        <p:spPr>
          <a:xfrm>
            <a:off x="6355080" y="324612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5</a:t>
            </a:r>
            <a:endParaRPr lang="en-US" sz="1600" dirty="0"/>
          </a:p>
        </p:txBody>
      </p:sp>
      <p:sp>
        <p:nvSpPr>
          <p:cNvPr id="37" name="Text 35"/>
          <p:cNvSpPr/>
          <p:nvPr/>
        </p:nvSpPr>
        <p:spPr>
          <a:xfrm>
            <a:off x="8092440" y="327355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25%</a:t>
            </a:r>
            <a:endParaRPr lang="en-US" sz="1100" dirty="0"/>
          </a:p>
        </p:txBody>
      </p:sp>
      <p:sp>
        <p:nvSpPr>
          <p:cNvPr id="38" name="Text 36"/>
          <p:cNvSpPr/>
          <p:nvPr/>
        </p:nvSpPr>
        <p:spPr>
          <a:xfrm>
            <a:off x="6858000" y="327355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LLM Analysis &amp; Evaluation</a:t>
            </a:r>
            <a:endParaRPr lang="en-US" sz="1200" dirty="0"/>
          </a:p>
        </p:txBody>
      </p:sp>
      <p:sp>
        <p:nvSpPr>
          <p:cNvPr id="39" name="Text 37"/>
          <p:cNvSpPr/>
          <p:nvPr/>
        </p:nvSpPr>
        <p:spPr>
          <a:xfrm>
            <a:off x="6355080" y="374904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Execute the spec, write the full analysis, evaluate AI output, polish your repo. Own the final product.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24731"/>
        </a:solidFill>
        <a:effectLst/>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The Spec-Driven Design Arc</a:t>
            </a:r>
            <a:endParaRPr lang="en-US" sz="2800" dirty="0"/>
          </a:p>
        </p:txBody>
      </p:sp>
      <p:sp>
        <p:nvSpPr>
          <p:cNvPr id="3" name="Shape 1"/>
          <p:cNvSpPr/>
          <p:nvPr/>
        </p:nvSpPr>
        <p:spPr>
          <a:xfrm>
            <a:off x="548640" y="1051560"/>
            <a:ext cx="3840480" cy="365760"/>
          </a:xfrm>
          <a:prstGeom prst="rect">
            <a:avLst/>
          </a:prstGeom>
          <a:solidFill>
            <a:srgbClr val="4DA78F">
              <a:alpha val="70000"/>
            </a:srgbClr>
          </a:solidFill>
          <a:ln/>
        </p:spPr>
        <p:txBody>
          <a:bodyPr/>
          <a:lstStyle/>
          <a:p>
            <a:endParaRPr lang="en-US"/>
          </a:p>
        </p:txBody>
      </p:sp>
      <p:sp>
        <p:nvSpPr>
          <p:cNvPr id="4" name="Text 2"/>
          <p:cNvSpPr/>
          <p:nvPr/>
        </p:nvSpPr>
        <p:spPr>
          <a:xfrm>
            <a:off x="548640" y="1051560"/>
            <a:ext cx="3840480" cy="365760"/>
          </a:xfrm>
          <a:prstGeom prst="rect">
            <a:avLst/>
          </a:prstGeom>
          <a:noFill/>
          <a:ln/>
        </p:spPr>
        <p:txBody>
          <a:bodyPr wrap="square" rtlCol="0" anchor="ctr"/>
          <a:lstStyle/>
          <a:p>
            <a:pPr marL="0" indent="0" algn="ctr">
              <a:buNone/>
            </a:pPr>
            <a:r>
              <a:rPr lang="en-US" sz="1100" b="1" kern="0" spc="150" dirty="0">
                <a:solidFill>
                  <a:srgbClr val="FFFFFF"/>
                </a:solidFill>
                <a:latin typeface="Open Sans" pitchFamily="34" charset="0"/>
                <a:ea typeface="Open Sans" pitchFamily="34" charset="-122"/>
                <a:cs typeface="Open Sans" pitchFamily="34" charset="-120"/>
              </a:rPr>
              <a:t>TACIT KNOWLEDGE ACQUISITION</a:t>
            </a:r>
            <a:endParaRPr lang="en-US" sz="1100" dirty="0"/>
          </a:p>
        </p:txBody>
      </p:sp>
      <p:sp>
        <p:nvSpPr>
          <p:cNvPr id="5" name="Shape 3"/>
          <p:cNvSpPr/>
          <p:nvPr/>
        </p:nvSpPr>
        <p:spPr>
          <a:xfrm>
            <a:off x="4754880" y="1051560"/>
            <a:ext cx="3840480" cy="365760"/>
          </a:xfrm>
          <a:prstGeom prst="rect">
            <a:avLst/>
          </a:prstGeom>
          <a:solidFill>
            <a:srgbClr val="C9A84C">
              <a:alpha val="70000"/>
            </a:srgbClr>
          </a:solidFill>
          <a:ln/>
        </p:spPr>
        <p:txBody>
          <a:bodyPr/>
          <a:lstStyle/>
          <a:p>
            <a:endParaRPr lang="en-US"/>
          </a:p>
        </p:txBody>
      </p:sp>
      <p:sp>
        <p:nvSpPr>
          <p:cNvPr id="6" name="Text 4"/>
          <p:cNvSpPr/>
          <p:nvPr/>
        </p:nvSpPr>
        <p:spPr>
          <a:xfrm>
            <a:off x="4754880" y="1051560"/>
            <a:ext cx="3840480" cy="365760"/>
          </a:xfrm>
          <a:prstGeom prst="rect">
            <a:avLst/>
          </a:prstGeom>
          <a:noFill/>
          <a:ln/>
        </p:spPr>
        <p:txBody>
          <a:bodyPr wrap="square" rtlCol="0" anchor="ctr"/>
          <a:lstStyle/>
          <a:p>
            <a:pPr marL="0" indent="0" algn="ctr">
              <a:buNone/>
            </a:pPr>
            <a:r>
              <a:rPr lang="en-US" sz="1100" b="1" kern="0" spc="150" dirty="0">
                <a:solidFill>
                  <a:srgbClr val="FFFFFF"/>
                </a:solidFill>
                <a:latin typeface="Open Sans" pitchFamily="34" charset="0"/>
                <a:ea typeface="Open Sans" pitchFamily="34" charset="-122"/>
                <a:cs typeface="Open Sans" pitchFamily="34" charset="-120"/>
              </a:rPr>
              <a:t>KNOWLEDGE EXTERNALIZATION</a:t>
            </a:r>
            <a:endParaRPr lang="en-US" sz="1100" dirty="0"/>
          </a:p>
        </p:txBody>
      </p:sp>
      <p:sp>
        <p:nvSpPr>
          <p:cNvPr id="7" name="Shape 5"/>
          <p:cNvSpPr/>
          <p:nvPr/>
        </p:nvSpPr>
        <p:spPr>
          <a:xfrm>
            <a:off x="731520" y="1737360"/>
            <a:ext cx="502920" cy="502920"/>
          </a:xfrm>
          <a:prstGeom prst="ellipse">
            <a:avLst/>
          </a:prstGeom>
          <a:solidFill>
            <a:srgbClr val="4DA78F"/>
          </a:solidFill>
          <a:ln/>
        </p:spPr>
        <p:txBody>
          <a:bodyPr/>
          <a:lstStyle/>
          <a:p>
            <a:endParaRPr lang="en-US"/>
          </a:p>
        </p:txBody>
      </p:sp>
      <p:sp>
        <p:nvSpPr>
          <p:cNvPr id="8" name="Text 6"/>
          <p:cNvSpPr/>
          <p:nvPr/>
        </p:nvSpPr>
        <p:spPr>
          <a:xfrm>
            <a:off x="7315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0</a:t>
            </a:r>
            <a:endParaRPr lang="en-US" sz="1800" dirty="0"/>
          </a:p>
        </p:txBody>
      </p:sp>
      <p:sp>
        <p:nvSpPr>
          <p:cNvPr id="9" name="Shape 7"/>
          <p:cNvSpPr/>
          <p:nvPr/>
        </p:nvSpPr>
        <p:spPr>
          <a:xfrm>
            <a:off x="1280160" y="1988820"/>
            <a:ext cx="777240" cy="0"/>
          </a:xfrm>
          <a:prstGeom prst="line">
            <a:avLst/>
          </a:prstGeom>
          <a:noFill/>
          <a:ln w="25400">
            <a:solidFill>
              <a:srgbClr val="4DA78F"/>
            </a:solidFill>
            <a:prstDash val="dash"/>
          </a:ln>
        </p:spPr>
        <p:txBody>
          <a:bodyPr/>
          <a:lstStyle/>
          <a:p>
            <a:endParaRPr lang="en-US"/>
          </a:p>
        </p:txBody>
      </p:sp>
      <p:sp>
        <p:nvSpPr>
          <p:cNvPr id="10" name="Text 8"/>
          <p:cNvSpPr/>
          <p:nvPr/>
        </p:nvSpPr>
        <p:spPr>
          <a:xfrm>
            <a:off x="4572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Set up the</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workspace</a:t>
            </a:r>
            <a:endParaRPr lang="en-US" sz="1000" dirty="0"/>
          </a:p>
        </p:txBody>
      </p:sp>
      <p:sp>
        <p:nvSpPr>
          <p:cNvPr id="11" name="Text 9"/>
          <p:cNvSpPr/>
          <p:nvPr/>
        </p:nvSpPr>
        <p:spPr>
          <a:xfrm>
            <a:off x="4572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“We organized it”</a:t>
            </a:r>
            <a:endParaRPr lang="en-US" sz="900" dirty="0"/>
          </a:p>
        </p:txBody>
      </p:sp>
      <p:sp>
        <p:nvSpPr>
          <p:cNvPr id="12" name="Shape 10"/>
          <p:cNvSpPr/>
          <p:nvPr/>
        </p:nvSpPr>
        <p:spPr>
          <a:xfrm>
            <a:off x="2103120" y="1737360"/>
            <a:ext cx="502920" cy="502920"/>
          </a:xfrm>
          <a:prstGeom prst="ellipse">
            <a:avLst/>
          </a:prstGeom>
          <a:solidFill>
            <a:srgbClr val="4DA78F"/>
          </a:solidFill>
          <a:ln/>
        </p:spPr>
        <p:txBody>
          <a:bodyPr/>
          <a:lstStyle/>
          <a:p>
            <a:endParaRPr lang="en-US"/>
          </a:p>
        </p:txBody>
      </p:sp>
      <p:sp>
        <p:nvSpPr>
          <p:cNvPr id="13" name="Text 11"/>
          <p:cNvSpPr/>
          <p:nvPr/>
        </p:nvSpPr>
        <p:spPr>
          <a:xfrm>
            <a:off x="21031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1</a:t>
            </a:r>
            <a:endParaRPr lang="en-US" sz="1800" dirty="0"/>
          </a:p>
        </p:txBody>
      </p:sp>
      <p:sp>
        <p:nvSpPr>
          <p:cNvPr id="14" name="Shape 12"/>
          <p:cNvSpPr/>
          <p:nvPr/>
        </p:nvSpPr>
        <p:spPr>
          <a:xfrm>
            <a:off x="2651760" y="1988820"/>
            <a:ext cx="777240" cy="0"/>
          </a:xfrm>
          <a:prstGeom prst="line">
            <a:avLst/>
          </a:prstGeom>
          <a:noFill/>
          <a:ln w="25400">
            <a:solidFill>
              <a:srgbClr val="4DA78F"/>
            </a:solidFill>
            <a:prstDash val="dash"/>
          </a:ln>
        </p:spPr>
        <p:txBody>
          <a:bodyPr/>
          <a:lstStyle/>
          <a:p>
            <a:endParaRPr lang="en-US"/>
          </a:p>
        </p:txBody>
      </p:sp>
      <p:sp>
        <p:nvSpPr>
          <p:cNvPr id="15" name="Text 13"/>
          <p:cNvSpPr/>
          <p:nvPr/>
        </p:nvSpPr>
        <p:spPr>
          <a:xfrm>
            <a:off x="18288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Study the</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container</a:t>
            </a:r>
            <a:endParaRPr lang="en-US" sz="1000" dirty="0"/>
          </a:p>
        </p:txBody>
      </p:sp>
      <p:sp>
        <p:nvSpPr>
          <p:cNvPr id="16" name="Text 14"/>
          <p:cNvSpPr/>
          <p:nvPr/>
        </p:nvSpPr>
        <p:spPr>
          <a:xfrm>
            <a:off x="18288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see how it’s built”</a:t>
            </a:r>
            <a:endParaRPr lang="en-US" sz="900" dirty="0"/>
          </a:p>
        </p:txBody>
      </p:sp>
      <p:sp>
        <p:nvSpPr>
          <p:cNvPr id="17" name="Shape 15"/>
          <p:cNvSpPr/>
          <p:nvPr/>
        </p:nvSpPr>
        <p:spPr>
          <a:xfrm>
            <a:off x="3474720" y="1737360"/>
            <a:ext cx="502920" cy="502920"/>
          </a:xfrm>
          <a:prstGeom prst="ellipse">
            <a:avLst/>
          </a:prstGeom>
          <a:solidFill>
            <a:srgbClr val="4DA78F"/>
          </a:solidFill>
          <a:ln/>
        </p:spPr>
        <p:txBody>
          <a:bodyPr/>
          <a:lstStyle/>
          <a:p>
            <a:endParaRPr lang="en-US"/>
          </a:p>
        </p:txBody>
      </p:sp>
      <p:sp>
        <p:nvSpPr>
          <p:cNvPr id="18" name="Text 16"/>
          <p:cNvSpPr/>
          <p:nvPr/>
        </p:nvSpPr>
        <p:spPr>
          <a:xfrm>
            <a:off x="34747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2</a:t>
            </a:r>
            <a:endParaRPr lang="en-US" sz="1800" dirty="0"/>
          </a:p>
        </p:txBody>
      </p:sp>
      <p:sp>
        <p:nvSpPr>
          <p:cNvPr id="19" name="Shape 17"/>
          <p:cNvSpPr/>
          <p:nvPr/>
        </p:nvSpPr>
        <p:spPr>
          <a:xfrm>
            <a:off x="4023360" y="1988820"/>
            <a:ext cx="777240" cy="0"/>
          </a:xfrm>
          <a:prstGeom prst="line">
            <a:avLst/>
          </a:prstGeom>
          <a:noFill/>
          <a:ln w="25400">
            <a:solidFill>
              <a:srgbClr val="4DA78F"/>
            </a:solidFill>
            <a:prstDash val="dash"/>
          </a:ln>
        </p:spPr>
        <p:txBody>
          <a:bodyPr/>
          <a:lstStyle/>
          <a:p>
            <a:endParaRPr lang="en-US"/>
          </a:p>
        </p:txBody>
      </p:sp>
      <p:sp>
        <p:nvSpPr>
          <p:cNvPr id="20" name="Text 18"/>
          <p:cNvSpPr/>
          <p:nvPr/>
        </p:nvSpPr>
        <p:spPr>
          <a:xfrm>
            <a:off x="32004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Frame the</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analysis</a:t>
            </a:r>
            <a:endParaRPr lang="en-US" sz="1000" dirty="0"/>
          </a:p>
        </p:txBody>
      </p:sp>
      <p:sp>
        <p:nvSpPr>
          <p:cNvPr id="21" name="Text 19"/>
          <p:cNvSpPr/>
          <p:nvPr/>
        </p:nvSpPr>
        <p:spPr>
          <a:xfrm>
            <a:off x="32004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chose why”</a:t>
            </a:r>
            <a:endParaRPr lang="en-US" sz="900" dirty="0"/>
          </a:p>
        </p:txBody>
      </p:sp>
      <p:sp>
        <p:nvSpPr>
          <p:cNvPr id="22" name="Shape 20"/>
          <p:cNvSpPr/>
          <p:nvPr/>
        </p:nvSpPr>
        <p:spPr>
          <a:xfrm>
            <a:off x="4846320" y="1737360"/>
            <a:ext cx="502920" cy="502920"/>
          </a:xfrm>
          <a:prstGeom prst="ellipse">
            <a:avLst/>
          </a:prstGeom>
          <a:solidFill>
            <a:srgbClr val="4DA78F"/>
          </a:solidFill>
          <a:ln/>
        </p:spPr>
        <p:txBody>
          <a:bodyPr/>
          <a:lstStyle/>
          <a:p>
            <a:endParaRPr lang="en-US"/>
          </a:p>
        </p:txBody>
      </p:sp>
      <p:sp>
        <p:nvSpPr>
          <p:cNvPr id="23" name="Text 21"/>
          <p:cNvSpPr/>
          <p:nvPr/>
        </p:nvSpPr>
        <p:spPr>
          <a:xfrm>
            <a:off x="48463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3</a:t>
            </a:r>
            <a:endParaRPr lang="en-US" sz="1800" dirty="0"/>
          </a:p>
        </p:txBody>
      </p:sp>
      <p:sp>
        <p:nvSpPr>
          <p:cNvPr id="24" name="Shape 22"/>
          <p:cNvSpPr/>
          <p:nvPr/>
        </p:nvSpPr>
        <p:spPr>
          <a:xfrm>
            <a:off x="5394960" y="1988820"/>
            <a:ext cx="777240" cy="0"/>
          </a:xfrm>
          <a:prstGeom prst="line">
            <a:avLst/>
          </a:prstGeom>
          <a:noFill/>
          <a:ln w="25400">
            <a:solidFill>
              <a:srgbClr val="4DA78F"/>
            </a:solidFill>
            <a:prstDash val="dash"/>
          </a:ln>
        </p:spPr>
        <p:txBody>
          <a:bodyPr/>
          <a:lstStyle/>
          <a:p>
            <a:endParaRPr lang="en-US"/>
          </a:p>
        </p:txBody>
      </p:sp>
      <p:sp>
        <p:nvSpPr>
          <p:cNvPr id="25" name="Text 23"/>
          <p:cNvSpPr/>
          <p:nvPr/>
        </p:nvSpPr>
        <p:spPr>
          <a:xfrm>
            <a:off x="45720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Populate &amp;</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validate</a:t>
            </a:r>
            <a:endParaRPr lang="en-US" sz="1000" dirty="0"/>
          </a:p>
        </p:txBody>
      </p:sp>
      <p:sp>
        <p:nvSpPr>
          <p:cNvPr id="26" name="Text 24"/>
          <p:cNvSpPr/>
          <p:nvPr/>
        </p:nvSpPr>
        <p:spPr>
          <a:xfrm>
            <a:off x="45720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verified it”</a:t>
            </a:r>
            <a:endParaRPr lang="en-US" sz="900" dirty="0"/>
          </a:p>
        </p:txBody>
      </p:sp>
      <p:sp>
        <p:nvSpPr>
          <p:cNvPr id="27" name="Shape 25"/>
          <p:cNvSpPr/>
          <p:nvPr/>
        </p:nvSpPr>
        <p:spPr>
          <a:xfrm>
            <a:off x="6217920" y="1737360"/>
            <a:ext cx="502920" cy="502920"/>
          </a:xfrm>
          <a:prstGeom prst="ellipse">
            <a:avLst/>
          </a:prstGeom>
          <a:solidFill>
            <a:srgbClr val="C9A84C"/>
          </a:solidFill>
          <a:ln/>
        </p:spPr>
        <p:txBody>
          <a:bodyPr/>
          <a:lstStyle/>
          <a:p>
            <a:endParaRPr lang="en-US"/>
          </a:p>
        </p:txBody>
      </p:sp>
      <p:sp>
        <p:nvSpPr>
          <p:cNvPr id="28" name="Text 26"/>
          <p:cNvSpPr/>
          <p:nvPr/>
        </p:nvSpPr>
        <p:spPr>
          <a:xfrm>
            <a:off x="62179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4</a:t>
            </a:r>
            <a:endParaRPr lang="en-US" sz="1800" dirty="0"/>
          </a:p>
        </p:txBody>
      </p:sp>
      <p:sp>
        <p:nvSpPr>
          <p:cNvPr id="29" name="Shape 27"/>
          <p:cNvSpPr/>
          <p:nvPr/>
        </p:nvSpPr>
        <p:spPr>
          <a:xfrm>
            <a:off x="6766560" y="1988820"/>
            <a:ext cx="777240" cy="0"/>
          </a:xfrm>
          <a:prstGeom prst="line">
            <a:avLst/>
          </a:prstGeom>
          <a:noFill/>
          <a:ln w="25400">
            <a:solidFill>
              <a:srgbClr val="4DA78F"/>
            </a:solidFill>
            <a:prstDash val="dash"/>
          </a:ln>
        </p:spPr>
        <p:txBody>
          <a:bodyPr/>
          <a:lstStyle/>
          <a:p>
            <a:endParaRPr lang="en-US"/>
          </a:p>
        </p:txBody>
      </p:sp>
      <p:sp>
        <p:nvSpPr>
          <p:cNvPr id="30" name="Text 28"/>
          <p:cNvSpPr/>
          <p:nvPr/>
        </p:nvSpPr>
        <p:spPr>
          <a:xfrm>
            <a:off x="59436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Write the</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specification</a:t>
            </a:r>
            <a:endParaRPr lang="en-US" sz="1000" dirty="0"/>
          </a:p>
        </p:txBody>
      </p:sp>
      <p:sp>
        <p:nvSpPr>
          <p:cNvPr id="31" name="Text 29"/>
          <p:cNvSpPr/>
          <p:nvPr/>
        </p:nvSpPr>
        <p:spPr>
          <a:xfrm>
            <a:off x="59436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can specify it”</a:t>
            </a:r>
            <a:endParaRPr lang="en-US" sz="900" dirty="0"/>
          </a:p>
        </p:txBody>
      </p:sp>
      <p:sp>
        <p:nvSpPr>
          <p:cNvPr id="32" name="Shape 30"/>
          <p:cNvSpPr/>
          <p:nvPr/>
        </p:nvSpPr>
        <p:spPr>
          <a:xfrm>
            <a:off x="7589520" y="1737360"/>
            <a:ext cx="502920" cy="502920"/>
          </a:xfrm>
          <a:prstGeom prst="ellipse">
            <a:avLst/>
          </a:prstGeom>
          <a:solidFill>
            <a:srgbClr val="4DA78F"/>
          </a:solidFill>
          <a:ln/>
        </p:spPr>
        <p:txBody>
          <a:bodyPr/>
          <a:lstStyle/>
          <a:p>
            <a:endParaRPr lang="en-US"/>
          </a:p>
        </p:txBody>
      </p:sp>
      <p:sp>
        <p:nvSpPr>
          <p:cNvPr id="33" name="Text 31"/>
          <p:cNvSpPr/>
          <p:nvPr/>
        </p:nvSpPr>
        <p:spPr>
          <a:xfrm>
            <a:off x="75895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5</a:t>
            </a:r>
            <a:endParaRPr lang="en-US" sz="1800" dirty="0"/>
          </a:p>
        </p:txBody>
      </p:sp>
      <p:sp>
        <p:nvSpPr>
          <p:cNvPr id="34" name="Text 32"/>
          <p:cNvSpPr/>
          <p:nvPr/>
        </p:nvSpPr>
        <p:spPr>
          <a:xfrm>
            <a:off x="73152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Execute &amp;</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evaluate</a:t>
            </a:r>
            <a:endParaRPr lang="en-US" sz="1000" dirty="0"/>
          </a:p>
        </p:txBody>
      </p:sp>
      <p:sp>
        <p:nvSpPr>
          <p:cNvPr id="35" name="Text 33"/>
          <p:cNvSpPr/>
          <p:nvPr/>
        </p:nvSpPr>
        <p:spPr>
          <a:xfrm>
            <a:off x="73152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can judge it”</a:t>
            </a:r>
            <a:endParaRPr lang="en-US" sz="900" dirty="0"/>
          </a:p>
        </p:txBody>
      </p:sp>
      <p:sp>
        <p:nvSpPr>
          <p:cNvPr id="36" name="Shape 34"/>
          <p:cNvSpPr/>
          <p:nvPr/>
        </p:nvSpPr>
        <p:spPr>
          <a:xfrm>
            <a:off x="548640" y="3520440"/>
            <a:ext cx="8046720" cy="1097280"/>
          </a:xfrm>
          <a:prstGeom prst="rect">
            <a:avLst/>
          </a:prstGeom>
          <a:solidFill>
            <a:srgbClr val="01362A"/>
          </a:solidFill>
          <a:ln/>
        </p:spPr>
        <p:txBody>
          <a:bodyPr/>
          <a:lstStyle/>
          <a:p>
            <a:endParaRPr lang="en-US"/>
          </a:p>
        </p:txBody>
      </p:sp>
      <p:sp>
        <p:nvSpPr>
          <p:cNvPr id="37" name="Shape 35"/>
          <p:cNvSpPr/>
          <p:nvPr/>
        </p:nvSpPr>
        <p:spPr>
          <a:xfrm>
            <a:off x="548640" y="3520440"/>
            <a:ext cx="54864" cy="1097280"/>
          </a:xfrm>
          <a:prstGeom prst="rect">
            <a:avLst/>
          </a:prstGeom>
          <a:solidFill>
            <a:srgbClr val="C9A84C"/>
          </a:solidFill>
          <a:ln/>
        </p:spPr>
        <p:txBody>
          <a:bodyPr/>
          <a:lstStyle/>
          <a:p>
            <a:endParaRPr lang="en-US"/>
          </a:p>
        </p:txBody>
      </p:sp>
      <p:sp>
        <p:nvSpPr>
          <p:cNvPr id="38" name="Text 36"/>
          <p:cNvSpPr/>
          <p:nvPr/>
        </p:nvSpPr>
        <p:spPr>
          <a:xfrm>
            <a:off x="822960" y="3611880"/>
            <a:ext cx="7589520" cy="320040"/>
          </a:xfrm>
          <a:prstGeom prst="rect">
            <a:avLst/>
          </a:prstGeom>
          <a:noFill/>
          <a:ln/>
        </p:spPr>
        <p:txBody>
          <a:bodyPr wrap="square" lIns="0" tIns="0" rIns="0" bIns="0" rtlCol="0" anchor="ctr"/>
          <a:lstStyle/>
          <a:p>
            <a:pPr marL="0" indent="0">
              <a:buNone/>
            </a:pPr>
            <a:r>
              <a:rPr lang="en-US" sz="1600" b="1" dirty="0">
                <a:solidFill>
                  <a:srgbClr val="C9A84C"/>
                </a:solidFill>
                <a:latin typeface="Open Sans" pitchFamily="34" charset="0"/>
                <a:ea typeface="Open Sans" pitchFamily="34" charset="-122"/>
                <a:cs typeface="Open Sans" pitchFamily="34" charset="-120"/>
              </a:rPr>
              <a:t>The Spec Is the Bridge</a:t>
            </a:r>
            <a:endParaRPr lang="en-US" sz="1600" dirty="0"/>
          </a:p>
        </p:txBody>
      </p:sp>
      <p:sp>
        <p:nvSpPr>
          <p:cNvPr id="39" name="Text 37"/>
          <p:cNvSpPr/>
          <p:nvPr/>
        </p:nvSpPr>
        <p:spPr>
          <a:xfrm>
            <a:off x="822960" y="3931920"/>
            <a:ext cx="7589520" cy="59436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Everything before Stage 4 builds knowledge. Everything after it tests whether that knowledge was captured precisely enough to be actionable. The spec must define the complete model (structure, data, formulas, validation) AND the analysis (interpretation, benchmarks, recommendations).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8229600" cy="502920"/>
          </a:xfrm>
          <a:prstGeom prst="rect">
            <a:avLst/>
          </a:prstGeom>
          <a:noFill/>
          <a:ln/>
        </p:spPr>
        <p:txBody>
          <a:bodyPr wrap="square" lIns="0" tIns="0" rIns="0" bIns="0" rtlCol="0" anchor="ctr"/>
          <a:lstStyle/>
          <a:p>
            <a:pPr marL="0" indent="0">
              <a:buNone/>
            </a:pPr>
            <a:r>
              <a:rPr lang="en-US" sz="2600" b="1" dirty="0">
                <a:solidFill>
                  <a:srgbClr val="FFFFFF"/>
                </a:solidFill>
                <a:latin typeface="Open Sans" pitchFamily="34" charset="0"/>
                <a:ea typeface="Open Sans" pitchFamily="34" charset="-122"/>
                <a:cs typeface="Open Sans" pitchFamily="34" charset="-120"/>
              </a:rPr>
              <a:t>Career Relevance — Where This Gets Used</a:t>
            </a:r>
            <a:endParaRPr lang="en-US" sz="2600" dirty="0"/>
          </a:p>
        </p:txBody>
      </p:sp>
      <p:sp>
        <p:nvSpPr>
          <p:cNvPr id="3" name="Text 1"/>
          <p:cNvSpPr/>
          <p:nvPr/>
        </p:nvSpPr>
        <p:spPr>
          <a:xfrm>
            <a:off x="548640" y="777240"/>
            <a:ext cx="8046720" cy="320040"/>
          </a:xfrm>
          <a:prstGeom prst="rect">
            <a:avLst/>
          </a:prstGeom>
          <a:noFill/>
          <a:ln/>
        </p:spPr>
        <p:txBody>
          <a:bodyPr wrap="square" rtlCol="0" anchor="ctr"/>
          <a:lstStyle/>
          <a:p>
            <a:pPr marL="0" indent="0">
              <a:buNone/>
            </a:pPr>
            <a:r>
              <a:rPr lang="en-US" sz="1200" dirty="0">
                <a:solidFill>
                  <a:srgbClr val="B8DDD1"/>
                </a:solidFill>
                <a:latin typeface="Open Sans" pitchFamily="34" charset="0"/>
                <a:ea typeface="Open Sans" pitchFamily="34" charset="-122"/>
                <a:cs typeface="Open Sans" pitchFamily="34" charset="-120"/>
              </a:rPr>
              <a:t>The skills built in this project appear directly in job descriptions for these roles:</a:t>
            </a:r>
            <a:endParaRPr lang="en-US" sz="1200" dirty="0"/>
          </a:p>
        </p:txBody>
      </p:sp>
      <p:sp>
        <p:nvSpPr>
          <p:cNvPr id="4" name="Shape 2"/>
          <p:cNvSpPr/>
          <p:nvPr/>
        </p:nvSpPr>
        <p:spPr>
          <a:xfrm>
            <a:off x="548640" y="1325880"/>
            <a:ext cx="2606040" cy="1463040"/>
          </a:xfrm>
          <a:prstGeom prst="rect">
            <a:avLst/>
          </a:prstGeom>
          <a:solidFill>
            <a:srgbClr val="01362A"/>
          </a:solidFill>
          <a:ln/>
        </p:spPr>
        <p:txBody>
          <a:bodyPr/>
          <a:lstStyle/>
          <a:p>
            <a:endParaRPr lang="en-US"/>
          </a:p>
        </p:txBody>
      </p:sp>
      <p:sp>
        <p:nvSpPr>
          <p:cNvPr id="5" name="Shape 3"/>
          <p:cNvSpPr/>
          <p:nvPr/>
        </p:nvSpPr>
        <p:spPr>
          <a:xfrm>
            <a:off x="548640" y="1325880"/>
            <a:ext cx="2606040" cy="54864"/>
          </a:xfrm>
          <a:prstGeom prst="rect">
            <a:avLst/>
          </a:prstGeom>
          <a:solidFill>
            <a:srgbClr val="4DA78F"/>
          </a:solidFill>
          <a:ln/>
        </p:spPr>
        <p:txBody>
          <a:bodyPr/>
          <a:lstStyle/>
          <a:p>
            <a:endParaRPr lang="en-US"/>
          </a:p>
        </p:txBody>
      </p:sp>
      <p:sp>
        <p:nvSpPr>
          <p:cNvPr id="6" name="Text 4"/>
          <p:cNvSpPr/>
          <p:nvPr/>
        </p:nvSpPr>
        <p:spPr>
          <a:xfrm>
            <a:off x="731520" y="146304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FP&amp;A</a:t>
            </a:r>
            <a:endParaRPr lang="en-US" sz="1400" dirty="0"/>
          </a:p>
        </p:txBody>
      </p:sp>
      <p:sp>
        <p:nvSpPr>
          <p:cNvPr id="7" name="Text 5"/>
          <p:cNvSpPr/>
          <p:nvPr/>
        </p:nvSpPr>
        <p:spPr>
          <a:xfrm>
            <a:off x="731520" y="182880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Ratio trend analysis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Performance benchmarking</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Budget variance analysis</a:t>
            </a:r>
            <a:endParaRPr lang="en-US" sz="1000" dirty="0"/>
          </a:p>
        </p:txBody>
      </p:sp>
      <p:sp>
        <p:nvSpPr>
          <p:cNvPr id="8" name="Shape 6"/>
          <p:cNvSpPr/>
          <p:nvPr/>
        </p:nvSpPr>
        <p:spPr>
          <a:xfrm>
            <a:off x="3383280" y="1325880"/>
            <a:ext cx="2606040" cy="1463040"/>
          </a:xfrm>
          <a:prstGeom prst="rect">
            <a:avLst/>
          </a:prstGeom>
          <a:solidFill>
            <a:srgbClr val="01362A"/>
          </a:solidFill>
          <a:ln/>
        </p:spPr>
        <p:txBody>
          <a:bodyPr/>
          <a:lstStyle/>
          <a:p>
            <a:endParaRPr lang="en-US"/>
          </a:p>
        </p:txBody>
      </p:sp>
      <p:sp>
        <p:nvSpPr>
          <p:cNvPr id="9" name="Shape 7"/>
          <p:cNvSpPr/>
          <p:nvPr/>
        </p:nvSpPr>
        <p:spPr>
          <a:xfrm>
            <a:off x="3383280" y="1325880"/>
            <a:ext cx="2606040" cy="54864"/>
          </a:xfrm>
          <a:prstGeom prst="rect">
            <a:avLst/>
          </a:prstGeom>
          <a:solidFill>
            <a:srgbClr val="4DA78F"/>
          </a:solidFill>
          <a:ln/>
        </p:spPr>
        <p:txBody>
          <a:bodyPr/>
          <a:lstStyle/>
          <a:p>
            <a:endParaRPr lang="en-US"/>
          </a:p>
        </p:txBody>
      </p:sp>
      <p:sp>
        <p:nvSpPr>
          <p:cNvPr id="10" name="Text 8"/>
          <p:cNvSpPr/>
          <p:nvPr/>
        </p:nvSpPr>
        <p:spPr>
          <a:xfrm>
            <a:off x="3566160" y="146304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Corporate Finance</a:t>
            </a:r>
            <a:endParaRPr lang="en-US" sz="1400" dirty="0"/>
          </a:p>
        </p:txBody>
      </p:sp>
      <p:sp>
        <p:nvSpPr>
          <p:cNvPr id="11" name="Text 9"/>
          <p:cNvSpPr/>
          <p:nvPr/>
        </p:nvSpPr>
        <p:spPr>
          <a:xfrm>
            <a:off x="3566160" y="182880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Capital structure optimization</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Liquidity management</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Investor relations</a:t>
            </a:r>
            <a:endParaRPr lang="en-US" sz="1000" dirty="0"/>
          </a:p>
        </p:txBody>
      </p:sp>
      <p:sp>
        <p:nvSpPr>
          <p:cNvPr id="12" name="Shape 10"/>
          <p:cNvSpPr/>
          <p:nvPr/>
        </p:nvSpPr>
        <p:spPr>
          <a:xfrm>
            <a:off x="6217920" y="1325880"/>
            <a:ext cx="2606040" cy="1463040"/>
          </a:xfrm>
          <a:prstGeom prst="rect">
            <a:avLst/>
          </a:prstGeom>
          <a:solidFill>
            <a:srgbClr val="01362A"/>
          </a:solidFill>
          <a:ln/>
        </p:spPr>
        <p:txBody>
          <a:bodyPr/>
          <a:lstStyle/>
          <a:p>
            <a:endParaRPr lang="en-US"/>
          </a:p>
        </p:txBody>
      </p:sp>
      <p:sp>
        <p:nvSpPr>
          <p:cNvPr id="13" name="Shape 11"/>
          <p:cNvSpPr/>
          <p:nvPr/>
        </p:nvSpPr>
        <p:spPr>
          <a:xfrm>
            <a:off x="6217920" y="1325880"/>
            <a:ext cx="2606040" cy="54864"/>
          </a:xfrm>
          <a:prstGeom prst="rect">
            <a:avLst/>
          </a:prstGeom>
          <a:solidFill>
            <a:srgbClr val="4DA78F"/>
          </a:solidFill>
          <a:ln/>
        </p:spPr>
        <p:txBody>
          <a:bodyPr/>
          <a:lstStyle/>
          <a:p>
            <a:endParaRPr lang="en-US"/>
          </a:p>
        </p:txBody>
      </p:sp>
      <p:sp>
        <p:nvSpPr>
          <p:cNvPr id="14" name="Text 12"/>
          <p:cNvSpPr/>
          <p:nvPr/>
        </p:nvSpPr>
        <p:spPr>
          <a:xfrm>
            <a:off x="6400800" y="146304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Investment Banking</a:t>
            </a:r>
            <a:endParaRPr lang="en-US" sz="1400" dirty="0"/>
          </a:p>
        </p:txBody>
      </p:sp>
      <p:sp>
        <p:nvSpPr>
          <p:cNvPr id="15" name="Text 13"/>
          <p:cNvSpPr/>
          <p:nvPr/>
        </p:nvSpPr>
        <p:spPr>
          <a:xfrm>
            <a:off x="6400800" y="182880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Comparable company analysis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Credit analysis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Valuation multiples</a:t>
            </a:r>
            <a:endParaRPr lang="en-US" sz="1000" dirty="0"/>
          </a:p>
        </p:txBody>
      </p:sp>
      <p:sp>
        <p:nvSpPr>
          <p:cNvPr id="16" name="Shape 14"/>
          <p:cNvSpPr/>
          <p:nvPr/>
        </p:nvSpPr>
        <p:spPr>
          <a:xfrm>
            <a:off x="548640" y="3017520"/>
            <a:ext cx="2606040" cy="1463040"/>
          </a:xfrm>
          <a:prstGeom prst="rect">
            <a:avLst/>
          </a:prstGeom>
          <a:solidFill>
            <a:srgbClr val="01362A"/>
          </a:solidFill>
          <a:ln/>
        </p:spPr>
        <p:txBody>
          <a:bodyPr/>
          <a:lstStyle/>
          <a:p>
            <a:endParaRPr lang="en-US"/>
          </a:p>
        </p:txBody>
      </p:sp>
      <p:sp>
        <p:nvSpPr>
          <p:cNvPr id="17" name="Shape 15"/>
          <p:cNvSpPr/>
          <p:nvPr/>
        </p:nvSpPr>
        <p:spPr>
          <a:xfrm>
            <a:off x="548640" y="3017520"/>
            <a:ext cx="2606040" cy="54864"/>
          </a:xfrm>
          <a:prstGeom prst="rect">
            <a:avLst/>
          </a:prstGeom>
          <a:solidFill>
            <a:srgbClr val="4DA78F"/>
          </a:solidFill>
          <a:ln/>
        </p:spPr>
        <p:txBody>
          <a:bodyPr/>
          <a:lstStyle/>
          <a:p>
            <a:endParaRPr lang="en-US"/>
          </a:p>
        </p:txBody>
      </p:sp>
      <p:sp>
        <p:nvSpPr>
          <p:cNvPr id="18" name="Text 16"/>
          <p:cNvSpPr/>
          <p:nvPr/>
        </p:nvSpPr>
        <p:spPr>
          <a:xfrm>
            <a:off x="731520" y="315468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Accounting &amp; Audit</a:t>
            </a:r>
            <a:endParaRPr lang="en-US" sz="1400" dirty="0"/>
          </a:p>
        </p:txBody>
      </p:sp>
      <p:sp>
        <p:nvSpPr>
          <p:cNvPr id="19" name="Text 17"/>
          <p:cNvSpPr/>
          <p:nvPr/>
        </p:nvSpPr>
        <p:spPr>
          <a:xfrm>
            <a:off x="731520" y="352044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Analytical procedures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Internal controls evaluation</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Financial statement analysis</a:t>
            </a:r>
            <a:endParaRPr lang="en-US" sz="1000" dirty="0"/>
          </a:p>
        </p:txBody>
      </p:sp>
      <p:sp>
        <p:nvSpPr>
          <p:cNvPr id="20" name="Shape 18"/>
          <p:cNvSpPr/>
          <p:nvPr/>
        </p:nvSpPr>
        <p:spPr>
          <a:xfrm>
            <a:off x="3383280" y="3017520"/>
            <a:ext cx="2606040" cy="1463040"/>
          </a:xfrm>
          <a:prstGeom prst="rect">
            <a:avLst/>
          </a:prstGeom>
          <a:solidFill>
            <a:srgbClr val="01362A"/>
          </a:solidFill>
          <a:ln/>
        </p:spPr>
        <p:txBody>
          <a:bodyPr/>
          <a:lstStyle/>
          <a:p>
            <a:endParaRPr lang="en-US"/>
          </a:p>
        </p:txBody>
      </p:sp>
      <p:sp>
        <p:nvSpPr>
          <p:cNvPr id="21" name="Shape 19"/>
          <p:cNvSpPr/>
          <p:nvPr/>
        </p:nvSpPr>
        <p:spPr>
          <a:xfrm>
            <a:off x="3383280" y="3017520"/>
            <a:ext cx="2606040" cy="54864"/>
          </a:xfrm>
          <a:prstGeom prst="rect">
            <a:avLst/>
          </a:prstGeom>
          <a:solidFill>
            <a:srgbClr val="4DA78F"/>
          </a:solidFill>
          <a:ln/>
        </p:spPr>
        <p:txBody>
          <a:bodyPr/>
          <a:lstStyle/>
          <a:p>
            <a:endParaRPr lang="en-US"/>
          </a:p>
        </p:txBody>
      </p:sp>
      <p:sp>
        <p:nvSpPr>
          <p:cNvPr id="22" name="Text 20"/>
          <p:cNvSpPr/>
          <p:nvPr/>
        </p:nvSpPr>
        <p:spPr>
          <a:xfrm>
            <a:off x="3566160" y="315468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Data &amp; AI Analytics</a:t>
            </a:r>
            <a:endParaRPr lang="en-US" sz="1400" dirty="0"/>
          </a:p>
        </p:txBody>
      </p:sp>
      <p:sp>
        <p:nvSpPr>
          <p:cNvPr id="23" name="Text 21"/>
          <p:cNvSpPr/>
          <p:nvPr/>
        </p:nvSpPr>
        <p:spPr>
          <a:xfrm>
            <a:off x="3566160" y="352044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Spec-to-prompt pipelines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GitHub version control</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AI-assisted modeling</a:t>
            </a:r>
            <a:endParaRPr lang="en-US" sz="1000" dirty="0"/>
          </a:p>
        </p:txBody>
      </p:sp>
      <p:sp>
        <p:nvSpPr>
          <p:cNvPr id="24" name="Shape 22"/>
          <p:cNvSpPr/>
          <p:nvPr/>
        </p:nvSpPr>
        <p:spPr>
          <a:xfrm>
            <a:off x="6217920" y="3017520"/>
            <a:ext cx="2606040" cy="1463040"/>
          </a:xfrm>
          <a:prstGeom prst="rect">
            <a:avLst/>
          </a:prstGeom>
          <a:solidFill>
            <a:srgbClr val="01362A"/>
          </a:solidFill>
          <a:ln/>
        </p:spPr>
        <p:txBody>
          <a:bodyPr/>
          <a:lstStyle/>
          <a:p>
            <a:endParaRPr lang="en-US"/>
          </a:p>
        </p:txBody>
      </p:sp>
      <p:sp>
        <p:nvSpPr>
          <p:cNvPr id="25" name="Shape 23"/>
          <p:cNvSpPr/>
          <p:nvPr/>
        </p:nvSpPr>
        <p:spPr>
          <a:xfrm>
            <a:off x="6217920" y="3017520"/>
            <a:ext cx="2606040" cy="54864"/>
          </a:xfrm>
          <a:prstGeom prst="rect">
            <a:avLst/>
          </a:prstGeom>
          <a:solidFill>
            <a:srgbClr val="4DA78F"/>
          </a:solidFill>
          <a:ln/>
        </p:spPr>
        <p:txBody>
          <a:bodyPr/>
          <a:lstStyle/>
          <a:p>
            <a:endParaRPr lang="en-US"/>
          </a:p>
        </p:txBody>
      </p:sp>
      <p:sp>
        <p:nvSpPr>
          <p:cNvPr id="26" name="Text 24"/>
          <p:cNvSpPr/>
          <p:nvPr/>
        </p:nvSpPr>
        <p:spPr>
          <a:xfrm>
            <a:off x="6400800" y="315468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Consulting</a:t>
            </a:r>
            <a:endParaRPr lang="en-US" sz="1400" dirty="0"/>
          </a:p>
        </p:txBody>
      </p:sp>
      <p:sp>
        <p:nvSpPr>
          <p:cNvPr id="27" name="Text 25"/>
          <p:cNvSpPr/>
          <p:nvPr/>
        </p:nvSpPr>
        <p:spPr>
          <a:xfrm>
            <a:off x="6400800" y="352044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Due diligence analysis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Spec-driven delegation</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Executive communication</a:t>
            </a:r>
            <a:endParaRPr lang="en-US" sz="1000" dirty="0"/>
          </a:p>
        </p:txBody>
      </p:sp>
      <p:sp>
        <p:nvSpPr>
          <p:cNvPr id="28" name="Text 26"/>
          <p:cNvSpPr/>
          <p:nvPr/>
        </p:nvSpPr>
        <p:spPr>
          <a:xfrm>
            <a:off x="548640" y="4663440"/>
            <a:ext cx="8046720" cy="274320"/>
          </a:xfrm>
          <a:prstGeom prst="rect">
            <a:avLst/>
          </a:prstGeom>
          <a:noFill/>
          <a:ln/>
        </p:spPr>
        <p:txBody>
          <a:bodyPr wrap="square" rtlCol="0" anchor="ctr"/>
          <a:lstStyle/>
          <a:p>
            <a:pPr marL="0" indent="0">
              <a:buNone/>
            </a:pPr>
            <a:r>
              <a:rPr lang="en-US" sz="1100" b="1" dirty="0">
                <a:solidFill>
                  <a:srgbClr val="C9A84C"/>
                </a:solidFill>
                <a:latin typeface="Open Sans" pitchFamily="34" charset="0"/>
                <a:ea typeface="Open Sans" pitchFamily="34" charset="-122"/>
                <a:cs typeface="Open Sans" pitchFamily="34" charset="-120"/>
              </a:rPr>
              <a:t>This is a portfolio-ready artifact for internships, promotions, and graduate programs.</a:t>
            </a:r>
            <a:endParaRPr lang="en-US" sz="1100" dirty="0"/>
          </a:p>
        </p:txBody>
      </p:sp>
    </p:spTree>
    <p:extLst>
      <p:ext uri="{BB962C8B-B14F-4D97-AF65-F5344CB8AC3E}">
        <p14:creationId xmlns:p14="http://schemas.microsoft.com/office/powerpoint/2010/main" val="3962055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B8975C"/>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BUS-629  |  Shidler College of Business</a:t>
            </a:r>
            <a:endParaRPr lang="en-US" sz="9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What Is GitHub &amp; Why Does It Matter?</a:t>
            </a:r>
            <a:endParaRPr lang="en-US" sz="2800" dirty="0"/>
          </a:p>
        </p:txBody>
      </p:sp>
      <p:sp>
        <p:nvSpPr>
          <p:cNvPr id="6" name="Text 4"/>
          <p:cNvSpPr/>
          <p:nvPr/>
        </p:nvSpPr>
        <p:spPr>
          <a:xfrm>
            <a:off x="731520" y="868680"/>
            <a:ext cx="7680960" cy="548640"/>
          </a:xfrm>
          <a:prstGeom prst="rect">
            <a:avLst/>
          </a:prstGeom>
          <a:noFill/>
          <a:ln/>
        </p:spPr>
        <p:txBody>
          <a:bodyPr wrap="square" lIns="0" tIns="0" rIns="0" bIns="0" rtlCol="0" anchor="ctr"/>
          <a:lstStyle/>
          <a:p>
            <a:pPr marL="0" indent="0">
              <a:lnSpc>
                <a:spcPct val="130000"/>
              </a:lnSpc>
              <a:buNone/>
            </a:pPr>
            <a:r>
              <a:rPr lang="en-US" sz="1300" dirty="0">
                <a:solidFill>
                  <a:srgbClr val="5A6B7A"/>
                </a:solidFill>
                <a:latin typeface="Open Sans" pitchFamily="34" charset="0"/>
                <a:ea typeface="Open Sans" pitchFamily="34" charset="-122"/>
                <a:cs typeface="Open Sans" pitchFamily="34" charset="-120"/>
              </a:rPr>
              <a:t xml:space="preserve">GitHub is a cloud platform for version control. Think of it as Google Docs or </a:t>
            </a:r>
            <a:r>
              <a:rPr lang="en-US" sz="1300" dirty="0" err="1">
                <a:solidFill>
                  <a:srgbClr val="5A6B7A"/>
                </a:solidFill>
                <a:latin typeface="Open Sans" pitchFamily="34" charset="0"/>
                <a:ea typeface="Open Sans" pitchFamily="34" charset="-122"/>
                <a:cs typeface="Open Sans" pitchFamily="34" charset="-120"/>
              </a:rPr>
              <a:t>DropBox</a:t>
            </a:r>
            <a:r>
              <a:rPr lang="en-US" sz="1300" dirty="0">
                <a:solidFill>
                  <a:srgbClr val="5A6B7A"/>
                </a:solidFill>
                <a:latin typeface="Open Sans" pitchFamily="34" charset="0"/>
                <a:ea typeface="Open Sans" pitchFamily="34" charset="-122"/>
                <a:cs typeface="Open Sans" pitchFamily="34" charset="-120"/>
              </a:rPr>
              <a:t xml:space="preserve"> for code and documents — every change is tracked, reversible, and visible to your instructor.</a:t>
            </a:r>
            <a:endParaRPr lang="en-US" sz="1300" dirty="0"/>
          </a:p>
        </p:txBody>
      </p:sp>
      <p:sp>
        <p:nvSpPr>
          <p:cNvPr id="7" name="Shape 5"/>
          <p:cNvSpPr/>
          <p:nvPr/>
        </p:nvSpPr>
        <p:spPr>
          <a:xfrm>
            <a:off x="73152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8" name="Image 0" descr="preencoded.png"/>
          <p:cNvPicPr>
            <a:picLocks noChangeAspect="1"/>
          </p:cNvPicPr>
          <p:nvPr/>
        </p:nvPicPr>
        <p:blipFill>
          <a:blip r:embed="rId3"/>
          <a:stretch>
            <a:fillRect/>
          </a:stretch>
        </p:blipFill>
        <p:spPr>
          <a:xfrm>
            <a:off x="1554480" y="1920240"/>
            <a:ext cx="457200" cy="457200"/>
          </a:xfrm>
          <a:prstGeom prst="rect">
            <a:avLst/>
          </a:prstGeom>
        </p:spPr>
      </p:pic>
      <p:sp>
        <p:nvSpPr>
          <p:cNvPr id="9" name="Text 6"/>
          <p:cNvSpPr/>
          <p:nvPr/>
        </p:nvSpPr>
        <p:spPr>
          <a:xfrm>
            <a:off x="86868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Version History</a:t>
            </a:r>
            <a:endParaRPr lang="en-US" sz="1400" dirty="0"/>
          </a:p>
        </p:txBody>
      </p:sp>
      <p:sp>
        <p:nvSpPr>
          <p:cNvPr id="10" name="Text 7"/>
          <p:cNvSpPr/>
          <p:nvPr/>
        </p:nvSpPr>
        <p:spPr>
          <a:xfrm>
            <a:off x="86868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Every save (commit) is permanent. You can always go back to a previous version if something breaks.</a:t>
            </a:r>
            <a:endParaRPr lang="en-US" sz="1100" dirty="0"/>
          </a:p>
        </p:txBody>
      </p:sp>
      <p:sp>
        <p:nvSpPr>
          <p:cNvPr id="11" name="Shape 8"/>
          <p:cNvSpPr/>
          <p:nvPr/>
        </p:nvSpPr>
        <p:spPr>
          <a:xfrm>
            <a:off x="338328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206240" y="1920240"/>
            <a:ext cx="457200" cy="457200"/>
          </a:xfrm>
          <a:prstGeom prst="rect">
            <a:avLst/>
          </a:prstGeom>
        </p:spPr>
      </p:pic>
      <p:sp>
        <p:nvSpPr>
          <p:cNvPr id="13" name="Text 9"/>
          <p:cNvSpPr/>
          <p:nvPr/>
        </p:nvSpPr>
        <p:spPr>
          <a:xfrm>
            <a:off x="352044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Portfolio Artifact</a:t>
            </a:r>
            <a:endParaRPr lang="en-US" sz="1400" dirty="0"/>
          </a:p>
        </p:txBody>
      </p:sp>
      <p:sp>
        <p:nvSpPr>
          <p:cNvPr id="14" name="Text 10"/>
          <p:cNvSpPr/>
          <p:nvPr/>
        </p:nvSpPr>
        <p:spPr>
          <a:xfrm>
            <a:off x="352044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Your GitHub profile becomes a professional portfolio. Employers and grad schools check GitHub.</a:t>
            </a:r>
            <a:endParaRPr lang="en-US" sz="1100" dirty="0"/>
          </a:p>
        </p:txBody>
      </p:sp>
      <p:sp>
        <p:nvSpPr>
          <p:cNvPr id="15" name="Shape 11"/>
          <p:cNvSpPr/>
          <p:nvPr/>
        </p:nvSpPr>
        <p:spPr>
          <a:xfrm>
            <a:off x="603504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6" name="Image 2" descr="preencoded.png"/>
          <p:cNvPicPr>
            <a:picLocks noChangeAspect="1"/>
          </p:cNvPicPr>
          <p:nvPr/>
        </p:nvPicPr>
        <p:blipFill>
          <a:blip r:embed="rId5"/>
          <a:stretch>
            <a:fillRect/>
          </a:stretch>
        </p:blipFill>
        <p:spPr>
          <a:xfrm>
            <a:off x="6858000" y="1920240"/>
            <a:ext cx="457200" cy="457200"/>
          </a:xfrm>
          <a:prstGeom prst="rect">
            <a:avLst/>
          </a:prstGeom>
        </p:spPr>
      </p:pic>
      <p:sp>
        <p:nvSpPr>
          <p:cNvPr id="17" name="Text 12"/>
          <p:cNvSpPr/>
          <p:nvPr/>
        </p:nvSpPr>
        <p:spPr>
          <a:xfrm>
            <a:off x="617220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Submission &amp; Grading</a:t>
            </a:r>
            <a:endParaRPr lang="en-US" sz="1400" dirty="0"/>
          </a:p>
        </p:txBody>
      </p:sp>
      <p:sp>
        <p:nvSpPr>
          <p:cNvPr id="18" name="Text 13"/>
          <p:cNvSpPr/>
          <p:nvPr/>
        </p:nvSpPr>
        <p:spPr>
          <a:xfrm>
            <a:off x="617220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All stage deliverables are submitted by committing to GitHub. Your commit history IS your audit trail.</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0 — Repository Setup &amp; Infrastructure</a:t>
            </a:r>
            <a:endParaRPr lang="en-US" sz="2000" dirty="0"/>
          </a:p>
        </p:txBody>
      </p:sp>
      <p:sp>
        <p:nvSpPr>
          <p:cNvPr id="4" name="Text 2"/>
          <p:cNvSpPr/>
          <p:nvPr/>
        </p:nvSpPr>
        <p:spPr>
          <a:xfrm>
            <a:off x="548640" y="429768"/>
            <a:ext cx="2743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5% of project</a:t>
            </a:r>
            <a:endParaRPr lang="en-US" sz="1100" dirty="0"/>
          </a:p>
        </p:txBody>
      </p:sp>
      <p:sp>
        <p:nvSpPr>
          <p:cNvPr id="5" name="Shape 3"/>
          <p:cNvSpPr/>
          <p:nvPr/>
        </p:nvSpPr>
        <p:spPr>
          <a:xfrm>
            <a:off x="457200" y="1051560"/>
            <a:ext cx="4023360" cy="3566160"/>
          </a:xfrm>
          <a:prstGeom prst="rect">
            <a:avLst/>
          </a:prstGeom>
          <a:solidFill>
            <a:srgbClr val="1A2332"/>
          </a:solidFill>
          <a:ln/>
          <a:effectLst>
            <a:outerShdw blurRad="76200" dist="25400" dir="8100000" algn="bl" rotWithShape="0">
              <a:srgbClr val="000000">
                <a:alpha val="12000"/>
              </a:srgbClr>
            </a:outerShdw>
          </a:effectLst>
        </p:spPr>
        <p:txBody>
          <a:bodyPr/>
          <a:lstStyle/>
          <a:p>
            <a:endParaRPr lang="en-US"/>
          </a:p>
        </p:txBody>
      </p:sp>
      <p:sp>
        <p:nvSpPr>
          <p:cNvPr id="6" name="Text 4"/>
          <p:cNvSpPr/>
          <p:nvPr/>
        </p:nvSpPr>
        <p:spPr>
          <a:xfrm>
            <a:off x="640080" y="1188720"/>
            <a:ext cx="3657600" cy="3291840"/>
          </a:xfrm>
          <a:prstGeom prst="rect">
            <a:avLst/>
          </a:prstGeom>
          <a:noFill/>
          <a:ln/>
        </p:spPr>
        <p:txBody>
          <a:bodyPr wrap="square" rtlCol="0" anchor="ctr"/>
          <a:lstStyle/>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Corporate-Finance/      # your portfolio repo</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README.md           # your bio (repo home)</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RESUME.md           # markdown resume</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BIO.md              # optional longer bio</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docs/               # written deliverables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decisions/      # memos (Stage 2)</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specs/          # tech specs (Stage 4)</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plans/          # optional plans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templates/      # local stubs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models/             # Excel work</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templates/      # blank ratios template</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builds/         # populated (Stage 3)</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data/               # raw financials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analysis/validation/  # Stage 3 reports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deliverables/       # final (Stage 5)</a:t>
            </a:r>
            <a:endParaRPr lang="en-US" sz="1000" dirty="0"/>
          </a:p>
        </p:txBody>
      </p:sp>
      <p:sp>
        <p:nvSpPr>
          <p:cNvPr id="7" name="Shape 5"/>
          <p:cNvSpPr/>
          <p:nvPr/>
        </p:nvSpPr>
        <p:spPr>
          <a:xfrm>
            <a:off x="4846320" y="1097280"/>
            <a:ext cx="365760" cy="365760"/>
          </a:xfrm>
          <a:prstGeom prst="ellipse">
            <a:avLst/>
          </a:prstGeom>
          <a:solidFill>
            <a:srgbClr val="E6F2EF"/>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4926787" y="1177747"/>
            <a:ext cx="204826" cy="204826"/>
          </a:xfrm>
          <a:prstGeom prst="rect">
            <a:avLst/>
          </a:prstGeom>
        </p:spPr>
      </p:pic>
      <p:sp>
        <p:nvSpPr>
          <p:cNvPr id="9" name="Text 6"/>
          <p:cNvSpPr/>
          <p:nvPr/>
        </p:nvSpPr>
        <p:spPr>
          <a:xfrm>
            <a:off x="5349240" y="1051560"/>
            <a:ext cx="329184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README.md Files</a:t>
            </a:r>
            <a:endParaRPr lang="en-US" sz="1200" dirty="0"/>
          </a:p>
        </p:txBody>
      </p:sp>
      <p:sp>
        <p:nvSpPr>
          <p:cNvPr id="10" name="Text 7"/>
          <p:cNvSpPr/>
          <p:nvPr/>
        </p:nvSpPr>
        <p:spPr>
          <a:xfrm>
            <a:off x="5349240" y="1325880"/>
            <a:ext cx="3291840" cy="50292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Every directory gets a README. If someone new joins, they navigate by READMEs alone.</a:t>
            </a:r>
            <a:endParaRPr lang="en-US" sz="1000" dirty="0"/>
          </a:p>
        </p:txBody>
      </p:sp>
      <p:sp>
        <p:nvSpPr>
          <p:cNvPr id="11" name="Shape 8"/>
          <p:cNvSpPr/>
          <p:nvPr/>
        </p:nvSpPr>
        <p:spPr>
          <a:xfrm>
            <a:off x="4846320" y="1965960"/>
            <a:ext cx="365760" cy="365760"/>
          </a:xfrm>
          <a:prstGeom prst="ellipse">
            <a:avLst/>
          </a:prstGeom>
          <a:solidFill>
            <a:srgbClr val="E6F2EF"/>
          </a:solidFill>
          <a:ln/>
        </p:spPr>
        <p:txBody>
          <a:bodyPr/>
          <a:lstStyle/>
          <a:p>
            <a:endParaRPr lang="en-US"/>
          </a:p>
        </p:txBody>
      </p:sp>
      <p:pic>
        <p:nvPicPr>
          <p:cNvPr id="12" name="Image 1" descr="preencoded.png"/>
          <p:cNvPicPr>
            <a:picLocks noChangeAspect="1"/>
          </p:cNvPicPr>
          <p:nvPr/>
        </p:nvPicPr>
        <p:blipFill>
          <a:blip r:embed="rId4"/>
          <a:stretch>
            <a:fillRect/>
          </a:stretch>
        </p:blipFill>
        <p:spPr>
          <a:xfrm>
            <a:off x="4926787" y="2046427"/>
            <a:ext cx="204826" cy="204826"/>
          </a:xfrm>
          <a:prstGeom prst="rect">
            <a:avLst/>
          </a:prstGeom>
        </p:spPr>
      </p:pic>
      <p:sp>
        <p:nvSpPr>
          <p:cNvPr id="13" name="Text 9"/>
          <p:cNvSpPr/>
          <p:nvPr/>
        </p:nvSpPr>
        <p:spPr>
          <a:xfrm>
            <a:off x="5349240" y="1920240"/>
            <a:ext cx="329184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Git Basics</a:t>
            </a:r>
            <a:endParaRPr lang="en-US" sz="1200" dirty="0"/>
          </a:p>
        </p:txBody>
      </p:sp>
      <p:sp>
        <p:nvSpPr>
          <p:cNvPr id="14" name="Text 10"/>
          <p:cNvSpPr/>
          <p:nvPr/>
        </p:nvSpPr>
        <p:spPr>
          <a:xfrm>
            <a:off x="5349240" y="2194560"/>
            <a:ext cx="3291840" cy="50292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Clone, add, commit, push, pull. Descriptive commit messages. Version control as a professional skill.</a:t>
            </a:r>
            <a:endParaRPr lang="en-US" sz="1000" dirty="0"/>
          </a:p>
        </p:txBody>
      </p:sp>
      <p:sp>
        <p:nvSpPr>
          <p:cNvPr id="15" name="Shape 11"/>
          <p:cNvSpPr/>
          <p:nvPr/>
        </p:nvSpPr>
        <p:spPr>
          <a:xfrm>
            <a:off x="4846320" y="2834640"/>
            <a:ext cx="365760" cy="365760"/>
          </a:xfrm>
          <a:prstGeom prst="ellipse">
            <a:avLst/>
          </a:prstGeom>
          <a:solidFill>
            <a:srgbClr val="E6F2EF"/>
          </a:solidFill>
          <a:ln/>
        </p:spPr>
        <p:txBody>
          <a:bodyPr/>
          <a:lstStyle/>
          <a:p>
            <a:endParaRPr lang="en-US"/>
          </a:p>
        </p:txBody>
      </p:sp>
      <p:pic>
        <p:nvPicPr>
          <p:cNvPr id="16" name="Image 2" descr="preencoded.png"/>
          <p:cNvPicPr>
            <a:picLocks noChangeAspect="1"/>
          </p:cNvPicPr>
          <p:nvPr/>
        </p:nvPicPr>
        <p:blipFill>
          <a:blip r:embed="rId5"/>
          <a:stretch>
            <a:fillRect/>
          </a:stretch>
        </p:blipFill>
        <p:spPr>
          <a:xfrm>
            <a:off x="4926787" y="2915107"/>
            <a:ext cx="204826" cy="204826"/>
          </a:xfrm>
          <a:prstGeom prst="rect">
            <a:avLst/>
          </a:prstGeom>
        </p:spPr>
      </p:pic>
      <p:sp>
        <p:nvSpPr>
          <p:cNvPr id="17" name="Text 12"/>
          <p:cNvSpPr/>
          <p:nvPr/>
        </p:nvSpPr>
        <p:spPr>
          <a:xfrm>
            <a:off x="5349240" y="2788920"/>
            <a:ext cx="329184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Markdown</a:t>
            </a:r>
            <a:endParaRPr lang="en-US" sz="1200" dirty="0"/>
          </a:p>
        </p:txBody>
      </p:sp>
      <p:sp>
        <p:nvSpPr>
          <p:cNvPr id="18" name="Text 13"/>
          <p:cNvSpPr/>
          <p:nvPr/>
        </p:nvSpPr>
        <p:spPr>
          <a:xfrm>
            <a:off x="5349240" y="3063240"/>
            <a:ext cx="3291840" cy="50292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Headings, lists, tables, links, code blocks — the same tools used in every stage.</a:t>
            </a:r>
            <a:endParaRPr lang="en-US" sz="1000" dirty="0"/>
          </a:p>
        </p:txBody>
      </p:sp>
      <p:sp>
        <p:nvSpPr>
          <p:cNvPr id="19" name="Shape 14"/>
          <p:cNvSpPr/>
          <p:nvPr/>
        </p:nvSpPr>
        <p:spPr>
          <a:xfrm>
            <a:off x="4846320" y="3703320"/>
            <a:ext cx="365760" cy="365760"/>
          </a:xfrm>
          <a:prstGeom prst="ellipse">
            <a:avLst/>
          </a:prstGeom>
          <a:solidFill>
            <a:srgbClr val="E6F2EF"/>
          </a:solidFill>
          <a:ln/>
        </p:spPr>
        <p:txBody>
          <a:bodyPr/>
          <a:lstStyle/>
          <a:p>
            <a:endParaRPr lang="en-US"/>
          </a:p>
        </p:txBody>
      </p:sp>
      <p:pic>
        <p:nvPicPr>
          <p:cNvPr id="20" name="Image 3" descr="preencoded.png"/>
          <p:cNvPicPr>
            <a:picLocks noChangeAspect="1"/>
          </p:cNvPicPr>
          <p:nvPr/>
        </p:nvPicPr>
        <p:blipFill>
          <a:blip r:embed="rId6"/>
          <a:stretch>
            <a:fillRect/>
          </a:stretch>
        </p:blipFill>
        <p:spPr>
          <a:xfrm>
            <a:off x="4926787" y="3783787"/>
            <a:ext cx="204826" cy="204826"/>
          </a:xfrm>
          <a:prstGeom prst="rect">
            <a:avLst/>
          </a:prstGeom>
        </p:spPr>
      </p:pic>
      <p:sp>
        <p:nvSpPr>
          <p:cNvPr id="21" name="Text 15"/>
          <p:cNvSpPr/>
          <p:nvPr/>
        </p:nvSpPr>
        <p:spPr>
          <a:xfrm>
            <a:off x="5349240" y="3657600"/>
            <a:ext cx="329184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Separation of Concerns</a:t>
            </a:r>
            <a:endParaRPr lang="en-US" sz="1200" dirty="0"/>
          </a:p>
        </p:txBody>
      </p:sp>
      <p:sp>
        <p:nvSpPr>
          <p:cNvPr id="22" name="Text 16"/>
          <p:cNvSpPr/>
          <p:nvPr/>
        </p:nvSpPr>
        <p:spPr>
          <a:xfrm>
            <a:off x="5349240" y="3931920"/>
            <a:ext cx="3291840" cy="50292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Raw data ≠ analysis. Templates ≠ builds. Drafts ≠ deliverables.</a:t>
            </a:r>
            <a:endParaRPr lang="en-US" sz="1000" dirty="0"/>
          </a:p>
        </p:txBody>
      </p:sp>
      <p:sp>
        <p:nvSpPr>
          <p:cNvPr id="23" name="Text 17"/>
          <p:cNvSpPr/>
          <p:nvPr/>
        </p:nvSpPr>
        <p:spPr>
          <a:xfrm>
            <a:off x="4846320" y="4526280"/>
            <a:ext cx="3840480" cy="274320"/>
          </a:xfrm>
          <a:prstGeom prst="rect">
            <a:avLst/>
          </a:prstGeom>
          <a:noFill/>
          <a:ln/>
        </p:spPr>
        <p:txBody>
          <a:bodyPr wrap="square" rtlCol="0" anchor="ctr"/>
          <a:lstStyle/>
          <a:p>
            <a:pPr marL="0" indent="0">
              <a:buNone/>
            </a:pPr>
            <a:r>
              <a:rPr lang="en-US" sz="900" i="1" dirty="0">
                <a:solidFill>
                  <a:srgbClr val="6B7280"/>
                </a:solidFill>
                <a:latin typeface="Open Sans" pitchFamily="34" charset="0"/>
                <a:ea typeface="Open Sans" pitchFamily="34" charset="-122"/>
                <a:cs typeface="Open Sans" pitchFamily="34" charset="-120"/>
              </a:rPr>
              <a:t>The course repo serves as a living example — replicate its structure in your own repo.</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B8975C"/>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your-repo on github.com</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1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Create a GitHub Account</a:t>
            </a:r>
            <a:endParaRPr lang="en-US" sz="2800" dirty="0"/>
          </a:p>
        </p:txBody>
      </p:sp>
      <p:sp>
        <p:nvSpPr>
          <p:cNvPr id="8" name="Shape 6"/>
          <p:cNvSpPr/>
          <p:nvPr/>
        </p:nvSpPr>
        <p:spPr>
          <a:xfrm>
            <a:off x="731520" y="1280160"/>
            <a:ext cx="365760" cy="365760"/>
          </a:xfrm>
          <a:prstGeom prst="line">
            <a:avLst/>
          </a:prstGeom>
          <a:solidFill>
            <a:srgbClr val="B8975C"/>
          </a:solidFill>
          <a:ln/>
        </p:spPr>
        <p:txBody>
          <a:bodyPr/>
          <a:lstStyle/>
          <a:p>
            <a:endParaRPr lang="en-US"/>
          </a:p>
        </p:txBody>
      </p:sp>
      <p:sp>
        <p:nvSpPr>
          <p:cNvPr id="9" name="Text 7"/>
          <p:cNvSpPr/>
          <p:nvPr/>
        </p:nvSpPr>
        <p:spPr>
          <a:xfrm>
            <a:off x="731520" y="128016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1</a:t>
            </a:r>
            <a:endParaRPr lang="en-US" sz="1400" dirty="0"/>
          </a:p>
        </p:txBody>
      </p:sp>
      <p:sp>
        <p:nvSpPr>
          <p:cNvPr id="10" name="Text 8"/>
          <p:cNvSpPr/>
          <p:nvPr/>
        </p:nvSpPr>
        <p:spPr>
          <a:xfrm>
            <a:off x="1280160" y="128016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Go to github.com and click Sign Up</a:t>
            </a:r>
            <a:endParaRPr lang="en-US" sz="1300" dirty="0"/>
          </a:p>
        </p:txBody>
      </p:sp>
      <p:sp>
        <p:nvSpPr>
          <p:cNvPr id="11" name="Shape 9"/>
          <p:cNvSpPr/>
          <p:nvPr/>
        </p:nvSpPr>
        <p:spPr>
          <a:xfrm>
            <a:off x="731520" y="1828800"/>
            <a:ext cx="365760" cy="365760"/>
          </a:xfrm>
          <a:prstGeom prst="line">
            <a:avLst/>
          </a:prstGeom>
          <a:solidFill>
            <a:srgbClr val="B8975C"/>
          </a:solidFill>
          <a:ln/>
        </p:spPr>
        <p:txBody>
          <a:bodyPr/>
          <a:lstStyle/>
          <a:p>
            <a:endParaRPr lang="en-US"/>
          </a:p>
        </p:txBody>
      </p:sp>
      <p:sp>
        <p:nvSpPr>
          <p:cNvPr id="12" name="Text 10"/>
          <p:cNvSpPr/>
          <p:nvPr/>
        </p:nvSpPr>
        <p:spPr>
          <a:xfrm>
            <a:off x="731520" y="18288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2</a:t>
            </a:r>
            <a:endParaRPr lang="en-US" sz="1400" dirty="0"/>
          </a:p>
        </p:txBody>
      </p:sp>
      <p:sp>
        <p:nvSpPr>
          <p:cNvPr id="13" name="Text 11"/>
          <p:cNvSpPr/>
          <p:nvPr/>
        </p:nvSpPr>
        <p:spPr>
          <a:xfrm>
            <a:off x="1280160" y="182880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Use your @hawaii.edu email (gets free GitHub Pro)</a:t>
            </a:r>
            <a:endParaRPr lang="en-US" sz="1300" dirty="0"/>
          </a:p>
        </p:txBody>
      </p:sp>
      <p:sp>
        <p:nvSpPr>
          <p:cNvPr id="14" name="Shape 12"/>
          <p:cNvSpPr/>
          <p:nvPr/>
        </p:nvSpPr>
        <p:spPr>
          <a:xfrm>
            <a:off x="731520" y="2377440"/>
            <a:ext cx="365760" cy="365760"/>
          </a:xfrm>
          <a:prstGeom prst="line">
            <a:avLst/>
          </a:prstGeom>
          <a:solidFill>
            <a:srgbClr val="B8975C"/>
          </a:solidFill>
          <a:ln/>
        </p:spPr>
        <p:txBody>
          <a:bodyPr/>
          <a:lstStyle/>
          <a:p>
            <a:endParaRPr lang="en-US"/>
          </a:p>
        </p:txBody>
      </p:sp>
      <p:sp>
        <p:nvSpPr>
          <p:cNvPr id="15" name="Text 13"/>
          <p:cNvSpPr/>
          <p:nvPr/>
        </p:nvSpPr>
        <p:spPr>
          <a:xfrm>
            <a:off x="731520" y="23774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3</a:t>
            </a:r>
            <a:endParaRPr lang="en-US" sz="1400" dirty="0"/>
          </a:p>
        </p:txBody>
      </p:sp>
      <p:sp>
        <p:nvSpPr>
          <p:cNvPr id="16" name="Text 14"/>
          <p:cNvSpPr/>
          <p:nvPr/>
        </p:nvSpPr>
        <p:spPr>
          <a:xfrm>
            <a:off x="1280160" y="237744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Choose a professional username (e.g., firstname-lastname)</a:t>
            </a:r>
            <a:endParaRPr lang="en-US" sz="1300" dirty="0"/>
          </a:p>
        </p:txBody>
      </p:sp>
      <p:sp>
        <p:nvSpPr>
          <p:cNvPr id="17" name="Shape 15"/>
          <p:cNvSpPr/>
          <p:nvPr/>
        </p:nvSpPr>
        <p:spPr>
          <a:xfrm>
            <a:off x="731520" y="2926080"/>
            <a:ext cx="365760" cy="365760"/>
          </a:xfrm>
          <a:prstGeom prst="line">
            <a:avLst/>
          </a:prstGeom>
          <a:solidFill>
            <a:srgbClr val="B8975C"/>
          </a:solidFill>
          <a:ln/>
        </p:spPr>
        <p:txBody>
          <a:bodyPr/>
          <a:lstStyle/>
          <a:p>
            <a:endParaRPr lang="en-US"/>
          </a:p>
        </p:txBody>
      </p:sp>
      <p:sp>
        <p:nvSpPr>
          <p:cNvPr id="18" name="Text 16"/>
          <p:cNvSpPr/>
          <p:nvPr/>
        </p:nvSpPr>
        <p:spPr>
          <a:xfrm>
            <a:off x="731520" y="292608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4</a:t>
            </a:r>
            <a:endParaRPr lang="en-US" sz="1400" dirty="0"/>
          </a:p>
        </p:txBody>
      </p:sp>
      <p:sp>
        <p:nvSpPr>
          <p:cNvPr id="19" name="Text 17"/>
          <p:cNvSpPr/>
          <p:nvPr/>
        </p:nvSpPr>
        <p:spPr>
          <a:xfrm>
            <a:off x="1280160" y="292608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Verify your email address</a:t>
            </a:r>
            <a:endParaRPr lang="en-US" sz="1300" dirty="0"/>
          </a:p>
        </p:txBody>
      </p:sp>
      <p:sp>
        <p:nvSpPr>
          <p:cNvPr id="20" name="Shape 18"/>
          <p:cNvSpPr/>
          <p:nvPr/>
        </p:nvSpPr>
        <p:spPr>
          <a:xfrm>
            <a:off x="731520" y="3474720"/>
            <a:ext cx="365760" cy="365760"/>
          </a:xfrm>
          <a:prstGeom prst="line">
            <a:avLst/>
          </a:prstGeom>
          <a:solidFill>
            <a:srgbClr val="B8975C"/>
          </a:solidFill>
          <a:ln/>
        </p:spPr>
        <p:txBody>
          <a:bodyPr/>
          <a:lstStyle/>
          <a:p>
            <a:endParaRPr lang="en-US"/>
          </a:p>
        </p:txBody>
      </p:sp>
      <p:sp>
        <p:nvSpPr>
          <p:cNvPr id="21" name="Text 19"/>
          <p:cNvSpPr/>
          <p:nvPr/>
        </p:nvSpPr>
        <p:spPr>
          <a:xfrm>
            <a:off x="731520" y="347472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5</a:t>
            </a:r>
            <a:endParaRPr lang="en-US" sz="1400" dirty="0"/>
          </a:p>
        </p:txBody>
      </p:sp>
      <p:sp>
        <p:nvSpPr>
          <p:cNvPr id="22" name="Text 20"/>
          <p:cNvSpPr/>
          <p:nvPr/>
        </p:nvSpPr>
        <p:spPr>
          <a:xfrm>
            <a:off x="1280160" y="347472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Share your GitHub username with the instructor</a:t>
            </a:r>
            <a:endParaRPr lang="en-US" sz="1300" dirty="0"/>
          </a:p>
        </p:txBody>
      </p:sp>
      <p:sp>
        <p:nvSpPr>
          <p:cNvPr id="23" name="Shape 21"/>
          <p:cNvSpPr/>
          <p:nvPr/>
        </p:nvSpPr>
        <p:spPr>
          <a:xfrm>
            <a:off x="5486400" y="1280160"/>
            <a:ext cx="3108960" cy="2926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24" name="Image 0" descr="preencoded.png"/>
          <p:cNvPicPr>
            <a:picLocks noChangeAspect="1"/>
          </p:cNvPicPr>
          <p:nvPr/>
        </p:nvPicPr>
        <p:blipFill>
          <a:blip r:embed="rId3"/>
          <a:stretch>
            <a:fillRect/>
          </a:stretch>
        </p:blipFill>
        <p:spPr>
          <a:xfrm>
            <a:off x="5715000" y="1463040"/>
            <a:ext cx="320040" cy="320040"/>
          </a:xfrm>
          <a:prstGeom prst="rect">
            <a:avLst/>
          </a:prstGeom>
        </p:spPr>
      </p:pic>
      <p:sp>
        <p:nvSpPr>
          <p:cNvPr id="25" name="Text 22"/>
          <p:cNvSpPr/>
          <p:nvPr/>
        </p:nvSpPr>
        <p:spPr>
          <a:xfrm>
            <a:off x="6126480" y="1463040"/>
            <a:ext cx="22860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Pro Tips</a:t>
            </a:r>
            <a:endParaRPr lang="en-US" sz="1400" dirty="0"/>
          </a:p>
        </p:txBody>
      </p:sp>
      <p:sp>
        <p:nvSpPr>
          <p:cNvPr id="26" name="Text 23"/>
          <p:cNvSpPr/>
          <p:nvPr/>
        </p:nvSpPr>
        <p:spPr>
          <a:xfrm>
            <a:off x="5715000" y="1920240"/>
            <a:ext cx="2697480" cy="2103120"/>
          </a:xfrm>
          <a:prstGeom prst="rect">
            <a:avLst/>
          </a:prstGeom>
          <a:noFill/>
          <a:ln/>
        </p:spPr>
        <p:txBody>
          <a:bodyPr wrap="square" lIns="0" tIns="0" rIns="0" bIns="0" rtlCol="0" anchor="t"/>
          <a:lstStyle/>
          <a:p>
            <a:pPr marL="0" indent="0">
              <a:buNone/>
            </a:pPr>
            <a:r>
              <a:rPr lang="en-US" sz="1100" b="1" dirty="0">
                <a:solidFill>
                  <a:srgbClr val="1E2530"/>
                </a:solidFill>
              </a:rPr>
              <a:t>Username matters</a:t>
            </a:r>
            <a:endParaRPr lang="en-US" sz="1100" dirty="0"/>
          </a:p>
          <a:p>
            <a:pPr marL="0" indent="0">
              <a:buNone/>
            </a:pPr>
            <a:r>
              <a:rPr lang="en-US" sz="1000" dirty="0">
                <a:solidFill>
                  <a:srgbClr val="5A6B7A"/>
                </a:solidFill>
              </a:rPr>
              <a:t>Employers see it. Avoid gamer tags or joke names.
</a:t>
            </a:r>
            <a:endParaRPr lang="en-US" sz="1100" dirty="0"/>
          </a:p>
          <a:p>
            <a:pPr marL="0" indent="0">
              <a:buNone/>
            </a:pPr>
            <a:r>
              <a:rPr lang="en-US" sz="1100" b="1" dirty="0">
                <a:solidFill>
                  <a:srgbClr val="1E2530"/>
                </a:solidFill>
              </a:rPr>
              <a:t>Student Developer Pack</a:t>
            </a:r>
            <a:endParaRPr lang="en-US" sz="1100" dirty="0"/>
          </a:p>
          <a:p>
            <a:pPr marL="0" indent="0">
              <a:buNone/>
            </a:pPr>
            <a:r>
              <a:rPr lang="en-US" sz="1000" dirty="0">
                <a:solidFill>
                  <a:srgbClr val="5A6B7A"/>
                </a:solidFill>
              </a:rPr>
              <a:t>education.github.com — free Pro features, Copilot access, and more with your .edu email.
</a:t>
            </a:r>
            <a:endParaRPr lang="en-US" sz="1100" dirty="0"/>
          </a:p>
          <a:p>
            <a:pPr marL="0" indent="0">
              <a:buNone/>
            </a:pPr>
            <a:r>
              <a:rPr lang="en-US" sz="1100" b="1" dirty="0">
                <a:solidFill>
                  <a:srgbClr val="1E2530"/>
                </a:solidFill>
              </a:rPr>
              <a:t>Profile photo</a:t>
            </a:r>
            <a:endParaRPr lang="en-US" sz="1100" dirty="0"/>
          </a:p>
          <a:p>
            <a:pPr marL="0" indent="0">
              <a:buNone/>
            </a:pPr>
            <a:r>
              <a:rPr lang="en-US" sz="1000" dirty="0">
                <a:solidFill>
                  <a:srgbClr val="5A6B7A"/>
                </a:solidFill>
              </a:rPr>
              <a:t>Optional but professional. Headshot or avatar helps your instructor identify you.</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B8975C"/>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desktop.github.com</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2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Install GitHub Desktop</a:t>
            </a:r>
            <a:endParaRPr lang="en-US" sz="2800" dirty="0"/>
          </a:p>
        </p:txBody>
      </p:sp>
      <p:sp>
        <p:nvSpPr>
          <p:cNvPr id="8" name="Text 6"/>
          <p:cNvSpPr/>
          <p:nvPr/>
        </p:nvSpPr>
        <p:spPr>
          <a:xfrm>
            <a:off x="731520" y="1143000"/>
            <a:ext cx="7680960" cy="365760"/>
          </a:xfrm>
          <a:prstGeom prst="rect">
            <a:avLst/>
          </a:prstGeom>
          <a:noFill/>
          <a:ln/>
        </p:spPr>
        <p:txBody>
          <a:bodyPr wrap="square" lIns="0" tIns="0" rIns="0" bIns="0" rtlCol="0" anchor="ctr"/>
          <a:lstStyle/>
          <a:p>
            <a:pPr marL="0" indent="0">
              <a:buNone/>
            </a:pPr>
            <a:r>
              <a:rPr lang="en-US" sz="1200" dirty="0">
                <a:solidFill>
                  <a:srgbClr val="5A6B7A"/>
                </a:solidFill>
                <a:latin typeface="Open Sans" pitchFamily="34" charset="0"/>
                <a:ea typeface="Open Sans" pitchFamily="34" charset="-122"/>
                <a:cs typeface="Open Sans" pitchFamily="34" charset="-120"/>
              </a:rPr>
              <a:t>GitHub Desktop is a free visual app — no terminal, no command line. It installs Git in the background and wraps every Git operation in a button or menu.</a:t>
            </a:r>
            <a:endParaRPr lang="en-US" sz="1200" dirty="0"/>
          </a:p>
        </p:txBody>
      </p:sp>
      <p:sp>
        <p:nvSpPr>
          <p:cNvPr id="9" name="Shape 7"/>
          <p:cNvSpPr/>
          <p:nvPr/>
        </p:nvSpPr>
        <p:spPr>
          <a:xfrm>
            <a:off x="731520" y="1691640"/>
            <a:ext cx="3840480" cy="178308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10" name="Text 8"/>
          <p:cNvSpPr/>
          <p:nvPr/>
        </p:nvSpPr>
        <p:spPr>
          <a:xfrm>
            <a:off x="914400" y="1783080"/>
            <a:ext cx="3474720" cy="320040"/>
          </a:xfrm>
          <a:prstGeom prst="rect">
            <a:avLst/>
          </a:prstGeom>
          <a:noFill/>
          <a:ln/>
        </p:spPr>
        <p:txBody>
          <a:bodyPr wrap="square" lIns="0" tIns="0" rIns="0" bIns="0" rtlCol="0" anchor="ctr"/>
          <a:lstStyle/>
          <a:p>
            <a:pPr marL="0" indent="0">
              <a:buNone/>
            </a:pPr>
            <a:r>
              <a:rPr lang="en-US" sz="1500" b="1" dirty="0">
                <a:solidFill>
                  <a:srgbClr val="1E2530"/>
                </a:solidFill>
                <a:latin typeface="Open Sans" pitchFamily="34" charset="0"/>
                <a:ea typeface="Open Sans" pitchFamily="34" charset="-122"/>
                <a:cs typeface="Open Sans" pitchFamily="34" charset="-120"/>
              </a:rPr>
              <a:t>Windows</a:t>
            </a:r>
            <a:endParaRPr lang="en-US" sz="1500" dirty="0"/>
          </a:p>
        </p:txBody>
      </p:sp>
      <p:sp>
        <p:nvSpPr>
          <p:cNvPr id="11" name="Text 9"/>
          <p:cNvSpPr/>
          <p:nvPr/>
        </p:nvSpPr>
        <p:spPr>
          <a:xfrm>
            <a:off x="914400" y="214884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Download from desktop.github.com</a:t>
            </a:r>
            <a:endParaRPr lang="en-US" sz="1100" dirty="0"/>
          </a:p>
        </p:txBody>
      </p:sp>
      <p:sp>
        <p:nvSpPr>
          <p:cNvPr id="12" name="Text 10"/>
          <p:cNvSpPr/>
          <p:nvPr/>
        </p:nvSpPr>
        <p:spPr>
          <a:xfrm>
            <a:off x="914400" y="246888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Run the installer — Git is bundled in, no separate install needed</a:t>
            </a:r>
            <a:endParaRPr lang="en-US" sz="1100" dirty="0"/>
          </a:p>
        </p:txBody>
      </p:sp>
      <p:sp>
        <p:nvSpPr>
          <p:cNvPr id="13" name="Text 11"/>
          <p:cNvSpPr/>
          <p:nvPr/>
        </p:nvSpPr>
        <p:spPr>
          <a:xfrm>
            <a:off x="914400" y="278892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Launch GitHub Desktop from your Start menu</a:t>
            </a:r>
            <a:endParaRPr lang="en-US" sz="1100" dirty="0"/>
          </a:p>
        </p:txBody>
      </p:sp>
      <p:sp>
        <p:nvSpPr>
          <p:cNvPr id="14" name="Text 12"/>
          <p:cNvSpPr/>
          <p:nvPr/>
        </p:nvSpPr>
        <p:spPr>
          <a:xfrm>
            <a:off x="914400" y="310896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Sign in with your GitHub.com account</a:t>
            </a:r>
            <a:endParaRPr lang="en-US" sz="1100" dirty="0"/>
          </a:p>
        </p:txBody>
      </p:sp>
      <p:sp>
        <p:nvSpPr>
          <p:cNvPr id="15" name="Shape 13"/>
          <p:cNvSpPr/>
          <p:nvPr/>
        </p:nvSpPr>
        <p:spPr>
          <a:xfrm>
            <a:off x="4937760" y="1691640"/>
            <a:ext cx="3840480" cy="178308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16" name="Text 14"/>
          <p:cNvSpPr/>
          <p:nvPr/>
        </p:nvSpPr>
        <p:spPr>
          <a:xfrm>
            <a:off x="5120640" y="1783080"/>
            <a:ext cx="3474720" cy="320040"/>
          </a:xfrm>
          <a:prstGeom prst="rect">
            <a:avLst/>
          </a:prstGeom>
          <a:noFill/>
          <a:ln/>
        </p:spPr>
        <p:txBody>
          <a:bodyPr wrap="square" lIns="0" tIns="0" rIns="0" bIns="0" rtlCol="0" anchor="ctr"/>
          <a:lstStyle/>
          <a:p>
            <a:pPr marL="0" indent="0">
              <a:buNone/>
            </a:pPr>
            <a:r>
              <a:rPr lang="en-US" sz="1500" b="1" dirty="0">
                <a:solidFill>
                  <a:srgbClr val="1E2530"/>
                </a:solidFill>
                <a:latin typeface="Open Sans" pitchFamily="34" charset="0"/>
                <a:ea typeface="Open Sans" pitchFamily="34" charset="-122"/>
                <a:cs typeface="Open Sans" pitchFamily="34" charset="-120"/>
              </a:rPr>
              <a:t>Mac</a:t>
            </a:r>
            <a:endParaRPr lang="en-US" sz="1500" dirty="0"/>
          </a:p>
        </p:txBody>
      </p:sp>
      <p:sp>
        <p:nvSpPr>
          <p:cNvPr id="17" name="Text 15"/>
          <p:cNvSpPr/>
          <p:nvPr/>
        </p:nvSpPr>
        <p:spPr>
          <a:xfrm>
            <a:off x="5120640" y="214884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Download from desktop.github.com</a:t>
            </a:r>
            <a:endParaRPr lang="en-US" sz="1100" dirty="0"/>
          </a:p>
        </p:txBody>
      </p:sp>
      <p:sp>
        <p:nvSpPr>
          <p:cNvPr id="18" name="Text 16"/>
          <p:cNvSpPr/>
          <p:nvPr/>
        </p:nvSpPr>
        <p:spPr>
          <a:xfrm>
            <a:off x="5120640" y="246888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Open the .dmg, drag to Applications</a:t>
            </a:r>
            <a:endParaRPr lang="en-US" sz="1100" dirty="0"/>
          </a:p>
        </p:txBody>
      </p:sp>
      <p:sp>
        <p:nvSpPr>
          <p:cNvPr id="19" name="Text 17"/>
          <p:cNvSpPr/>
          <p:nvPr/>
        </p:nvSpPr>
        <p:spPr>
          <a:xfrm>
            <a:off x="5120640" y="278892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Launch GitHub Desktop from Applications</a:t>
            </a:r>
            <a:endParaRPr lang="en-US" sz="1100" dirty="0"/>
          </a:p>
        </p:txBody>
      </p:sp>
      <p:sp>
        <p:nvSpPr>
          <p:cNvPr id="20" name="Text 18"/>
          <p:cNvSpPr/>
          <p:nvPr/>
        </p:nvSpPr>
        <p:spPr>
          <a:xfrm>
            <a:off x="5120640" y="310896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Sign in with your GitHub.com account</a:t>
            </a:r>
            <a:endParaRPr lang="en-US" sz="1100" dirty="0"/>
          </a:p>
        </p:txBody>
      </p:sp>
      <p:sp>
        <p:nvSpPr>
          <p:cNvPr id="21" name="Shape 19"/>
          <p:cNvSpPr/>
          <p:nvPr/>
        </p:nvSpPr>
        <p:spPr>
          <a:xfrm>
            <a:off x="731520" y="3703320"/>
            <a:ext cx="7680960" cy="822960"/>
          </a:xfrm>
          <a:prstGeom prst="rect">
            <a:avLst/>
          </a:prstGeom>
          <a:solidFill>
            <a:srgbClr val="36454F"/>
          </a:solidFill>
          <a:ln/>
        </p:spPr>
        <p:txBody>
          <a:bodyPr/>
          <a:lstStyle/>
          <a:p>
            <a:endParaRPr lang="en-US"/>
          </a:p>
        </p:txBody>
      </p:sp>
      <p:pic>
        <p:nvPicPr>
          <p:cNvPr id="22" name="Image 0" descr="preencoded.png"/>
          <p:cNvPicPr>
            <a:picLocks noChangeAspect="1"/>
          </p:cNvPicPr>
          <p:nvPr/>
        </p:nvPicPr>
        <p:blipFill>
          <a:blip r:embed="rId3"/>
          <a:stretch>
            <a:fillRect/>
          </a:stretch>
        </p:blipFill>
        <p:spPr>
          <a:xfrm>
            <a:off x="960120" y="3840480"/>
            <a:ext cx="365760" cy="365760"/>
          </a:xfrm>
          <a:prstGeom prst="rect">
            <a:avLst/>
          </a:prstGeom>
        </p:spPr>
      </p:pic>
      <p:sp>
        <p:nvSpPr>
          <p:cNvPr id="23" name="Text 20"/>
          <p:cNvSpPr/>
          <p:nvPr/>
        </p:nvSpPr>
        <p:spPr>
          <a:xfrm>
            <a:off x="1463040" y="3749040"/>
            <a:ext cx="3657600" cy="274320"/>
          </a:xfrm>
          <a:prstGeom prst="rect">
            <a:avLst/>
          </a:prstGeom>
          <a:noFill/>
          <a:ln/>
        </p:spPr>
        <p:txBody>
          <a:bodyPr wrap="square" lIns="0" tIns="0" rIns="0" bIns="0" rtlCol="0" anchor="ctr"/>
          <a:lstStyle/>
          <a:p>
            <a:pPr marL="0" indent="0">
              <a:buNone/>
            </a:pPr>
            <a:r>
              <a:rPr lang="en-US" sz="1100" b="1" dirty="0">
                <a:solidFill>
                  <a:srgbClr val="B8975C"/>
                </a:solidFill>
                <a:latin typeface="Open Sans" pitchFamily="34" charset="0"/>
                <a:ea typeface="Open Sans" pitchFamily="34" charset="-122"/>
                <a:cs typeface="Open Sans" pitchFamily="34" charset="-120"/>
              </a:rPr>
              <a:t>First-Time Setup (Desktop confirms these on first launch):</a:t>
            </a:r>
            <a:endParaRPr lang="en-US" sz="1100" dirty="0"/>
          </a:p>
        </p:txBody>
      </p:sp>
      <p:sp>
        <p:nvSpPr>
          <p:cNvPr id="24" name="Text 21"/>
          <p:cNvSpPr/>
          <p:nvPr/>
        </p:nvSpPr>
        <p:spPr>
          <a:xfrm>
            <a:off x="1463040" y="4023360"/>
            <a:ext cx="6400800" cy="411480"/>
          </a:xfrm>
          <a:prstGeom prst="rect">
            <a:avLst/>
          </a:prstGeom>
          <a:noFill/>
          <a:ln/>
        </p:spPr>
        <p:txBody>
          <a:bodyPr wrap="square" lIns="0" tIns="0" rIns="0" bIns="0" rtlCol="0" anchor="ctr"/>
          <a:lstStyle/>
          <a:p>
            <a:pPr marL="0" indent="0">
              <a:lnSpc>
                <a:spcPct val="130000"/>
              </a:lnSpc>
              <a:buNone/>
            </a:pPr>
            <a:r>
              <a:rPr lang="en-US" sz="1100" dirty="0">
                <a:solidFill>
                  <a:srgbClr val="FFFFFF"/>
                </a:solidFill>
                <a:latin typeface="Consolas" pitchFamily="34" charset="0"/>
                <a:ea typeface="Consolas" pitchFamily="34" charset="-122"/>
                <a:cs typeface="Consolas" pitchFamily="34" charset="-120"/>
              </a:rPr>
              <a:t>Name:   Your full name (appears on every commit)</a:t>
            </a:r>
            <a:endParaRPr lang="en-US" sz="1100" dirty="0"/>
          </a:p>
          <a:p>
            <a:pPr marL="0" indent="0">
              <a:lnSpc>
                <a:spcPct val="130000"/>
              </a:lnSpc>
              <a:buNone/>
            </a:pPr>
            <a:r>
              <a:rPr lang="en-US" sz="1100" dirty="0">
                <a:solidFill>
                  <a:srgbClr val="FFFFFF"/>
                </a:solidFill>
                <a:latin typeface="Consolas" pitchFamily="34" charset="0"/>
                <a:ea typeface="Consolas" pitchFamily="34" charset="-122"/>
                <a:cs typeface="Consolas" pitchFamily="34" charset="-120"/>
              </a:rPr>
              <a:t>Email:  your@hawaii.edu  (matches your GitHub account)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B8975C"/>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every commit lands in your repo</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5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The Git Workflow: Add, Commit, Push</a:t>
            </a:r>
            <a:endParaRPr lang="en-US" sz="2800" dirty="0"/>
          </a:p>
        </p:txBody>
      </p:sp>
      <p:sp>
        <p:nvSpPr>
          <p:cNvPr id="8" name="Text 6"/>
          <p:cNvSpPr/>
          <p:nvPr/>
        </p:nvSpPr>
        <p:spPr>
          <a:xfrm>
            <a:off x="731520" y="1097280"/>
            <a:ext cx="7680960" cy="320040"/>
          </a:xfrm>
          <a:prstGeom prst="rect">
            <a:avLst/>
          </a:prstGeom>
          <a:noFill/>
          <a:ln/>
        </p:spPr>
        <p:txBody>
          <a:bodyPr wrap="square" lIns="0" tIns="0" rIns="0" bIns="0" rtlCol="0" anchor="ctr"/>
          <a:lstStyle/>
          <a:p>
            <a:pPr marL="0" indent="0">
              <a:buNone/>
            </a:pPr>
            <a:r>
              <a:rPr lang="en-US" sz="1200" dirty="0">
                <a:solidFill>
                  <a:srgbClr val="5A6B7A"/>
                </a:solidFill>
                <a:latin typeface="Open Sans" pitchFamily="34" charset="0"/>
                <a:ea typeface="Open Sans" pitchFamily="34" charset="-122"/>
                <a:cs typeface="Open Sans" pitchFamily="34" charset="-120"/>
              </a:rPr>
              <a:t>These three commands are all you need. Run them every time you finish work on a deliverable.</a:t>
            </a:r>
            <a:endParaRPr lang="en-US" sz="1200" dirty="0"/>
          </a:p>
        </p:txBody>
      </p:sp>
      <p:sp>
        <p:nvSpPr>
          <p:cNvPr id="9" name="Shape 7"/>
          <p:cNvSpPr/>
          <p:nvPr/>
        </p:nvSpPr>
        <p:spPr>
          <a:xfrm>
            <a:off x="731520" y="1554480"/>
            <a:ext cx="2468880" cy="265176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10" name="Shape 8"/>
          <p:cNvSpPr/>
          <p:nvPr/>
        </p:nvSpPr>
        <p:spPr>
          <a:xfrm>
            <a:off x="1691640" y="1691640"/>
            <a:ext cx="365760" cy="365760"/>
          </a:xfrm>
          <a:prstGeom prst="line">
            <a:avLst/>
          </a:prstGeom>
          <a:solidFill>
            <a:srgbClr val="B8975C"/>
          </a:solidFill>
          <a:ln/>
        </p:spPr>
        <p:txBody>
          <a:bodyPr/>
          <a:lstStyle/>
          <a:p>
            <a:endParaRPr lang="en-US"/>
          </a:p>
        </p:txBody>
      </p:sp>
      <p:sp>
        <p:nvSpPr>
          <p:cNvPr id="11" name="Text 9"/>
          <p:cNvSpPr/>
          <p:nvPr/>
        </p:nvSpPr>
        <p:spPr>
          <a:xfrm>
            <a:off x="1691640" y="16916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1</a:t>
            </a:r>
            <a:endParaRPr lang="en-US" sz="1400" dirty="0"/>
          </a:p>
        </p:txBody>
      </p:sp>
      <p:sp>
        <p:nvSpPr>
          <p:cNvPr id="12" name="Text 10"/>
          <p:cNvSpPr/>
          <p:nvPr/>
        </p:nvSpPr>
        <p:spPr>
          <a:xfrm>
            <a:off x="868680" y="2148840"/>
            <a:ext cx="2194560" cy="274320"/>
          </a:xfrm>
          <a:prstGeom prst="rect">
            <a:avLst/>
          </a:prstGeom>
          <a:noFill/>
          <a:ln/>
        </p:spPr>
        <p:txBody>
          <a:bodyPr wrap="square" lIns="0" tIns="0" rIns="0" bIns="0" rtlCol="0" anchor="ctr"/>
          <a:lstStyle/>
          <a:p>
            <a:pPr marL="0" indent="0" algn="ctr">
              <a:buNone/>
            </a:pPr>
            <a:r>
              <a:rPr lang="en-US" sz="1500" b="1" dirty="0">
                <a:solidFill>
                  <a:srgbClr val="1E2530"/>
                </a:solidFill>
                <a:latin typeface="Open Sans" pitchFamily="34" charset="0"/>
                <a:ea typeface="Open Sans" pitchFamily="34" charset="-122"/>
                <a:cs typeface="Open Sans" pitchFamily="34" charset="-120"/>
              </a:rPr>
              <a:t>Stage</a:t>
            </a:r>
            <a:endParaRPr lang="en-US" sz="1500" dirty="0"/>
          </a:p>
        </p:txBody>
      </p:sp>
      <p:sp>
        <p:nvSpPr>
          <p:cNvPr id="13" name="Text 11"/>
          <p:cNvSpPr/>
          <p:nvPr/>
        </p:nvSpPr>
        <p:spPr>
          <a:xfrm>
            <a:off x="868680" y="2514600"/>
            <a:ext cx="2194560" cy="365760"/>
          </a:xfrm>
          <a:prstGeom prst="rect">
            <a:avLst/>
          </a:prstGeom>
          <a:solidFill>
            <a:srgbClr val="36454F"/>
          </a:solidFill>
          <a:ln/>
        </p:spPr>
        <p:txBody>
          <a:bodyPr wrap="square" lIns="0" tIns="0" rIns="0" bIns="0" rtlCol="0" anchor="ctr"/>
          <a:lstStyle/>
          <a:p>
            <a:pPr marL="0" indent="0" algn="ctr">
              <a:buNone/>
            </a:pPr>
            <a:r>
              <a:rPr lang="en-US" sz="1000" dirty="0">
                <a:solidFill>
                  <a:srgbClr val="B8975C"/>
                </a:solidFill>
                <a:latin typeface="Consolas" pitchFamily="34" charset="0"/>
                <a:ea typeface="Consolas" pitchFamily="34" charset="-122"/>
                <a:cs typeface="Consolas" pitchFamily="34" charset="-120"/>
              </a:rPr>
              <a:t>git add .</a:t>
            </a:r>
            <a:endParaRPr lang="en-US" sz="1000" dirty="0"/>
          </a:p>
        </p:txBody>
      </p:sp>
      <p:sp>
        <p:nvSpPr>
          <p:cNvPr id="14" name="Text 12"/>
          <p:cNvSpPr/>
          <p:nvPr/>
        </p:nvSpPr>
        <p:spPr>
          <a:xfrm>
            <a:off x="868680" y="2971800"/>
            <a:ext cx="2194560" cy="1005840"/>
          </a:xfrm>
          <a:prstGeom prst="rect">
            <a:avLst/>
          </a:prstGeom>
          <a:noFill/>
          <a:ln/>
        </p:spPr>
        <p:txBody>
          <a:bodyPr wrap="square" lIns="0" tIns="0" rIns="0" bIns="0" rtlCol="0" anchor="t"/>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Tells Git which files to include in the next save. The dot means all changed files.</a:t>
            </a:r>
            <a:endParaRPr lang="en-US" sz="1100" dirty="0"/>
          </a:p>
        </p:txBody>
      </p:sp>
      <p:sp>
        <p:nvSpPr>
          <p:cNvPr id="15" name="Shape 13"/>
          <p:cNvSpPr/>
          <p:nvPr/>
        </p:nvSpPr>
        <p:spPr>
          <a:xfrm>
            <a:off x="3474720" y="1554480"/>
            <a:ext cx="2468880" cy="265176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16" name="Shape 14"/>
          <p:cNvSpPr/>
          <p:nvPr/>
        </p:nvSpPr>
        <p:spPr>
          <a:xfrm>
            <a:off x="4434840" y="1691640"/>
            <a:ext cx="365760" cy="365760"/>
          </a:xfrm>
          <a:prstGeom prst="line">
            <a:avLst/>
          </a:prstGeom>
          <a:solidFill>
            <a:srgbClr val="B8975C"/>
          </a:solidFill>
          <a:ln/>
        </p:spPr>
        <p:txBody>
          <a:bodyPr/>
          <a:lstStyle/>
          <a:p>
            <a:endParaRPr lang="en-US"/>
          </a:p>
        </p:txBody>
      </p:sp>
      <p:sp>
        <p:nvSpPr>
          <p:cNvPr id="17" name="Text 15"/>
          <p:cNvSpPr/>
          <p:nvPr/>
        </p:nvSpPr>
        <p:spPr>
          <a:xfrm>
            <a:off x="4434840" y="16916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2</a:t>
            </a:r>
            <a:endParaRPr lang="en-US" sz="1400" dirty="0"/>
          </a:p>
        </p:txBody>
      </p:sp>
      <p:sp>
        <p:nvSpPr>
          <p:cNvPr id="18" name="Text 16"/>
          <p:cNvSpPr/>
          <p:nvPr/>
        </p:nvSpPr>
        <p:spPr>
          <a:xfrm>
            <a:off x="3611880" y="2148840"/>
            <a:ext cx="2194560" cy="274320"/>
          </a:xfrm>
          <a:prstGeom prst="rect">
            <a:avLst/>
          </a:prstGeom>
          <a:noFill/>
          <a:ln/>
        </p:spPr>
        <p:txBody>
          <a:bodyPr wrap="square" lIns="0" tIns="0" rIns="0" bIns="0" rtlCol="0" anchor="ctr"/>
          <a:lstStyle/>
          <a:p>
            <a:pPr marL="0" indent="0" algn="ctr">
              <a:buNone/>
            </a:pPr>
            <a:r>
              <a:rPr lang="en-US" sz="1500" b="1" dirty="0">
                <a:solidFill>
                  <a:srgbClr val="1E2530"/>
                </a:solidFill>
                <a:latin typeface="Open Sans" pitchFamily="34" charset="0"/>
                <a:ea typeface="Open Sans" pitchFamily="34" charset="-122"/>
                <a:cs typeface="Open Sans" pitchFamily="34" charset="-120"/>
              </a:rPr>
              <a:t>Commit</a:t>
            </a:r>
            <a:endParaRPr lang="en-US" sz="1500" dirty="0"/>
          </a:p>
        </p:txBody>
      </p:sp>
      <p:sp>
        <p:nvSpPr>
          <p:cNvPr id="19" name="Text 17"/>
          <p:cNvSpPr/>
          <p:nvPr/>
        </p:nvSpPr>
        <p:spPr>
          <a:xfrm>
            <a:off x="3611880" y="2514600"/>
            <a:ext cx="2194560" cy="365760"/>
          </a:xfrm>
          <a:prstGeom prst="rect">
            <a:avLst/>
          </a:prstGeom>
          <a:solidFill>
            <a:srgbClr val="36454F"/>
          </a:solidFill>
          <a:ln/>
        </p:spPr>
        <p:txBody>
          <a:bodyPr wrap="square" lIns="0" tIns="0" rIns="0" bIns="0" rtlCol="0" anchor="ctr"/>
          <a:lstStyle/>
          <a:p>
            <a:pPr marL="0" indent="0" algn="ctr">
              <a:buNone/>
            </a:pPr>
            <a:r>
              <a:rPr lang="en-US" sz="1000" dirty="0">
                <a:solidFill>
                  <a:srgbClr val="B8975C"/>
                </a:solidFill>
                <a:latin typeface="Consolas" pitchFamily="34" charset="0"/>
                <a:ea typeface="Consolas" pitchFamily="34" charset="-122"/>
                <a:cs typeface="Consolas" pitchFamily="34" charset="-120"/>
              </a:rPr>
              <a:t>git commit -m "Stage 1 memo"</a:t>
            </a:r>
            <a:endParaRPr lang="en-US" sz="1000" dirty="0"/>
          </a:p>
        </p:txBody>
      </p:sp>
      <p:sp>
        <p:nvSpPr>
          <p:cNvPr id="20" name="Text 18"/>
          <p:cNvSpPr/>
          <p:nvPr/>
        </p:nvSpPr>
        <p:spPr>
          <a:xfrm>
            <a:off x="3611880" y="2971800"/>
            <a:ext cx="2194560" cy="1005840"/>
          </a:xfrm>
          <a:prstGeom prst="rect">
            <a:avLst/>
          </a:prstGeom>
          <a:noFill/>
          <a:ln/>
        </p:spPr>
        <p:txBody>
          <a:bodyPr wrap="square" lIns="0" tIns="0" rIns="0" bIns="0" rtlCol="0" anchor="t"/>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Creates a permanent snapshot with a descriptive message. This is your save point.</a:t>
            </a:r>
            <a:endParaRPr lang="en-US" sz="1100" dirty="0"/>
          </a:p>
        </p:txBody>
      </p:sp>
      <p:sp>
        <p:nvSpPr>
          <p:cNvPr id="21" name="Shape 19"/>
          <p:cNvSpPr/>
          <p:nvPr/>
        </p:nvSpPr>
        <p:spPr>
          <a:xfrm>
            <a:off x="6217920" y="1554480"/>
            <a:ext cx="2468880" cy="265176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22" name="Shape 20"/>
          <p:cNvSpPr/>
          <p:nvPr/>
        </p:nvSpPr>
        <p:spPr>
          <a:xfrm>
            <a:off x="7178040" y="1691640"/>
            <a:ext cx="365760" cy="365760"/>
          </a:xfrm>
          <a:prstGeom prst="line">
            <a:avLst/>
          </a:prstGeom>
          <a:solidFill>
            <a:srgbClr val="B8975C"/>
          </a:solidFill>
          <a:ln/>
        </p:spPr>
        <p:txBody>
          <a:bodyPr/>
          <a:lstStyle/>
          <a:p>
            <a:endParaRPr lang="en-US"/>
          </a:p>
        </p:txBody>
      </p:sp>
      <p:sp>
        <p:nvSpPr>
          <p:cNvPr id="23" name="Text 21"/>
          <p:cNvSpPr/>
          <p:nvPr/>
        </p:nvSpPr>
        <p:spPr>
          <a:xfrm>
            <a:off x="7178040" y="16916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3</a:t>
            </a:r>
            <a:endParaRPr lang="en-US" sz="1400" dirty="0"/>
          </a:p>
        </p:txBody>
      </p:sp>
      <p:sp>
        <p:nvSpPr>
          <p:cNvPr id="24" name="Text 22"/>
          <p:cNvSpPr/>
          <p:nvPr/>
        </p:nvSpPr>
        <p:spPr>
          <a:xfrm>
            <a:off x="6355080" y="2148840"/>
            <a:ext cx="2194560" cy="274320"/>
          </a:xfrm>
          <a:prstGeom prst="rect">
            <a:avLst/>
          </a:prstGeom>
          <a:noFill/>
          <a:ln/>
        </p:spPr>
        <p:txBody>
          <a:bodyPr wrap="square" lIns="0" tIns="0" rIns="0" bIns="0" rtlCol="0" anchor="ctr"/>
          <a:lstStyle/>
          <a:p>
            <a:pPr marL="0" indent="0" algn="ctr">
              <a:buNone/>
            </a:pPr>
            <a:r>
              <a:rPr lang="en-US" sz="1500" b="1" dirty="0">
                <a:solidFill>
                  <a:srgbClr val="1E2530"/>
                </a:solidFill>
                <a:latin typeface="Open Sans" pitchFamily="34" charset="0"/>
                <a:ea typeface="Open Sans" pitchFamily="34" charset="-122"/>
                <a:cs typeface="Open Sans" pitchFamily="34" charset="-120"/>
              </a:rPr>
              <a:t>Push</a:t>
            </a:r>
            <a:endParaRPr lang="en-US" sz="1500" dirty="0"/>
          </a:p>
        </p:txBody>
      </p:sp>
      <p:sp>
        <p:nvSpPr>
          <p:cNvPr id="25" name="Text 23"/>
          <p:cNvSpPr/>
          <p:nvPr/>
        </p:nvSpPr>
        <p:spPr>
          <a:xfrm>
            <a:off x="6355080" y="2514600"/>
            <a:ext cx="2194560" cy="365760"/>
          </a:xfrm>
          <a:prstGeom prst="rect">
            <a:avLst/>
          </a:prstGeom>
          <a:solidFill>
            <a:srgbClr val="36454F"/>
          </a:solidFill>
          <a:ln/>
        </p:spPr>
        <p:txBody>
          <a:bodyPr wrap="square" lIns="0" tIns="0" rIns="0" bIns="0" rtlCol="0" anchor="ctr"/>
          <a:lstStyle/>
          <a:p>
            <a:pPr marL="0" indent="0" algn="ctr">
              <a:buNone/>
            </a:pPr>
            <a:r>
              <a:rPr lang="en-US" sz="1000" dirty="0">
                <a:solidFill>
                  <a:srgbClr val="B8975C"/>
                </a:solidFill>
                <a:latin typeface="Consolas" pitchFamily="34" charset="0"/>
                <a:ea typeface="Consolas" pitchFamily="34" charset="-122"/>
                <a:cs typeface="Consolas" pitchFamily="34" charset="-120"/>
              </a:rPr>
              <a:t>git push</a:t>
            </a:r>
            <a:endParaRPr lang="en-US" sz="1000" dirty="0"/>
          </a:p>
        </p:txBody>
      </p:sp>
      <p:sp>
        <p:nvSpPr>
          <p:cNvPr id="26" name="Text 24"/>
          <p:cNvSpPr/>
          <p:nvPr/>
        </p:nvSpPr>
        <p:spPr>
          <a:xfrm>
            <a:off x="6355080" y="2971800"/>
            <a:ext cx="2194560" cy="1005840"/>
          </a:xfrm>
          <a:prstGeom prst="rect">
            <a:avLst/>
          </a:prstGeom>
          <a:noFill/>
          <a:ln/>
        </p:spPr>
        <p:txBody>
          <a:bodyPr wrap="square" lIns="0" tIns="0" rIns="0" bIns="0" rtlCol="0" anchor="t"/>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Uploads your commits to GitHub so they are visible online and to your instructor.</a:t>
            </a:r>
            <a:endParaRPr lang="en-US" sz="1100" dirty="0"/>
          </a:p>
        </p:txBody>
      </p:sp>
      <p:sp>
        <p:nvSpPr>
          <p:cNvPr id="27" name="Shape 25"/>
          <p:cNvSpPr/>
          <p:nvPr/>
        </p:nvSpPr>
        <p:spPr>
          <a:xfrm>
            <a:off x="731520" y="4315968"/>
            <a:ext cx="7680960" cy="45720"/>
          </a:xfrm>
          <a:prstGeom prst="rect">
            <a:avLst/>
          </a:prstGeom>
          <a:solidFill>
            <a:srgbClr val="B8975C"/>
          </a:solidFill>
          <a:ln/>
        </p:spPr>
        <p:txBody>
          <a:bodyPr/>
          <a:lstStyle/>
          <a:p>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1 — Ratios Template Upload</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20% of project  |  Upload-only — use the provided ratios template, do not modify</a:t>
            </a:r>
            <a:endParaRPr lang="en-US" sz="1100" dirty="0"/>
          </a:p>
        </p:txBody>
      </p:sp>
      <p:sp>
        <p:nvSpPr>
          <p:cNvPr id="5" name="Text 3"/>
          <p:cNvSpPr/>
          <p:nvPr/>
        </p:nvSpPr>
        <p:spPr>
          <a:xfrm>
            <a:off x="548640" y="1051560"/>
            <a:ext cx="4114800" cy="274320"/>
          </a:xfrm>
          <a:prstGeom prst="rect">
            <a:avLst/>
          </a:prstGeom>
          <a:noFill/>
          <a:ln/>
        </p:spPr>
        <p:txBody>
          <a:bodyPr wrap="square" lIns="0" tIns="0" rIns="0" bIns="0" rtlCol="0" anchor="ctr"/>
          <a:lstStyle/>
          <a:p>
            <a:pPr marL="0" indent="0">
              <a:buNone/>
            </a:pPr>
            <a:r>
              <a:rPr lang="en-US" sz="1300" b="1" dirty="0">
                <a:solidFill>
                  <a:srgbClr val="0D0D0D"/>
                </a:solidFill>
                <a:latin typeface="Open Sans" pitchFamily="34" charset="0"/>
                <a:ea typeface="Open Sans" pitchFamily="34" charset="-122"/>
                <a:cs typeface="Open Sans" pitchFamily="34" charset="-120"/>
              </a:rPr>
              <a:t>The provided template includes:</a:t>
            </a:r>
            <a:endParaRPr lang="en-US" sz="1300" dirty="0"/>
          </a:p>
        </p:txBody>
      </p:sp>
      <p:sp>
        <p:nvSpPr>
          <p:cNvPr id="6" name="Text 4"/>
          <p:cNvSpPr/>
          <p:nvPr/>
        </p:nvSpPr>
        <p:spPr>
          <a:xfrm>
            <a:off x="548640" y="1371600"/>
            <a:ext cx="4114800" cy="2011680"/>
          </a:xfrm>
          <a:prstGeom prst="rect">
            <a:avLst/>
          </a:prstGeom>
          <a:noFill/>
          <a:ln/>
        </p:spPr>
        <p:txBody>
          <a:bodyPr wrap="square" rtlCol="0" anchor="ctr"/>
          <a:lstStyle/>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Financial statement tabs (Balance Sheet, Income Statement, Cash Flow)</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Ratios tab with all six categories pre-filled in named-range notation</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Named ranges (BAL_*, INC_*, CASH_*, RATIO_*) defined throughout</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Color coding system applied (Yellow/Blue/Green/Gray)</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Cover &amp; Instructions tab with project overview and named-range key</a:t>
            </a:r>
            <a:endParaRPr lang="en-US" sz="1100" dirty="0"/>
          </a:p>
        </p:txBody>
      </p:sp>
      <p:sp>
        <p:nvSpPr>
          <p:cNvPr id="7" name="Text 5"/>
          <p:cNvSpPr/>
          <p:nvPr/>
        </p:nvSpPr>
        <p:spPr>
          <a:xfrm>
            <a:off x="548640" y="3520440"/>
            <a:ext cx="4114800" cy="27432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Color Coding Convention</a:t>
            </a:r>
            <a:endParaRPr lang="en-US" sz="1200" dirty="0"/>
          </a:p>
        </p:txBody>
      </p:sp>
      <p:sp>
        <p:nvSpPr>
          <p:cNvPr id="8" name="Shape 6"/>
          <p:cNvSpPr/>
          <p:nvPr/>
        </p:nvSpPr>
        <p:spPr>
          <a:xfrm>
            <a:off x="548640" y="3840480"/>
            <a:ext cx="914400" cy="594360"/>
          </a:xfrm>
          <a:prstGeom prst="rect">
            <a:avLst/>
          </a:prstGeom>
          <a:solidFill>
            <a:srgbClr val="FEF3C7"/>
          </a:solidFill>
          <a:ln w="19050">
            <a:solidFill>
              <a:srgbClr val="D97706"/>
            </a:solidFill>
            <a:prstDash val="solid"/>
          </a:ln>
        </p:spPr>
        <p:txBody>
          <a:bodyPr/>
          <a:lstStyle/>
          <a:p>
            <a:endParaRPr lang="en-US"/>
          </a:p>
        </p:txBody>
      </p:sp>
      <p:sp>
        <p:nvSpPr>
          <p:cNvPr id="9" name="Text 7"/>
          <p:cNvSpPr/>
          <p:nvPr/>
        </p:nvSpPr>
        <p:spPr>
          <a:xfrm>
            <a:off x="548640" y="3886200"/>
            <a:ext cx="914400" cy="502920"/>
          </a:xfrm>
          <a:prstGeom prst="rect">
            <a:avLst/>
          </a:prstGeom>
          <a:noFill/>
          <a:ln/>
        </p:spPr>
        <p:txBody>
          <a:bodyPr wrap="square" rtlCol="0" anchor="ctr"/>
          <a:lstStyle/>
          <a:p>
            <a:pPr marL="0" indent="0" algn="ctr">
              <a:buNone/>
            </a:pPr>
            <a:r>
              <a:rPr lang="en-US" sz="800" b="1" dirty="0">
                <a:solidFill>
                  <a:srgbClr val="D97706"/>
                </a:solidFill>
                <a:latin typeface="Open Sans" pitchFamily="34" charset="0"/>
                <a:ea typeface="Open Sans" pitchFamily="34" charset="-122"/>
                <a:cs typeface="Open Sans" pitchFamily="34" charset="-120"/>
              </a:rPr>
              <a:t>Yellow = Inputs</a:t>
            </a:r>
            <a:endParaRPr lang="en-US" sz="800" dirty="0"/>
          </a:p>
        </p:txBody>
      </p:sp>
      <p:sp>
        <p:nvSpPr>
          <p:cNvPr id="10" name="Shape 8"/>
          <p:cNvSpPr/>
          <p:nvPr/>
        </p:nvSpPr>
        <p:spPr>
          <a:xfrm>
            <a:off x="1572768" y="3840480"/>
            <a:ext cx="914400" cy="594360"/>
          </a:xfrm>
          <a:prstGeom prst="rect">
            <a:avLst/>
          </a:prstGeom>
          <a:solidFill>
            <a:srgbClr val="DBEAFE"/>
          </a:solidFill>
          <a:ln w="19050">
            <a:solidFill>
              <a:srgbClr val="2563EB"/>
            </a:solidFill>
            <a:prstDash val="solid"/>
          </a:ln>
        </p:spPr>
        <p:txBody>
          <a:bodyPr/>
          <a:lstStyle/>
          <a:p>
            <a:endParaRPr lang="en-US"/>
          </a:p>
        </p:txBody>
      </p:sp>
      <p:sp>
        <p:nvSpPr>
          <p:cNvPr id="11" name="Text 9"/>
          <p:cNvSpPr/>
          <p:nvPr/>
        </p:nvSpPr>
        <p:spPr>
          <a:xfrm>
            <a:off x="1572768" y="3886200"/>
            <a:ext cx="914400" cy="502920"/>
          </a:xfrm>
          <a:prstGeom prst="rect">
            <a:avLst/>
          </a:prstGeom>
          <a:noFill/>
          <a:ln/>
        </p:spPr>
        <p:txBody>
          <a:bodyPr wrap="square" rtlCol="0" anchor="ctr"/>
          <a:lstStyle/>
          <a:p>
            <a:pPr marL="0" indent="0" algn="ctr">
              <a:buNone/>
            </a:pPr>
            <a:r>
              <a:rPr lang="en-US" sz="800" b="1" dirty="0">
                <a:solidFill>
                  <a:srgbClr val="2563EB"/>
                </a:solidFill>
                <a:latin typeface="Open Sans" pitchFamily="34" charset="0"/>
                <a:ea typeface="Open Sans" pitchFamily="34" charset="-122"/>
                <a:cs typeface="Open Sans" pitchFamily="34" charset="-120"/>
              </a:rPr>
              <a:t>Blue = Assumptions</a:t>
            </a:r>
            <a:endParaRPr lang="en-US" sz="800" dirty="0"/>
          </a:p>
        </p:txBody>
      </p:sp>
      <p:sp>
        <p:nvSpPr>
          <p:cNvPr id="12" name="Shape 10"/>
          <p:cNvSpPr/>
          <p:nvPr/>
        </p:nvSpPr>
        <p:spPr>
          <a:xfrm>
            <a:off x="2596896" y="3840480"/>
            <a:ext cx="914400" cy="594360"/>
          </a:xfrm>
          <a:prstGeom prst="rect">
            <a:avLst/>
          </a:prstGeom>
          <a:solidFill>
            <a:srgbClr val="D1FAE5"/>
          </a:solidFill>
          <a:ln w="19050">
            <a:solidFill>
              <a:srgbClr val="059669"/>
            </a:solidFill>
            <a:prstDash val="solid"/>
          </a:ln>
        </p:spPr>
        <p:txBody>
          <a:bodyPr/>
          <a:lstStyle/>
          <a:p>
            <a:endParaRPr lang="en-US"/>
          </a:p>
        </p:txBody>
      </p:sp>
      <p:sp>
        <p:nvSpPr>
          <p:cNvPr id="13" name="Text 11"/>
          <p:cNvSpPr/>
          <p:nvPr/>
        </p:nvSpPr>
        <p:spPr>
          <a:xfrm>
            <a:off x="2596896" y="3886200"/>
            <a:ext cx="914400" cy="502920"/>
          </a:xfrm>
          <a:prstGeom prst="rect">
            <a:avLst/>
          </a:prstGeom>
          <a:noFill/>
          <a:ln/>
        </p:spPr>
        <p:txBody>
          <a:bodyPr wrap="square" rtlCol="0" anchor="ctr"/>
          <a:lstStyle/>
          <a:p>
            <a:pPr marL="0" indent="0" algn="ctr">
              <a:buNone/>
            </a:pPr>
            <a:r>
              <a:rPr lang="en-US" sz="800" b="1" dirty="0">
                <a:solidFill>
                  <a:srgbClr val="059669"/>
                </a:solidFill>
                <a:latin typeface="Open Sans" pitchFamily="34" charset="0"/>
                <a:ea typeface="Open Sans" pitchFamily="34" charset="-122"/>
                <a:cs typeface="Open Sans" pitchFamily="34" charset="-120"/>
              </a:rPr>
              <a:t>Green = Formulas</a:t>
            </a:r>
            <a:endParaRPr lang="en-US" sz="800" dirty="0"/>
          </a:p>
        </p:txBody>
      </p:sp>
      <p:sp>
        <p:nvSpPr>
          <p:cNvPr id="14" name="Shape 12"/>
          <p:cNvSpPr/>
          <p:nvPr/>
        </p:nvSpPr>
        <p:spPr>
          <a:xfrm>
            <a:off x="3621024" y="3840480"/>
            <a:ext cx="914400" cy="594360"/>
          </a:xfrm>
          <a:prstGeom prst="rect">
            <a:avLst/>
          </a:prstGeom>
          <a:solidFill>
            <a:srgbClr val="E5E7EB"/>
          </a:solidFill>
          <a:ln w="19050">
            <a:solidFill>
              <a:srgbClr val="6B7280"/>
            </a:solidFill>
            <a:prstDash val="solid"/>
          </a:ln>
        </p:spPr>
        <p:txBody>
          <a:bodyPr/>
          <a:lstStyle/>
          <a:p>
            <a:endParaRPr lang="en-US"/>
          </a:p>
        </p:txBody>
      </p:sp>
      <p:sp>
        <p:nvSpPr>
          <p:cNvPr id="15" name="Text 13"/>
          <p:cNvSpPr/>
          <p:nvPr/>
        </p:nvSpPr>
        <p:spPr>
          <a:xfrm>
            <a:off x="3621024" y="3886200"/>
            <a:ext cx="914400" cy="502920"/>
          </a:xfrm>
          <a:prstGeom prst="rect">
            <a:avLst/>
          </a:prstGeom>
          <a:noFill/>
          <a:ln/>
        </p:spPr>
        <p:txBody>
          <a:bodyPr wrap="square" rtlCol="0" anchor="ctr"/>
          <a:lstStyle/>
          <a:p>
            <a:pPr marL="0" indent="0" algn="ctr">
              <a:buNone/>
            </a:pPr>
            <a:r>
              <a:rPr lang="en-US" sz="800" b="1" dirty="0">
                <a:solidFill>
                  <a:srgbClr val="6B7280"/>
                </a:solidFill>
                <a:latin typeface="Open Sans" pitchFamily="34" charset="0"/>
                <a:ea typeface="Open Sans" pitchFamily="34" charset="-122"/>
                <a:cs typeface="Open Sans" pitchFamily="34" charset="-120"/>
              </a:rPr>
              <a:t>Gray = Outputs</a:t>
            </a:r>
            <a:endParaRPr lang="en-US" sz="800" dirty="0"/>
          </a:p>
        </p:txBody>
      </p:sp>
      <p:sp>
        <p:nvSpPr>
          <p:cNvPr id="16" name="Shape 14"/>
          <p:cNvSpPr/>
          <p:nvPr/>
        </p:nvSpPr>
        <p:spPr>
          <a:xfrm>
            <a:off x="5029200" y="1051560"/>
            <a:ext cx="3657600" cy="361188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17" name="Text 15"/>
          <p:cNvSpPr/>
          <p:nvPr/>
        </p:nvSpPr>
        <p:spPr>
          <a:xfrm>
            <a:off x="5212080" y="1188720"/>
            <a:ext cx="329184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Six Ratio Categories</a:t>
            </a:r>
            <a:endParaRPr lang="en-US" sz="1300" dirty="0"/>
          </a:p>
        </p:txBody>
      </p:sp>
      <p:sp>
        <p:nvSpPr>
          <p:cNvPr id="18" name="Shape 16"/>
          <p:cNvSpPr/>
          <p:nvPr/>
        </p:nvSpPr>
        <p:spPr>
          <a:xfrm>
            <a:off x="5303520" y="1618488"/>
            <a:ext cx="228600" cy="228600"/>
          </a:xfrm>
          <a:prstGeom prst="ellipse">
            <a:avLst/>
          </a:prstGeom>
          <a:solidFill>
            <a:srgbClr val="024731"/>
          </a:solidFill>
          <a:ln/>
        </p:spPr>
        <p:txBody>
          <a:bodyPr/>
          <a:lstStyle/>
          <a:p>
            <a:endParaRPr lang="en-US"/>
          </a:p>
        </p:txBody>
      </p:sp>
      <p:sp>
        <p:nvSpPr>
          <p:cNvPr id="19" name="Text 17"/>
          <p:cNvSpPr/>
          <p:nvPr/>
        </p:nvSpPr>
        <p:spPr>
          <a:xfrm>
            <a:off x="5303520" y="1618488"/>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1</a:t>
            </a:r>
            <a:endParaRPr lang="en-US" sz="900" dirty="0"/>
          </a:p>
        </p:txBody>
      </p:sp>
      <p:sp>
        <p:nvSpPr>
          <p:cNvPr id="20" name="Text 18"/>
          <p:cNvSpPr/>
          <p:nvPr/>
        </p:nvSpPr>
        <p:spPr>
          <a:xfrm>
            <a:off x="5623560" y="1581912"/>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Performance</a:t>
            </a:r>
            <a:endParaRPr lang="en-US" sz="1100" dirty="0"/>
          </a:p>
        </p:txBody>
      </p:sp>
      <p:sp>
        <p:nvSpPr>
          <p:cNvPr id="21" name="Text 19"/>
          <p:cNvSpPr/>
          <p:nvPr/>
        </p:nvSpPr>
        <p:spPr>
          <a:xfrm>
            <a:off x="5623560" y="1783080"/>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MVA, Market-to-Book, EVA</a:t>
            </a:r>
            <a:endParaRPr lang="en-US" sz="900" dirty="0"/>
          </a:p>
        </p:txBody>
      </p:sp>
      <p:sp>
        <p:nvSpPr>
          <p:cNvPr id="22" name="Shape 20"/>
          <p:cNvSpPr/>
          <p:nvPr/>
        </p:nvSpPr>
        <p:spPr>
          <a:xfrm>
            <a:off x="5303520" y="2103120"/>
            <a:ext cx="228600" cy="228600"/>
          </a:xfrm>
          <a:prstGeom prst="ellipse">
            <a:avLst/>
          </a:prstGeom>
          <a:solidFill>
            <a:srgbClr val="024731"/>
          </a:solidFill>
          <a:ln/>
        </p:spPr>
        <p:txBody>
          <a:bodyPr/>
          <a:lstStyle/>
          <a:p>
            <a:endParaRPr lang="en-US"/>
          </a:p>
        </p:txBody>
      </p:sp>
      <p:sp>
        <p:nvSpPr>
          <p:cNvPr id="23" name="Text 21"/>
          <p:cNvSpPr/>
          <p:nvPr/>
        </p:nvSpPr>
        <p:spPr>
          <a:xfrm>
            <a:off x="5303520" y="2103120"/>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2</a:t>
            </a:r>
            <a:endParaRPr lang="en-US" sz="900" dirty="0"/>
          </a:p>
        </p:txBody>
      </p:sp>
      <p:sp>
        <p:nvSpPr>
          <p:cNvPr id="24" name="Text 22"/>
          <p:cNvSpPr/>
          <p:nvPr/>
        </p:nvSpPr>
        <p:spPr>
          <a:xfrm>
            <a:off x="5623560" y="2066544"/>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Profitability</a:t>
            </a:r>
            <a:endParaRPr lang="en-US" sz="1100" dirty="0"/>
          </a:p>
        </p:txBody>
      </p:sp>
      <p:sp>
        <p:nvSpPr>
          <p:cNvPr id="25" name="Text 23"/>
          <p:cNvSpPr/>
          <p:nvPr/>
        </p:nvSpPr>
        <p:spPr>
          <a:xfrm>
            <a:off x="5623560" y="2267712"/>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ROA, ROC, ROE</a:t>
            </a:r>
            <a:endParaRPr lang="en-US" sz="900" dirty="0"/>
          </a:p>
        </p:txBody>
      </p:sp>
      <p:sp>
        <p:nvSpPr>
          <p:cNvPr id="26" name="Shape 24"/>
          <p:cNvSpPr/>
          <p:nvPr/>
        </p:nvSpPr>
        <p:spPr>
          <a:xfrm>
            <a:off x="5303520" y="2587752"/>
            <a:ext cx="228600" cy="228600"/>
          </a:xfrm>
          <a:prstGeom prst="ellipse">
            <a:avLst/>
          </a:prstGeom>
          <a:solidFill>
            <a:srgbClr val="024731"/>
          </a:solidFill>
          <a:ln/>
        </p:spPr>
        <p:txBody>
          <a:bodyPr/>
          <a:lstStyle/>
          <a:p>
            <a:endParaRPr lang="en-US"/>
          </a:p>
        </p:txBody>
      </p:sp>
      <p:sp>
        <p:nvSpPr>
          <p:cNvPr id="27" name="Text 25"/>
          <p:cNvSpPr/>
          <p:nvPr/>
        </p:nvSpPr>
        <p:spPr>
          <a:xfrm>
            <a:off x="5303520" y="2587752"/>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3</a:t>
            </a:r>
            <a:endParaRPr lang="en-US" sz="900" dirty="0"/>
          </a:p>
        </p:txBody>
      </p:sp>
      <p:sp>
        <p:nvSpPr>
          <p:cNvPr id="28" name="Text 26"/>
          <p:cNvSpPr/>
          <p:nvPr/>
        </p:nvSpPr>
        <p:spPr>
          <a:xfrm>
            <a:off x="5623560" y="2551176"/>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Efficiency</a:t>
            </a:r>
            <a:endParaRPr lang="en-US" sz="1100" dirty="0"/>
          </a:p>
        </p:txBody>
      </p:sp>
      <p:sp>
        <p:nvSpPr>
          <p:cNvPr id="29" name="Text 27"/>
          <p:cNvSpPr/>
          <p:nvPr/>
        </p:nvSpPr>
        <p:spPr>
          <a:xfrm>
            <a:off x="5623560" y="2752344"/>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Asset Turnover, Inventory Days, Collection Period</a:t>
            </a:r>
            <a:endParaRPr lang="en-US" sz="900" dirty="0"/>
          </a:p>
        </p:txBody>
      </p:sp>
      <p:sp>
        <p:nvSpPr>
          <p:cNvPr id="30" name="Shape 28"/>
          <p:cNvSpPr/>
          <p:nvPr/>
        </p:nvSpPr>
        <p:spPr>
          <a:xfrm>
            <a:off x="5303520" y="3072384"/>
            <a:ext cx="228600" cy="228600"/>
          </a:xfrm>
          <a:prstGeom prst="ellipse">
            <a:avLst/>
          </a:prstGeom>
          <a:solidFill>
            <a:srgbClr val="024731"/>
          </a:solidFill>
          <a:ln/>
        </p:spPr>
        <p:txBody>
          <a:bodyPr/>
          <a:lstStyle/>
          <a:p>
            <a:endParaRPr lang="en-US"/>
          </a:p>
        </p:txBody>
      </p:sp>
      <p:sp>
        <p:nvSpPr>
          <p:cNvPr id="31" name="Text 29"/>
          <p:cNvSpPr/>
          <p:nvPr/>
        </p:nvSpPr>
        <p:spPr>
          <a:xfrm>
            <a:off x="5303520" y="3072384"/>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4</a:t>
            </a:r>
            <a:endParaRPr lang="en-US" sz="900" dirty="0"/>
          </a:p>
        </p:txBody>
      </p:sp>
      <p:sp>
        <p:nvSpPr>
          <p:cNvPr id="32" name="Text 30"/>
          <p:cNvSpPr/>
          <p:nvPr/>
        </p:nvSpPr>
        <p:spPr>
          <a:xfrm>
            <a:off x="5623560" y="3035808"/>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Leverage</a:t>
            </a:r>
            <a:endParaRPr lang="en-US" sz="1100" dirty="0"/>
          </a:p>
        </p:txBody>
      </p:sp>
      <p:sp>
        <p:nvSpPr>
          <p:cNvPr id="33" name="Text 31"/>
          <p:cNvSpPr/>
          <p:nvPr/>
        </p:nvSpPr>
        <p:spPr>
          <a:xfrm>
            <a:off x="5623560" y="3236976"/>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Debt Ratio, TIE, Cash Coverage, Debt Burden</a:t>
            </a:r>
            <a:endParaRPr lang="en-US" sz="900" dirty="0"/>
          </a:p>
        </p:txBody>
      </p:sp>
      <p:sp>
        <p:nvSpPr>
          <p:cNvPr id="34" name="Shape 32"/>
          <p:cNvSpPr/>
          <p:nvPr/>
        </p:nvSpPr>
        <p:spPr>
          <a:xfrm>
            <a:off x="5303520" y="3557016"/>
            <a:ext cx="228600" cy="228600"/>
          </a:xfrm>
          <a:prstGeom prst="ellipse">
            <a:avLst/>
          </a:prstGeom>
          <a:solidFill>
            <a:srgbClr val="024731"/>
          </a:solidFill>
          <a:ln/>
        </p:spPr>
        <p:txBody>
          <a:bodyPr/>
          <a:lstStyle/>
          <a:p>
            <a:endParaRPr lang="en-US"/>
          </a:p>
        </p:txBody>
      </p:sp>
      <p:sp>
        <p:nvSpPr>
          <p:cNvPr id="35" name="Text 33"/>
          <p:cNvSpPr/>
          <p:nvPr/>
        </p:nvSpPr>
        <p:spPr>
          <a:xfrm>
            <a:off x="5303520" y="3557016"/>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5</a:t>
            </a:r>
            <a:endParaRPr lang="en-US" sz="900" dirty="0"/>
          </a:p>
        </p:txBody>
      </p:sp>
      <p:sp>
        <p:nvSpPr>
          <p:cNvPr id="36" name="Text 34"/>
          <p:cNvSpPr/>
          <p:nvPr/>
        </p:nvSpPr>
        <p:spPr>
          <a:xfrm>
            <a:off x="5623560" y="3520440"/>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Liquidity</a:t>
            </a:r>
            <a:endParaRPr lang="en-US" sz="1100" dirty="0"/>
          </a:p>
        </p:txBody>
      </p:sp>
      <p:sp>
        <p:nvSpPr>
          <p:cNvPr id="37" name="Text 35"/>
          <p:cNvSpPr/>
          <p:nvPr/>
        </p:nvSpPr>
        <p:spPr>
          <a:xfrm>
            <a:off x="5623560" y="3721608"/>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Current Ratio, Quick Ratio, Cash Ratio, NWC</a:t>
            </a:r>
            <a:endParaRPr lang="en-US" sz="900" dirty="0"/>
          </a:p>
        </p:txBody>
      </p:sp>
      <p:sp>
        <p:nvSpPr>
          <p:cNvPr id="38" name="Shape 36"/>
          <p:cNvSpPr/>
          <p:nvPr/>
        </p:nvSpPr>
        <p:spPr>
          <a:xfrm>
            <a:off x="5303520" y="4041648"/>
            <a:ext cx="228600" cy="228600"/>
          </a:xfrm>
          <a:prstGeom prst="ellipse">
            <a:avLst/>
          </a:prstGeom>
          <a:solidFill>
            <a:srgbClr val="024731"/>
          </a:solidFill>
          <a:ln/>
        </p:spPr>
        <p:txBody>
          <a:bodyPr/>
          <a:lstStyle/>
          <a:p>
            <a:endParaRPr lang="en-US"/>
          </a:p>
        </p:txBody>
      </p:sp>
      <p:sp>
        <p:nvSpPr>
          <p:cNvPr id="39" name="Text 37"/>
          <p:cNvSpPr/>
          <p:nvPr/>
        </p:nvSpPr>
        <p:spPr>
          <a:xfrm>
            <a:off x="5303520" y="4041648"/>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6</a:t>
            </a:r>
            <a:endParaRPr lang="en-US" sz="900" dirty="0"/>
          </a:p>
        </p:txBody>
      </p:sp>
      <p:sp>
        <p:nvSpPr>
          <p:cNvPr id="40" name="Text 38"/>
          <p:cNvSpPr/>
          <p:nvPr/>
        </p:nvSpPr>
        <p:spPr>
          <a:xfrm>
            <a:off x="5623560" y="4005072"/>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Du Pont</a:t>
            </a:r>
            <a:endParaRPr lang="en-US" sz="1100" dirty="0"/>
          </a:p>
        </p:txBody>
      </p:sp>
      <p:sp>
        <p:nvSpPr>
          <p:cNvPr id="41" name="Text 39"/>
          <p:cNvSpPr/>
          <p:nvPr/>
        </p:nvSpPr>
        <p:spPr>
          <a:xfrm>
            <a:off x="5623560" y="4206240"/>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ROA &amp; ROE decomposition</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2 — Company Selection Memo</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10% of project  |  Choose your company, frame the analysis</a:t>
            </a:r>
            <a:endParaRPr lang="en-US" sz="1100" dirty="0"/>
          </a:p>
        </p:txBody>
      </p:sp>
      <p:sp>
        <p:nvSpPr>
          <p:cNvPr id="5" name="Shape 3"/>
          <p:cNvSpPr/>
          <p:nvPr/>
        </p:nvSpPr>
        <p:spPr>
          <a:xfrm>
            <a:off x="548640" y="1097280"/>
            <a:ext cx="5120640" cy="502920"/>
          </a:xfrm>
          <a:prstGeom prst="rect">
            <a:avLst/>
          </a:prstGeom>
          <a:solidFill>
            <a:srgbClr val="F5F7F6"/>
          </a:solidFill>
          <a:ln/>
        </p:spPr>
        <p:txBody>
          <a:bodyPr/>
          <a:lstStyle/>
          <a:p>
            <a:endParaRPr lang="en-US"/>
          </a:p>
        </p:txBody>
      </p:sp>
      <p:sp>
        <p:nvSpPr>
          <p:cNvPr id="6" name="Shape 4"/>
          <p:cNvSpPr/>
          <p:nvPr/>
        </p:nvSpPr>
        <p:spPr>
          <a:xfrm>
            <a:off x="685800" y="1188720"/>
            <a:ext cx="320040" cy="320040"/>
          </a:xfrm>
          <a:prstGeom prst="ellipse">
            <a:avLst/>
          </a:prstGeom>
          <a:solidFill>
            <a:srgbClr val="024731"/>
          </a:solidFill>
          <a:ln/>
        </p:spPr>
        <p:txBody>
          <a:bodyPr/>
          <a:lstStyle/>
          <a:p>
            <a:endParaRPr lang="en-US"/>
          </a:p>
        </p:txBody>
      </p:sp>
      <p:sp>
        <p:nvSpPr>
          <p:cNvPr id="7" name="Text 5"/>
          <p:cNvSpPr/>
          <p:nvPr/>
        </p:nvSpPr>
        <p:spPr>
          <a:xfrm>
            <a:off x="685800" y="118872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1</a:t>
            </a:r>
            <a:endParaRPr lang="en-US" sz="1200" dirty="0"/>
          </a:p>
        </p:txBody>
      </p:sp>
      <p:sp>
        <p:nvSpPr>
          <p:cNvPr id="8" name="Text 6"/>
          <p:cNvSpPr/>
          <p:nvPr/>
        </p:nvSpPr>
        <p:spPr>
          <a:xfrm>
            <a:off x="1143000" y="111556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Company Overview</a:t>
            </a:r>
            <a:endParaRPr lang="en-US" sz="1100" dirty="0"/>
          </a:p>
        </p:txBody>
      </p:sp>
      <p:sp>
        <p:nvSpPr>
          <p:cNvPr id="9" name="Text 7"/>
          <p:cNvSpPr/>
          <p:nvPr/>
        </p:nvSpPr>
        <p:spPr>
          <a:xfrm>
            <a:off x="1143000" y="134416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Name, ticker, exchange, industry, market cap, reporting currency</a:t>
            </a:r>
            <a:endParaRPr lang="en-US" sz="900" dirty="0"/>
          </a:p>
        </p:txBody>
      </p:sp>
      <p:sp>
        <p:nvSpPr>
          <p:cNvPr id="10" name="Shape 8"/>
          <p:cNvSpPr/>
          <p:nvPr/>
        </p:nvSpPr>
        <p:spPr>
          <a:xfrm>
            <a:off x="548640" y="1691640"/>
            <a:ext cx="5120640" cy="502920"/>
          </a:xfrm>
          <a:prstGeom prst="rect">
            <a:avLst/>
          </a:prstGeom>
          <a:solidFill>
            <a:srgbClr val="FFFFFF"/>
          </a:solidFill>
          <a:ln/>
        </p:spPr>
        <p:txBody>
          <a:bodyPr/>
          <a:lstStyle/>
          <a:p>
            <a:endParaRPr lang="en-US"/>
          </a:p>
        </p:txBody>
      </p:sp>
      <p:sp>
        <p:nvSpPr>
          <p:cNvPr id="11" name="Shape 9"/>
          <p:cNvSpPr/>
          <p:nvPr/>
        </p:nvSpPr>
        <p:spPr>
          <a:xfrm>
            <a:off x="685800" y="1783080"/>
            <a:ext cx="320040" cy="320040"/>
          </a:xfrm>
          <a:prstGeom prst="ellipse">
            <a:avLst/>
          </a:prstGeom>
          <a:solidFill>
            <a:srgbClr val="024731"/>
          </a:solidFill>
          <a:ln/>
        </p:spPr>
        <p:txBody>
          <a:bodyPr/>
          <a:lstStyle/>
          <a:p>
            <a:endParaRPr lang="en-US"/>
          </a:p>
        </p:txBody>
      </p:sp>
      <p:sp>
        <p:nvSpPr>
          <p:cNvPr id="12" name="Text 10"/>
          <p:cNvSpPr/>
          <p:nvPr/>
        </p:nvSpPr>
        <p:spPr>
          <a:xfrm>
            <a:off x="685800" y="178308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2</a:t>
            </a:r>
            <a:endParaRPr lang="en-US" sz="1200" dirty="0"/>
          </a:p>
        </p:txBody>
      </p:sp>
      <p:sp>
        <p:nvSpPr>
          <p:cNvPr id="13" name="Text 11"/>
          <p:cNvSpPr/>
          <p:nvPr/>
        </p:nvSpPr>
        <p:spPr>
          <a:xfrm>
            <a:off x="1143000" y="170992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Selection Rationale</a:t>
            </a:r>
            <a:endParaRPr lang="en-US" sz="1100" dirty="0"/>
          </a:p>
        </p:txBody>
      </p:sp>
      <p:sp>
        <p:nvSpPr>
          <p:cNvPr id="14" name="Text 12"/>
          <p:cNvSpPr/>
          <p:nvPr/>
        </p:nvSpPr>
        <p:spPr>
          <a:xfrm>
            <a:off x="1143000" y="193852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Why this company? Relevance to your industry, employer, or career goals</a:t>
            </a:r>
            <a:endParaRPr lang="en-US" sz="900" dirty="0"/>
          </a:p>
        </p:txBody>
      </p:sp>
      <p:sp>
        <p:nvSpPr>
          <p:cNvPr id="15" name="Shape 13"/>
          <p:cNvSpPr/>
          <p:nvPr/>
        </p:nvSpPr>
        <p:spPr>
          <a:xfrm>
            <a:off x="548640" y="2286000"/>
            <a:ext cx="5120640" cy="502920"/>
          </a:xfrm>
          <a:prstGeom prst="rect">
            <a:avLst/>
          </a:prstGeom>
          <a:solidFill>
            <a:srgbClr val="F5F7F6"/>
          </a:solidFill>
          <a:ln/>
        </p:spPr>
        <p:txBody>
          <a:bodyPr/>
          <a:lstStyle/>
          <a:p>
            <a:endParaRPr lang="en-US"/>
          </a:p>
        </p:txBody>
      </p:sp>
      <p:sp>
        <p:nvSpPr>
          <p:cNvPr id="16" name="Shape 14"/>
          <p:cNvSpPr/>
          <p:nvPr/>
        </p:nvSpPr>
        <p:spPr>
          <a:xfrm>
            <a:off x="685800" y="2377440"/>
            <a:ext cx="320040" cy="320040"/>
          </a:xfrm>
          <a:prstGeom prst="ellipse">
            <a:avLst/>
          </a:prstGeom>
          <a:solidFill>
            <a:srgbClr val="024731"/>
          </a:solidFill>
          <a:ln/>
        </p:spPr>
        <p:txBody>
          <a:bodyPr/>
          <a:lstStyle/>
          <a:p>
            <a:endParaRPr lang="en-US"/>
          </a:p>
        </p:txBody>
      </p:sp>
      <p:sp>
        <p:nvSpPr>
          <p:cNvPr id="17" name="Text 15"/>
          <p:cNvSpPr/>
          <p:nvPr/>
        </p:nvSpPr>
        <p:spPr>
          <a:xfrm>
            <a:off x="685800" y="237744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3</a:t>
            </a:r>
            <a:endParaRPr lang="en-US" sz="1200" dirty="0"/>
          </a:p>
        </p:txBody>
      </p:sp>
      <p:sp>
        <p:nvSpPr>
          <p:cNvPr id="18" name="Text 16"/>
          <p:cNvSpPr/>
          <p:nvPr/>
        </p:nvSpPr>
        <p:spPr>
          <a:xfrm>
            <a:off x="1143000" y="230428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Data Availability</a:t>
            </a:r>
            <a:endParaRPr lang="en-US" sz="1100" dirty="0"/>
          </a:p>
        </p:txBody>
      </p:sp>
      <p:sp>
        <p:nvSpPr>
          <p:cNvPr id="19" name="Text 17"/>
          <p:cNvSpPr/>
          <p:nvPr/>
        </p:nvSpPr>
        <p:spPr>
          <a:xfrm>
            <a:off x="1143000" y="253288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Confirm 10-K / annual report access. Note fiscal year, reporting standard (GAAP/IFRS/VAS)</a:t>
            </a:r>
            <a:endParaRPr lang="en-US" sz="900" dirty="0"/>
          </a:p>
        </p:txBody>
      </p:sp>
      <p:sp>
        <p:nvSpPr>
          <p:cNvPr id="20" name="Shape 18"/>
          <p:cNvSpPr/>
          <p:nvPr/>
        </p:nvSpPr>
        <p:spPr>
          <a:xfrm>
            <a:off x="548640" y="2880360"/>
            <a:ext cx="5120640" cy="502920"/>
          </a:xfrm>
          <a:prstGeom prst="rect">
            <a:avLst/>
          </a:prstGeom>
          <a:solidFill>
            <a:srgbClr val="FFFFFF"/>
          </a:solidFill>
          <a:ln/>
        </p:spPr>
        <p:txBody>
          <a:bodyPr/>
          <a:lstStyle/>
          <a:p>
            <a:endParaRPr lang="en-US"/>
          </a:p>
        </p:txBody>
      </p:sp>
      <p:sp>
        <p:nvSpPr>
          <p:cNvPr id="21" name="Shape 19"/>
          <p:cNvSpPr/>
          <p:nvPr/>
        </p:nvSpPr>
        <p:spPr>
          <a:xfrm>
            <a:off x="685800" y="2971800"/>
            <a:ext cx="320040" cy="320040"/>
          </a:xfrm>
          <a:prstGeom prst="ellipse">
            <a:avLst/>
          </a:prstGeom>
          <a:solidFill>
            <a:srgbClr val="024731"/>
          </a:solidFill>
          <a:ln/>
        </p:spPr>
        <p:txBody>
          <a:bodyPr/>
          <a:lstStyle/>
          <a:p>
            <a:endParaRPr lang="en-US"/>
          </a:p>
        </p:txBody>
      </p:sp>
      <p:sp>
        <p:nvSpPr>
          <p:cNvPr id="22" name="Text 20"/>
          <p:cNvSpPr/>
          <p:nvPr/>
        </p:nvSpPr>
        <p:spPr>
          <a:xfrm>
            <a:off x="685800" y="297180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4</a:t>
            </a:r>
            <a:endParaRPr lang="en-US" sz="1200" dirty="0"/>
          </a:p>
        </p:txBody>
      </p:sp>
      <p:sp>
        <p:nvSpPr>
          <p:cNvPr id="23" name="Text 21"/>
          <p:cNvSpPr/>
          <p:nvPr/>
        </p:nvSpPr>
        <p:spPr>
          <a:xfrm>
            <a:off x="1143000" y="289864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Preliminary Observations</a:t>
            </a:r>
            <a:endParaRPr lang="en-US" sz="1100" dirty="0"/>
          </a:p>
        </p:txBody>
      </p:sp>
      <p:sp>
        <p:nvSpPr>
          <p:cNvPr id="24" name="Text 22"/>
          <p:cNvSpPr/>
          <p:nvPr/>
        </p:nvSpPr>
        <p:spPr>
          <a:xfrm>
            <a:off x="1143000" y="312724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2–3 hypotheses about what ratio analysis might reveal</a:t>
            </a:r>
            <a:endParaRPr lang="en-US" sz="900" dirty="0"/>
          </a:p>
        </p:txBody>
      </p:sp>
      <p:sp>
        <p:nvSpPr>
          <p:cNvPr id="25" name="Shape 23"/>
          <p:cNvSpPr/>
          <p:nvPr/>
        </p:nvSpPr>
        <p:spPr>
          <a:xfrm>
            <a:off x="548640" y="3474720"/>
            <a:ext cx="5120640" cy="502920"/>
          </a:xfrm>
          <a:prstGeom prst="rect">
            <a:avLst/>
          </a:prstGeom>
          <a:solidFill>
            <a:srgbClr val="F5F7F6"/>
          </a:solidFill>
          <a:ln/>
        </p:spPr>
        <p:txBody>
          <a:bodyPr/>
          <a:lstStyle/>
          <a:p>
            <a:endParaRPr lang="en-US"/>
          </a:p>
        </p:txBody>
      </p:sp>
      <p:sp>
        <p:nvSpPr>
          <p:cNvPr id="26" name="Shape 24"/>
          <p:cNvSpPr/>
          <p:nvPr/>
        </p:nvSpPr>
        <p:spPr>
          <a:xfrm>
            <a:off x="685800" y="3566160"/>
            <a:ext cx="320040" cy="320040"/>
          </a:xfrm>
          <a:prstGeom prst="ellipse">
            <a:avLst/>
          </a:prstGeom>
          <a:solidFill>
            <a:srgbClr val="024731"/>
          </a:solidFill>
          <a:ln/>
        </p:spPr>
        <p:txBody>
          <a:bodyPr/>
          <a:lstStyle/>
          <a:p>
            <a:endParaRPr lang="en-US"/>
          </a:p>
        </p:txBody>
      </p:sp>
      <p:sp>
        <p:nvSpPr>
          <p:cNvPr id="27" name="Text 25"/>
          <p:cNvSpPr/>
          <p:nvPr/>
        </p:nvSpPr>
        <p:spPr>
          <a:xfrm>
            <a:off x="685800" y="356616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5</a:t>
            </a:r>
            <a:endParaRPr lang="en-US" sz="1200" dirty="0"/>
          </a:p>
        </p:txBody>
      </p:sp>
      <p:sp>
        <p:nvSpPr>
          <p:cNvPr id="28" name="Text 26"/>
          <p:cNvSpPr/>
          <p:nvPr/>
        </p:nvSpPr>
        <p:spPr>
          <a:xfrm>
            <a:off x="1143000" y="349300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Ratio Categories Preview</a:t>
            </a:r>
            <a:endParaRPr lang="en-US" sz="1100" dirty="0"/>
          </a:p>
        </p:txBody>
      </p:sp>
      <p:sp>
        <p:nvSpPr>
          <p:cNvPr id="29" name="Text 27"/>
          <p:cNvSpPr/>
          <p:nvPr/>
        </p:nvSpPr>
        <p:spPr>
          <a:xfrm>
            <a:off x="1143000" y="372160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Which categories matter most for this company’s industry and why</a:t>
            </a:r>
            <a:endParaRPr lang="en-US" sz="900" dirty="0"/>
          </a:p>
        </p:txBody>
      </p:sp>
      <p:sp>
        <p:nvSpPr>
          <p:cNvPr id="30" name="Shape 28"/>
          <p:cNvSpPr/>
          <p:nvPr/>
        </p:nvSpPr>
        <p:spPr>
          <a:xfrm>
            <a:off x="548640" y="4069080"/>
            <a:ext cx="5120640" cy="502920"/>
          </a:xfrm>
          <a:prstGeom prst="rect">
            <a:avLst/>
          </a:prstGeom>
          <a:solidFill>
            <a:srgbClr val="FFFFFF"/>
          </a:solidFill>
          <a:ln/>
        </p:spPr>
        <p:txBody>
          <a:bodyPr/>
          <a:lstStyle/>
          <a:p>
            <a:endParaRPr lang="en-US"/>
          </a:p>
        </p:txBody>
      </p:sp>
      <p:sp>
        <p:nvSpPr>
          <p:cNvPr id="31" name="Shape 29"/>
          <p:cNvSpPr/>
          <p:nvPr/>
        </p:nvSpPr>
        <p:spPr>
          <a:xfrm>
            <a:off x="685800" y="4160520"/>
            <a:ext cx="320040" cy="320040"/>
          </a:xfrm>
          <a:prstGeom prst="ellipse">
            <a:avLst/>
          </a:prstGeom>
          <a:solidFill>
            <a:srgbClr val="024731"/>
          </a:solidFill>
          <a:ln/>
        </p:spPr>
        <p:txBody>
          <a:bodyPr/>
          <a:lstStyle/>
          <a:p>
            <a:endParaRPr lang="en-US"/>
          </a:p>
        </p:txBody>
      </p:sp>
      <p:sp>
        <p:nvSpPr>
          <p:cNvPr id="32" name="Text 30"/>
          <p:cNvSpPr/>
          <p:nvPr/>
        </p:nvSpPr>
        <p:spPr>
          <a:xfrm>
            <a:off x="685800" y="416052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6</a:t>
            </a:r>
            <a:endParaRPr lang="en-US" sz="1200" dirty="0"/>
          </a:p>
        </p:txBody>
      </p:sp>
      <p:sp>
        <p:nvSpPr>
          <p:cNvPr id="33" name="Text 31"/>
          <p:cNvSpPr/>
          <p:nvPr/>
        </p:nvSpPr>
        <p:spPr>
          <a:xfrm>
            <a:off x="1143000" y="408736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Data Collection Plan</a:t>
            </a:r>
            <a:endParaRPr lang="en-US" sz="1100" dirty="0"/>
          </a:p>
        </p:txBody>
      </p:sp>
      <p:sp>
        <p:nvSpPr>
          <p:cNvPr id="34" name="Text 32"/>
          <p:cNvSpPr/>
          <p:nvPr/>
        </p:nvSpPr>
        <p:spPr>
          <a:xfrm>
            <a:off x="1143000" y="431596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What financials are needed, market assumptions to source, timeline</a:t>
            </a:r>
            <a:endParaRPr lang="en-US" sz="900" dirty="0"/>
          </a:p>
        </p:txBody>
      </p:sp>
      <p:sp>
        <p:nvSpPr>
          <p:cNvPr id="35" name="Shape 33"/>
          <p:cNvSpPr/>
          <p:nvPr/>
        </p:nvSpPr>
        <p:spPr>
          <a:xfrm>
            <a:off x="5943600" y="1097280"/>
            <a:ext cx="2926080" cy="3566160"/>
          </a:xfrm>
          <a:prstGeom prst="rect">
            <a:avLst/>
          </a:prstGeom>
          <a:solidFill>
            <a:srgbClr val="E6F2EF"/>
          </a:solidFill>
          <a:ln/>
          <a:effectLst>
            <a:outerShdw blurRad="50800" dist="12700" dir="8100000" algn="bl" rotWithShape="0">
              <a:srgbClr val="000000">
                <a:alpha val="10000"/>
              </a:srgbClr>
            </a:outerShdw>
          </a:effectLst>
        </p:spPr>
        <p:txBody>
          <a:bodyPr/>
          <a:lstStyle/>
          <a:p>
            <a:endParaRPr lang="en-US"/>
          </a:p>
        </p:txBody>
      </p:sp>
      <p:sp>
        <p:nvSpPr>
          <p:cNvPr id="36" name="Shape 34"/>
          <p:cNvSpPr/>
          <p:nvPr/>
        </p:nvSpPr>
        <p:spPr>
          <a:xfrm>
            <a:off x="5943600" y="1097280"/>
            <a:ext cx="2926080" cy="411480"/>
          </a:xfrm>
          <a:prstGeom prst="rect">
            <a:avLst/>
          </a:prstGeom>
          <a:solidFill>
            <a:srgbClr val="024731"/>
          </a:solidFill>
          <a:ln/>
        </p:spPr>
        <p:txBody>
          <a:bodyPr/>
          <a:lstStyle/>
          <a:p>
            <a:endParaRPr lang="en-US"/>
          </a:p>
        </p:txBody>
      </p:sp>
      <p:sp>
        <p:nvSpPr>
          <p:cNvPr id="37" name="Text 35"/>
          <p:cNvSpPr/>
          <p:nvPr/>
        </p:nvSpPr>
        <p:spPr>
          <a:xfrm>
            <a:off x="6035040" y="1115568"/>
            <a:ext cx="2743200" cy="365760"/>
          </a:xfrm>
          <a:prstGeom prst="rect">
            <a:avLst/>
          </a:prstGeom>
          <a:noFill/>
          <a:ln/>
        </p:spPr>
        <p:txBody>
          <a:bodyPr wrap="square" lIns="0" tIns="0" rIns="0" bIns="0" rtlCol="0" anchor="ctr"/>
          <a:lstStyle/>
          <a:p>
            <a:pPr marL="0" indent="0">
              <a:buNone/>
            </a:pPr>
            <a:r>
              <a:rPr lang="en-US" sz="1300" b="1" dirty="0">
                <a:solidFill>
                  <a:srgbClr val="FFFFFF"/>
                </a:solidFill>
                <a:latin typeface="Open Sans" pitchFamily="34" charset="0"/>
                <a:ea typeface="Open Sans" pitchFamily="34" charset="-122"/>
                <a:cs typeface="Open Sans" pitchFamily="34" charset="-120"/>
              </a:rPr>
              <a:t>Company Eligibility</a:t>
            </a:r>
            <a:endParaRPr lang="en-US" sz="1300" dirty="0"/>
          </a:p>
        </p:txBody>
      </p:sp>
      <p:sp>
        <p:nvSpPr>
          <p:cNvPr id="38" name="Text 36"/>
          <p:cNvSpPr/>
          <p:nvPr/>
        </p:nvSpPr>
        <p:spPr>
          <a:xfrm>
            <a:off x="6080760" y="1645920"/>
            <a:ext cx="2651760" cy="2834640"/>
          </a:xfrm>
          <a:prstGeom prst="rect">
            <a:avLst/>
          </a:prstGeom>
          <a:noFill/>
          <a:ln/>
        </p:spPr>
        <p:txBody>
          <a:bodyPr wrap="square" rtlCol="0" anchor="ctr"/>
          <a:lstStyle/>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Publicly traded on a major exchange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NYSE, NASDAQ, HOSE, HNX, SGX, SET, IDX, or other recognized exchange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Non-financial company</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Minimum 2 years of data</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Non-U.S. companies encouraged — especially Vietnamese and ASEAN firms</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English-language deliverables required; source financials may be in local language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Note IFRS / GAAP / VAS differences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3 — Model Population &amp; Validation</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20% of project  |  Populate the financials — full analysis comes in Stage 5</a:t>
            </a:r>
            <a:endParaRPr lang="en-US" sz="1100" dirty="0"/>
          </a:p>
        </p:txBody>
      </p:sp>
      <p:sp>
        <p:nvSpPr>
          <p:cNvPr id="5" name="Text 3"/>
          <p:cNvSpPr/>
          <p:nvPr/>
        </p:nvSpPr>
        <p:spPr>
          <a:xfrm>
            <a:off x="548640" y="1051560"/>
            <a:ext cx="4114800" cy="27432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Deliverables</a:t>
            </a:r>
            <a:endParaRPr lang="en-US" sz="1400" dirty="0"/>
          </a:p>
        </p:txBody>
      </p:sp>
      <p:sp>
        <p:nvSpPr>
          <p:cNvPr id="6" name="Shape 4"/>
          <p:cNvSpPr/>
          <p:nvPr/>
        </p:nvSpPr>
        <p:spPr>
          <a:xfrm>
            <a:off x="548640" y="1417320"/>
            <a:ext cx="4114800" cy="502920"/>
          </a:xfrm>
          <a:prstGeom prst="rect">
            <a:avLst/>
          </a:prstGeom>
          <a:solidFill>
            <a:srgbClr val="E6F2EF"/>
          </a:solidFill>
          <a:ln/>
        </p:spPr>
        <p:txBody>
          <a:bodyPr/>
          <a:lstStyle/>
          <a:p>
            <a:endParaRPr lang="en-US"/>
          </a:p>
        </p:txBody>
      </p:sp>
      <p:sp>
        <p:nvSpPr>
          <p:cNvPr id="7" name="Text 5"/>
          <p:cNvSpPr/>
          <p:nvPr/>
        </p:nvSpPr>
        <p:spPr>
          <a:xfrm>
            <a:off x="685800" y="1463040"/>
            <a:ext cx="3840480" cy="411480"/>
          </a:xfrm>
          <a:prstGeom prst="rect">
            <a:avLst/>
          </a:prstGeom>
          <a:noFill/>
          <a:ln/>
        </p:spPr>
        <p:txBody>
          <a:bodyPr wrap="square"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1. Completed .xlsx workbook</a:t>
            </a:r>
            <a:endParaRPr lang="en-US" sz="1100" dirty="0"/>
          </a:p>
          <a:p>
            <a:pPr marL="0" indent="0">
              <a:buNone/>
            </a:pPr>
            <a:r>
              <a:rPr lang="en-US" sz="1100" dirty="0">
                <a:solidFill>
                  <a:srgbClr val="024731"/>
                </a:solidFill>
                <a:latin typeface="Open Sans" pitchFamily="34" charset="0"/>
                <a:ea typeface="Open Sans" pitchFamily="34" charset="-122"/>
                <a:cs typeface="Open Sans" pitchFamily="34" charset="-120"/>
              </a:rPr>
              <a:t xml:space="preserve">    saved to models/builds/</a:t>
            </a:r>
            <a:endParaRPr lang="en-US" sz="1100" dirty="0"/>
          </a:p>
        </p:txBody>
      </p:sp>
      <p:sp>
        <p:nvSpPr>
          <p:cNvPr id="8" name="Shape 6"/>
          <p:cNvSpPr/>
          <p:nvPr/>
        </p:nvSpPr>
        <p:spPr>
          <a:xfrm>
            <a:off x="548640" y="2011680"/>
            <a:ext cx="4114800" cy="502920"/>
          </a:xfrm>
          <a:prstGeom prst="rect">
            <a:avLst/>
          </a:prstGeom>
          <a:solidFill>
            <a:srgbClr val="E6F2EF"/>
          </a:solidFill>
          <a:ln/>
        </p:spPr>
        <p:txBody>
          <a:bodyPr/>
          <a:lstStyle/>
          <a:p>
            <a:endParaRPr lang="en-US"/>
          </a:p>
        </p:txBody>
      </p:sp>
      <p:sp>
        <p:nvSpPr>
          <p:cNvPr id="9" name="Text 7"/>
          <p:cNvSpPr/>
          <p:nvPr/>
        </p:nvSpPr>
        <p:spPr>
          <a:xfrm>
            <a:off x="685800" y="2057400"/>
            <a:ext cx="3840480" cy="411480"/>
          </a:xfrm>
          <a:prstGeom prst="rect">
            <a:avLst/>
          </a:prstGeom>
          <a:noFill/>
          <a:ln/>
        </p:spPr>
        <p:txBody>
          <a:bodyPr wrap="square"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2. Validation report (.md, 200–300 words)</a:t>
            </a:r>
            <a:endParaRPr lang="en-US" sz="1100" dirty="0"/>
          </a:p>
          <a:p>
            <a:pPr marL="0" indent="0">
              <a:buNone/>
            </a:pPr>
            <a:r>
              <a:rPr lang="en-US" sz="1100" dirty="0">
                <a:solidFill>
                  <a:srgbClr val="024731"/>
                </a:solidFill>
                <a:latin typeface="Open Sans" pitchFamily="34" charset="0"/>
                <a:ea typeface="Open Sans" pitchFamily="34" charset="-122"/>
                <a:cs typeface="Open Sans" pitchFamily="34" charset="-120"/>
              </a:rPr>
              <a:t xml:space="preserve">    saved to analysis/validation/</a:t>
            </a:r>
            <a:endParaRPr lang="en-US" sz="1100" dirty="0"/>
          </a:p>
        </p:txBody>
      </p:sp>
      <p:sp>
        <p:nvSpPr>
          <p:cNvPr id="10" name="Shape 8"/>
          <p:cNvSpPr/>
          <p:nvPr/>
        </p:nvSpPr>
        <p:spPr>
          <a:xfrm>
            <a:off x="4937760" y="1051560"/>
            <a:ext cx="3840480" cy="37490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11" name="Text 9"/>
          <p:cNvSpPr/>
          <p:nvPr/>
        </p:nvSpPr>
        <p:spPr>
          <a:xfrm>
            <a:off x="5120640" y="1143000"/>
            <a:ext cx="3474720"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Self-Audit Checklist</a:t>
            </a:r>
            <a:endParaRPr lang="en-US" sz="1400" dirty="0"/>
          </a:p>
        </p:txBody>
      </p:sp>
      <p:sp>
        <p:nvSpPr>
          <p:cNvPr id="12" name="Text 10"/>
          <p:cNvSpPr/>
          <p:nvPr/>
        </p:nvSpPr>
        <p:spPr>
          <a:xfrm>
            <a:off x="5120640" y="1417320"/>
            <a:ext cx="3474720" cy="228600"/>
          </a:xfrm>
          <a:prstGeom prst="rect">
            <a:avLst/>
          </a:prstGeom>
          <a:noFill/>
          <a:ln/>
        </p:spPr>
        <p:txBody>
          <a:bodyPr wrap="square" lIns="0" tIns="0" rIns="0" bIns="0" rtlCol="0" anchor="ctr"/>
          <a:lstStyle/>
          <a:p>
            <a:pPr marL="0" indent="0">
              <a:buNone/>
            </a:pPr>
            <a:r>
              <a:rPr lang="en-US" sz="900" i="1" dirty="0">
                <a:solidFill>
                  <a:srgbClr val="6B7280"/>
                </a:solidFill>
                <a:latin typeface="Open Sans" pitchFamily="34" charset="0"/>
                <a:ea typeface="Open Sans" pitchFamily="34" charset="-122"/>
                <a:cs typeface="Open Sans" pitchFamily="34" charset="-120"/>
              </a:rPr>
              <a:t>Address each item in your validation report</a:t>
            </a:r>
            <a:endParaRPr lang="en-US" sz="900" dirty="0"/>
          </a:p>
        </p:txBody>
      </p:sp>
      <p:sp>
        <p:nvSpPr>
          <p:cNvPr id="13" name="Shape 11"/>
          <p:cNvSpPr/>
          <p:nvPr/>
        </p:nvSpPr>
        <p:spPr>
          <a:xfrm>
            <a:off x="5212080" y="1783080"/>
            <a:ext cx="201168" cy="201168"/>
          </a:xfrm>
          <a:prstGeom prst="rect">
            <a:avLst/>
          </a:prstGeom>
          <a:solidFill>
            <a:srgbClr val="FFFFFF"/>
          </a:solidFill>
          <a:ln w="19050">
            <a:solidFill>
              <a:srgbClr val="024731"/>
            </a:solidFill>
            <a:prstDash val="solid"/>
          </a:ln>
        </p:spPr>
        <p:txBody>
          <a:bodyPr/>
          <a:lstStyle/>
          <a:p>
            <a:endParaRPr lang="en-US"/>
          </a:p>
        </p:txBody>
      </p:sp>
      <p:sp>
        <p:nvSpPr>
          <p:cNvPr id="14" name="Text 12"/>
          <p:cNvSpPr/>
          <p:nvPr/>
        </p:nvSpPr>
        <p:spPr>
          <a:xfrm>
            <a:off x="5532120" y="1764792"/>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Balance Sheet balances (both years)</a:t>
            </a:r>
            <a:endParaRPr lang="en-US" sz="1000" dirty="0"/>
          </a:p>
        </p:txBody>
      </p:sp>
      <p:sp>
        <p:nvSpPr>
          <p:cNvPr id="15" name="Shape 13"/>
          <p:cNvSpPr/>
          <p:nvPr/>
        </p:nvSpPr>
        <p:spPr>
          <a:xfrm>
            <a:off x="5212080" y="2130552"/>
            <a:ext cx="201168" cy="201168"/>
          </a:xfrm>
          <a:prstGeom prst="rect">
            <a:avLst/>
          </a:prstGeom>
          <a:solidFill>
            <a:srgbClr val="FFFFFF"/>
          </a:solidFill>
          <a:ln w="19050">
            <a:solidFill>
              <a:srgbClr val="024731"/>
            </a:solidFill>
            <a:prstDash val="solid"/>
          </a:ln>
        </p:spPr>
        <p:txBody>
          <a:bodyPr/>
          <a:lstStyle/>
          <a:p>
            <a:endParaRPr lang="en-US"/>
          </a:p>
        </p:txBody>
      </p:sp>
      <p:sp>
        <p:nvSpPr>
          <p:cNvPr id="16" name="Text 14"/>
          <p:cNvSpPr/>
          <p:nvPr/>
        </p:nvSpPr>
        <p:spPr>
          <a:xfrm>
            <a:off x="5532120" y="2112264"/>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Du Pont ROA ≈ Direct ROA</a:t>
            </a:r>
            <a:endParaRPr lang="en-US" sz="1000" dirty="0"/>
          </a:p>
        </p:txBody>
      </p:sp>
      <p:sp>
        <p:nvSpPr>
          <p:cNvPr id="17" name="Shape 15"/>
          <p:cNvSpPr/>
          <p:nvPr/>
        </p:nvSpPr>
        <p:spPr>
          <a:xfrm>
            <a:off x="5212080" y="2478024"/>
            <a:ext cx="201168" cy="201168"/>
          </a:xfrm>
          <a:prstGeom prst="rect">
            <a:avLst/>
          </a:prstGeom>
          <a:solidFill>
            <a:srgbClr val="FFFFFF"/>
          </a:solidFill>
          <a:ln w="19050">
            <a:solidFill>
              <a:srgbClr val="024731"/>
            </a:solidFill>
            <a:prstDash val="solid"/>
          </a:ln>
        </p:spPr>
        <p:txBody>
          <a:bodyPr/>
          <a:lstStyle/>
          <a:p>
            <a:endParaRPr lang="en-US"/>
          </a:p>
        </p:txBody>
      </p:sp>
      <p:sp>
        <p:nvSpPr>
          <p:cNvPr id="18" name="Text 16"/>
          <p:cNvSpPr/>
          <p:nvPr/>
        </p:nvSpPr>
        <p:spPr>
          <a:xfrm>
            <a:off x="5532120" y="2459736"/>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Du Pont ROE ≈ Direct ROE</a:t>
            </a:r>
            <a:endParaRPr lang="en-US" sz="1000" dirty="0"/>
          </a:p>
        </p:txBody>
      </p:sp>
      <p:sp>
        <p:nvSpPr>
          <p:cNvPr id="19" name="Shape 17"/>
          <p:cNvSpPr/>
          <p:nvPr/>
        </p:nvSpPr>
        <p:spPr>
          <a:xfrm>
            <a:off x="5212080" y="2825496"/>
            <a:ext cx="201168" cy="201168"/>
          </a:xfrm>
          <a:prstGeom prst="rect">
            <a:avLst/>
          </a:prstGeom>
          <a:solidFill>
            <a:srgbClr val="FFFFFF"/>
          </a:solidFill>
          <a:ln w="19050">
            <a:solidFill>
              <a:srgbClr val="024731"/>
            </a:solidFill>
            <a:prstDash val="solid"/>
          </a:ln>
        </p:spPr>
        <p:txBody>
          <a:bodyPr/>
          <a:lstStyle/>
          <a:p>
            <a:endParaRPr lang="en-US"/>
          </a:p>
        </p:txBody>
      </p:sp>
      <p:sp>
        <p:nvSpPr>
          <p:cNvPr id="20" name="Text 18"/>
          <p:cNvSpPr/>
          <p:nvPr/>
        </p:nvSpPr>
        <p:spPr>
          <a:xfrm>
            <a:off x="5532120" y="2807208"/>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Sign checks (no impossible negatives)</a:t>
            </a:r>
            <a:endParaRPr lang="en-US" sz="1000" dirty="0"/>
          </a:p>
        </p:txBody>
      </p:sp>
      <p:sp>
        <p:nvSpPr>
          <p:cNvPr id="21" name="Shape 19"/>
          <p:cNvSpPr/>
          <p:nvPr/>
        </p:nvSpPr>
        <p:spPr>
          <a:xfrm>
            <a:off x="5212080" y="3172968"/>
            <a:ext cx="201168" cy="201168"/>
          </a:xfrm>
          <a:prstGeom prst="rect">
            <a:avLst/>
          </a:prstGeom>
          <a:solidFill>
            <a:srgbClr val="FFFFFF"/>
          </a:solidFill>
          <a:ln w="19050">
            <a:solidFill>
              <a:srgbClr val="024731"/>
            </a:solidFill>
            <a:prstDash val="solid"/>
          </a:ln>
        </p:spPr>
        <p:txBody>
          <a:bodyPr/>
          <a:lstStyle/>
          <a:p>
            <a:endParaRPr lang="en-US"/>
          </a:p>
        </p:txBody>
      </p:sp>
      <p:sp>
        <p:nvSpPr>
          <p:cNvPr id="22" name="Text 20"/>
          <p:cNvSpPr/>
          <p:nvPr/>
        </p:nvSpPr>
        <p:spPr>
          <a:xfrm>
            <a:off x="5532120" y="3154680"/>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Reasonableness (plausible industry range)</a:t>
            </a:r>
            <a:endParaRPr lang="en-US" sz="1000" dirty="0"/>
          </a:p>
        </p:txBody>
      </p:sp>
      <p:sp>
        <p:nvSpPr>
          <p:cNvPr id="23" name="Shape 21"/>
          <p:cNvSpPr/>
          <p:nvPr/>
        </p:nvSpPr>
        <p:spPr>
          <a:xfrm>
            <a:off x="5212080" y="3520440"/>
            <a:ext cx="201168" cy="201168"/>
          </a:xfrm>
          <a:prstGeom prst="rect">
            <a:avLst/>
          </a:prstGeom>
          <a:solidFill>
            <a:srgbClr val="FFFFFF"/>
          </a:solidFill>
          <a:ln w="19050">
            <a:solidFill>
              <a:srgbClr val="024731"/>
            </a:solidFill>
            <a:prstDash val="solid"/>
          </a:ln>
        </p:spPr>
        <p:txBody>
          <a:bodyPr/>
          <a:lstStyle/>
          <a:p>
            <a:endParaRPr lang="en-US"/>
          </a:p>
        </p:txBody>
      </p:sp>
      <p:sp>
        <p:nvSpPr>
          <p:cNvPr id="24" name="Text 22"/>
          <p:cNvSpPr/>
          <p:nvPr/>
        </p:nvSpPr>
        <p:spPr>
          <a:xfrm>
            <a:off x="5532120" y="3502152"/>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Named range audit (5 spot checks)</a:t>
            </a:r>
            <a:endParaRPr lang="en-US" sz="1000" dirty="0"/>
          </a:p>
        </p:txBody>
      </p:sp>
      <p:sp>
        <p:nvSpPr>
          <p:cNvPr id="25" name="Shape 23"/>
          <p:cNvSpPr/>
          <p:nvPr/>
        </p:nvSpPr>
        <p:spPr>
          <a:xfrm>
            <a:off x="5212080" y="3867912"/>
            <a:ext cx="201168" cy="201168"/>
          </a:xfrm>
          <a:prstGeom prst="rect">
            <a:avLst/>
          </a:prstGeom>
          <a:solidFill>
            <a:srgbClr val="FFFFFF"/>
          </a:solidFill>
          <a:ln w="19050">
            <a:solidFill>
              <a:srgbClr val="024731"/>
            </a:solidFill>
            <a:prstDash val="solid"/>
          </a:ln>
        </p:spPr>
        <p:txBody>
          <a:bodyPr/>
          <a:lstStyle/>
          <a:p>
            <a:endParaRPr lang="en-US"/>
          </a:p>
        </p:txBody>
      </p:sp>
      <p:sp>
        <p:nvSpPr>
          <p:cNvPr id="26" name="Text 24"/>
          <p:cNvSpPr/>
          <p:nvPr/>
        </p:nvSpPr>
        <p:spPr>
          <a:xfrm>
            <a:off x="5532120" y="3849624"/>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Formula audit (5 spot checks)</a:t>
            </a:r>
            <a:endParaRPr lang="en-US" sz="1000" dirty="0"/>
          </a:p>
        </p:txBody>
      </p:sp>
      <p:sp>
        <p:nvSpPr>
          <p:cNvPr id="27" name="Shape 25"/>
          <p:cNvSpPr/>
          <p:nvPr/>
        </p:nvSpPr>
        <p:spPr>
          <a:xfrm>
            <a:off x="5212080" y="4215384"/>
            <a:ext cx="201168" cy="201168"/>
          </a:xfrm>
          <a:prstGeom prst="rect">
            <a:avLst/>
          </a:prstGeom>
          <a:solidFill>
            <a:srgbClr val="FFFFFF"/>
          </a:solidFill>
          <a:ln w="19050">
            <a:solidFill>
              <a:srgbClr val="024731"/>
            </a:solidFill>
            <a:prstDash val="solid"/>
          </a:ln>
        </p:spPr>
        <p:txBody>
          <a:bodyPr/>
          <a:lstStyle/>
          <a:p>
            <a:endParaRPr lang="en-US"/>
          </a:p>
        </p:txBody>
      </p:sp>
      <p:sp>
        <p:nvSpPr>
          <p:cNvPr id="28" name="Text 26"/>
          <p:cNvSpPr/>
          <p:nvPr/>
        </p:nvSpPr>
        <p:spPr>
          <a:xfrm>
            <a:off x="5532120" y="4197096"/>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Start-of-year vs. average comparison</a:t>
            </a:r>
            <a:endParaRPr lang="en-US" sz="1000" dirty="0"/>
          </a:p>
        </p:txBody>
      </p:sp>
      <p:sp>
        <p:nvSpPr>
          <p:cNvPr id="29" name="Shape 27"/>
          <p:cNvSpPr/>
          <p:nvPr/>
        </p:nvSpPr>
        <p:spPr>
          <a:xfrm>
            <a:off x="548640" y="4434840"/>
            <a:ext cx="4114800" cy="457200"/>
          </a:xfrm>
          <a:prstGeom prst="rect">
            <a:avLst/>
          </a:prstGeom>
          <a:solidFill>
            <a:srgbClr val="024731"/>
          </a:solidFill>
          <a:ln/>
        </p:spPr>
        <p:txBody>
          <a:bodyPr/>
          <a:lstStyle/>
          <a:p>
            <a:endParaRPr lang="en-US"/>
          </a:p>
        </p:txBody>
      </p:sp>
      <p:sp>
        <p:nvSpPr>
          <p:cNvPr id="30" name="Text 28"/>
          <p:cNvSpPr/>
          <p:nvPr/>
        </p:nvSpPr>
        <p:spPr>
          <a:xfrm>
            <a:off x="685800" y="4453128"/>
            <a:ext cx="3840480" cy="411480"/>
          </a:xfrm>
          <a:prstGeom prst="rect">
            <a:avLst/>
          </a:prstGeom>
          <a:noFill/>
          <a:ln/>
        </p:spPr>
        <p:txBody>
          <a:bodyPr wrap="square" rtlCol="0" anchor="ctr"/>
          <a:lstStyle/>
          <a:p>
            <a:pPr marL="0" indent="0">
              <a:buNone/>
            </a:pPr>
            <a:r>
              <a:rPr lang="en-US" sz="1000" dirty="0">
                <a:solidFill>
                  <a:srgbClr val="FFFFFF"/>
                </a:solidFill>
                <a:latin typeface="Open Sans" pitchFamily="34" charset="0"/>
                <a:ea typeface="Open Sans" pitchFamily="34" charset="-122"/>
                <a:cs typeface="Open Sans" pitchFamily="34" charset="-120"/>
              </a:rPr>
              <a:t>This stage builds the deep model familiarity you need for writing a credible spec in Stage 4.</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64008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4 — Technical Specification</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20% of project  |  LLM-drafted, student-refined  |  70% deliverable / 30% presentation</a:t>
            </a:r>
            <a:endParaRPr lang="en-US" sz="1100" dirty="0"/>
          </a:p>
        </p:txBody>
      </p:sp>
      <p:sp>
        <p:nvSpPr>
          <p:cNvPr id="5" name="Shape 3"/>
          <p:cNvSpPr/>
          <p:nvPr/>
        </p:nvSpPr>
        <p:spPr>
          <a:xfrm>
            <a:off x="7132320" y="0"/>
            <a:ext cx="2011680" cy="822960"/>
          </a:xfrm>
          <a:prstGeom prst="rect">
            <a:avLst/>
          </a:prstGeom>
          <a:solidFill>
            <a:srgbClr val="C9A84C"/>
          </a:solidFill>
          <a:ln/>
        </p:spPr>
        <p:txBody>
          <a:bodyPr/>
          <a:lstStyle/>
          <a:p>
            <a:endParaRPr lang="en-US"/>
          </a:p>
        </p:txBody>
      </p:sp>
      <p:sp>
        <p:nvSpPr>
          <p:cNvPr id="6" name="Text 4"/>
          <p:cNvSpPr/>
          <p:nvPr/>
        </p:nvSpPr>
        <p:spPr>
          <a:xfrm>
            <a:off x="7132320" y="91440"/>
            <a:ext cx="2011680" cy="640080"/>
          </a:xfrm>
          <a:prstGeom prst="rect">
            <a:avLst/>
          </a:prstGeom>
          <a:noFill/>
          <a:ln/>
        </p:spPr>
        <p:txBody>
          <a:bodyPr wrap="square" rtlCol="0" anchor="ctr"/>
          <a:lstStyle/>
          <a:p>
            <a:pPr marL="0" indent="0" algn="ctr">
              <a:buNone/>
            </a:pPr>
            <a:r>
              <a:rPr lang="en-US" sz="1200" b="1" dirty="0">
                <a:solidFill>
                  <a:srgbClr val="024731"/>
                </a:solidFill>
                <a:latin typeface="Open Sans" pitchFamily="34" charset="0"/>
                <a:ea typeface="Open Sans" pitchFamily="34" charset="-122"/>
                <a:cs typeface="Open Sans" pitchFamily="34" charset="-120"/>
              </a:rPr>
              <a:t>SPEC-DRIVEN</a:t>
            </a:r>
            <a:endParaRPr lang="en-US" sz="1200" dirty="0"/>
          </a:p>
          <a:p>
            <a:pPr marL="0" indent="0" algn="ctr">
              <a:buNone/>
            </a:pPr>
            <a:r>
              <a:rPr lang="en-US" sz="1200" b="1" dirty="0">
                <a:solidFill>
                  <a:srgbClr val="024731"/>
                </a:solidFill>
                <a:latin typeface="Open Sans" pitchFamily="34" charset="0"/>
                <a:ea typeface="Open Sans" pitchFamily="34" charset="-122"/>
                <a:cs typeface="Open Sans" pitchFamily="34" charset="-120"/>
              </a:rPr>
              <a:t>DESIGN</a:t>
            </a:r>
            <a:endParaRPr lang="en-US" sz="1200" dirty="0"/>
          </a:p>
        </p:txBody>
      </p:sp>
      <p:sp>
        <p:nvSpPr>
          <p:cNvPr id="7" name="Shape 5"/>
          <p:cNvSpPr/>
          <p:nvPr/>
        </p:nvSpPr>
        <p:spPr>
          <a:xfrm>
            <a:off x="457200" y="1051560"/>
            <a:ext cx="4023360" cy="320040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8" name="Shape 6"/>
          <p:cNvSpPr/>
          <p:nvPr/>
        </p:nvSpPr>
        <p:spPr>
          <a:xfrm>
            <a:off x="457200" y="1051560"/>
            <a:ext cx="4023360" cy="411480"/>
          </a:xfrm>
          <a:prstGeom prst="rect">
            <a:avLst/>
          </a:prstGeom>
          <a:solidFill>
            <a:srgbClr val="024731"/>
          </a:solidFill>
          <a:ln/>
        </p:spPr>
        <p:txBody>
          <a:bodyPr/>
          <a:lstStyle/>
          <a:p>
            <a:endParaRPr lang="en-US"/>
          </a:p>
        </p:txBody>
      </p:sp>
      <p:sp>
        <p:nvSpPr>
          <p:cNvPr id="9" name="Text 7"/>
          <p:cNvSpPr/>
          <p:nvPr/>
        </p:nvSpPr>
        <p:spPr>
          <a:xfrm>
            <a:off x="594360" y="1069848"/>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Open Sans" pitchFamily="34" charset="0"/>
                <a:ea typeface="Open Sans" pitchFamily="34" charset="-122"/>
                <a:cs typeface="Open Sans" pitchFamily="34" charset="-120"/>
              </a:rPr>
              <a:t>Part A — Model Specification</a:t>
            </a:r>
            <a:endParaRPr lang="en-US" sz="1300" dirty="0"/>
          </a:p>
        </p:txBody>
      </p:sp>
      <p:sp>
        <p:nvSpPr>
          <p:cNvPr id="10" name="Text 8"/>
          <p:cNvSpPr/>
          <p:nvPr/>
        </p:nvSpPr>
        <p:spPr>
          <a:xfrm>
            <a:off x="594360" y="160020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1</a:t>
            </a:r>
            <a:endParaRPr lang="en-US" sz="1000" dirty="0"/>
          </a:p>
        </p:txBody>
      </p:sp>
      <p:sp>
        <p:nvSpPr>
          <p:cNvPr id="11" name="Text 9"/>
          <p:cNvSpPr/>
          <p:nvPr/>
        </p:nvSpPr>
        <p:spPr>
          <a:xfrm>
            <a:off x="868680" y="158191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Scope &amp; Objective</a:t>
            </a:r>
            <a:endParaRPr lang="en-US" sz="1000" dirty="0"/>
          </a:p>
        </p:txBody>
      </p:sp>
      <p:sp>
        <p:nvSpPr>
          <p:cNvPr id="12" name="Text 10"/>
          <p:cNvSpPr/>
          <p:nvPr/>
        </p:nvSpPr>
        <p:spPr>
          <a:xfrm>
            <a:off x="868680" y="175564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Company, fiscal period, reporting standard, currency</a:t>
            </a:r>
            <a:endParaRPr lang="en-US" sz="900" dirty="0"/>
          </a:p>
        </p:txBody>
      </p:sp>
      <p:sp>
        <p:nvSpPr>
          <p:cNvPr id="13" name="Text 11"/>
          <p:cNvSpPr/>
          <p:nvPr/>
        </p:nvSpPr>
        <p:spPr>
          <a:xfrm>
            <a:off x="594360" y="196596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2</a:t>
            </a:r>
            <a:endParaRPr lang="en-US" sz="1000" dirty="0"/>
          </a:p>
        </p:txBody>
      </p:sp>
      <p:sp>
        <p:nvSpPr>
          <p:cNvPr id="14" name="Text 12"/>
          <p:cNvSpPr/>
          <p:nvPr/>
        </p:nvSpPr>
        <p:spPr>
          <a:xfrm>
            <a:off x="868680" y="194767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Model Architecture</a:t>
            </a:r>
            <a:endParaRPr lang="en-US" sz="1000" dirty="0"/>
          </a:p>
        </p:txBody>
      </p:sp>
      <p:sp>
        <p:nvSpPr>
          <p:cNvPr id="15" name="Text 13"/>
          <p:cNvSpPr/>
          <p:nvPr/>
        </p:nvSpPr>
        <p:spPr>
          <a:xfrm>
            <a:off x="868680" y="212140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Tab layout, color coding, input/calc/output separation</a:t>
            </a:r>
            <a:endParaRPr lang="en-US" sz="900" dirty="0"/>
          </a:p>
        </p:txBody>
      </p:sp>
      <p:sp>
        <p:nvSpPr>
          <p:cNvPr id="16" name="Text 14"/>
          <p:cNvSpPr/>
          <p:nvPr/>
        </p:nvSpPr>
        <p:spPr>
          <a:xfrm>
            <a:off x="594360" y="233172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3</a:t>
            </a:r>
            <a:endParaRPr lang="en-US" sz="1000" dirty="0"/>
          </a:p>
        </p:txBody>
      </p:sp>
      <p:sp>
        <p:nvSpPr>
          <p:cNvPr id="17" name="Text 15"/>
          <p:cNvSpPr/>
          <p:nvPr/>
        </p:nvSpPr>
        <p:spPr>
          <a:xfrm>
            <a:off x="868680" y="231343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Data Inputs</a:t>
            </a:r>
            <a:endParaRPr lang="en-US" sz="1000" dirty="0"/>
          </a:p>
        </p:txBody>
      </p:sp>
      <p:sp>
        <p:nvSpPr>
          <p:cNvPr id="18" name="Text 16"/>
          <p:cNvSpPr/>
          <p:nvPr/>
        </p:nvSpPr>
        <p:spPr>
          <a:xfrm>
            <a:off x="868680" y="248716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Every value explicit — the executor does not infer data</a:t>
            </a:r>
            <a:endParaRPr lang="en-US" sz="900" dirty="0"/>
          </a:p>
        </p:txBody>
      </p:sp>
      <p:sp>
        <p:nvSpPr>
          <p:cNvPr id="19" name="Text 17"/>
          <p:cNvSpPr/>
          <p:nvPr/>
        </p:nvSpPr>
        <p:spPr>
          <a:xfrm>
            <a:off x="594360" y="269748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4</a:t>
            </a:r>
            <a:endParaRPr lang="en-US" sz="1000" dirty="0"/>
          </a:p>
        </p:txBody>
      </p:sp>
      <p:sp>
        <p:nvSpPr>
          <p:cNvPr id="20" name="Text 18"/>
          <p:cNvSpPr/>
          <p:nvPr/>
        </p:nvSpPr>
        <p:spPr>
          <a:xfrm>
            <a:off x="868680" y="267919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Named Range Map</a:t>
            </a:r>
            <a:endParaRPr lang="en-US" sz="1000" dirty="0"/>
          </a:p>
        </p:txBody>
      </p:sp>
      <p:sp>
        <p:nvSpPr>
          <p:cNvPr id="21" name="Text 19"/>
          <p:cNvSpPr/>
          <p:nvPr/>
        </p:nvSpPr>
        <p:spPr>
          <a:xfrm>
            <a:off x="868680" y="285292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Full map: name, source, value, unit</a:t>
            </a:r>
            <a:endParaRPr lang="en-US" sz="900" dirty="0"/>
          </a:p>
        </p:txBody>
      </p:sp>
      <p:sp>
        <p:nvSpPr>
          <p:cNvPr id="22" name="Text 20"/>
          <p:cNvSpPr/>
          <p:nvPr/>
        </p:nvSpPr>
        <p:spPr>
          <a:xfrm>
            <a:off x="594360" y="306324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5</a:t>
            </a:r>
            <a:endParaRPr lang="en-US" sz="1000" dirty="0"/>
          </a:p>
        </p:txBody>
      </p:sp>
      <p:sp>
        <p:nvSpPr>
          <p:cNvPr id="23" name="Text 21"/>
          <p:cNvSpPr/>
          <p:nvPr/>
        </p:nvSpPr>
        <p:spPr>
          <a:xfrm>
            <a:off x="868680" y="304495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Derived Inputs</a:t>
            </a:r>
            <a:endParaRPr lang="en-US" sz="1000" dirty="0"/>
          </a:p>
        </p:txBody>
      </p:sp>
      <p:sp>
        <p:nvSpPr>
          <p:cNvPr id="24" name="Text 22"/>
          <p:cNvSpPr/>
          <p:nvPr/>
        </p:nvSpPr>
        <p:spPr>
          <a:xfrm>
            <a:off x="868680" y="321868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Averages, start-of-year, daily rates with formulas</a:t>
            </a:r>
            <a:endParaRPr lang="en-US" sz="900" dirty="0"/>
          </a:p>
        </p:txBody>
      </p:sp>
      <p:sp>
        <p:nvSpPr>
          <p:cNvPr id="25" name="Text 23"/>
          <p:cNvSpPr/>
          <p:nvPr/>
        </p:nvSpPr>
        <p:spPr>
          <a:xfrm>
            <a:off x="594360" y="342900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6</a:t>
            </a:r>
            <a:endParaRPr lang="en-US" sz="1000" dirty="0"/>
          </a:p>
        </p:txBody>
      </p:sp>
      <p:sp>
        <p:nvSpPr>
          <p:cNvPr id="26" name="Text 24"/>
          <p:cNvSpPr/>
          <p:nvPr/>
        </p:nvSpPr>
        <p:spPr>
          <a:xfrm>
            <a:off x="868680" y="341071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Ratio Formulas</a:t>
            </a:r>
            <a:endParaRPr lang="en-US" sz="1000" dirty="0"/>
          </a:p>
        </p:txBody>
      </p:sp>
      <p:sp>
        <p:nvSpPr>
          <p:cNvPr id="27" name="Text 25"/>
          <p:cNvSpPr/>
          <p:nvPr/>
        </p:nvSpPr>
        <p:spPr>
          <a:xfrm>
            <a:off x="868680" y="358444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All 25+ ratios in named-range notation with units</a:t>
            </a:r>
            <a:endParaRPr lang="en-US" sz="900" dirty="0"/>
          </a:p>
        </p:txBody>
      </p:sp>
      <p:sp>
        <p:nvSpPr>
          <p:cNvPr id="28" name="Text 26"/>
          <p:cNvSpPr/>
          <p:nvPr/>
        </p:nvSpPr>
        <p:spPr>
          <a:xfrm>
            <a:off x="594360" y="379476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7</a:t>
            </a:r>
            <a:endParaRPr lang="en-US" sz="1000" dirty="0"/>
          </a:p>
        </p:txBody>
      </p:sp>
      <p:sp>
        <p:nvSpPr>
          <p:cNvPr id="29" name="Text 27"/>
          <p:cNvSpPr/>
          <p:nvPr/>
        </p:nvSpPr>
        <p:spPr>
          <a:xfrm>
            <a:off x="868680" y="377647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Validation Rules</a:t>
            </a:r>
            <a:endParaRPr lang="en-US" sz="1000" dirty="0"/>
          </a:p>
        </p:txBody>
      </p:sp>
      <p:sp>
        <p:nvSpPr>
          <p:cNvPr id="30" name="Text 28"/>
          <p:cNvSpPr/>
          <p:nvPr/>
        </p:nvSpPr>
        <p:spPr>
          <a:xfrm>
            <a:off x="868680" y="395020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Du Pont checks, BS balance, consistency tests</a:t>
            </a:r>
            <a:endParaRPr lang="en-US" sz="900" dirty="0"/>
          </a:p>
        </p:txBody>
      </p:sp>
      <p:sp>
        <p:nvSpPr>
          <p:cNvPr id="31" name="Shape 29"/>
          <p:cNvSpPr/>
          <p:nvPr/>
        </p:nvSpPr>
        <p:spPr>
          <a:xfrm>
            <a:off x="4663440" y="1051560"/>
            <a:ext cx="4023360" cy="320040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32" name="Shape 30"/>
          <p:cNvSpPr/>
          <p:nvPr/>
        </p:nvSpPr>
        <p:spPr>
          <a:xfrm>
            <a:off x="4663440" y="1051560"/>
            <a:ext cx="4023360" cy="411480"/>
          </a:xfrm>
          <a:prstGeom prst="rect">
            <a:avLst/>
          </a:prstGeom>
          <a:solidFill>
            <a:srgbClr val="024731"/>
          </a:solidFill>
          <a:ln/>
        </p:spPr>
        <p:txBody>
          <a:bodyPr/>
          <a:lstStyle/>
          <a:p>
            <a:endParaRPr lang="en-US"/>
          </a:p>
        </p:txBody>
      </p:sp>
      <p:sp>
        <p:nvSpPr>
          <p:cNvPr id="33" name="Text 31"/>
          <p:cNvSpPr/>
          <p:nvPr/>
        </p:nvSpPr>
        <p:spPr>
          <a:xfrm>
            <a:off x="4800600" y="1069848"/>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Open Sans" pitchFamily="34" charset="0"/>
                <a:ea typeface="Open Sans" pitchFamily="34" charset="-122"/>
                <a:cs typeface="Open Sans" pitchFamily="34" charset="-120"/>
              </a:rPr>
              <a:t>Part B — Analysis Specification</a:t>
            </a:r>
            <a:endParaRPr lang="en-US" sz="1300" dirty="0"/>
          </a:p>
        </p:txBody>
      </p:sp>
      <p:sp>
        <p:nvSpPr>
          <p:cNvPr id="34" name="Text 32"/>
          <p:cNvSpPr/>
          <p:nvPr/>
        </p:nvSpPr>
        <p:spPr>
          <a:xfrm>
            <a:off x="4800600" y="1600200"/>
            <a:ext cx="32004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8</a:t>
            </a:r>
            <a:endParaRPr lang="en-US" sz="1000" dirty="0"/>
          </a:p>
        </p:txBody>
      </p:sp>
      <p:sp>
        <p:nvSpPr>
          <p:cNvPr id="35" name="Text 33"/>
          <p:cNvSpPr/>
          <p:nvPr/>
        </p:nvSpPr>
        <p:spPr>
          <a:xfrm>
            <a:off x="5166360" y="1581912"/>
            <a:ext cx="228600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Analysis Requirements</a:t>
            </a:r>
            <a:endParaRPr lang="en-US" sz="1000" dirty="0"/>
          </a:p>
        </p:txBody>
      </p:sp>
      <p:sp>
        <p:nvSpPr>
          <p:cNvPr id="36" name="Text 34"/>
          <p:cNvSpPr/>
          <p:nvPr/>
        </p:nvSpPr>
        <p:spPr>
          <a:xfrm>
            <a:off x="5166360" y="1764792"/>
            <a:ext cx="3383280" cy="27432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What to interpret per category; benchmarks; cross-category connections</a:t>
            </a:r>
            <a:endParaRPr lang="en-US" sz="900" dirty="0"/>
          </a:p>
        </p:txBody>
      </p:sp>
      <p:sp>
        <p:nvSpPr>
          <p:cNvPr id="37" name="Text 35"/>
          <p:cNvSpPr/>
          <p:nvPr/>
        </p:nvSpPr>
        <p:spPr>
          <a:xfrm>
            <a:off x="4800600" y="2103120"/>
            <a:ext cx="32004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9</a:t>
            </a:r>
            <a:endParaRPr lang="en-US" sz="1000" dirty="0"/>
          </a:p>
        </p:txBody>
      </p:sp>
      <p:sp>
        <p:nvSpPr>
          <p:cNvPr id="38" name="Text 36"/>
          <p:cNvSpPr/>
          <p:nvPr/>
        </p:nvSpPr>
        <p:spPr>
          <a:xfrm>
            <a:off x="5166360" y="2084832"/>
            <a:ext cx="228600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Du Pont Decomposition</a:t>
            </a:r>
            <a:endParaRPr lang="en-US" sz="1000" dirty="0"/>
          </a:p>
        </p:txBody>
      </p:sp>
      <p:sp>
        <p:nvSpPr>
          <p:cNvPr id="39" name="Text 37"/>
          <p:cNvSpPr/>
          <p:nvPr/>
        </p:nvSpPr>
        <p:spPr>
          <a:xfrm>
            <a:off x="5166360" y="2267712"/>
            <a:ext cx="3383280" cy="27432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ROE breakdown instructions: which driver? Sustainable?</a:t>
            </a:r>
            <a:endParaRPr lang="en-US" sz="900" dirty="0"/>
          </a:p>
        </p:txBody>
      </p:sp>
      <p:sp>
        <p:nvSpPr>
          <p:cNvPr id="40" name="Text 38"/>
          <p:cNvSpPr/>
          <p:nvPr/>
        </p:nvSpPr>
        <p:spPr>
          <a:xfrm>
            <a:off x="4800600" y="2606040"/>
            <a:ext cx="32004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10</a:t>
            </a:r>
            <a:endParaRPr lang="en-US" sz="1000" dirty="0"/>
          </a:p>
        </p:txBody>
      </p:sp>
      <p:sp>
        <p:nvSpPr>
          <p:cNvPr id="41" name="Text 39"/>
          <p:cNvSpPr/>
          <p:nvPr/>
        </p:nvSpPr>
        <p:spPr>
          <a:xfrm>
            <a:off x="5166360" y="2587752"/>
            <a:ext cx="228600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Strategic Recommendations</a:t>
            </a:r>
            <a:endParaRPr lang="en-US" sz="1000" dirty="0"/>
          </a:p>
        </p:txBody>
      </p:sp>
      <p:sp>
        <p:nvSpPr>
          <p:cNvPr id="42" name="Text 40"/>
          <p:cNvSpPr/>
          <p:nvPr/>
        </p:nvSpPr>
        <p:spPr>
          <a:xfrm>
            <a:off x="5166360" y="2770632"/>
            <a:ext cx="3383280" cy="27432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3–5 recommendations; evidence standard; actionable specificity</a:t>
            </a:r>
            <a:endParaRPr lang="en-US" sz="900" dirty="0"/>
          </a:p>
        </p:txBody>
      </p:sp>
      <p:sp>
        <p:nvSpPr>
          <p:cNvPr id="43" name="Text 41"/>
          <p:cNvSpPr/>
          <p:nvPr/>
        </p:nvSpPr>
        <p:spPr>
          <a:xfrm>
            <a:off x="4800600" y="3108960"/>
            <a:ext cx="32004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11</a:t>
            </a:r>
            <a:endParaRPr lang="en-US" sz="1000" dirty="0"/>
          </a:p>
        </p:txBody>
      </p:sp>
      <p:sp>
        <p:nvSpPr>
          <p:cNvPr id="44" name="Text 42"/>
          <p:cNvSpPr/>
          <p:nvPr/>
        </p:nvSpPr>
        <p:spPr>
          <a:xfrm>
            <a:off x="5166360" y="3090672"/>
            <a:ext cx="228600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Output Format</a:t>
            </a:r>
            <a:endParaRPr lang="en-US" sz="1000" dirty="0"/>
          </a:p>
        </p:txBody>
      </p:sp>
      <p:sp>
        <p:nvSpPr>
          <p:cNvPr id="45" name="Text 43"/>
          <p:cNvSpPr/>
          <p:nvPr/>
        </p:nvSpPr>
        <p:spPr>
          <a:xfrm>
            <a:off x="5166360" y="3273552"/>
            <a:ext cx="3383280" cy="27432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Exact deliverable structure, sections, length, tone, audience</a:t>
            </a:r>
            <a:endParaRPr lang="en-US" sz="900" dirty="0"/>
          </a:p>
        </p:txBody>
      </p:sp>
      <p:sp>
        <p:nvSpPr>
          <p:cNvPr id="46" name="Shape 44"/>
          <p:cNvSpPr/>
          <p:nvPr/>
        </p:nvSpPr>
        <p:spPr>
          <a:xfrm>
            <a:off x="4663440" y="3108960"/>
            <a:ext cx="4023360" cy="1143000"/>
          </a:xfrm>
          <a:prstGeom prst="rect">
            <a:avLst/>
          </a:prstGeom>
          <a:solidFill>
            <a:srgbClr val="E6F2EF"/>
          </a:solidFill>
          <a:ln/>
        </p:spPr>
        <p:txBody>
          <a:bodyPr/>
          <a:lstStyle/>
          <a:p>
            <a:endParaRPr lang="en-US"/>
          </a:p>
        </p:txBody>
      </p:sp>
      <p:sp>
        <p:nvSpPr>
          <p:cNvPr id="47" name="Shape 45"/>
          <p:cNvSpPr/>
          <p:nvPr/>
        </p:nvSpPr>
        <p:spPr>
          <a:xfrm>
            <a:off x="4663440" y="3108960"/>
            <a:ext cx="54864" cy="1143000"/>
          </a:xfrm>
          <a:prstGeom prst="rect">
            <a:avLst/>
          </a:prstGeom>
          <a:solidFill>
            <a:srgbClr val="C9A84C"/>
          </a:solidFill>
          <a:ln/>
        </p:spPr>
        <p:txBody>
          <a:bodyPr/>
          <a:lstStyle/>
          <a:p>
            <a:endParaRPr lang="en-US"/>
          </a:p>
        </p:txBody>
      </p:sp>
      <p:sp>
        <p:nvSpPr>
          <p:cNvPr id="48" name="Text 46"/>
          <p:cNvSpPr/>
          <p:nvPr/>
        </p:nvSpPr>
        <p:spPr>
          <a:xfrm>
            <a:off x="4846320" y="3154680"/>
            <a:ext cx="365760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Quality Test</a:t>
            </a:r>
            <a:endParaRPr lang="en-US" sz="1100" dirty="0"/>
          </a:p>
        </p:txBody>
      </p:sp>
      <p:sp>
        <p:nvSpPr>
          <p:cNvPr id="49" name="Text 47"/>
          <p:cNvSpPr/>
          <p:nvPr/>
        </p:nvSpPr>
        <p:spPr>
          <a:xfrm>
            <a:off x="4846320" y="3383280"/>
            <a:ext cx="3657600" cy="77724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Use an LLM to draft Part A + Part B from your Stage 3 model. Refine the draft, then test it against a fresh LLM session — if the cold output mirrors your model, the spec is precise enough. Log every prompt.</a:t>
            </a:r>
            <a:endParaRPr lang="en-US" sz="1000" dirty="0"/>
          </a:p>
        </p:txBody>
      </p:sp>
      <p:sp>
        <p:nvSpPr>
          <p:cNvPr id="50" name="Shape 48"/>
          <p:cNvSpPr/>
          <p:nvPr/>
        </p:nvSpPr>
        <p:spPr>
          <a:xfrm>
            <a:off x="457200" y="4434840"/>
            <a:ext cx="8229600" cy="457200"/>
          </a:xfrm>
          <a:prstGeom prst="rect">
            <a:avLst/>
          </a:prstGeom>
          <a:solidFill>
            <a:srgbClr val="024731"/>
          </a:solidFill>
          <a:ln/>
        </p:spPr>
        <p:txBody>
          <a:bodyPr/>
          <a:lstStyle/>
          <a:p>
            <a:endParaRPr lang="en-US"/>
          </a:p>
        </p:txBody>
      </p:sp>
      <p:sp>
        <p:nvSpPr>
          <p:cNvPr id="51" name="Text 49"/>
          <p:cNvSpPr/>
          <p:nvPr/>
        </p:nvSpPr>
        <p:spPr>
          <a:xfrm>
            <a:off x="594360" y="4453128"/>
            <a:ext cx="7955280" cy="411480"/>
          </a:xfrm>
          <a:prstGeom prst="rect">
            <a:avLst/>
          </a:prstGeom>
          <a:noFill/>
          <a:ln/>
        </p:spPr>
        <p:txBody>
          <a:bodyPr wrap="square" rtlCol="0" anchor="ctr"/>
          <a:lstStyle/>
          <a:p>
            <a:pPr marL="0" indent="0" algn="ctr">
              <a:buNone/>
            </a:pPr>
            <a:r>
              <a:rPr lang="en-US" sz="1000" dirty="0">
                <a:solidFill>
                  <a:srgbClr val="FFFFFF"/>
                </a:solidFill>
                <a:latin typeface="Open Sans" pitchFamily="34" charset="0"/>
                <a:ea typeface="Open Sans" pitchFamily="34" charset="-122"/>
                <a:cs typeface="Open Sans" pitchFamily="34" charset="-120"/>
              </a:rPr>
              <a:t>Rubric:  Data &amp; Structure 25%  |  Ratios &amp; Validation 25%  |  Analysis Spec 25%  |  Spec Craft + Prompt Log 25%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5 — LLM Analysis &amp; Executive Evaluation</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25% of project  |  Full analysis + LLM evaluation + repo polish  |  70% deliverable / 30% presentation</a:t>
            </a:r>
            <a:endParaRPr lang="en-US" sz="1100" dirty="0"/>
          </a:p>
        </p:txBody>
      </p:sp>
      <p:sp>
        <p:nvSpPr>
          <p:cNvPr id="5" name="Text 3"/>
          <p:cNvSpPr/>
          <p:nvPr/>
        </p:nvSpPr>
        <p:spPr>
          <a:xfrm>
            <a:off x="548640" y="1051560"/>
            <a:ext cx="3657600" cy="27432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How It Works</a:t>
            </a:r>
            <a:endParaRPr lang="en-US" sz="1400" dirty="0"/>
          </a:p>
        </p:txBody>
      </p:sp>
      <p:sp>
        <p:nvSpPr>
          <p:cNvPr id="6" name="Shape 4"/>
          <p:cNvSpPr/>
          <p:nvPr/>
        </p:nvSpPr>
        <p:spPr>
          <a:xfrm>
            <a:off x="594360" y="1463040"/>
            <a:ext cx="274320" cy="274320"/>
          </a:xfrm>
          <a:prstGeom prst="ellipse">
            <a:avLst/>
          </a:prstGeom>
          <a:solidFill>
            <a:srgbClr val="024731"/>
          </a:solidFill>
          <a:ln/>
        </p:spPr>
        <p:txBody>
          <a:bodyPr/>
          <a:lstStyle/>
          <a:p>
            <a:endParaRPr lang="en-US"/>
          </a:p>
        </p:txBody>
      </p:sp>
      <p:sp>
        <p:nvSpPr>
          <p:cNvPr id="7" name="Text 5"/>
          <p:cNvSpPr/>
          <p:nvPr/>
        </p:nvSpPr>
        <p:spPr>
          <a:xfrm>
            <a:off x="594360" y="1463040"/>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1</a:t>
            </a:r>
            <a:endParaRPr lang="en-US" sz="1100" dirty="0"/>
          </a:p>
        </p:txBody>
      </p:sp>
      <p:sp>
        <p:nvSpPr>
          <p:cNvPr id="8" name="Text 6"/>
          <p:cNvSpPr/>
          <p:nvPr/>
        </p:nvSpPr>
        <p:spPr>
          <a:xfrm>
            <a:off x="1005840" y="1463040"/>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Paste your Stage 4 spec into an LLM — nothing else</a:t>
            </a:r>
            <a:endParaRPr lang="en-US" sz="1100" dirty="0"/>
          </a:p>
        </p:txBody>
      </p:sp>
      <p:sp>
        <p:nvSpPr>
          <p:cNvPr id="9" name="Shape 7"/>
          <p:cNvSpPr/>
          <p:nvPr/>
        </p:nvSpPr>
        <p:spPr>
          <a:xfrm>
            <a:off x="594360" y="1847088"/>
            <a:ext cx="274320" cy="274320"/>
          </a:xfrm>
          <a:prstGeom prst="ellipse">
            <a:avLst/>
          </a:prstGeom>
          <a:solidFill>
            <a:srgbClr val="024731"/>
          </a:solidFill>
          <a:ln/>
        </p:spPr>
        <p:txBody>
          <a:bodyPr/>
          <a:lstStyle/>
          <a:p>
            <a:endParaRPr lang="en-US"/>
          </a:p>
        </p:txBody>
      </p:sp>
      <p:sp>
        <p:nvSpPr>
          <p:cNvPr id="10" name="Text 8"/>
          <p:cNvSpPr/>
          <p:nvPr/>
        </p:nvSpPr>
        <p:spPr>
          <a:xfrm>
            <a:off x="594360" y="1847088"/>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2</a:t>
            </a:r>
            <a:endParaRPr lang="en-US" sz="1100" dirty="0"/>
          </a:p>
        </p:txBody>
      </p:sp>
      <p:sp>
        <p:nvSpPr>
          <p:cNvPr id="11" name="Text 9"/>
          <p:cNvSpPr/>
          <p:nvPr/>
        </p:nvSpPr>
        <p:spPr>
          <a:xfrm>
            <a:off x="1005840" y="1847088"/>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Save the raw, unedited LLM response</a:t>
            </a:r>
            <a:endParaRPr lang="en-US" sz="1100" dirty="0"/>
          </a:p>
        </p:txBody>
      </p:sp>
      <p:sp>
        <p:nvSpPr>
          <p:cNvPr id="12" name="Shape 10"/>
          <p:cNvSpPr/>
          <p:nvPr/>
        </p:nvSpPr>
        <p:spPr>
          <a:xfrm>
            <a:off x="594360" y="2231136"/>
            <a:ext cx="274320" cy="274320"/>
          </a:xfrm>
          <a:prstGeom prst="ellipse">
            <a:avLst/>
          </a:prstGeom>
          <a:solidFill>
            <a:srgbClr val="024731"/>
          </a:solidFill>
          <a:ln/>
        </p:spPr>
        <p:txBody>
          <a:bodyPr/>
          <a:lstStyle/>
          <a:p>
            <a:endParaRPr lang="en-US"/>
          </a:p>
        </p:txBody>
      </p:sp>
      <p:sp>
        <p:nvSpPr>
          <p:cNvPr id="13" name="Text 11"/>
          <p:cNvSpPr/>
          <p:nvPr/>
        </p:nvSpPr>
        <p:spPr>
          <a:xfrm>
            <a:off x="594360" y="2231136"/>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3</a:t>
            </a:r>
            <a:endParaRPr lang="en-US" sz="1100" dirty="0"/>
          </a:p>
        </p:txBody>
      </p:sp>
      <p:sp>
        <p:nvSpPr>
          <p:cNvPr id="14" name="Text 12"/>
          <p:cNvSpPr/>
          <p:nvPr/>
        </p:nvSpPr>
        <p:spPr>
          <a:xfrm>
            <a:off x="1005840" y="2231136"/>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Compare against your Stage 3 model</a:t>
            </a:r>
            <a:endParaRPr lang="en-US" sz="1100" dirty="0"/>
          </a:p>
        </p:txBody>
      </p:sp>
      <p:sp>
        <p:nvSpPr>
          <p:cNvPr id="15" name="Shape 13"/>
          <p:cNvSpPr/>
          <p:nvPr/>
        </p:nvSpPr>
        <p:spPr>
          <a:xfrm>
            <a:off x="594360" y="2615184"/>
            <a:ext cx="274320" cy="274320"/>
          </a:xfrm>
          <a:prstGeom prst="ellipse">
            <a:avLst/>
          </a:prstGeom>
          <a:solidFill>
            <a:srgbClr val="024731"/>
          </a:solidFill>
          <a:ln/>
        </p:spPr>
        <p:txBody>
          <a:bodyPr/>
          <a:lstStyle/>
          <a:p>
            <a:endParaRPr lang="en-US"/>
          </a:p>
        </p:txBody>
      </p:sp>
      <p:sp>
        <p:nvSpPr>
          <p:cNvPr id="16" name="Text 14"/>
          <p:cNvSpPr/>
          <p:nvPr/>
        </p:nvSpPr>
        <p:spPr>
          <a:xfrm>
            <a:off x="594360" y="2615184"/>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4</a:t>
            </a:r>
            <a:endParaRPr lang="en-US" sz="1100" dirty="0"/>
          </a:p>
        </p:txBody>
      </p:sp>
      <p:sp>
        <p:nvSpPr>
          <p:cNvPr id="17" name="Text 15"/>
          <p:cNvSpPr/>
          <p:nvPr/>
        </p:nvSpPr>
        <p:spPr>
          <a:xfrm>
            <a:off x="1005840" y="2615184"/>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Evaluate, correct, and annotate the output</a:t>
            </a:r>
            <a:endParaRPr lang="en-US" sz="1100" dirty="0"/>
          </a:p>
        </p:txBody>
      </p:sp>
      <p:sp>
        <p:nvSpPr>
          <p:cNvPr id="18" name="Shape 16"/>
          <p:cNvSpPr/>
          <p:nvPr/>
        </p:nvSpPr>
        <p:spPr>
          <a:xfrm>
            <a:off x="594360" y="2999232"/>
            <a:ext cx="274320" cy="274320"/>
          </a:xfrm>
          <a:prstGeom prst="ellipse">
            <a:avLst/>
          </a:prstGeom>
          <a:solidFill>
            <a:srgbClr val="024731"/>
          </a:solidFill>
          <a:ln/>
        </p:spPr>
        <p:txBody>
          <a:bodyPr/>
          <a:lstStyle/>
          <a:p>
            <a:endParaRPr lang="en-US"/>
          </a:p>
        </p:txBody>
      </p:sp>
      <p:sp>
        <p:nvSpPr>
          <p:cNvPr id="19" name="Text 17"/>
          <p:cNvSpPr/>
          <p:nvPr/>
        </p:nvSpPr>
        <p:spPr>
          <a:xfrm>
            <a:off x="594360" y="2999232"/>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5</a:t>
            </a:r>
            <a:endParaRPr lang="en-US" sz="1100" dirty="0"/>
          </a:p>
        </p:txBody>
      </p:sp>
      <p:sp>
        <p:nvSpPr>
          <p:cNvPr id="20" name="Text 18"/>
          <p:cNvSpPr/>
          <p:nvPr/>
        </p:nvSpPr>
        <p:spPr>
          <a:xfrm>
            <a:off x="1005840" y="2999232"/>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Write your own executive justification</a:t>
            </a:r>
            <a:endParaRPr lang="en-US" sz="1100" dirty="0"/>
          </a:p>
        </p:txBody>
      </p:sp>
      <p:sp>
        <p:nvSpPr>
          <p:cNvPr id="21" name="Shape 19"/>
          <p:cNvSpPr/>
          <p:nvPr/>
        </p:nvSpPr>
        <p:spPr>
          <a:xfrm>
            <a:off x="4937760" y="1051560"/>
            <a:ext cx="3840480" cy="379476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22" name="Text 20"/>
          <p:cNvSpPr/>
          <p:nvPr/>
        </p:nvSpPr>
        <p:spPr>
          <a:xfrm>
            <a:off x="5120640" y="1143000"/>
            <a:ext cx="347472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Evaluated Final Analysis Sections</a:t>
            </a:r>
            <a:endParaRPr lang="en-US" sz="1200" dirty="0"/>
          </a:p>
        </p:txBody>
      </p:sp>
      <p:sp>
        <p:nvSpPr>
          <p:cNvPr id="23" name="Text 21"/>
          <p:cNvSpPr/>
          <p:nvPr/>
        </p:nvSpPr>
        <p:spPr>
          <a:xfrm>
            <a:off x="5212080" y="15544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1.</a:t>
            </a:r>
            <a:endParaRPr lang="en-US" sz="1100" dirty="0"/>
          </a:p>
        </p:txBody>
      </p:sp>
      <p:sp>
        <p:nvSpPr>
          <p:cNvPr id="24" name="Text 22"/>
          <p:cNvSpPr/>
          <p:nvPr/>
        </p:nvSpPr>
        <p:spPr>
          <a:xfrm>
            <a:off x="5486400" y="15544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Company &amp; Data Summary</a:t>
            </a:r>
            <a:endParaRPr lang="en-US" sz="1000" dirty="0"/>
          </a:p>
        </p:txBody>
      </p:sp>
      <p:sp>
        <p:nvSpPr>
          <p:cNvPr id="25" name="Text 23"/>
          <p:cNvSpPr/>
          <p:nvPr/>
        </p:nvSpPr>
        <p:spPr>
          <a:xfrm>
            <a:off x="5212080" y="20116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2.</a:t>
            </a:r>
            <a:endParaRPr lang="en-US" sz="1100" dirty="0"/>
          </a:p>
        </p:txBody>
      </p:sp>
      <p:sp>
        <p:nvSpPr>
          <p:cNvPr id="26" name="Text 24"/>
          <p:cNvSpPr/>
          <p:nvPr/>
        </p:nvSpPr>
        <p:spPr>
          <a:xfrm>
            <a:off x="5486400" y="20116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Ratio Results &amp; Interpretation (all 6 categories)</a:t>
            </a:r>
            <a:endParaRPr lang="en-US" sz="1000" dirty="0"/>
          </a:p>
        </p:txBody>
      </p:sp>
      <p:sp>
        <p:nvSpPr>
          <p:cNvPr id="27" name="Text 25"/>
          <p:cNvSpPr/>
          <p:nvPr/>
        </p:nvSpPr>
        <p:spPr>
          <a:xfrm>
            <a:off x="5212080" y="24688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3.</a:t>
            </a:r>
            <a:endParaRPr lang="en-US" sz="1100" dirty="0"/>
          </a:p>
        </p:txBody>
      </p:sp>
      <p:sp>
        <p:nvSpPr>
          <p:cNvPr id="28" name="Text 26"/>
          <p:cNvSpPr/>
          <p:nvPr/>
        </p:nvSpPr>
        <p:spPr>
          <a:xfrm>
            <a:off x="5486400" y="24688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Du Pont Analysis with your commentary</a:t>
            </a:r>
            <a:endParaRPr lang="en-US" sz="1000" dirty="0"/>
          </a:p>
        </p:txBody>
      </p:sp>
      <p:sp>
        <p:nvSpPr>
          <p:cNvPr id="29" name="Text 27"/>
          <p:cNvSpPr/>
          <p:nvPr/>
        </p:nvSpPr>
        <p:spPr>
          <a:xfrm>
            <a:off x="5212080" y="29260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4.</a:t>
            </a:r>
            <a:endParaRPr lang="en-US" sz="1100" dirty="0"/>
          </a:p>
        </p:txBody>
      </p:sp>
      <p:sp>
        <p:nvSpPr>
          <p:cNvPr id="30" name="Text 28"/>
          <p:cNvSpPr/>
          <p:nvPr/>
        </p:nvSpPr>
        <p:spPr>
          <a:xfrm>
            <a:off x="5486400" y="29260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Strategic Recommendations (3–5, data-supported)</a:t>
            </a:r>
            <a:endParaRPr lang="en-US" sz="1000" dirty="0"/>
          </a:p>
        </p:txBody>
      </p:sp>
      <p:sp>
        <p:nvSpPr>
          <p:cNvPr id="31" name="Text 29"/>
          <p:cNvSpPr/>
          <p:nvPr/>
        </p:nvSpPr>
        <p:spPr>
          <a:xfrm>
            <a:off x="5212080" y="33832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5.</a:t>
            </a:r>
            <a:endParaRPr lang="en-US" sz="1100" dirty="0"/>
          </a:p>
        </p:txBody>
      </p:sp>
      <p:sp>
        <p:nvSpPr>
          <p:cNvPr id="32" name="Text 30"/>
          <p:cNvSpPr/>
          <p:nvPr/>
        </p:nvSpPr>
        <p:spPr>
          <a:xfrm>
            <a:off x="5486400" y="33832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LLM Evaluation &amp; Annotations</a:t>
            </a:r>
            <a:endParaRPr lang="en-US" sz="1000" dirty="0"/>
          </a:p>
        </p:txBody>
      </p:sp>
      <p:sp>
        <p:nvSpPr>
          <p:cNvPr id="33" name="Text 31"/>
          <p:cNvSpPr/>
          <p:nvPr/>
        </p:nvSpPr>
        <p:spPr>
          <a:xfrm>
            <a:off x="5212080" y="38404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6.</a:t>
            </a:r>
            <a:endParaRPr lang="en-US" sz="1100" dirty="0"/>
          </a:p>
        </p:txBody>
      </p:sp>
      <p:sp>
        <p:nvSpPr>
          <p:cNvPr id="34" name="Text 32"/>
          <p:cNvSpPr/>
          <p:nvPr/>
        </p:nvSpPr>
        <p:spPr>
          <a:xfrm>
            <a:off x="5486400" y="38404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Spec Retrospective (what to improve)</a:t>
            </a:r>
            <a:endParaRPr lang="en-US" sz="1000" dirty="0"/>
          </a:p>
        </p:txBody>
      </p:sp>
      <p:sp>
        <p:nvSpPr>
          <p:cNvPr id="35" name="Text 33"/>
          <p:cNvSpPr/>
          <p:nvPr/>
        </p:nvSpPr>
        <p:spPr>
          <a:xfrm>
            <a:off x="5212080" y="42976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7.</a:t>
            </a:r>
            <a:endParaRPr lang="en-US" sz="1100" dirty="0"/>
          </a:p>
        </p:txBody>
      </p:sp>
      <p:sp>
        <p:nvSpPr>
          <p:cNvPr id="36" name="Text 34"/>
          <p:cNvSpPr/>
          <p:nvPr/>
        </p:nvSpPr>
        <p:spPr>
          <a:xfrm>
            <a:off x="5486400" y="4297680"/>
            <a:ext cx="3108960" cy="36576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Executive Justification (your voice, not the LLM’s)</a:t>
            </a:r>
            <a:endParaRPr lang="en-US" sz="1000" dirty="0"/>
          </a:p>
        </p:txBody>
      </p:sp>
      <p:sp>
        <p:nvSpPr>
          <p:cNvPr id="37" name="Shape 35"/>
          <p:cNvSpPr/>
          <p:nvPr/>
        </p:nvSpPr>
        <p:spPr>
          <a:xfrm>
            <a:off x="457200" y="4434840"/>
            <a:ext cx="8229600" cy="457200"/>
          </a:xfrm>
          <a:prstGeom prst="rect">
            <a:avLst/>
          </a:prstGeom>
          <a:solidFill>
            <a:srgbClr val="024731"/>
          </a:solidFill>
          <a:ln/>
        </p:spPr>
        <p:txBody>
          <a:bodyPr/>
          <a:lstStyle/>
          <a:p>
            <a:endParaRPr lang="en-US"/>
          </a:p>
        </p:txBody>
      </p:sp>
      <p:sp>
        <p:nvSpPr>
          <p:cNvPr id="38" name="Text 36"/>
          <p:cNvSpPr/>
          <p:nvPr/>
        </p:nvSpPr>
        <p:spPr>
          <a:xfrm>
            <a:off x="594360" y="4453128"/>
            <a:ext cx="7955280" cy="41148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The future of finance: specify the work, evaluate the output, take responsibility for the final product.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5F7F6"/>
        </a:solidFill>
        <a:effectLst/>
      </p:bgPr>
    </p:bg>
    <p:spTree>
      <p:nvGrpSpPr>
        <p:cNvPr id="1" name=""/>
        <p:cNvGrpSpPr/>
        <p:nvPr/>
      </p:nvGrpSpPr>
      <p:grpSpPr>
        <a:xfrm>
          <a:off x="0" y="0"/>
          <a:ext cx="0" cy="0"/>
          <a:chOff x="0" y="0"/>
          <a:chExt cx="0" cy="0"/>
        </a:xfrm>
      </p:grpSpPr>
      <p:sp>
        <p:nvSpPr>
          <p:cNvPr id="2" name="Text 0"/>
          <p:cNvSpPr/>
          <p:nvPr/>
        </p:nvSpPr>
        <p:spPr>
          <a:xfrm>
            <a:off x="548640" y="320040"/>
            <a:ext cx="8229600" cy="548640"/>
          </a:xfrm>
          <a:prstGeom prst="rect">
            <a:avLst/>
          </a:prstGeom>
          <a:noFill/>
          <a:ln/>
        </p:spPr>
        <p:txBody>
          <a:bodyPr wrap="square" lIns="0" tIns="0" rIns="0" bIns="0" rtlCol="0" anchor="ctr"/>
          <a:lstStyle/>
          <a:p>
            <a:pPr marL="0" indent="0">
              <a:buNone/>
            </a:pPr>
            <a:r>
              <a:rPr lang="en-US" sz="2600" b="1" dirty="0">
                <a:solidFill>
                  <a:srgbClr val="024731"/>
                </a:solidFill>
                <a:latin typeface="Open Sans" pitchFamily="34" charset="0"/>
                <a:ea typeface="Open Sans" pitchFamily="34" charset="-122"/>
                <a:cs typeface="Open Sans" pitchFamily="34" charset="-120"/>
              </a:rPr>
              <a:t>International Scope — Choose Any Public Company</a:t>
            </a:r>
            <a:endParaRPr lang="en-US" sz="2600" dirty="0"/>
          </a:p>
        </p:txBody>
      </p:sp>
      <p:sp>
        <p:nvSpPr>
          <p:cNvPr id="3" name="Text 1"/>
          <p:cNvSpPr/>
          <p:nvPr/>
        </p:nvSpPr>
        <p:spPr>
          <a:xfrm>
            <a:off x="548640" y="822960"/>
            <a:ext cx="8046720" cy="320040"/>
          </a:xfrm>
          <a:prstGeom prst="rect">
            <a:avLst/>
          </a:prstGeom>
          <a:noFill/>
          <a:ln/>
        </p:spPr>
        <p:txBody>
          <a:bodyPr wrap="square" rtlCol="0" anchor="ctr"/>
          <a:lstStyle/>
          <a:p>
            <a:pPr marL="0" indent="0">
              <a:buNone/>
            </a:pPr>
            <a:r>
              <a:rPr lang="en-US" sz="1200" dirty="0">
                <a:solidFill>
                  <a:srgbClr val="6B7280"/>
                </a:solidFill>
                <a:latin typeface="Open Sans" pitchFamily="34" charset="0"/>
                <a:ea typeface="Open Sans" pitchFamily="34" charset="-122"/>
                <a:cs typeface="Open Sans" pitchFamily="34" charset="-120"/>
              </a:rPr>
              <a:t>Non-U.S. companies are encouraged. Analyze the company most relevant to your career.</a:t>
            </a:r>
            <a:endParaRPr lang="en-US" sz="1200" dirty="0"/>
          </a:p>
        </p:txBody>
      </p:sp>
      <p:sp>
        <p:nvSpPr>
          <p:cNvPr id="4" name="Shape 2"/>
          <p:cNvSpPr/>
          <p:nvPr/>
        </p:nvSpPr>
        <p:spPr>
          <a:xfrm>
            <a:off x="548640" y="137160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5" name="Shape 3"/>
          <p:cNvSpPr/>
          <p:nvPr/>
        </p:nvSpPr>
        <p:spPr>
          <a:xfrm>
            <a:off x="548640" y="1371600"/>
            <a:ext cx="2606040" cy="54864"/>
          </a:xfrm>
          <a:prstGeom prst="rect">
            <a:avLst/>
          </a:prstGeom>
          <a:solidFill>
            <a:srgbClr val="C9A84C"/>
          </a:solidFill>
          <a:ln/>
        </p:spPr>
        <p:txBody>
          <a:bodyPr/>
          <a:lstStyle/>
          <a:p>
            <a:endParaRPr lang="en-US"/>
          </a:p>
        </p:txBody>
      </p:sp>
      <p:sp>
        <p:nvSpPr>
          <p:cNvPr id="6" name="Text 4"/>
          <p:cNvSpPr/>
          <p:nvPr/>
        </p:nvSpPr>
        <p:spPr>
          <a:xfrm>
            <a:off x="685800" y="150876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Vietnam</a:t>
            </a:r>
            <a:endParaRPr lang="en-US" sz="1300" dirty="0"/>
          </a:p>
        </p:txBody>
      </p:sp>
      <p:sp>
        <p:nvSpPr>
          <p:cNvPr id="7" name="Text 5"/>
          <p:cNvSpPr/>
          <p:nvPr/>
        </p:nvSpPr>
        <p:spPr>
          <a:xfrm>
            <a:off x="685800" y="178308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HOSE  ·  HNX</a:t>
            </a:r>
            <a:endParaRPr lang="en-US" sz="1100" dirty="0"/>
          </a:p>
        </p:txBody>
      </p:sp>
      <p:sp>
        <p:nvSpPr>
          <p:cNvPr id="8" name="Text 6"/>
          <p:cNvSpPr/>
          <p:nvPr/>
        </p:nvSpPr>
        <p:spPr>
          <a:xfrm>
            <a:off x="685800" y="205740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VAS reporting; note differences from GAAP</a:t>
            </a:r>
            <a:endParaRPr lang="en-US" sz="900" dirty="0"/>
          </a:p>
        </p:txBody>
      </p:sp>
      <p:sp>
        <p:nvSpPr>
          <p:cNvPr id="9" name="Shape 7"/>
          <p:cNvSpPr/>
          <p:nvPr/>
        </p:nvSpPr>
        <p:spPr>
          <a:xfrm>
            <a:off x="3383280" y="137160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10" name="Shape 8"/>
          <p:cNvSpPr/>
          <p:nvPr/>
        </p:nvSpPr>
        <p:spPr>
          <a:xfrm>
            <a:off x="3383280" y="1371600"/>
            <a:ext cx="2606040" cy="54864"/>
          </a:xfrm>
          <a:prstGeom prst="rect">
            <a:avLst/>
          </a:prstGeom>
          <a:solidFill>
            <a:srgbClr val="024731"/>
          </a:solidFill>
          <a:ln/>
        </p:spPr>
        <p:txBody>
          <a:bodyPr/>
          <a:lstStyle/>
          <a:p>
            <a:endParaRPr lang="en-US"/>
          </a:p>
        </p:txBody>
      </p:sp>
      <p:sp>
        <p:nvSpPr>
          <p:cNvPr id="11" name="Text 9"/>
          <p:cNvSpPr/>
          <p:nvPr/>
        </p:nvSpPr>
        <p:spPr>
          <a:xfrm>
            <a:off x="3520440" y="150876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Singapore</a:t>
            </a:r>
            <a:endParaRPr lang="en-US" sz="1300" dirty="0"/>
          </a:p>
        </p:txBody>
      </p:sp>
      <p:sp>
        <p:nvSpPr>
          <p:cNvPr id="12" name="Text 10"/>
          <p:cNvSpPr/>
          <p:nvPr/>
        </p:nvSpPr>
        <p:spPr>
          <a:xfrm>
            <a:off x="3520440" y="178308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SGX</a:t>
            </a:r>
            <a:endParaRPr lang="en-US" sz="1100" dirty="0"/>
          </a:p>
        </p:txBody>
      </p:sp>
      <p:sp>
        <p:nvSpPr>
          <p:cNvPr id="13" name="Text 11"/>
          <p:cNvSpPr/>
          <p:nvPr/>
        </p:nvSpPr>
        <p:spPr>
          <a:xfrm>
            <a:off x="3520440" y="205740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Many IFRS reporters; strong English disclosures</a:t>
            </a:r>
            <a:endParaRPr lang="en-US" sz="900" dirty="0"/>
          </a:p>
        </p:txBody>
      </p:sp>
      <p:sp>
        <p:nvSpPr>
          <p:cNvPr id="14" name="Shape 12"/>
          <p:cNvSpPr/>
          <p:nvPr/>
        </p:nvSpPr>
        <p:spPr>
          <a:xfrm>
            <a:off x="6217920" y="137160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15" name="Shape 13"/>
          <p:cNvSpPr/>
          <p:nvPr/>
        </p:nvSpPr>
        <p:spPr>
          <a:xfrm>
            <a:off x="6217920" y="1371600"/>
            <a:ext cx="2606040" cy="54864"/>
          </a:xfrm>
          <a:prstGeom prst="rect">
            <a:avLst/>
          </a:prstGeom>
          <a:solidFill>
            <a:srgbClr val="024731"/>
          </a:solidFill>
          <a:ln/>
        </p:spPr>
        <p:txBody>
          <a:bodyPr/>
          <a:lstStyle/>
          <a:p>
            <a:endParaRPr lang="en-US"/>
          </a:p>
        </p:txBody>
      </p:sp>
      <p:sp>
        <p:nvSpPr>
          <p:cNvPr id="16" name="Text 14"/>
          <p:cNvSpPr/>
          <p:nvPr/>
        </p:nvSpPr>
        <p:spPr>
          <a:xfrm>
            <a:off x="6355080" y="150876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Thailand</a:t>
            </a:r>
            <a:endParaRPr lang="en-US" sz="1300" dirty="0"/>
          </a:p>
        </p:txBody>
      </p:sp>
      <p:sp>
        <p:nvSpPr>
          <p:cNvPr id="17" name="Text 15"/>
          <p:cNvSpPr/>
          <p:nvPr/>
        </p:nvSpPr>
        <p:spPr>
          <a:xfrm>
            <a:off x="6355080" y="178308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SET</a:t>
            </a:r>
            <a:endParaRPr lang="en-US" sz="1100" dirty="0"/>
          </a:p>
        </p:txBody>
      </p:sp>
      <p:sp>
        <p:nvSpPr>
          <p:cNvPr id="18" name="Text 16"/>
          <p:cNvSpPr/>
          <p:nvPr/>
        </p:nvSpPr>
        <p:spPr>
          <a:xfrm>
            <a:off x="6355080" y="205740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Thai GAAP converging with IFRS</a:t>
            </a:r>
            <a:endParaRPr lang="en-US" sz="900" dirty="0"/>
          </a:p>
        </p:txBody>
      </p:sp>
      <p:sp>
        <p:nvSpPr>
          <p:cNvPr id="19" name="Shape 17"/>
          <p:cNvSpPr/>
          <p:nvPr/>
        </p:nvSpPr>
        <p:spPr>
          <a:xfrm>
            <a:off x="548640" y="278892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20" name="Shape 18"/>
          <p:cNvSpPr/>
          <p:nvPr/>
        </p:nvSpPr>
        <p:spPr>
          <a:xfrm>
            <a:off x="548640" y="2788920"/>
            <a:ext cx="2606040" cy="54864"/>
          </a:xfrm>
          <a:prstGeom prst="rect">
            <a:avLst/>
          </a:prstGeom>
          <a:solidFill>
            <a:srgbClr val="024731"/>
          </a:solidFill>
          <a:ln/>
        </p:spPr>
        <p:txBody>
          <a:bodyPr/>
          <a:lstStyle/>
          <a:p>
            <a:endParaRPr lang="en-US"/>
          </a:p>
        </p:txBody>
      </p:sp>
      <p:sp>
        <p:nvSpPr>
          <p:cNvPr id="21" name="Text 19"/>
          <p:cNvSpPr/>
          <p:nvPr/>
        </p:nvSpPr>
        <p:spPr>
          <a:xfrm>
            <a:off x="685800" y="292608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Indonesia</a:t>
            </a:r>
            <a:endParaRPr lang="en-US" sz="1300" dirty="0"/>
          </a:p>
        </p:txBody>
      </p:sp>
      <p:sp>
        <p:nvSpPr>
          <p:cNvPr id="22" name="Text 20"/>
          <p:cNvSpPr/>
          <p:nvPr/>
        </p:nvSpPr>
        <p:spPr>
          <a:xfrm>
            <a:off x="685800" y="320040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IDX</a:t>
            </a:r>
            <a:endParaRPr lang="en-US" sz="1100" dirty="0"/>
          </a:p>
        </p:txBody>
      </p:sp>
      <p:sp>
        <p:nvSpPr>
          <p:cNvPr id="23" name="Text 21"/>
          <p:cNvSpPr/>
          <p:nvPr/>
        </p:nvSpPr>
        <p:spPr>
          <a:xfrm>
            <a:off x="685800" y="347472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IFRS-converged; IDR reporting currency</a:t>
            </a:r>
            <a:endParaRPr lang="en-US" sz="900" dirty="0"/>
          </a:p>
        </p:txBody>
      </p:sp>
      <p:sp>
        <p:nvSpPr>
          <p:cNvPr id="24" name="Shape 22"/>
          <p:cNvSpPr/>
          <p:nvPr/>
        </p:nvSpPr>
        <p:spPr>
          <a:xfrm>
            <a:off x="3383280" y="278892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25" name="Shape 23"/>
          <p:cNvSpPr/>
          <p:nvPr/>
        </p:nvSpPr>
        <p:spPr>
          <a:xfrm>
            <a:off x="3383280" y="2788920"/>
            <a:ext cx="2606040" cy="54864"/>
          </a:xfrm>
          <a:prstGeom prst="rect">
            <a:avLst/>
          </a:prstGeom>
          <a:solidFill>
            <a:srgbClr val="024731"/>
          </a:solidFill>
          <a:ln/>
        </p:spPr>
        <p:txBody>
          <a:bodyPr/>
          <a:lstStyle/>
          <a:p>
            <a:endParaRPr lang="en-US"/>
          </a:p>
        </p:txBody>
      </p:sp>
      <p:sp>
        <p:nvSpPr>
          <p:cNvPr id="26" name="Text 24"/>
          <p:cNvSpPr/>
          <p:nvPr/>
        </p:nvSpPr>
        <p:spPr>
          <a:xfrm>
            <a:off x="3520440" y="292608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United States</a:t>
            </a:r>
            <a:endParaRPr lang="en-US" sz="1300" dirty="0"/>
          </a:p>
        </p:txBody>
      </p:sp>
      <p:sp>
        <p:nvSpPr>
          <p:cNvPr id="27" name="Text 25"/>
          <p:cNvSpPr/>
          <p:nvPr/>
        </p:nvSpPr>
        <p:spPr>
          <a:xfrm>
            <a:off x="3520440" y="320040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NYSE  ·  NASDAQ</a:t>
            </a:r>
            <a:endParaRPr lang="en-US" sz="1100" dirty="0"/>
          </a:p>
        </p:txBody>
      </p:sp>
      <p:sp>
        <p:nvSpPr>
          <p:cNvPr id="28" name="Text 26"/>
          <p:cNvSpPr/>
          <p:nvPr/>
        </p:nvSpPr>
        <p:spPr>
          <a:xfrm>
            <a:off x="3520440" y="347472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10-K filings via SEC EDGAR</a:t>
            </a:r>
            <a:endParaRPr lang="en-US" sz="900" dirty="0"/>
          </a:p>
        </p:txBody>
      </p:sp>
      <p:sp>
        <p:nvSpPr>
          <p:cNvPr id="29" name="Shape 27"/>
          <p:cNvSpPr/>
          <p:nvPr/>
        </p:nvSpPr>
        <p:spPr>
          <a:xfrm>
            <a:off x="6217920" y="278892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30" name="Shape 28"/>
          <p:cNvSpPr/>
          <p:nvPr/>
        </p:nvSpPr>
        <p:spPr>
          <a:xfrm>
            <a:off x="6217920" y="2788920"/>
            <a:ext cx="2606040" cy="54864"/>
          </a:xfrm>
          <a:prstGeom prst="rect">
            <a:avLst/>
          </a:prstGeom>
          <a:solidFill>
            <a:srgbClr val="024731"/>
          </a:solidFill>
          <a:ln/>
        </p:spPr>
        <p:txBody>
          <a:bodyPr/>
          <a:lstStyle/>
          <a:p>
            <a:endParaRPr lang="en-US"/>
          </a:p>
        </p:txBody>
      </p:sp>
      <p:sp>
        <p:nvSpPr>
          <p:cNvPr id="31" name="Text 29"/>
          <p:cNvSpPr/>
          <p:nvPr/>
        </p:nvSpPr>
        <p:spPr>
          <a:xfrm>
            <a:off x="6355080" y="292608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Malaysia</a:t>
            </a:r>
            <a:endParaRPr lang="en-US" sz="1300" dirty="0"/>
          </a:p>
        </p:txBody>
      </p:sp>
      <p:sp>
        <p:nvSpPr>
          <p:cNvPr id="32" name="Text 30"/>
          <p:cNvSpPr/>
          <p:nvPr/>
        </p:nvSpPr>
        <p:spPr>
          <a:xfrm>
            <a:off x="6355080" y="320040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Bursa Malaysia</a:t>
            </a:r>
            <a:endParaRPr lang="en-US" sz="1100" dirty="0"/>
          </a:p>
        </p:txBody>
      </p:sp>
      <p:sp>
        <p:nvSpPr>
          <p:cNvPr id="33" name="Text 31"/>
          <p:cNvSpPr/>
          <p:nvPr/>
        </p:nvSpPr>
        <p:spPr>
          <a:xfrm>
            <a:off x="6355080" y="347472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MFRS (IFRS-converged)</a:t>
            </a:r>
            <a:endParaRPr lang="en-US" sz="900" dirty="0"/>
          </a:p>
        </p:txBody>
      </p:sp>
      <p:sp>
        <p:nvSpPr>
          <p:cNvPr id="34" name="Text 32"/>
          <p:cNvSpPr/>
          <p:nvPr/>
        </p:nvSpPr>
        <p:spPr>
          <a:xfrm>
            <a:off x="548640" y="4434840"/>
            <a:ext cx="8046720" cy="457200"/>
          </a:xfrm>
          <a:prstGeom prst="rect">
            <a:avLst/>
          </a:prstGeom>
          <a:noFill/>
          <a:ln/>
        </p:spPr>
        <p:txBody>
          <a:bodyPr wrap="square" rtlCol="0" anchor="ctr"/>
          <a:lstStyle/>
          <a:p>
            <a:pPr marL="0" indent="0">
              <a:buNone/>
            </a:pPr>
            <a:r>
              <a:rPr lang="en-US" sz="1000" i="1" dirty="0">
                <a:solidFill>
                  <a:srgbClr val="6B7280"/>
                </a:solidFill>
                <a:latin typeface="Open Sans" pitchFamily="34" charset="0"/>
                <a:ea typeface="Open Sans" pitchFamily="34" charset="-122"/>
                <a:cs typeface="Open Sans" pitchFamily="34" charset="-120"/>
              </a:rPr>
              <a:t>All deliverables must be in English. Ratios computed in the company’s reporting currency. Note any IFRS/GAAP/VAS differences that affect interpretation.</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024731"/>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DA78F"/>
          </a:solidFill>
          <a:ln/>
        </p:spPr>
        <p:txBody>
          <a:bodyPr/>
          <a:lstStyle/>
          <a:p>
            <a:endParaRPr lang="en-US"/>
          </a:p>
        </p:txBody>
      </p:sp>
      <p:sp>
        <p:nvSpPr>
          <p:cNvPr id="3" name="Shape 1"/>
          <p:cNvSpPr/>
          <p:nvPr/>
        </p:nvSpPr>
        <p:spPr>
          <a:xfrm>
            <a:off x="6858000" y="0"/>
            <a:ext cx="2286000" cy="5143500"/>
          </a:xfrm>
          <a:prstGeom prst="rect">
            <a:avLst/>
          </a:prstGeom>
          <a:solidFill>
            <a:srgbClr val="01362A">
              <a:alpha val="60000"/>
            </a:srgbClr>
          </a:solidFill>
          <a:ln/>
        </p:spPr>
        <p:txBody>
          <a:bodyPr/>
          <a:lstStyle/>
          <a:p>
            <a:endParaRPr lang="en-US"/>
          </a:p>
        </p:txBody>
      </p:sp>
      <p:sp>
        <p:nvSpPr>
          <p:cNvPr id="4" name="Text 2"/>
          <p:cNvSpPr/>
          <p:nvPr/>
        </p:nvSpPr>
        <p:spPr>
          <a:xfrm>
            <a:off x="640080" y="914400"/>
            <a:ext cx="5486400" cy="731520"/>
          </a:xfrm>
          <a:prstGeom prst="rect">
            <a:avLst/>
          </a:prstGeom>
          <a:noFill/>
          <a:ln/>
        </p:spPr>
        <p:txBody>
          <a:bodyPr wrap="square" rtlCol="0" anchor="ctr"/>
          <a:lstStyle/>
          <a:p>
            <a:pPr marL="0" indent="0">
              <a:buNone/>
            </a:pPr>
            <a:r>
              <a:rPr lang="en-US" sz="4000" b="1" dirty="0">
                <a:solidFill>
                  <a:srgbClr val="FFFFFF"/>
                </a:solidFill>
                <a:latin typeface="Open Sans" pitchFamily="34" charset="0"/>
                <a:ea typeface="Open Sans" pitchFamily="34" charset="-122"/>
                <a:cs typeface="Open Sans" pitchFamily="34" charset="-120"/>
              </a:rPr>
              <a:t>Let’s Begin</a:t>
            </a:r>
            <a:endParaRPr lang="en-US" sz="4000" dirty="0"/>
          </a:p>
        </p:txBody>
      </p:sp>
      <p:sp>
        <p:nvSpPr>
          <p:cNvPr id="5" name="Text 3"/>
          <p:cNvSpPr/>
          <p:nvPr/>
        </p:nvSpPr>
        <p:spPr>
          <a:xfrm>
            <a:off x="640080" y="1645920"/>
            <a:ext cx="5486400" cy="457200"/>
          </a:xfrm>
          <a:prstGeom prst="rect">
            <a:avLst/>
          </a:prstGeom>
          <a:noFill/>
          <a:ln/>
        </p:spPr>
        <p:txBody>
          <a:bodyPr wrap="square" rtlCol="0" anchor="ctr"/>
          <a:lstStyle/>
          <a:p>
            <a:pPr marL="0" indent="0">
              <a:buNone/>
            </a:pPr>
            <a:r>
              <a:rPr lang="en-US" sz="1800" i="1" dirty="0">
                <a:solidFill>
                  <a:srgbClr val="4DA78F"/>
                </a:solidFill>
                <a:latin typeface="Open Sans" pitchFamily="34" charset="0"/>
                <a:ea typeface="Open Sans" pitchFamily="34" charset="-122"/>
                <a:cs typeface="Open Sans" pitchFamily="34" charset="-120"/>
              </a:rPr>
              <a:t>The goal isn’t perfection — it’s specification</a:t>
            </a:r>
            <a:endParaRPr lang="en-US" sz="1800" dirty="0"/>
          </a:p>
        </p:txBody>
      </p:sp>
      <p:sp>
        <p:nvSpPr>
          <p:cNvPr id="6" name="Text 4"/>
          <p:cNvSpPr/>
          <p:nvPr/>
        </p:nvSpPr>
        <p:spPr>
          <a:xfrm>
            <a:off x="640080" y="2377440"/>
            <a:ext cx="5943600" cy="2011680"/>
          </a:xfrm>
          <a:prstGeom prst="rect">
            <a:avLst/>
          </a:prstGeom>
          <a:noFill/>
          <a:ln/>
        </p:spPr>
        <p:txBody>
          <a:bodyPr wrap="square" rtlCol="0" anchor="ctr"/>
          <a:lstStyle/>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Upload the provided template, choose your company, populate real data</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Draft a spec with an LLM — precise enough that a fresh LLM can execute it cold</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Evaluate the output — what did the AI get right? What did it miss?</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Commit every deliverable to GitHub — version control matters</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We’re all learning in real-time. Your uncertainty is shared by everyone.</a:t>
            </a:r>
            <a:endParaRPr lang="en-US" sz="1300" dirty="0"/>
          </a:p>
        </p:txBody>
      </p:sp>
      <p:sp>
        <p:nvSpPr>
          <p:cNvPr id="7" name="Text 5"/>
          <p:cNvSpPr/>
          <p:nvPr/>
        </p:nvSpPr>
        <p:spPr>
          <a:xfrm>
            <a:off x="640080" y="4663440"/>
            <a:ext cx="7772400" cy="274320"/>
          </a:xfrm>
          <a:prstGeom prst="rect">
            <a:avLst/>
          </a:prstGeom>
          <a:noFill/>
          <a:ln/>
        </p:spPr>
        <p:txBody>
          <a:bodyPr wrap="square"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BUS-629  |  Shidler College of Business  |  University of Hawaiʻi at Mānoa  |  adamstau@hawaii.edu</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B8975C"/>
          </a:solidFill>
          <a:ln/>
        </p:spPr>
        <p:txBody>
          <a:bodyPr/>
          <a:lstStyle/>
          <a:p>
            <a:endParaRPr lang="en-US"/>
          </a:p>
        </p:txBody>
      </p:sp>
      <p:sp>
        <p:nvSpPr>
          <p:cNvPr id="3" name="Text 1"/>
          <p:cNvSpPr/>
          <p:nvPr/>
        </p:nvSpPr>
        <p:spPr>
          <a:xfrm>
            <a:off x="731520" y="27432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Quick Reference Cheat Sheet</a:t>
            </a:r>
            <a:endParaRPr lang="en-US" sz="2800" dirty="0"/>
          </a:p>
        </p:txBody>
      </p:sp>
      <p:sp>
        <p:nvSpPr>
          <p:cNvPr id="4" name="Text 2"/>
          <p:cNvSpPr/>
          <p:nvPr/>
        </p:nvSpPr>
        <p:spPr>
          <a:xfrm>
            <a:off x="731520" y="868680"/>
            <a:ext cx="36576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Git Commands</a:t>
            </a:r>
            <a:endParaRPr lang="en-US" sz="1400" dirty="0"/>
          </a:p>
        </p:txBody>
      </p:sp>
      <p:sp>
        <p:nvSpPr>
          <p:cNvPr id="5" name="Text 3"/>
          <p:cNvSpPr/>
          <p:nvPr/>
        </p:nvSpPr>
        <p:spPr>
          <a:xfrm>
            <a:off x="731520" y="1280160"/>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clone &lt;url&gt;</a:t>
            </a:r>
            <a:endParaRPr lang="en-US" sz="1100" dirty="0"/>
          </a:p>
        </p:txBody>
      </p:sp>
      <p:sp>
        <p:nvSpPr>
          <p:cNvPr id="6" name="Text 4"/>
          <p:cNvSpPr/>
          <p:nvPr/>
        </p:nvSpPr>
        <p:spPr>
          <a:xfrm>
            <a:off x="731520" y="1481328"/>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Download repository for the first time</a:t>
            </a:r>
            <a:endParaRPr lang="en-US" sz="900" dirty="0"/>
          </a:p>
        </p:txBody>
      </p:sp>
      <p:sp>
        <p:nvSpPr>
          <p:cNvPr id="7" name="Text 5"/>
          <p:cNvSpPr/>
          <p:nvPr/>
        </p:nvSpPr>
        <p:spPr>
          <a:xfrm>
            <a:off x="731520" y="1719072"/>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status</a:t>
            </a:r>
            <a:endParaRPr lang="en-US" sz="1100" dirty="0"/>
          </a:p>
        </p:txBody>
      </p:sp>
      <p:sp>
        <p:nvSpPr>
          <p:cNvPr id="8" name="Text 6"/>
          <p:cNvSpPr/>
          <p:nvPr/>
        </p:nvSpPr>
        <p:spPr>
          <a:xfrm>
            <a:off x="731520" y="1920240"/>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See what files have changed</a:t>
            </a:r>
            <a:endParaRPr lang="en-US" sz="900" dirty="0"/>
          </a:p>
        </p:txBody>
      </p:sp>
      <p:sp>
        <p:nvSpPr>
          <p:cNvPr id="9" name="Text 7"/>
          <p:cNvSpPr/>
          <p:nvPr/>
        </p:nvSpPr>
        <p:spPr>
          <a:xfrm>
            <a:off x="731520" y="2157984"/>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add .</a:t>
            </a:r>
            <a:endParaRPr lang="en-US" sz="1100" dirty="0"/>
          </a:p>
        </p:txBody>
      </p:sp>
      <p:sp>
        <p:nvSpPr>
          <p:cNvPr id="10" name="Text 8"/>
          <p:cNvSpPr/>
          <p:nvPr/>
        </p:nvSpPr>
        <p:spPr>
          <a:xfrm>
            <a:off x="731520" y="2359152"/>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Stage all changes for commit</a:t>
            </a:r>
            <a:endParaRPr lang="en-US" sz="900" dirty="0"/>
          </a:p>
        </p:txBody>
      </p:sp>
      <p:sp>
        <p:nvSpPr>
          <p:cNvPr id="11" name="Text 9"/>
          <p:cNvSpPr/>
          <p:nvPr/>
        </p:nvSpPr>
        <p:spPr>
          <a:xfrm>
            <a:off x="731520" y="2596896"/>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commit -m "msg"</a:t>
            </a:r>
            <a:endParaRPr lang="en-US" sz="1100" dirty="0"/>
          </a:p>
        </p:txBody>
      </p:sp>
      <p:sp>
        <p:nvSpPr>
          <p:cNvPr id="12" name="Text 10"/>
          <p:cNvSpPr/>
          <p:nvPr/>
        </p:nvSpPr>
        <p:spPr>
          <a:xfrm>
            <a:off x="731520" y="2798064"/>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Save a snapshot with a message</a:t>
            </a:r>
            <a:endParaRPr lang="en-US" sz="900" dirty="0"/>
          </a:p>
        </p:txBody>
      </p:sp>
      <p:sp>
        <p:nvSpPr>
          <p:cNvPr id="13" name="Text 11"/>
          <p:cNvSpPr/>
          <p:nvPr/>
        </p:nvSpPr>
        <p:spPr>
          <a:xfrm>
            <a:off x="731520" y="3035808"/>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push</a:t>
            </a:r>
            <a:endParaRPr lang="en-US" sz="1100" dirty="0"/>
          </a:p>
        </p:txBody>
      </p:sp>
      <p:sp>
        <p:nvSpPr>
          <p:cNvPr id="14" name="Text 12"/>
          <p:cNvSpPr/>
          <p:nvPr/>
        </p:nvSpPr>
        <p:spPr>
          <a:xfrm>
            <a:off x="731520" y="3236976"/>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Upload commits to GitHub</a:t>
            </a:r>
            <a:endParaRPr lang="en-US" sz="900" dirty="0"/>
          </a:p>
        </p:txBody>
      </p:sp>
      <p:sp>
        <p:nvSpPr>
          <p:cNvPr id="15" name="Text 13"/>
          <p:cNvSpPr/>
          <p:nvPr/>
        </p:nvSpPr>
        <p:spPr>
          <a:xfrm>
            <a:off x="731520" y="3474720"/>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pull</a:t>
            </a:r>
            <a:endParaRPr lang="en-US" sz="1100" dirty="0"/>
          </a:p>
        </p:txBody>
      </p:sp>
      <p:sp>
        <p:nvSpPr>
          <p:cNvPr id="16" name="Text 14"/>
          <p:cNvSpPr/>
          <p:nvPr/>
        </p:nvSpPr>
        <p:spPr>
          <a:xfrm>
            <a:off x="731520" y="3675888"/>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Download latest changes from GitHub</a:t>
            </a:r>
            <a:endParaRPr lang="en-US" sz="900" dirty="0"/>
          </a:p>
        </p:txBody>
      </p:sp>
      <p:sp>
        <p:nvSpPr>
          <p:cNvPr id="17" name="Text 15"/>
          <p:cNvSpPr/>
          <p:nvPr/>
        </p:nvSpPr>
        <p:spPr>
          <a:xfrm>
            <a:off x="731520" y="3913632"/>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log --oneline</a:t>
            </a:r>
            <a:endParaRPr lang="en-US" sz="1100" dirty="0"/>
          </a:p>
        </p:txBody>
      </p:sp>
      <p:sp>
        <p:nvSpPr>
          <p:cNvPr id="18" name="Text 16"/>
          <p:cNvSpPr/>
          <p:nvPr/>
        </p:nvSpPr>
        <p:spPr>
          <a:xfrm>
            <a:off x="731520" y="4114800"/>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View commit history</a:t>
            </a:r>
            <a:endParaRPr lang="en-US" sz="900" dirty="0"/>
          </a:p>
        </p:txBody>
      </p:sp>
      <p:sp>
        <p:nvSpPr>
          <p:cNvPr id="19" name="Shape 17"/>
          <p:cNvSpPr/>
          <p:nvPr/>
        </p:nvSpPr>
        <p:spPr>
          <a:xfrm>
            <a:off x="4389120" y="868680"/>
            <a:ext cx="18288" cy="3474720"/>
          </a:xfrm>
          <a:prstGeom prst="rect">
            <a:avLst/>
          </a:prstGeom>
          <a:solidFill>
            <a:srgbClr val="5A6B7A"/>
          </a:solidFill>
          <a:ln/>
        </p:spPr>
        <p:txBody>
          <a:bodyPr/>
          <a:lstStyle/>
          <a:p>
            <a:endParaRPr lang="en-US"/>
          </a:p>
        </p:txBody>
      </p:sp>
      <p:sp>
        <p:nvSpPr>
          <p:cNvPr id="20" name="Text 18"/>
          <p:cNvSpPr/>
          <p:nvPr/>
        </p:nvSpPr>
        <p:spPr>
          <a:xfrm>
            <a:off x="4754880" y="868680"/>
            <a:ext cx="36576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Useful Links</a:t>
            </a:r>
            <a:endParaRPr lang="en-US" sz="1400" dirty="0"/>
          </a:p>
        </p:txBody>
      </p:sp>
      <p:sp>
        <p:nvSpPr>
          <p:cNvPr id="21" name="Text 19"/>
          <p:cNvSpPr/>
          <p:nvPr/>
        </p:nvSpPr>
        <p:spPr>
          <a:xfrm>
            <a:off x="4754880" y="1280160"/>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github.com</a:t>
            </a:r>
            <a:endParaRPr lang="en-US" sz="1100" dirty="0"/>
          </a:p>
        </p:txBody>
      </p:sp>
      <p:sp>
        <p:nvSpPr>
          <p:cNvPr id="22" name="Text 20"/>
          <p:cNvSpPr/>
          <p:nvPr/>
        </p:nvSpPr>
        <p:spPr>
          <a:xfrm>
            <a:off x="4754880" y="1481328"/>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Create account &amp; view repositories</a:t>
            </a:r>
            <a:endParaRPr lang="en-US" sz="900" dirty="0"/>
          </a:p>
        </p:txBody>
      </p:sp>
      <p:sp>
        <p:nvSpPr>
          <p:cNvPr id="23" name="Text 21"/>
          <p:cNvSpPr/>
          <p:nvPr/>
        </p:nvSpPr>
        <p:spPr>
          <a:xfrm>
            <a:off x="4754880" y="1719072"/>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desktop.github.com</a:t>
            </a:r>
            <a:endParaRPr lang="en-US" sz="1100" dirty="0"/>
          </a:p>
        </p:txBody>
      </p:sp>
      <p:sp>
        <p:nvSpPr>
          <p:cNvPr id="24" name="Text 22"/>
          <p:cNvSpPr/>
          <p:nvPr/>
        </p:nvSpPr>
        <p:spPr>
          <a:xfrm>
            <a:off x="4754880" y="1920240"/>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GitHub Desktop (visual Git client)</a:t>
            </a:r>
            <a:endParaRPr lang="en-US" sz="900" dirty="0"/>
          </a:p>
        </p:txBody>
      </p:sp>
      <p:sp>
        <p:nvSpPr>
          <p:cNvPr id="25" name="Text 23"/>
          <p:cNvSpPr/>
          <p:nvPr/>
        </p:nvSpPr>
        <p:spPr>
          <a:xfrm>
            <a:off x="4754880" y="2157984"/>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chatgpt.com</a:t>
            </a:r>
            <a:endParaRPr lang="en-US" sz="1100" dirty="0"/>
          </a:p>
        </p:txBody>
      </p:sp>
      <p:sp>
        <p:nvSpPr>
          <p:cNvPr id="26" name="Text 24"/>
          <p:cNvSpPr/>
          <p:nvPr/>
        </p:nvSpPr>
        <p:spPr>
          <a:xfrm>
            <a:off x="4754880" y="2359152"/>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ChatGPT (OpenAI)</a:t>
            </a:r>
            <a:endParaRPr lang="en-US" sz="900" dirty="0"/>
          </a:p>
        </p:txBody>
      </p:sp>
      <p:sp>
        <p:nvSpPr>
          <p:cNvPr id="27" name="Text 25"/>
          <p:cNvSpPr/>
          <p:nvPr/>
        </p:nvSpPr>
        <p:spPr>
          <a:xfrm>
            <a:off x="4754880" y="2596896"/>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claude.ai</a:t>
            </a:r>
            <a:endParaRPr lang="en-US" sz="1100" dirty="0"/>
          </a:p>
        </p:txBody>
      </p:sp>
      <p:sp>
        <p:nvSpPr>
          <p:cNvPr id="28" name="Text 26"/>
          <p:cNvSpPr/>
          <p:nvPr/>
        </p:nvSpPr>
        <p:spPr>
          <a:xfrm>
            <a:off x="4754880" y="2798064"/>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Claude (Anthropic)</a:t>
            </a:r>
            <a:endParaRPr lang="en-US" sz="900" dirty="0"/>
          </a:p>
        </p:txBody>
      </p:sp>
      <p:sp>
        <p:nvSpPr>
          <p:cNvPr id="29" name="Text 27"/>
          <p:cNvSpPr/>
          <p:nvPr/>
        </p:nvSpPr>
        <p:spPr>
          <a:xfrm>
            <a:off x="4754880" y="3035808"/>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education.github.com</a:t>
            </a:r>
            <a:endParaRPr lang="en-US" sz="1100" dirty="0"/>
          </a:p>
        </p:txBody>
      </p:sp>
      <p:sp>
        <p:nvSpPr>
          <p:cNvPr id="30" name="Text 28"/>
          <p:cNvSpPr/>
          <p:nvPr/>
        </p:nvSpPr>
        <p:spPr>
          <a:xfrm>
            <a:off x="4754880" y="3236976"/>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Student Developer Pack (free Pro)</a:t>
            </a:r>
            <a:endParaRPr lang="en-US" sz="900" dirty="0"/>
          </a:p>
        </p:txBody>
      </p:sp>
      <p:sp>
        <p:nvSpPr>
          <p:cNvPr id="31" name="Text 29"/>
          <p:cNvSpPr/>
          <p:nvPr/>
        </p:nvSpPr>
        <p:spPr>
          <a:xfrm>
            <a:off x="4754880" y="3474720"/>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code.visualstudio.com</a:t>
            </a:r>
            <a:endParaRPr lang="en-US" sz="1100" dirty="0"/>
          </a:p>
        </p:txBody>
      </p:sp>
      <p:sp>
        <p:nvSpPr>
          <p:cNvPr id="32" name="Text 30"/>
          <p:cNvSpPr/>
          <p:nvPr/>
        </p:nvSpPr>
        <p:spPr>
          <a:xfrm>
            <a:off x="4754880" y="3675888"/>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VS Code (free text editor)</a:t>
            </a:r>
            <a:endParaRPr lang="en-US" sz="900" dirty="0"/>
          </a:p>
        </p:txBody>
      </p:sp>
      <p:sp>
        <p:nvSpPr>
          <p:cNvPr id="33" name="Text 31"/>
          <p:cNvSpPr/>
          <p:nvPr/>
        </p:nvSpPr>
        <p:spPr>
          <a:xfrm>
            <a:off x="4754880" y="3913632"/>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git-scm.com</a:t>
            </a:r>
            <a:endParaRPr lang="en-US" sz="1100" dirty="0"/>
          </a:p>
        </p:txBody>
      </p:sp>
      <p:sp>
        <p:nvSpPr>
          <p:cNvPr id="34" name="Text 32"/>
          <p:cNvSpPr/>
          <p:nvPr/>
        </p:nvSpPr>
        <p:spPr>
          <a:xfrm>
            <a:off x="4754880" y="4114800"/>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Official Git download</a:t>
            </a:r>
            <a:endParaRPr lang="en-US" sz="900" dirty="0"/>
          </a:p>
        </p:txBody>
      </p:sp>
      <p:sp>
        <p:nvSpPr>
          <p:cNvPr id="35" name="Shape 33"/>
          <p:cNvSpPr/>
          <p:nvPr/>
        </p:nvSpPr>
        <p:spPr>
          <a:xfrm>
            <a:off x="0" y="4572000"/>
            <a:ext cx="9144000" cy="36576"/>
          </a:xfrm>
          <a:prstGeom prst="rect">
            <a:avLst/>
          </a:prstGeom>
          <a:solidFill>
            <a:srgbClr val="B8975C"/>
          </a:solidFill>
          <a:ln/>
        </p:spPr>
        <p:txBody>
          <a:bodyPr/>
          <a:lstStyle/>
          <a:p>
            <a:endParaRPr lang="en-US"/>
          </a:p>
        </p:txBody>
      </p:sp>
      <p:sp>
        <p:nvSpPr>
          <p:cNvPr id="36" name="Text 34"/>
          <p:cNvSpPr/>
          <p:nvPr/>
        </p:nvSpPr>
        <p:spPr>
          <a:xfrm>
            <a:off x="457200" y="4663440"/>
            <a:ext cx="8229600" cy="320040"/>
          </a:xfrm>
          <a:prstGeom prst="rect">
            <a:avLst/>
          </a:prstGeom>
          <a:noFill/>
          <a:ln/>
        </p:spPr>
        <p:txBody>
          <a:bodyPr wrap="square"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Stauffer  |  Shidler College of Business  |  University of Hawaiʻi at Mānoa  |  adamstau@hawaii.edu</a:t>
            </a:r>
            <a:endParaRPr lang="en-US" sz="1000" dirty="0"/>
          </a:p>
        </p:txBody>
      </p:sp>
    </p:spTree>
    <p:extLst>
      <p:ext uri="{BB962C8B-B14F-4D97-AF65-F5344CB8AC3E}">
        <p14:creationId xmlns:p14="http://schemas.microsoft.com/office/powerpoint/2010/main" val="15069702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B8975C"/>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Corporate-Finance/ (new repo)</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3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Create Your Repo &amp; Directory Skeleton</a:t>
            </a:r>
            <a:endParaRPr lang="en-US" sz="2800" dirty="0"/>
          </a:p>
        </p:txBody>
      </p:sp>
      <p:sp>
        <p:nvSpPr>
          <p:cNvPr id="8" name="Shape 6"/>
          <p:cNvSpPr/>
          <p:nvPr/>
        </p:nvSpPr>
        <p:spPr>
          <a:xfrm>
            <a:off x="731520" y="1280160"/>
            <a:ext cx="365760" cy="365760"/>
          </a:xfrm>
          <a:prstGeom prst="line">
            <a:avLst/>
          </a:prstGeom>
          <a:solidFill>
            <a:srgbClr val="B8975C"/>
          </a:solidFill>
          <a:ln/>
        </p:spPr>
        <p:txBody>
          <a:bodyPr/>
          <a:lstStyle/>
          <a:p>
            <a:endParaRPr lang="en-US"/>
          </a:p>
        </p:txBody>
      </p:sp>
      <p:sp>
        <p:nvSpPr>
          <p:cNvPr id="9" name="Text 7"/>
          <p:cNvSpPr/>
          <p:nvPr/>
        </p:nvSpPr>
        <p:spPr>
          <a:xfrm>
            <a:off x="731520" y="128016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1</a:t>
            </a:r>
            <a:endParaRPr lang="en-US" sz="1400" dirty="0"/>
          </a:p>
        </p:txBody>
      </p:sp>
      <p:sp>
        <p:nvSpPr>
          <p:cNvPr id="10" name="Text 8"/>
          <p:cNvSpPr/>
          <p:nvPr/>
        </p:nvSpPr>
        <p:spPr>
          <a:xfrm>
            <a:off x="1280160" y="128016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On github.com, click + → New repository</a:t>
            </a:r>
            <a:endParaRPr lang="en-US" sz="1300" dirty="0"/>
          </a:p>
        </p:txBody>
      </p:sp>
      <p:sp>
        <p:nvSpPr>
          <p:cNvPr id="11" name="Shape 9"/>
          <p:cNvSpPr/>
          <p:nvPr/>
        </p:nvSpPr>
        <p:spPr>
          <a:xfrm>
            <a:off x="731520" y="1828800"/>
            <a:ext cx="365760" cy="365760"/>
          </a:xfrm>
          <a:prstGeom prst="line">
            <a:avLst/>
          </a:prstGeom>
          <a:solidFill>
            <a:srgbClr val="B8975C"/>
          </a:solidFill>
          <a:ln/>
        </p:spPr>
        <p:txBody>
          <a:bodyPr/>
          <a:lstStyle/>
          <a:p>
            <a:endParaRPr lang="en-US"/>
          </a:p>
        </p:txBody>
      </p:sp>
      <p:sp>
        <p:nvSpPr>
          <p:cNvPr id="12" name="Text 10"/>
          <p:cNvSpPr/>
          <p:nvPr/>
        </p:nvSpPr>
        <p:spPr>
          <a:xfrm>
            <a:off x="731520" y="18288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2</a:t>
            </a:r>
            <a:endParaRPr lang="en-US" sz="1400" dirty="0"/>
          </a:p>
        </p:txBody>
      </p:sp>
      <p:sp>
        <p:nvSpPr>
          <p:cNvPr id="13" name="Text 11"/>
          <p:cNvSpPr/>
          <p:nvPr/>
        </p:nvSpPr>
        <p:spPr>
          <a:xfrm>
            <a:off x="1280160" y="182880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Name it Corporate-Finance, set visibility to Public</a:t>
            </a:r>
            <a:endParaRPr lang="en-US" sz="1300" dirty="0"/>
          </a:p>
        </p:txBody>
      </p:sp>
      <p:sp>
        <p:nvSpPr>
          <p:cNvPr id="14" name="Shape 12"/>
          <p:cNvSpPr/>
          <p:nvPr/>
        </p:nvSpPr>
        <p:spPr>
          <a:xfrm>
            <a:off x="731520" y="2377440"/>
            <a:ext cx="365760" cy="365760"/>
          </a:xfrm>
          <a:prstGeom prst="line">
            <a:avLst/>
          </a:prstGeom>
          <a:solidFill>
            <a:srgbClr val="B8975C"/>
          </a:solidFill>
          <a:ln/>
        </p:spPr>
        <p:txBody>
          <a:bodyPr/>
          <a:lstStyle/>
          <a:p>
            <a:endParaRPr lang="en-US"/>
          </a:p>
        </p:txBody>
      </p:sp>
      <p:sp>
        <p:nvSpPr>
          <p:cNvPr id="15" name="Text 13"/>
          <p:cNvSpPr/>
          <p:nvPr/>
        </p:nvSpPr>
        <p:spPr>
          <a:xfrm>
            <a:off x="731520" y="23774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3</a:t>
            </a:r>
            <a:endParaRPr lang="en-US" sz="1400" dirty="0"/>
          </a:p>
        </p:txBody>
      </p:sp>
      <p:sp>
        <p:nvSpPr>
          <p:cNvPr id="16" name="Text 14"/>
          <p:cNvSpPr/>
          <p:nvPr/>
        </p:nvSpPr>
        <p:spPr>
          <a:xfrm>
            <a:off x="1280160" y="237744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Check "Add a README file", then click Create repository</a:t>
            </a:r>
            <a:endParaRPr lang="en-US" sz="1300" dirty="0"/>
          </a:p>
        </p:txBody>
      </p:sp>
      <p:sp>
        <p:nvSpPr>
          <p:cNvPr id="17" name="Shape 15"/>
          <p:cNvSpPr/>
          <p:nvPr/>
        </p:nvSpPr>
        <p:spPr>
          <a:xfrm>
            <a:off x="731520" y="2926080"/>
            <a:ext cx="365760" cy="365760"/>
          </a:xfrm>
          <a:prstGeom prst="line">
            <a:avLst/>
          </a:prstGeom>
          <a:solidFill>
            <a:srgbClr val="B8975C"/>
          </a:solidFill>
          <a:ln/>
        </p:spPr>
        <p:txBody>
          <a:bodyPr/>
          <a:lstStyle/>
          <a:p>
            <a:endParaRPr lang="en-US"/>
          </a:p>
        </p:txBody>
      </p:sp>
      <p:sp>
        <p:nvSpPr>
          <p:cNvPr id="18" name="Text 16"/>
          <p:cNvSpPr/>
          <p:nvPr/>
        </p:nvSpPr>
        <p:spPr>
          <a:xfrm>
            <a:off x="731520" y="292608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4</a:t>
            </a:r>
            <a:endParaRPr lang="en-US" sz="1400" dirty="0"/>
          </a:p>
        </p:txBody>
      </p:sp>
      <p:sp>
        <p:nvSpPr>
          <p:cNvPr id="19" name="Text 17"/>
          <p:cNvSpPr/>
          <p:nvPr/>
        </p:nvSpPr>
        <p:spPr>
          <a:xfrm>
            <a:off x="1280160" y="292608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In GitHub Desktop: File → Clone repository → pick yours</a:t>
            </a:r>
            <a:endParaRPr lang="en-US" sz="1300" dirty="0"/>
          </a:p>
        </p:txBody>
      </p:sp>
      <p:sp>
        <p:nvSpPr>
          <p:cNvPr id="20" name="Shape 18"/>
          <p:cNvSpPr/>
          <p:nvPr/>
        </p:nvSpPr>
        <p:spPr>
          <a:xfrm>
            <a:off x="731520" y="3474720"/>
            <a:ext cx="365760" cy="365760"/>
          </a:xfrm>
          <a:prstGeom prst="line">
            <a:avLst/>
          </a:prstGeom>
          <a:solidFill>
            <a:srgbClr val="B8975C"/>
          </a:solidFill>
          <a:ln/>
        </p:spPr>
        <p:txBody>
          <a:bodyPr/>
          <a:lstStyle/>
          <a:p>
            <a:endParaRPr lang="en-US"/>
          </a:p>
        </p:txBody>
      </p:sp>
      <p:sp>
        <p:nvSpPr>
          <p:cNvPr id="21" name="Text 19"/>
          <p:cNvSpPr/>
          <p:nvPr/>
        </p:nvSpPr>
        <p:spPr>
          <a:xfrm>
            <a:off x="731520" y="347472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5</a:t>
            </a:r>
            <a:endParaRPr lang="en-US" sz="1400" dirty="0"/>
          </a:p>
        </p:txBody>
      </p:sp>
      <p:sp>
        <p:nvSpPr>
          <p:cNvPr id="22" name="Text 20"/>
          <p:cNvSpPr/>
          <p:nvPr/>
        </p:nvSpPr>
        <p:spPr>
          <a:xfrm>
            <a:off x="1280160" y="347472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Build the directory tree (next slide) and add a README to each</a:t>
            </a:r>
            <a:endParaRPr lang="en-US" sz="1300" dirty="0"/>
          </a:p>
        </p:txBody>
      </p:sp>
      <p:sp>
        <p:nvSpPr>
          <p:cNvPr id="23" name="Shape 21"/>
          <p:cNvSpPr/>
          <p:nvPr/>
        </p:nvSpPr>
        <p:spPr>
          <a:xfrm>
            <a:off x="5486400" y="1280160"/>
            <a:ext cx="3108960" cy="2926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24" name="Image 0" descr="preencoded.png"/>
          <p:cNvPicPr>
            <a:picLocks noChangeAspect="1"/>
          </p:cNvPicPr>
          <p:nvPr/>
        </p:nvPicPr>
        <p:blipFill>
          <a:blip r:embed="rId3"/>
          <a:stretch>
            <a:fillRect/>
          </a:stretch>
        </p:blipFill>
        <p:spPr>
          <a:xfrm>
            <a:off x="5715000" y="1463040"/>
            <a:ext cx="320040" cy="320040"/>
          </a:xfrm>
          <a:prstGeom prst="rect">
            <a:avLst/>
          </a:prstGeom>
        </p:spPr>
      </p:pic>
      <p:sp>
        <p:nvSpPr>
          <p:cNvPr id="25" name="Text 22"/>
          <p:cNvSpPr/>
          <p:nvPr/>
        </p:nvSpPr>
        <p:spPr>
          <a:xfrm>
            <a:off x="6126480" y="1463040"/>
            <a:ext cx="22860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Pro Tips</a:t>
            </a:r>
            <a:endParaRPr lang="en-US" sz="1400" dirty="0"/>
          </a:p>
        </p:txBody>
      </p:sp>
      <p:sp>
        <p:nvSpPr>
          <p:cNvPr id="26" name="Text 23"/>
          <p:cNvSpPr/>
          <p:nvPr/>
        </p:nvSpPr>
        <p:spPr>
          <a:xfrm>
            <a:off x="5715000" y="1920240"/>
            <a:ext cx="2697480" cy="2103120"/>
          </a:xfrm>
          <a:prstGeom prst="rect">
            <a:avLst/>
          </a:prstGeom>
          <a:noFill/>
          <a:ln/>
        </p:spPr>
        <p:txBody>
          <a:bodyPr wrap="square" lIns="0" tIns="0" rIns="0" bIns="0" rtlCol="0" anchor="t"/>
          <a:lstStyle/>
          <a:p>
            <a:pPr marL="0" indent="0">
              <a:buNone/>
            </a:pPr>
            <a:r>
              <a:rPr lang="en-US" sz="1100" b="1" dirty="0">
                <a:solidFill>
                  <a:srgbClr val="1E2530"/>
                </a:solidFill>
              </a:rPr>
              <a:t>Public is required</a:t>
            </a:r>
            <a:endParaRPr lang="en-US" sz="1100" dirty="0"/>
          </a:p>
          <a:p>
            <a:pPr marL="0" indent="0">
              <a:buNone/>
            </a:pPr>
            <a:r>
              <a:rPr lang="en-US" sz="1000" dirty="0">
                <a:solidFill>
                  <a:srgbClr val="5A6B7A"/>
                </a:solidFill>
              </a:rPr>
              <a:t>The whole point is discoverability — recruiters and collaborators must be able to find your work without an account.
</a:t>
            </a:r>
            <a:endParaRPr lang="en-US" sz="1100" dirty="0"/>
          </a:p>
          <a:p>
            <a:pPr marL="0" indent="0">
              <a:buNone/>
            </a:pPr>
            <a:r>
              <a:rPr lang="en-US" sz="1100" b="1" dirty="0">
                <a:solidFill>
                  <a:srgbClr val="1E2530"/>
                </a:solidFill>
              </a:rPr>
              <a:t>Every directory needs a README</a:t>
            </a:r>
            <a:endParaRPr lang="en-US" sz="1100" dirty="0"/>
          </a:p>
          <a:p>
            <a:pPr marL="0" indent="0">
              <a:buNone/>
            </a:pPr>
            <a:r>
              <a:rPr lang="en-US" sz="1000" dirty="0">
                <a:solidFill>
                  <a:srgbClr val="5A6B7A"/>
                </a:solidFill>
              </a:rPr>
              <a:t>If a new collaborator can navigate your repo by READMEs alone, the structure is right.
</a:t>
            </a:r>
            <a:endParaRPr lang="en-US" sz="1100" dirty="0"/>
          </a:p>
          <a:p>
            <a:pPr marL="0" indent="0">
              <a:buNone/>
            </a:pPr>
            <a:r>
              <a:rPr lang="en-US" sz="1100" b="1" dirty="0">
                <a:solidFill>
                  <a:srgbClr val="1E2530"/>
                </a:solidFill>
              </a:rPr>
              <a:t>Reference the course repo</a:t>
            </a:r>
            <a:endParaRPr lang="en-US" sz="1100" dirty="0"/>
          </a:p>
          <a:p>
            <a:pPr marL="0" indent="0">
              <a:buNone/>
            </a:pPr>
            <a:r>
              <a:rPr lang="en-US" sz="1000" dirty="0">
                <a:solidFill>
                  <a:srgbClr val="5A6B7A"/>
                </a:solidFill>
              </a:rPr>
              <a:t>The course repo is a living example. Mirror its structure and READMEs in your own.</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B8975C"/>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README.md  ·  RESUME.md  ·  BIO.md</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4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Draft RESUME.md &amp; BIO.md with an LLM</a:t>
            </a:r>
            <a:endParaRPr lang="en-US" sz="2800" dirty="0"/>
          </a:p>
        </p:txBody>
      </p:sp>
      <p:sp>
        <p:nvSpPr>
          <p:cNvPr id="8" name="Shape 6"/>
          <p:cNvSpPr/>
          <p:nvPr/>
        </p:nvSpPr>
        <p:spPr>
          <a:xfrm>
            <a:off x="731520" y="1280160"/>
            <a:ext cx="365760" cy="365760"/>
          </a:xfrm>
          <a:prstGeom prst="line">
            <a:avLst/>
          </a:prstGeom>
          <a:solidFill>
            <a:srgbClr val="B8975C"/>
          </a:solidFill>
          <a:ln/>
        </p:spPr>
        <p:txBody>
          <a:bodyPr/>
          <a:lstStyle/>
          <a:p>
            <a:endParaRPr lang="en-US"/>
          </a:p>
        </p:txBody>
      </p:sp>
      <p:sp>
        <p:nvSpPr>
          <p:cNvPr id="9" name="Text 7"/>
          <p:cNvSpPr/>
          <p:nvPr/>
        </p:nvSpPr>
        <p:spPr>
          <a:xfrm>
            <a:off x="731520" y="128016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1</a:t>
            </a:r>
            <a:endParaRPr lang="en-US" sz="1400" dirty="0"/>
          </a:p>
        </p:txBody>
      </p:sp>
      <p:sp>
        <p:nvSpPr>
          <p:cNvPr id="10" name="Text 8"/>
          <p:cNvSpPr/>
          <p:nvPr/>
        </p:nvSpPr>
        <p:spPr>
          <a:xfrm>
            <a:off x="1280160" y="128016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Open Claude (claude.ai) or ChatGPT (chatgpt.com)</a:t>
            </a:r>
            <a:endParaRPr lang="en-US" sz="1300" dirty="0"/>
          </a:p>
        </p:txBody>
      </p:sp>
      <p:sp>
        <p:nvSpPr>
          <p:cNvPr id="11" name="Shape 9"/>
          <p:cNvSpPr/>
          <p:nvPr/>
        </p:nvSpPr>
        <p:spPr>
          <a:xfrm>
            <a:off x="731520" y="1828800"/>
            <a:ext cx="365760" cy="365760"/>
          </a:xfrm>
          <a:prstGeom prst="line">
            <a:avLst/>
          </a:prstGeom>
          <a:solidFill>
            <a:srgbClr val="B8975C"/>
          </a:solidFill>
          <a:ln/>
        </p:spPr>
        <p:txBody>
          <a:bodyPr/>
          <a:lstStyle/>
          <a:p>
            <a:endParaRPr lang="en-US"/>
          </a:p>
        </p:txBody>
      </p:sp>
      <p:sp>
        <p:nvSpPr>
          <p:cNvPr id="12" name="Text 10"/>
          <p:cNvSpPr/>
          <p:nvPr/>
        </p:nvSpPr>
        <p:spPr>
          <a:xfrm>
            <a:off x="731520" y="18288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2</a:t>
            </a:r>
            <a:endParaRPr lang="en-US" sz="1400" dirty="0"/>
          </a:p>
        </p:txBody>
      </p:sp>
      <p:sp>
        <p:nvSpPr>
          <p:cNvPr id="13" name="Text 11"/>
          <p:cNvSpPr/>
          <p:nvPr/>
        </p:nvSpPr>
        <p:spPr>
          <a:xfrm>
            <a:off x="1280160" y="182880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Paste the bio template + your LinkedIn or existing CV</a:t>
            </a:r>
            <a:endParaRPr lang="en-US" sz="1300" dirty="0"/>
          </a:p>
        </p:txBody>
      </p:sp>
      <p:sp>
        <p:nvSpPr>
          <p:cNvPr id="14" name="Shape 12"/>
          <p:cNvSpPr/>
          <p:nvPr/>
        </p:nvSpPr>
        <p:spPr>
          <a:xfrm>
            <a:off x="731520" y="2377440"/>
            <a:ext cx="365760" cy="365760"/>
          </a:xfrm>
          <a:prstGeom prst="line">
            <a:avLst/>
          </a:prstGeom>
          <a:solidFill>
            <a:srgbClr val="B8975C"/>
          </a:solidFill>
          <a:ln/>
        </p:spPr>
        <p:txBody>
          <a:bodyPr/>
          <a:lstStyle/>
          <a:p>
            <a:endParaRPr lang="en-US"/>
          </a:p>
        </p:txBody>
      </p:sp>
      <p:sp>
        <p:nvSpPr>
          <p:cNvPr id="15" name="Text 13"/>
          <p:cNvSpPr/>
          <p:nvPr/>
        </p:nvSpPr>
        <p:spPr>
          <a:xfrm>
            <a:off x="731520" y="23774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3</a:t>
            </a:r>
            <a:endParaRPr lang="en-US" sz="1400" dirty="0"/>
          </a:p>
        </p:txBody>
      </p:sp>
      <p:sp>
        <p:nvSpPr>
          <p:cNvPr id="16" name="Text 14"/>
          <p:cNvSpPr/>
          <p:nvPr/>
        </p:nvSpPr>
        <p:spPr>
          <a:xfrm>
            <a:off x="1280160" y="237744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Iterate using the template’s prompt library (try 2–3 angles)</a:t>
            </a:r>
            <a:endParaRPr lang="en-US" sz="1300" dirty="0"/>
          </a:p>
        </p:txBody>
      </p:sp>
      <p:sp>
        <p:nvSpPr>
          <p:cNvPr id="17" name="Shape 15"/>
          <p:cNvSpPr/>
          <p:nvPr/>
        </p:nvSpPr>
        <p:spPr>
          <a:xfrm>
            <a:off x="731520" y="2926080"/>
            <a:ext cx="365760" cy="365760"/>
          </a:xfrm>
          <a:prstGeom prst="line">
            <a:avLst/>
          </a:prstGeom>
          <a:solidFill>
            <a:srgbClr val="B8975C"/>
          </a:solidFill>
          <a:ln/>
        </p:spPr>
        <p:txBody>
          <a:bodyPr/>
          <a:lstStyle/>
          <a:p>
            <a:endParaRPr lang="en-US"/>
          </a:p>
        </p:txBody>
      </p:sp>
      <p:sp>
        <p:nvSpPr>
          <p:cNvPr id="18" name="Text 16"/>
          <p:cNvSpPr/>
          <p:nvPr/>
        </p:nvSpPr>
        <p:spPr>
          <a:xfrm>
            <a:off x="731520" y="292608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4</a:t>
            </a:r>
            <a:endParaRPr lang="en-US" sz="1400" dirty="0"/>
          </a:p>
        </p:txBody>
      </p:sp>
      <p:sp>
        <p:nvSpPr>
          <p:cNvPr id="19" name="Text 17"/>
          <p:cNvSpPr/>
          <p:nvPr/>
        </p:nvSpPr>
        <p:spPr>
          <a:xfrm>
            <a:off x="1280160" y="292608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Save outputs as README.md, RESUME.md, and BIO.md</a:t>
            </a:r>
            <a:endParaRPr lang="en-US" sz="1300" dirty="0"/>
          </a:p>
        </p:txBody>
      </p:sp>
      <p:sp>
        <p:nvSpPr>
          <p:cNvPr id="20" name="Shape 18"/>
          <p:cNvSpPr/>
          <p:nvPr/>
        </p:nvSpPr>
        <p:spPr>
          <a:xfrm>
            <a:off x="731520" y="3474720"/>
            <a:ext cx="365760" cy="365760"/>
          </a:xfrm>
          <a:prstGeom prst="line">
            <a:avLst/>
          </a:prstGeom>
          <a:solidFill>
            <a:srgbClr val="B8975C"/>
          </a:solidFill>
          <a:ln/>
        </p:spPr>
        <p:txBody>
          <a:bodyPr/>
          <a:lstStyle/>
          <a:p>
            <a:endParaRPr lang="en-US"/>
          </a:p>
        </p:txBody>
      </p:sp>
      <p:sp>
        <p:nvSpPr>
          <p:cNvPr id="21" name="Text 19"/>
          <p:cNvSpPr/>
          <p:nvPr/>
        </p:nvSpPr>
        <p:spPr>
          <a:xfrm>
            <a:off x="731520" y="347472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5</a:t>
            </a:r>
            <a:endParaRPr lang="en-US" sz="1400" dirty="0"/>
          </a:p>
        </p:txBody>
      </p:sp>
      <p:sp>
        <p:nvSpPr>
          <p:cNvPr id="22" name="Text 20"/>
          <p:cNvSpPr/>
          <p:nvPr/>
        </p:nvSpPr>
        <p:spPr>
          <a:xfrm>
            <a:off x="1280160" y="347472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Commit &amp; push via GitHub Desktop (Step 5 walkthrough)</a:t>
            </a:r>
            <a:endParaRPr lang="en-US" sz="1300" dirty="0"/>
          </a:p>
        </p:txBody>
      </p:sp>
      <p:sp>
        <p:nvSpPr>
          <p:cNvPr id="23" name="Shape 21"/>
          <p:cNvSpPr/>
          <p:nvPr/>
        </p:nvSpPr>
        <p:spPr>
          <a:xfrm>
            <a:off x="5486400" y="1280160"/>
            <a:ext cx="3108960" cy="2926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24" name="Image 0" descr="preencoded.png"/>
          <p:cNvPicPr>
            <a:picLocks noChangeAspect="1"/>
          </p:cNvPicPr>
          <p:nvPr/>
        </p:nvPicPr>
        <p:blipFill>
          <a:blip r:embed="rId3"/>
          <a:stretch>
            <a:fillRect/>
          </a:stretch>
        </p:blipFill>
        <p:spPr>
          <a:xfrm>
            <a:off x="5715000" y="1463040"/>
            <a:ext cx="320040" cy="320040"/>
          </a:xfrm>
          <a:prstGeom prst="rect">
            <a:avLst/>
          </a:prstGeom>
        </p:spPr>
      </p:pic>
      <p:sp>
        <p:nvSpPr>
          <p:cNvPr id="25" name="Text 22"/>
          <p:cNvSpPr/>
          <p:nvPr/>
        </p:nvSpPr>
        <p:spPr>
          <a:xfrm>
            <a:off x="6126480" y="1463040"/>
            <a:ext cx="22860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Pro Tips</a:t>
            </a:r>
            <a:endParaRPr lang="en-US" sz="1400" dirty="0"/>
          </a:p>
        </p:txBody>
      </p:sp>
      <p:sp>
        <p:nvSpPr>
          <p:cNvPr id="26" name="Text 23"/>
          <p:cNvSpPr/>
          <p:nvPr/>
        </p:nvSpPr>
        <p:spPr>
          <a:xfrm>
            <a:off x="5715000" y="1920240"/>
            <a:ext cx="2697480" cy="2103120"/>
          </a:xfrm>
          <a:prstGeom prst="rect">
            <a:avLst/>
          </a:prstGeom>
          <a:noFill/>
          <a:ln/>
        </p:spPr>
        <p:txBody>
          <a:bodyPr wrap="square" lIns="0" tIns="0" rIns="0" bIns="0" rtlCol="0" anchor="t"/>
          <a:lstStyle/>
          <a:p>
            <a:pPr marL="0" indent="0">
              <a:buNone/>
            </a:pPr>
            <a:r>
              <a:rPr lang="en-US" sz="1100" b="1" dirty="0">
                <a:solidFill>
                  <a:srgbClr val="1E2530"/>
                </a:solidFill>
              </a:rPr>
              <a:t>Bio: 150–200 words</a:t>
            </a:r>
            <a:endParaRPr lang="en-US" sz="1100" dirty="0"/>
          </a:p>
          <a:p>
            <a:pPr marL="0" indent="0">
              <a:buNone/>
            </a:pPr>
            <a:r>
              <a:rPr lang="en-US" sz="1000" dirty="0">
                <a:solidFill>
                  <a:srgbClr val="5A6B7A"/>
                </a:solidFill>
              </a:rPr>
              <a:t>Structured. Specific to your goals. Avoid generic LinkedIn-speak.
</a:t>
            </a:r>
            <a:endParaRPr lang="en-US" sz="1100" dirty="0"/>
          </a:p>
          <a:p>
            <a:pPr marL="0" indent="0">
              <a:buNone/>
            </a:pPr>
            <a:r>
              <a:rPr lang="en-US" sz="1100" b="1" dirty="0">
                <a:solidFill>
                  <a:srgbClr val="1E2530"/>
                </a:solidFill>
              </a:rPr>
              <a:t>Resume: Penn-style</a:t>
            </a:r>
            <a:endParaRPr lang="en-US" sz="1100" dirty="0"/>
          </a:p>
          <a:p>
            <a:pPr marL="0" indent="0">
              <a:buNone/>
            </a:pPr>
            <a:r>
              <a:rPr lang="en-US" sz="1000" dirty="0">
                <a:solidFill>
                  <a:srgbClr val="5A6B7A"/>
                </a:solidFill>
              </a:rPr>
              <a:t>Quantified achievements. Concise. The template covers the format.
</a:t>
            </a:r>
            <a:endParaRPr lang="en-US" sz="1100" dirty="0"/>
          </a:p>
          <a:p>
            <a:pPr marL="0" indent="0">
              <a:buNone/>
            </a:pPr>
            <a:r>
              <a:rPr lang="en-US" sz="1100" b="1" dirty="0">
                <a:solidFill>
                  <a:srgbClr val="1E2530"/>
                </a:solidFill>
              </a:rPr>
              <a:t>Iterate, don’t accept</a:t>
            </a:r>
            <a:endParaRPr lang="en-US" sz="1100" dirty="0"/>
          </a:p>
          <a:p>
            <a:pPr marL="0" indent="0">
              <a:buNone/>
            </a:pPr>
            <a:r>
              <a:rPr lang="en-US" sz="1000" dirty="0">
                <a:solidFill>
                  <a:srgbClr val="5A6B7A"/>
                </a:solidFill>
              </a:rPr>
              <a:t>The first LLM draft is rarely the strongest. Try a different angle, then pick.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TotalTime>
  <Words>2483</Words>
  <Application>Microsoft Office PowerPoint</Application>
  <PresentationFormat>On-screen Show (16:9)</PresentationFormat>
  <Paragraphs>426</Paragraphs>
  <Slides>19</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Consolas</vt:lpstr>
      <vt:lpstr>Open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BUS-629 Accounting &amp; Performance Ratios — Spec-Driven Design Project</dc:title>
  <dc:subject>PptxGenJS Presentation</dc:subject>
  <dc:creator>Adam W. Stauffer</dc:creator>
  <cp:lastModifiedBy>Adam Stauffer</cp:lastModifiedBy>
  <cp:revision>3</cp:revision>
  <dcterms:created xsi:type="dcterms:W3CDTF">2026-04-03T18:35:26Z</dcterms:created>
  <dcterms:modified xsi:type="dcterms:W3CDTF">2026-05-09T20:44:26Z</dcterms:modified>
</cp:coreProperties>
</file>
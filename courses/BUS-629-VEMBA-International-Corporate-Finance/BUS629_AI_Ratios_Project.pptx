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7" r:id="rId6"/>
    <p:sldId id="269" r:id="rId7"/>
    <p:sldId id="260" r:id="rId8"/>
    <p:sldId id="270" r:id="rId9"/>
    <p:sldId id="274" r:id="rId10"/>
    <p:sldId id="275" r:id="rId26"/>
    <p:sldId id="276" r:id="rId27"/>
    <p:sldId id="271" r:id="rId11"/>
    <p:sldId id="277" r:id="rId28"/>
    <p:sldId id="261" r:id="rId12"/>
    <p:sldId id="262" r:id="rId13"/>
    <p:sldId id="263" r:id="rId14"/>
    <p:sldId id="264" r:id="rId15"/>
    <p:sldId id="265" r:id="rId16"/>
    <p:sldId id="266" r:id="rId17"/>
    <p:sldId id="268" r:id="rId18"/>
    <p:sldId id="278" r:id="rId29"/>
    <p:sldId id="272"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2" d="100"/>
          <a:sy n="142" d="100"/>
        </p:scale>
        <p:origin x="108" y="8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8999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724792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556106120"/>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3" Type="http://schemas.openxmlformats.org/officeDocument/2006/relationships/image" Target="../media/image12.png"/><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3"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3.xml.rels><?xml version="1.0" encoding="UTF-8"?><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473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DA78F"/>
          </a:solidFill>
          <a:ln/>
        </p:spPr>
        <p:txBody>
          <a:bodyPr/>
          <a:lstStyle/>
          <a:p>
            <a:endParaRPr lang="en-US"/>
          </a:p>
        </p:txBody>
      </p:sp>
      <p:sp>
        <p:nvSpPr>
          <p:cNvPr id="3" name="Shape 1"/>
          <p:cNvSpPr/>
          <p:nvPr/>
        </p:nvSpPr>
        <p:spPr>
          <a:xfrm>
            <a:off x="6858000" y="0"/>
            <a:ext cx="2286000" cy="5143500"/>
          </a:xfrm>
          <a:prstGeom prst="rect">
            <a:avLst/>
          </a:prstGeom>
          <a:solidFill>
            <a:srgbClr val="01362A">
              <a:alpha val="60000"/>
            </a:srgbClr>
          </a:solidFill>
          <a:ln/>
        </p:spPr>
        <p:txBody>
          <a:bodyPr/>
          <a:lstStyle/>
          <a:p>
            <a:endParaRPr lang="en-US"/>
          </a:p>
        </p:txBody>
      </p:sp>
      <p:sp>
        <p:nvSpPr>
          <p:cNvPr id="4" name="Text 2"/>
          <p:cNvSpPr/>
          <p:nvPr/>
        </p:nvSpPr>
        <p:spPr>
          <a:xfrm>
            <a:off x="640080" y="548640"/>
            <a:ext cx="5943600" cy="822960"/>
          </a:xfrm>
          <a:prstGeom prst="rect">
            <a:avLst/>
          </a:prstGeom>
          <a:noFill/>
          <a:ln/>
        </p:spPr>
        <p:txBody>
          <a:bodyPr wrap="square" rtlCol="0" anchor="ctr"/>
          <a:lstStyle/>
          <a:p>
            <a:pPr marL="0" indent="0">
              <a:buNone/>
            </a:pPr>
            <a:r>
              <a:rPr lang="en-US" sz="4800" b="1" kern="0" spc="400" dirty="0">
                <a:solidFill>
                  <a:srgbClr val="FFFFFF"/>
                </a:solidFill>
                <a:latin typeface="Open Sans" pitchFamily="34" charset="0"/>
                <a:ea typeface="Open Sans" pitchFamily="34" charset="-122"/>
                <a:cs typeface="Open Sans" pitchFamily="34" charset="-120"/>
              </a:rPr>
              <a:t>BUS-629</a:t>
            </a:r>
            <a:endParaRPr lang="en-US" sz="4800" dirty="0"/>
          </a:p>
        </p:txBody>
      </p:sp>
      <p:sp>
        <p:nvSpPr>
          <p:cNvPr id="5" name="Text 3"/>
          <p:cNvSpPr/>
          <p:nvPr/>
        </p:nvSpPr>
        <p:spPr>
          <a:xfrm>
            <a:off x="640080" y="1371600"/>
            <a:ext cx="5943600" cy="1097280"/>
          </a:xfrm>
          <a:prstGeom prst="rect">
            <a:avLst/>
          </a:prstGeom>
          <a:noFill/>
          <a:ln/>
        </p:spPr>
        <p:txBody>
          <a:bodyPr wrap="square" rtlCol="0" anchor="ctr"/>
          <a:lstStyle/>
          <a:p>
            <a:pPr marL="0" indent="0">
              <a:buNone/>
            </a:pPr>
            <a:r>
              <a:rPr lang="en-US" sz="3200" b="1" dirty="0">
                <a:solidFill>
                  <a:srgbClr val="B8DDD1"/>
                </a:solidFill>
                <a:latin typeface="Open Sans" pitchFamily="34" charset="0"/>
                <a:ea typeface="Open Sans" pitchFamily="34" charset="-122"/>
                <a:cs typeface="Open Sans" pitchFamily="34" charset="-120"/>
              </a:rPr>
              <a:t>Accounting &amp;</a:t>
            </a:r>
            <a:endParaRPr lang="en-US" sz="3200" dirty="0"/>
          </a:p>
          <a:p>
            <a:pPr marL="0" indent="0">
              <a:buNone/>
            </a:pPr>
            <a:r>
              <a:rPr lang="en-US" sz="3200" b="1" dirty="0">
                <a:solidFill>
                  <a:srgbClr val="B8DDD1"/>
                </a:solidFill>
                <a:latin typeface="Open Sans" pitchFamily="34" charset="0"/>
                <a:ea typeface="Open Sans" pitchFamily="34" charset="-122"/>
                <a:cs typeface="Open Sans" pitchFamily="34" charset="-120"/>
              </a:rPr>
              <a:t>Performance Ratios</a:t>
            </a:r>
            <a:endParaRPr lang="en-US" sz="3200" dirty="0"/>
          </a:p>
        </p:txBody>
      </p:sp>
      <p:sp>
        <p:nvSpPr>
          <p:cNvPr id="6" name="Text 4"/>
          <p:cNvSpPr/>
          <p:nvPr/>
        </p:nvSpPr>
        <p:spPr>
          <a:xfrm>
            <a:off x="640080" y="2560320"/>
            <a:ext cx="5943600" cy="548640"/>
          </a:xfrm>
          <a:prstGeom prst="rect">
            <a:avLst/>
          </a:prstGeom>
          <a:noFill/>
          <a:ln/>
        </p:spPr>
        <p:txBody>
          <a:bodyPr wrap="square" rtlCol="0" anchor="ctr"/>
          <a:lstStyle/>
          <a:p>
            <a:pPr marL="0" indent="0">
              <a:buNone/>
            </a:pPr>
            <a:r>
              <a:rPr lang="en-US" sz="2000" i="1" dirty="0">
                <a:solidFill>
                  <a:srgbClr val="4DA78F"/>
                </a:solidFill>
                <a:latin typeface="Open Sans" pitchFamily="34" charset="0"/>
                <a:ea typeface="Open Sans" pitchFamily="34" charset="-122"/>
                <a:cs typeface="Open Sans" pitchFamily="34" charset="-120"/>
              </a:rPr>
              <a:t>Spec-Driven Design Project</a:t>
            </a:r>
            <a:endParaRPr lang="en-US" sz="2000" dirty="0"/>
          </a:p>
        </p:txBody>
      </p:sp>
      <p:sp>
        <p:nvSpPr>
          <p:cNvPr id="7" name="Shape 5"/>
          <p:cNvSpPr/>
          <p:nvPr/>
        </p:nvSpPr>
        <p:spPr>
          <a:xfrm>
            <a:off x="640080" y="3474720"/>
            <a:ext cx="411480" cy="411480"/>
          </a:xfrm>
          <a:prstGeom prst="ellipse">
            <a:avLst/>
          </a:prstGeom>
          <a:solidFill>
            <a:srgbClr val="4DA78F"/>
          </a:solidFill>
          <a:ln/>
        </p:spPr>
        <p:txBody>
          <a:bodyPr/>
          <a:lstStyle/>
          <a:p>
            <a:endParaRPr lang="en-US"/>
          </a:p>
        </p:txBody>
      </p:sp>
      <p:sp>
        <p:nvSpPr>
          <p:cNvPr id="8" name="Text 6"/>
          <p:cNvSpPr/>
          <p:nvPr/>
        </p:nvSpPr>
        <p:spPr>
          <a:xfrm>
            <a:off x="640080" y="3474720"/>
            <a:ext cx="411480" cy="411480"/>
          </a:xfrm>
          <a:prstGeom prst="rect">
            <a:avLst/>
          </a:prstGeom>
          <a:noFill/>
          <a:ln/>
        </p:spPr>
        <p:txBody>
          <a:bodyPr wrap="square" rtlCol="0" anchor="ctr"/>
          <a:lstStyle/>
          <a:p>
            <a:pPr marL="0" indent="0" algn="ctr">
              <a:buNone/>
            </a:pPr>
            <a:r>
              <a:rPr lang="en-US" sz="1400" b="1" dirty="0">
                <a:solidFill>
                  <a:srgbClr val="024731"/>
                </a:solidFill>
                <a:latin typeface="Open Sans" pitchFamily="34" charset="0"/>
                <a:ea typeface="Open Sans" pitchFamily="34" charset="-122"/>
                <a:cs typeface="Open Sans" pitchFamily="34" charset="-120"/>
              </a:rPr>
              <a:t>0</a:t>
            </a:r>
            <a:endParaRPr lang="en-US" sz="1400" dirty="0"/>
          </a:p>
        </p:txBody>
      </p:sp>
      <p:sp>
        <p:nvSpPr>
          <p:cNvPr id="9" name="Text 7"/>
          <p:cNvSpPr/>
          <p:nvPr/>
        </p:nvSpPr>
        <p:spPr>
          <a:xfrm>
            <a:off x="457200" y="3931920"/>
            <a:ext cx="777240" cy="274320"/>
          </a:xfrm>
          <a:prstGeom prst="rect">
            <a:avLst/>
          </a:prstGeom>
          <a:noFill/>
          <a:ln/>
        </p:spPr>
        <p:txBody>
          <a:bodyPr wrap="square" rtlCol="0" anchor="ctr"/>
          <a:lstStyle/>
          <a:p>
            <a:pPr marL="0" indent="0" algn="ctr">
              <a:buNone/>
            </a:pPr>
            <a:r>
              <a:rPr lang="en-US" sz="900" dirty="0">
                <a:solidFill>
                  <a:srgbClr val="B8DDD1"/>
                </a:solidFill>
                <a:latin typeface="Open Sans" pitchFamily="34" charset="0"/>
                <a:ea typeface="Open Sans" pitchFamily="34" charset="-122"/>
                <a:cs typeface="Open Sans" pitchFamily="34" charset="-120"/>
              </a:rPr>
              <a:t>Setup</a:t>
            </a:r>
            <a:endParaRPr lang="en-US" sz="900" dirty="0"/>
          </a:p>
        </p:txBody>
      </p:sp>
      <p:sp>
        <p:nvSpPr>
          <p:cNvPr id="10" name="Shape 8"/>
          <p:cNvSpPr/>
          <p:nvPr/>
        </p:nvSpPr>
        <p:spPr>
          <a:xfrm>
            <a:off x="1097280" y="3680460"/>
            <a:ext cx="731520" cy="0"/>
          </a:xfrm>
          <a:prstGeom prst="line">
            <a:avLst/>
          </a:prstGeom>
          <a:noFill/>
          <a:ln w="19050">
            <a:solidFill>
              <a:srgbClr val="4DA78F"/>
            </a:solidFill>
            <a:prstDash val="dash"/>
          </a:ln>
        </p:spPr>
        <p:txBody>
          <a:bodyPr/>
          <a:lstStyle/>
          <a:p>
            <a:endParaRPr lang="en-US"/>
          </a:p>
        </p:txBody>
      </p:sp>
      <p:sp>
        <p:nvSpPr>
          <p:cNvPr id="11" name="Shape 9"/>
          <p:cNvSpPr/>
          <p:nvPr/>
        </p:nvSpPr>
        <p:spPr>
          <a:xfrm>
            <a:off x="1874520" y="3474720"/>
            <a:ext cx="411480" cy="411480"/>
          </a:xfrm>
          <a:prstGeom prst="ellipse">
            <a:avLst/>
          </a:prstGeom>
          <a:solidFill>
            <a:srgbClr val="4DA78F"/>
          </a:solidFill>
          <a:ln/>
        </p:spPr>
        <p:txBody>
          <a:bodyPr/>
          <a:lstStyle/>
          <a:p>
            <a:endParaRPr lang="en-US"/>
          </a:p>
        </p:txBody>
      </p:sp>
      <p:sp>
        <p:nvSpPr>
          <p:cNvPr id="12" name="Text 10"/>
          <p:cNvSpPr/>
          <p:nvPr/>
        </p:nvSpPr>
        <p:spPr>
          <a:xfrm>
            <a:off x="1874520" y="3474720"/>
            <a:ext cx="411480" cy="411480"/>
          </a:xfrm>
          <a:prstGeom prst="rect">
            <a:avLst/>
          </a:prstGeom>
          <a:noFill/>
          <a:ln/>
        </p:spPr>
        <p:txBody>
          <a:bodyPr wrap="square" rtlCol="0" anchor="ctr"/>
          <a:lstStyle/>
          <a:p>
            <a:pPr marL="0" indent="0" algn="ctr">
              <a:buNone/>
            </a:pPr>
            <a:r>
              <a:rPr lang="en-US" sz="1400" b="1" dirty="0">
                <a:solidFill>
                  <a:srgbClr val="024731"/>
                </a:solidFill>
                <a:latin typeface="Open Sans" pitchFamily="34" charset="0"/>
                <a:ea typeface="Open Sans" pitchFamily="34" charset="-122"/>
                <a:cs typeface="Open Sans" pitchFamily="34" charset="-120"/>
              </a:rPr>
              <a:t>1</a:t>
            </a:r>
            <a:endParaRPr lang="en-US" sz="1400" dirty="0"/>
          </a:p>
        </p:txBody>
      </p:sp>
      <p:sp>
        <p:nvSpPr>
          <p:cNvPr id="13" name="Text 11"/>
          <p:cNvSpPr/>
          <p:nvPr/>
        </p:nvSpPr>
        <p:spPr>
          <a:xfrm>
            <a:off x="1691640" y="3931920"/>
            <a:ext cx="777240" cy="274320"/>
          </a:xfrm>
          <a:prstGeom prst="rect">
            <a:avLst/>
          </a:prstGeom>
          <a:noFill/>
          <a:ln/>
        </p:spPr>
        <p:txBody>
          <a:bodyPr wrap="square" rtlCol="0" anchor="ctr"/>
          <a:lstStyle/>
          <a:p>
            <a:pPr marL="0" indent="0" algn="ctr">
              <a:buNone/>
            </a:pPr>
            <a:r>
              <a:rPr lang="en-US" sz="900" dirty="0">
                <a:solidFill>
                  <a:srgbClr val="B8DDD1"/>
                </a:solidFill>
                <a:latin typeface="Open Sans" pitchFamily="34" charset="0"/>
                <a:ea typeface="Open Sans" pitchFamily="34" charset="-122"/>
                <a:cs typeface="Open Sans" pitchFamily="34" charset="-120"/>
              </a:rPr>
              <a:t>Build</a:t>
            </a:r>
            <a:endParaRPr lang="en-US" sz="900" dirty="0"/>
          </a:p>
        </p:txBody>
      </p:sp>
      <p:sp>
        <p:nvSpPr>
          <p:cNvPr id="14" name="Shape 12"/>
          <p:cNvSpPr/>
          <p:nvPr/>
        </p:nvSpPr>
        <p:spPr>
          <a:xfrm>
            <a:off x="2331720" y="3680460"/>
            <a:ext cx="731520" cy="0"/>
          </a:xfrm>
          <a:prstGeom prst="line">
            <a:avLst/>
          </a:prstGeom>
          <a:noFill/>
          <a:ln w="19050">
            <a:solidFill>
              <a:srgbClr val="4DA78F"/>
            </a:solidFill>
            <a:prstDash val="dash"/>
          </a:ln>
        </p:spPr>
        <p:txBody>
          <a:bodyPr/>
          <a:lstStyle/>
          <a:p>
            <a:endParaRPr lang="en-US"/>
          </a:p>
        </p:txBody>
      </p:sp>
      <p:sp>
        <p:nvSpPr>
          <p:cNvPr id="15" name="Shape 13"/>
          <p:cNvSpPr/>
          <p:nvPr/>
        </p:nvSpPr>
        <p:spPr>
          <a:xfrm>
            <a:off x="3108960" y="3474720"/>
            <a:ext cx="411480" cy="411480"/>
          </a:xfrm>
          <a:prstGeom prst="ellipse">
            <a:avLst/>
          </a:prstGeom>
          <a:solidFill>
            <a:srgbClr val="4DA78F"/>
          </a:solidFill>
          <a:ln/>
        </p:spPr>
        <p:txBody>
          <a:bodyPr/>
          <a:lstStyle/>
          <a:p>
            <a:endParaRPr lang="en-US"/>
          </a:p>
        </p:txBody>
      </p:sp>
      <p:sp>
        <p:nvSpPr>
          <p:cNvPr id="16" name="Text 14"/>
          <p:cNvSpPr/>
          <p:nvPr/>
        </p:nvSpPr>
        <p:spPr>
          <a:xfrm>
            <a:off x="3108960" y="3474720"/>
            <a:ext cx="411480" cy="411480"/>
          </a:xfrm>
          <a:prstGeom prst="rect">
            <a:avLst/>
          </a:prstGeom>
          <a:noFill/>
          <a:ln/>
        </p:spPr>
        <p:txBody>
          <a:bodyPr wrap="square" rtlCol="0" anchor="ctr"/>
          <a:lstStyle/>
          <a:p>
            <a:pPr marL="0" indent="0" algn="ctr">
              <a:buNone/>
            </a:pPr>
            <a:r>
              <a:rPr lang="en-US" sz="1400" b="1" dirty="0">
                <a:solidFill>
                  <a:srgbClr val="024731"/>
                </a:solidFill>
                <a:latin typeface="Open Sans" pitchFamily="34" charset="0"/>
                <a:ea typeface="Open Sans" pitchFamily="34" charset="-122"/>
                <a:cs typeface="Open Sans" pitchFamily="34" charset="-120"/>
              </a:rPr>
              <a:t>2</a:t>
            </a:r>
            <a:endParaRPr lang="en-US" sz="1400" dirty="0"/>
          </a:p>
        </p:txBody>
      </p:sp>
      <p:sp>
        <p:nvSpPr>
          <p:cNvPr id="17" name="Text 15"/>
          <p:cNvSpPr/>
          <p:nvPr/>
        </p:nvSpPr>
        <p:spPr>
          <a:xfrm>
            <a:off x="2926080" y="3931920"/>
            <a:ext cx="777240" cy="274320"/>
          </a:xfrm>
          <a:prstGeom prst="rect">
            <a:avLst/>
          </a:prstGeom>
          <a:noFill/>
          <a:ln/>
        </p:spPr>
        <p:txBody>
          <a:bodyPr wrap="square" rtlCol="0" anchor="ctr"/>
          <a:lstStyle/>
          <a:p>
            <a:pPr marL="0" indent="0" algn="ctr">
              <a:buNone/>
            </a:pPr>
            <a:r>
              <a:rPr lang="en-US" sz="900" dirty="0">
                <a:solidFill>
                  <a:srgbClr val="B8DDD1"/>
                </a:solidFill>
                <a:latin typeface="Open Sans" pitchFamily="34" charset="0"/>
                <a:ea typeface="Open Sans" pitchFamily="34" charset="-122"/>
                <a:cs typeface="Open Sans" pitchFamily="34" charset="-120"/>
              </a:rPr>
              <a:t>Memo</a:t>
            </a:r>
            <a:endParaRPr lang="en-US" sz="900" dirty="0"/>
          </a:p>
        </p:txBody>
      </p:sp>
      <p:sp>
        <p:nvSpPr>
          <p:cNvPr id="18" name="Shape 16"/>
          <p:cNvSpPr/>
          <p:nvPr/>
        </p:nvSpPr>
        <p:spPr>
          <a:xfrm>
            <a:off x="3566160" y="3680460"/>
            <a:ext cx="731520" cy="0"/>
          </a:xfrm>
          <a:prstGeom prst="line">
            <a:avLst/>
          </a:prstGeom>
          <a:noFill/>
          <a:ln w="19050">
            <a:solidFill>
              <a:srgbClr val="4DA78F"/>
            </a:solidFill>
            <a:prstDash val="dash"/>
          </a:ln>
        </p:spPr>
        <p:txBody>
          <a:bodyPr/>
          <a:lstStyle/>
          <a:p>
            <a:endParaRPr lang="en-US"/>
          </a:p>
        </p:txBody>
      </p:sp>
      <p:sp>
        <p:nvSpPr>
          <p:cNvPr id="19" name="Shape 17"/>
          <p:cNvSpPr/>
          <p:nvPr/>
        </p:nvSpPr>
        <p:spPr>
          <a:xfrm>
            <a:off x="4343400" y="3474720"/>
            <a:ext cx="411480" cy="411480"/>
          </a:xfrm>
          <a:prstGeom prst="ellipse">
            <a:avLst/>
          </a:prstGeom>
          <a:solidFill>
            <a:srgbClr val="4DA78F"/>
          </a:solidFill>
          <a:ln/>
        </p:spPr>
        <p:txBody>
          <a:bodyPr/>
          <a:lstStyle/>
          <a:p>
            <a:endParaRPr lang="en-US"/>
          </a:p>
        </p:txBody>
      </p:sp>
      <p:sp>
        <p:nvSpPr>
          <p:cNvPr id="20" name="Text 18"/>
          <p:cNvSpPr/>
          <p:nvPr/>
        </p:nvSpPr>
        <p:spPr>
          <a:xfrm>
            <a:off x="4343400" y="3474720"/>
            <a:ext cx="411480" cy="411480"/>
          </a:xfrm>
          <a:prstGeom prst="rect">
            <a:avLst/>
          </a:prstGeom>
          <a:noFill/>
          <a:ln/>
        </p:spPr>
        <p:txBody>
          <a:bodyPr wrap="square" rtlCol="0" anchor="ctr"/>
          <a:lstStyle/>
          <a:p>
            <a:pPr marL="0" indent="0" algn="ctr">
              <a:buNone/>
            </a:pPr>
            <a:r>
              <a:rPr lang="en-US" sz="1400" b="1" dirty="0">
                <a:solidFill>
                  <a:srgbClr val="024731"/>
                </a:solidFill>
                <a:latin typeface="Open Sans" pitchFamily="34" charset="0"/>
                <a:ea typeface="Open Sans" pitchFamily="34" charset="-122"/>
                <a:cs typeface="Open Sans" pitchFamily="34" charset="-120"/>
              </a:rPr>
              <a:t>3</a:t>
            </a:r>
            <a:endParaRPr lang="en-US" sz="1400" dirty="0"/>
          </a:p>
        </p:txBody>
      </p:sp>
      <p:sp>
        <p:nvSpPr>
          <p:cNvPr id="21" name="Text 19"/>
          <p:cNvSpPr/>
          <p:nvPr/>
        </p:nvSpPr>
        <p:spPr>
          <a:xfrm>
            <a:off x="4160520" y="3931920"/>
            <a:ext cx="777240" cy="274320"/>
          </a:xfrm>
          <a:prstGeom prst="rect">
            <a:avLst/>
          </a:prstGeom>
          <a:noFill/>
          <a:ln/>
        </p:spPr>
        <p:txBody>
          <a:bodyPr wrap="square" rtlCol="0" anchor="ctr"/>
          <a:lstStyle/>
          <a:p>
            <a:pPr marL="0" indent="0" algn="ctr">
              <a:buNone/>
            </a:pPr>
            <a:r>
              <a:rPr lang="en-US" sz="900" dirty="0">
                <a:solidFill>
                  <a:srgbClr val="B8DDD1"/>
                </a:solidFill>
                <a:latin typeface="Open Sans" pitchFamily="34" charset="0"/>
                <a:ea typeface="Open Sans" pitchFamily="34" charset="-122"/>
                <a:cs typeface="Open Sans" pitchFamily="34" charset="-120"/>
              </a:rPr>
              <a:t>Model</a:t>
            </a:r>
            <a:endParaRPr lang="en-US" sz="900" dirty="0"/>
          </a:p>
        </p:txBody>
      </p:sp>
      <p:sp>
        <p:nvSpPr>
          <p:cNvPr id="22" name="Shape 20"/>
          <p:cNvSpPr/>
          <p:nvPr/>
        </p:nvSpPr>
        <p:spPr>
          <a:xfrm>
            <a:off x="4800600" y="3680460"/>
            <a:ext cx="731520" cy="0"/>
          </a:xfrm>
          <a:prstGeom prst="line">
            <a:avLst/>
          </a:prstGeom>
          <a:noFill/>
          <a:ln w="19050">
            <a:solidFill>
              <a:srgbClr val="4DA78F"/>
            </a:solidFill>
            <a:prstDash val="dash"/>
          </a:ln>
        </p:spPr>
        <p:txBody>
          <a:bodyPr/>
          <a:lstStyle/>
          <a:p>
            <a:endParaRPr lang="en-US"/>
          </a:p>
        </p:txBody>
      </p:sp>
      <p:sp>
        <p:nvSpPr>
          <p:cNvPr id="23" name="Shape 21"/>
          <p:cNvSpPr/>
          <p:nvPr/>
        </p:nvSpPr>
        <p:spPr>
          <a:xfrm>
            <a:off x="5577840" y="3474720"/>
            <a:ext cx="411480" cy="411480"/>
          </a:xfrm>
          <a:prstGeom prst="ellipse">
            <a:avLst/>
          </a:prstGeom>
          <a:solidFill>
            <a:srgbClr val="C9A84C"/>
          </a:solidFill>
          <a:ln/>
        </p:spPr>
        <p:txBody>
          <a:bodyPr/>
          <a:lstStyle/>
          <a:p>
            <a:endParaRPr lang="en-US"/>
          </a:p>
        </p:txBody>
      </p:sp>
      <p:sp>
        <p:nvSpPr>
          <p:cNvPr id="24" name="Text 22"/>
          <p:cNvSpPr/>
          <p:nvPr/>
        </p:nvSpPr>
        <p:spPr>
          <a:xfrm>
            <a:off x="5577840" y="3474720"/>
            <a:ext cx="411480" cy="411480"/>
          </a:xfrm>
          <a:prstGeom prst="rect">
            <a:avLst/>
          </a:prstGeom>
          <a:noFill/>
          <a:ln/>
        </p:spPr>
        <p:txBody>
          <a:bodyPr wrap="square" rtlCol="0" anchor="ctr"/>
          <a:lstStyle/>
          <a:p>
            <a:pPr marL="0" indent="0" algn="ctr">
              <a:buNone/>
            </a:pPr>
            <a:r>
              <a:rPr lang="en-US" sz="1400" b="1" dirty="0">
                <a:solidFill>
                  <a:srgbClr val="024731"/>
                </a:solidFill>
                <a:latin typeface="Open Sans" pitchFamily="34" charset="0"/>
                <a:ea typeface="Open Sans" pitchFamily="34" charset="-122"/>
                <a:cs typeface="Open Sans" pitchFamily="34" charset="-120"/>
              </a:rPr>
              <a:t>4</a:t>
            </a:r>
            <a:endParaRPr lang="en-US" sz="1400" dirty="0"/>
          </a:p>
        </p:txBody>
      </p:sp>
      <p:sp>
        <p:nvSpPr>
          <p:cNvPr id="25" name="Text 23"/>
          <p:cNvSpPr/>
          <p:nvPr/>
        </p:nvSpPr>
        <p:spPr>
          <a:xfrm>
            <a:off x="5394960" y="3931920"/>
            <a:ext cx="777240" cy="274320"/>
          </a:xfrm>
          <a:prstGeom prst="rect">
            <a:avLst/>
          </a:prstGeom>
          <a:noFill/>
          <a:ln/>
        </p:spPr>
        <p:txBody>
          <a:bodyPr wrap="square" rtlCol="0" anchor="ctr"/>
          <a:lstStyle/>
          <a:p>
            <a:pPr marL="0" indent="0" algn="ctr">
              <a:buNone/>
            </a:pPr>
            <a:r>
              <a:rPr lang="en-US" sz="900" dirty="0">
                <a:solidFill>
                  <a:srgbClr val="B8DDD1"/>
                </a:solidFill>
                <a:latin typeface="Open Sans" pitchFamily="34" charset="0"/>
                <a:ea typeface="Open Sans" pitchFamily="34" charset="-122"/>
                <a:cs typeface="Open Sans" pitchFamily="34" charset="-120"/>
              </a:rPr>
              <a:t>Spec</a:t>
            </a:r>
            <a:endParaRPr lang="en-US" sz="900" dirty="0"/>
          </a:p>
        </p:txBody>
      </p:sp>
      <p:sp>
        <p:nvSpPr>
          <p:cNvPr id="26" name="Shape 24"/>
          <p:cNvSpPr/>
          <p:nvPr/>
        </p:nvSpPr>
        <p:spPr>
          <a:xfrm>
            <a:off x="6035040" y="3680460"/>
            <a:ext cx="731520" cy="0"/>
          </a:xfrm>
          <a:prstGeom prst="line">
            <a:avLst/>
          </a:prstGeom>
          <a:noFill/>
          <a:ln w="19050">
            <a:solidFill>
              <a:srgbClr val="4DA78F"/>
            </a:solidFill>
            <a:prstDash val="dash"/>
          </a:ln>
        </p:spPr>
        <p:txBody>
          <a:bodyPr/>
          <a:lstStyle/>
          <a:p>
            <a:endParaRPr lang="en-US"/>
          </a:p>
        </p:txBody>
      </p:sp>
      <p:sp>
        <p:nvSpPr>
          <p:cNvPr id="27" name="Shape 25"/>
          <p:cNvSpPr/>
          <p:nvPr/>
        </p:nvSpPr>
        <p:spPr>
          <a:xfrm>
            <a:off x="6812280" y="3474720"/>
            <a:ext cx="411480" cy="411480"/>
          </a:xfrm>
          <a:prstGeom prst="ellipse">
            <a:avLst/>
          </a:prstGeom>
          <a:solidFill>
            <a:srgbClr val="4DA78F"/>
          </a:solidFill>
          <a:ln/>
        </p:spPr>
        <p:txBody>
          <a:bodyPr/>
          <a:lstStyle/>
          <a:p>
            <a:endParaRPr lang="en-US"/>
          </a:p>
        </p:txBody>
      </p:sp>
      <p:sp>
        <p:nvSpPr>
          <p:cNvPr id="28" name="Text 26"/>
          <p:cNvSpPr/>
          <p:nvPr/>
        </p:nvSpPr>
        <p:spPr>
          <a:xfrm>
            <a:off x="6812280" y="3474720"/>
            <a:ext cx="411480" cy="411480"/>
          </a:xfrm>
          <a:prstGeom prst="rect">
            <a:avLst/>
          </a:prstGeom>
          <a:noFill/>
          <a:ln/>
        </p:spPr>
        <p:txBody>
          <a:bodyPr wrap="square" rtlCol="0" anchor="ctr"/>
          <a:lstStyle/>
          <a:p>
            <a:pPr marL="0" indent="0" algn="ctr">
              <a:buNone/>
            </a:pPr>
            <a:r>
              <a:rPr lang="en-US" sz="1400" b="1" dirty="0">
                <a:solidFill>
                  <a:srgbClr val="024731"/>
                </a:solidFill>
                <a:latin typeface="Open Sans" pitchFamily="34" charset="0"/>
                <a:ea typeface="Open Sans" pitchFamily="34" charset="-122"/>
                <a:cs typeface="Open Sans" pitchFamily="34" charset="-120"/>
              </a:rPr>
              <a:t>5</a:t>
            </a:r>
            <a:endParaRPr lang="en-US" sz="1400" dirty="0"/>
          </a:p>
        </p:txBody>
      </p:sp>
      <p:sp>
        <p:nvSpPr>
          <p:cNvPr id="29" name="Text 27"/>
          <p:cNvSpPr/>
          <p:nvPr/>
        </p:nvSpPr>
        <p:spPr>
          <a:xfrm>
            <a:off x="6629400" y="3931920"/>
            <a:ext cx="777240" cy="274320"/>
          </a:xfrm>
          <a:prstGeom prst="rect">
            <a:avLst/>
          </a:prstGeom>
          <a:noFill/>
          <a:ln/>
        </p:spPr>
        <p:txBody>
          <a:bodyPr wrap="square" rtlCol="0" anchor="ctr"/>
          <a:lstStyle/>
          <a:p>
            <a:pPr marL="0" indent="0" algn="ctr">
              <a:buNone/>
            </a:pPr>
            <a:r>
              <a:rPr lang="en-US" sz="900" dirty="0">
                <a:solidFill>
                  <a:srgbClr val="B8DDD1"/>
                </a:solidFill>
                <a:latin typeface="Open Sans" pitchFamily="34" charset="0"/>
                <a:ea typeface="Open Sans" pitchFamily="34" charset="-122"/>
                <a:cs typeface="Open Sans" pitchFamily="34" charset="-120"/>
              </a:rPr>
              <a:t>Evaluate</a:t>
            </a:r>
            <a:endParaRPr lang="en-US" sz="900" dirty="0"/>
          </a:p>
        </p:txBody>
      </p:sp>
      <p:sp>
        <p:nvSpPr>
          <p:cNvPr id="30" name="Text 28"/>
          <p:cNvSpPr/>
          <p:nvPr/>
        </p:nvSpPr>
        <p:spPr>
          <a:xfrm>
            <a:off x="640080" y="4663440"/>
            <a:ext cx="7772400" cy="274320"/>
          </a:xfrm>
          <a:prstGeom prst="rect">
            <a:avLst/>
          </a:prstGeom>
          <a:noFill/>
          <a:ln/>
        </p:spPr>
        <p:txBody>
          <a:bodyPr wrap="square"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Adam W. Stauffer  |  Shidler College of Business  |  University of Hawaiʻi at Mānoa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548640" y="320040"/>
            <a:ext cx="8229600" cy="594360"/>
          </a:xfrm>
          <a:prstGeom prst="rect">
            <a:avLst/>
          </a:prstGeom>
          <a:noFill/>
          <a:ln/>
        </p:spPr>
        <p:txBody>
          <a:bodyPr wrap="square" lIns="0" tIns="0" rIns="0" bIns="0" rtlCol="0" anchor="ctr"/>
          <a:lstStyle/>
          <a:p>
            <a:pPr marL="0" indent="0">
              <a:buNone/>
            </a:pPr>
            <a:r>
              <a:rPr lang="en-US" sz="3000" b="1" dirty="0">
                <a:solidFill>
                  <a:srgbClr val="024731"/>
                </a:solidFill>
                <a:latin typeface="Open Sans" pitchFamily="34" charset="0"/>
                <a:ea typeface="Open Sans" pitchFamily="34" charset="-122"/>
                <a:cs typeface="Open Sans" pitchFamily="34" charset="-120"/>
              </a:rPr>
              <a:t>Why This Project Matters</a:t>
            </a:r>
            <a:endParaRPr lang="en-US" sz="3000" dirty="0"/>
          </a:p>
        </p:txBody>
      </p:sp>
      <p:sp>
        <p:nvSpPr>
          <p:cNvPr id="3" name="Text 1"/>
          <p:cNvSpPr/>
          <p:nvPr/>
        </p:nvSpPr>
        <p:spPr>
          <a:xfrm>
            <a:off x="548640" y="960120"/>
            <a:ext cx="8046720" cy="548640"/>
          </a:xfrm>
          <a:prstGeom prst="rect">
            <a:avLst/>
          </a:prstGeom>
          <a:noFill/>
          <a:ln/>
        </p:spPr>
        <p:txBody>
          <a:bodyPr wrap="square" rtlCol="0" anchor="ctr"/>
          <a:lstStyle/>
          <a:p>
            <a:pPr marL="0" indent="0">
              <a:buNone/>
            </a:pPr>
            <a:r>
              <a:rPr lang="en-US" sz="1200" dirty="0">
                <a:solidFill>
                  <a:srgbClr val="6B7280"/>
                </a:solidFill>
                <a:latin typeface="Open Sans" pitchFamily="34" charset="0"/>
                <a:ea typeface="Open Sans" pitchFamily="34" charset="-122"/>
                <a:cs typeface="Open Sans" pitchFamily="34" charset="-120"/>
              </a:rPr>
              <a:t>This project teaches you to specify analytical work precisely enough that any competent executor — human or AI — can produce correct output. That is a more valuable skill than doing the analysis yourself.</a:t>
            </a:r>
            <a:endParaRPr lang="en-US" sz="1200" dirty="0"/>
          </a:p>
        </p:txBody>
      </p:sp>
      <p:sp>
        <p:nvSpPr>
          <p:cNvPr id="4" name="Shape 2"/>
          <p:cNvSpPr/>
          <p:nvPr/>
        </p:nvSpPr>
        <p:spPr>
          <a:xfrm>
            <a:off x="548640" y="1737360"/>
            <a:ext cx="3931920" cy="128016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5" name="Shape 3"/>
          <p:cNvSpPr/>
          <p:nvPr/>
        </p:nvSpPr>
        <p:spPr>
          <a:xfrm>
            <a:off x="548640" y="1737360"/>
            <a:ext cx="54864" cy="1280160"/>
          </a:xfrm>
          <a:prstGeom prst="rect">
            <a:avLst/>
          </a:prstGeom>
          <a:solidFill>
            <a:srgbClr val="024731"/>
          </a:solidFill>
          <a:ln/>
        </p:spPr>
        <p:txBody>
          <a:bodyPr/>
          <a:lstStyle/>
          <a:p>
            <a:endParaRPr lang="en-US"/>
          </a:p>
        </p:txBody>
      </p:sp>
      <p:sp>
        <p:nvSpPr>
          <p:cNvPr id="6" name="Shape 4"/>
          <p:cNvSpPr/>
          <p:nvPr/>
        </p:nvSpPr>
        <p:spPr>
          <a:xfrm>
            <a:off x="777240" y="1965960"/>
            <a:ext cx="457200" cy="457200"/>
          </a:xfrm>
          <a:prstGeom prst="ellipse">
            <a:avLst/>
          </a:prstGeom>
          <a:solidFill>
            <a:srgbClr val="E6F2E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77824" y="2066544"/>
            <a:ext cx="256032" cy="256032"/>
          </a:xfrm>
          <a:prstGeom prst="rect">
            <a:avLst/>
          </a:prstGeom>
        </p:spPr>
      </p:pic>
      <p:sp>
        <p:nvSpPr>
          <p:cNvPr id="8" name="Text 5"/>
          <p:cNvSpPr/>
          <p:nvPr/>
        </p:nvSpPr>
        <p:spPr>
          <a:xfrm>
            <a:off x="1371600" y="1920240"/>
            <a:ext cx="2926080" cy="32004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Spec-Driven Design</a:t>
            </a:r>
            <a:endParaRPr lang="en-US" sz="1400" dirty="0"/>
          </a:p>
        </p:txBody>
      </p:sp>
      <p:sp>
        <p:nvSpPr>
          <p:cNvPr id="9" name="Text 6"/>
          <p:cNvSpPr/>
          <p:nvPr/>
        </p:nvSpPr>
        <p:spPr>
          <a:xfrm>
            <a:off x="1371600" y="2240280"/>
            <a:ext cx="2926080" cy="64008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Write specifications precise enough to delegate. The spec is the central artifact — not the spreadsheet, not the prompt.</a:t>
            </a:r>
            <a:endParaRPr lang="en-US" sz="1000" dirty="0"/>
          </a:p>
        </p:txBody>
      </p:sp>
      <p:sp>
        <p:nvSpPr>
          <p:cNvPr id="10" name="Shape 7"/>
          <p:cNvSpPr/>
          <p:nvPr/>
        </p:nvSpPr>
        <p:spPr>
          <a:xfrm>
            <a:off x="4754880" y="1737360"/>
            <a:ext cx="3931920" cy="128016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11" name="Shape 8"/>
          <p:cNvSpPr/>
          <p:nvPr/>
        </p:nvSpPr>
        <p:spPr>
          <a:xfrm>
            <a:off x="4754880" y="1737360"/>
            <a:ext cx="54864" cy="1280160"/>
          </a:xfrm>
          <a:prstGeom prst="rect">
            <a:avLst/>
          </a:prstGeom>
          <a:solidFill>
            <a:srgbClr val="024731"/>
          </a:solidFill>
          <a:ln/>
        </p:spPr>
        <p:txBody>
          <a:bodyPr/>
          <a:lstStyle/>
          <a:p>
            <a:endParaRPr lang="en-US"/>
          </a:p>
        </p:txBody>
      </p:sp>
      <p:sp>
        <p:nvSpPr>
          <p:cNvPr id="12" name="Shape 9"/>
          <p:cNvSpPr/>
          <p:nvPr/>
        </p:nvSpPr>
        <p:spPr>
          <a:xfrm>
            <a:off x="4983480" y="1965960"/>
            <a:ext cx="457200" cy="457200"/>
          </a:xfrm>
          <a:prstGeom prst="ellipse">
            <a:avLst/>
          </a:prstGeom>
          <a:solidFill>
            <a:srgbClr val="E6F2EF"/>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5084064" y="2066544"/>
            <a:ext cx="256032" cy="256032"/>
          </a:xfrm>
          <a:prstGeom prst="rect">
            <a:avLst/>
          </a:prstGeom>
        </p:spPr>
      </p:pic>
      <p:sp>
        <p:nvSpPr>
          <p:cNvPr id="14" name="Text 10"/>
          <p:cNvSpPr/>
          <p:nvPr/>
        </p:nvSpPr>
        <p:spPr>
          <a:xfrm>
            <a:off x="5577840" y="1920240"/>
            <a:ext cx="2926080" cy="32004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Real-World Skills</a:t>
            </a:r>
            <a:endParaRPr lang="en-US" sz="1400" dirty="0"/>
          </a:p>
        </p:txBody>
      </p:sp>
      <p:sp>
        <p:nvSpPr>
          <p:cNvPr id="15" name="Text 11"/>
          <p:cNvSpPr/>
          <p:nvPr/>
        </p:nvSpPr>
        <p:spPr>
          <a:xfrm>
            <a:off x="5577840" y="2240280"/>
            <a:ext cx="2926080" cy="64008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Build financial models, validate data, interpret ratios. The same workflow used by FP&amp;A analysts, equity researchers, and auditors.</a:t>
            </a:r>
            <a:endParaRPr lang="en-US" sz="1000" dirty="0"/>
          </a:p>
        </p:txBody>
      </p:sp>
      <p:sp>
        <p:nvSpPr>
          <p:cNvPr id="16" name="Shape 12"/>
          <p:cNvSpPr/>
          <p:nvPr/>
        </p:nvSpPr>
        <p:spPr>
          <a:xfrm>
            <a:off x="548640" y="3200400"/>
            <a:ext cx="3931920" cy="128016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17" name="Shape 13"/>
          <p:cNvSpPr/>
          <p:nvPr/>
        </p:nvSpPr>
        <p:spPr>
          <a:xfrm>
            <a:off x="548640" y="3200400"/>
            <a:ext cx="54864" cy="1280160"/>
          </a:xfrm>
          <a:prstGeom prst="rect">
            <a:avLst/>
          </a:prstGeom>
          <a:solidFill>
            <a:srgbClr val="024731"/>
          </a:solidFill>
          <a:ln/>
        </p:spPr>
        <p:txBody>
          <a:bodyPr/>
          <a:lstStyle/>
          <a:p>
            <a:endParaRPr lang="en-US"/>
          </a:p>
        </p:txBody>
      </p:sp>
      <p:sp>
        <p:nvSpPr>
          <p:cNvPr id="18" name="Shape 14"/>
          <p:cNvSpPr/>
          <p:nvPr/>
        </p:nvSpPr>
        <p:spPr>
          <a:xfrm>
            <a:off x="777240" y="3429000"/>
            <a:ext cx="457200" cy="457200"/>
          </a:xfrm>
          <a:prstGeom prst="ellipse">
            <a:avLst/>
          </a:prstGeom>
          <a:solidFill>
            <a:srgbClr val="E6F2EF"/>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877824" y="3529584"/>
            <a:ext cx="256032" cy="256032"/>
          </a:xfrm>
          <a:prstGeom prst="rect">
            <a:avLst/>
          </a:prstGeom>
        </p:spPr>
      </p:pic>
      <p:sp>
        <p:nvSpPr>
          <p:cNvPr id="20" name="Text 15"/>
          <p:cNvSpPr/>
          <p:nvPr/>
        </p:nvSpPr>
        <p:spPr>
          <a:xfrm>
            <a:off x="1371600" y="3383280"/>
            <a:ext cx="2926080" cy="32004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Critical AI Literacy</a:t>
            </a:r>
            <a:endParaRPr lang="en-US" sz="1400" dirty="0"/>
          </a:p>
        </p:txBody>
      </p:sp>
      <p:sp>
        <p:nvSpPr>
          <p:cNvPr id="21" name="Text 16"/>
          <p:cNvSpPr/>
          <p:nvPr/>
        </p:nvSpPr>
        <p:spPr>
          <a:xfrm>
            <a:off x="1371600" y="3703320"/>
            <a:ext cx="2926080" cy="64008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Don’t just use AI — evaluate its output. Identify what it gets right, what it misses, and what only a human expert catches.</a:t>
            </a:r>
            <a:endParaRPr lang="en-US" sz="1000" dirty="0"/>
          </a:p>
        </p:txBody>
      </p:sp>
      <p:sp>
        <p:nvSpPr>
          <p:cNvPr id="22" name="Shape 17"/>
          <p:cNvSpPr/>
          <p:nvPr/>
        </p:nvSpPr>
        <p:spPr>
          <a:xfrm>
            <a:off x="4754880" y="3200400"/>
            <a:ext cx="3931920" cy="128016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23" name="Shape 18"/>
          <p:cNvSpPr/>
          <p:nvPr/>
        </p:nvSpPr>
        <p:spPr>
          <a:xfrm>
            <a:off x="4754880" y="3200400"/>
            <a:ext cx="54864" cy="1280160"/>
          </a:xfrm>
          <a:prstGeom prst="rect">
            <a:avLst/>
          </a:prstGeom>
          <a:solidFill>
            <a:srgbClr val="024731"/>
          </a:solidFill>
          <a:ln/>
        </p:spPr>
        <p:txBody>
          <a:bodyPr/>
          <a:lstStyle/>
          <a:p>
            <a:endParaRPr lang="en-US"/>
          </a:p>
        </p:txBody>
      </p:sp>
      <p:sp>
        <p:nvSpPr>
          <p:cNvPr id="24" name="Shape 19"/>
          <p:cNvSpPr/>
          <p:nvPr/>
        </p:nvSpPr>
        <p:spPr>
          <a:xfrm>
            <a:off x="4983480" y="3429000"/>
            <a:ext cx="457200" cy="457200"/>
          </a:xfrm>
          <a:prstGeom prst="ellipse">
            <a:avLst/>
          </a:prstGeom>
          <a:solidFill>
            <a:srgbClr val="E6F2EF"/>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5084064" y="3529584"/>
            <a:ext cx="256032" cy="256032"/>
          </a:xfrm>
          <a:prstGeom prst="rect">
            <a:avLst/>
          </a:prstGeom>
        </p:spPr>
      </p:pic>
      <p:sp>
        <p:nvSpPr>
          <p:cNvPr id="26" name="Text 20"/>
          <p:cNvSpPr/>
          <p:nvPr/>
        </p:nvSpPr>
        <p:spPr>
          <a:xfrm>
            <a:off x="5577840" y="3383280"/>
            <a:ext cx="2926080" cy="32004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Portfolio Artifact</a:t>
            </a:r>
            <a:endParaRPr lang="en-US" sz="1400" dirty="0"/>
          </a:p>
        </p:txBody>
      </p:sp>
      <p:sp>
        <p:nvSpPr>
          <p:cNvPr id="27" name="Text 21"/>
          <p:cNvSpPr/>
          <p:nvPr/>
        </p:nvSpPr>
        <p:spPr>
          <a:xfrm>
            <a:off x="5577840" y="3703320"/>
            <a:ext cx="2926080" cy="64008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A six-stage deliverable for interviews: repo setup, model, memo, spec, LLM analysis, and executive evaluation.</a:t>
            </a:r>
            <a:endParaRPr lang="en-US" sz="1000" dirty="0"/>
          </a:p>
        </p:txBody>
      </p:sp>
      <p:sp>
        <p:nvSpPr>
          <p:cNvPr id="28" name="Text 22"/>
          <p:cNvSpPr/>
          <p:nvPr/>
        </p:nvSpPr>
        <p:spPr>
          <a:xfrm>
            <a:off x="548640" y="4617720"/>
            <a:ext cx="8046720" cy="365760"/>
          </a:xfrm>
          <a:prstGeom prst="rect">
            <a:avLst/>
          </a:prstGeom>
          <a:noFill/>
          <a:ln/>
        </p:spPr>
        <p:txBody>
          <a:bodyPr wrap="square" rtlCol="0" anchor="ctr"/>
          <a:lstStyle/>
          <a:p>
            <a:pPr marL="0" indent="0">
              <a:buNone/>
            </a:pPr>
            <a:r>
              <a:rPr lang="en-US" sz="1000" i="1" dirty="0">
                <a:solidFill>
                  <a:srgbClr val="6B7280"/>
                </a:solidFill>
                <a:latin typeface="Open Sans" pitchFamily="34" charset="0"/>
                <a:ea typeface="Open Sans" pitchFamily="34" charset="-122"/>
                <a:cs typeface="Open Sans" pitchFamily="34" charset="-120"/>
              </a:rPr>
              <a:t>“Incomplete understanding is normal. Playing with AI tools is more than half the battle. We’re all figuring this out together.”</a:t>
            </a:r>
            <a:r>
              <a:rPr lang="en-US" sz="1000" b="1" dirty="0">
                <a:solidFill>
                  <a:srgbClr val="6B7280"/>
                </a:solidFill>
                <a:latin typeface="Open Sans" pitchFamily="34" charset="0"/>
                <a:ea typeface="Open Sans" pitchFamily="34" charset="-122"/>
                <a:cs typeface="Open Sans" pitchFamily="34" charset="-120"/>
              </a:rPr>
              <a:t xml:space="preserve">  — Instructor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024731"/>
                </a:solidFill>
                <a:latin typeface="Open Sans" pitchFamily="34" charset="0"/>
                <a:ea typeface="Open Sans" pitchFamily="34" charset="-122"/>
                <a:cs typeface="Open Sans" pitchFamily="34" charset="-120"/>
              </a:rPr>
              <a:t>Project Overview — Six Stages</a:t>
            </a:r>
            <a:endParaRPr lang="en-US" sz="2800" dirty="0"/>
          </a:p>
        </p:txBody>
      </p:sp>
      <p:sp>
        <p:nvSpPr>
          <p:cNvPr id="3" name="Text 1"/>
          <p:cNvSpPr/>
          <p:nvPr/>
        </p:nvSpPr>
        <p:spPr>
          <a:xfrm>
            <a:off x="548640" y="777240"/>
            <a:ext cx="8229600" cy="274320"/>
          </a:xfrm>
          <a:prstGeom prst="rect">
            <a:avLst/>
          </a:prstGeom>
          <a:noFill/>
          <a:ln/>
        </p:spPr>
        <p:txBody>
          <a:bodyPr wrap="square" rtlCol="0" anchor="ctr"/>
          <a:lstStyle/>
          <a:p>
            <a:pPr marL="0" indent="0">
              <a:buNone/>
            </a:pPr>
            <a:r>
              <a:rPr lang="en-US" sz="1100" b="1" kern="0" spc="200" dirty="0">
                <a:solidFill>
                  <a:srgbClr val="4DA78F"/>
                </a:solidFill>
                <a:latin typeface="Open Sans" pitchFamily="34" charset="0"/>
                <a:ea typeface="Open Sans" pitchFamily="34" charset="-122"/>
                <a:cs typeface="Open Sans" pitchFamily="34" charset="-120"/>
              </a:rPr>
              <a:t>SETUP  →  TEMPLATE  →  FRAME  →  POPULATE  →  SPECIFY  →  EVALUATE</a:t>
            </a:r>
            <a:endParaRPr lang="en-US" sz="1100" dirty="0"/>
          </a:p>
        </p:txBody>
      </p:sp>
      <p:sp>
        <p:nvSpPr>
          <p:cNvPr id="4" name="Shape 2"/>
          <p:cNvSpPr/>
          <p:nvPr/>
        </p:nvSpPr>
        <p:spPr>
          <a:xfrm>
            <a:off x="548640" y="1234440"/>
            <a:ext cx="2606040" cy="16916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5" name="Shape 3"/>
          <p:cNvSpPr/>
          <p:nvPr/>
        </p:nvSpPr>
        <p:spPr>
          <a:xfrm>
            <a:off x="685800" y="1371600"/>
            <a:ext cx="384048" cy="384048"/>
          </a:xfrm>
          <a:prstGeom prst="ellipse">
            <a:avLst/>
          </a:prstGeom>
          <a:solidFill>
            <a:srgbClr val="024731"/>
          </a:solidFill>
          <a:ln/>
        </p:spPr>
        <p:txBody>
          <a:bodyPr/>
          <a:lstStyle/>
          <a:p>
            <a:endParaRPr lang="en-US"/>
          </a:p>
        </p:txBody>
      </p:sp>
      <p:sp>
        <p:nvSpPr>
          <p:cNvPr id="6" name="Text 4"/>
          <p:cNvSpPr/>
          <p:nvPr/>
        </p:nvSpPr>
        <p:spPr>
          <a:xfrm>
            <a:off x="685800" y="1371600"/>
            <a:ext cx="384048" cy="384048"/>
          </a:xfrm>
          <a:prstGeom prst="rect">
            <a:avLst/>
          </a:prstGeom>
          <a:noFill/>
          <a:ln/>
        </p:spPr>
        <p:txBody>
          <a:bodyPr wrap="square"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0</a:t>
            </a:r>
            <a:endParaRPr lang="en-US" sz="1600" dirty="0"/>
          </a:p>
        </p:txBody>
      </p:sp>
      <p:sp>
        <p:nvSpPr>
          <p:cNvPr id="7" name="Text 5"/>
          <p:cNvSpPr/>
          <p:nvPr/>
        </p:nvSpPr>
        <p:spPr>
          <a:xfrm>
            <a:off x="2423160" y="1399032"/>
            <a:ext cx="594360" cy="274320"/>
          </a:xfrm>
          <a:prstGeom prst="rect">
            <a:avLst/>
          </a:prstGeom>
          <a:noFill/>
          <a:ln/>
        </p:spPr>
        <p:txBody>
          <a:bodyPr wrap="square" lIns="0" tIns="0" rIns="0" bIns="0" rtlCol="0" anchor="ctr"/>
          <a:lstStyle/>
          <a:p>
            <a:pPr marL="0" indent="0" algn="r">
              <a:buNone/>
            </a:pPr>
            <a:r>
              <a:rPr lang="en-US" sz="1100" b="1" dirty="0">
                <a:solidFill>
                  <a:srgbClr val="024731"/>
                </a:solidFill>
                <a:latin typeface="Open Sans" pitchFamily="34" charset="0"/>
                <a:ea typeface="Open Sans" pitchFamily="34" charset="-122"/>
                <a:cs typeface="Open Sans" pitchFamily="34" charset="-120"/>
              </a:rPr>
              <a:t>5%</a:t>
            </a:r>
            <a:endParaRPr lang="en-US" sz="1100" dirty="0"/>
          </a:p>
        </p:txBody>
      </p:sp>
      <p:sp>
        <p:nvSpPr>
          <p:cNvPr id="8" name="Text 6"/>
          <p:cNvSpPr/>
          <p:nvPr/>
        </p:nvSpPr>
        <p:spPr>
          <a:xfrm>
            <a:off x="1188720" y="1399032"/>
            <a:ext cx="1371600" cy="32004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Repo Setup</a:t>
            </a:r>
            <a:endParaRPr lang="en-US" sz="1200" dirty="0"/>
          </a:p>
        </p:txBody>
      </p:sp>
      <p:sp>
        <p:nvSpPr>
          <p:cNvPr id="9" name="Text 7"/>
          <p:cNvSpPr/>
          <p:nvPr/>
        </p:nvSpPr>
        <p:spPr>
          <a:xfrm>
            <a:off x="685800" y="1874520"/>
            <a:ext cx="2331720" cy="91440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Create GitHub repo with IB-style directory structure. Learn Git, Markdown, READMEs.</a:t>
            </a:r>
            <a:endParaRPr lang="en-US" sz="1000" dirty="0"/>
          </a:p>
        </p:txBody>
      </p:sp>
      <p:sp>
        <p:nvSpPr>
          <p:cNvPr id="10" name="Shape 8"/>
          <p:cNvSpPr/>
          <p:nvPr/>
        </p:nvSpPr>
        <p:spPr>
          <a:xfrm>
            <a:off x="3383280" y="1234440"/>
            <a:ext cx="2606040" cy="16916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11" name="Shape 9"/>
          <p:cNvSpPr/>
          <p:nvPr/>
        </p:nvSpPr>
        <p:spPr>
          <a:xfrm>
            <a:off x="3520440" y="1371600"/>
            <a:ext cx="384048" cy="384048"/>
          </a:xfrm>
          <a:prstGeom prst="ellipse">
            <a:avLst/>
          </a:prstGeom>
          <a:solidFill>
            <a:srgbClr val="024731"/>
          </a:solidFill>
          <a:ln/>
        </p:spPr>
        <p:txBody>
          <a:bodyPr/>
          <a:lstStyle/>
          <a:p>
            <a:endParaRPr lang="en-US"/>
          </a:p>
        </p:txBody>
      </p:sp>
      <p:sp>
        <p:nvSpPr>
          <p:cNvPr id="12" name="Text 10"/>
          <p:cNvSpPr/>
          <p:nvPr/>
        </p:nvSpPr>
        <p:spPr>
          <a:xfrm>
            <a:off x="3520440" y="1371600"/>
            <a:ext cx="384048" cy="384048"/>
          </a:xfrm>
          <a:prstGeom prst="rect">
            <a:avLst/>
          </a:prstGeom>
          <a:noFill/>
          <a:ln/>
        </p:spPr>
        <p:txBody>
          <a:bodyPr wrap="square"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1</a:t>
            </a:r>
            <a:endParaRPr lang="en-US" sz="1600" dirty="0"/>
          </a:p>
        </p:txBody>
      </p:sp>
      <p:sp>
        <p:nvSpPr>
          <p:cNvPr id="13" name="Text 11"/>
          <p:cNvSpPr/>
          <p:nvPr/>
        </p:nvSpPr>
        <p:spPr>
          <a:xfrm>
            <a:off x="5257800" y="1399032"/>
            <a:ext cx="594360" cy="274320"/>
          </a:xfrm>
          <a:prstGeom prst="rect">
            <a:avLst/>
          </a:prstGeom>
          <a:noFill/>
          <a:ln/>
        </p:spPr>
        <p:txBody>
          <a:bodyPr wrap="square" lIns="0" tIns="0" rIns="0" bIns="0" rtlCol="0" anchor="ctr"/>
          <a:lstStyle/>
          <a:p>
            <a:pPr marL="0" indent="0" algn="r">
              <a:buNone/>
            </a:pPr>
            <a:r>
              <a:rPr lang="en-US" sz="1100" b="1" dirty="0">
                <a:solidFill>
                  <a:srgbClr val="024731"/>
                </a:solidFill>
                <a:latin typeface="Open Sans" pitchFamily="34" charset="0"/>
                <a:ea typeface="Open Sans" pitchFamily="34" charset="-122"/>
                <a:cs typeface="Open Sans" pitchFamily="34" charset="-120"/>
              </a:rPr>
              <a:t>20%</a:t>
            </a:r>
            <a:endParaRPr lang="en-US" sz="1100" dirty="0"/>
          </a:p>
        </p:txBody>
      </p:sp>
      <p:sp>
        <p:nvSpPr>
          <p:cNvPr id="14" name="Text 12"/>
          <p:cNvSpPr/>
          <p:nvPr/>
        </p:nvSpPr>
        <p:spPr>
          <a:xfrm>
            <a:off x="4023360" y="1399032"/>
            <a:ext cx="1371600" cy="32004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Ratios Template Upload</a:t>
            </a:r>
            <a:endParaRPr lang="en-US" sz="1200" dirty="0"/>
          </a:p>
        </p:txBody>
      </p:sp>
      <p:sp>
        <p:nvSpPr>
          <p:cNvPr id="15" name="Text 13"/>
          <p:cNvSpPr/>
          <p:nvPr/>
        </p:nvSpPr>
        <p:spPr>
          <a:xfrm>
            <a:off x="3520440" y="1874520"/>
            <a:ext cx="2331720" cy="91440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Use the provided ratios template. Upload an unmodified copy and study its structure.</a:t>
            </a:r>
            <a:endParaRPr lang="en-US" sz="1000" dirty="0"/>
          </a:p>
        </p:txBody>
      </p:sp>
      <p:sp>
        <p:nvSpPr>
          <p:cNvPr id="16" name="Shape 14"/>
          <p:cNvSpPr/>
          <p:nvPr/>
        </p:nvSpPr>
        <p:spPr>
          <a:xfrm>
            <a:off x="6217920" y="1234440"/>
            <a:ext cx="2606040" cy="16916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17" name="Shape 15"/>
          <p:cNvSpPr/>
          <p:nvPr/>
        </p:nvSpPr>
        <p:spPr>
          <a:xfrm>
            <a:off x="6355080" y="1371600"/>
            <a:ext cx="384048" cy="384048"/>
          </a:xfrm>
          <a:prstGeom prst="ellipse">
            <a:avLst/>
          </a:prstGeom>
          <a:solidFill>
            <a:srgbClr val="024731"/>
          </a:solidFill>
          <a:ln/>
        </p:spPr>
        <p:txBody>
          <a:bodyPr/>
          <a:lstStyle/>
          <a:p>
            <a:endParaRPr lang="en-US"/>
          </a:p>
        </p:txBody>
      </p:sp>
      <p:sp>
        <p:nvSpPr>
          <p:cNvPr id="18" name="Text 16"/>
          <p:cNvSpPr/>
          <p:nvPr/>
        </p:nvSpPr>
        <p:spPr>
          <a:xfrm>
            <a:off x="6355080" y="1371600"/>
            <a:ext cx="384048" cy="384048"/>
          </a:xfrm>
          <a:prstGeom prst="rect">
            <a:avLst/>
          </a:prstGeom>
          <a:noFill/>
          <a:ln/>
        </p:spPr>
        <p:txBody>
          <a:bodyPr wrap="square"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2</a:t>
            </a:r>
            <a:endParaRPr lang="en-US" sz="1600" dirty="0"/>
          </a:p>
        </p:txBody>
      </p:sp>
      <p:sp>
        <p:nvSpPr>
          <p:cNvPr id="19" name="Text 17"/>
          <p:cNvSpPr/>
          <p:nvPr/>
        </p:nvSpPr>
        <p:spPr>
          <a:xfrm>
            <a:off x="8092440" y="1399032"/>
            <a:ext cx="594360" cy="274320"/>
          </a:xfrm>
          <a:prstGeom prst="rect">
            <a:avLst/>
          </a:prstGeom>
          <a:noFill/>
          <a:ln/>
        </p:spPr>
        <p:txBody>
          <a:bodyPr wrap="square" lIns="0" tIns="0" rIns="0" bIns="0" rtlCol="0" anchor="ctr"/>
          <a:lstStyle/>
          <a:p>
            <a:pPr marL="0" indent="0" algn="r">
              <a:buNone/>
            </a:pPr>
            <a:r>
              <a:rPr lang="en-US" sz="1100" b="1" dirty="0">
                <a:solidFill>
                  <a:srgbClr val="024731"/>
                </a:solidFill>
                <a:latin typeface="Open Sans" pitchFamily="34" charset="0"/>
                <a:ea typeface="Open Sans" pitchFamily="34" charset="-122"/>
                <a:cs typeface="Open Sans" pitchFamily="34" charset="-120"/>
              </a:rPr>
              <a:t>10%</a:t>
            </a:r>
            <a:endParaRPr lang="en-US" sz="1100" dirty="0"/>
          </a:p>
        </p:txBody>
      </p:sp>
      <p:sp>
        <p:nvSpPr>
          <p:cNvPr id="20" name="Text 18"/>
          <p:cNvSpPr/>
          <p:nvPr/>
        </p:nvSpPr>
        <p:spPr>
          <a:xfrm>
            <a:off x="6858000" y="1399032"/>
            <a:ext cx="1371600" cy="32004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Company Selection Memo</a:t>
            </a:r>
            <a:endParaRPr lang="en-US" sz="1200" dirty="0"/>
          </a:p>
        </p:txBody>
      </p:sp>
      <p:sp>
        <p:nvSpPr>
          <p:cNvPr id="21" name="Text 19"/>
          <p:cNvSpPr/>
          <p:nvPr/>
        </p:nvSpPr>
        <p:spPr>
          <a:xfrm>
            <a:off x="6355080" y="1874520"/>
            <a:ext cx="2331720" cy="91440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Choose your company, frame the analysis, identify data sources and hypotheses.</a:t>
            </a:r>
            <a:endParaRPr lang="en-US" sz="1000" dirty="0"/>
          </a:p>
        </p:txBody>
      </p:sp>
      <p:sp>
        <p:nvSpPr>
          <p:cNvPr id="22" name="Shape 20"/>
          <p:cNvSpPr/>
          <p:nvPr/>
        </p:nvSpPr>
        <p:spPr>
          <a:xfrm>
            <a:off x="548640" y="3108960"/>
            <a:ext cx="2606040" cy="16916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23" name="Shape 21"/>
          <p:cNvSpPr/>
          <p:nvPr/>
        </p:nvSpPr>
        <p:spPr>
          <a:xfrm>
            <a:off x="685800" y="3246120"/>
            <a:ext cx="384048" cy="384048"/>
          </a:xfrm>
          <a:prstGeom prst="ellipse">
            <a:avLst/>
          </a:prstGeom>
          <a:solidFill>
            <a:srgbClr val="024731"/>
          </a:solidFill>
          <a:ln/>
        </p:spPr>
        <p:txBody>
          <a:bodyPr/>
          <a:lstStyle/>
          <a:p>
            <a:endParaRPr lang="en-US"/>
          </a:p>
        </p:txBody>
      </p:sp>
      <p:sp>
        <p:nvSpPr>
          <p:cNvPr id="24" name="Text 22"/>
          <p:cNvSpPr/>
          <p:nvPr/>
        </p:nvSpPr>
        <p:spPr>
          <a:xfrm>
            <a:off x="685800" y="3246120"/>
            <a:ext cx="384048" cy="384048"/>
          </a:xfrm>
          <a:prstGeom prst="rect">
            <a:avLst/>
          </a:prstGeom>
          <a:noFill/>
          <a:ln/>
        </p:spPr>
        <p:txBody>
          <a:bodyPr wrap="square"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3</a:t>
            </a:r>
            <a:endParaRPr lang="en-US" sz="1600" dirty="0"/>
          </a:p>
        </p:txBody>
      </p:sp>
      <p:sp>
        <p:nvSpPr>
          <p:cNvPr id="25" name="Text 23"/>
          <p:cNvSpPr/>
          <p:nvPr/>
        </p:nvSpPr>
        <p:spPr>
          <a:xfrm>
            <a:off x="2423160" y="3273552"/>
            <a:ext cx="594360" cy="274320"/>
          </a:xfrm>
          <a:prstGeom prst="rect">
            <a:avLst/>
          </a:prstGeom>
          <a:noFill/>
          <a:ln/>
        </p:spPr>
        <p:txBody>
          <a:bodyPr wrap="square" lIns="0" tIns="0" rIns="0" bIns="0" rtlCol="0" anchor="ctr"/>
          <a:lstStyle/>
          <a:p>
            <a:pPr marL="0" indent="0" algn="r">
              <a:buNone/>
            </a:pPr>
            <a:r>
              <a:rPr lang="en-US" sz="1100" b="1" dirty="0">
                <a:solidFill>
                  <a:srgbClr val="024731"/>
                </a:solidFill>
                <a:latin typeface="Open Sans" pitchFamily="34" charset="0"/>
                <a:ea typeface="Open Sans" pitchFamily="34" charset="-122"/>
                <a:cs typeface="Open Sans" pitchFamily="34" charset="-120"/>
              </a:rPr>
              <a:t>20%</a:t>
            </a:r>
            <a:endParaRPr lang="en-US" sz="1100" dirty="0"/>
          </a:p>
        </p:txBody>
      </p:sp>
      <p:sp>
        <p:nvSpPr>
          <p:cNvPr id="26" name="Text 24"/>
          <p:cNvSpPr/>
          <p:nvPr/>
        </p:nvSpPr>
        <p:spPr>
          <a:xfrm>
            <a:off x="1188720" y="3273552"/>
            <a:ext cx="1371600" cy="32004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Model Population &amp; Validation</a:t>
            </a:r>
            <a:endParaRPr lang="en-US" sz="1200" dirty="0"/>
          </a:p>
        </p:txBody>
      </p:sp>
      <p:sp>
        <p:nvSpPr>
          <p:cNvPr id="27" name="Text 25"/>
          <p:cNvSpPr/>
          <p:nvPr/>
        </p:nvSpPr>
        <p:spPr>
          <a:xfrm>
            <a:off x="685800" y="3749040"/>
            <a:ext cx="2331720" cy="91440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Populate the template with real financials. Ratios auto-compute. Self-audit with Big 4-style checklist.</a:t>
            </a:r>
            <a:endParaRPr lang="en-US" sz="1000" dirty="0"/>
          </a:p>
        </p:txBody>
      </p:sp>
      <p:sp>
        <p:nvSpPr>
          <p:cNvPr id="28" name="Shape 26"/>
          <p:cNvSpPr/>
          <p:nvPr/>
        </p:nvSpPr>
        <p:spPr>
          <a:xfrm>
            <a:off x="3383280" y="3108960"/>
            <a:ext cx="2606040" cy="16916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29" name="Shape 27"/>
          <p:cNvSpPr/>
          <p:nvPr/>
        </p:nvSpPr>
        <p:spPr>
          <a:xfrm>
            <a:off x="3520440" y="3246120"/>
            <a:ext cx="384048" cy="384048"/>
          </a:xfrm>
          <a:prstGeom prst="ellipse">
            <a:avLst/>
          </a:prstGeom>
          <a:solidFill>
            <a:srgbClr val="C9A84C"/>
          </a:solidFill>
          <a:ln/>
        </p:spPr>
        <p:txBody>
          <a:bodyPr/>
          <a:lstStyle/>
          <a:p>
            <a:endParaRPr lang="en-US"/>
          </a:p>
        </p:txBody>
      </p:sp>
      <p:sp>
        <p:nvSpPr>
          <p:cNvPr id="30" name="Text 28"/>
          <p:cNvSpPr/>
          <p:nvPr/>
        </p:nvSpPr>
        <p:spPr>
          <a:xfrm>
            <a:off x="3520440" y="3246120"/>
            <a:ext cx="384048" cy="384048"/>
          </a:xfrm>
          <a:prstGeom prst="rect">
            <a:avLst/>
          </a:prstGeom>
          <a:noFill/>
          <a:ln/>
        </p:spPr>
        <p:txBody>
          <a:bodyPr wrap="square"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4</a:t>
            </a:r>
            <a:endParaRPr lang="en-US" sz="1600" dirty="0"/>
          </a:p>
        </p:txBody>
      </p:sp>
      <p:sp>
        <p:nvSpPr>
          <p:cNvPr id="31" name="Text 29"/>
          <p:cNvSpPr/>
          <p:nvPr/>
        </p:nvSpPr>
        <p:spPr>
          <a:xfrm>
            <a:off x="5257800" y="3273552"/>
            <a:ext cx="594360" cy="274320"/>
          </a:xfrm>
          <a:prstGeom prst="rect">
            <a:avLst/>
          </a:prstGeom>
          <a:noFill/>
          <a:ln/>
        </p:spPr>
        <p:txBody>
          <a:bodyPr wrap="square" lIns="0" tIns="0" rIns="0" bIns="0" rtlCol="0" anchor="ctr"/>
          <a:lstStyle/>
          <a:p>
            <a:pPr marL="0" indent="0" algn="r">
              <a:buNone/>
            </a:pPr>
            <a:r>
              <a:rPr lang="en-US" sz="1100" b="1" dirty="0">
                <a:solidFill>
                  <a:srgbClr val="024731"/>
                </a:solidFill>
                <a:latin typeface="Open Sans" pitchFamily="34" charset="0"/>
                <a:ea typeface="Open Sans" pitchFamily="34" charset="-122"/>
                <a:cs typeface="Open Sans" pitchFamily="34" charset="-120"/>
              </a:rPr>
              <a:t>20%</a:t>
            </a:r>
            <a:endParaRPr lang="en-US" sz="1100" dirty="0"/>
          </a:p>
        </p:txBody>
      </p:sp>
      <p:sp>
        <p:nvSpPr>
          <p:cNvPr id="32" name="Text 30"/>
          <p:cNvSpPr/>
          <p:nvPr/>
        </p:nvSpPr>
        <p:spPr>
          <a:xfrm>
            <a:off x="4023360" y="3273552"/>
            <a:ext cx="1371600" cy="32004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Technical Specification</a:t>
            </a:r>
            <a:endParaRPr lang="en-US" sz="1200" dirty="0"/>
          </a:p>
        </p:txBody>
      </p:sp>
      <p:sp>
        <p:nvSpPr>
          <p:cNvPr id="33" name="Text 31"/>
          <p:cNvSpPr/>
          <p:nvPr/>
        </p:nvSpPr>
        <p:spPr>
          <a:xfrm>
            <a:off x="3520440" y="3749040"/>
            <a:ext cx="2331720" cy="91440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Use an LLM to draft a spec defining the model AND the analysis. Edit, refine, and log every prompt.</a:t>
            </a:r>
            <a:endParaRPr lang="en-US" sz="1000" dirty="0"/>
          </a:p>
        </p:txBody>
      </p:sp>
      <p:sp>
        <p:nvSpPr>
          <p:cNvPr id="34" name="Shape 32"/>
          <p:cNvSpPr/>
          <p:nvPr/>
        </p:nvSpPr>
        <p:spPr>
          <a:xfrm>
            <a:off x="6217920" y="3108960"/>
            <a:ext cx="2606040" cy="16916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35" name="Shape 33"/>
          <p:cNvSpPr/>
          <p:nvPr/>
        </p:nvSpPr>
        <p:spPr>
          <a:xfrm>
            <a:off x="6355080" y="3246120"/>
            <a:ext cx="384048" cy="384048"/>
          </a:xfrm>
          <a:prstGeom prst="ellipse">
            <a:avLst/>
          </a:prstGeom>
          <a:solidFill>
            <a:srgbClr val="024731"/>
          </a:solidFill>
          <a:ln/>
        </p:spPr>
        <p:txBody>
          <a:bodyPr/>
          <a:lstStyle/>
          <a:p>
            <a:endParaRPr lang="en-US"/>
          </a:p>
        </p:txBody>
      </p:sp>
      <p:sp>
        <p:nvSpPr>
          <p:cNvPr id="36" name="Text 34"/>
          <p:cNvSpPr/>
          <p:nvPr/>
        </p:nvSpPr>
        <p:spPr>
          <a:xfrm>
            <a:off x="6355080" y="3246120"/>
            <a:ext cx="384048" cy="384048"/>
          </a:xfrm>
          <a:prstGeom prst="rect">
            <a:avLst/>
          </a:prstGeom>
          <a:noFill/>
          <a:ln/>
        </p:spPr>
        <p:txBody>
          <a:bodyPr wrap="square"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5</a:t>
            </a:r>
            <a:endParaRPr lang="en-US" sz="1600" dirty="0"/>
          </a:p>
        </p:txBody>
      </p:sp>
      <p:sp>
        <p:nvSpPr>
          <p:cNvPr id="37" name="Text 35"/>
          <p:cNvSpPr/>
          <p:nvPr/>
        </p:nvSpPr>
        <p:spPr>
          <a:xfrm>
            <a:off x="8092440" y="3273552"/>
            <a:ext cx="594360" cy="274320"/>
          </a:xfrm>
          <a:prstGeom prst="rect">
            <a:avLst/>
          </a:prstGeom>
          <a:noFill/>
          <a:ln/>
        </p:spPr>
        <p:txBody>
          <a:bodyPr wrap="square" lIns="0" tIns="0" rIns="0" bIns="0" rtlCol="0" anchor="ctr"/>
          <a:lstStyle/>
          <a:p>
            <a:pPr marL="0" indent="0" algn="r">
              <a:buNone/>
            </a:pPr>
            <a:r>
              <a:rPr lang="en-US" sz="1100" b="1" dirty="0">
                <a:solidFill>
                  <a:srgbClr val="024731"/>
                </a:solidFill>
                <a:latin typeface="Open Sans" pitchFamily="34" charset="0"/>
                <a:ea typeface="Open Sans" pitchFamily="34" charset="-122"/>
                <a:cs typeface="Open Sans" pitchFamily="34" charset="-120"/>
              </a:rPr>
              <a:t>25%</a:t>
            </a:r>
            <a:endParaRPr lang="en-US" sz="1100" dirty="0"/>
          </a:p>
        </p:txBody>
      </p:sp>
      <p:sp>
        <p:nvSpPr>
          <p:cNvPr id="38" name="Text 36"/>
          <p:cNvSpPr/>
          <p:nvPr/>
        </p:nvSpPr>
        <p:spPr>
          <a:xfrm>
            <a:off x="6858000" y="3273552"/>
            <a:ext cx="1371600" cy="32004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LLM Analysis &amp; Evaluation</a:t>
            </a:r>
            <a:endParaRPr lang="en-US" sz="1200" dirty="0"/>
          </a:p>
        </p:txBody>
      </p:sp>
      <p:sp>
        <p:nvSpPr>
          <p:cNvPr id="39" name="Text 37"/>
          <p:cNvSpPr/>
          <p:nvPr/>
        </p:nvSpPr>
        <p:spPr>
          <a:xfrm>
            <a:off x="6355080" y="3749040"/>
            <a:ext cx="2331720" cy="91440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Execute the spec, write the full analysis, evaluate AI output, polish your repo. Own the final product.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4731"/>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The Spec-Driven Design Arc</a:t>
            </a:r>
            <a:endParaRPr lang="en-US" sz="2800" dirty="0"/>
          </a:p>
        </p:txBody>
      </p:sp>
      <p:sp>
        <p:nvSpPr>
          <p:cNvPr id="3" name="Shape 1"/>
          <p:cNvSpPr/>
          <p:nvPr/>
        </p:nvSpPr>
        <p:spPr>
          <a:xfrm>
            <a:off x="548640" y="1051560"/>
            <a:ext cx="3840480" cy="365760"/>
          </a:xfrm>
          <a:prstGeom prst="rect">
            <a:avLst/>
          </a:prstGeom>
          <a:solidFill>
            <a:srgbClr val="4DA78F">
              <a:alpha val="70000"/>
            </a:srgbClr>
          </a:solidFill>
          <a:ln/>
        </p:spPr>
        <p:txBody>
          <a:bodyPr/>
          <a:lstStyle/>
          <a:p>
            <a:endParaRPr lang="en-US"/>
          </a:p>
        </p:txBody>
      </p:sp>
      <p:sp>
        <p:nvSpPr>
          <p:cNvPr id="4" name="Text 2"/>
          <p:cNvSpPr/>
          <p:nvPr/>
        </p:nvSpPr>
        <p:spPr>
          <a:xfrm>
            <a:off x="548640" y="1051560"/>
            <a:ext cx="3840480" cy="365760"/>
          </a:xfrm>
          <a:prstGeom prst="rect">
            <a:avLst/>
          </a:prstGeom>
          <a:noFill/>
          <a:ln/>
        </p:spPr>
        <p:txBody>
          <a:bodyPr wrap="square" rtlCol="0" anchor="ctr"/>
          <a:lstStyle/>
          <a:p>
            <a:pPr marL="0" indent="0" algn="ctr">
              <a:buNone/>
            </a:pPr>
            <a:r>
              <a:rPr lang="en-US" sz="1100" b="1" kern="0" spc="150" dirty="0">
                <a:solidFill>
                  <a:srgbClr val="FFFFFF"/>
                </a:solidFill>
                <a:latin typeface="Open Sans" pitchFamily="34" charset="0"/>
                <a:ea typeface="Open Sans" pitchFamily="34" charset="-122"/>
                <a:cs typeface="Open Sans" pitchFamily="34" charset="-120"/>
              </a:rPr>
              <a:t>TACIT KNOWLEDGE ACQUISITION</a:t>
            </a:r>
            <a:endParaRPr lang="en-US" sz="1100" dirty="0"/>
          </a:p>
        </p:txBody>
      </p:sp>
      <p:sp>
        <p:nvSpPr>
          <p:cNvPr id="5" name="Shape 3"/>
          <p:cNvSpPr/>
          <p:nvPr/>
        </p:nvSpPr>
        <p:spPr>
          <a:xfrm>
            <a:off x="4754880" y="1051560"/>
            <a:ext cx="3840480" cy="365760"/>
          </a:xfrm>
          <a:prstGeom prst="rect">
            <a:avLst/>
          </a:prstGeom>
          <a:solidFill>
            <a:srgbClr val="C9A84C">
              <a:alpha val="70000"/>
            </a:srgbClr>
          </a:solidFill>
          <a:ln/>
        </p:spPr>
        <p:txBody>
          <a:bodyPr/>
          <a:lstStyle/>
          <a:p>
            <a:endParaRPr lang="en-US"/>
          </a:p>
        </p:txBody>
      </p:sp>
      <p:sp>
        <p:nvSpPr>
          <p:cNvPr id="6" name="Text 4"/>
          <p:cNvSpPr/>
          <p:nvPr/>
        </p:nvSpPr>
        <p:spPr>
          <a:xfrm>
            <a:off x="4754880" y="1051560"/>
            <a:ext cx="3840480" cy="365760"/>
          </a:xfrm>
          <a:prstGeom prst="rect">
            <a:avLst/>
          </a:prstGeom>
          <a:noFill/>
          <a:ln/>
        </p:spPr>
        <p:txBody>
          <a:bodyPr wrap="square" rtlCol="0" anchor="ctr"/>
          <a:lstStyle/>
          <a:p>
            <a:pPr marL="0" indent="0" algn="ctr">
              <a:buNone/>
            </a:pPr>
            <a:r>
              <a:rPr lang="en-US" sz="1100" b="1" kern="0" spc="150" dirty="0">
                <a:solidFill>
                  <a:srgbClr val="FFFFFF"/>
                </a:solidFill>
                <a:latin typeface="Open Sans" pitchFamily="34" charset="0"/>
                <a:ea typeface="Open Sans" pitchFamily="34" charset="-122"/>
                <a:cs typeface="Open Sans" pitchFamily="34" charset="-120"/>
              </a:rPr>
              <a:t>KNOWLEDGE EXTERNALIZATION</a:t>
            </a:r>
            <a:endParaRPr lang="en-US" sz="1100" dirty="0"/>
          </a:p>
        </p:txBody>
      </p:sp>
      <p:sp>
        <p:nvSpPr>
          <p:cNvPr id="7" name="Shape 5"/>
          <p:cNvSpPr/>
          <p:nvPr/>
        </p:nvSpPr>
        <p:spPr>
          <a:xfrm>
            <a:off x="731520" y="1737360"/>
            <a:ext cx="502920" cy="502920"/>
          </a:xfrm>
          <a:prstGeom prst="ellipse">
            <a:avLst/>
          </a:prstGeom>
          <a:solidFill>
            <a:srgbClr val="4DA78F"/>
          </a:solidFill>
          <a:ln/>
        </p:spPr>
        <p:txBody>
          <a:bodyPr/>
          <a:lstStyle/>
          <a:p>
            <a:endParaRPr lang="en-US"/>
          </a:p>
        </p:txBody>
      </p:sp>
      <p:sp>
        <p:nvSpPr>
          <p:cNvPr id="8" name="Text 6"/>
          <p:cNvSpPr/>
          <p:nvPr/>
        </p:nvSpPr>
        <p:spPr>
          <a:xfrm>
            <a:off x="731520" y="1737360"/>
            <a:ext cx="502920" cy="502920"/>
          </a:xfrm>
          <a:prstGeom prst="rect">
            <a:avLst/>
          </a:prstGeom>
          <a:noFill/>
          <a:ln/>
        </p:spPr>
        <p:txBody>
          <a:bodyPr wrap="square" rtlCol="0" anchor="ctr"/>
          <a:lstStyle/>
          <a:p>
            <a:pPr marL="0" indent="0" algn="ctr">
              <a:buNone/>
            </a:pPr>
            <a:r>
              <a:rPr lang="en-US" sz="1800" b="1" dirty="0">
                <a:solidFill>
                  <a:srgbClr val="024731"/>
                </a:solidFill>
                <a:latin typeface="Open Sans" pitchFamily="34" charset="0"/>
                <a:ea typeface="Open Sans" pitchFamily="34" charset="-122"/>
                <a:cs typeface="Open Sans" pitchFamily="34" charset="-120"/>
              </a:rPr>
              <a:t>0</a:t>
            </a:r>
            <a:endParaRPr lang="en-US" sz="1800" dirty="0"/>
          </a:p>
        </p:txBody>
      </p:sp>
      <p:sp>
        <p:nvSpPr>
          <p:cNvPr id="9" name="Shape 7"/>
          <p:cNvSpPr/>
          <p:nvPr/>
        </p:nvSpPr>
        <p:spPr>
          <a:xfrm>
            <a:off x="1280160" y="1988820"/>
            <a:ext cx="777240" cy="0"/>
          </a:xfrm>
          <a:prstGeom prst="line">
            <a:avLst/>
          </a:prstGeom>
          <a:noFill/>
          <a:ln w="25400">
            <a:solidFill>
              <a:srgbClr val="4DA78F"/>
            </a:solidFill>
            <a:prstDash val="dash"/>
          </a:ln>
        </p:spPr>
        <p:txBody>
          <a:bodyPr/>
          <a:lstStyle/>
          <a:p>
            <a:endParaRPr lang="en-US"/>
          </a:p>
        </p:txBody>
      </p:sp>
      <p:sp>
        <p:nvSpPr>
          <p:cNvPr id="10" name="Text 8"/>
          <p:cNvSpPr/>
          <p:nvPr/>
        </p:nvSpPr>
        <p:spPr>
          <a:xfrm>
            <a:off x="457200" y="2331720"/>
            <a:ext cx="1051560" cy="502920"/>
          </a:xfrm>
          <a:prstGeom prst="rect">
            <a:avLst/>
          </a:prstGeom>
          <a:noFill/>
          <a:ln/>
        </p:spPr>
        <p:txBody>
          <a:bodyPr wrap="square" rtlCol="0" anchor="ctr"/>
          <a:lstStyle/>
          <a:p>
            <a:pPr marL="0" indent="0" algn="ctr">
              <a:buNone/>
            </a:pPr>
            <a:r>
              <a:rPr lang="en-US" sz="1000" dirty="0">
                <a:solidFill>
                  <a:srgbClr val="B8DDD1"/>
                </a:solidFill>
                <a:latin typeface="Open Sans" pitchFamily="34" charset="0"/>
                <a:ea typeface="Open Sans" pitchFamily="34" charset="-122"/>
                <a:cs typeface="Open Sans" pitchFamily="34" charset="-120"/>
              </a:rPr>
              <a:t>Set up the</a:t>
            </a:r>
            <a:endParaRPr lang="en-US" sz="1000" dirty="0"/>
          </a:p>
          <a:p>
            <a:pPr marL="0" indent="0" algn="ctr">
              <a:buNone/>
            </a:pPr>
            <a:r>
              <a:rPr lang="en-US" sz="1000" dirty="0">
                <a:solidFill>
                  <a:srgbClr val="B8DDD1"/>
                </a:solidFill>
                <a:latin typeface="Open Sans" pitchFamily="34" charset="0"/>
                <a:ea typeface="Open Sans" pitchFamily="34" charset="-122"/>
                <a:cs typeface="Open Sans" pitchFamily="34" charset="-120"/>
              </a:rPr>
              <a:t>workspace</a:t>
            </a:r>
            <a:endParaRPr lang="en-US" sz="1000" dirty="0"/>
          </a:p>
        </p:txBody>
      </p:sp>
      <p:sp>
        <p:nvSpPr>
          <p:cNvPr id="11" name="Text 9"/>
          <p:cNvSpPr/>
          <p:nvPr/>
        </p:nvSpPr>
        <p:spPr>
          <a:xfrm>
            <a:off x="457200" y="2834640"/>
            <a:ext cx="1051560" cy="320040"/>
          </a:xfrm>
          <a:prstGeom prst="rect">
            <a:avLst/>
          </a:prstGeom>
          <a:noFill/>
          <a:ln/>
        </p:spPr>
        <p:txBody>
          <a:bodyPr wrap="square" rtlCol="0" anchor="ctr"/>
          <a:lstStyle/>
          <a:p>
            <a:pPr marL="0" indent="0" algn="ctr">
              <a:buNone/>
            </a:pPr>
            <a:r>
              <a:rPr lang="en-US" sz="900" i="1" dirty="0">
                <a:solidFill>
                  <a:srgbClr val="4DA78F"/>
                </a:solidFill>
                <a:latin typeface="Open Sans" pitchFamily="34" charset="0"/>
                <a:ea typeface="Open Sans" pitchFamily="34" charset="-122"/>
                <a:cs typeface="Open Sans" pitchFamily="34" charset="-120"/>
              </a:rPr>
              <a:t>“We organized it”</a:t>
            </a:r>
            <a:endParaRPr lang="en-US" sz="900" dirty="0"/>
          </a:p>
        </p:txBody>
      </p:sp>
      <p:sp>
        <p:nvSpPr>
          <p:cNvPr id="12" name="Shape 10"/>
          <p:cNvSpPr/>
          <p:nvPr/>
        </p:nvSpPr>
        <p:spPr>
          <a:xfrm>
            <a:off x="2103120" y="1737360"/>
            <a:ext cx="502920" cy="502920"/>
          </a:xfrm>
          <a:prstGeom prst="ellipse">
            <a:avLst/>
          </a:prstGeom>
          <a:solidFill>
            <a:srgbClr val="4DA78F"/>
          </a:solidFill>
          <a:ln/>
        </p:spPr>
        <p:txBody>
          <a:bodyPr/>
          <a:lstStyle/>
          <a:p>
            <a:endParaRPr lang="en-US"/>
          </a:p>
        </p:txBody>
      </p:sp>
      <p:sp>
        <p:nvSpPr>
          <p:cNvPr id="13" name="Text 11"/>
          <p:cNvSpPr/>
          <p:nvPr/>
        </p:nvSpPr>
        <p:spPr>
          <a:xfrm>
            <a:off x="2103120" y="1737360"/>
            <a:ext cx="502920" cy="502920"/>
          </a:xfrm>
          <a:prstGeom prst="rect">
            <a:avLst/>
          </a:prstGeom>
          <a:noFill/>
          <a:ln/>
        </p:spPr>
        <p:txBody>
          <a:bodyPr wrap="square" rtlCol="0" anchor="ctr"/>
          <a:lstStyle/>
          <a:p>
            <a:pPr marL="0" indent="0" algn="ctr">
              <a:buNone/>
            </a:pPr>
            <a:r>
              <a:rPr lang="en-US" sz="1800" b="1" dirty="0">
                <a:solidFill>
                  <a:srgbClr val="024731"/>
                </a:solidFill>
                <a:latin typeface="Open Sans" pitchFamily="34" charset="0"/>
                <a:ea typeface="Open Sans" pitchFamily="34" charset="-122"/>
                <a:cs typeface="Open Sans" pitchFamily="34" charset="-120"/>
              </a:rPr>
              <a:t>1</a:t>
            </a:r>
            <a:endParaRPr lang="en-US" sz="1800" dirty="0"/>
          </a:p>
        </p:txBody>
      </p:sp>
      <p:sp>
        <p:nvSpPr>
          <p:cNvPr id="14" name="Shape 12"/>
          <p:cNvSpPr/>
          <p:nvPr/>
        </p:nvSpPr>
        <p:spPr>
          <a:xfrm>
            <a:off x="2651760" y="1988820"/>
            <a:ext cx="777240" cy="0"/>
          </a:xfrm>
          <a:prstGeom prst="line">
            <a:avLst/>
          </a:prstGeom>
          <a:noFill/>
          <a:ln w="25400">
            <a:solidFill>
              <a:srgbClr val="4DA78F"/>
            </a:solidFill>
            <a:prstDash val="dash"/>
          </a:ln>
        </p:spPr>
        <p:txBody>
          <a:bodyPr/>
          <a:lstStyle/>
          <a:p>
            <a:endParaRPr lang="en-US"/>
          </a:p>
        </p:txBody>
      </p:sp>
      <p:sp>
        <p:nvSpPr>
          <p:cNvPr id="15" name="Text 13"/>
          <p:cNvSpPr/>
          <p:nvPr/>
        </p:nvSpPr>
        <p:spPr>
          <a:xfrm>
            <a:off x="1828800" y="2331720"/>
            <a:ext cx="1051560" cy="502920"/>
          </a:xfrm>
          <a:prstGeom prst="rect">
            <a:avLst/>
          </a:prstGeom>
          <a:noFill/>
          <a:ln/>
        </p:spPr>
        <p:txBody>
          <a:bodyPr wrap="square" rtlCol="0" anchor="ctr"/>
          <a:lstStyle/>
          <a:p>
            <a:pPr marL="0" indent="0" algn="ctr">
              <a:buNone/>
            </a:pPr>
            <a:r>
              <a:rPr lang="en-US" sz="1000" dirty="0">
                <a:solidFill>
                  <a:srgbClr val="B8DDD1"/>
                </a:solidFill>
                <a:latin typeface="Open Sans" pitchFamily="34" charset="0"/>
                <a:ea typeface="Open Sans" pitchFamily="34" charset="-122"/>
                <a:cs typeface="Open Sans" pitchFamily="34" charset="-120"/>
              </a:rPr>
              <a:t>Study the</a:t>
            </a:r>
            <a:endParaRPr lang="en-US" sz="1000" dirty="0"/>
          </a:p>
          <a:p>
            <a:pPr marL="0" indent="0" algn="ctr">
              <a:buNone/>
            </a:pPr>
            <a:r>
              <a:rPr lang="en-US" sz="1000" dirty="0">
                <a:solidFill>
                  <a:srgbClr val="B8DDD1"/>
                </a:solidFill>
                <a:latin typeface="Open Sans" pitchFamily="34" charset="0"/>
                <a:ea typeface="Open Sans" pitchFamily="34" charset="-122"/>
                <a:cs typeface="Open Sans" pitchFamily="34" charset="-120"/>
              </a:rPr>
              <a:t>container</a:t>
            </a:r>
            <a:endParaRPr lang="en-US" sz="1000" dirty="0"/>
          </a:p>
        </p:txBody>
      </p:sp>
      <p:sp>
        <p:nvSpPr>
          <p:cNvPr id="16" name="Text 14"/>
          <p:cNvSpPr/>
          <p:nvPr/>
        </p:nvSpPr>
        <p:spPr>
          <a:xfrm>
            <a:off x="1828800" y="2834640"/>
            <a:ext cx="1051560" cy="320040"/>
          </a:xfrm>
          <a:prstGeom prst="rect">
            <a:avLst/>
          </a:prstGeom>
          <a:noFill/>
          <a:ln/>
        </p:spPr>
        <p:txBody>
          <a:bodyPr wrap="square" rtlCol="0" anchor="ctr"/>
          <a:lstStyle/>
          <a:p>
            <a:pPr marL="0" indent="0" algn="ctr">
              <a:buNone/>
            </a:pPr>
            <a:r>
              <a:rPr lang="en-US" sz="900" i="1" dirty="0">
                <a:solidFill>
                  <a:srgbClr val="4DA78F"/>
                </a:solidFill>
                <a:latin typeface="Open Sans" pitchFamily="34" charset="0"/>
                <a:ea typeface="Open Sans" pitchFamily="34" charset="-122"/>
                <a:cs typeface="Open Sans" pitchFamily="34" charset="-120"/>
              </a:rPr>
              <a:t>“I see how it’s built”</a:t>
            </a:r>
            <a:endParaRPr lang="en-US" sz="900" dirty="0"/>
          </a:p>
        </p:txBody>
      </p:sp>
      <p:sp>
        <p:nvSpPr>
          <p:cNvPr id="17" name="Shape 15"/>
          <p:cNvSpPr/>
          <p:nvPr/>
        </p:nvSpPr>
        <p:spPr>
          <a:xfrm>
            <a:off x="3474720" y="1737360"/>
            <a:ext cx="502920" cy="502920"/>
          </a:xfrm>
          <a:prstGeom prst="ellipse">
            <a:avLst/>
          </a:prstGeom>
          <a:solidFill>
            <a:srgbClr val="4DA78F"/>
          </a:solidFill>
          <a:ln/>
        </p:spPr>
        <p:txBody>
          <a:bodyPr/>
          <a:lstStyle/>
          <a:p>
            <a:endParaRPr lang="en-US"/>
          </a:p>
        </p:txBody>
      </p:sp>
      <p:sp>
        <p:nvSpPr>
          <p:cNvPr id="18" name="Text 16"/>
          <p:cNvSpPr/>
          <p:nvPr/>
        </p:nvSpPr>
        <p:spPr>
          <a:xfrm>
            <a:off x="3474720" y="1737360"/>
            <a:ext cx="502920" cy="502920"/>
          </a:xfrm>
          <a:prstGeom prst="rect">
            <a:avLst/>
          </a:prstGeom>
          <a:noFill/>
          <a:ln/>
        </p:spPr>
        <p:txBody>
          <a:bodyPr wrap="square" rtlCol="0" anchor="ctr"/>
          <a:lstStyle/>
          <a:p>
            <a:pPr marL="0" indent="0" algn="ctr">
              <a:buNone/>
            </a:pPr>
            <a:r>
              <a:rPr lang="en-US" sz="1800" b="1" dirty="0">
                <a:solidFill>
                  <a:srgbClr val="024731"/>
                </a:solidFill>
                <a:latin typeface="Open Sans" pitchFamily="34" charset="0"/>
                <a:ea typeface="Open Sans" pitchFamily="34" charset="-122"/>
                <a:cs typeface="Open Sans" pitchFamily="34" charset="-120"/>
              </a:rPr>
              <a:t>2</a:t>
            </a:r>
            <a:endParaRPr lang="en-US" sz="1800" dirty="0"/>
          </a:p>
        </p:txBody>
      </p:sp>
      <p:sp>
        <p:nvSpPr>
          <p:cNvPr id="19" name="Shape 17"/>
          <p:cNvSpPr/>
          <p:nvPr/>
        </p:nvSpPr>
        <p:spPr>
          <a:xfrm>
            <a:off x="4023360" y="1988820"/>
            <a:ext cx="777240" cy="0"/>
          </a:xfrm>
          <a:prstGeom prst="line">
            <a:avLst/>
          </a:prstGeom>
          <a:noFill/>
          <a:ln w="25400">
            <a:solidFill>
              <a:srgbClr val="4DA78F"/>
            </a:solidFill>
            <a:prstDash val="dash"/>
          </a:ln>
        </p:spPr>
        <p:txBody>
          <a:bodyPr/>
          <a:lstStyle/>
          <a:p>
            <a:endParaRPr lang="en-US"/>
          </a:p>
        </p:txBody>
      </p:sp>
      <p:sp>
        <p:nvSpPr>
          <p:cNvPr id="20" name="Text 18"/>
          <p:cNvSpPr/>
          <p:nvPr/>
        </p:nvSpPr>
        <p:spPr>
          <a:xfrm>
            <a:off x="3200400" y="2331720"/>
            <a:ext cx="1051560" cy="502920"/>
          </a:xfrm>
          <a:prstGeom prst="rect">
            <a:avLst/>
          </a:prstGeom>
          <a:noFill/>
          <a:ln/>
        </p:spPr>
        <p:txBody>
          <a:bodyPr wrap="square" rtlCol="0" anchor="ctr"/>
          <a:lstStyle/>
          <a:p>
            <a:pPr marL="0" indent="0" algn="ctr">
              <a:buNone/>
            </a:pPr>
            <a:r>
              <a:rPr lang="en-US" sz="1000" dirty="0">
                <a:solidFill>
                  <a:srgbClr val="B8DDD1"/>
                </a:solidFill>
                <a:latin typeface="Open Sans" pitchFamily="34" charset="0"/>
                <a:ea typeface="Open Sans" pitchFamily="34" charset="-122"/>
                <a:cs typeface="Open Sans" pitchFamily="34" charset="-120"/>
              </a:rPr>
              <a:t>Frame the</a:t>
            </a:r>
            <a:endParaRPr lang="en-US" sz="1000" dirty="0"/>
          </a:p>
          <a:p>
            <a:pPr marL="0" indent="0" algn="ctr">
              <a:buNone/>
            </a:pPr>
            <a:r>
              <a:rPr lang="en-US" sz="1000" dirty="0">
                <a:solidFill>
                  <a:srgbClr val="B8DDD1"/>
                </a:solidFill>
                <a:latin typeface="Open Sans" pitchFamily="34" charset="0"/>
                <a:ea typeface="Open Sans" pitchFamily="34" charset="-122"/>
                <a:cs typeface="Open Sans" pitchFamily="34" charset="-120"/>
              </a:rPr>
              <a:t>analysis</a:t>
            </a:r>
            <a:endParaRPr lang="en-US" sz="1000" dirty="0"/>
          </a:p>
        </p:txBody>
      </p:sp>
      <p:sp>
        <p:nvSpPr>
          <p:cNvPr id="21" name="Text 19"/>
          <p:cNvSpPr/>
          <p:nvPr/>
        </p:nvSpPr>
        <p:spPr>
          <a:xfrm>
            <a:off x="3200400" y="2834640"/>
            <a:ext cx="1051560" cy="320040"/>
          </a:xfrm>
          <a:prstGeom prst="rect">
            <a:avLst/>
          </a:prstGeom>
          <a:noFill/>
          <a:ln/>
        </p:spPr>
        <p:txBody>
          <a:bodyPr wrap="square" rtlCol="0" anchor="ctr"/>
          <a:lstStyle/>
          <a:p>
            <a:pPr marL="0" indent="0" algn="ctr">
              <a:buNone/>
            </a:pPr>
            <a:r>
              <a:rPr lang="en-US" sz="900" i="1" dirty="0">
                <a:solidFill>
                  <a:srgbClr val="4DA78F"/>
                </a:solidFill>
                <a:latin typeface="Open Sans" pitchFamily="34" charset="0"/>
                <a:ea typeface="Open Sans" pitchFamily="34" charset="-122"/>
                <a:cs typeface="Open Sans" pitchFamily="34" charset="-120"/>
              </a:rPr>
              <a:t>“I chose why”</a:t>
            </a:r>
            <a:endParaRPr lang="en-US" sz="900" dirty="0"/>
          </a:p>
        </p:txBody>
      </p:sp>
      <p:sp>
        <p:nvSpPr>
          <p:cNvPr id="22" name="Shape 20"/>
          <p:cNvSpPr/>
          <p:nvPr/>
        </p:nvSpPr>
        <p:spPr>
          <a:xfrm>
            <a:off x="4846320" y="1737360"/>
            <a:ext cx="502920" cy="502920"/>
          </a:xfrm>
          <a:prstGeom prst="ellipse">
            <a:avLst/>
          </a:prstGeom>
          <a:solidFill>
            <a:srgbClr val="4DA78F"/>
          </a:solidFill>
          <a:ln/>
        </p:spPr>
        <p:txBody>
          <a:bodyPr/>
          <a:lstStyle/>
          <a:p>
            <a:endParaRPr lang="en-US"/>
          </a:p>
        </p:txBody>
      </p:sp>
      <p:sp>
        <p:nvSpPr>
          <p:cNvPr id="23" name="Text 21"/>
          <p:cNvSpPr/>
          <p:nvPr/>
        </p:nvSpPr>
        <p:spPr>
          <a:xfrm>
            <a:off x="4846320" y="1737360"/>
            <a:ext cx="502920" cy="502920"/>
          </a:xfrm>
          <a:prstGeom prst="rect">
            <a:avLst/>
          </a:prstGeom>
          <a:noFill/>
          <a:ln/>
        </p:spPr>
        <p:txBody>
          <a:bodyPr wrap="square" rtlCol="0" anchor="ctr"/>
          <a:lstStyle/>
          <a:p>
            <a:pPr marL="0" indent="0" algn="ctr">
              <a:buNone/>
            </a:pPr>
            <a:r>
              <a:rPr lang="en-US" sz="1800" b="1" dirty="0">
                <a:solidFill>
                  <a:srgbClr val="024731"/>
                </a:solidFill>
                <a:latin typeface="Open Sans" pitchFamily="34" charset="0"/>
                <a:ea typeface="Open Sans" pitchFamily="34" charset="-122"/>
                <a:cs typeface="Open Sans" pitchFamily="34" charset="-120"/>
              </a:rPr>
              <a:t>3</a:t>
            </a:r>
            <a:endParaRPr lang="en-US" sz="1800" dirty="0"/>
          </a:p>
        </p:txBody>
      </p:sp>
      <p:sp>
        <p:nvSpPr>
          <p:cNvPr id="24" name="Shape 22"/>
          <p:cNvSpPr/>
          <p:nvPr/>
        </p:nvSpPr>
        <p:spPr>
          <a:xfrm>
            <a:off x="5394960" y="1988820"/>
            <a:ext cx="777240" cy="0"/>
          </a:xfrm>
          <a:prstGeom prst="line">
            <a:avLst/>
          </a:prstGeom>
          <a:noFill/>
          <a:ln w="25400">
            <a:solidFill>
              <a:srgbClr val="4DA78F"/>
            </a:solidFill>
            <a:prstDash val="dash"/>
          </a:ln>
        </p:spPr>
        <p:txBody>
          <a:bodyPr/>
          <a:lstStyle/>
          <a:p>
            <a:endParaRPr lang="en-US"/>
          </a:p>
        </p:txBody>
      </p:sp>
      <p:sp>
        <p:nvSpPr>
          <p:cNvPr id="25" name="Text 23"/>
          <p:cNvSpPr/>
          <p:nvPr/>
        </p:nvSpPr>
        <p:spPr>
          <a:xfrm>
            <a:off x="4572000" y="2331720"/>
            <a:ext cx="1051560" cy="502920"/>
          </a:xfrm>
          <a:prstGeom prst="rect">
            <a:avLst/>
          </a:prstGeom>
          <a:noFill/>
          <a:ln/>
        </p:spPr>
        <p:txBody>
          <a:bodyPr wrap="square" rtlCol="0" anchor="ctr"/>
          <a:lstStyle/>
          <a:p>
            <a:pPr marL="0" indent="0" algn="ctr">
              <a:buNone/>
            </a:pPr>
            <a:r>
              <a:rPr lang="en-US" sz="1000" dirty="0">
                <a:solidFill>
                  <a:srgbClr val="B8DDD1"/>
                </a:solidFill>
                <a:latin typeface="Open Sans" pitchFamily="34" charset="0"/>
                <a:ea typeface="Open Sans" pitchFamily="34" charset="-122"/>
                <a:cs typeface="Open Sans" pitchFamily="34" charset="-120"/>
              </a:rPr>
              <a:t>Populate &amp;</a:t>
            </a:r>
            <a:endParaRPr lang="en-US" sz="1000" dirty="0"/>
          </a:p>
          <a:p>
            <a:pPr marL="0" indent="0" algn="ctr">
              <a:buNone/>
            </a:pPr>
            <a:r>
              <a:rPr lang="en-US" sz="1000" dirty="0">
                <a:solidFill>
                  <a:srgbClr val="B8DDD1"/>
                </a:solidFill>
                <a:latin typeface="Open Sans" pitchFamily="34" charset="0"/>
                <a:ea typeface="Open Sans" pitchFamily="34" charset="-122"/>
                <a:cs typeface="Open Sans" pitchFamily="34" charset="-120"/>
              </a:rPr>
              <a:t>validate</a:t>
            </a:r>
            <a:endParaRPr lang="en-US" sz="1000" dirty="0"/>
          </a:p>
        </p:txBody>
      </p:sp>
      <p:sp>
        <p:nvSpPr>
          <p:cNvPr id="26" name="Text 24"/>
          <p:cNvSpPr/>
          <p:nvPr/>
        </p:nvSpPr>
        <p:spPr>
          <a:xfrm>
            <a:off x="4572000" y="2834640"/>
            <a:ext cx="1051560" cy="320040"/>
          </a:xfrm>
          <a:prstGeom prst="rect">
            <a:avLst/>
          </a:prstGeom>
          <a:noFill/>
          <a:ln/>
        </p:spPr>
        <p:txBody>
          <a:bodyPr wrap="square" rtlCol="0" anchor="ctr"/>
          <a:lstStyle/>
          <a:p>
            <a:pPr marL="0" indent="0" algn="ctr">
              <a:buNone/>
            </a:pPr>
            <a:r>
              <a:rPr lang="en-US" sz="900" i="1" dirty="0">
                <a:solidFill>
                  <a:srgbClr val="4DA78F"/>
                </a:solidFill>
                <a:latin typeface="Open Sans" pitchFamily="34" charset="0"/>
                <a:ea typeface="Open Sans" pitchFamily="34" charset="-122"/>
                <a:cs typeface="Open Sans" pitchFamily="34" charset="-120"/>
              </a:rPr>
              <a:t>“I verified it”</a:t>
            </a:r>
            <a:endParaRPr lang="en-US" sz="900" dirty="0"/>
          </a:p>
        </p:txBody>
      </p:sp>
      <p:sp>
        <p:nvSpPr>
          <p:cNvPr id="27" name="Shape 25"/>
          <p:cNvSpPr/>
          <p:nvPr/>
        </p:nvSpPr>
        <p:spPr>
          <a:xfrm>
            <a:off x="6217920" y="1737360"/>
            <a:ext cx="502920" cy="502920"/>
          </a:xfrm>
          <a:prstGeom prst="ellipse">
            <a:avLst/>
          </a:prstGeom>
          <a:solidFill>
            <a:srgbClr val="C9A84C"/>
          </a:solidFill>
          <a:ln/>
        </p:spPr>
        <p:txBody>
          <a:bodyPr/>
          <a:lstStyle/>
          <a:p>
            <a:endParaRPr lang="en-US"/>
          </a:p>
        </p:txBody>
      </p:sp>
      <p:sp>
        <p:nvSpPr>
          <p:cNvPr id="28" name="Text 26"/>
          <p:cNvSpPr/>
          <p:nvPr/>
        </p:nvSpPr>
        <p:spPr>
          <a:xfrm>
            <a:off x="6217920" y="1737360"/>
            <a:ext cx="502920" cy="502920"/>
          </a:xfrm>
          <a:prstGeom prst="rect">
            <a:avLst/>
          </a:prstGeom>
          <a:noFill/>
          <a:ln/>
        </p:spPr>
        <p:txBody>
          <a:bodyPr wrap="square" rtlCol="0" anchor="ctr"/>
          <a:lstStyle/>
          <a:p>
            <a:pPr marL="0" indent="0" algn="ctr">
              <a:buNone/>
            </a:pPr>
            <a:r>
              <a:rPr lang="en-US" sz="1800" b="1" dirty="0">
                <a:solidFill>
                  <a:srgbClr val="024731"/>
                </a:solidFill>
                <a:latin typeface="Open Sans" pitchFamily="34" charset="0"/>
                <a:ea typeface="Open Sans" pitchFamily="34" charset="-122"/>
                <a:cs typeface="Open Sans" pitchFamily="34" charset="-120"/>
              </a:rPr>
              <a:t>4</a:t>
            </a:r>
            <a:endParaRPr lang="en-US" sz="1800" dirty="0"/>
          </a:p>
        </p:txBody>
      </p:sp>
      <p:sp>
        <p:nvSpPr>
          <p:cNvPr id="29" name="Shape 27"/>
          <p:cNvSpPr/>
          <p:nvPr/>
        </p:nvSpPr>
        <p:spPr>
          <a:xfrm>
            <a:off x="6766560" y="1988820"/>
            <a:ext cx="777240" cy="0"/>
          </a:xfrm>
          <a:prstGeom prst="line">
            <a:avLst/>
          </a:prstGeom>
          <a:noFill/>
          <a:ln w="25400">
            <a:solidFill>
              <a:srgbClr val="4DA78F"/>
            </a:solidFill>
            <a:prstDash val="dash"/>
          </a:ln>
        </p:spPr>
        <p:txBody>
          <a:bodyPr/>
          <a:lstStyle/>
          <a:p>
            <a:endParaRPr lang="en-US"/>
          </a:p>
        </p:txBody>
      </p:sp>
      <p:sp>
        <p:nvSpPr>
          <p:cNvPr id="30" name="Text 28"/>
          <p:cNvSpPr/>
          <p:nvPr/>
        </p:nvSpPr>
        <p:spPr>
          <a:xfrm>
            <a:off x="5943600" y="2331720"/>
            <a:ext cx="1051560" cy="502920"/>
          </a:xfrm>
          <a:prstGeom prst="rect">
            <a:avLst/>
          </a:prstGeom>
          <a:noFill/>
          <a:ln/>
        </p:spPr>
        <p:txBody>
          <a:bodyPr wrap="square" rtlCol="0" anchor="ctr"/>
          <a:lstStyle/>
          <a:p>
            <a:pPr marL="0" indent="0" algn="ctr">
              <a:buNone/>
            </a:pPr>
            <a:r>
              <a:rPr lang="en-US" sz="1000" dirty="0">
                <a:solidFill>
                  <a:srgbClr val="B8DDD1"/>
                </a:solidFill>
                <a:latin typeface="Open Sans" pitchFamily="34" charset="0"/>
                <a:ea typeface="Open Sans" pitchFamily="34" charset="-122"/>
                <a:cs typeface="Open Sans" pitchFamily="34" charset="-120"/>
              </a:rPr>
              <a:t>Write the</a:t>
            </a:r>
            <a:endParaRPr lang="en-US" sz="1000" dirty="0"/>
          </a:p>
          <a:p>
            <a:pPr marL="0" indent="0" algn="ctr">
              <a:buNone/>
            </a:pPr>
            <a:r>
              <a:rPr lang="en-US" sz="1000" dirty="0">
                <a:solidFill>
                  <a:srgbClr val="B8DDD1"/>
                </a:solidFill>
                <a:latin typeface="Open Sans" pitchFamily="34" charset="0"/>
                <a:ea typeface="Open Sans" pitchFamily="34" charset="-122"/>
                <a:cs typeface="Open Sans" pitchFamily="34" charset="-120"/>
              </a:rPr>
              <a:t>specification</a:t>
            </a:r>
            <a:endParaRPr lang="en-US" sz="1000" dirty="0"/>
          </a:p>
        </p:txBody>
      </p:sp>
      <p:sp>
        <p:nvSpPr>
          <p:cNvPr id="31" name="Text 29"/>
          <p:cNvSpPr/>
          <p:nvPr/>
        </p:nvSpPr>
        <p:spPr>
          <a:xfrm>
            <a:off x="5943600" y="2834640"/>
            <a:ext cx="1051560" cy="320040"/>
          </a:xfrm>
          <a:prstGeom prst="rect">
            <a:avLst/>
          </a:prstGeom>
          <a:noFill/>
          <a:ln/>
        </p:spPr>
        <p:txBody>
          <a:bodyPr wrap="square" rtlCol="0" anchor="ctr"/>
          <a:lstStyle/>
          <a:p>
            <a:pPr marL="0" indent="0" algn="ctr">
              <a:buNone/>
            </a:pPr>
            <a:r>
              <a:rPr lang="en-US" sz="900" i="1" dirty="0">
                <a:solidFill>
                  <a:srgbClr val="4DA78F"/>
                </a:solidFill>
                <a:latin typeface="Open Sans" pitchFamily="34" charset="0"/>
                <a:ea typeface="Open Sans" pitchFamily="34" charset="-122"/>
                <a:cs typeface="Open Sans" pitchFamily="34" charset="-120"/>
              </a:rPr>
              <a:t>“I can specify it”</a:t>
            </a:r>
            <a:endParaRPr lang="en-US" sz="900" dirty="0"/>
          </a:p>
        </p:txBody>
      </p:sp>
      <p:sp>
        <p:nvSpPr>
          <p:cNvPr id="32" name="Shape 30"/>
          <p:cNvSpPr/>
          <p:nvPr/>
        </p:nvSpPr>
        <p:spPr>
          <a:xfrm>
            <a:off x="7589520" y="1737360"/>
            <a:ext cx="502920" cy="502920"/>
          </a:xfrm>
          <a:prstGeom prst="ellipse">
            <a:avLst/>
          </a:prstGeom>
          <a:solidFill>
            <a:srgbClr val="4DA78F"/>
          </a:solidFill>
          <a:ln/>
        </p:spPr>
        <p:txBody>
          <a:bodyPr/>
          <a:lstStyle/>
          <a:p>
            <a:endParaRPr lang="en-US"/>
          </a:p>
        </p:txBody>
      </p:sp>
      <p:sp>
        <p:nvSpPr>
          <p:cNvPr id="33" name="Text 31"/>
          <p:cNvSpPr/>
          <p:nvPr/>
        </p:nvSpPr>
        <p:spPr>
          <a:xfrm>
            <a:off x="7589520" y="1737360"/>
            <a:ext cx="502920" cy="502920"/>
          </a:xfrm>
          <a:prstGeom prst="rect">
            <a:avLst/>
          </a:prstGeom>
          <a:noFill/>
          <a:ln/>
        </p:spPr>
        <p:txBody>
          <a:bodyPr wrap="square" rtlCol="0" anchor="ctr"/>
          <a:lstStyle/>
          <a:p>
            <a:pPr marL="0" indent="0" algn="ctr">
              <a:buNone/>
            </a:pPr>
            <a:r>
              <a:rPr lang="en-US" sz="1800" b="1" dirty="0">
                <a:solidFill>
                  <a:srgbClr val="024731"/>
                </a:solidFill>
                <a:latin typeface="Open Sans" pitchFamily="34" charset="0"/>
                <a:ea typeface="Open Sans" pitchFamily="34" charset="-122"/>
                <a:cs typeface="Open Sans" pitchFamily="34" charset="-120"/>
              </a:rPr>
              <a:t>5</a:t>
            </a:r>
            <a:endParaRPr lang="en-US" sz="1800" dirty="0"/>
          </a:p>
        </p:txBody>
      </p:sp>
      <p:sp>
        <p:nvSpPr>
          <p:cNvPr id="34" name="Text 32"/>
          <p:cNvSpPr/>
          <p:nvPr/>
        </p:nvSpPr>
        <p:spPr>
          <a:xfrm>
            <a:off x="7315200" y="2331720"/>
            <a:ext cx="1051560" cy="502920"/>
          </a:xfrm>
          <a:prstGeom prst="rect">
            <a:avLst/>
          </a:prstGeom>
          <a:noFill/>
          <a:ln/>
        </p:spPr>
        <p:txBody>
          <a:bodyPr wrap="square" rtlCol="0" anchor="ctr"/>
          <a:lstStyle/>
          <a:p>
            <a:pPr marL="0" indent="0" algn="ctr">
              <a:buNone/>
            </a:pPr>
            <a:r>
              <a:rPr lang="en-US" sz="1000" dirty="0">
                <a:solidFill>
                  <a:srgbClr val="B8DDD1"/>
                </a:solidFill>
                <a:latin typeface="Open Sans" pitchFamily="34" charset="0"/>
                <a:ea typeface="Open Sans" pitchFamily="34" charset="-122"/>
                <a:cs typeface="Open Sans" pitchFamily="34" charset="-120"/>
              </a:rPr>
              <a:t>Execute &amp;</a:t>
            </a:r>
            <a:endParaRPr lang="en-US" sz="1000" dirty="0"/>
          </a:p>
          <a:p>
            <a:pPr marL="0" indent="0" algn="ctr">
              <a:buNone/>
            </a:pPr>
            <a:r>
              <a:rPr lang="en-US" sz="1000" dirty="0">
                <a:solidFill>
                  <a:srgbClr val="B8DDD1"/>
                </a:solidFill>
                <a:latin typeface="Open Sans" pitchFamily="34" charset="0"/>
                <a:ea typeface="Open Sans" pitchFamily="34" charset="-122"/>
                <a:cs typeface="Open Sans" pitchFamily="34" charset="-120"/>
              </a:rPr>
              <a:t>evaluate</a:t>
            </a:r>
            <a:endParaRPr lang="en-US" sz="1000" dirty="0"/>
          </a:p>
        </p:txBody>
      </p:sp>
      <p:sp>
        <p:nvSpPr>
          <p:cNvPr id="35" name="Text 33"/>
          <p:cNvSpPr/>
          <p:nvPr/>
        </p:nvSpPr>
        <p:spPr>
          <a:xfrm>
            <a:off x="7315200" y="2834640"/>
            <a:ext cx="1051560" cy="320040"/>
          </a:xfrm>
          <a:prstGeom prst="rect">
            <a:avLst/>
          </a:prstGeom>
          <a:noFill/>
          <a:ln/>
        </p:spPr>
        <p:txBody>
          <a:bodyPr wrap="square" rtlCol="0" anchor="ctr"/>
          <a:lstStyle/>
          <a:p>
            <a:pPr marL="0" indent="0" algn="ctr">
              <a:buNone/>
            </a:pPr>
            <a:r>
              <a:rPr lang="en-US" sz="900" i="1" dirty="0">
                <a:solidFill>
                  <a:srgbClr val="4DA78F"/>
                </a:solidFill>
                <a:latin typeface="Open Sans" pitchFamily="34" charset="0"/>
                <a:ea typeface="Open Sans" pitchFamily="34" charset="-122"/>
                <a:cs typeface="Open Sans" pitchFamily="34" charset="-120"/>
              </a:rPr>
              <a:t>“I can judge it”</a:t>
            </a:r>
            <a:endParaRPr lang="en-US" sz="900" dirty="0"/>
          </a:p>
        </p:txBody>
      </p:sp>
      <p:sp>
        <p:nvSpPr>
          <p:cNvPr id="36" name="Shape 34"/>
          <p:cNvSpPr/>
          <p:nvPr/>
        </p:nvSpPr>
        <p:spPr>
          <a:xfrm>
            <a:off x="548640" y="3520440"/>
            <a:ext cx="8046720" cy="1097280"/>
          </a:xfrm>
          <a:prstGeom prst="rect">
            <a:avLst/>
          </a:prstGeom>
          <a:solidFill>
            <a:srgbClr val="01362A"/>
          </a:solidFill>
          <a:ln/>
        </p:spPr>
        <p:txBody>
          <a:bodyPr/>
          <a:lstStyle/>
          <a:p>
            <a:endParaRPr lang="en-US"/>
          </a:p>
        </p:txBody>
      </p:sp>
      <p:sp>
        <p:nvSpPr>
          <p:cNvPr id="37" name="Shape 35"/>
          <p:cNvSpPr/>
          <p:nvPr/>
        </p:nvSpPr>
        <p:spPr>
          <a:xfrm>
            <a:off x="548640" y="3520440"/>
            <a:ext cx="54864" cy="1097280"/>
          </a:xfrm>
          <a:prstGeom prst="rect">
            <a:avLst/>
          </a:prstGeom>
          <a:solidFill>
            <a:srgbClr val="C9A84C"/>
          </a:solidFill>
          <a:ln/>
        </p:spPr>
        <p:txBody>
          <a:bodyPr/>
          <a:lstStyle/>
          <a:p>
            <a:endParaRPr lang="en-US"/>
          </a:p>
        </p:txBody>
      </p:sp>
      <p:sp>
        <p:nvSpPr>
          <p:cNvPr id="38" name="Text 36"/>
          <p:cNvSpPr/>
          <p:nvPr/>
        </p:nvSpPr>
        <p:spPr>
          <a:xfrm>
            <a:off x="822960" y="3611880"/>
            <a:ext cx="7589520" cy="320040"/>
          </a:xfrm>
          <a:prstGeom prst="rect">
            <a:avLst/>
          </a:prstGeom>
          <a:noFill/>
          <a:ln/>
        </p:spPr>
        <p:txBody>
          <a:bodyPr wrap="square" lIns="0" tIns="0" rIns="0" bIns="0" rtlCol="0" anchor="ctr"/>
          <a:lstStyle/>
          <a:p>
            <a:pPr marL="0" indent="0">
              <a:buNone/>
            </a:pPr>
            <a:r>
              <a:rPr lang="en-US" sz="1600" b="1" dirty="0">
                <a:solidFill>
                  <a:srgbClr val="C9A84C"/>
                </a:solidFill>
                <a:latin typeface="Open Sans" pitchFamily="34" charset="0"/>
                <a:ea typeface="Open Sans" pitchFamily="34" charset="-122"/>
                <a:cs typeface="Open Sans" pitchFamily="34" charset="-120"/>
              </a:rPr>
              <a:t>The Spec Is the Bridge</a:t>
            </a:r>
            <a:endParaRPr lang="en-US" sz="1600" dirty="0"/>
          </a:p>
        </p:txBody>
      </p:sp>
      <p:sp>
        <p:nvSpPr>
          <p:cNvPr id="39" name="Text 37"/>
          <p:cNvSpPr/>
          <p:nvPr/>
        </p:nvSpPr>
        <p:spPr>
          <a:xfrm>
            <a:off x="822960" y="3931920"/>
            <a:ext cx="7589520" cy="59436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Everything before Stage 4 builds knowledge. Everything after it tests whether that knowledge was captured precisely enough to be actionable. The spec must define the complete model (structure, data, formulas, validation) AND the analysis (interpretation, benchmarks, recommendations).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Open Sans" pitchFamily="34" charset="0"/>
                <a:ea typeface="Open Sans" pitchFamily="34" charset="-122"/>
                <a:cs typeface="Open Sans" pitchFamily="34" charset="-120"/>
              </a:rPr>
              <a:t>Career Relevance — Where This Gets Used</a:t>
            </a:r>
            <a:endParaRPr lang="en-US" sz="2600" dirty="0"/>
          </a:p>
        </p:txBody>
      </p:sp>
      <p:sp>
        <p:nvSpPr>
          <p:cNvPr id="3" name="Text 1"/>
          <p:cNvSpPr/>
          <p:nvPr/>
        </p:nvSpPr>
        <p:spPr>
          <a:xfrm>
            <a:off x="548640" y="777240"/>
            <a:ext cx="8046720" cy="320040"/>
          </a:xfrm>
          <a:prstGeom prst="rect">
            <a:avLst/>
          </a:prstGeom>
          <a:noFill/>
          <a:ln/>
        </p:spPr>
        <p:txBody>
          <a:bodyPr wrap="square" rtlCol="0" anchor="ctr"/>
          <a:lstStyle/>
          <a:p>
            <a:pPr marL="0" indent="0">
              <a:buNone/>
            </a:pPr>
            <a:r>
              <a:rPr lang="en-US" sz="1200" dirty="0">
                <a:solidFill>
                  <a:srgbClr val="B8DDD1"/>
                </a:solidFill>
                <a:latin typeface="Open Sans" pitchFamily="34" charset="0"/>
                <a:ea typeface="Open Sans" pitchFamily="34" charset="-122"/>
                <a:cs typeface="Open Sans" pitchFamily="34" charset="-120"/>
              </a:rPr>
              <a:t>The skills built in this project appear directly in job descriptions for these roles:</a:t>
            </a:r>
            <a:endParaRPr lang="en-US" sz="1200" dirty="0"/>
          </a:p>
        </p:txBody>
      </p:sp>
      <p:sp>
        <p:nvSpPr>
          <p:cNvPr id="4" name="Shape 2"/>
          <p:cNvSpPr/>
          <p:nvPr/>
        </p:nvSpPr>
        <p:spPr>
          <a:xfrm>
            <a:off x="548640" y="1325880"/>
            <a:ext cx="2606040" cy="1463040"/>
          </a:xfrm>
          <a:prstGeom prst="rect">
            <a:avLst/>
          </a:prstGeom>
          <a:solidFill>
            <a:srgbClr val="01362A"/>
          </a:solidFill>
          <a:ln/>
        </p:spPr>
        <p:txBody>
          <a:bodyPr/>
          <a:lstStyle/>
          <a:p>
            <a:endParaRPr lang="en-US"/>
          </a:p>
        </p:txBody>
      </p:sp>
      <p:sp>
        <p:nvSpPr>
          <p:cNvPr id="5" name="Shape 3"/>
          <p:cNvSpPr/>
          <p:nvPr/>
        </p:nvSpPr>
        <p:spPr>
          <a:xfrm>
            <a:off x="548640" y="1325880"/>
            <a:ext cx="2606040" cy="54864"/>
          </a:xfrm>
          <a:prstGeom prst="rect">
            <a:avLst/>
          </a:prstGeom>
          <a:solidFill>
            <a:srgbClr val="4DA78F"/>
          </a:solidFill>
          <a:ln/>
        </p:spPr>
        <p:txBody>
          <a:bodyPr/>
          <a:lstStyle/>
          <a:p>
            <a:endParaRPr lang="en-US"/>
          </a:p>
        </p:txBody>
      </p:sp>
      <p:sp>
        <p:nvSpPr>
          <p:cNvPr id="6" name="Text 4"/>
          <p:cNvSpPr/>
          <p:nvPr/>
        </p:nvSpPr>
        <p:spPr>
          <a:xfrm>
            <a:off x="731520" y="1463040"/>
            <a:ext cx="2240280" cy="320040"/>
          </a:xfrm>
          <a:prstGeom prst="rect">
            <a:avLst/>
          </a:prstGeom>
          <a:noFill/>
          <a:ln/>
        </p:spPr>
        <p:txBody>
          <a:bodyPr wrap="square" lIns="0" tIns="0" rIns="0" bIns="0" rtlCol="0" anchor="ctr"/>
          <a:lstStyle/>
          <a:p>
            <a:pPr marL="0" indent="0">
              <a:buNone/>
            </a:pPr>
            <a:r>
              <a:rPr lang="en-US" sz="1400" b="1" dirty="0">
                <a:solidFill>
                  <a:srgbClr val="4DA78F"/>
                </a:solidFill>
                <a:latin typeface="Open Sans" pitchFamily="34" charset="0"/>
                <a:ea typeface="Open Sans" pitchFamily="34" charset="-122"/>
                <a:cs typeface="Open Sans" pitchFamily="34" charset="-120"/>
              </a:rPr>
              <a:t>FP&amp;A</a:t>
            </a:r>
            <a:endParaRPr lang="en-US" sz="1400" dirty="0"/>
          </a:p>
        </p:txBody>
      </p:sp>
      <p:sp>
        <p:nvSpPr>
          <p:cNvPr id="7" name="Text 5"/>
          <p:cNvSpPr/>
          <p:nvPr/>
        </p:nvSpPr>
        <p:spPr>
          <a:xfrm>
            <a:off x="731520" y="1828800"/>
            <a:ext cx="2240280" cy="822960"/>
          </a:xfrm>
          <a:prstGeom prst="rect">
            <a:avLst/>
          </a:prstGeom>
          <a:noFill/>
          <a:ln/>
        </p:spPr>
        <p:txBody>
          <a:bodyPr wrap="square" lIns="0" tIns="0" rIns="0" bIns="0"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Ratio trend analysis</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Performance benchmarking</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Budget variance analysis</a:t>
            </a:r>
            <a:endParaRPr lang="en-US" sz="1000" dirty="0"/>
          </a:p>
        </p:txBody>
      </p:sp>
      <p:sp>
        <p:nvSpPr>
          <p:cNvPr id="8" name="Shape 6"/>
          <p:cNvSpPr/>
          <p:nvPr/>
        </p:nvSpPr>
        <p:spPr>
          <a:xfrm>
            <a:off x="3383280" y="1325880"/>
            <a:ext cx="2606040" cy="1463040"/>
          </a:xfrm>
          <a:prstGeom prst="rect">
            <a:avLst/>
          </a:prstGeom>
          <a:solidFill>
            <a:srgbClr val="01362A"/>
          </a:solidFill>
          <a:ln/>
        </p:spPr>
        <p:txBody>
          <a:bodyPr/>
          <a:lstStyle/>
          <a:p>
            <a:endParaRPr lang="en-US"/>
          </a:p>
        </p:txBody>
      </p:sp>
      <p:sp>
        <p:nvSpPr>
          <p:cNvPr id="9" name="Shape 7"/>
          <p:cNvSpPr/>
          <p:nvPr/>
        </p:nvSpPr>
        <p:spPr>
          <a:xfrm>
            <a:off x="3383280" y="1325880"/>
            <a:ext cx="2606040" cy="54864"/>
          </a:xfrm>
          <a:prstGeom prst="rect">
            <a:avLst/>
          </a:prstGeom>
          <a:solidFill>
            <a:srgbClr val="4DA78F"/>
          </a:solidFill>
          <a:ln/>
        </p:spPr>
        <p:txBody>
          <a:bodyPr/>
          <a:lstStyle/>
          <a:p>
            <a:endParaRPr lang="en-US"/>
          </a:p>
        </p:txBody>
      </p:sp>
      <p:sp>
        <p:nvSpPr>
          <p:cNvPr id="10" name="Text 8"/>
          <p:cNvSpPr/>
          <p:nvPr/>
        </p:nvSpPr>
        <p:spPr>
          <a:xfrm>
            <a:off x="3566160" y="1463040"/>
            <a:ext cx="2240280" cy="320040"/>
          </a:xfrm>
          <a:prstGeom prst="rect">
            <a:avLst/>
          </a:prstGeom>
          <a:noFill/>
          <a:ln/>
        </p:spPr>
        <p:txBody>
          <a:bodyPr wrap="square" lIns="0" tIns="0" rIns="0" bIns="0" rtlCol="0" anchor="ctr"/>
          <a:lstStyle/>
          <a:p>
            <a:pPr marL="0" indent="0">
              <a:buNone/>
            </a:pPr>
            <a:r>
              <a:rPr lang="en-US" sz="1400" b="1" dirty="0">
                <a:solidFill>
                  <a:srgbClr val="4DA78F"/>
                </a:solidFill>
                <a:latin typeface="Open Sans" pitchFamily="34" charset="0"/>
                <a:ea typeface="Open Sans" pitchFamily="34" charset="-122"/>
                <a:cs typeface="Open Sans" pitchFamily="34" charset="-120"/>
              </a:rPr>
              <a:t>Corporate Finance</a:t>
            </a:r>
            <a:endParaRPr lang="en-US" sz="1400" dirty="0"/>
          </a:p>
        </p:txBody>
      </p:sp>
      <p:sp>
        <p:nvSpPr>
          <p:cNvPr id="11" name="Text 9"/>
          <p:cNvSpPr/>
          <p:nvPr/>
        </p:nvSpPr>
        <p:spPr>
          <a:xfrm>
            <a:off x="3566160" y="1828800"/>
            <a:ext cx="2240280" cy="822960"/>
          </a:xfrm>
          <a:prstGeom prst="rect">
            <a:avLst/>
          </a:prstGeom>
          <a:noFill/>
          <a:ln/>
        </p:spPr>
        <p:txBody>
          <a:bodyPr wrap="square" lIns="0" tIns="0" rIns="0" bIns="0"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Capital structure optimization</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Liquidity management</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Investor relations</a:t>
            </a:r>
            <a:endParaRPr lang="en-US" sz="1000" dirty="0"/>
          </a:p>
        </p:txBody>
      </p:sp>
      <p:sp>
        <p:nvSpPr>
          <p:cNvPr id="12" name="Shape 10"/>
          <p:cNvSpPr/>
          <p:nvPr/>
        </p:nvSpPr>
        <p:spPr>
          <a:xfrm>
            <a:off x="6217920" y="1325880"/>
            <a:ext cx="2606040" cy="1463040"/>
          </a:xfrm>
          <a:prstGeom prst="rect">
            <a:avLst/>
          </a:prstGeom>
          <a:solidFill>
            <a:srgbClr val="01362A"/>
          </a:solidFill>
          <a:ln/>
        </p:spPr>
        <p:txBody>
          <a:bodyPr/>
          <a:lstStyle/>
          <a:p>
            <a:endParaRPr lang="en-US"/>
          </a:p>
        </p:txBody>
      </p:sp>
      <p:sp>
        <p:nvSpPr>
          <p:cNvPr id="13" name="Shape 11"/>
          <p:cNvSpPr/>
          <p:nvPr/>
        </p:nvSpPr>
        <p:spPr>
          <a:xfrm>
            <a:off x="6217920" y="1325880"/>
            <a:ext cx="2606040" cy="54864"/>
          </a:xfrm>
          <a:prstGeom prst="rect">
            <a:avLst/>
          </a:prstGeom>
          <a:solidFill>
            <a:srgbClr val="4DA78F"/>
          </a:solidFill>
          <a:ln/>
        </p:spPr>
        <p:txBody>
          <a:bodyPr/>
          <a:lstStyle/>
          <a:p>
            <a:endParaRPr lang="en-US"/>
          </a:p>
        </p:txBody>
      </p:sp>
      <p:sp>
        <p:nvSpPr>
          <p:cNvPr id="14" name="Text 12"/>
          <p:cNvSpPr/>
          <p:nvPr/>
        </p:nvSpPr>
        <p:spPr>
          <a:xfrm>
            <a:off x="6400800" y="1463040"/>
            <a:ext cx="2240280" cy="320040"/>
          </a:xfrm>
          <a:prstGeom prst="rect">
            <a:avLst/>
          </a:prstGeom>
          <a:noFill/>
          <a:ln/>
        </p:spPr>
        <p:txBody>
          <a:bodyPr wrap="square" lIns="0" tIns="0" rIns="0" bIns="0" rtlCol="0" anchor="ctr"/>
          <a:lstStyle/>
          <a:p>
            <a:pPr marL="0" indent="0">
              <a:buNone/>
            </a:pPr>
            <a:r>
              <a:rPr lang="en-US" sz="1400" b="1" dirty="0">
                <a:solidFill>
                  <a:srgbClr val="4DA78F"/>
                </a:solidFill>
                <a:latin typeface="Open Sans" pitchFamily="34" charset="0"/>
                <a:ea typeface="Open Sans" pitchFamily="34" charset="-122"/>
                <a:cs typeface="Open Sans" pitchFamily="34" charset="-120"/>
              </a:rPr>
              <a:t>Investment Banking</a:t>
            </a:r>
            <a:endParaRPr lang="en-US" sz="1400" dirty="0"/>
          </a:p>
        </p:txBody>
      </p:sp>
      <p:sp>
        <p:nvSpPr>
          <p:cNvPr id="15" name="Text 13"/>
          <p:cNvSpPr/>
          <p:nvPr/>
        </p:nvSpPr>
        <p:spPr>
          <a:xfrm>
            <a:off x="6400800" y="1828800"/>
            <a:ext cx="2240280" cy="822960"/>
          </a:xfrm>
          <a:prstGeom prst="rect">
            <a:avLst/>
          </a:prstGeom>
          <a:noFill/>
          <a:ln/>
        </p:spPr>
        <p:txBody>
          <a:bodyPr wrap="square" lIns="0" tIns="0" rIns="0" bIns="0"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Comparable company analysis</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Credit analysis</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Valuation multiples</a:t>
            </a:r>
            <a:endParaRPr lang="en-US" sz="1000" dirty="0"/>
          </a:p>
        </p:txBody>
      </p:sp>
      <p:sp>
        <p:nvSpPr>
          <p:cNvPr id="16" name="Shape 14"/>
          <p:cNvSpPr/>
          <p:nvPr/>
        </p:nvSpPr>
        <p:spPr>
          <a:xfrm>
            <a:off x="548640" y="3017520"/>
            <a:ext cx="2606040" cy="1463040"/>
          </a:xfrm>
          <a:prstGeom prst="rect">
            <a:avLst/>
          </a:prstGeom>
          <a:solidFill>
            <a:srgbClr val="01362A"/>
          </a:solidFill>
          <a:ln/>
        </p:spPr>
        <p:txBody>
          <a:bodyPr/>
          <a:lstStyle/>
          <a:p>
            <a:endParaRPr lang="en-US"/>
          </a:p>
        </p:txBody>
      </p:sp>
      <p:sp>
        <p:nvSpPr>
          <p:cNvPr id="17" name="Shape 15"/>
          <p:cNvSpPr/>
          <p:nvPr/>
        </p:nvSpPr>
        <p:spPr>
          <a:xfrm>
            <a:off x="548640" y="3017520"/>
            <a:ext cx="2606040" cy="54864"/>
          </a:xfrm>
          <a:prstGeom prst="rect">
            <a:avLst/>
          </a:prstGeom>
          <a:solidFill>
            <a:srgbClr val="4DA78F"/>
          </a:solidFill>
          <a:ln/>
        </p:spPr>
        <p:txBody>
          <a:bodyPr/>
          <a:lstStyle/>
          <a:p>
            <a:endParaRPr lang="en-US"/>
          </a:p>
        </p:txBody>
      </p:sp>
      <p:sp>
        <p:nvSpPr>
          <p:cNvPr id="18" name="Text 16"/>
          <p:cNvSpPr/>
          <p:nvPr/>
        </p:nvSpPr>
        <p:spPr>
          <a:xfrm>
            <a:off x="731520" y="3154680"/>
            <a:ext cx="2240280" cy="320040"/>
          </a:xfrm>
          <a:prstGeom prst="rect">
            <a:avLst/>
          </a:prstGeom>
          <a:noFill/>
          <a:ln/>
        </p:spPr>
        <p:txBody>
          <a:bodyPr wrap="square" lIns="0" tIns="0" rIns="0" bIns="0" rtlCol="0" anchor="ctr"/>
          <a:lstStyle/>
          <a:p>
            <a:pPr marL="0" indent="0">
              <a:buNone/>
            </a:pPr>
            <a:r>
              <a:rPr lang="en-US" sz="1400" b="1" dirty="0">
                <a:solidFill>
                  <a:srgbClr val="4DA78F"/>
                </a:solidFill>
                <a:latin typeface="Open Sans" pitchFamily="34" charset="0"/>
                <a:ea typeface="Open Sans" pitchFamily="34" charset="-122"/>
                <a:cs typeface="Open Sans" pitchFamily="34" charset="-120"/>
              </a:rPr>
              <a:t>Accounting &amp; Audit</a:t>
            </a:r>
            <a:endParaRPr lang="en-US" sz="1400" dirty="0"/>
          </a:p>
        </p:txBody>
      </p:sp>
      <p:sp>
        <p:nvSpPr>
          <p:cNvPr id="19" name="Text 17"/>
          <p:cNvSpPr/>
          <p:nvPr/>
        </p:nvSpPr>
        <p:spPr>
          <a:xfrm>
            <a:off x="731520" y="3520440"/>
            <a:ext cx="2240280" cy="822960"/>
          </a:xfrm>
          <a:prstGeom prst="rect">
            <a:avLst/>
          </a:prstGeom>
          <a:noFill/>
          <a:ln/>
        </p:spPr>
        <p:txBody>
          <a:bodyPr wrap="square" lIns="0" tIns="0" rIns="0" bIns="0"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Analytical procedures</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Internal controls evaluation</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Financial statement analysis</a:t>
            </a:r>
            <a:endParaRPr lang="en-US" sz="1000" dirty="0"/>
          </a:p>
        </p:txBody>
      </p:sp>
      <p:sp>
        <p:nvSpPr>
          <p:cNvPr id="20" name="Shape 18"/>
          <p:cNvSpPr/>
          <p:nvPr/>
        </p:nvSpPr>
        <p:spPr>
          <a:xfrm>
            <a:off x="3383280" y="3017520"/>
            <a:ext cx="2606040" cy="1463040"/>
          </a:xfrm>
          <a:prstGeom prst="rect">
            <a:avLst/>
          </a:prstGeom>
          <a:solidFill>
            <a:srgbClr val="01362A"/>
          </a:solidFill>
          <a:ln/>
        </p:spPr>
        <p:txBody>
          <a:bodyPr/>
          <a:lstStyle/>
          <a:p>
            <a:endParaRPr lang="en-US"/>
          </a:p>
        </p:txBody>
      </p:sp>
      <p:sp>
        <p:nvSpPr>
          <p:cNvPr id="21" name="Shape 19"/>
          <p:cNvSpPr/>
          <p:nvPr/>
        </p:nvSpPr>
        <p:spPr>
          <a:xfrm>
            <a:off x="3383280" y="3017520"/>
            <a:ext cx="2606040" cy="54864"/>
          </a:xfrm>
          <a:prstGeom prst="rect">
            <a:avLst/>
          </a:prstGeom>
          <a:solidFill>
            <a:srgbClr val="4DA78F"/>
          </a:solidFill>
          <a:ln/>
        </p:spPr>
        <p:txBody>
          <a:bodyPr/>
          <a:lstStyle/>
          <a:p>
            <a:endParaRPr lang="en-US"/>
          </a:p>
        </p:txBody>
      </p:sp>
      <p:sp>
        <p:nvSpPr>
          <p:cNvPr id="22" name="Text 20"/>
          <p:cNvSpPr/>
          <p:nvPr/>
        </p:nvSpPr>
        <p:spPr>
          <a:xfrm>
            <a:off x="3566160" y="3154680"/>
            <a:ext cx="2240280" cy="320040"/>
          </a:xfrm>
          <a:prstGeom prst="rect">
            <a:avLst/>
          </a:prstGeom>
          <a:noFill/>
          <a:ln/>
        </p:spPr>
        <p:txBody>
          <a:bodyPr wrap="square" lIns="0" tIns="0" rIns="0" bIns="0" rtlCol="0" anchor="ctr"/>
          <a:lstStyle/>
          <a:p>
            <a:pPr marL="0" indent="0">
              <a:buNone/>
            </a:pPr>
            <a:r>
              <a:rPr lang="en-US" sz="1400" b="1" dirty="0">
                <a:solidFill>
                  <a:srgbClr val="4DA78F"/>
                </a:solidFill>
                <a:latin typeface="Open Sans" pitchFamily="34" charset="0"/>
                <a:ea typeface="Open Sans" pitchFamily="34" charset="-122"/>
                <a:cs typeface="Open Sans" pitchFamily="34" charset="-120"/>
              </a:rPr>
              <a:t>Data &amp; AI Analytics</a:t>
            </a:r>
            <a:endParaRPr lang="en-US" sz="1400" dirty="0"/>
          </a:p>
        </p:txBody>
      </p:sp>
      <p:sp>
        <p:nvSpPr>
          <p:cNvPr id="23" name="Text 21"/>
          <p:cNvSpPr/>
          <p:nvPr/>
        </p:nvSpPr>
        <p:spPr>
          <a:xfrm>
            <a:off x="3566160" y="3520440"/>
            <a:ext cx="2240280" cy="822960"/>
          </a:xfrm>
          <a:prstGeom prst="rect">
            <a:avLst/>
          </a:prstGeom>
          <a:noFill/>
          <a:ln/>
        </p:spPr>
        <p:txBody>
          <a:bodyPr wrap="square" lIns="0" tIns="0" rIns="0" bIns="0"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Spec-to-prompt pipelines</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GitHub version control</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AI-assisted modeling</a:t>
            </a:r>
            <a:endParaRPr lang="en-US" sz="1000" dirty="0"/>
          </a:p>
        </p:txBody>
      </p:sp>
      <p:sp>
        <p:nvSpPr>
          <p:cNvPr id="24" name="Shape 22"/>
          <p:cNvSpPr/>
          <p:nvPr/>
        </p:nvSpPr>
        <p:spPr>
          <a:xfrm>
            <a:off x="6217920" y="3017520"/>
            <a:ext cx="2606040" cy="1463040"/>
          </a:xfrm>
          <a:prstGeom prst="rect">
            <a:avLst/>
          </a:prstGeom>
          <a:solidFill>
            <a:srgbClr val="01362A"/>
          </a:solidFill>
          <a:ln/>
        </p:spPr>
        <p:txBody>
          <a:bodyPr/>
          <a:lstStyle/>
          <a:p>
            <a:endParaRPr lang="en-US"/>
          </a:p>
        </p:txBody>
      </p:sp>
      <p:sp>
        <p:nvSpPr>
          <p:cNvPr id="25" name="Shape 23"/>
          <p:cNvSpPr/>
          <p:nvPr/>
        </p:nvSpPr>
        <p:spPr>
          <a:xfrm>
            <a:off x="6217920" y="3017520"/>
            <a:ext cx="2606040" cy="54864"/>
          </a:xfrm>
          <a:prstGeom prst="rect">
            <a:avLst/>
          </a:prstGeom>
          <a:solidFill>
            <a:srgbClr val="4DA78F"/>
          </a:solidFill>
          <a:ln/>
        </p:spPr>
        <p:txBody>
          <a:bodyPr/>
          <a:lstStyle/>
          <a:p>
            <a:endParaRPr lang="en-US"/>
          </a:p>
        </p:txBody>
      </p:sp>
      <p:sp>
        <p:nvSpPr>
          <p:cNvPr id="26" name="Text 24"/>
          <p:cNvSpPr/>
          <p:nvPr/>
        </p:nvSpPr>
        <p:spPr>
          <a:xfrm>
            <a:off x="6400800" y="3154680"/>
            <a:ext cx="2240280" cy="320040"/>
          </a:xfrm>
          <a:prstGeom prst="rect">
            <a:avLst/>
          </a:prstGeom>
          <a:noFill/>
          <a:ln/>
        </p:spPr>
        <p:txBody>
          <a:bodyPr wrap="square" lIns="0" tIns="0" rIns="0" bIns="0" rtlCol="0" anchor="ctr"/>
          <a:lstStyle/>
          <a:p>
            <a:pPr marL="0" indent="0">
              <a:buNone/>
            </a:pPr>
            <a:r>
              <a:rPr lang="en-US" sz="1400" b="1" dirty="0">
                <a:solidFill>
                  <a:srgbClr val="4DA78F"/>
                </a:solidFill>
                <a:latin typeface="Open Sans" pitchFamily="34" charset="0"/>
                <a:ea typeface="Open Sans" pitchFamily="34" charset="-122"/>
                <a:cs typeface="Open Sans" pitchFamily="34" charset="-120"/>
              </a:rPr>
              <a:t>Consulting</a:t>
            </a:r>
            <a:endParaRPr lang="en-US" sz="1400" dirty="0"/>
          </a:p>
        </p:txBody>
      </p:sp>
      <p:sp>
        <p:nvSpPr>
          <p:cNvPr id="27" name="Text 25"/>
          <p:cNvSpPr/>
          <p:nvPr/>
        </p:nvSpPr>
        <p:spPr>
          <a:xfrm>
            <a:off x="6400800" y="3520440"/>
            <a:ext cx="2240280" cy="822960"/>
          </a:xfrm>
          <a:prstGeom prst="rect">
            <a:avLst/>
          </a:prstGeom>
          <a:noFill/>
          <a:ln/>
        </p:spPr>
        <p:txBody>
          <a:bodyPr wrap="square" lIns="0" tIns="0" rIns="0" bIns="0"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Due diligence analysis</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Spec-driven delegation</a:t>
            </a:r>
            <a:endParaRPr lang="en-US" sz="1000" dirty="0"/>
          </a:p>
          <a:p>
            <a:pPr marL="0" indent="0">
              <a:buNone/>
            </a:pPr>
            <a:r>
              <a:rPr lang="en-US" sz="1000" dirty="0">
                <a:solidFill>
                  <a:srgbClr val="B8DDD1"/>
                </a:solidFill>
                <a:latin typeface="Open Sans" pitchFamily="34" charset="0"/>
                <a:ea typeface="Open Sans" pitchFamily="34" charset="-122"/>
                <a:cs typeface="Open Sans" pitchFamily="34" charset="-120"/>
              </a:rPr>
              <a:t>Executive communication</a:t>
            </a:r>
            <a:endParaRPr lang="en-US" sz="1000" dirty="0"/>
          </a:p>
        </p:txBody>
      </p:sp>
      <p:sp>
        <p:nvSpPr>
          <p:cNvPr id="28" name="Text 26"/>
          <p:cNvSpPr/>
          <p:nvPr/>
        </p:nvSpPr>
        <p:spPr>
          <a:xfrm>
            <a:off x="548640" y="4663440"/>
            <a:ext cx="8046720" cy="274320"/>
          </a:xfrm>
          <a:prstGeom prst="rect">
            <a:avLst/>
          </a:prstGeom>
          <a:noFill/>
          <a:ln/>
        </p:spPr>
        <p:txBody>
          <a:bodyPr wrap="square" rtlCol="0" anchor="ctr"/>
          <a:lstStyle/>
          <a:p>
            <a:pPr marL="0" indent="0">
              <a:buNone/>
            </a:pPr>
            <a:r>
              <a:rPr lang="en-US" sz="1100" b="1" dirty="0">
                <a:solidFill>
                  <a:srgbClr val="C9A84C"/>
                </a:solidFill>
                <a:latin typeface="Open Sans" pitchFamily="34" charset="0"/>
                <a:ea typeface="Open Sans" pitchFamily="34" charset="-122"/>
                <a:cs typeface="Open Sans" pitchFamily="34" charset="-120"/>
              </a:rPr>
              <a:t>This is a portfolio-ready artifact for internships, promotions, and graduate programs.</a:t>
            </a:r>
            <a:endParaRPr lang="en-US" sz="1100" dirty="0"/>
          </a:p>
        </p:txBody>
      </p:sp>
    </p:spTree>
    <p:extLst>
      <p:ext uri="{BB962C8B-B14F-4D97-AF65-F5344CB8AC3E}">
        <p14:creationId xmlns:p14="http://schemas.microsoft.com/office/powerpoint/2010/main" val="396205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0  |  GitHub &amp; Workflow Onboarding  |  BUS-629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What Is GitHub &amp; Why Does It Matter?</a:t>
            </a:r>
            <a:endParaRPr lang="en-US" sz="2800" dirty="0"/>
          </a:p>
        </p:txBody>
      </p:sp>
      <p:sp>
        <p:nvSpPr>
          <p:cNvPr id="6" name="Text 4"/>
          <p:cNvSpPr/>
          <p:nvPr/>
        </p:nvSpPr>
        <p:spPr>
          <a:xfrm>
            <a:off x="731520" y="868680"/>
            <a:ext cx="7680960" cy="54864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 xml:space="preserve">GitHub is a cloud platform for version control. Think of it as Google Docs or </a:t>
            </a:r>
            <a:r>
              <a:rPr lang="en-US" sz="1300" dirty="0" err="1">
                <a:solidFill>
                  <a:srgbClr val="5A6B7A"/>
                </a:solidFill>
                <a:latin typeface="Open Sans" pitchFamily="34" charset="0"/>
                <a:ea typeface="Open Sans" pitchFamily="34" charset="-122"/>
                <a:cs typeface="Open Sans" pitchFamily="34" charset="-120"/>
              </a:rPr>
              <a:t>DropBox</a:t>
            </a:r>
            <a:r>
              <a:rPr lang="en-US" sz="1300" dirty="0">
                <a:solidFill>
                  <a:srgbClr val="5A6B7A"/>
                </a:solidFill>
                <a:latin typeface="Open Sans" pitchFamily="34" charset="0"/>
                <a:ea typeface="Open Sans" pitchFamily="34" charset="-122"/>
                <a:cs typeface="Open Sans" pitchFamily="34" charset="-120"/>
              </a:rPr>
              <a:t xml:space="preserve"> for code and documents — every change is tracked, reversible, and visible to your instructor.</a:t>
            </a:r>
            <a:endParaRPr lang="en-US" sz="1300" dirty="0"/>
          </a:p>
        </p:txBody>
      </p:sp>
      <p:sp>
        <p:nvSpPr>
          <p:cNvPr id="7" name="Shape 5"/>
          <p:cNvSpPr/>
          <p:nvPr/>
        </p:nvSpPr>
        <p:spPr>
          <a:xfrm>
            <a:off x="73152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554480" y="1920240"/>
            <a:ext cx="457200" cy="457200"/>
          </a:xfrm>
          <a:prstGeom prst="rect">
            <a:avLst/>
          </a:prstGeom>
        </p:spPr>
      </p:pic>
      <p:sp>
        <p:nvSpPr>
          <p:cNvPr id="9" name="Text 6"/>
          <p:cNvSpPr/>
          <p:nvPr/>
        </p:nvSpPr>
        <p:spPr>
          <a:xfrm>
            <a:off x="86868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Version History</a:t>
            </a:r>
            <a:endParaRPr lang="en-US" sz="1400" dirty="0"/>
          </a:p>
        </p:txBody>
      </p:sp>
      <p:sp>
        <p:nvSpPr>
          <p:cNvPr id="10" name="Text 7"/>
          <p:cNvSpPr/>
          <p:nvPr/>
        </p:nvSpPr>
        <p:spPr>
          <a:xfrm>
            <a:off x="86868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Every save (commit) is permanent. You can always go back to a previous version if something breaks.</a:t>
            </a:r>
            <a:endParaRPr lang="en-US" sz="1100" dirty="0"/>
          </a:p>
        </p:txBody>
      </p:sp>
      <p:sp>
        <p:nvSpPr>
          <p:cNvPr id="11" name="Shape 8"/>
          <p:cNvSpPr/>
          <p:nvPr/>
        </p:nvSpPr>
        <p:spPr>
          <a:xfrm>
            <a:off x="338328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206240" y="1920240"/>
            <a:ext cx="457200" cy="457200"/>
          </a:xfrm>
          <a:prstGeom prst="rect">
            <a:avLst/>
          </a:prstGeom>
        </p:spPr>
      </p:pic>
      <p:sp>
        <p:nvSpPr>
          <p:cNvPr id="13" name="Text 9"/>
          <p:cNvSpPr/>
          <p:nvPr/>
        </p:nvSpPr>
        <p:spPr>
          <a:xfrm>
            <a:off x="352044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Portfolio Artifact</a:t>
            </a:r>
            <a:endParaRPr lang="en-US" sz="1400" dirty="0"/>
          </a:p>
        </p:txBody>
      </p:sp>
      <p:sp>
        <p:nvSpPr>
          <p:cNvPr id="14" name="Text 10"/>
          <p:cNvSpPr/>
          <p:nvPr/>
        </p:nvSpPr>
        <p:spPr>
          <a:xfrm>
            <a:off x="352044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Your GitHub profile becomes a professional portfolio. Employers and grad schools check GitHub.</a:t>
            </a:r>
            <a:endParaRPr lang="en-US" sz="1100" dirty="0"/>
          </a:p>
        </p:txBody>
      </p:sp>
      <p:sp>
        <p:nvSpPr>
          <p:cNvPr id="15" name="Shape 11"/>
          <p:cNvSpPr/>
          <p:nvPr/>
        </p:nvSpPr>
        <p:spPr>
          <a:xfrm>
            <a:off x="603504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858000" y="1920240"/>
            <a:ext cx="457200" cy="457200"/>
          </a:xfrm>
          <a:prstGeom prst="rect">
            <a:avLst/>
          </a:prstGeom>
        </p:spPr>
      </p:pic>
      <p:sp>
        <p:nvSpPr>
          <p:cNvPr id="17" name="Text 12"/>
          <p:cNvSpPr/>
          <p:nvPr/>
        </p:nvSpPr>
        <p:spPr>
          <a:xfrm>
            <a:off x="617220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Submission &amp; Grading</a:t>
            </a:r>
            <a:endParaRPr lang="en-US" sz="1400" dirty="0"/>
          </a:p>
        </p:txBody>
      </p:sp>
      <p:sp>
        <p:nvSpPr>
          <p:cNvPr id="18" name="Text 13"/>
          <p:cNvSpPr/>
          <p:nvPr/>
        </p:nvSpPr>
        <p:spPr>
          <a:xfrm>
            <a:off x="617220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All stage deliverables are submitted by committing to GitHub. Your commit history IS your audit trail.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73152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Stage 0 — Repository Setup &amp; Infrastructure</a:t>
            </a:r>
            <a:endParaRPr lang="en-US" sz="2000" dirty="0"/>
          </a:p>
        </p:txBody>
      </p:sp>
      <p:sp>
        <p:nvSpPr>
          <p:cNvPr id="4" name="Text 2"/>
          <p:cNvSpPr/>
          <p:nvPr/>
        </p:nvSpPr>
        <p:spPr>
          <a:xfrm>
            <a:off x="548640" y="429768"/>
            <a:ext cx="2743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5% of project</a:t>
            </a:r>
            <a:endParaRPr lang="en-US" sz="1100" dirty="0"/>
          </a:p>
        </p:txBody>
      </p:sp>
      <p:sp>
        <p:nvSpPr>
          <p:cNvPr id="5" name="Shape 3"/>
          <p:cNvSpPr/>
          <p:nvPr/>
        </p:nvSpPr>
        <p:spPr>
          <a:xfrm>
            <a:off x="457200" y="1051560"/>
            <a:ext cx="4023360" cy="3566160"/>
          </a:xfrm>
          <a:prstGeom prst="rect">
            <a:avLst/>
          </a:prstGeom>
          <a:solidFill>
            <a:srgbClr val="1A2332"/>
          </a:solidFill>
          <a:ln/>
          <a:effectLst>
            <a:outerShdw blurRad="76200" dist="25400" dir="8100000" algn="bl" rotWithShape="0">
              <a:srgbClr val="000000">
                <a:alpha val="12000"/>
              </a:srgbClr>
            </a:outerShdw>
          </a:effectLst>
        </p:spPr>
        <p:txBody>
          <a:bodyPr/>
          <a:lstStyle/>
          <a:p>
            <a:endParaRPr lang="en-US"/>
          </a:p>
        </p:txBody>
      </p:sp>
      <p:sp>
        <p:nvSpPr>
          <p:cNvPr id="6" name="Text 4"/>
          <p:cNvSpPr/>
          <p:nvPr/>
        </p:nvSpPr>
        <p:spPr>
          <a:xfrm>
            <a:off x="640080" y="1188720"/>
            <a:ext cx="3657600" cy="3291840"/>
          </a:xfrm>
          <a:prstGeom prst="rect">
            <a:avLst/>
          </a:prstGeom>
          <a:noFill/>
          <a:ln/>
        </p:spPr>
        <p:txBody>
          <a:bodyPr wrap="square" rtlCol="0" anchor="ctr"/>
          <a:lstStyle/>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Corporate-Finance/      # your portfolio repo</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README.md           # your bio (repo home)</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RESUME.md           # markdown resume</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BIO.md              # optional longer bio</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docs/               # written deliverables</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 decisions/      # memos (Stage 2)</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 specs/          # tech specs (Stage 4)</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 plans/          # optional plans</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 templates/      # local stubs</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models/             # Excel work</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 templates/      # blank ratios template</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 builds/         # populated (Stage 3)</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data/               # raw financials</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analysis/validation/  # Stage 3 reports</a:t>
            </a:r>
            <a:endParaRPr lang="en-US" sz="1000" dirty="0"/>
          </a:p>
          <a:p>
            <a:pPr marL="0" indent="0">
              <a:lnSpc>
                <a:spcPct val="115000"/>
              </a:lnSpc>
              <a:buNone/>
            </a:pPr>
            <a:r>
              <a:rPr lang="en-US" sz="1000" dirty="0">
                <a:solidFill>
                  <a:srgbClr val="4DA78F"/>
                </a:solidFill>
                <a:latin typeface="Consolas" pitchFamily="34" charset="0"/>
                <a:ea typeface="Consolas" pitchFamily="34" charset="-122"/>
                <a:cs typeface="Consolas" pitchFamily="34" charset="-120"/>
              </a:rPr>
              <a:t>└── deliverables/       # final (Stage 5)</a:t>
            </a:r>
            <a:endParaRPr lang="en-US" sz="1000" dirty="0"/>
          </a:p>
        </p:txBody>
      </p:sp>
      <p:sp>
        <p:nvSpPr>
          <p:cNvPr id="7" name="Shape 5"/>
          <p:cNvSpPr/>
          <p:nvPr/>
        </p:nvSpPr>
        <p:spPr>
          <a:xfrm>
            <a:off x="4846320" y="1097280"/>
            <a:ext cx="365760" cy="365760"/>
          </a:xfrm>
          <a:prstGeom prst="ellipse">
            <a:avLst/>
          </a:prstGeom>
          <a:solidFill>
            <a:srgbClr val="E6F2EF"/>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4926787" y="1177747"/>
            <a:ext cx="204826" cy="204826"/>
          </a:xfrm>
          <a:prstGeom prst="rect">
            <a:avLst/>
          </a:prstGeom>
        </p:spPr>
      </p:pic>
      <p:sp>
        <p:nvSpPr>
          <p:cNvPr id="9" name="Text 6"/>
          <p:cNvSpPr/>
          <p:nvPr/>
        </p:nvSpPr>
        <p:spPr>
          <a:xfrm>
            <a:off x="5349240" y="1051560"/>
            <a:ext cx="3291840" cy="274320"/>
          </a:xfrm>
          <a:prstGeom prst="rect">
            <a:avLst/>
          </a:prstGeom>
          <a:noFill/>
          <a:ln/>
        </p:spPr>
        <p:txBody>
          <a:bodyPr wrap="square" lIns="0" tIns="0" rIns="0" bIns="0" rtlCol="0" anchor="ctr"/>
          <a:lstStyle/>
          <a:p>
            <a:pPr marL="0" indent="0">
              <a:buNone/>
            </a:pPr>
            <a:r>
              <a:rPr lang="en-US" sz="1200" b="1" dirty="0">
                <a:solidFill>
                  <a:srgbClr val="024731"/>
                </a:solidFill>
                <a:latin typeface="Open Sans" pitchFamily="34" charset="0"/>
                <a:ea typeface="Open Sans" pitchFamily="34" charset="-122"/>
                <a:cs typeface="Open Sans" pitchFamily="34" charset="-120"/>
              </a:rPr>
              <a:t>README.md Files</a:t>
            </a:r>
            <a:endParaRPr lang="en-US" sz="1200" dirty="0"/>
          </a:p>
        </p:txBody>
      </p:sp>
      <p:sp>
        <p:nvSpPr>
          <p:cNvPr id="10" name="Text 7"/>
          <p:cNvSpPr/>
          <p:nvPr/>
        </p:nvSpPr>
        <p:spPr>
          <a:xfrm>
            <a:off x="5349240" y="1325880"/>
            <a:ext cx="3291840" cy="50292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Every directory gets a README. If someone new joins, they navigate by READMEs alone.</a:t>
            </a:r>
            <a:endParaRPr lang="en-US" sz="1000" dirty="0"/>
          </a:p>
        </p:txBody>
      </p:sp>
      <p:sp>
        <p:nvSpPr>
          <p:cNvPr id="11" name="Shape 8"/>
          <p:cNvSpPr/>
          <p:nvPr/>
        </p:nvSpPr>
        <p:spPr>
          <a:xfrm>
            <a:off x="4846320" y="1965960"/>
            <a:ext cx="365760" cy="365760"/>
          </a:xfrm>
          <a:prstGeom prst="ellipse">
            <a:avLst/>
          </a:prstGeom>
          <a:solidFill>
            <a:srgbClr val="E6F2E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926787" y="2046427"/>
            <a:ext cx="204826" cy="204826"/>
          </a:xfrm>
          <a:prstGeom prst="rect">
            <a:avLst/>
          </a:prstGeom>
        </p:spPr>
      </p:pic>
      <p:sp>
        <p:nvSpPr>
          <p:cNvPr id="13" name="Text 9"/>
          <p:cNvSpPr/>
          <p:nvPr/>
        </p:nvSpPr>
        <p:spPr>
          <a:xfrm>
            <a:off x="5349240" y="1920240"/>
            <a:ext cx="3291840" cy="274320"/>
          </a:xfrm>
          <a:prstGeom prst="rect">
            <a:avLst/>
          </a:prstGeom>
          <a:noFill/>
          <a:ln/>
        </p:spPr>
        <p:txBody>
          <a:bodyPr wrap="square" lIns="0" tIns="0" rIns="0" bIns="0" rtlCol="0" anchor="ctr"/>
          <a:lstStyle/>
          <a:p>
            <a:pPr marL="0" indent="0">
              <a:buNone/>
            </a:pPr>
            <a:r>
              <a:rPr lang="en-US" sz="1200" b="1" dirty="0">
                <a:solidFill>
                  <a:srgbClr val="024731"/>
                </a:solidFill>
                <a:latin typeface="Open Sans" pitchFamily="34" charset="0"/>
                <a:ea typeface="Open Sans" pitchFamily="34" charset="-122"/>
                <a:cs typeface="Open Sans" pitchFamily="34" charset="-120"/>
              </a:rPr>
              <a:t>Git Basics</a:t>
            </a:r>
            <a:endParaRPr lang="en-US" sz="1200" dirty="0"/>
          </a:p>
        </p:txBody>
      </p:sp>
      <p:sp>
        <p:nvSpPr>
          <p:cNvPr id="14" name="Text 10"/>
          <p:cNvSpPr/>
          <p:nvPr/>
        </p:nvSpPr>
        <p:spPr>
          <a:xfrm>
            <a:off x="5349240" y="2194560"/>
            <a:ext cx="3291840" cy="50292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Clone, add, commit, push, pull. Descriptive commit messages. Version control as a professional skill.</a:t>
            </a:r>
            <a:endParaRPr lang="en-US" sz="1000" dirty="0"/>
          </a:p>
        </p:txBody>
      </p:sp>
      <p:sp>
        <p:nvSpPr>
          <p:cNvPr id="15" name="Shape 11"/>
          <p:cNvSpPr/>
          <p:nvPr/>
        </p:nvSpPr>
        <p:spPr>
          <a:xfrm>
            <a:off x="4846320" y="2834640"/>
            <a:ext cx="365760" cy="365760"/>
          </a:xfrm>
          <a:prstGeom prst="ellipse">
            <a:avLst/>
          </a:prstGeom>
          <a:solidFill>
            <a:srgbClr val="E6F2EF"/>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4926787" y="2915107"/>
            <a:ext cx="204826" cy="204826"/>
          </a:xfrm>
          <a:prstGeom prst="rect">
            <a:avLst/>
          </a:prstGeom>
        </p:spPr>
      </p:pic>
      <p:sp>
        <p:nvSpPr>
          <p:cNvPr id="17" name="Text 12"/>
          <p:cNvSpPr/>
          <p:nvPr/>
        </p:nvSpPr>
        <p:spPr>
          <a:xfrm>
            <a:off x="5349240" y="2788920"/>
            <a:ext cx="3291840" cy="274320"/>
          </a:xfrm>
          <a:prstGeom prst="rect">
            <a:avLst/>
          </a:prstGeom>
          <a:noFill/>
          <a:ln/>
        </p:spPr>
        <p:txBody>
          <a:bodyPr wrap="square" lIns="0" tIns="0" rIns="0" bIns="0" rtlCol="0" anchor="ctr"/>
          <a:lstStyle/>
          <a:p>
            <a:pPr marL="0" indent="0">
              <a:buNone/>
            </a:pPr>
            <a:r>
              <a:rPr lang="en-US" sz="1200" b="1" dirty="0">
                <a:solidFill>
                  <a:srgbClr val="024731"/>
                </a:solidFill>
                <a:latin typeface="Open Sans" pitchFamily="34" charset="0"/>
                <a:ea typeface="Open Sans" pitchFamily="34" charset="-122"/>
                <a:cs typeface="Open Sans" pitchFamily="34" charset="-120"/>
              </a:rPr>
              <a:t>Markdown</a:t>
            </a:r>
            <a:endParaRPr lang="en-US" sz="1200" dirty="0"/>
          </a:p>
        </p:txBody>
      </p:sp>
      <p:sp>
        <p:nvSpPr>
          <p:cNvPr id="18" name="Text 13"/>
          <p:cNvSpPr/>
          <p:nvPr/>
        </p:nvSpPr>
        <p:spPr>
          <a:xfrm>
            <a:off x="5349240" y="3063240"/>
            <a:ext cx="3291840" cy="50292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Headings, lists, tables, links, code blocks — the same tools used in every stage.</a:t>
            </a:r>
            <a:endParaRPr lang="en-US" sz="1000" dirty="0"/>
          </a:p>
        </p:txBody>
      </p:sp>
      <p:sp>
        <p:nvSpPr>
          <p:cNvPr id="19" name="Shape 14"/>
          <p:cNvSpPr/>
          <p:nvPr/>
        </p:nvSpPr>
        <p:spPr>
          <a:xfrm>
            <a:off x="4846320" y="3703320"/>
            <a:ext cx="365760" cy="365760"/>
          </a:xfrm>
          <a:prstGeom prst="ellipse">
            <a:avLst/>
          </a:prstGeom>
          <a:solidFill>
            <a:srgbClr val="E6F2EF"/>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4926787" y="3783787"/>
            <a:ext cx="204826" cy="204826"/>
          </a:xfrm>
          <a:prstGeom prst="rect">
            <a:avLst/>
          </a:prstGeom>
        </p:spPr>
      </p:pic>
      <p:sp>
        <p:nvSpPr>
          <p:cNvPr id="21" name="Text 15"/>
          <p:cNvSpPr/>
          <p:nvPr/>
        </p:nvSpPr>
        <p:spPr>
          <a:xfrm>
            <a:off x="5349240" y="3657600"/>
            <a:ext cx="3291840" cy="274320"/>
          </a:xfrm>
          <a:prstGeom prst="rect">
            <a:avLst/>
          </a:prstGeom>
          <a:noFill/>
          <a:ln/>
        </p:spPr>
        <p:txBody>
          <a:bodyPr wrap="square" lIns="0" tIns="0" rIns="0" bIns="0" rtlCol="0" anchor="ctr"/>
          <a:lstStyle/>
          <a:p>
            <a:pPr marL="0" indent="0">
              <a:buNone/>
            </a:pPr>
            <a:r>
              <a:rPr lang="en-US" sz="1200" b="1" dirty="0">
                <a:solidFill>
                  <a:srgbClr val="024731"/>
                </a:solidFill>
                <a:latin typeface="Open Sans" pitchFamily="34" charset="0"/>
                <a:ea typeface="Open Sans" pitchFamily="34" charset="-122"/>
                <a:cs typeface="Open Sans" pitchFamily="34" charset="-120"/>
              </a:rPr>
              <a:t>Separation of Concerns</a:t>
            </a:r>
            <a:endParaRPr lang="en-US" sz="1200" dirty="0"/>
          </a:p>
        </p:txBody>
      </p:sp>
      <p:sp>
        <p:nvSpPr>
          <p:cNvPr id="22" name="Text 16"/>
          <p:cNvSpPr/>
          <p:nvPr/>
        </p:nvSpPr>
        <p:spPr>
          <a:xfrm>
            <a:off x="5349240" y="3931920"/>
            <a:ext cx="3291840" cy="50292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Raw data ≠ analysis. Templates ≠ builds. Drafts ≠ deliverables.</a:t>
            </a:r>
            <a:endParaRPr lang="en-US" sz="1000" dirty="0"/>
          </a:p>
        </p:txBody>
      </p:sp>
      <p:sp>
        <p:nvSpPr>
          <p:cNvPr id="23" name="Text 17"/>
          <p:cNvSpPr/>
          <p:nvPr/>
        </p:nvSpPr>
        <p:spPr>
          <a:xfrm>
            <a:off x="4846320" y="4526280"/>
            <a:ext cx="3840480" cy="274320"/>
          </a:xfrm>
          <a:prstGeom prst="rect">
            <a:avLst/>
          </a:prstGeom>
          <a:noFill/>
          <a:ln/>
        </p:spPr>
        <p:txBody>
          <a:bodyPr wrap="square" rtlCol="0" anchor="ctr"/>
          <a:lstStyle/>
          <a:p>
            <a:pPr marL="0" indent="0">
              <a:buNone/>
            </a:pPr>
            <a:r>
              <a:rPr lang="en-US" sz="900" i="1" dirty="0">
                <a:solidFill>
                  <a:srgbClr val="6B7280"/>
                </a:solidFill>
                <a:latin typeface="Open Sans" pitchFamily="34" charset="0"/>
                <a:ea typeface="Open Sans" pitchFamily="34" charset="-122"/>
                <a:cs typeface="Open Sans" pitchFamily="34" charset="-120"/>
              </a:rPr>
              <a:t>The course repo serves as a living example — replicate its structure in your own repo.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0  |  GitHub &amp; Workflow Onboarding  |  your-repo on github.com</a:t>
            </a:r>
            <a:endParaRPr lang="en-US" sz="900" dirty="0"/>
          </a:p>
        </p:txBody>
      </p:sp>
      <p:sp>
        <p:nvSpPr>
          <p:cNvPr id="5" name="Shape 3"/>
          <p:cNvSpPr/>
          <p:nvPr/>
        </p:nvSpPr>
        <p:spPr>
          <a:xfrm>
            <a:off x="731520" y="274320"/>
            <a:ext cx="1179576" cy="274320"/>
          </a:xfrm>
          <a:prstGeom prst="rect">
            <a:avLst/>
          </a:prstGeom>
          <a:solidFill>
            <a:srgbClr val="36454F"/>
          </a:solidFill>
          <a:ln/>
        </p:spPr>
        <p:txBody>
          <a:bodyPr/>
          <a:lstStyle/>
          <a:p>
            <a:endParaRPr lang="en-US"/>
          </a:p>
        </p:txBody>
      </p:sp>
      <p:sp>
        <p:nvSpPr>
          <p:cNvPr id="6" name="Text 4"/>
          <p:cNvSpPr/>
          <p:nvPr/>
        </p:nvSpPr>
        <p:spPr>
          <a:xfrm>
            <a:off x="731520" y="274320"/>
            <a:ext cx="1179576" cy="274320"/>
          </a:xfrm>
          <a:prstGeom prst="rect">
            <a:avLst/>
          </a:prstGeom>
          <a:noFill/>
          <a:ln/>
        </p:spPr>
        <p:txBody>
          <a:bodyPr wrap="square" lIns="0" tIns="0" rIns="0" bIns="0" rtlCol="0" anchor="ctr"/>
          <a:lstStyle/>
          <a:p>
            <a:pPr marL="0" indent="0" algn="ctr">
              <a:buNone/>
            </a:pPr>
            <a:r>
              <a:rPr lang="en-US" sz="900" b="1" kern="0" spc="300" dirty="0">
                <a:solidFill>
                  <a:srgbClr val="B8975C"/>
                </a:solidFill>
                <a:latin typeface="Open Sans" pitchFamily="34" charset="0"/>
                <a:ea typeface="Open Sans" pitchFamily="34" charset="-122"/>
                <a:cs typeface="Open Sans" pitchFamily="34" charset="-120"/>
              </a:rPr>
              <a:t>STEP 1 OF 5</a:t>
            </a:r>
            <a:endParaRPr lang="en-US" sz="900" dirty="0"/>
          </a:p>
        </p:txBody>
      </p:sp>
      <p:sp>
        <p:nvSpPr>
          <p:cNvPr id="7" name="Text 5"/>
          <p:cNvSpPr/>
          <p:nvPr/>
        </p:nvSpPr>
        <p:spPr>
          <a:xfrm>
            <a:off x="731520" y="64008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Create a GitHub Account</a:t>
            </a:r>
            <a:endParaRPr lang="en-US" sz="2800" dirty="0"/>
          </a:p>
        </p:txBody>
      </p:sp>
      <p:sp>
        <p:nvSpPr>
          <p:cNvPr id="8" name="Shape 6"/>
          <p:cNvSpPr/>
          <p:nvPr/>
        </p:nvSpPr>
        <p:spPr>
          <a:xfrm>
            <a:off x="731520" y="1280160"/>
            <a:ext cx="365760" cy="365760"/>
          </a:xfrm>
          <a:prstGeom prst="line">
            <a:avLst/>
          </a:prstGeom>
          <a:solidFill>
            <a:srgbClr val="B8975C"/>
          </a:solidFill>
          <a:ln/>
        </p:spPr>
        <p:txBody>
          <a:bodyPr/>
          <a:lstStyle/>
          <a:p>
            <a:endParaRPr lang="en-US"/>
          </a:p>
        </p:txBody>
      </p:sp>
      <p:sp>
        <p:nvSpPr>
          <p:cNvPr id="9" name="Text 7"/>
          <p:cNvSpPr/>
          <p:nvPr/>
        </p:nvSpPr>
        <p:spPr>
          <a:xfrm>
            <a:off x="731520" y="12801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1</a:t>
            </a:r>
            <a:endParaRPr lang="en-US" sz="1400" dirty="0"/>
          </a:p>
        </p:txBody>
      </p:sp>
      <p:sp>
        <p:nvSpPr>
          <p:cNvPr id="10" name="Text 8"/>
          <p:cNvSpPr/>
          <p:nvPr/>
        </p:nvSpPr>
        <p:spPr>
          <a:xfrm>
            <a:off x="1280160" y="128016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Go to github.com and click Sign Up</a:t>
            </a:r>
            <a:endParaRPr lang="en-US" sz="1300" dirty="0"/>
          </a:p>
        </p:txBody>
      </p:sp>
      <p:sp>
        <p:nvSpPr>
          <p:cNvPr id="11" name="Shape 9"/>
          <p:cNvSpPr/>
          <p:nvPr/>
        </p:nvSpPr>
        <p:spPr>
          <a:xfrm>
            <a:off x="731520" y="1828800"/>
            <a:ext cx="365760" cy="365760"/>
          </a:xfrm>
          <a:prstGeom prst="line">
            <a:avLst/>
          </a:prstGeom>
          <a:solidFill>
            <a:srgbClr val="B8975C"/>
          </a:solidFill>
          <a:ln/>
        </p:spPr>
        <p:txBody>
          <a:bodyPr/>
          <a:lstStyle/>
          <a:p>
            <a:endParaRPr lang="en-US"/>
          </a:p>
        </p:txBody>
      </p:sp>
      <p:sp>
        <p:nvSpPr>
          <p:cNvPr id="12" name="Text 10"/>
          <p:cNvSpPr/>
          <p:nvPr/>
        </p:nvSpPr>
        <p:spPr>
          <a:xfrm>
            <a:off x="731520" y="18288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2</a:t>
            </a:r>
            <a:endParaRPr lang="en-US" sz="1400" dirty="0"/>
          </a:p>
        </p:txBody>
      </p:sp>
      <p:sp>
        <p:nvSpPr>
          <p:cNvPr id="13" name="Text 11"/>
          <p:cNvSpPr/>
          <p:nvPr/>
        </p:nvSpPr>
        <p:spPr>
          <a:xfrm>
            <a:off x="1280160" y="182880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Use your @hawaii.edu email (gets free GitHub Pro)</a:t>
            </a:r>
            <a:endParaRPr lang="en-US" sz="1300" dirty="0"/>
          </a:p>
        </p:txBody>
      </p:sp>
      <p:sp>
        <p:nvSpPr>
          <p:cNvPr id="14" name="Shape 12"/>
          <p:cNvSpPr/>
          <p:nvPr/>
        </p:nvSpPr>
        <p:spPr>
          <a:xfrm>
            <a:off x="731520" y="2377440"/>
            <a:ext cx="365760" cy="365760"/>
          </a:xfrm>
          <a:prstGeom prst="line">
            <a:avLst/>
          </a:prstGeom>
          <a:solidFill>
            <a:srgbClr val="B8975C"/>
          </a:solidFill>
          <a:ln/>
        </p:spPr>
        <p:txBody>
          <a:bodyPr/>
          <a:lstStyle/>
          <a:p>
            <a:endParaRPr lang="en-US"/>
          </a:p>
        </p:txBody>
      </p:sp>
      <p:sp>
        <p:nvSpPr>
          <p:cNvPr id="15" name="Text 13"/>
          <p:cNvSpPr/>
          <p:nvPr/>
        </p:nvSpPr>
        <p:spPr>
          <a:xfrm>
            <a:off x="73152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3</a:t>
            </a:r>
            <a:endParaRPr lang="en-US" sz="1400" dirty="0"/>
          </a:p>
        </p:txBody>
      </p:sp>
      <p:sp>
        <p:nvSpPr>
          <p:cNvPr id="16" name="Text 14"/>
          <p:cNvSpPr/>
          <p:nvPr/>
        </p:nvSpPr>
        <p:spPr>
          <a:xfrm>
            <a:off x="1280160" y="237744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Choose a professional username (e.g., firstname-lastname)</a:t>
            </a:r>
            <a:endParaRPr lang="en-US" sz="1300" dirty="0"/>
          </a:p>
        </p:txBody>
      </p:sp>
      <p:sp>
        <p:nvSpPr>
          <p:cNvPr id="17" name="Shape 15"/>
          <p:cNvSpPr/>
          <p:nvPr/>
        </p:nvSpPr>
        <p:spPr>
          <a:xfrm>
            <a:off x="731520" y="2926080"/>
            <a:ext cx="365760" cy="365760"/>
          </a:xfrm>
          <a:prstGeom prst="line">
            <a:avLst/>
          </a:prstGeom>
          <a:solidFill>
            <a:srgbClr val="B8975C"/>
          </a:solidFill>
          <a:ln/>
        </p:spPr>
        <p:txBody>
          <a:bodyPr/>
          <a:lstStyle/>
          <a:p>
            <a:endParaRPr lang="en-US"/>
          </a:p>
        </p:txBody>
      </p:sp>
      <p:sp>
        <p:nvSpPr>
          <p:cNvPr id="18" name="Text 16"/>
          <p:cNvSpPr/>
          <p:nvPr/>
        </p:nvSpPr>
        <p:spPr>
          <a:xfrm>
            <a:off x="731520" y="29260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4</a:t>
            </a:r>
            <a:endParaRPr lang="en-US" sz="1400" dirty="0"/>
          </a:p>
        </p:txBody>
      </p:sp>
      <p:sp>
        <p:nvSpPr>
          <p:cNvPr id="19" name="Text 17"/>
          <p:cNvSpPr/>
          <p:nvPr/>
        </p:nvSpPr>
        <p:spPr>
          <a:xfrm>
            <a:off x="1280160" y="292608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Verify your email address</a:t>
            </a:r>
            <a:endParaRPr lang="en-US" sz="1300" dirty="0"/>
          </a:p>
        </p:txBody>
      </p:sp>
      <p:sp>
        <p:nvSpPr>
          <p:cNvPr id="20" name="Shape 18"/>
          <p:cNvSpPr/>
          <p:nvPr/>
        </p:nvSpPr>
        <p:spPr>
          <a:xfrm>
            <a:off x="731520" y="3474720"/>
            <a:ext cx="365760" cy="365760"/>
          </a:xfrm>
          <a:prstGeom prst="line">
            <a:avLst/>
          </a:prstGeom>
          <a:solidFill>
            <a:srgbClr val="B8975C"/>
          </a:solidFill>
          <a:ln/>
        </p:spPr>
        <p:txBody>
          <a:bodyPr/>
          <a:lstStyle/>
          <a:p>
            <a:endParaRPr lang="en-US"/>
          </a:p>
        </p:txBody>
      </p:sp>
      <p:sp>
        <p:nvSpPr>
          <p:cNvPr id="21" name="Text 19"/>
          <p:cNvSpPr/>
          <p:nvPr/>
        </p:nvSpPr>
        <p:spPr>
          <a:xfrm>
            <a:off x="731520" y="3474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5</a:t>
            </a:r>
            <a:endParaRPr lang="en-US" sz="1400" dirty="0"/>
          </a:p>
        </p:txBody>
      </p:sp>
      <p:sp>
        <p:nvSpPr>
          <p:cNvPr id="22" name="Text 20"/>
          <p:cNvSpPr/>
          <p:nvPr/>
        </p:nvSpPr>
        <p:spPr>
          <a:xfrm>
            <a:off x="1280160" y="347472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Share your GitHub username with the instructor</a:t>
            </a:r>
            <a:endParaRPr lang="en-US" sz="1300" dirty="0"/>
          </a:p>
        </p:txBody>
      </p:sp>
      <p:sp>
        <p:nvSpPr>
          <p:cNvPr id="23" name="Shape 21"/>
          <p:cNvSpPr/>
          <p:nvPr/>
        </p:nvSpPr>
        <p:spPr>
          <a:xfrm>
            <a:off x="5486400" y="1280160"/>
            <a:ext cx="3108960" cy="29260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24" name="Image 0" descr="preencoded.png"/>
          <p:cNvPicPr>
            <a:picLocks noChangeAspect="1"/>
          </p:cNvPicPr>
          <p:nvPr/>
        </p:nvPicPr>
        <p:blipFill>
          <a:blip r:embed="rId3"/>
          <a:stretch>
            <a:fillRect/>
          </a:stretch>
        </p:blipFill>
        <p:spPr>
          <a:xfrm>
            <a:off x="5715000" y="1463040"/>
            <a:ext cx="320040" cy="320040"/>
          </a:xfrm>
          <a:prstGeom prst="rect">
            <a:avLst/>
          </a:prstGeom>
        </p:spPr>
      </p:pic>
      <p:sp>
        <p:nvSpPr>
          <p:cNvPr id="25" name="Text 22"/>
          <p:cNvSpPr/>
          <p:nvPr/>
        </p:nvSpPr>
        <p:spPr>
          <a:xfrm>
            <a:off x="6126480" y="1463040"/>
            <a:ext cx="22860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Pro Tips</a:t>
            </a:r>
            <a:endParaRPr lang="en-US" sz="1400" dirty="0"/>
          </a:p>
        </p:txBody>
      </p:sp>
      <p:sp>
        <p:nvSpPr>
          <p:cNvPr id="26" name="Text 23"/>
          <p:cNvSpPr/>
          <p:nvPr/>
        </p:nvSpPr>
        <p:spPr>
          <a:xfrm>
            <a:off x="5715000" y="1920240"/>
            <a:ext cx="2697480" cy="2103120"/>
          </a:xfrm>
          <a:prstGeom prst="rect">
            <a:avLst/>
          </a:prstGeom>
          <a:noFill/>
          <a:ln/>
        </p:spPr>
        <p:txBody>
          <a:bodyPr wrap="square" lIns="0" tIns="0" rIns="0" bIns="0" rtlCol="0" anchor="t"/>
          <a:lstStyle/>
          <a:p>
            <a:pPr marL="0" indent="0">
              <a:buNone/>
            </a:pPr>
            <a:r>
              <a:rPr lang="en-US" sz="1100" b="1" dirty="0">
                <a:solidFill>
                  <a:srgbClr val="1E2530"/>
                </a:solidFill>
              </a:rPr>
              <a:t>Username matters</a:t>
            </a:r>
            <a:endParaRPr lang="en-US" sz="1100" dirty="0"/>
          </a:p>
          <a:p>
            <a:pPr marL="0" indent="0">
              <a:buNone/>
            </a:pPr>
            <a:r>
              <a:rPr lang="en-US" sz="1000" dirty="0">
                <a:solidFill>
                  <a:srgbClr val="5A6B7A"/>
                </a:solidFill>
              </a:rPr>
              <a:t>Employers see it. Avoid gamer tags or joke names.
</a:t>
            </a:r>
            <a:endParaRPr lang="en-US" sz="1100" dirty="0"/>
          </a:p>
          <a:p>
            <a:pPr marL="0" indent="0">
              <a:buNone/>
            </a:pPr>
            <a:r>
              <a:rPr lang="en-US" sz="1100" b="1" dirty="0">
                <a:solidFill>
                  <a:srgbClr val="1E2530"/>
                </a:solidFill>
              </a:rPr>
              <a:t>Student Developer Pack</a:t>
            </a:r>
            <a:endParaRPr lang="en-US" sz="1100" dirty="0"/>
          </a:p>
          <a:p>
            <a:pPr marL="0" indent="0">
              <a:buNone/>
            </a:pPr>
            <a:r>
              <a:rPr lang="en-US" sz="1000" dirty="0">
                <a:solidFill>
                  <a:srgbClr val="5A6B7A"/>
                </a:solidFill>
              </a:rPr>
              <a:t>education.github.com — free Pro features, Copilot access, and more with your .edu email.
</a:t>
            </a:r>
            <a:endParaRPr lang="en-US" sz="1100" dirty="0"/>
          </a:p>
          <a:p>
            <a:pPr marL="0" indent="0">
              <a:buNone/>
            </a:pPr>
            <a:r>
              <a:rPr lang="en-US" sz="1100" b="1" dirty="0">
                <a:solidFill>
                  <a:srgbClr val="1E2530"/>
                </a:solidFill>
              </a:rPr>
              <a:t>Profile photo</a:t>
            </a:r>
            <a:endParaRPr lang="en-US" sz="1100" dirty="0"/>
          </a:p>
          <a:p>
            <a:pPr marL="0" indent="0">
              <a:buNone/>
            </a:pPr>
            <a:r>
              <a:rPr lang="en-US" sz="1000" dirty="0">
                <a:solidFill>
                  <a:srgbClr val="5A6B7A"/>
                </a:solidFill>
              </a:rPr>
              <a:t>Optional but professional. Headshot or avatar helps your instructor identify you.</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0  |  GitHub &amp; Workflow Onboarding  |  desktop.github.com</a:t>
            </a:r>
            <a:endParaRPr lang="en-US" sz="900" dirty="0"/>
          </a:p>
        </p:txBody>
      </p:sp>
      <p:sp>
        <p:nvSpPr>
          <p:cNvPr id="5" name="Shape 3"/>
          <p:cNvSpPr/>
          <p:nvPr/>
        </p:nvSpPr>
        <p:spPr>
          <a:xfrm>
            <a:off x="731520" y="274320"/>
            <a:ext cx="1179576" cy="274320"/>
          </a:xfrm>
          <a:prstGeom prst="rect">
            <a:avLst/>
          </a:prstGeom>
          <a:solidFill>
            <a:srgbClr val="36454F"/>
          </a:solidFill>
          <a:ln/>
        </p:spPr>
        <p:txBody>
          <a:bodyPr/>
          <a:lstStyle/>
          <a:p>
            <a:endParaRPr lang="en-US"/>
          </a:p>
        </p:txBody>
      </p:sp>
      <p:sp>
        <p:nvSpPr>
          <p:cNvPr id="6" name="Text 4"/>
          <p:cNvSpPr/>
          <p:nvPr/>
        </p:nvSpPr>
        <p:spPr>
          <a:xfrm>
            <a:off x="731520" y="274320"/>
            <a:ext cx="1179576" cy="274320"/>
          </a:xfrm>
          <a:prstGeom prst="rect">
            <a:avLst/>
          </a:prstGeom>
          <a:noFill/>
          <a:ln/>
        </p:spPr>
        <p:txBody>
          <a:bodyPr wrap="square" lIns="0" tIns="0" rIns="0" bIns="0" rtlCol="0" anchor="ctr"/>
          <a:lstStyle/>
          <a:p>
            <a:pPr marL="0" indent="0" algn="ctr">
              <a:buNone/>
            </a:pPr>
            <a:r>
              <a:rPr lang="en-US" sz="900" b="1" kern="0" spc="300" dirty="0">
                <a:solidFill>
                  <a:srgbClr val="B8975C"/>
                </a:solidFill>
                <a:latin typeface="Open Sans" pitchFamily="34" charset="0"/>
                <a:ea typeface="Open Sans" pitchFamily="34" charset="-122"/>
                <a:cs typeface="Open Sans" pitchFamily="34" charset="-120"/>
              </a:rPr>
              <a:t>STEP 2 OF 5</a:t>
            </a:r>
            <a:endParaRPr lang="en-US" sz="900" dirty="0"/>
          </a:p>
        </p:txBody>
      </p:sp>
      <p:sp>
        <p:nvSpPr>
          <p:cNvPr id="7" name="Text 5"/>
          <p:cNvSpPr/>
          <p:nvPr/>
        </p:nvSpPr>
        <p:spPr>
          <a:xfrm>
            <a:off x="731520" y="64008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Install GitHub Desktop</a:t>
            </a:r>
            <a:endParaRPr lang="en-US" sz="2800" dirty="0"/>
          </a:p>
        </p:txBody>
      </p:sp>
      <p:sp>
        <p:nvSpPr>
          <p:cNvPr id="8" name="Text 6"/>
          <p:cNvSpPr/>
          <p:nvPr/>
        </p:nvSpPr>
        <p:spPr>
          <a:xfrm>
            <a:off x="731520" y="1143000"/>
            <a:ext cx="7680960" cy="365760"/>
          </a:xfrm>
          <a:prstGeom prst="rect">
            <a:avLst/>
          </a:prstGeom>
          <a:noFill/>
          <a:ln/>
        </p:spPr>
        <p:txBody>
          <a:bodyPr wrap="square" lIns="0" tIns="0" rIns="0" bIns="0" rtlCol="0" anchor="ctr"/>
          <a:lstStyle/>
          <a:p>
            <a:pPr marL="0" indent="0">
              <a:buNone/>
            </a:pPr>
            <a:r>
              <a:rPr lang="en-US" sz="1200" dirty="0">
                <a:solidFill>
                  <a:srgbClr val="5A6B7A"/>
                </a:solidFill>
                <a:latin typeface="Open Sans" pitchFamily="34" charset="0"/>
                <a:ea typeface="Open Sans" pitchFamily="34" charset="-122"/>
                <a:cs typeface="Open Sans" pitchFamily="34" charset="-120"/>
              </a:rPr>
              <a:t>GitHub Desktop is a free visual app — no terminal, no command line. It installs Git in the background and wraps every Git operation in a button or menu.</a:t>
            </a:r>
            <a:endParaRPr lang="en-US" sz="1200" dirty="0"/>
          </a:p>
        </p:txBody>
      </p:sp>
      <p:sp>
        <p:nvSpPr>
          <p:cNvPr id="9" name="Shape 7"/>
          <p:cNvSpPr/>
          <p:nvPr/>
        </p:nvSpPr>
        <p:spPr>
          <a:xfrm>
            <a:off x="731520" y="1691640"/>
            <a:ext cx="3840480" cy="1783080"/>
          </a:xfrm>
          <a:prstGeom prst="rect">
            <a:avLst/>
          </a:prstGeom>
          <a:solidFill>
            <a:srgbClr val="FFFFFF"/>
          </a:solidFill>
          <a:ln/>
          <a:effectLst>
            <a:outerShdw blurRad="50800" dist="25400" dir="8100000" algn="bl" rotWithShape="0">
              <a:srgbClr val="000000">
                <a:alpha val="6000"/>
              </a:srgbClr>
            </a:outerShdw>
          </a:effectLst>
        </p:spPr>
        <p:txBody>
          <a:bodyPr/>
          <a:lstStyle/>
          <a:p>
            <a:endParaRPr lang="en-US"/>
          </a:p>
        </p:txBody>
      </p:sp>
      <p:sp>
        <p:nvSpPr>
          <p:cNvPr id="10" name="Text 8"/>
          <p:cNvSpPr/>
          <p:nvPr/>
        </p:nvSpPr>
        <p:spPr>
          <a:xfrm>
            <a:off x="914400" y="1783080"/>
            <a:ext cx="3474720" cy="320040"/>
          </a:xfrm>
          <a:prstGeom prst="rect">
            <a:avLst/>
          </a:prstGeom>
          <a:noFill/>
          <a:ln/>
        </p:spPr>
        <p:txBody>
          <a:bodyPr wrap="square" lIns="0" tIns="0" rIns="0" bIns="0" rtlCol="0" anchor="ctr"/>
          <a:lstStyle/>
          <a:p>
            <a:pPr marL="0" indent="0">
              <a:buNone/>
            </a:pPr>
            <a:r>
              <a:rPr lang="en-US" sz="1500" b="1" dirty="0">
                <a:solidFill>
                  <a:srgbClr val="1E2530"/>
                </a:solidFill>
                <a:latin typeface="Open Sans" pitchFamily="34" charset="0"/>
                <a:ea typeface="Open Sans" pitchFamily="34" charset="-122"/>
                <a:cs typeface="Open Sans" pitchFamily="34" charset="-120"/>
              </a:rPr>
              <a:t>Windows</a:t>
            </a:r>
            <a:endParaRPr lang="en-US" sz="1500" dirty="0"/>
          </a:p>
        </p:txBody>
      </p:sp>
      <p:sp>
        <p:nvSpPr>
          <p:cNvPr id="11" name="Text 9"/>
          <p:cNvSpPr/>
          <p:nvPr/>
        </p:nvSpPr>
        <p:spPr>
          <a:xfrm>
            <a:off x="914400" y="214884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Download from desktop.github.com</a:t>
            </a:r>
            <a:endParaRPr lang="en-US" sz="1100" dirty="0"/>
          </a:p>
        </p:txBody>
      </p:sp>
      <p:sp>
        <p:nvSpPr>
          <p:cNvPr id="12" name="Text 10"/>
          <p:cNvSpPr/>
          <p:nvPr/>
        </p:nvSpPr>
        <p:spPr>
          <a:xfrm>
            <a:off x="914400" y="246888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Run the installer — Git is bundled in, no separate install needed</a:t>
            </a:r>
            <a:endParaRPr lang="en-US" sz="1100" dirty="0"/>
          </a:p>
        </p:txBody>
      </p:sp>
      <p:sp>
        <p:nvSpPr>
          <p:cNvPr id="13" name="Text 11"/>
          <p:cNvSpPr/>
          <p:nvPr/>
        </p:nvSpPr>
        <p:spPr>
          <a:xfrm>
            <a:off x="914400" y="278892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Launch GitHub Desktop from your Start menu</a:t>
            </a:r>
            <a:endParaRPr lang="en-US" sz="1100" dirty="0"/>
          </a:p>
        </p:txBody>
      </p:sp>
      <p:sp>
        <p:nvSpPr>
          <p:cNvPr id="14" name="Text 12"/>
          <p:cNvSpPr/>
          <p:nvPr/>
        </p:nvSpPr>
        <p:spPr>
          <a:xfrm>
            <a:off x="914400" y="310896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Sign in with your GitHub.com account</a:t>
            </a:r>
            <a:endParaRPr lang="en-US" sz="1100" dirty="0"/>
          </a:p>
        </p:txBody>
      </p:sp>
      <p:sp>
        <p:nvSpPr>
          <p:cNvPr id="15" name="Shape 13"/>
          <p:cNvSpPr/>
          <p:nvPr/>
        </p:nvSpPr>
        <p:spPr>
          <a:xfrm>
            <a:off x="4937760" y="1691640"/>
            <a:ext cx="3840480" cy="1783080"/>
          </a:xfrm>
          <a:prstGeom prst="rect">
            <a:avLst/>
          </a:prstGeom>
          <a:solidFill>
            <a:srgbClr val="FFFFFF"/>
          </a:solidFill>
          <a:ln/>
          <a:effectLst>
            <a:outerShdw blurRad="50800" dist="25400" dir="8100000" algn="bl" rotWithShape="0">
              <a:srgbClr val="000000">
                <a:alpha val="6000"/>
              </a:srgbClr>
            </a:outerShdw>
          </a:effectLst>
        </p:spPr>
        <p:txBody>
          <a:bodyPr/>
          <a:lstStyle/>
          <a:p>
            <a:endParaRPr lang="en-US"/>
          </a:p>
        </p:txBody>
      </p:sp>
      <p:sp>
        <p:nvSpPr>
          <p:cNvPr id="16" name="Text 14"/>
          <p:cNvSpPr/>
          <p:nvPr/>
        </p:nvSpPr>
        <p:spPr>
          <a:xfrm>
            <a:off x="5120640" y="1783080"/>
            <a:ext cx="3474720" cy="320040"/>
          </a:xfrm>
          <a:prstGeom prst="rect">
            <a:avLst/>
          </a:prstGeom>
          <a:noFill/>
          <a:ln/>
        </p:spPr>
        <p:txBody>
          <a:bodyPr wrap="square" lIns="0" tIns="0" rIns="0" bIns="0" rtlCol="0" anchor="ctr"/>
          <a:lstStyle/>
          <a:p>
            <a:pPr marL="0" indent="0">
              <a:buNone/>
            </a:pPr>
            <a:r>
              <a:rPr lang="en-US" sz="1500" b="1" dirty="0">
                <a:solidFill>
                  <a:srgbClr val="1E2530"/>
                </a:solidFill>
                <a:latin typeface="Open Sans" pitchFamily="34" charset="0"/>
                <a:ea typeface="Open Sans" pitchFamily="34" charset="-122"/>
                <a:cs typeface="Open Sans" pitchFamily="34" charset="-120"/>
              </a:rPr>
              <a:t>Mac</a:t>
            </a:r>
            <a:endParaRPr lang="en-US" sz="1500" dirty="0"/>
          </a:p>
        </p:txBody>
      </p:sp>
      <p:sp>
        <p:nvSpPr>
          <p:cNvPr id="17" name="Text 15"/>
          <p:cNvSpPr/>
          <p:nvPr/>
        </p:nvSpPr>
        <p:spPr>
          <a:xfrm>
            <a:off x="5120640" y="214884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Download from desktop.github.com</a:t>
            </a:r>
            <a:endParaRPr lang="en-US" sz="1100" dirty="0"/>
          </a:p>
        </p:txBody>
      </p:sp>
      <p:sp>
        <p:nvSpPr>
          <p:cNvPr id="18" name="Text 16"/>
          <p:cNvSpPr/>
          <p:nvPr/>
        </p:nvSpPr>
        <p:spPr>
          <a:xfrm>
            <a:off x="5120640" y="246888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Open the .dmg, drag to Applications</a:t>
            </a:r>
            <a:endParaRPr lang="en-US" sz="1100" dirty="0"/>
          </a:p>
        </p:txBody>
      </p:sp>
      <p:sp>
        <p:nvSpPr>
          <p:cNvPr id="19" name="Text 17"/>
          <p:cNvSpPr/>
          <p:nvPr/>
        </p:nvSpPr>
        <p:spPr>
          <a:xfrm>
            <a:off x="5120640" y="278892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Launch GitHub Desktop from Applications</a:t>
            </a:r>
            <a:endParaRPr lang="en-US" sz="1100" dirty="0"/>
          </a:p>
        </p:txBody>
      </p:sp>
      <p:sp>
        <p:nvSpPr>
          <p:cNvPr id="20" name="Text 18"/>
          <p:cNvSpPr/>
          <p:nvPr/>
        </p:nvSpPr>
        <p:spPr>
          <a:xfrm>
            <a:off x="5120640" y="3108960"/>
            <a:ext cx="3474720" cy="320040"/>
          </a:xfrm>
          <a:prstGeom prst="rect">
            <a:avLst/>
          </a:prstGeom>
          <a:noFill/>
          <a:ln/>
        </p:spPr>
        <p:txBody>
          <a:bodyPr wrap="square" lIns="0" tIns="0" rIns="0" bIns="0" rtlCol="0" anchor="ctr"/>
          <a:lstStyle/>
          <a:p>
            <a:pPr marL="342900" indent="-342900">
              <a:buSzPct val="100000"/>
              <a:buChar char="•"/>
            </a:pPr>
            <a:r>
              <a:rPr lang="en-US" sz="1100" dirty="0">
                <a:solidFill>
                  <a:srgbClr val="5A6B7A"/>
                </a:solidFill>
                <a:latin typeface="Open Sans" pitchFamily="34" charset="0"/>
                <a:ea typeface="Open Sans" pitchFamily="34" charset="-122"/>
                <a:cs typeface="Open Sans" pitchFamily="34" charset="-120"/>
              </a:rPr>
              <a:t>Sign in with your GitHub.com account</a:t>
            </a:r>
            <a:endParaRPr lang="en-US" sz="1100" dirty="0"/>
          </a:p>
        </p:txBody>
      </p:sp>
      <p:sp>
        <p:nvSpPr>
          <p:cNvPr id="21" name="Shape 19"/>
          <p:cNvSpPr/>
          <p:nvPr/>
        </p:nvSpPr>
        <p:spPr>
          <a:xfrm>
            <a:off x="731520" y="3703320"/>
            <a:ext cx="7680960" cy="822960"/>
          </a:xfrm>
          <a:prstGeom prst="rect">
            <a:avLst/>
          </a:prstGeom>
          <a:solidFill>
            <a:srgbClr val="36454F"/>
          </a:solidFill>
          <a:ln/>
        </p:spPr>
        <p:txBody>
          <a:bodyPr/>
          <a:lstStyle/>
          <a:p>
            <a:endParaRPr lang="en-US"/>
          </a:p>
        </p:txBody>
      </p:sp>
      <p:pic>
        <p:nvPicPr>
          <p:cNvPr id="22" name="Image 0" descr="preencoded.png"/>
          <p:cNvPicPr>
            <a:picLocks noChangeAspect="1"/>
          </p:cNvPicPr>
          <p:nvPr/>
        </p:nvPicPr>
        <p:blipFill>
          <a:blip r:embed="rId3"/>
          <a:stretch>
            <a:fillRect/>
          </a:stretch>
        </p:blipFill>
        <p:spPr>
          <a:xfrm>
            <a:off x="960120" y="3840480"/>
            <a:ext cx="365760" cy="365760"/>
          </a:xfrm>
          <a:prstGeom prst="rect">
            <a:avLst/>
          </a:prstGeom>
        </p:spPr>
      </p:pic>
      <p:sp>
        <p:nvSpPr>
          <p:cNvPr id="23" name="Text 20"/>
          <p:cNvSpPr/>
          <p:nvPr/>
        </p:nvSpPr>
        <p:spPr>
          <a:xfrm>
            <a:off x="1463040" y="3749040"/>
            <a:ext cx="3657600" cy="274320"/>
          </a:xfrm>
          <a:prstGeom prst="rect">
            <a:avLst/>
          </a:prstGeom>
          <a:noFill/>
          <a:ln/>
        </p:spPr>
        <p:txBody>
          <a:bodyPr wrap="square" lIns="0" tIns="0" rIns="0" bIns="0" rtlCol="0" anchor="ctr"/>
          <a:lstStyle/>
          <a:p>
            <a:pPr marL="0" indent="0">
              <a:buNone/>
            </a:pPr>
            <a:r>
              <a:rPr lang="en-US" sz="1100" b="1" dirty="0">
                <a:solidFill>
                  <a:srgbClr val="B8975C"/>
                </a:solidFill>
                <a:latin typeface="Open Sans" pitchFamily="34" charset="0"/>
                <a:ea typeface="Open Sans" pitchFamily="34" charset="-122"/>
                <a:cs typeface="Open Sans" pitchFamily="34" charset="-120"/>
              </a:rPr>
              <a:t>First-Time Setup (Desktop confirms these on first launch):</a:t>
            </a:r>
            <a:endParaRPr lang="en-US" sz="1100" dirty="0"/>
          </a:p>
        </p:txBody>
      </p:sp>
      <p:sp>
        <p:nvSpPr>
          <p:cNvPr id="24" name="Text 21"/>
          <p:cNvSpPr/>
          <p:nvPr/>
        </p:nvSpPr>
        <p:spPr>
          <a:xfrm>
            <a:off x="1463040" y="4023360"/>
            <a:ext cx="6400800" cy="411480"/>
          </a:xfrm>
          <a:prstGeom prst="rect">
            <a:avLst/>
          </a:prstGeom>
          <a:noFill/>
          <a:ln/>
        </p:spPr>
        <p:txBody>
          <a:bodyPr wrap="square" lIns="0" tIns="0" rIns="0" bIns="0" rtlCol="0" anchor="ctr"/>
          <a:lstStyle/>
          <a:p>
            <a:pPr marL="0" indent="0">
              <a:lnSpc>
                <a:spcPct val="130000"/>
              </a:lnSpc>
              <a:buNone/>
            </a:pPr>
            <a:r>
              <a:rPr lang="en-US" sz="1100" dirty="0">
                <a:solidFill>
                  <a:srgbClr val="FFFFFF"/>
                </a:solidFill>
                <a:latin typeface="Consolas" pitchFamily="34" charset="0"/>
                <a:ea typeface="Consolas" pitchFamily="34" charset="-122"/>
                <a:cs typeface="Consolas" pitchFamily="34" charset="-120"/>
              </a:rPr>
              <a:t>Name:   Your full name (appears on every commit)</a:t>
            </a:r>
            <a:endParaRPr lang="en-US" sz="1100" dirty="0"/>
          </a:p>
          <a:p>
            <a:pPr marL="0" indent="0">
              <a:lnSpc>
                <a:spcPct val="130000"/>
              </a:lnSpc>
              <a:buNone/>
            </a:pPr>
            <a:r>
              <a:rPr lang="en-US" sz="1100" dirty="0">
                <a:solidFill>
                  <a:srgbClr val="FFFFFF"/>
                </a:solidFill>
                <a:latin typeface="Consolas" pitchFamily="34" charset="0"/>
                <a:ea typeface="Consolas" pitchFamily="34" charset="-122"/>
                <a:cs typeface="Consolas" pitchFamily="34" charset="-120"/>
              </a:rPr>
              <a:t>Email:  your@hawaii.edu  (matches your GitHub account)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0  |  GitHub &amp; Workflow Onboarding  |  every commit lands in your repo</a:t>
            </a:r>
            <a:endParaRPr lang="en-US" sz="900" dirty="0"/>
          </a:p>
        </p:txBody>
      </p:sp>
      <p:sp>
        <p:nvSpPr>
          <p:cNvPr id="5" name="Shape 3"/>
          <p:cNvSpPr/>
          <p:nvPr/>
        </p:nvSpPr>
        <p:spPr>
          <a:xfrm>
            <a:off x="731520" y="274320"/>
            <a:ext cx="1179576" cy="274320"/>
          </a:xfrm>
          <a:prstGeom prst="rect">
            <a:avLst/>
          </a:prstGeom>
          <a:solidFill>
            <a:srgbClr val="36454F"/>
          </a:solidFill>
          <a:ln/>
        </p:spPr>
        <p:txBody>
          <a:bodyPr/>
          <a:lstStyle/>
          <a:p>
            <a:endParaRPr lang="en-US"/>
          </a:p>
        </p:txBody>
      </p:sp>
      <p:sp>
        <p:nvSpPr>
          <p:cNvPr id="6" name="Text 4"/>
          <p:cNvSpPr/>
          <p:nvPr/>
        </p:nvSpPr>
        <p:spPr>
          <a:xfrm>
            <a:off x="731520" y="274320"/>
            <a:ext cx="1179576" cy="274320"/>
          </a:xfrm>
          <a:prstGeom prst="rect">
            <a:avLst/>
          </a:prstGeom>
          <a:noFill/>
          <a:ln/>
        </p:spPr>
        <p:txBody>
          <a:bodyPr wrap="square" lIns="0" tIns="0" rIns="0" bIns="0" rtlCol="0" anchor="ctr"/>
          <a:lstStyle/>
          <a:p>
            <a:pPr marL="0" indent="0" algn="ctr">
              <a:buNone/>
            </a:pPr>
            <a:r>
              <a:rPr lang="en-US" sz="900" b="1" kern="0" spc="300" dirty="0">
                <a:solidFill>
                  <a:srgbClr val="B8975C"/>
                </a:solidFill>
                <a:latin typeface="Open Sans" pitchFamily="34" charset="0"/>
                <a:ea typeface="Open Sans" pitchFamily="34" charset="-122"/>
                <a:cs typeface="Open Sans" pitchFamily="34" charset="-120"/>
              </a:rPr>
              <a:t>STEP 5 OF 5</a:t>
            </a:r>
            <a:endParaRPr lang="en-US" sz="900" dirty="0"/>
          </a:p>
        </p:txBody>
      </p:sp>
      <p:sp>
        <p:nvSpPr>
          <p:cNvPr id="7" name="Text 5"/>
          <p:cNvSpPr/>
          <p:nvPr/>
        </p:nvSpPr>
        <p:spPr>
          <a:xfrm>
            <a:off x="731520" y="64008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The Git Workflow: Add, Commit, Push</a:t>
            </a:r>
            <a:endParaRPr lang="en-US" sz="2800" dirty="0"/>
          </a:p>
        </p:txBody>
      </p:sp>
      <p:sp>
        <p:nvSpPr>
          <p:cNvPr id="8" name="Text 6"/>
          <p:cNvSpPr/>
          <p:nvPr/>
        </p:nvSpPr>
        <p:spPr>
          <a:xfrm>
            <a:off x="731520" y="1097280"/>
            <a:ext cx="7680960" cy="320040"/>
          </a:xfrm>
          <a:prstGeom prst="rect">
            <a:avLst/>
          </a:prstGeom>
          <a:noFill/>
          <a:ln/>
        </p:spPr>
        <p:txBody>
          <a:bodyPr wrap="square" lIns="0" tIns="0" rIns="0" bIns="0" rtlCol="0" anchor="ctr"/>
          <a:lstStyle/>
          <a:p>
            <a:pPr marL="0" indent="0">
              <a:buNone/>
            </a:pPr>
            <a:r>
              <a:rPr lang="en-US" sz="1200" dirty="0">
                <a:solidFill>
                  <a:srgbClr val="5A6B7A"/>
                </a:solidFill>
                <a:latin typeface="Open Sans" pitchFamily="34" charset="0"/>
                <a:ea typeface="Open Sans" pitchFamily="34" charset="-122"/>
                <a:cs typeface="Open Sans" pitchFamily="34" charset="-120"/>
              </a:rPr>
              <a:t>These three commands are all you need. Run them every time you finish work on a deliverable.</a:t>
            </a:r>
            <a:endParaRPr lang="en-US" sz="1200" dirty="0"/>
          </a:p>
        </p:txBody>
      </p:sp>
      <p:sp>
        <p:nvSpPr>
          <p:cNvPr id="9" name="Shape 7"/>
          <p:cNvSpPr/>
          <p:nvPr/>
        </p:nvSpPr>
        <p:spPr>
          <a:xfrm>
            <a:off x="731520" y="1554480"/>
            <a:ext cx="2468880" cy="2651760"/>
          </a:xfrm>
          <a:prstGeom prst="rect">
            <a:avLst/>
          </a:prstGeom>
          <a:solidFill>
            <a:srgbClr val="FFFFFF"/>
          </a:solidFill>
          <a:ln/>
          <a:effectLst>
            <a:outerShdw blurRad="50800" dist="25400" dir="8100000" algn="bl" rotWithShape="0">
              <a:srgbClr val="000000">
                <a:alpha val="6000"/>
              </a:srgbClr>
            </a:outerShdw>
          </a:effectLst>
        </p:spPr>
        <p:txBody>
          <a:bodyPr/>
          <a:lstStyle/>
          <a:p>
            <a:endParaRPr lang="en-US"/>
          </a:p>
        </p:txBody>
      </p:sp>
      <p:sp>
        <p:nvSpPr>
          <p:cNvPr id="10" name="Shape 8"/>
          <p:cNvSpPr/>
          <p:nvPr/>
        </p:nvSpPr>
        <p:spPr>
          <a:xfrm>
            <a:off x="1691640" y="1691640"/>
            <a:ext cx="365760" cy="365760"/>
          </a:xfrm>
          <a:prstGeom prst="line">
            <a:avLst/>
          </a:prstGeom>
          <a:solidFill>
            <a:srgbClr val="B8975C"/>
          </a:solidFill>
          <a:ln/>
        </p:spPr>
        <p:txBody>
          <a:bodyPr/>
          <a:lstStyle/>
          <a:p>
            <a:endParaRPr lang="en-US"/>
          </a:p>
        </p:txBody>
      </p:sp>
      <p:sp>
        <p:nvSpPr>
          <p:cNvPr id="11" name="Text 9"/>
          <p:cNvSpPr/>
          <p:nvPr/>
        </p:nvSpPr>
        <p:spPr>
          <a:xfrm>
            <a:off x="1691640" y="16916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1</a:t>
            </a:r>
            <a:endParaRPr lang="en-US" sz="1400" dirty="0"/>
          </a:p>
        </p:txBody>
      </p:sp>
      <p:sp>
        <p:nvSpPr>
          <p:cNvPr id="12" name="Text 10"/>
          <p:cNvSpPr/>
          <p:nvPr/>
        </p:nvSpPr>
        <p:spPr>
          <a:xfrm>
            <a:off x="868680" y="2148840"/>
            <a:ext cx="2194560" cy="274320"/>
          </a:xfrm>
          <a:prstGeom prst="rect">
            <a:avLst/>
          </a:prstGeom>
          <a:noFill/>
          <a:ln/>
        </p:spPr>
        <p:txBody>
          <a:bodyPr wrap="square" lIns="0" tIns="0" rIns="0" bIns="0" rtlCol="0" anchor="ctr"/>
          <a:lstStyle/>
          <a:p>
            <a:pPr marL="0" indent="0" algn="ctr">
              <a:buNone/>
            </a:pPr>
            <a:r>
              <a:rPr lang="en-US" sz="1500" b="1" dirty="0">
                <a:solidFill>
                  <a:srgbClr val="1E2530"/>
                </a:solidFill>
                <a:latin typeface="Open Sans" pitchFamily="34" charset="0"/>
                <a:ea typeface="Open Sans" pitchFamily="34" charset="-122"/>
                <a:cs typeface="Open Sans" pitchFamily="34" charset="-120"/>
              </a:rPr>
              <a:t>Stage</a:t>
            </a:r>
            <a:endParaRPr lang="en-US" sz="1500" dirty="0"/>
          </a:p>
        </p:txBody>
      </p:sp>
      <p:sp>
        <p:nvSpPr>
          <p:cNvPr id="13" name="Text 11"/>
          <p:cNvSpPr/>
          <p:nvPr/>
        </p:nvSpPr>
        <p:spPr>
          <a:xfrm>
            <a:off x="868680" y="2514600"/>
            <a:ext cx="2194560" cy="365760"/>
          </a:xfrm>
          <a:prstGeom prst="rect">
            <a:avLst/>
          </a:prstGeom>
          <a:solidFill>
            <a:srgbClr val="36454F"/>
          </a:solidFill>
          <a:ln/>
        </p:spPr>
        <p:txBody>
          <a:bodyPr wrap="square" lIns="0" tIns="0" rIns="0" bIns="0" rtlCol="0" anchor="ctr"/>
          <a:lstStyle/>
          <a:p>
            <a:pPr marL="0" indent="0" algn="ctr">
              <a:buNone/>
            </a:pPr>
            <a:r>
              <a:rPr lang="en-US" sz="1000" dirty="0">
                <a:solidFill>
                  <a:srgbClr val="B8975C"/>
                </a:solidFill>
                <a:latin typeface="Consolas" pitchFamily="34" charset="0"/>
                <a:ea typeface="Consolas" pitchFamily="34" charset="-122"/>
                <a:cs typeface="Consolas" pitchFamily="34" charset="-120"/>
              </a:rPr>
              <a:t>git add .</a:t>
            </a:r>
            <a:endParaRPr lang="en-US" sz="1000" dirty="0"/>
          </a:p>
        </p:txBody>
      </p:sp>
      <p:sp>
        <p:nvSpPr>
          <p:cNvPr id="14" name="Text 12"/>
          <p:cNvSpPr/>
          <p:nvPr/>
        </p:nvSpPr>
        <p:spPr>
          <a:xfrm>
            <a:off x="868680" y="2971800"/>
            <a:ext cx="2194560" cy="1005840"/>
          </a:xfrm>
          <a:prstGeom prst="rect">
            <a:avLst/>
          </a:prstGeom>
          <a:noFill/>
          <a:ln/>
        </p:spPr>
        <p:txBody>
          <a:bodyPr wrap="square" lIns="0" tIns="0" rIns="0" bIns="0" rtlCol="0" anchor="t"/>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Tells Git which files to include in the next save. The dot means all changed files.</a:t>
            </a:r>
            <a:endParaRPr lang="en-US" sz="1100" dirty="0"/>
          </a:p>
        </p:txBody>
      </p:sp>
      <p:sp>
        <p:nvSpPr>
          <p:cNvPr id="15" name="Shape 13"/>
          <p:cNvSpPr/>
          <p:nvPr/>
        </p:nvSpPr>
        <p:spPr>
          <a:xfrm>
            <a:off x="3474720" y="1554480"/>
            <a:ext cx="2468880" cy="2651760"/>
          </a:xfrm>
          <a:prstGeom prst="rect">
            <a:avLst/>
          </a:prstGeom>
          <a:solidFill>
            <a:srgbClr val="FFFFFF"/>
          </a:solidFill>
          <a:ln/>
          <a:effectLst>
            <a:outerShdw blurRad="50800" dist="25400" dir="8100000" algn="bl" rotWithShape="0">
              <a:srgbClr val="000000">
                <a:alpha val="6000"/>
              </a:srgbClr>
            </a:outerShdw>
          </a:effectLst>
        </p:spPr>
        <p:txBody>
          <a:bodyPr/>
          <a:lstStyle/>
          <a:p>
            <a:endParaRPr lang="en-US"/>
          </a:p>
        </p:txBody>
      </p:sp>
      <p:sp>
        <p:nvSpPr>
          <p:cNvPr id="16" name="Shape 14"/>
          <p:cNvSpPr/>
          <p:nvPr/>
        </p:nvSpPr>
        <p:spPr>
          <a:xfrm>
            <a:off x="4434840" y="1691640"/>
            <a:ext cx="365760" cy="365760"/>
          </a:xfrm>
          <a:prstGeom prst="line">
            <a:avLst/>
          </a:prstGeom>
          <a:solidFill>
            <a:srgbClr val="B8975C"/>
          </a:solidFill>
          <a:ln/>
        </p:spPr>
        <p:txBody>
          <a:bodyPr/>
          <a:lstStyle/>
          <a:p>
            <a:endParaRPr lang="en-US"/>
          </a:p>
        </p:txBody>
      </p:sp>
      <p:sp>
        <p:nvSpPr>
          <p:cNvPr id="17" name="Text 15"/>
          <p:cNvSpPr/>
          <p:nvPr/>
        </p:nvSpPr>
        <p:spPr>
          <a:xfrm>
            <a:off x="4434840" y="16916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2</a:t>
            </a:r>
            <a:endParaRPr lang="en-US" sz="1400" dirty="0"/>
          </a:p>
        </p:txBody>
      </p:sp>
      <p:sp>
        <p:nvSpPr>
          <p:cNvPr id="18" name="Text 16"/>
          <p:cNvSpPr/>
          <p:nvPr/>
        </p:nvSpPr>
        <p:spPr>
          <a:xfrm>
            <a:off x="3611880" y="2148840"/>
            <a:ext cx="2194560" cy="274320"/>
          </a:xfrm>
          <a:prstGeom prst="rect">
            <a:avLst/>
          </a:prstGeom>
          <a:noFill/>
          <a:ln/>
        </p:spPr>
        <p:txBody>
          <a:bodyPr wrap="square" lIns="0" tIns="0" rIns="0" bIns="0" rtlCol="0" anchor="ctr"/>
          <a:lstStyle/>
          <a:p>
            <a:pPr marL="0" indent="0" algn="ctr">
              <a:buNone/>
            </a:pPr>
            <a:r>
              <a:rPr lang="en-US" sz="1500" b="1" dirty="0">
                <a:solidFill>
                  <a:srgbClr val="1E2530"/>
                </a:solidFill>
                <a:latin typeface="Open Sans" pitchFamily="34" charset="0"/>
                <a:ea typeface="Open Sans" pitchFamily="34" charset="-122"/>
                <a:cs typeface="Open Sans" pitchFamily="34" charset="-120"/>
              </a:rPr>
              <a:t>Commit</a:t>
            </a:r>
            <a:endParaRPr lang="en-US" sz="1500" dirty="0"/>
          </a:p>
        </p:txBody>
      </p:sp>
      <p:sp>
        <p:nvSpPr>
          <p:cNvPr id="19" name="Text 17"/>
          <p:cNvSpPr/>
          <p:nvPr/>
        </p:nvSpPr>
        <p:spPr>
          <a:xfrm>
            <a:off x="3611880" y="2514600"/>
            <a:ext cx="2194560" cy="365760"/>
          </a:xfrm>
          <a:prstGeom prst="rect">
            <a:avLst/>
          </a:prstGeom>
          <a:solidFill>
            <a:srgbClr val="36454F"/>
          </a:solidFill>
          <a:ln/>
        </p:spPr>
        <p:txBody>
          <a:bodyPr wrap="square" lIns="0" tIns="0" rIns="0" bIns="0" rtlCol="0" anchor="ctr"/>
          <a:lstStyle/>
          <a:p>
            <a:pPr marL="0" indent="0" algn="ctr">
              <a:buNone/>
            </a:pPr>
            <a:r>
              <a:rPr lang="en-US" sz="1000" dirty="0">
                <a:solidFill>
                  <a:srgbClr val="B8975C"/>
                </a:solidFill>
                <a:latin typeface="Consolas" pitchFamily="34" charset="0"/>
                <a:ea typeface="Consolas" pitchFamily="34" charset="-122"/>
                <a:cs typeface="Consolas" pitchFamily="34" charset="-120"/>
              </a:rPr>
              <a:t>git commit -m "Stage 1 memo"</a:t>
            </a:r>
            <a:endParaRPr lang="en-US" sz="1000" dirty="0"/>
          </a:p>
        </p:txBody>
      </p:sp>
      <p:sp>
        <p:nvSpPr>
          <p:cNvPr id="20" name="Text 18"/>
          <p:cNvSpPr/>
          <p:nvPr/>
        </p:nvSpPr>
        <p:spPr>
          <a:xfrm>
            <a:off x="3611880" y="2971800"/>
            <a:ext cx="2194560" cy="1005840"/>
          </a:xfrm>
          <a:prstGeom prst="rect">
            <a:avLst/>
          </a:prstGeom>
          <a:noFill/>
          <a:ln/>
        </p:spPr>
        <p:txBody>
          <a:bodyPr wrap="square" lIns="0" tIns="0" rIns="0" bIns="0" rtlCol="0" anchor="t"/>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Creates a permanent snapshot with a descriptive message. This is your save point.</a:t>
            </a:r>
            <a:endParaRPr lang="en-US" sz="1100" dirty="0"/>
          </a:p>
        </p:txBody>
      </p:sp>
      <p:sp>
        <p:nvSpPr>
          <p:cNvPr id="21" name="Shape 19"/>
          <p:cNvSpPr/>
          <p:nvPr/>
        </p:nvSpPr>
        <p:spPr>
          <a:xfrm>
            <a:off x="6217920" y="1554480"/>
            <a:ext cx="2468880" cy="2651760"/>
          </a:xfrm>
          <a:prstGeom prst="rect">
            <a:avLst/>
          </a:prstGeom>
          <a:solidFill>
            <a:srgbClr val="FFFFFF"/>
          </a:solidFill>
          <a:ln/>
          <a:effectLst>
            <a:outerShdw blurRad="50800" dist="25400" dir="8100000" algn="bl" rotWithShape="0">
              <a:srgbClr val="000000">
                <a:alpha val="6000"/>
              </a:srgbClr>
            </a:outerShdw>
          </a:effectLst>
        </p:spPr>
        <p:txBody>
          <a:bodyPr/>
          <a:lstStyle/>
          <a:p>
            <a:endParaRPr lang="en-US"/>
          </a:p>
        </p:txBody>
      </p:sp>
      <p:sp>
        <p:nvSpPr>
          <p:cNvPr id="22" name="Shape 20"/>
          <p:cNvSpPr/>
          <p:nvPr/>
        </p:nvSpPr>
        <p:spPr>
          <a:xfrm>
            <a:off x="7178040" y="1691640"/>
            <a:ext cx="365760" cy="365760"/>
          </a:xfrm>
          <a:prstGeom prst="line">
            <a:avLst/>
          </a:prstGeom>
          <a:solidFill>
            <a:srgbClr val="B8975C"/>
          </a:solidFill>
          <a:ln/>
        </p:spPr>
        <p:txBody>
          <a:bodyPr/>
          <a:lstStyle/>
          <a:p>
            <a:endParaRPr lang="en-US"/>
          </a:p>
        </p:txBody>
      </p:sp>
      <p:sp>
        <p:nvSpPr>
          <p:cNvPr id="23" name="Text 21"/>
          <p:cNvSpPr/>
          <p:nvPr/>
        </p:nvSpPr>
        <p:spPr>
          <a:xfrm>
            <a:off x="7178040" y="16916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3</a:t>
            </a:r>
            <a:endParaRPr lang="en-US" sz="1400" dirty="0"/>
          </a:p>
        </p:txBody>
      </p:sp>
      <p:sp>
        <p:nvSpPr>
          <p:cNvPr id="24" name="Text 22"/>
          <p:cNvSpPr/>
          <p:nvPr/>
        </p:nvSpPr>
        <p:spPr>
          <a:xfrm>
            <a:off x="6355080" y="2148840"/>
            <a:ext cx="2194560" cy="274320"/>
          </a:xfrm>
          <a:prstGeom prst="rect">
            <a:avLst/>
          </a:prstGeom>
          <a:noFill/>
          <a:ln/>
        </p:spPr>
        <p:txBody>
          <a:bodyPr wrap="square" lIns="0" tIns="0" rIns="0" bIns="0" rtlCol="0" anchor="ctr"/>
          <a:lstStyle/>
          <a:p>
            <a:pPr marL="0" indent="0" algn="ctr">
              <a:buNone/>
            </a:pPr>
            <a:r>
              <a:rPr lang="en-US" sz="1500" b="1" dirty="0">
                <a:solidFill>
                  <a:srgbClr val="1E2530"/>
                </a:solidFill>
                <a:latin typeface="Open Sans" pitchFamily="34" charset="0"/>
                <a:ea typeface="Open Sans" pitchFamily="34" charset="-122"/>
                <a:cs typeface="Open Sans" pitchFamily="34" charset="-120"/>
              </a:rPr>
              <a:t>Push</a:t>
            </a:r>
            <a:endParaRPr lang="en-US" sz="1500" dirty="0"/>
          </a:p>
        </p:txBody>
      </p:sp>
      <p:sp>
        <p:nvSpPr>
          <p:cNvPr id="25" name="Text 23"/>
          <p:cNvSpPr/>
          <p:nvPr/>
        </p:nvSpPr>
        <p:spPr>
          <a:xfrm>
            <a:off x="6355080" y="2514600"/>
            <a:ext cx="2194560" cy="365760"/>
          </a:xfrm>
          <a:prstGeom prst="rect">
            <a:avLst/>
          </a:prstGeom>
          <a:solidFill>
            <a:srgbClr val="36454F"/>
          </a:solidFill>
          <a:ln/>
        </p:spPr>
        <p:txBody>
          <a:bodyPr wrap="square" lIns="0" tIns="0" rIns="0" bIns="0" rtlCol="0" anchor="ctr"/>
          <a:lstStyle/>
          <a:p>
            <a:pPr marL="0" indent="0" algn="ctr">
              <a:buNone/>
            </a:pPr>
            <a:r>
              <a:rPr lang="en-US" sz="1000" dirty="0">
                <a:solidFill>
                  <a:srgbClr val="B8975C"/>
                </a:solidFill>
                <a:latin typeface="Consolas" pitchFamily="34" charset="0"/>
                <a:ea typeface="Consolas" pitchFamily="34" charset="-122"/>
                <a:cs typeface="Consolas" pitchFamily="34" charset="-120"/>
              </a:rPr>
              <a:t>git push</a:t>
            </a:r>
            <a:endParaRPr lang="en-US" sz="1000" dirty="0"/>
          </a:p>
        </p:txBody>
      </p:sp>
      <p:sp>
        <p:nvSpPr>
          <p:cNvPr id="26" name="Text 24"/>
          <p:cNvSpPr/>
          <p:nvPr/>
        </p:nvSpPr>
        <p:spPr>
          <a:xfrm>
            <a:off x="6355080" y="2971800"/>
            <a:ext cx="2194560" cy="1005840"/>
          </a:xfrm>
          <a:prstGeom prst="rect">
            <a:avLst/>
          </a:prstGeom>
          <a:noFill/>
          <a:ln/>
        </p:spPr>
        <p:txBody>
          <a:bodyPr wrap="square" lIns="0" tIns="0" rIns="0" bIns="0" rtlCol="0" anchor="t"/>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Uploads your commits to GitHub so they are visible online and to your instructor.</a:t>
            </a:r>
            <a:endParaRPr lang="en-US" sz="1100" dirty="0"/>
          </a:p>
        </p:txBody>
      </p:sp>
      <p:sp>
        <p:nvSpPr>
          <p:cNvPr id="27" name="Shape 25"/>
          <p:cNvSpPr/>
          <p:nvPr/>
        </p:nvSpPr>
        <p:spPr>
          <a:xfrm>
            <a:off x="731520" y="4315968"/>
            <a:ext cx="7680960" cy="45720"/>
          </a:xfrm>
          <a:prstGeom prst="rect">
            <a:avLst/>
          </a:prstGeom>
          <a:solidFill>
            <a:srgbClr val="B8975C"/>
          </a:solidFill>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73152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Stage 1 — Ratios Template Upload</a:t>
            </a:r>
            <a:endParaRPr lang="en-US" sz="2000" dirty="0"/>
          </a:p>
        </p:txBody>
      </p:sp>
      <p:sp>
        <p:nvSpPr>
          <p:cNvPr id="4" name="Text 2"/>
          <p:cNvSpPr/>
          <p:nvPr/>
        </p:nvSpPr>
        <p:spPr>
          <a:xfrm>
            <a:off x="548640" y="429768"/>
            <a:ext cx="7315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20% of project  |  Upload-only — use the provided ratios template, do not modify</a:t>
            </a:r>
            <a:endParaRPr lang="en-US" sz="1100" dirty="0"/>
          </a:p>
        </p:txBody>
      </p:sp>
      <p:sp>
        <p:nvSpPr>
          <p:cNvPr id="5" name="Text 3"/>
          <p:cNvSpPr/>
          <p:nvPr/>
        </p:nvSpPr>
        <p:spPr>
          <a:xfrm>
            <a:off x="548640" y="1051560"/>
            <a:ext cx="4114800" cy="274320"/>
          </a:xfrm>
          <a:prstGeom prst="rect">
            <a:avLst/>
          </a:prstGeom>
          <a:noFill/>
          <a:ln/>
        </p:spPr>
        <p:txBody>
          <a:bodyPr wrap="square" lIns="0" tIns="0" rIns="0" bIns="0" rtlCol="0" anchor="ctr"/>
          <a:lstStyle/>
          <a:p>
            <a:pPr marL="0" indent="0">
              <a:buNone/>
            </a:pPr>
            <a:r>
              <a:rPr lang="en-US" sz="1300" b="1" dirty="0">
                <a:solidFill>
                  <a:srgbClr val="0D0D0D"/>
                </a:solidFill>
                <a:latin typeface="Open Sans" pitchFamily="34" charset="0"/>
                <a:ea typeface="Open Sans" pitchFamily="34" charset="-122"/>
                <a:cs typeface="Open Sans" pitchFamily="34" charset="-120"/>
              </a:rPr>
              <a:t>The provided template includes:</a:t>
            </a:r>
            <a:endParaRPr lang="en-US" sz="1300" dirty="0"/>
          </a:p>
        </p:txBody>
      </p:sp>
      <p:sp>
        <p:nvSpPr>
          <p:cNvPr id="6" name="Text 4"/>
          <p:cNvSpPr/>
          <p:nvPr/>
        </p:nvSpPr>
        <p:spPr>
          <a:xfrm>
            <a:off x="548640" y="1371600"/>
            <a:ext cx="4114800" cy="2011680"/>
          </a:xfrm>
          <a:prstGeom prst="rect">
            <a:avLst/>
          </a:prstGeom>
          <a:noFill/>
          <a:ln/>
        </p:spPr>
        <p:txBody>
          <a:bodyPr wrap="square" rtlCol="0" anchor="ctr"/>
          <a:lstStyle/>
          <a:p>
            <a:pPr marL="342900" indent="-342900">
              <a:spcAft>
                <a:spcPts val="600"/>
              </a:spcAft>
              <a:buSzPct val="100000"/>
              <a:buChar char="•"/>
            </a:pPr>
            <a:r>
              <a:rPr lang="en-US" sz="1100" dirty="0">
                <a:solidFill>
                  <a:srgbClr val="6B7280"/>
                </a:solidFill>
                <a:latin typeface="Open Sans" pitchFamily="34" charset="0"/>
                <a:ea typeface="Open Sans" pitchFamily="34" charset="-122"/>
                <a:cs typeface="Open Sans" pitchFamily="34" charset="-120"/>
              </a:rPr>
              <a:t>Financial statement tabs (Balance Sheet, Income Statement, Cash Flow)</a:t>
            </a:r>
            <a:endParaRPr lang="en-US" sz="1100" dirty="0"/>
          </a:p>
          <a:p>
            <a:pPr marL="342900" indent="-342900">
              <a:spcAft>
                <a:spcPts val="600"/>
              </a:spcAft>
              <a:buSzPct val="100000"/>
              <a:buChar char="•"/>
            </a:pPr>
            <a:r>
              <a:rPr lang="en-US" sz="1100" dirty="0">
                <a:solidFill>
                  <a:srgbClr val="6B7280"/>
                </a:solidFill>
                <a:latin typeface="Open Sans" pitchFamily="34" charset="0"/>
                <a:ea typeface="Open Sans" pitchFamily="34" charset="-122"/>
                <a:cs typeface="Open Sans" pitchFamily="34" charset="-120"/>
              </a:rPr>
              <a:t>Ratios tab with all six categories pre-filled in named-range notation</a:t>
            </a:r>
            <a:endParaRPr lang="en-US" sz="1100" dirty="0"/>
          </a:p>
          <a:p>
            <a:pPr marL="342900" indent="-342900">
              <a:spcAft>
                <a:spcPts val="600"/>
              </a:spcAft>
              <a:buSzPct val="100000"/>
              <a:buChar char="•"/>
            </a:pPr>
            <a:r>
              <a:rPr lang="en-US" sz="1100" dirty="0">
                <a:solidFill>
                  <a:srgbClr val="6B7280"/>
                </a:solidFill>
                <a:latin typeface="Open Sans" pitchFamily="34" charset="0"/>
                <a:ea typeface="Open Sans" pitchFamily="34" charset="-122"/>
                <a:cs typeface="Open Sans" pitchFamily="34" charset="-120"/>
              </a:rPr>
              <a:t>Named ranges (BAL_*, INC_*, CASH_*, RATIO_*) defined throughout</a:t>
            </a:r>
            <a:endParaRPr lang="en-US" sz="1100" dirty="0"/>
          </a:p>
          <a:p>
            <a:pPr marL="342900" indent="-342900">
              <a:spcAft>
                <a:spcPts val="600"/>
              </a:spcAft>
              <a:buSzPct val="100000"/>
              <a:buChar char="•"/>
            </a:pPr>
            <a:r>
              <a:rPr lang="en-US" sz="1100" dirty="0">
                <a:solidFill>
                  <a:srgbClr val="6B7280"/>
                </a:solidFill>
                <a:latin typeface="Open Sans" pitchFamily="34" charset="0"/>
                <a:ea typeface="Open Sans" pitchFamily="34" charset="-122"/>
                <a:cs typeface="Open Sans" pitchFamily="34" charset="-120"/>
              </a:rPr>
              <a:t>Color coding system applied (Yellow/Blue/Green/Gray)</a:t>
            </a:r>
            <a:endParaRPr lang="en-US" sz="1100" dirty="0"/>
          </a:p>
          <a:p>
            <a:pPr marL="342900" indent="-342900">
              <a:spcAft>
                <a:spcPts val="600"/>
              </a:spcAft>
              <a:buSzPct val="100000"/>
              <a:buChar char="•"/>
            </a:pPr>
            <a:r>
              <a:rPr lang="en-US" sz="1100" dirty="0">
                <a:solidFill>
                  <a:srgbClr val="6B7280"/>
                </a:solidFill>
                <a:latin typeface="Open Sans" pitchFamily="34" charset="0"/>
                <a:ea typeface="Open Sans" pitchFamily="34" charset="-122"/>
                <a:cs typeface="Open Sans" pitchFamily="34" charset="-120"/>
              </a:rPr>
              <a:t>Cover &amp; Instructions tab with project overview and named-range key</a:t>
            </a:r>
            <a:endParaRPr lang="en-US" sz="1100" dirty="0"/>
          </a:p>
        </p:txBody>
      </p:sp>
      <p:sp>
        <p:nvSpPr>
          <p:cNvPr id="7" name="Text 5"/>
          <p:cNvSpPr/>
          <p:nvPr/>
        </p:nvSpPr>
        <p:spPr>
          <a:xfrm>
            <a:off x="548640" y="3520440"/>
            <a:ext cx="4114800" cy="274320"/>
          </a:xfrm>
          <a:prstGeom prst="rect">
            <a:avLst/>
          </a:prstGeom>
          <a:noFill/>
          <a:ln/>
        </p:spPr>
        <p:txBody>
          <a:bodyPr wrap="square" lIns="0" tIns="0" rIns="0" bIns="0" rtlCol="0" anchor="ctr"/>
          <a:lstStyle/>
          <a:p>
            <a:pPr marL="0" indent="0">
              <a:buNone/>
            </a:pPr>
            <a:r>
              <a:rPr lang="en-US" sz="1200" b="1" dirty="0">
                <a:solidFill>
                  <a:srgbClr val="0D0D0D"/>
                </a:solidFill>
                <a:latin typeface="Open Sans" pitchFamily="34" charset="0"/>
                <a:ea typeface="Open Sans" pitchFamily="34" charset="-122"/>
                <a:cs typeface="Open Sans" pitchFamily="34" charset="-120"/>
              </a:rPr>
              <a:t>Color Coding Convention</a:t>
            </a:r>
            <a:endParaRPr lang="en-US" sz="1200" dirty="0"/>
          </a:p>
        </p:txBody>
      </p:sp>
      <p:sp>
        <p:nvSpPr>
          <p:cNvPr id="8" name="Shape 6"/>
          <p:cNvSpPr/>
          <p:nvPr/>
        </p:nvSpPr>
        <p:spPr>
          <a:xfrm>
            <a:off x="548640" y="3840480"/>
            <a:ext cx="914400" cy="594360"/>
          </a:xfrm>
          <a:prstGeom prst="rect">
            <a:avLst/>
          </a:prstGeom>
          <a:solidFill>
            <a:srgbClr val="FEF3C7"/>
          </a:solidFill>
          <a:ln w="19050">
            <a:solidFill>
              <a:srgbClr val="D97706"/>
            </a:solidFill>
            <a:prstDash val="solid"/>
          </a:ln>
        </p:spPr>
        <p:txBody>
          <a:bodyPr/>
          <a:lstStyle/>
          <a:p>
            <a:endParaRPr lang="en-US"/>
          </a:p>
        </p:txBody>
      </p:sp>
      <p:sp>
        <p:nvSpPr>
          <p:cNvPr id="9" name="Text 7"/>
          <p:cNvSpPr/>
          <p:nvPr/>
        </p:nvSpPr>
        <p:spPr>
          <a:xfrm>
            <a:off x="548640" y="3886200"/>
            <a:ext cx="914400" cy="502920"/>
          </a:xfrm>
          <a:prstGeom prst="rect">
            <a:avLst/>
          </a:prstGeom>
          <a:noFill/>
          <a:ln/>
        </p:spPr>
        <p:txBody>
          <a:bodyPr wrap="square" rtlCol="0" anchor="ctr"/>
          <a:lstStyle/>
          <a:p>
            <a:pPr marL="0" indent="0" algn="ctr">
              <a:buNone/>
            </a:pPr>
            <a:r>
              <a:rPr lang="en-US" sz="800" b="1" dirty="0">
                <a:solidFill>
                  <a:srgbClr val="D97706"/>
                </a:solidFill>
                <a:latin typeface="Open Sans" pitchFamily="34" charset="0"/>
                <a:ea typeface="Open Sans" pitchFamily="34" charset="-122"/>
                <a:cs typeface="Open Sans" pitchFamily="34" charset="-120"/>
              </a:rPr>
              <a:t>Yellow = Inputs</a:t>
            </a:r>
            <a:endParaRPr lang="en-US" sz="800" dirty="0"/>
          </a:p>
        </p:txBody>
      </p:sp>
      <p:sp>
        <p:nvSpPr>
          <p:cNvPr id="10" name="Shape 8"/>
          <p:cNvSpPr/>
          <p:nvPr/>
        </p:nvSpPr>
        <p:spPr>
          <a:xfrm>
            <a:off x="1572768" y="3840480"/>
            <a:ext cx="914400" cy="594360"/>
          </a:xfrm>
          <a:prstGeom prst="rect">
            <a:avLst/>
          </a:prstGeom>
          <a:solidFill>
            <a:srgbClr val="DBEAFE"/>
          </a:solidFill>
          <a:ln w="19050">
            <a:solidFill>
              <a:srgbClr val="2563EB"/>
            </a:solidFill>
            <a:prstDash val="solid"/>
          </a:ln>
        </p:spPr>
        <p:txBody>
          <a:bodyPr/>
          <a:lstStyle/>
          <a:p>
            <a:endParaRPr lang="en-US"/>
          </a:p>
        </p:txBody>
      </p:sp>
      <p:sp>
        <p:nvSpPr>
          <p:cNvPr id="11" name="Text 9"/>
          <p:cNvSpPr/>
          <p:nvPr/>
        </p:nvSpPr>
        <p:spPr>
          <a:xfrm>
            <a:off x="1572768" y="3886200"/>
            <a:ext cx="914400" cy="502920"/>
          </a:xfrm>
          <a:prstGeom prst="rect">
            <a:avLst/>
          </a:prstGeom>
          <a:noFill/>
          <a:ln/>
        </p:spPr>
        <p:txBody>
          <a:bodyPr wrap="square" rtlCol="0" anchor="ctr"/>
          <a:lstStyle/>
          <a:p>
            <a:pPr marL="0" indent="0" algn="ctr">
              <a:buNone/>
            </a:pPr>
            <a:r>
              <a:rPr lang="en-US" sz="800" b="1" dirty="0">
                <a:solidFill>
                  <a:srgbClr val="2563EB"/>
                </a:solidFill>
                <a:latin typeface="Open Sans" pitchFamily="34" charset="0"/>
                <a:ea typeface="Open Sans" pitchFamily="34" charset="-122"/>
                <a:cs typeface="Open Sans" pitchFamily="34" charset="-120"/>
              </a:rPr>
              <a:t>Blue = Assumptions</a:t>
            </a:r>
            <a:endParaRPr lang="en-US" sz="800" dirty="0"/>
          </a:p>
        </p:txBody>
      </p:sp>
      <p:sp>
        <p:nvSpPr>
          <p:cNvPr id="12" name="Shape 10"/>
          <p:cNvSpPr/>
          <p:nvPr/>
        </p:nvSpPr>
        <p:spPr>
          <a:xfrm>
            <a:off x="2596896" y="3840480"/>
            <a:ext cx="914400" cy="594360"/>
          </a:xfrm>
          <a:prstGeom prst="rect">
            <a:avLst/>
          </a:prstGeom>
          <a:solidFill>
            <a:srgbClr val="D1FAE5"/>
          </a:solidFill>
          <a:ln w="19050">
            <a:solidFill>
              <a:srgbClr val="059669"/>
            </a:solidFill>
            <a:prstDash val="solid"/>
          </a:ln>
        </p:spPr>
        <p:txBody>
          <a:bodyPr/>
          <a:lstStyle/>
          <a:p>
            <a:endParaRPr lang="en-US"/>
          </a:p>
        </p:txBody>
      </p:sp>
      <p:sp>
        <p:nvSpPr>
          <p:cNvPr id="13" name="Text 11"/>
          <p:cNvSpPr/>
          <p:nvPr/>
        </p:nvSpPr>
        <p:spPr>
          <a:xfrm>
            <a:off x="2596896" y="3886200"/>
            <a:ext cx="914400" cy="502920"/>
          </a:xfrm>
          <a:prstGeom prst="rect">
            <a:avLst/>
          </a:prstGeom>
          <a:noFill/>
          <a:ln/>
        </p:spPr>
        <p:txBody>
          <a:bodyPr wrap="square" rtlCol="0" anchor="ctr"/>
          <a:lstStyle/>
          <a:p>
            <a:pPr marL="0" indent="0" algn="ctr">
              <a:buNone/>
            </a:pPr>
            <a:r>
              <a:rPr lang="en-US" sz="800" b="1" dirty="0">
                <a:solidFill>
                  <a:srgbClr val="059669"/>
                </a:solidFill>
                <a:latin typeface="Open Sans" pitchFamily="34" charset="0"/>
                <a:ea typeface="Open Sans" pitchFamily="34" charset="-122"/>
                <a:cs typeface="Open Sans" pitchFamily="34" charset="-120"/>
              </a:rPr>
              <a:t>Green text = Formulas</a:t>
            </a:r>
            <a:endParaRPr lang="en-US" sz="800" dirty="0"/>
          </a:p>
        </p:txBody>
      </p:sp>
      <p:sp>
        <p:nvSpPr>
          <p:cNvPr id="14" name="Shape 12"/>
          <p:cNvSpPr/>
          <p:nvPr/>
        </p:nvSpPr>
        <p:spPr>
          <a:xfrm>
            <a:off x="3621024" y="3840480"/>
            <a:ext cx="914400" cy="594360"/>
          </a:xfrm>
          <a:prstGeom prst="rect">
            <a:avLst/>
          </a:prstGeom>
          <a:solidFill>
            <a:srgbClr val="E5E7EB"/>
          </a:solidFill>
          <a:ln w="19050">
            <a:solidFill>
              <a:srgbClr val="6B7280"/>
            </a:solidFill>
            <a:prstDash val="solid"/>
          </a:ln>
        </p:spPr>
        <p:txBody>
          <a:bodyPr/>
          <a:lstStyle/>
          <a:p>
            <a:endParaRPr lang="en-US"/>
          </a:p>
        </p:txBody>
      </p:sp>
      <p:sp>
        <p:nvSpPr>
          <p:cNvPr id="15" name="Text 13"/>
          <p:cNvSpPr/>
          <p:nvPr/>
        </p:nvSpPr>
        <p:spPr>
          <a:xfrm>
            <a:off x="3621024" y="3886200"/>
            <a:ext cx="914400" cy="502920"/>
          </a:xfrm>
          <a:prstGeom prst="rect">
            <a:avLst/>
          </a:prstGeom>
          <a:noFill/>
          <a:ln/>
        </p:spPr>
        <p:txBody>
          <a:bodyPr wrap="square" rtlCol="0" anchor="ctr"/>
          <a:lstStyle/>
          <a:p>
            <a:pPr marL="0" indent="0" algn="ctr">
              <a:buNone/>
            </a:pPr>
            <a:r>
              <a:rPr lang="en-US" sz="800" b="1" dirty="0">
                <a:solidFill>
                  <a:srgbClr val="6B7280"/>
                </a:solidFill>
                <a:latin typeface="Open Sans" pitchFamily="34" charset="0"/>
                <a:ea typeface="Open Sans" pitchFamily="34" charset="-122"/>
                <a:cs typeface="Open Sans" pitchFamily="34" charset="-120"/>
              </a:rPr>
              <a:t>Gray = Outputs</a:t>
            </a:r>
            <a:endParaRPr lang="en-US" sz="800" dirty="0"/>
          </a:p>
        </p:txBody>
      </p:sp>
      <p:sp>
        <p:nvSpPr>
          <p:cNvPr id="16" name="Shape 14"/>
          <p:cNvSpPr/>
          <p:nvPr/>
        </p:nvSpPr>
        <p:spPr>
          <a:xfrm>
            <a:off x="5029200" y="1051560"/>
            <a:ext cx="3657600" cy="361188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17" name="Text 15"/>
          <p:cNvSpPr/>
          <p:nvPr/>
        </p:nvSpPr>
        <p:spPr>
          <a:xfrm>
            <a:off x="5212080" y="1188720"/>
            <a:ext cx="329184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Six Ratio Categories</a:t>
            </a:r>
            <a:endParaRPr lang="en-US" sz="1300" dirty="0"/>
          </a:p>
        </p:txBody>
      </p:sp>
      <p:sp>
        <p:nvSpPr>
          <p:cNvPr id="18" name="Shape 16"/>
          <p:cNvSpPr/>
          <p:nvPr/>
        </p:nvSpPr>
        <p:spPr>
          <a:xfrm>
            <a:off x="5303520" y="1618488"/>
            <a:ext cx="228600" cy="228600"/>
          </a:xfrm>
          <a:prstGeom prst="ellipse">
            <a:avLst/>
          </a:prstGeom>
          <a:solidFill>
            <a:srgbClr val="024731"/>
          </a:solidFill>
          <a:ln/>
        </p:spPr>
        <p:txBody>
          <a:bodyPr/>
          <a:lstStyle/>
          <a:p>
            <a:endParaRPr lang="en-US"/>
          </a:p>
        </p:txBody>
      </p:sp>
      <p:sp>
        <p:nvSpPr>
          <p:cNvPr id="19" name="Text 17"/>
          <p:cNvSpPr/>
          <p:nvPr/>
        </p:nvSpPr>
        <p:spPr>
          <a:xfrm>
            <a:off x="5303520" y="1618488"/>
            <a:ext cx="228600" cy="228600"/>
          </a:xfrm>
          <a:prstGeom prst="rect">
            <a:avLst/>
          </a:prstGeom>
          <a:noFill/>
          <a:ln/>
        </p:spPr>
        <p:txBody>
          <a:bodyPr wrap="square"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1</a:t>
            </a:r>
            <a:endParaRPr lang="en-US" sz="900" dirty="0"/>
          </a:p>
        </p:txBody>
      </p:sp>
      <p:sp>
        <p:nvSpPr>
          <p:cNvPr id="20" name="Text 18"/>
          <p:cNvSpPr/>
          <p:nvPr/>
        </p:nvSpPr>
        <p:spPr>
          <a:xfrm>
            <a:off x="5623560" y="1581912"/>
            <a:ext cx="2880360" cy="201168"/>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Performance</a:t>
            </a:r>
            <a:endParaRPr lang="en-US" sz="1100" dirty="0"/>
          </a:p>
        </p:txBody>
      </p:sp>
      <p:sp>
        <p:nvSpPr>
          <p:cNvPr id="21" name="Text 19"/>
          <p:cNvSpPr/>
          <p:nvPr/>
        </p:nvSpPr>
        <p:spPr>
          <a:xfrm>
            <a:off x="5623560" y="1783080"/>
            <a:ext cx="2880360" cy="201168"/>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MVA, Market-to-Book, EVA</a:t>
            </a:r>
            <a:endParaRPr lang="en-US" sz="900" dirty="0"/>
          </a:p>
        </p:txBody>
      </p:sp>
      <p:sp>
        <p:nvSpPr>
          <p:cNvPr id="22" name="Shape 20"/>
          <p:cNvSpPr/>
          <p:nvPr/>
        </p:nvSpPr>
        <p:spPr>
          <a:xfrm>
            <a:off x="5303520" y="2103120"/>
            <a:ext cx="228600" cy="228600"/>
          </a:xfrm>
          <a:prstGeom prst="ellipse">
            <a:avLst/>
          </a:prstGeom>
          <a:solidFill>
            <a:srgbClr val="024731"/>
          </a:solidFill>
          <a:ln/>
        </p:spPr>
        <p:txBody>
          <a:bodyPr/>
          <a:lstStyle/>
          <a:p>
            <a:endParaRPr lang="en-US"/>
          </a:p>
        </p:txBody>
      </p:sp>
      <p:sp>
        <p:nvSpPr>
          <p:cNvPr id="23" name="Text 21"/>
          <p:cNvSpPr/>
          <p:nvPr/>
        </p:nvSpPr>
        <p:spPr>
          <a:xfrm>
            <a:off x="5303520" y="2103120"/>
            <a:ext cx="228600" cy="228600"/>
          </a:xfrm>
          <a:prstGeom prst="rect">
            <a:avLst/>
          </a:prstGeom>
          <a:noFill/>
          <a:ln/>
        </p:spPr>
        <p:txBody>
          <a:bodyPr wrap="square"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2</a:t>
            </a:r>
            <a:endParaRPr lang="en-US" sz="900" dirty="0"/>
          </a:p>
        </p:txBody>
      </p:sp>
      <p:sp>
        <p:nvSpPr>
          <p:cNvPr id="24" name="Text 22"/>
          <p:cNvSpPr/>
          <p:nvPr/>
        </p:nvSpPr>
        <p:spPr>
          <a:xfrm>
            <a:off x="5623560" y="2066544"/>
            <a:ext cx="2880360" cy="201168"/>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Profitability</a:t>
            </a:r>
            <a:endParaRPr lang="en-US" sz="1100" dirty="0"/>
          </a:p>
        </p:txBody>
      </p:sp>
      <p:sp>
        <p:nvSpPr>
          <p:cNvPr id="25" name="Text 23"/>
          <p:cNvSpPr/>
          <p:nvPr/>
        </p:nvSpPr>
        <p:spPr>
          <a:xfrm>
            <a:off x="5623560" y="2267712"/>
            <a:ext cx="2880360" cy="201168"/>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ROA, ROC, ROE</a:t>
            </a:r>
            <a:endParaRPr lang="en-US" sz="900" dirty="0"/>
          </a:p>
        </p:txBody>
      </p:sp>
      <p:sp>
        <p:nvSpPr>
          <p:cNvPr id="26" name="Shape 24"/>
          <p:cNvSpPr/>
          <p:nvPr/>
        </p:nvSpPr>
        <p:spPr>
          <a:xfrm>
            <a:off x="5303520" y="2587752"/>
            <a:ext cx="228600" cy="228600"/>
          </a:xfrm>
          <a:prstGeom prst="ellipse">
            <a:avLst/>
          </a:prstGeom>
          <a:solidFill>
            <a:srgbClr val="024731"/>
          </a:solidFill>
          <a:ln/>
        </p:spPr>
        <p:txBody>
          <a:bodyPr/>
          <a:lstStyle/>
          <a:p>
            <a:endParaRPr lang="en-US"/>
          </a:p>
        </p:txBody>
      </p:sp>
      <p:sp>
        <p:nvSpPr>
          <p:cNvPr id="27" name="Text 25"/>
          <p:cNvSpPr/>
          <p:nvPr/>
        </p:nvSpPr>
        <p:spPr>
          <a:xfrm>
            <a:off x="5303520" y="2587752"/>
            <a:ext cx="228600" cy="228600"/>
          </a:xfrm>
          <a:prstGeom prst="rect">
            <a:avLst/>
          </a:prstGeom>
          <a:noFill/>
          <a:ln/>
        </p:spPr>
        <p:txBody>
          <a:bodyPr wrap="square"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3</a:t>
            </a:r>
            <a:endParaRPr lang="en-US" sz="900" dirty="0"/>
          </a:p>
        </p:txBody>
      </p:sp>
      <p:sp>
        <p:nvSpPr>
          <p:cNvPr id="28" name="Text 26"/>
          <p:cNvSpPr/>
          <p:nvPr/>
        </p:nvSpPr>
        <p:spPr>
          <a:xfrm>
            <a:off x="5623560" y="2551176"/>
            <a:ext cx="2880360" cy="201168"/>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Efficiency</a:t>
            </a:r>
            <a:endParaRPr lang="en-US" sz="1100" dirty="0"/>
          </a:p>
        </p:txBody>
      </p:sp>
      <p:sp>
        <p:nvSpPr>
          <p:cNvPr id="29" name="Text 27"/>
          <p:cNvSpPr/>
          <p:nvPr/>
        </p:nvSpPr>
        <p:spPr>
          <a:xfrm>
            <a:off x="5623560" y="2752344"/>
            <a:ext cx="2880360" cy="201168"/>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Asset Turnover, Inventory Days, Collection Period</a:t>
            </a:r>
            <a:endParaRPr lang="en-US" sz="900" dirty="0"/>
          </a:p>
        </p:txBody>
      </p:sp>
      <p:sp>
        <p:nvSpPr>
          <p:cNvPr id="30" name="Shape 28"/>
          <p:cNvSpPr/>
          <p:nvPr/>
        </p:nvSpPr>
        <p:spPr>
          <a:xfrm>
            <a:off x="5303520" y="3072384"/>
            <a:ext cx="228600" cy="228600"/>
          </a:xfrm>
          <a:prstGeom prst="ellipse">
            <a:avLst/>
          </a:prstGeom>
          <a:solidFill>
            <a:srgbClr val="024731"/>
          </a:solidFill>
          <a:ln/>
        </p:spPr>
        <p:txBody>
          <a:bodyPr/>
          <a:lstStyle/>
          <a:p>
            <a:endParaRPr lang="en-US"/>
          </a:p>
        </p:txBody>
      </p:sp>
      <p:sp>
        <p:nvSpPr>
          <p:cNvPr id="31" name="Text 29"/>
          <p:cNvSpPr/>
          <p:nvPr/>
        </p:nvSpPr>
        <p:spPr>
          <a:xfrm>
            <a:off x="5303520" y="3072384"/>
            <a:ext cx="228600" cy="228600"/>
          </a:xfrm>
          <a:prstGeom prst="rect">
            <a:avLst/>
          </a:prstGeom>
          <a:noFill/>
          <a:ln/>
        </p:spPr>
        <p:txBody>
          <a:bodyPr wrap="square"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4</a:t>
            </a:r>
            <a:endParaRPr lang="en-US" sz="900" dirty="0"/>
          </a:p>
        </p:txBody>
      </p:sp>
      <p:sp>
        <p:nvSpPr>
          <p:cNvPr id="32" name="Text 30"/>
          <p:cNvSpPr/>
          <p:nvPr/>
        </p:nvSpPr>
        <p:spPr>
          <a:xfrm>
            <a:off x="5623560" y="3035808"/>
            <a:ext cx="2880360" cy="201168"/>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Leverage</a:t>
            </a:r>
            <a:endParaRPr lang="en-US" sz="1100" dirty="0"/>
          </a:p>
        </p:txBody>
      </p:sp>
      <p:sp>
        <p:nvSpPr>
          <p:cNvPr id="33" name="Text 31"/>
          <p:cNvSpPr/>
          <p:nvPr/>
        </p:nvSpPr>
        <p:spPr>
          <a:xfrm>
            <a:off x="5623560" y="3236976"/>
            <a:ext cx="2880360" cy="201168"/>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Debt Ratio, TIE, Cash Coverage, Debt Burden</a:t>
            </a:r>
            <a:endParaRPr lang="en-US" sz="900" dirty="0"/>
          </a:p>
        </p:txBody>
      </p:sp>
      <p:sp>
        <p:nvSpPr>
          <p:cNvPr id="34" name="Shape 32"/>
          <p:cNvSpPr/>
          <p:nvPr/>
        </p:nvSpPr>
        <p:spPr>
          <a:xfrm>
            <a:off x="5303520" y="3557016"/>
            <a:ext cx="228600" cy="228600"/>
          </a:xfrm>
          <a:prstGeom prst="ellipse">
            <a:avLst/>
          </a:prstGeom>
          <a:solidFill>
            <a:srgbClr val="024731"/>
          </a:solidFill>
          <a:ln/>
        </p:spPr>
        <p:txBody>
          <a:bodyPr/>
          <a:lstStyle/>
          <a:p>
            <a:endParaRPr lang="en-US"/>
          </a:p>
        </p:txBody>
      </p:sp>
      <p:sp>
        <p:nvSpPr>
          <p:cNvPr id="35" name="Text 33"/>
          <p:cNvSpPr/>
          <p:nvPr/>
        </p:nvSpPr>
        <p:spPr>
          <a:xfrm>
            <a:off x="5303520" y="3557016"/>
            <a:ext cx="228600" cy="228600"/>
          </a:xfrm>
          <a:prstGeom prst="rect">
            <a:avLst/>
          </a:prstGeom>
          <a:noFill/>
          <a:ln/>
        </p:spPr>
        <p:txBody>
          <a:bodyPr wrap="square"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5</a:t>
            </a:r>
            <a:endParaRPr lang="en-US" sz="900" dirty="0"/>
          </a:p>
        </p:txBody>
      </p:sp>
      <p:sp>
        <p:nvSpPr>
          <p:cNvPr id="36" name="Text 34"/>
          <p:cNvSpPr/>
          <p:nvPr/>
        </p:nvSpPr>
        <p:spPr>
          <a:xfrm>
            <a:off x="5623560" y="3520440"/>
            <a:ext cx="2880360" cy="201168"/>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Liquidity</a:t>
            </a:r>
            <a:endParaRPr lang="en-US" sz="1100" dirty="0"/>
          </a:p>
        </p:txBody>
      </p:sp>
      <p:sp>
        <p:nvSpPr>
          <p:cNvPr id="37" name="Text 35"/>
          <p:cNvSpPr/>
          <p:nvPr/>
        </p:nvSpPr>
        <p:spPr>
          <a:xfrm>
            <a:off x="5623560" y="3721608"/>
            <a:ext cx="2880360" cy="201168"/>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Current Ratio, Quick Ratio, Cash Ratio, NWC</a:t>
            </a:r>
            <a:endParaRPr lang="en-US" sz="900" dirty="0"/>
          </a:p>
        </p:txBody>
      </p:sp>
      <p:sp>
        <p:nvSpPr>
          <p:cNvPr id="38" name="Shape 36"/>
          <p:cNvSpPr/>
          <p:nvPr/>
        </p:nvSpPr>
        <p:spPr>
          <a:xfrm>
            <a:off x="5303520" y="4041648"/>
            <a:ext cx="228600" cy="228600"/>
          </a:xfrm>
          <a:prstGeom prst="ellipse">
            <a:avLst/>
          </a:prstGeom>
          <a:solidFill>
            <a:srgbClr val="024731"/>
          </a:solidFill>
          <a:ln/>
        </p:spPr>
        <p:txBody>
          <a:bodyPr/>
          <a:lstStyle/>
          <a:p>
            <a:endParaRPr lang="en-US"/>
          </a:p>
        </p:txBody>
      </p:sp>
      <p:sp>
        <p:nvSpPr>
          <p:cNvPr id="39" name="Text 37"/>
          <p:cNvSpPr/>
          <p:nvPr/>
        </p:nvSpPr>
        <p:spPr>
          <a:xfrm>
            <a:off x="5303520" y="4041648"/>
            <a:ext cx="228600" cy="228600"/>
          </a:xfrm>
          <a:prstGeom prst="rect">
            <a:avLst/>
          </a:prstGeom>
          <a:noFill/>
          <a:ln/>
        </p:spPr>
        <p:txBody>
          <a:bodyPr wrap="square"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6</a:t>
            </a:r>
            <a:endParaRPr lang="en-US" sz="900" dirty="0"/>
          </a:p>
        </p:txBody>
      </p:sp>
      <p:sp>
        <p:nvSpPr>
          <p:cNvPr id="40" name="Text 38"/>
          <p:cNvSpPr/>
          <p:nvPr/>
        </p:nvSpPr>
        <p:spPr>
          <a:xfrm>
            <a:off x="5623560" y="4005072"/>
            <a:ext cx="2880360" cy="201168"/>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Du Pont</a:t>
            </a:r>
            <a:endParaRPr lang="en-US" sz="1100" dirty="0"/>
          </a:p>
        </p:txBody>
      </p:sp>
      <p:sp>
        <p:nvSpPr>
          <p:cNvPr id="41" name="Text 39"/>
          <p:cNvSpPr/>
          <p:nvPr/>
        </p:nvSpPr>
        <p:spPr>
          <a:xfrm>
            <a:off x="5623560" y="4206240"/>
            <a:ext cx="2880360" cy="201168"/>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ROA &amp; ROE decomposition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73152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Stage 2 — Company Selection Memo</a:t>
            </a:r>
            <a:endParaRPr lang="en-US" sz="2000" dirty="0"/>
          </a:p>
        </p:txBody>
      </p:sp>
      <p:sp>
        <p:nvSpPr>
          <p:cNvPr id="4" name="Text 2"/>
          <p:cNvSpPr/>
          <p:nvPr/>
        </p:nvSpPr>
        <p:spPr>
          <a:xfrm>
            <a:off x="548640" y="429768"/>
            <a:ext cx="7315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10% of project  |  Choose your company, frame the analysis</a:t>
            </a:r>
            <a:endParaRPr lang="en-US" sz="1100" dirty="0"/>
          </a:p>
        </p:txBody>
      </p:sp>
      <p:sp>
        <p:nvSpPr>
          <p:cNvPr id="5" name="Shape 3"/>
          <p:cNvSpPr/>
          <p:nvPr/>
        </p:nvSpPr>
        <p:spPr>
          <a:xfrm>
            <a:off x="548640" y="1097280"/>
            <a:ext cx="5120640" cy="502920"/>
          </a:xfrm>
          <a:prstGeom prst="rect">
            <a:avLst/>
          </a:prstGeom>
          <a:solidFill>
            <a:srgbClr val="F5F7F6"/>
          </a:solidFill>
          <a:ln/>
        </p:spPr>
        <p:txBody>
          <a:bodyPr/>
          <a:lstStyle/>
          <a:p>
            <a:endParaRPr lang="en-US"/>
          </a:p>
        </p:txBody>
      </p:sp>
      <p:sp>
        <p:nvSpPr>
          <p:cNvPr id="6" name="Shape 4"/>
          <p:cNvSpPr/>
          <p:nvPr/>
        </p:nvSpPr>
        <p:spPr>
          <a:xfrm>
            <a:off x="685800" y="1188720"/>
            <a:ext cx="320040" cy="320040"/>
          </a:xfrm>
          <a:prstGeom prst="ellipse">
            <a:avLst/>
          </a:prstGeom>
          <a:solidFill>
            <a:srgbClr val="024731"/>
          </a:solidFill>
          <a:ln/>
        </p:spPr>
        <p:txBody>
          <a:bodyPr/>
          <a:lstStyle/>
          <a:p>
            <a:endParaRPr lang="en-US"/>
          </a:p>
        </p:txBody>
      </p:sp>
      <p:sp>
        <p:nvSpPr>
          <p:cNvPr id="7" name="Text 5"/>
          <p:cNvSpPr/>
          <p:nvPr/>
        </p:nvSpPr>
        <p:spPr>
          <a:xfrm>
            <a:off x="685800" y="1188720"/>
            <a:ext cx="320040" cy="320040"/>
          </a:xfrm>
          <a:prstGeom prst="rect">
            <a:avLst/>
          </a:prstGeom>
          <a:noFill/>
          <a:ln/>
        </p:spPr>
        <p:txBody>
          <a:bodyPr wrap="square" rtlCol="0" anchor="ctr"/>
          <a:lstStyle/>
          <a:p>
            <a:pPr marL="0" indent="0" algn="ctr">
              <a:buNone/>
            </a:pPr>
            <a:r>
              <a:rPr lang="en-US" sz="1200" b="1" dirty="0">
                <a:solidFill>
                  <a:srgbClr val="FFFFFF"/>
                </a:solidFill>
                <a:latin typeface="Open Sans" pitchFamily="34" charset="0"/>
                <a:ea typeface="Open Sans" pitchFamily="34" charset="-122"/>
                <a:cs typeface="Open Sans" pitchFamily="34" charset="-120"/>
              </a:rPr>
              <a:t>1</a:t>
            </a:r>
            <a:endParaRPr lang="en-US" sz="1200" dirty="0"/>
          </a:p>
        </p:txBody>
      </p:sp>
      <p:sp>
        <p:nvSpPr>
          <p:cNvPr id="8" name="Text 6"/>
          <p:cNvSpPr/>
          <p:nvPr/>
        </p:nvSpPr>
        <p:spPr>
          <a:xfrm>
            <a:off x="1143000" y="1115568"/>
            <a:ext cx="182880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Company Overview</a:t>
            </a:r>
            <a:endParaRPr lang="en-US" sz="1100" dirty="0"/>
          </a:p>
        </p:txBody>
      </p:sp>
      <p:sp>
        <p:nvSpPr>
          <p:cNvPr id="9" name="Text 7"/>
          <p:cNvSpPr/>
          <p:nvPr/>
        </p:nvSpPr>
        <p:spPr>
          <a:xfrm>
            <a:off x="1143000" y="1344168"/>
            <a:ext cx="4389120" cy="22860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Name, ticker, exchange, industry, market cap, reporting currency</a:t>
            </a:r>
            <a:endParaRPr lang="en-US" sz="900" dirty="0"/>
          </a:p>
        </p:txBody>
      </p:sp>
      <p:sp>
        <p:nvSpPr>
          <p:cNvPr id="10" name="Shape 8"/>
          <p:cNvSpPr/>
          <p:nvPr/>
        </p:nvSpPr>
        <p:spPr>
          <a:xfrm>
            <a:off x="548640" y="1691640"/>
            <a:ext cx="5120640" cy="502920"/>
          </a:xfrm>
          <a:prstGeom prst="rect">
            <a:avLst/>
          </a:prstGeom>
          <a:solidFill>
            <a:srgbClr val="FFFFFF"/>
          </a:solidFill>
          <a:ln/>
        </p:spPr>
        <p:txBody>
          <a:bodyPr/>
          <a:lstStyle/>
          <a:p>
            <a:endParaRPr lang="en-US"/>
          </a:p>
        </p:txBody>
      </p:sp>
      <p:sp>
        <p:nvSpPr>
          <p:cNvPr id="11" name="Shape 9"/>
          <p:cNvSpPr/>
          <p:nvPr/>
        </p:nvSpPr>
        <p:spPr>
          <a:xfrm>
            <a:off x="685800" y="1783080"/>
            <a:ext cx="320040" cy="320040"/>
          </a:xfrm>
          <a:prstGeom prst="ellipse">
            <a:avLst/>
          </a:prstGeom>
          <a:solidFill>
            <a:srgbClr val="024731"/>
          </a:solidFill>
          <a:ln/>
        </p:spPr>
        <p:txBody>
          <a:bodyPr/>
          <a:lstStyle/>
          <a:p>
            <a:endParaRPr lang="en-US"/>
          </a:p>
        </p:txBody>
      </p:sp>
      <p:sp>
        <p:nvSpPr>
          <p:cNvPr id="12" name="Text 10"/>
          <p:cNvSpPr/>
          <p:nvPr/>
        </p:nvSpPr>
        <p:spPr>
          <a:xfrm>
            <a:off x="685800" y="1783080"/>
            <a:ext cx="320040" cy="320040"/>
          </a:xfrm>
          <a:prstGeom prst="rect">
            <a:avLst/>
          </a:prstGeom>
          <a:noFill/>
          <a:ln/>
        </p:spPr>
        <p:txBody>
          <a:bodyPr wrap="square" rtlCol="0" anchor="ctr"/>
          <a:lstStyle/>
          <a:p>
            <a:pPr marL="0" indent="0" algn="ctr">
              <a:buNone/>
            </a:pPr>
            <a:r>
              <a:rPr lang="en-US" sz="1200" b="1" dirty="0">
                <a:solidFill>
                  <a:srgbClr val="FFFFFF"/>
                </a:solidFill>
                <a:latin typeface="Open Sans" pitchFamily="34" charset="0"/>
                <a:ea typeface="Open Sans" pitchFamily="34" charset="-122"/>
                <a:cs typeface="Open Sans" pitchFamily="34" charset="-120"/>
              </a:rPr>
              <a:t>2</a:t>
            </a:r>
            <a:endParaRPr lang="en-US" sz="1200" dirty="0"/>
          </a:p>
        </p:txBody>
      </p:sp>
      <p:sp>
        <p:nvSpPr>
          <p:cNvPr id="13" name="Text 11"/>
          <p:cNvSpPr/>
          <p:nvPr/>
        </p:nvSpPr>
        <p:spPr>
          <a:xfrm>
            <a:off x="1143000" y="1709928"/>
            <a:ext cx="182880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Selection Rationale</a:t>
            </a:r>
            <a:endParaRPr lang="en-US" sz="1100" dirty="0"/>
          </a:p>
        </p:txBody>
      </p:sp>
      <p:sp>
        <p:nvSpPr>
          <p:cNvPr id="14" name="Text 12"/>
          <p:cNvSpPr/>
          <p:nvPr/>
        </p:nvSpPr>
        <p:spPr>
          <a:xfrm>
            <a:off x="1143000" y="1938528"/>
            <a:ext cx="4389120" cy="22860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Why this company? Relevance to your industry, employer, or career goals</a:t>
            </a:r>
            <a:endParaRPr lang="en-US" sz="900" dirty="0"/>
          </a:p>
        </p:txBody>
      </p:sp>
      <p:sp>
        <p:nvSpPr>
          <p:cNvPr id="15" name="Shape 13"/>
          <p:cNvSpPr/>
          <p:nvPr/>
        </p:nvSpPr>
        <p:spPr>
          <a:xfrm>
            <a:off x="548640" y="2286000"/>
            <a:ext cx="5120640" cy="502920"/>
          </a:xfrm>
          <a:prstGeom prst="rect">
            <a:avLst/>
          </a:prstGeom>
          <a:solidFill>
            <a:srgbClr val="F5F7F6"/>
          </a:solidFill>
          <a:ln/>
        </p:spPr>
        <p:txBody>
          <a:bodyPr/>
          <a:lstStyle/>
          <a:p>
            <a:endParaRPr lang="en-US"/>
          </a:p>
        </p:txBody>
      </p:sp>
      <p:sp>
        <p:nvSpPr>
          <p:cNvPr id="16" name="Shape 14"/>
          <p:cNvSpPr/>
          <p:nvPr/>
        </p:nvSpPr>
        <p:spPr>
          <a:xfrm>
            <a:off x="685800" y="2377440"/>
            <a:ext cx="320040" cy="320040"/>
          </a:xfrm>
          <a:prstGeom prst="ellipse">
            <a:avLst/>
          </a:prstGeom>
          <a:solidFill>
            <a:srgbClr val="024731"/>
          </a:solidFill>
          <a:ln/>
        </p:spPr>
        <p:txBody>
          <a:bodyPr/>
          <a:lstStyle/>
          <a:p>
            <a:endParaRPr lang="en-US"/>
          </a:p>
        </p:txBody>
      </p:sp>
      <p:sp>
        <p:nvSpPr>
          <p:cNvPr id="17" name="Text 15"/>
          <p:cNvSpPr/>
          <p:nvPr/>
        </p:nvSpPr>
        <p:spPr>
          <a:xfrm>
            <a:off x="685800" y="2377440"/>
            <a:ext cx="320040" cy="320040"/>
          </a:xfrm>
          <a:prstGeom prst="rect">
            <a:avLst/>
          </a:prstGeom>
          <a:noFill/>
          <a:ln/>
        </p:spPr>
        <p:txBody>
          <a:bodyPr wrap="square" rtlCol="0" anchor="ctr"/>
          <a:lstStyle/>
          <a:p>
            <a:pPr marL="0" indent="0" algn="ctr">
              <a:buNone/>
            </a:pPr>
            <a:r>
              <a:rPr lang="en-US" sz="1200" b="1" dirty="0">
                <a:solidFill>
                  <a:srgbClr val="FFFFFF"/>
                </a:solidFill>
                <a:latin typeface="Open Sans" pitchFamily="34" charset="0"/>
                <a:ea typeface="Open Sans" pitchFamily="34" charset="-122"/>
                <a:cs typeface="Open Sans" pitchFamily="34" charset="-120"/>
              </a:rPr>
              <a:t>3</a:t>
            </a:r>
            <a:endParaRPr lang="en-US" sz="1200" dirty="0"/>
          </a:p>
        </p:txBody>
      </p:sp>
      <p:sp>
        <p:nvSpPr>
          <p:cNvPr id="18" name="Text 16"/>
          <p:cNvSpPr/>
          <p:nvPr/>
        </p:nvSpPr>
        <p:spPr>
          <a:xfrm>
            <a:off x="1143000" y="2304288"/>
            <a:ext cx="182880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Data Availability</a:t>
            </a:r>
            <a:endParaRPr lang="en-US" sz="1100" dirty="0"/>
          </a:p>
        </p:txBody>
      </p:sp>
      <p:sp>
        <p:nvSpPr>
          <p:cNvPr id="19" name="Text 17"/>
          <p:cNvSpPr/>
          <p:nvPr/>
        </p:nvSpPr>
        <p:spPr>
          <a:xfrm>
            <a:off x="1143000" y="2532888"/>
            <a:ext cx="4389120" cy="22860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Confirm 10-K / annual report access. Note fiscal year, reporting standard (GAAP/IFRS/VAS)</a:t>
            </a:r>
            <a:endParaRPr lang="en-US" sz="900" dirty="0"/>
          </a:p>
        </p:txBody>
      </p:sp>
      <p:sp>
        <p:nvSpPr>
          <p:cNvPr id="20" name="Shape 18"/>
          <p:cNvSpPr/>
          <p:nvPr/>
        </p:nvSpPr>
        <p:spPr>
          <a:xfrm>
            <a:off x="548640" y="2880360"/>
            <a:ext cx="5120640" cy="502920"/>
          </a:xfrm>
          <a:prstGeom prst="rect">
            <a:avLst/>
          </a:prstGeom>
          <a:solidFill>
            <a:srgbClr val="FFFFFF"/>
          </a:solidFill>
          <a:ln/>
        </p:spPr>
        <p:txBody>
          <a:bodyPr/>
          <a:lstStyle/>
          <a:p>
            <a:endParaRPr lang="en-US"/>
          </a:p>
        </p:txBody>
      </p:sp>
      <p:sp>
        <p:nvSpPr>
          <p:cNvPr id="21" name="Shape 19"/>
          <p:cNvSpPr/>
          <p:nvPr/>
        </p:nvSpPr>
        <p:spPr>
          <a:xfrm>
            <a:off x="685800" y="2971800"/>
            <a:ext cx="320040" cy="320040"/>
          </a:xfrm>
          <a:prstGeom prst="ellipse">
            <a:avLst/>
          </a:prstGeom>
          <a:solidFill>
            <a:srgbClr val="024731"/>
          </a:solidFill>
          <a:ln/>
        </p:spPr>
        <p:txBody>
          <a:bodyPr/>
          <a:lstStyle/>
          <a:p>
            <a:endParaRPr lang="en-US"/>
          </a:p>
        </p:txBody>
      </p:sp>
      <p:sp>
        <p:nvSpPr>
          <p:cNvPr id="22" name="Text 20"/>
          <p:cNvSpPr/>
          <p:nvPr/>
        </p:nvSpPr>
        <p:spPr>
          <a:xfrm>
            <a:off x="685800" y="2971800"/>
            <a:ext cx="320040" cy="320040"/>
          </a:xfrm>
          <a:prstGeom prst="rect">
            <a:avLst/>
          </a:prstGeom>
          <a:noFill/>
          <a:ln/>
        </p:spPr>
        <p:txBody>
          <a:bodyPr wrap="square" rtlCol="0" anchor="ctr"/>
          <a:lstStyle/>
          <a:p>
            <a:pPr marL="0" indent="0" algn="ctr">
              <a:buNone/>
            </a:pPr>
            <a:r>
              <a:rPr lang="en-US" sz="1200" b="1" dirty="0">
                <a:solidFill>
                  <a:srgbClr val="FFFFFF"/>
                </a:solidFill>
                <a:latin typeface="Open Sans" pitchFamily="34" charset="0"/>
                <a:ea typeface="Open Sans" pitchFamily="34" charset="-122"/>
                <a:cs typeface="Open Sans" pitchFamily="34" charset="-120"/>
              </a:rPr>
              <a:t>4</a:t>
            </a:r>
            <a:endParaRPr lang="en-US" sz="1200" dirty="0"/>
          </a:p>
        </p:txBody>
      </p:sp>
      <p:sp>
        <p:nvSpPr>
          <p:cNvPr id="23" name="Text 21"/>
          <p:cNvSpPr/>
          <p:nvPr/>
        </p:nvSpPr>
        <p:spPr>
          <a:xfrm>
            <a:off x="1143000" y="2898648"/>
            <a:ext cx="182880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Preliminary Observations</a:t>
            </a:r>
            <a:endParaRPr lang="en-US" sz="1100" dirty="0"/>
          </a:p>
        </p:txBody>
      </p:sp>
      <p:sp>
        <p:nvSpPr>
          <p:cNvPr id="24" name="Text 22"/>
          <p:cNvSpPr/>
          <p:nvPr/>
        </p:nvSpPr>
        <p:spPr>
          <a:xfrm>
            <a:off x="1143000" y="3127248"/>
            <a:ext cx="4389120" cy="22860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2–3 hypotheses about what ratio analysis might reveal</a:t>
            </a:r>
            <a:endParaRPr lang="en-US" sz="900" dirty="0"/>
          </a:p>
        </p:txBody>
      </p:sp>
      <p:sp>
        <p:nvSpPr>
          <p:cNvPr id="25" name="Shape 23"/>
          <p:cNvSpPr/>
          <p:nvPr/>
        </p:nvSpPr>
        <p:spPr>
          <a:xfrm>
            <a:off x="548640" y="3474720"/>
            <a:ext cx="5120640" cy="502920"/>
          </a:xfrm>
          <a:prstGeom prst="rect">
            <a:avLst/>
          </a:prstGeom>
          <a:solidFill>
            <a:srgbClr val="F5F7F6"/>
          </a:solidFill>
          <a:ln/>
        </p:spPr>
        <p:txBody>
          <a:bodyPr/>
          <a:lstStyle/>
          <a:p>
            <a:endParaRPr lang="en-US"/>
          </a:p>
        </p:txBody>
      </p:sp>
      <p:sp>
        <p:nvSpPr>
          <p:cNvPr id="26" name="Shape 24"/>
          <p:cNvSpPr/>
          <p:nvPr/>
        </p:nvSpPr>
        <p:spPr>
          <a:xfrm>
            <a:off x="685800" y="3566160"/>
            <a:ext cx="320040" cy="320040"/>
          </a:xfrm>
          <a:prstGeom prst="ellipse">
            <a:avLst/>
          </a:prstGeom>
          <a:solidFill>
            <a:srgbClr val="024731"/>
          </a:solidFill>
          <a:ln/>
        </p:spPr>
        <p:txBody>
          <a:bodyPr/>
          <a:lstStyle/>
          <a:p>
            <a:endParaRPr lang="en-US"/>
          </a:p>
        </p:txBody>
      </p:sp>
      <p:sp>
        <p:nvSpPr>
          <p:cNvPr id="27" name="Text 25"/>
          <p:cNvSpPr/>
          <p:nvPr/>
        </p:nvSpPr>
        <p:spPr>
          <a:xfrm>
            <a:off x="685800" y="3566160"/>
            <a:ext cx="320040" cy="320040"/>
          </a:xfrm>
          <a:prstGeom prst="rect">
            <a:avLst/>
          </a:prstGeom>
          <a:noFill/>
          <a:ln/>
        </p:spPr>
        <p:txBody>
          <a:bodyPr wrap="square" rtlCol="0" anchor="ctr"/>
          <a:lstStyle/>
          <a:p>
            <a:pPr marL="0" indent="0" algn="ctr">
              <a:buNone/>
            </a:pPr>
            <a:r>
              <a:rPr lang="en-US" sz="1200" b="1" dirty="0">
                <a:solidFill>
                  <a:srgbClr val="FFFFFF"/>
                </a:solidFill>
                <a:latin typeface="Open Sans" pitchFamily="34" charset="0"/>
                <a:ea typeface="Open Sans" pitchFamily="34" charset="-122"/>
                <a:cs typeface="Open Sans" pitchFamily="34" charset="-120"/>
              </a:rPr>
              <a:t>5</a:t>
            </a:r>
            <a:endParaRPr lang="en-US" sz="1200" dirty="0"/>
          </a:p>
        </p:txBody>
      </p:sp>
      <p:sp>
        <p:nvSpPr>
          <p:cNvPr id="28" name="Text 26"/>
          <p:cNvSpPr/>
          <p:nvPr/>
        </p:nvSpPr>
        <p:spPr>
          <a:xfrm>
            <a:off x="1143000" y="3493008"/>
            <a:ext cx="182880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Ratio Categories Preview</a:t>
            </a:r>
            <a:endParaRPr lang="en-US" sz="1100" dirty="0"/>
          </a:p>
        </p:txBody>
      </p:sp>
      <p:sp>
        <p:nvSpPr>
          <p:cNvPr id="29" name="Text 27"/>
          <p:cNvSpPr/>
          <p:nvPr/>
        </p:nvSpPr>
        <p:spPr>
          <a:xfrm>
            <a:off x="1143000" y="3721608"/>
            <a:ext cx="4389120" cy="22860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Which categories matter most for this company’s industry and why</a:t>
            </a:r>
            <a:endParaRPr lang="en-US" sz="900" dirty="0"/>
          </a:p>
        </p:txBody>
      </p:sp>
      <p:sp>
        <p:nvSpPr>
          <p:cNvPr id="30" name="Shape 28"/>
          <p:cNvSpPr/>
          <p:nvPr/>
        </p:nvSpPr>
        <p:spPr>
          <a:xfrm>
            <a:off x="548640" y="4069080"/>
            <a:ext cx="5120640" cy="502920"/>
          </a:xfrm>
          <a:prstGeom prst="rect">
            <a:avLst/>
          </a:prstGeom>
          <a:solidFill>
            <a:srgbClr val="FFFFFF"/>
          </a:solidFill>
          <a:ln/>
        </p:spPr>
        <p:txBody>
          <a:bodyPr/>
          <a:lstStyle/>
          <a:p>
            <a:endParaRPr lang="en-US"/>
          </a:p>
        </p:txBody>
      </p:sp>
      <p:sp>
        <p:nvSpPr>
          <p:cNvPr id="31" name="Shape 29"/>
          <p:cNvSpPr/>
          <p:nvPr/>
        </p:nvSpPr>
        <p:spPr>
          <a:xfrm>
            <a:off x="685800" y="4160520"/>
            <a:ext cx="320040" cy="320040"/>
          </a:xfrm>
          <a:prstGeom prst="ellipse">
            <a:avLst/>
          </a:prstGeom>
          <a:solidFill>
            <a:srgbClr val="024731"/>
          </a:solidFill>
          <a:ln/>
        </p:spPr>
        <p:txBody>
          <a:bodyPr/>
          <a:lstStyle/>
          <a:p>
            <a:endParaRPr lang="en-US"/>
          </a:p>
        </p:txBody>
      </p:sp>
      <p:sp>
        <p:nvSpPr>
          <p:cNvPr id="32" name="Text 30"/>
          <p:cNvSpPr/>
          <p:nvPr/>
        </p:nvSpPr>
        <p:spPr>
          <a:xfrm>
            <a:off x="685800" y="4160520"/>
            <a:ext cx="320040" cy="320040"/>
          </a:xfrm>
          <a:prstGeom prst="rect">
            <a:avLst/>
          </a:prstGeom>
          <a:noFill/>
          <a:ln/>
        </p:spPr>
        <p:txBody>
          <a:bodyPr wrap="square" rtlCol="0" anchor="ctr"/>
          <a:lstStyle/>
          <a:p>
            <a:pPr marL="0" indent="0" algn="ctr">
              <a:buNone/>
            </a:pPr>
            <a:r>
              <a:rPr lang="en-US" sz="1200" b="1" dirty="0">
                <a:solidFill>
                  <a:srgbClr val="FFFFFF"/>
                </a:solidFill>
                <a:latin typeface="Open Sans" pitchFamily="34" charset="0"/>
                <a:ea typeface="Open Sans" pitchFamily="34" charset="-122"/>
                <a:cs typeface="Open Sans" pitchFamily="34" charset="-120"/>
              </a:rPr>
              <a:t>6</a:t>
            </a:r>
            <a:endParaRPr lang="en-US" sz="1200" dirty="0"/>
          </a:p>
        </p:txBody>
      </p:sp>
      <p:sp>
        <p:nvSpPr>
          <p:cNvPr id="33" name="Text 31"/>
          <p:cNvSpPr/>
          <p:nvPr/>
        </p:nvSpPr>
        <p:spPr>
          <a:xfrm>
            <a:off x="1143000" y="4087368"/>
            <a:ext cx="182880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Data Collection Plan</a:t>
            </a:r>
            <a:endParaRPr lang="en-US" sz="1100" dirty="0"/>
          </a:p>
        </p:txBody>
      </p:sp>
      <p:sp>
        <p:nvSpPr>
          <p:cNvPr id="34" name="Text 32"/>
          <p:cNvSpPr/>
          <p:nvPr/>
        </p:nvSpPr>
        <p:spPr>
          <a:xfrm>
            <a:off x="1143000" y="4315968"/>
            <a:ext cx="4389120" cy="22860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What financials are needed, market assumptions to source, timeline</a:t>
            </a:r>
            <a:endParaRPr lang="en-US" sz="900" dirty="0"/>
          </a:p>
        </p:txBody>
      </p:sp>
      <p:sp>
        <p:nvSpPr>
          <p:cNvPr id="35" name="Shape 33"/>
          <p:cNvSpPr/>
          <p:nvPr/>
        </p:nvSpPr>
        <p:spPr>
          <a:xfrm>
            <a:off x="5943600" y="1097280"/>
            <a:ext cx="2926080" cy="3566160"/>
          </a:xfrm>
          <a:prstGeom prst="rect">
            <a:avLst/>
          </a:prstGeom>
          <a:solidFill>
            <a:srgbClr val="E6F2EF"/>
          </a:solidFill>
          <a:ln/>
          <a:effectLst>
            <a:outerShdw blurRad="50800" dist="12700" dir="8100000" algn="bl" rotWithShape="0">
              <a:srgbClr val="000000">
                <a:alpha val="10000"/>
              </a:srgbClr>
            </a:outerShdw>
          </a:effectLst>
        </p:spPr>
        <p:txBody>
          <a:bodyPr/>
          <a:lstStyle/>
          <a:p>
            <a:endParaRPr lang="en-US"/>
          </a:p>
        </p:txBody>
      </p:sp>
      <p:sp>
        <p:nvSpPr>
          <p:cNvPr id="36" name="Shape 34"/>
          <p:cNvSpPr/>
          <p:nvPr/>
        </p:nvSpPr>
        <p:spPr>
          <a:xfrm>
            <a:off x="5943600" y="1097280"/>
            <a:ext cx="2926080" cy="411480"/>
          </a:xfrm>
          <a:prstGeom prst="rect">
            <a:avLst/>
          </a:prstGeom>
          <a:solidFill>
            <a:srgbClr val="024731"/>
          </a:solidFill>
          <a:ln/>
        </p:spPr>
        <p:txBody>
          <a:bodyPr/>
          <a:lstStyle/>
          <a:p>
            <a:endParaRPr lang="en-US"/>
          </a:p>
        </p:txBody>
      </p:sp>
      <p:sp>
        <p:nvSpPr>
          <p:cNvPr id="37" name="Text 35"/>
          <p:cNvSpPr/>
          <p:nvPr/>
        </p:nvSpPr>
        <p:spPr>
          <a:xfrm>
            <a:off x="6035040" y="1115568"/>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Open Sans" pitchFamily="34" charset="0"/>
                <a:ea typeface="Open Sans" pitchFamily="34" charset="-122"/>
                <a:cs typeface="Open Sans" pitchFamily="34" charset="-120"/>
              </a:rPr>
              <a:t>Company Eligibility</a:t>
            </a:r>
            <a:endParaRPr lang="en-US" sz="1300" dirty="0"/>
          </a:p>
        </p:txBody>
      </p:sp>
      <p:sp>
        <p:nvSpPr>
          <p:cNvPr id="38" name="Text 36"/>
          <p:cNvSpPr/>
          <p:nvPr/>
        </p:nvSpPr>
        <p:spPr>
          <a:xfrm>
            <a:off x="6080760" y="1645920"/>
            <a:ext cx="2651760" cy="2834640"/>
          </a:xfrm>
          <a:prstGeom prst="rect">
            <a:avLst/>
          </a:prstGeom>
          <a:noFill/>
          <a:ln/>
        </p:spPr>
        <p:txBody>
          <a:bodyPr wrap="square" rtlCol="0" anchor="ctr"/>
          <a:lstStyle/>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Publicly traded on a major exchange</a:t>
            </a:r>
            <a:endParaRPr lang="en-US" sz="900" dirty="0"/>
          </a:p>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NYSE, NASDAQ, HOSE, HNX, SGX, SET, IDX, or other recognized exchange</a:t>
            </a:r>
            <a:endParaRPr lang="en-US" sz="900" dirty="0"/>
          </a:p>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Non-financial company</a:t>
            </a:r>
            <a:endParaRPr lang="en-US" sz="900" dirty="0"/>
          </a:p>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Minimum 2 years of data</a:t>
            </a:r>
            <a:endParaRPr lang="en-US" sz="900" dirty="0"/>
          </a:p>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Non-U.S. companies encouraged — especially Vietnamese and ASEAN firms</a:t>
            </a:r>
            <a:endParaRPr lang="en-US" sz="900" dirty="0"/>
          </a:p>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English-language deliverables required; source financials may be in local language</a:t>
            </a:r>
            <a:endParaRPr lang="en-US" sz="900" dirty="0"/>
          </a:p>
          <a:p>
            <a:pPr marL="342900" indent="-342900">
              <a:spcAft>
                <a:spcPts val="400"/>
              </a:spcAft>
              <a:buSzPct val="100000"/>
              <a:buChar char="•"/>
            </a:pPr>
            <a:r>
              <a:rPr lang="en-US" sz="900" dirty="0">
                <a:solidFill>
                  <a:srgbClr val="024731"/>
                </a:solidFill>
                <a:latin typeface="Open Sans" pitchFamily="34" charset="0"/>
                <a:ea typeface="Open Sans" pitchFamily="34" charset="-122"/>
                <a:cs typeface="Open Sans" pitchFamily="34" charset="-120"/>
              </a:rPr>
              <a:t>Note IFRS / GAAP / VAS differences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73152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Stage 3 — Model Population &amp; Validation</a:t>
            </a:r>
            <a:endParaRPr lang="en-US" sz="2000" dirty="0"/>
          </a:p>
        </p:txBody>
      </p:sp>
      <p:sp>
        <p:nvSpPr>
          <p:cNvPr id="4" name="Text 2"/>
          <p:cNvSpPr/>
          <p:nvPr/>
        </p:nvSpPr>
        <p:spPr>
          <a:xfrm>
            <a:off x="548640" y="429768"/>
            <a:ext cx="7315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20% of project  |  Populate the financials — full analysis comes in Stage 5</a:t>
            </a:r>
            <a:endParaRPr lang="en-US" sz="1100" dirty="0"/>
          </a:p>
        </p:txBody>
      </p:sp>
      <p:sp>
        <p:nvSpPr>
          <p:cNvPr id="5" name="Text 3"/>
          <p:cNvSpPr/>
          <p:nvPr/>
        </p:nvSpPr>
        <p:spPr>
          <a:xfrm>
            <a:off x="548640" y="1051560"/>
            <a:ext cx="4114800" cy="27432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Deliverables</a:t>
            </a:r>
            <a:endParaRPr lang="en-US" sz="1400" dirty="0"/>
          </a:p>
        </p:txBody>
      </p:sp>
      <p:sp>
        <p:nvSpPr>
          <p:cNvPr id="6" name="Shape 4"/>
          <p:cNvSpPr/>
          <p:nvPr/>
        </p:nvSpPr>
        <p:spPr>
          <a:xfrm>
            <a:off x="548640" y="1417320"/>
            <a:ext cx="4114800" cy="502920"/>
          </a:xfrm>
          <a:prstGeom prst="rect">
            <a:avLst/>
          </a:prstGeom>
          <a:solidFill>
            <a:srgbClr val="E6F2EF"/>
          </a:solidFill>
          <a:ln/>
        </p:spPr>
        <p:txBody>
          <a:bodyPr/>
          <a:lstStyle/>
          <a:p>
            <a:endParaRPr lang="en-US"/>
          </a:p>
        </p:txBody>
      </p:sp>
      <p:sp>
        <p:nvSpPr>
          <p:cNvPr id="7" name="Text 5"/>
          <p:cNvSpPr/>
          <p:nvPr/>
        </p:nvSpPr>
        <p:spPr>
          <a:xfrm>
            <a:off x="685800" y="1463040"/>
            <a:ext cx="3840480" cy="411480"/>
          </a:xfrm>
          <a:prstGeom prst="rect">
            <a:avLst/>
          </a:prstGeom>
          <a:noFill/>
          <a:ln/>
        </p:spPr>
        <p:txBody>
          <a:bodyPr wrap="square"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1. Completed .xlsx workbook</a:t>
            </a:r>
            <a:endParaRPr lang="en-US" sz="1100" dirty="0"/>
          </a:p>
          <a:p>
            <a:pPr marL="0" indent="0">
              <a:buNone/>
            </a:pPr>
            <a:r>
              <a:rPr lang="en-US" sz="1100" dirty="0">
                <a:solidFill>
                  <a:srgbClr val="024731"/>
                </a:solidFill>
                <a:latin typeface="Open Sans" pitchFamily="34" charset="0"/>
                <a:ea typeface="Open Sans" pitchFamily="34" charset="-122"/>
                <a:cs typeface="Open Sans" pitchFamily="34" charset="-120"/>
              </a:rPr>
              <a:t xml:space="preserve">    saved to models/builds/</a:t>
            </a:r>
            <a:endParaRPr lang="en-US" sz="1100" dirty="0"/>
          </a:p>
        </p:txBody>
      </p:sp>
      <p:sp>
        <p:nvSpPr>
          <p:cNvPr id="8" name="Shape 6"/>
          <p:cNvSpPr/>
          <p:nvPr/>
        </p:nvSpPr>
        <p:spPr>
          <a:xfrm>
            <a:off x="548640" y="2011680"/>
            <a:ext cx="4114800" cy="502920"/>
          </a:xfrm>
          <a:prstGeom prst="rect">
            <a:avLst/>
          </a:prstGeom>
          <a:solidFill>
            <a:srgbClr val="E6F2EF"/>
          </a:solidFill>
          <a:ln/>
        </p:spPr>
        <p:txBody>
          <a:bodyPr/>
          <a:lstStyle/>
          <a:p>
            <a:endParaRPr lang="en-US"/>
          </a:p>
        </p:txBody>
      </p:sp>
      <p:sp>
        <p:nvSpPr>
          <p:cNvPr id="9" name="Text 7"/>
          <p:cNvSpPr/>
          <p:nvPr/>
        </p:nvSpPr>
        <p:spPr>
          <a:xfrm>
            <a:off x="685800" y="2057400"/>
            <a:ext cx="3840480" cy="411480"/>
          </a:xfrm>
          <a:prstGeom prst="rect">
            <a:avLst/>
          </a:prstGeom>
          <a:noFill/>
          <a:ln/>
        </p:spPr>
        <p:txBody>
          <a:bodyPr wrap="square"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2. Validation report (.md, 200–300 words)</a:t>
            </a:r>
            <a:endParaRPr lang="en-US" sz="1100" dirty="0"/>
          </a:p>
          <a:p>
            <a:pPr marL="0" indent="0">
              <a:buNone/>
            </a:pPr>
            <a:r>
              <a:rPr lang="en-US" sz="1100" dirty="0">
                <a:solidFill>
                  <a:srgbClr val="024731"/>
                </a:solidFill>
                <a:latin typeface="Open Sans" pitchFamily="34" charset="0"/>
                <a:ea typeface="Open Sans" pitchFamily="34" charset="-122"/>
                <a:cs typeface="Open Sans" pitchFamily="34" charset="-120"/>
              </a:rPr>
              <a:t xml:space="preserve">    saved to analysis/validation/</a:t>
            </a:r>
            <a:endParaRPr lang="en-US" sz="1100" dirty="0"/>
          </a:p>
        </p:txBody>
      </p:sp>
      <p:sp>
        <p:nvSpPr>
          <p:cNvPr id="10" name="Shape 8"/>
          <p:cNvSpPr/>
          <p:nvPr/>
        </p:nvSpPr>
        <p:spPr>
          <a:xfrm>
            <a:off x="4937760" y="1051560"/>
            <a:ext cx="3840480" cy="374904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11" name="Text 9"/>
          <p:cNvSpPr/>
          <p:nvPr/>
        </p:nvSpPr>
        <p:spPr>
          <a:xfrm>
            <a:off x="5120640" y="1143000"/>
            <a:ext cx="3474720" cy="32004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Self-Audit Checklist</a:t>
            </a:r>
            <a:endParaRPr lang="en-US" sz="1400" dirty="0"/>
          </a:p>
        </p:txBody>
      </p:sp>
      <p:sp>
        <p:nvSpPr>
          <p:cNvPr id="12" name="Text 10"/>
          <p:cNvSpPr/>
          <p:nvPr/>
        </p:nvSpPr>
        <p:spPr>
          <a:xfrm>
            <a:off x="5120640" y="1417320"/>
            <a:ext cx="3474720" cy="228600"/>
          </a:xfrm>
          <a:prstGeom prst="rect">
            <a:avLst/>
          </a:prstGeom>
          <a:noFill/>
          <a:ln/>
        </p:spPr>
        <p:txBody>
          <a:bodyPr wrap="square" lIns="0" tIns="0" rIns="0" bIns="0" rtlCol="0" anchor="ctr"/>
          <a:lstStyle/>
          <a:p>
            <a:pPr marL="0" indent="0">
              <a:buNone/>
            </a:pPr>
            <a:r>
              <a:rPr lang="en-US" sz="900" i="1" dirty="0">
                <a:solidFill>
                  <a:srgbClr val="6B7280"/>
                </a:solidFill>
                <a:latin typeface="Open Sans" pitchFamily="34" charset="0"/>
                <a:ea typeface="Open Sans" pitchFamily="34" charset="-122"/>
                <a:cs typeface="Open Sans" pitchFamily="34" charset="-120"/>
              </a:rPr>
              <a:t>Address each item in your validation report</a:t>
            </a:r>
            <a:endParaRPr lang="en-US" sz="900" dirty="0"/>
          </a:p>
        </p:txBody>
      </p:sp>
      <p:sp>
        <p:nvSpPr>
          <p:cNvPr id="13" name="Shape 11"/>
          <p:cNvSpPr/>
          <p:nvPr/>
        </p:nvSpPr>
        <p:spPr>
          <a:xfrm>
            <a:off x="5212080" y="1783080"/>
            <a:ext cx="201168" cy="201168"/>
          </a:xfrm>
          <a:prstGeom prst="rect">
            <a:avLst/>
          </a:prstGeom>
          <a:solidFill>
            <a:srgbClr val="FFFFFF"/>
          </a:solidFill>
          <a:ln w="19050">
            <a:solidFill>
              <a:srgbClr val="024731"/>
            </a:solidFill>
            <a:prstDash val="solid"/>
          </a:ln>
        </p:spPr>
        <p:txBody>
          <a:bodyPr/>
          <a:lstStyle/>
          <a:p>
            <a:endParaRPr lang="en-US"/>
          </a:p>
        </p:txBody>
      </p:sp>
      <p:sp>
        <p:nvSpPr>
          <p:cNvPr id="14" name="Text 12"/>
          <p:cNvSpPr/>
          <p:nvPr/>
        </p:nvSpPr>
        <p:spPr>
          <a:xfrm>
            <a:off x="5532120" y="1764792"/>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Balance Sheet balances (both years)</a:t>
            </a:r>
            <a:endParaRPr lang="en-US" sz="1000" dirty="0"/>
          </a:p>
        </p:txBody>
      </p:sp>
      <p:sp>
        <p:nvSpPr>
          <p:cNvPr id="15" name="Shape 13"/>
          <p:cNvSpPr/>
          <p:nvPr/>
        </p:nvSpPr>
        <p:spPr>
          <a:xfrm>
            <a:off x="5212080" y="2130552"/>
            <a:ext cx="201168" cy="201168"/>
          </a:xfrm>
          <a:prstGeom prst="rect">
            <a:avLst/>
          </a:prstGeom>
          <a:solidFill>
            <a:srgbClr val="FFFFFF"/>
          </a:solidFill>
          <a:ln w="19050">
            <a:solidFill>
              <a:srgbClr val="024731"/>
            </a:solidFill>
            <a:prstDash val="solid"/>
          </a:ln>
        </p:spPr>
        <p:txBody>
          <a:bodyPr/>
          <a:lstStyle/>
          <a:p>
            <a:endParaRPr lang="en-US"/>
          </a:p>
        </p:txBody>
      </p:sp>
      <p:sp>
        <p:nvSpPr>
          <p:cNvPr id="16" name="Text 14"/>
          <p:cNvSpPr/>
          <p:nvPr/>
        </p:nvSpPr>
        <p:spPr>
          <a:xfrm>
            <a:off x="5532120" y="2112264"/>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Du Pont ROA ≈ Direct ROA</a:t>
            </a:r>
            <a:endParaRPr lang="en-US" sz="1000" dirty="0"/>
          </a:p>
        </p:txBody>
      </p:sp>
      <p:sp>
        <p:nvSpPr>
          <p:cNvPr id="17" name="Shape 15"/>
          <p:cNvSpPr/>
          <p:nvPr/>
        </p:nvSpPr>
        <p:spPr>
          <a:xfrm>
            <a:off x="5212080" y="2478024"/>
            <a:ext cx="201168" cy="201168"/>
          </a:xfrm>
          <a:prstGeom prst="rect">
            <a:avLst/>
          </a:prstGeom>
          <a:solidFill>
            <a:srgbClr val="FFFFFF"/>
          </a:solidFill>
          <a:ln w="19050">
            <a:solidFill>
              <a:srgbClr val="024731"/>
            </a:solidFill>
            <a:prstDash val="solid"/>
          </a:ln>
        </p:spPr>
        <p:txBody>
          <a:bodyPr/>
          <a:lstStyle/>
          <a:p>
            <a:endParaRPr lang="en-US"/>
          </a:p>
        </p:txBody>
      </p:sp>
      <p:sp>
        <p:nvSpPr>
          <p:cNvPr id="18" name="Text 16"/>
          <p:cNvSpPr/>
          <p:nvPr/>
        </p:nvSpPr>
        <p:spPr>
          <a:xfrm>
            <a:off x="5532120" y="2459736"/>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Du Pont ROE ≈ Direct ROE</a:t>
            </a:r>
            <a:endParaRPr lang="en-US" sz="1000" dirty="0"/>
          </a:p>
        </p:txBody>
      </p:sp>
      <p:sp>
        <p:nvSpPr>
          <p:cNvPr id="19" name="Shape 17"/>
          <p:cNvSpPr/>
          <p:nvPr/>
        </p:nvSpPr>
        <p:spPr>
          <a:xfrm>
            <a:off x="5212080" y="2825496"/>
            <a:ext cx="201168" cy="201168"/>
          </a:xfrm>
          <a:prstGeom prst="rect">
            <a:avLst/>
          </a:prstGeom>
          <a:solidFill>
            <a:srgbClr val="FFFFFF"/>
          </a:solidFill>
          <a:ln w="19050">
            <a:solidFill>
              <a:srgbClr val="024731"/>
            </a:solidFill>
            <a:prstDash val="solid"/>
          </a:ln>
        </p:spPr>
        <p:txBody>
          <a:bodyPr/>
          <a:lstStyle/>
          <a:p>
            <a:endParaRPr lang="en-US"/>
          </a:p>
        </p:txBody>
      </p:sp>
      <p:sp>
        <p:nvSpPr>
          <p:cNvPr id="20" name="Text 18"/>
          <p:cNvSpPr/>
          <p:nvPr/>
        </p:nvSpPr>
        <p:spPr>
          <a:xfrm>
            <a:off x="5532120" y="2807208"/>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Sign checks (no impossible negatives)</a:t>
            </a:r>
            <a:endParaRPr lang="en-US" sz="1000" dirty="0"/>
          </a:p>
        </p:txBody>
      </p:sp>
      <p:sp>
        <p:nvSpPr>
          <p:cNvPr id="21" name="Shape 19"/>
          <p:cNvSpPr/>
          <p:nvPr/>
        </p:nvSpPr>
        <p:spPr>
          <a:xfrm>
            <a:off x="5212080" y="3172968"/>
            <a:ext cx="201168" cy="201168"/>
          </a:xfrm>
          <a:prstGeom prst="rect">
            <a:avLst/>
          </a:prstGeom>
          <a:solidFill>
            <a:srgbClr val="FFFFFF"/>
          </a:solidFill>
          <a:ln w="19050">
            <a:solidFill>
              <a:srgbClr val="024731"/>
            </a:solidFill>
            <a:prstDash val="solid"/>
          </a:ln>
        </p:spPr>
        <p:txBody>
          <a:bodyPr/>
          <a:lstStyle/>
          <a:p>
            <a:endParaRPr lang="en-US"/>
          </a:p>
        </p:txBody>
      </p:sp>
      <p:sp>
        <p:nvSpPr>
          <p:cNvPr id="22" name="Text 20"/>
          <p:cNvSpPr/>
          <p:nvPr/>
        </p:nvSpPr>
        <p:spPr>
          <a:xfrm>
            <a:off x="5532120" y="3154680"/>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Reasonableness (plausible industry range)</a:t>
            </a:r>
            <a:endParaRPr lang="en-US" sz="1000" dirty="0"/>
          </a:p>
        </p:txBody>
      </p:sp>
      <p:sp>
        <p:nvSpPr>
          <p:cNvPr id="23" name="Shape 21"/>
          <p:cNvSpPr/>
          <p:nvPr/>
        </p:nvSpPr>
        <p:spPr>
          <a:xfrm>
            <a:off x="5212080" y="3520440"/>
            <a:ext cx="201168" cy="201168"/>
          </a:xfrm>
          <a:prstGeom prst="rect">
            <a:avLst/>
          </a:prstGeom>
          <a:solidFill>
            <a:srgbClr val="FFFFFF"/>
          </a:solidFill>
          <a:ln w="19050">
            <a:solidFill>
              <a:srgbClr val="024731"/>
            </a:solidFill>
            <a:prstDash val="solid"/>
          </a:ln>
        </p:spPr>
        <p:txBody>
          <a:bodyPr/>
          <a:lstStyle/>
          <a:p>
            <a:endParaRPr lang="en-US"/>
          </a:p>
        </p:txBody>
      </p:sp>
      <p:sp>
        <p:nvSpPr>
          <p:cNvPr id="24" name="Text 22"/>
          <p:cNvSpPr/>
          <p:nvPr/>
        </p:nvSpPr>
        <p:spPr>
          <a:xfrm>
            <a:off x="5532120" y="3502152"/>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Named range audit (5 spot checks)</a:t>
            </a:r>
            <a:endParaRPr lang="en-US" sz="1000" dirty="0"/>
          </a:p>
        </p:txBody>
      </p:sp>
      <p:sp>
        <p:nvSpPr>
          <p:cNvPr id="25" name="Shape 23"/>
          <p:cNvSpPr/>
          <p:nvPr/>
        </p:nvSpPr>
        <p:spPr>
          <a:xfrm>
            <a:off x="5212080" y="3867912"/>
            <a:ext cx="201168" cy="201168"/>
          </a:xfrm>
          <a:prstGeom prst="rect">
            <a:avLst/>
          </a:prstGeom>
          <a:solidFill>
            <a:srgbClr val="FFFFFF"/>
          </a:solidFill>
          <a:ln w="19050">
            <a:solidFill>
              <a:srgbClr val="024731"/>
            </a:solidFill>
            <a:prstDash val="solid"/>
          </a:ln>
        </p:spPr>
        <p:txBody>
          <a:bodyPr/>
          <a:lstStyle/>
          <a:p>
            <a:endParaRPr lang="en-US"/>
          </a:p>
        </p:txBody>
      </p:sp>
      <p:sp>
        <p:nvSpPr>
          <p:cNvPr id="26" name="Text 24"/>
          <p:cNvSpPr/>
          <p:nvPr/>
        </p:nvSpPr>
        <p:spPr>
          <a:xfrm>
            <a:off x="5532120" y="3849624"/>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Formula audit (5 spot checks)</a:t>
            </a:r>
            <a:endParaRPr lang="en-US" sz="1000" dirty="0"/>
          </a:p>
        </p:txBody>
      </p:sp>
      <p:sp>
        <p:nvSpPr>
          <p:cNvPr id="27" name="Shape 25"/>
          <p:cNvSpPr/>
          <p:nvPr/>
        </p:nvSpPr>
        <p:spPr>
          <a:xfrm>
            <a:off x="5212080" y="4215384"/>
            <a:ext cx="201168" cy="201168"/>
          </a:xfrm>
          <a:prstGeom prst="rect">
            <a:avLst/>
          </a:prstGeom>
          <a:solidFill>
            <a:srgbClr val="FFFFFF"/>
          </a:solidFill>
          <a:ln w="19050">
            <a:solidFill>
              <a:srgbClr val="024731"/>
            </a:solidFill>
            <a:prstDash val="solid"/>
          </a:ln>
        </p:spPr>
        <p:txBody>
          <a:bodyPr/>
          <a:lstStyle/>
          <a:p>
            <a:endParaRPr lang="en-US"/>
          </a:p>
        </p:txBody>
      </p:sp>
      <p:sp>
        <p:nvSpPr>
          <p:cNvPr id="28" name="Text 26"/>
          <p:cNvSpPr/>
          <p:nvPr/>
        </p:nvSpPr>
        <p:spPr>
          <a:xfrm>
            <a:off x="5532120" y="4197096"/>
            <a:ext cx="3108960" cy="22860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Start-of-year vs. average comparison</a:t>
            </a:r>
            <a:endParaRPr lang="en-US" sz="1000" dirty="0"/>
          </a:p>
        </p:txBody>
      </p:sp>
      <p:sp>
        <p:nvSpPr>
          <p:cNvPr id="29" name="Shape 27"/>
          <p:cNvSpPr/>
          <p:nvPr/>
        </p:nvSpPr>
        <p:spPr>
          <a:xfrm>
            <a:off x="548640" y="4434840"/>
            <a:ext cx="4114800" cy="457200"/>
          </a:xfrm>
          <a:prstGeom prst="rect">
            <a:avLst/>
          </a:prstGeom>
          <a:solidFill>
            <a:srgbClr val="024731"/>
          </a:solidFill>
          <a:ln/>
        </p:spPr>
        <p:txBody>
          <a:bodyPr/>
          <a:lstStyle/>
          <a:p>
            <a:endParaRPr lang="en-US"/>
          </a:p>
        </p:txBody>
      </p:sp>
      <p:sp>
        <p:nvSpPr>
          <p:cNvPr id="30" name="Text 28"/>
          <p:cNvSpPr/>
          <p:nvPr/>
        </p:nvSpPr>
        <p:spPr>
          <a:xfrm>
            <a:off x="685800" y="4453128"/>
            <a:ext cx="3840480" cy="411480"/>
          </a:xfrm>
          <a:prstGeom prst="rect">
            <a:avLst/>
          </a:prstGeom>
          <a:noFill/>
          <a:ln/>
        </p:spPr>
        <p:txBody>
          <a:bodyPr wrap="square" rtlCol="0" anchor="ctr"/>
          <a:lstStyle/>
          <a:p>
            <a:pPr marL="0" indent="0">
              <a:buNone/>
            </a:pPr>
            <a:r>
              <a:rPr lang="en-US" sz="1000" dirty="0">
                <a:solidFill>
                  <a:srgbClr val="FFFFFF"/>
                </a:solidFill>
                <a:latin typeface="Open Sans" pitchFamily="34" charset="0"/>
                <a:ea typeface="Open Sans" pitchFamily="34" charset="-122"/>
                <a:cs typeface="Open Sans" pitchFamily="34" charset="-120"/>
              </a:rPr>
              <a:t>This stage builds the deep model familiarity you need for writing a credible spec in Stage 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64008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Stage 4 — Technical Specification</a:t>
            </a:r>
            <a:endParaRPr lang="en-US" sz="2000" dirty="0"/>
          </a:p>
        </p:txBody>
      </p:sp>
      <p:sp>
        <p:nvSpPr>
          <p:cNvPr id="4" name="Text 2"/>
          <p:cNvSpPr/>
          <p:nvPr/>
        </p:nvSpPr>
        <p:spPr>
          <a:xfrm>
            <a:off x="548640" y="429768"/>
            <a:ext cx="7315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20% of project  |  LLM-drafted, student-refined  |  70% deliverable / 30% presentation</a:t>
            </a:r>
            <a:endParaRPr lang="en-US" sz="1100" dirty="0"/>
          </a:p>
        </p:txBody>
      </p:sp>
      <p:sp>
        <p:nvSpPr>
          <p:cNvPr id="5" name="Shape 3"/>
          <p:cNvSpPr/>
          <p:nvPr/>
        </p:nvSpPr>
        <p:spPr>
          <a:xfrm>
            <a:off x="7132320" y="0"/>
            <a:ext cx="2011680" cy="822960"/>
          </a:xfrm>
          <a:prstGeom prst="rect">
            <a:avLst/>
          </a:prstGeom>
          <a:solidFill>
            <a:srgbClr val="C9A84C"/>
          </a:solidFill>
          <a:ln/>
        </p:spPr>
        <p:txBody>
          <a:bodyPr/>
          <a:lstStyle/>
          <a:p>
            <a:endParaRPr lang="en-US"/>
          </a:p>
        </p:txBody>
      </p:sp>
      <p:sp>
        <p:nvSpPr>
          <p:cNvPr id="6" name="Text 4"/>
          <p:cNvSpPr/>
          <p:nvPr/>
        </p:nvSpPr>
        <p:spPr>
          <a:xfrm>
            <a:off x="7132320" y="91440"/>
            <a:ext cx="2011680" cy="640080"/>
          </a:xfrm>
          <a:prstGeom prst="rect">
            <a:avLst/>
          </a:prstGeom>
          <a:noFill/>
          <a:ln/>
        </p:spPr>
        <p:txBody>
          <a:bodyPr wrap="square" rtlCol="0" anchor="ctr"/>
          <a:lstStyle/>
          <a:p>
            <a:pPr marL="0" indent="0" algn="ctr">
              <a:buNone/>
            </a:pPr>
            <a:r>
              <a:rPr lang="en-US" sz="1200" b="1" dirty="0">
                <a:solidFill>
                  <a:srgbClr val="024731"/>
                </a:solidFill>
                <a:latin typeface="Open Sans" pitchFamily="34" charset="0"/>
                <a:ea typeface="Open Sans" pitchFamily="34" charset="-122"/>
                <a:cs typeface="Open Sans" pitchFamily="34" charset="-120"/>
              </a:rPr>
              <a:t>SPEC-DRIVEN</a:t>
            </a:r>
            <a:endParaRPr lang="en-US" sz="1200" dirty="0"/>
          </a:p>
          <a:p>
            <a:pPr marL="0" indent="0" algn="ctr">
              <a:buNone/>
            </a:pPr>
            <a:r>
              <a:rPr lang="en-US" sz="1200" b="1" dirty="0">
                <a:solidFill>
                  <a:srgbClr val="024731"/>
                </a:solidFill>
                <a:latin typeface="Open Sans" pitchFamily="34" charset="0"/>
                <a:ea typeface="Open Sans" pitchFamily="34" charset="-122"/>
                <a:cs typeface="Open Sans" pitchFamily="34" charset="-120"/>
              </a:rPr>
              <a:t>DESIGN</a:t>
            </a:r>
            <a:endParaRPr lang="en-US" sz="1200" dirty="0"/>
          </a:p>
        </p:txBody>
      </p:sp>
      <p:sp>
        <p:nvSpPr>
          <p:cNvPr id="7" name="Shape 5"/>
          <p:cNvSpPr/>
          <p:nvPr/>
        </p:nvSpPr>
        <p:spPr>
          <a:xfrm>
            <a:off x="457200" y="1051560"/>
            <a:ext cx="4023360" cy="320040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8" name="Shape 6"/>
          <p:cNvSpPr/>
          <p:nvPr/>
        </p:nvSpPr>
        <p:spPr>
          <a:xfrm>
            <a:off x="457200" y="1051560"/>
            <a:ext cx="4023360" cy="411480"/>
          </a:xfrm>
          <a:prstGeom prst="rect">
            <a:avLst/>
          </a:prstGeom>
          <a:solidFill>
            <a:srgbClr val="024731"/>
          </a:solidFill>
          <a:ln/>
        </p:spPr>
        <p:txBody>
          <a:bodyPr/>
          <a:lstStyle/>
          <a:p>
            <a:endParaRPr lang="en-US"/>
          </a:p>
        </p:txBody>
      </p:sp>
      <p:sp>
        <p:nvSpPr>
          <p:cNvPr id="9" name="Text 7"/>
          <p:cNvSpPr/>
          <p:nvPr/>
        </p:nvSpPr>
        <p:spPr>
          <a:xfrm>
            <a:off x="594360" y="1069848"/>
            <a:ext cx="3749040" cy="365760"/>
          </a:xfrm>
          <a:prstGeom prst="rect">
            <a:avLst/>
          </a:prstGeom>
          <a:noFill/>
          <a:ln/>
        </p:spPr>
        <p:txBody>
          <a:bodyPr wrap="square" lIns="0" tIns="0" rIns="0" bIns="0" rtlCol="0" anchor="ctr"/>
          <a:lstStyle/>
          <a:p>
            <a:pPr marL="0" indent="0">
              <a:buNone/>
            </a:pPr>
            <a:r>
              <a:rPr lang="en-US" sz="1300" b="1" dirty="0">
                <a:solidFill>
                  <a:srgbClr val="FFFFFF"/>
                </a:solidFill>
                <a:latin typeface="Open Sans" pitchFamily="34" charset="0"/>
                <a:ea typeface="Open Sans" pitchFamily="34" charset="-122"/>
                <a:cs typeface="Open Sans" pitchFamily="34" charset="-120"/>
              </a:rPr>
              <a:t>Part A — Model Specification</a:t>
            </a:r>
            <a:endParaRPr lang="en-US" sz="1300" dirty="0"/>
          </a:p>
        </p:txBody>
      </p:sp>
      <p:sp>
        <p:nvSpPr>
          <p:cNvPr id="10" name="Text 8"/>
          <p:cNvSpPr/>
          <p:nvPr/>
        </p:nvSpPr>
        <p:spPr>
          <a:xfrm>
            <a:off x="594360" y="160020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1</a:t>
            </a:r>
            <a:endParaRPr lang="en-US" sz="1000" dirty="0"/>
          </a:p>
        </p:txBody>
      </p:sp>
      <p:sp>
        <p:nvSpPr>
          <p:cNvPr id="11" name="Text 9"/>
          <p:cNvSpPr/>
          <p:nvPr/>
        </p:nvSpPr>
        <p:spPr>
          <a:xfrm>
            <a:off x="868680" y="158191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Scope &amp; Objective</a:t>
            </a:r>
            <a:endParaRPr lang="en-US" sz="1000" dirty="0"/>
          </a:p>
        </p:txBody>
      </p:sp>
      <p:sp>
        <p:nvSpPr>
          <p:cNvPr id="12" name="Text 10"/>
          <p:cNvSpPr/>
          <p:nvPr/>
        </p:nvSpPr>
        <p:spPr>
          <a:xfrm>
            <a:off x="868680" y="175564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Company, fiscal period, reporting standard, currency</a:t>
            </a:r>
            <a:endParaRPr lang="en-US" sz="900" dirty="0"/>
          </a:p>
        </p:txBody>
      </p:sp>
      <p:sp>
        <p:nvSpPr>
          <p:cNvPr id="13" name="Text 11"/>
          <p:cNvSpPr/>
          <p:nvPr/>
        </p:nvSpPr>
        <p:spPr>
          <a:xfrm>
            <a:off x="594360" y="196596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2</a:t>
            </a:r>
            <a:endParaRPr lang="en-US" sz="1000" dirty="0"/>
          </a:p>
        </p:txBody>
      </p:sp>
      <p:sp>
        <p:nvSpPr>
          <p:cNvPr id="14" name="Text 12"/>
          <p:cNvSpPr/>
          <p:nvPr/>
        </p:nvSpPr>
        <p:spPr>
          <a:xfrm>
            <a:off x="868680" y="194767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Model Architecture</a:t>
            </a:r>
            <a:endParaRPr lang="en-US" sz="1000" dirty="0"/>
          </a:p>
        </p:txBody>
      </p:sp>
      <p:sp>
        <p:nvSpPr>
          <p:cNvPr id="15" name="Text 13"/>
          <p:cNvSpPr/>
          <p:nvPr/>
        </p:nvSpPr>
        <p:spPr>
          <a:xfrm>
            <a:off x="868680" y="212140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Tab layout, color coding, input/calc/output separation</a:t>
            </a:r>
            <a:endParaRPr lang="en-US" sz="900" dirty="0"/>
          </a:p>
        </p:txBody>
      </p:sp>
      <p:sp>
        <p:nvSpPr>
          <p:cNvPr id="16" name="Text 14"/>
          <p:cNvSpPr/>
          <p:nvPr/>
        </p:nvSpPr>
        <p:spPr>
          <a:xfrm>
            <a:off x="594360" y="233172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3</a:t>
            </a:r>
            <a:endParaRPr lang="en-US" sz="1000" dirty="0"/>
          </a:p>
        </p:txBody>
      </p:sp>
      <p:sp>
        <p:nvSpPr>
          <p:cNvPr id="17" name="Text 15"/>
          <p:cNvSpPr/>
          <p:nvPr/>
        </p:nvSpPr>
        <p:spPr>
          <a:xfrm>
            <a:off x="868680" y="231343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Data Inputs</a:t>
            </a:r>
            <a:endParaRPr lang="en-US" sz="1000" dirty="0"/>
          </a:p>
        </p:txBody>
      </p:sp>
      <p:sp>
        <p:nvSpPr>
          <p:cNvPr id="18" name="Text 16"/>
          <p:cNvSpPr/>
          <p:nvPr/>
        </p:nvSpPr>
        <p:spPr>
          <a:xfrm>
            <a:off x="868680" y="248716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Every value explicit — the executor does not infer data</a:t>
            </a:r>
            <a:endParaRPr lang="en-US" sz="900" dirty="0"/>
          </a:p>
        </p:txBody>
      </p:sp>
      <p:sp>
        <p:nvSpPr>
          <p:cNvPr id="19" name="Text 17"/>
          <p:cNvSpPr/>
          <p:nvPr/>
        </p:nvSpPr>
        <p:spPr>
          <a:xfrm>
            <a:off x="594360" y="269748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4</a:t>
            </a:r>
            <a:endParaRPr lang="en-US" sz="1000" dirty="0"/>
          </a:p>
        </p:txBody>
      </p:sp>
      <p:sp>
        <p:nvSpPr>
          <p:cNvPr id="20" name="Text 18"/>
          <p:cNvSpPr/>
          <p:nvPr/>
        </p:nvSpPr>
        <p:spPr>
          <a:xfrm>
            <a:off x="868680" y="267919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Named Range Map</a:t>
            </a:r>
            <a:endParaRPr lang="en-US" sz="1000" dirty="0"/>
          </a:p>
        </p:txBody>
      </p:sp>
      <p:sp>
        <p:nvSpPr>
          <p:cNvPr id="21" name="Text 19"/>
          <p:cNvSpPr/>
          <p:nvPr/>
        </p:nvSpPr>
        <p:spPr>
          <a:xfrm>
            <a:off x="868680" y="285292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Full map: name, source, value, unit</a:t>
            </a:r>
            <a:endParaRPr lang="en-US" sz="900" dirty="0"/>
          </a:p>
        </p:txBody>
      </p:sp>
      <p:sp>
        <p:nvSpPr>
          <p:cNvPr id="22" name="Text 20"/>
          <p:cNvSpPr/>
          <p:nvPr/>
        </p:nvSpPr>
        <p:spPr>
          <a:xfrm>
            <a:off x="594360" y="306324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5</a:t>
            </a:r>
            <a:endParaRPr lang="en-US" sz="1000" dirty="0"/>
          </a:p>
        </p:txBody>
      </p:sp>
      <p:sp>
        <p:nvSpPr>
          <p:cNvPr id="23" name="Text 21"/>
          <p:cNvSpPr/>
          <p:nvPr/>
        </p:nvSpPr>
        <p:spPr>
          <a:xfrm>
            <a:off x="868680" y="304495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Derived Inputs</a:t>
            </a:r>
            <a:endParaRPr lang="en-US" sz="1000" dirty="0"/>
          </a:p>
        </p:txBody>
      </p:sp>
      <p:sp>
        <p:nvSpPr>
          <p:cNvPr id="24" name="Text 22"/>
          <p:cNvSpPr/>
          <p:nvPr/>
        </p:nvSpPr>
        <p:spPr>
          <a:xfrm>
            <a:off x="868680" y="321868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Averages, start-of-year, daily rates with formulas</a:t>
            </a:r>
            <a:endParaRPr lang="en-US" sz="900" dirty="0"/>
          </a:p>
        </p:txBody>
      </p:sp>
      <p:sp>
        <p:nvSpPr>
          <p:cNvPr id="25" name="Text 23"/>
          <p:cNvSpPr/>
          <p:nvPr/>
        </p:nvSpPr>
        <p:spPr>
          <a:xfrm>
            <a:off x="594360" y="342900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6</a:t>
            </a:r>
            <a:endParaRPr lang="en-US" sz="1000" dirty="0"/>
          </a:p>
        </p:txBody>
      </p:sp>
      <p:sp>
        <p:nvSpPr>
          <p:cNvPr id="26" name="Text 24"/>
          <p:cNvSpPr/>
          <p:nvPr/>
        </p:nvSpPr>
        <p:spPr>
          <a:xfrm>
            <a:off x="868680" y="341071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Ratio Formulas</a:t>
            </a:r>
            <a:endParaRPr lang="en-US" sz="1000" dirty="0"/>
          </a:p>
        </p:txBody>
      </p:sp>
      <p:sp>
        <p:nvSpPr>
          <p:cNvPr id="27" name="Text 25"/>
          <p:cNvSpPr/>
          <p:nvPr/>
        </p:nvSpPr>
        <p:spPr>
          <a:xfrm>
            <a:off x="868680" y="358444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All 25+ ratios in named-range notation with units</a:t>
            </a:r>
            <a:endParaRPr lang="en-US" sz="900" dirty="0"/>
          </a:p>
        </p:txBody>
      </p:sp>
      <p:sp>
        <p:nvSpPr>
          <p:cNvPr id="28" name="Text 26"/>
          <p:cNvSpPr/>
          <p:nvPr/>
        </p:nvSpPr>
        <p:spPr>
          <a:xfrm>
            <a:off x="594360" y="3794760"/>
            <a:ext cx="22860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7</a:t>
            </a:r>
            <a:endParaRPr lang="en-US" sz="1000" dirty="0"/>
          </a:p>
        </p:txBody>
      </p:sp>
      <p:sp>
        <p:nvSpPr>
          <p:cNvPr id="29" name="Text 27"/>
          <p:cNvSpPr/>
          <p:nvPr/>
        </p:nvSpPr>
        <p:spPr>
          <a:xfrm>
            <a:off x="868680" y="3776472"/>
            <a:ext cx="155448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Validation Rules</a:t>
            </a:r>
            <a:endParaRPr lang="en-US" sz="1000" dirty="0"/>
          </a:p>
        </p:txBody>
      </p:sp>
      <p:sp>
        <p:nvSpPr>
          <p:cNvPr id="30" name="Text 28"/>
          <p:cNvSpPr/>
          <p:nvPr/>
        </p:nvSpPr>
        <p:spPr>
          <a:xfrm>
            <a:off x="868680" y="3950208"/>
            <a:ext cx="3474720" cy="18288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Du Pont checks, BS balance, consistency tests</a:t>
            </a:r>
            <a:endParaRPr lang="en-US" sz="900" dirty="0"/>
          </a:p>
        </p:txBody>
      </p:sp>
      <p:sp>
        <p:nvSpPr>
          <p:cNvPr id="31" name="Shape 29"/>
          <p:cNvSpPr/>
          <p:nvPr/>
        </p:nvSpPr>
        <p:spPr>
          <a:xfrm>
            <a:off x="4663440" y="1051560"/>
            <a:ext cx="4023360" cy="320040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32" name="Shape 30"/>
          <p:cNvSpPr/>
          <p:nvPr/>
        </p:nvSpPr>
        <p:spPr>
          <a:xfrm>
            <a:off x="4663440" y="1051560"/>
            <a:ext cx="4023360" cy="411480"/>
          </a:xfrm>
          <a:prstGeom prst="rect">
            <a:avLst/>
          </a:prstGeom>
          <a:solidFill>
            <a:srgbClr val="024731"/>
          </a:solidFill>
          <a:ln/>
        </p:spPr>
        <p:txBody>
          <a:bodyPr/>
          <a:lstStyle/>
          <a:p>
            <a:endParaRPr lang="en-US"/>
          </a:p>
        </p:txBody>
      </p:sp>
      <p:sp>
        <p:nvSpPr>
          <p:cNvPr id="33" name="Text 31"/>
          <p:cNvSpPr/>
          <p:nvPr/>
        </p:nvSpPr>
        <p:spPr>
          <a:xfrm>
            <a:off x="4800600" y="1069848"/>
            <a:ext cx="3749040" cy="365760"/>
          </a:xfrm>
          <a:prstGeom prst="rect">
            <a:avLst/>
          </a:prstGeom>
          <a:noFill/>
          <a:ln/>
        </p:spPr>
        <p:txBody>
          <a:bodyPr wrap="square" lIns="0" tIns="0" rIns="0" bIns="0" rtlCol="0" anchor="ctr"/>
          <a:lstStyle/>
          <a:p>
            <a:pPr marL="0" indent="0">
              <a:buNone/>
            </a:pPr>
            <a:r>
              <a:rPr lang="en-US" sz="1300" b="1" dirty="0">
                <a:solidFill>
                  <a:srgbClr val="FFFFFF"/>
                </a:solidFill>
                <a:latin typeface="Open Sans" pitchFamily="34" charset="0"/>
                <a:ea typeface="Open Sans" pitchFamily="34" charset="-122"/>
                <a:cs typeface="Open Sans" pitchFamily="34" charset="-120"/>
              </a:rPr>
              <a:t>Part B — Analysis Specification</a:t>
            </a:r>
            <a:endParaRPr lang="en-US" sz="1300" dirty="0"/>
          </a:p>
        </p:txBody>
      </p:sp>
      <p:sp>
        <p:nvSpPr>
          <p:cNvPr id="34" name="Text 32"/>
          <p:cNvSpPr/>
          <p:nvPr/>
        </p:nvSpPr>
        <p:spPr>
          <a:xfrm>
            <a:off x="4800600" y="1600200"/>
            <a:ext cx="32004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8</a:t>
            </a:r>
            <a:endParaRPr lang="en-US" sz="1000" dirty="0"/>
          </a:p>
        </p:txBody>
      </p:sp>
      <p:sp>
        <p:nvSpPr>
          <p:cNvPr id="35" name="Text 33"/>
          <p:cNvSpPr/>
          <p:nvPr/>
        </p:nvSpPr>
        <p:spPr>
          <a:xfrm>
            <a:off x="5166360" y="1581912"/>
            <a:ext cx="228600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Analysis Requirements</a:t>
            </a:r>
            <a:endParaRPr lang="en-US" sz="1000" dirty="0"/>
          </a:p>
        </p:txBody>
      </p:sp>
      <p:sp>
        <p:nvSpPr>
          <p:cNvPr id="36" name="Text 34"/>
          <p:cNvSpPr/>
          <p:nvPr/>
        </p:nvSpPr>
        <p:spPr>
          <a:xfrm>
            <a:off x="5166360" y="1764792"/>
            <a:ext cx="3383280" cy="27432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What to interpret per category; benchmarks; cross-category connections</a:t>
            </a:r>
            <a:endParaRPr lang="en-US" sz="900" dirty="0"/>
          </a:p>
        </p:txBody>
      </p:sp>
      <p:sp>
        <p:nvSpPr>
          <p:cNvPr id="37" name="Text 35"/>
          <p:cNvSpPr/>
          <p:nvPr/>
        </p:nvSpPr>
        <p:spPr>
          <a:xfrm>
            <a:off x="4800600" y="2103120"/>
            <a:ext cx="32004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9</a:t>
            </a:r>
            <a:endParaRPr lang="en-US" sz="1000" dirty="0"/>
          </a:p>
        </p:txBody>
      </p:sp>
      <p:sp>
        <p:nvSpPr>
          <p:cNvPr id="38" name="Text 36"/>
          <p:cNvSpPr/>
          <p:nvPr/>
        </p:nvSpPr>
        <p:spPr>
          <a:xfrm>
            <a:off x="5166360" y="2084832"/>
            <a:ext cx="228600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Du Pont Decomposition</a:t>
            </a:r>
            <a:endParaRPr lang="en-US" sz="1000" dirty="0"/>
          </a:p>
        </p:txBody>
      </p:sp>
      <p:sp>
        <p:nvSpPr>
          <p:cNvPr id="39" name="Text 37"/>
          <p:cNvSpPr/>
          <p:nvPr/>
        </p:nvSpPr>
        <p:spPr>
          <a:xfrm>
            <a:off x="5166360" y="2267712"/>
            <a:ext cx="3383280" cy="27432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ROE breakdown instructions: which driver? Sustainable?</a:t>
            </a:r>
            <a:endParaRPr lang="en-US" sz="900" dirty="0"/>
          </a:p>
        </p:txBody>
      </p:sp>
      <p:sp>
        <p:nvSpPr>
          <p:cNvPr id="40" name="Text 38"/>
          <p:cNvSpPr/>
          <p:nvPr/>
        </p:nvSpPr>
        <p:spPr>
          <a:xfrm>
            <a:off x="4800600" y="2606040"/>
            <a:ext cx="32004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10</a:t>
            </a:r>
            <a:endParaRPr lang="en-US" sz="1000" dirty="0"/>
          </a:p>
        </p:txBody>
      </p:sp>
      <p:sp>
        <p:nvSpPr>
          <p:cNvPr id="41" name="Text 39"/>
          <p:cNvSpPr/>
          <p:nvPr/>
        </p:nvSpPr>
        <p:spPr>
          <a:xfrm>
            <a:off x="5166360" y="2587752"/>
            <a:ext cx="228600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Strategic Recommendations</a:t>
            </a:r>
            <a:endParaRPr lang="en-US" sz="1000" dirty="0"/>
          </a:p>
        </p:txBody>
      </p:sp>
      <p:sp>
        <p:nvSpPr>
          <p:cNvPr id="42" name="Text 40"/>
          <p:cNvSpPr/>
          <p:nvPr/>
        </p:nvSpPr>
        <p:spPr>
          <a:xfrm>
            <a:off x="5166360" y="2770632"/>
            <a:ext cx="3383280" cy="27432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3–5 recommendations; evidence standard; actionable specificity</a:t>
            </a:r>
            <a:endParaRPr lang="en-US" sz="900" dirty="0"/>
          </a:p>
        </p:txBody>
      </p:sp>
      <p:sp>
        <p:nvSpPr>
          <p:cNvPr id="43" name="Text 41"/>
          <p:cNvSpPr/>
          <p:nvPr/>
        </p:nvSpPr>
        <p:spPr>
          <a:xfrm>
            <a:off x="4800600" y="3108960"/>
            <a:ext cx="320040" cy="228600"/>
          </a:xfrm>
          <a:prstGeom prst="rect">
            <a:avLst/>
          </a:prstGeom>
          <a:noFill/>
          <a:ln/>
        </p:spPr>
        <p:txBody>
          <a:bodyPr wrap="square" lIns="0" tIns="0" rIns="0" bIns="0" rtlCol="0" anchor="ctr"/>
          <a:lstStyle/>
          <a:p>
            <a:pPr marL="0" indent="0">
              <a:buNone/>
            </a:pPr>
            <a:r>
              <a:rPr lang="en-US" sz="1000" b="1" dirty="0">
                <a:solidFill>
                  <a:srgbClr val="024731"/>
                </a:solidFill>
                <a:latin typeface="Open Sans" pitchFamily="34" charset="0"/>
                <a:ea typeface="Open Sans" pitchFamily="34" charset="-122"/>
                <a:cs typeface="Open Sans" pitchFamily="34" charset="-120"/>
              </a:rPr>
              <a:t>11</a:t>
            </a:r>
            <a:endParaRPr lang="en-US" sz="1000" dirty="0"/>
          </a:p>
        </p:txBody>
      </p:sp>
      <p:sp>
        <p:nvSpPr>
          <p:cNvPr id="44" name="Text 42"/>
          <p:cNvSpPr/>
          <p:nvPr/>
        </p:nvSpPr>
        <p:spPr>
          <a:xfrm>
            <a:off x="5166360" y="3090672"/>
            <a:ext cx="2286000" cy="182880"/>
          </a:xfrm>
          <a:prstGeom prst="rect">
            <a:avLst/>
          </a:prstGeom>
          <a:noFill/>
          <a:ln/>
        </p:spPr>
        <p:txBody>
          <a:bodyPr wrap="square" lIns="0" tIns="0" rIns="0" bIns="0" rtlCol="0" anchor="ctr"/>
          <a:lstStyle/>
          <a:p>
            <a:pPr marL="0" indent="0">
              <a:buNone/>
            </a:pPr>
            <a:r>
              <a:rPr lang="en-US" sz="1000" b="1" dirty="0">
                <a:solidFill>
                  <a:srgbClr val="0D0D0D"/>
                </a:solidFill>
                <a:latin typeface="Open Sans" pitchFamily="34" charset="0"/>
                <a:ea typeface="Open Sans" pitchFamily="34" charset="-122"/>
                <a:cs typeface="Open Sans" pitchFamily="34" charset="-120"/>
              </a:rPr>
              <a:t>Output Format</a:t>
            </a:r>
            <a:endParaRPr lang="en-US" sz="1000" dirty="0"/>
          </a:p>
        </p:txBody>
      </p:sp>
      <p:sp>
        <p:nvSpPr>
          <p:cNvPr id="45" name="Text 43"/>
          <p:cNvSpPr/>
          <p:nvPr/>
        </p:nvSpPr>
        <p:spPr>
          <a:xfrm>
            <a:off x="5166360" y="3273552"/>
            <a:ext cx="3383280" cy="27432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Exact deliverable structure, sections, length, tone, audience</a:t>
            </a:r>
            <a:endParaRPr lang="en-US" sz="900" dirty="0"/>
          </a:p>
        </p:txBody>
      </p:sp>
      <p:sp>
        <p:nvSpPr>
          <p:cNvPr id="46" name="Shape 44"/>
          <p:cNvSpPr/>
          <p:nvPr/>
        </p:nvSpPr>
        <p:spPr>
          <a:xfrm>
            <a:off x="4663440" y="3108960"/>
            <a:ext cx="4023360" cy="1143000"/>
          </a:xfrm>
          <a:prstGeom prst="rect">
            <a:avLst/>
          </a:prstGeom>
          <a:solidFill>
            <a:srgbClr val="E6F2EF"/>
          </a:solidFill>
          <a:ln/>
        </p:spPr>
        <p:txBody>
          <a:bodyPr/>
          <a:lstStyle/>
          <a:p>
            <a:endParaRPr lang="en-US"/>
          </a:p>
        </p:txBody>
      </p:sp>
      <p:sp>
        <p:nvSpPr>
          <p:cNvPr id="47" name="Shape 45"/>
          <p:cNvSpPr/>
          <p:nvPr/>
        </p:nvSpPr>
        <p:spPr>
          <a:xfrm>
            <a:off x="4663440" y="3108960"/>
            <a:ext cx="54864" cy="1143000"/>
          </a:xfrm>
          <a:prstGeom prst="rect">
            <a:avLst/>
          </a:prstGeom>
          <a:solidFill>
            <a:srgbClr val="C9A84C"/>
          </a:solidFill>
          <a:ln/>
        </p:spPr>
        <p:txBody>
          <a:bodyPr/>
          <a:lstStyle/>
          <a:p>
            <a:endParaRPr lang="en-US"/>
          </a:p>
        </p:txBody>
      </p:sp>
      <p:sp>
        <p:nvSpPr>
          <p:cNvPr id="48" name="Text 46"/>
          <p:cNvSpPr/>
          <p:nvPr/>
        </p:nvSpPr>
        <p:spPr>
          <a:xfrm>
            <a:off x="4846320" y="3154680"/>
            <a:ext cx="365760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Quality Test</a:t>
            </a:r>
            <a:endParaRPr lang="en-US" sz="1100" dirty="0"/>
          </a:p>
        </p:txBody>
      </p:sp>
      <p:sp>
        <p:nvSpPr>
          <p:cNvPr id="49" name="Text 47"/>
          <p:cNvSpPr/>
          <p:nvPr/>
        </p:nvSpPr>
        <p:spPr>
          <a:xfrm>
            <a:off x="4846320" y="3383280"/>
            <a:ext cx="3657600" cy="777240"/>
          </a:xfrm>
          <a:prstGeom prst="rect">
            <a:avLst/>
          </a:prstGeom>
          <a:noFill/>
          <a:ln/>
        </p:spPr>
        <p:txBody>
          <a:bodyPr wrap="square" lIns="0" tIns="0" rIns="0" bIns="0" rtlCol="0" anchor="ctr"/>
          <a:lstStyle/>
          <a:p>
            <a:pPr marL="0" indent="0">
              <a:buNone/>
            </a:pPr>
            <a:r>
              <a:rPr lang="en-US" sz="1000" dirty="0">
                <a:solidFill>
                  <a:srgbClr val="6B7280"/>
                </a:solidFill>
                <a:latin typeface="Open Sans" pitchFamily="34" charset="0"/>
                <a:ea typeface="Open Sans" pitchFamily="34" charset="-122"/>
                <a:cs typeface="Open Sans" pitchFamily="34" charset="-120"/>
              </a:rPr>
              <a:t>Use an LLM to draft Part A + Part B from your Stage 3 model. Refine the draft, then test it against a fresh LLM session — if the cold output mirrors your model, the spec is precise enough. Log every prompt.</a:t>
            </a:r>
            <a:endParaRPr lang="en-US" sz="1000" dirty="0"/>
          </a:p>
        </p:txBody>
      </p:sp>
      <p:sp>
        <p:nvSpPr>
          <p:cNvPr id="50" name="Shape 48"/>
          <p:cNvSpPr/>
          <p:nvPr/>
        </p:nvSpPr>
        <p:spPr>
          <a:xfrm>
            <a:off x="457200" y="4434840"/>
            <a:ext cx="8229600" cy="457200"/>
          </a:xfrm>
          <a:prstGeom prst="rect">
            <a:avLst/>
          </a:prstGeom>
          <a:solidFill>
            <a:srgbClr val="024731"/>
          </a:solidFill>
          <a:ln/>
        </p:spPr>
        <p:txBody>
          <a:bodyPr/>
          <a:lstStyle/>
          <a:p>
            <a:endParaRPr lang="en-US"/>
          </a:p>
        </p:txBody>
      </p:sp>
      <p:sp>
        <p:nvSpPr>
          <p:cNvPr id="51" name="Text 49"/>
          <p:cNvSpPr/>
          <p:nvPr/>
        </p:nvSpPr>
        <p:spPr>
          <a:xfrm>
            <a:off x="594360" y="4453128"/>
            <a:ext cx="7955280" cy="411480"/>
          </a:xfrm>
          <a:prstGeom prst="rect">
            <a:avLst/>
          </a:prstGeom>
          <a:noFill/>
          <a:ln/>
        </p:spPr>
        <p:txBody>
          <a:bodyPr wrap="square" rtlCol="0" anchor="ctr"/>
          <a:lstStyle/>
          <a:p>
            <a:pPr marL="0" indent="0" algn="ctr">
              <a:buNone/>
            </a:pPr>
            <a:r>
              <a:rPr lang="en-US" sz="1000" dirty="0">
                <a:solidFill>
                  <a:srgbClr val="FFFFFF"/>
                </a:solidFill>
                <a:latin typeface="Open Sans" pitchFamily="34" charset="0"/>
                <a:ea typeface="Open Sans" pitchFamily="34" charset="-122"/>
                <a:cs typeface="Open Sans" pitchFamily="34" charset="-120"/>
              </a:rPr>
              <a:t>Rubric:  Data &amp; Structure 25%  |  Ratios &amp; Validation 25%  |  Analysis Spec 25%  |  Spec Craft + Prompt Log 25%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Text 1"/>
          <p:cNvSpPr/>
          <p:nvPr/>
        </p:nvSpPr>
        <p:spPr>
          <a:xfrm>
            <a:off x="548640" y="137160"/>
            <a:ext cx="7315200" cy="274320"/>
          </a:xfrm>
          <a:prstGeom prst="rect">
            <a:avLst/>
          </a:prstGeom>
          <a:noFill/>
          <a:ln/>
        </p:spPr>
        <p:txBody>
          <a:bodyPr wrap="square" lIns="0" tIns="0" rIns="0" bIns="0" rtlCol="0" anchor="ctr"/>
          <a:lstStyle/>
          <a:p>
            <a:pPr marL="0" indent="0">
              <a:buNone/>
            </a:pPr>
            <a:r>
              <a:rPr lang="en-US" sz="2000" b="1" dirty="0">
                <a:solidFill>
                  <a:srgbClr val="FFFFFF"/>
                </a:solidFill>
                <a:latin typeface="Open Sans" pitchFamily="34" charset="0"/>
                <a:ea typeface="Open Sans" pitchFamily="34" charset="-122"/>
                <a:cs typeface="Open Sans" pitchFamily="34" charset="-120"/>
              </a:rPr>
              <a:t>Stage 5 — LLM Analysis &amp; Executive Evaluation</a:t>
            </a:r>
            <a:endParaRPr lang="en-US" sz="2000" dirty="0"/>
          </a:p>
        </p:txBody>
      </p:sp>
      <p:sp>
        <p:nvSpPr>
          <p:cNvPr id="4" name="Text 2"/>
          <p:cNvSpPr/>
          <p:nvPr/>
        </p:nvSpPr>
        <p:spPr>
          <a:xfrm>
            <a:off x="548640" y="429768"/>
            <a:ext cx="7315200" cy="228600"/>
          </a:xfrm>
          <a:prstGeom prst="rect">
            <a:avLst/>
          </a:prstGeom>
          <a:noFill/>
          <a:ln/>
        </p:spPr>
        <p:txBody>
          <a:bodyPr wrap="square" lIns="0" tIns="0" rIns="0" bIns="0" rtlCol="0" anchor="ctr"/>
          <a:lstStyle/>
          <a:p>
            <a:pPr marL="0" indent="0">
              <a:buNone/>
            </a:pPr>
            <a:r>
              <a:rPr lang="en-US" sz="1100" dirty="0">
                <a:solidFill>
                  <a:srgbClr val="B8DDD1"/>
                </a:solidFill>
                <a:latin typeface="Open Sans" pitchFamily="34" charset="0"/>
                <a:ea typeface="Open Sans" pitchFamily="34" charset="-122"/>
                <a:cs typeface="Open Sans" pitchFamily="34" charset="-120"/>
              </a:rPr>
              <a:t>25% of project  |  Full analysis + LLM evaluation + repo polish  |  70% deliverable / 30% presentation</a:t>
            </a:r>
            <a:endParaRPr lang="en-US" sz="1100" dirty="0"/>
          </a:p>
        </p:txBody>
      </p:sp>
      <p:sp>
        <p:nvSpPr>
          <p:cNvPr id="5" name="Text 3"/>
          <p:cNvSpPr/>
          <p:nvPr/>
        </p:nvSpPr>
        <p:spPr>
          <a:xfrm>
            <a:off x="548640" y="1051560"/>
            <a:ext cx="3657600" cy="274320"/>
          </a:xfrm>
          <a:prstGeom prst="rect">
            <a:avLst/>
          </a:prstGeom>
          <a:noFill/>
          <a:ln/>
        </p:spPr>
        <p:txBody>
          <a:bodyPr wrap="square" lIns="0" tIns="0" rIns="0" bIns="0" rtlCol="0" anchor="ctr"/>
          <a:lstStyle/>
          <a:p>
            <a:pPr marL="0" indent="0">
              <a:buNone/>
            </a:pPr>
            <a:r>
              <a:rPr lang="en-US" sz="1400" b="1" dirty="0">
                <a:solidFill>
                  <a:srgbClr val="024731"/>
                </a:solidFill>
                <a:latin typeface="Open Sans" pitchFamily="34" charset="0"/>
                <a:ea typeface="Open Sans" pitchFamily="34" charset="-122"/>
                <a:cs typeface="Open Sans" pitchFamily="34" charset="-120"/>
              </a:rPr>
              <a:t>How It Works</a:t>
            </a:r>
            <a:endParaRPr lang="en-US" sz="1400" dirty="0"/>
          </a:p>
        </p:txBody>
      </p:sp>
      <p:sp>
        <p:nvSpPr>
          <p:cNvPr id="6" name="Shape 4"/>
          <p:cNvSpPr/>
          <p:nvPr/>
        </p:nvSpPr>
        <p:spPr>
          <a:xfrm>
            <a:off x="594360" y="1463040"/>
            <a:ext cx="274320" cy="274320"/>
          </a:xfrm>
          <a:prstGeom prst="ellipse">
            <a:avLst/>
          </a:prstGeom>
          <a:solidFill>
            <a:srgbClr val="024731"/>
          </a:solidFill>
          <a:ln/>
        </p:spPr>
        <p:txBody>
          <a:bodyPr/>
          <a:lstStyle/>
          <a:p>
            <a:endParaRPr lang="en-US"/>
          </a:p>
        </p:txBody>
      </p:sp>
      <p:sp>
        <p:nvSpPr>
          <p:cNvPr id="7" name="Text 5"/>
          <p:cNvSpPr/>
          <p:nvPr/>
        </p:nvSpPr>
        <p:spPr>
          <a:xfrm>
            <a:off x="594360" y="1463040"/>
            <a:ext cx="274320" cy="274320"/>
          </a:xfrm>
          <a:prstGeom prst="rect">
            <a:avLst/>
          </a:prstGeom>
          <a:noFill/>
          <a:ln/>
        </p:spPr>
        <p:txBody>
          <a:bodyPr wrap="square" rtlCol="0" anchor="ctr"/>
          <a:lstStyle/>
          <a:p>
            <a:pPr marL="0" indent="0" algn="ctr">
              <a:buNone/>
            </a:pPr>
            <a:r>
              <a:rPr lang="en-US" sz="1100" b="1" dirty="0">
                <a:solidFill>
                  <a:srgbClr val="FFFFFF"/>
                </a:solidFill>
                <a:latin typeface="Open Sans" pitchFamily="34" charset="0"/>
                <a:ea typeface="Open Sans" pitchFamily="34" charset="-122"/>
                <a:cs typeface="Open Sans" pitchFamily="34" charset="-120"/>
              </a:rPr>
              <a:t>1</a:t>
            </a:r>
            <a:endParaRPr lang="en-US" sz="1100" dirty="0"/>
          </a:p>
        </p:txBody>
      </p:sp>
      <p:sp>
        <p:nvSpPr>
          <p:cNvPr id="8" name="Text 6"/>
          <p:cNvSpPr/>
          <p:nvPr/>
        </p:nvSpPr>
        <p:spPr>
          <a:xfrm>
            <a:off x="1005840" y="1463040"/>
            <a:ext cx="3657600" cy="274320"/>
          </a:xfrm>
          <a:prstGeom prst="rect">
            <a:avLst/>
          </a:prstGeom>
          <a:noFill/>
          <a:ln/>
        </p:spPr>
        <p:txBody>
          <a:bodyPr wrap="square" lIns="0" tIns="0" rIns="0" bIns="0" rtlCol="0" anchor="ctr"/>
          <a:lstStyle/>
          <a:p>
            <a:pPr marL="0" indent="0">
              <a:buNone/>
            </a:pPr>
            <a:r>
              <a:rPr lang="en-US" sz="1100" dirty="0">
                <a:solidFill>
                  <a:srgbClr val="0D0D0D"/>
                </a:solidFill>
                <a:latin typeface="Open Sans" pitchFamily="34" charset="0"/>
                <a:ea typeface="Open Sans" pitchFamily="34" charset="-122"/>
                <a:cs typeface="Open Sans" pitchFamily="34" charset="-120"/>
              </a:rPr>
              <a:t>Paste your Stage 4 spec into an LLM — nothing else</a:t>
            </a:r>
            <a:endParaRPr lang="en-US" sz="1100" dirty="0"/>
          </a:p>
        </p:txBody>
      </p:sp>
      <p:sp>
        <p:nvSpPr>
          <p:cNvPr id="9" name="Shape 7"/>
          <p:cNvSpPr/>
          <p:nvPr/>
        </p:nvSpPr>
        <p:spPr>
          <a:xfrm>
            <a:off x="594360" y="1847088"/>
            <a:ext cx="274320" cy="274320"/>
          </a:xfrm>
          <a:prstGeom prst="ellipse">
            <a:avLst/>
          </a:prstGeom>
          <a:solidFill>
            <a:srgbClr val="024731"/>
          </a:solidFill>
          <a:ln/>
        </p:spPr>
        <p:txBody>
          <a:bodyPr/>
          <a:lstStyle/>
          <a:p>
            <a:endParaRPr lang="en-US"/>
          </a:p>
        </p:txBody>
      </p:sp>
      <p:sp>
        <p:nvSpPr>
          <p:cNvPr id="10" name="Text 8"/>
          <p:cNvSpPr/>
          <p:nvPr/>
        </p:nvSpPr>
        <p:spPr>
          <a:xfrm>
            <a:off x="594360" y="1847088"/>
            <a:ext cx="274320" cy="274320"/>
          </a:xfrm>
          <a:prstGeom prst="rect">
            <a:avLst/>
          </a:prstGeom>
          <a:noFill/>
          <a:ln/>
        </p:spPr>
        <p:txBody>
          <a:bodyPr wrap="square" rtlCol="0" anchor="ctr"/>
          <a:lstStyle/>
          <a:p>
            <a:pPr marL="0" indent="0" algn="ctr">
              <a:buNone/>
            </a:pPr>
            <a:r>
              <a:rPr lang="en-US" sz="1100" b="1" dirty="0">
                <a:solidFill>
                  <a:srgbClr val="FFFFFF"/>
                </a:solidFill>
                <a:latin typeface="Open Sans" pitchFamily="34" charset="0"/>
                <a:ea typeface="Open Sans" pitchFamily="34" charset="-122"/>
                <a:cs typeface="Open Sans" pitchFamily="34" charset="-120"/>
              </a:rPr>
              <a:t>2</a:t>
            </a:r>
            <a:endParaRPr lang="en-US" sz="1100" dirty="0"/>
          </a:p>
        </p:txBody>
      </p:sp>
      <p:sp>
        <p:nvSpPr>
          <p:cNvPr id="11" name="Text 9"/>
          <p:cNvSpPr/>
          <p:nvPr/>
        </p:nvSpPr>
        <p:spPr>
          <a:xfrm>
            <a:off x="1005840" y="1847088"/>
            <a:ext cx="3657600" cy="274320"/>
          </a:xfrm>
          <a:prstGeom prst="rect">
            <a:avLst/>
          </a:prstGeom>
          <a:noFill/>
          <a:ln/>
        </p:spPr>
        <p:txBody>
          <a:bodyPr wrap="square" lIns="0" tIns="0" rIns="0" bIns="0" rtlCol="0" anchor="ctr"/>
          <a:lstStyle/>
          <a:p>
            <a:pPr marL="0" indent="0">
              <a:buNone/>
            </a:pPr>
            <a:r>
              <a:rPr lang="en-US" sz="1100" dirty="0">
                <a:solidFill>
                  <a:srgbClr val="0D0D0D"/>
                </a:solidFill>
                <a:latin typeface="Open Sans" pitchFamily="34" charset="0"/>
                <a:ea typeface="Open Sans" pitchFamily="34" charset="-122"/>
                <a:cs typeface="Open Sans" pitchFamily="34" charset="-120"/>
              </a:rPr>
              <a:t>Save the raw, unedited LLM response</a:t>
            </a:r>
            <a:endParaRPr lang="en-US" sz="1100" dirty="0"/>
          </a:p>
        </p:txBody>
      </p:sp>
      <p:sp>
        <p:nvSpPr>
          <p:cNvPr id="12" name="Shape 10"/>
          <p:cNvSpPr/>
          <p:nvPr/>
        </p:nvSpPr>
        <p:spPr>
          <a:xfrm>
            <a:off x="594360" y="2231136"/>
            <a:ext cx="274320" cy="274320"/>
          </a:xfrm>
          <a:prstGeom prst="ellipse">
            <a:avLst/>
          </a:prstGeom>
          <a:solidFill>
            <a:srgbClr val="024731"/>
          </a:solidFill>
          <a:ln/>
        </p:spPr>
        <p:txBody>
          <a:bodyPr/>
          <a:lstStyle/>
          <a:p>
            <a:endParaRPr lang="en-US"/>
          </a:p>
        </p:txBody>
      </p:sp>
      <p:sp>
        <p:nvSpPr>
          <p:cNvPr id="13" name="Text 11"/>
          <p:cNvSpPr/>
          <p:nvPr/>
        </p:nvSpPr>
        <p:spPr>
          <a:xfrm>
            <a:off x="594360" y="2231136"/>
            <a:ext cx="274320" cy="274320"/>
          </a:xfrm>
          <a:prstGeom prst="rect">
            <a:avLst/>
          </a:prstGeom>
          <a:noFill/>
          <a:ln/>
        </p:spPr>
        <p:txBody>
          <a:bodyPr wrap="square" rtlCol="0" anchor="ctr"/>
          <a:lstStyle/>
          <a:p>
            <a:pPr marL="0" indent="0" algn="ctr">
              <a:buNone/>
            </a:pPr>
            <a:r>
              <a:rPr lang="en-US" sz="1100" b="1" dirty="0">
                <a:solidFill>
                  <a:srgbClr val="FFFFFF"/>
                </a:solidFill>
                <a:latin typeface="Open Sans" pitchFamily="34" charset="0"/>
                <a:ea typeface="Open Sans" pitchFamily="34" charset="-122"/>
                <a:cs typeface="Open Sans" pitchFamily="34" charset="-120"/>
              </a:rPr>
              <a:t>3</a:t>
            </a:r>
            <a:endParaRPr lang="en-US" sz="1100" dirty="0"/>
          </a:p>
        </p:txBody>
      </p:sp>
      <p:sp>
        <p:nvSpPr>
          <p:cNvPr id="14" name="Text 12"/>
          <p:cNvSpPr/>
          <p:nvPr/>
        </p:nvSpPr>
        <p:spPr>
          <a:xfrm>
            <a:off x="1005840" y="2231136"/>
            <a:ext cx="3657600" cy="274320"/>
          </a:xfrm>
          <a:prstGeom prst="rect">
            <a:avLst/>
          </a:prstGeom>
          <a:noFill/>
          <a:ln/>
        </p:spPr>
        <p:txBody>
          <a:bodyPr wrap="square" lIns="0" tIns="0" rIns="0" bIns="0" rtlCol="0" anchor="ctr"/>
          <a:lstStyle/>
          <a:p>
            <a:pPr marL="0" indent="0">
              <a:buNone/>
            </a:pPr>
            <a:r>
              <a:rPr lang="en-US" sz="1100" dirty="0">
                <a:solidFill>
                  <a:srgbClr val="0D0D0D"/>
                </a:solidFill>
                <a:latin typeface="Open Sans" pitchFamily="34" charset="0"/>
                <a:ea typeface="Open Sans" pitchFamily="34" charset="-122"/>
                <a:cs typeface="Open Sans" pitchFamily="34" charset="-120"/>
              </a:rPr>
              <a:t>Compare against your Stage 3 model</a:t>
            </a:r>
            <a:endParaRPr lang="en-US" sz="1100" dirty="0"/>
          </a:p>
        </p:txBody>
      </p:sp>
      <p:sp>
        <p:nvSpPr>
          <p:cNvPr id="15" name="Shape 13"/>
          <p:cNvSpPr/>
          <p:nvPr/>
        </p:nvSpPr>
        <p:spPr>
          <a:xfrm>
            <a:off x="594360" y="2615184"/>
            <a:ext cx="274320" cy="274320"/>
          </a:xfrm>
          <a:prstGeom prst="ellipse">
            <a:avLst/>
          </a:prstGeom>
          <a:solidFill>
            <a:srgbClr val="024731"/>
          </a:solidFill>
          <a:ln/>
        </p:spPr>
        <p:txBody>
          <a:bodyPr/>
          <a:lstStyle/>
          <a:p>
            <a:endParaRPr lang="en-US"/>
          </a:p>
        </p:txBody>
      </p:sp>
      <p:sp>
        <p:nvSpPr>
          <p:cNvPr id="16" name="Text 14"/>
          <p:cNvSpPr/>
          <p:nvPr/>
        </p:nvSpPr>
        <p:spPr>
          <a:xfrm>
            <a:off x="594360" y="2615184"/>
            <a:ext cx="274320" cy="274320"/>
          </a:xfrm>
          <a:prstGeom prst="rect">
            <a:avLst/>
          </a:prstGeom>
          <a:noFill/>
          <a:ln/>
        </p:spPr>
        <p:txBody>
          <a:bodyPr wrap="square" rtlCol="0" anchor="ctr"/>
          <a:lstStyle/>
          <a:p>
            <a:pPr marL="0" indent="0" algn="ctr">
              <a:buNone/>
            </a:pPr>
            <a:r>
              <a:rPr lang="en-US" sz="1100" b="1" dirty="0">
                <a:solidFill>
                  <a:srgbClr val="FFFFFF"/>
                </a:solidFill>
                <a:latin typeface="Open Sans" pitchFamily="34" charset="0"/>
                <a:ea typeface="Open Sans" pitchFamily="34" charset="-122"/>
                <a:cs typeface="Open Sans" pitchFamily="34" charset="-120"/>
              </a:rPr>
              <a:t>4</a:t>
            </a:r>
            <a:endParaRPr lang="en-US" sz="1100" dirty="0"/>
          </a:p>
        </p:txBody>
      </p:sp>
      <p:sp>
        <p:nvSpPr>
          <p:cNvPr id="17" name="Text 15"/>
          <p:cNvSpPr/>
          <p:nvPr/>
        </p:nvSpPr>
        <p:spPr>
          <a:xfrm>
            <a:off x="1005840" y="2615184"/>
            <a:ext cx="3657600" cy="274320"/>
          </a:xfrm>
          <a:prstGeom prst="rect">
            <a:avLst/>
          </a:prstGeom>
          <a:noFill/>
          <a:ln/>
        </p:spPr>
        <p:txBody>
          <a:bodyPr wrap="square" lIns="0" tIns="0" rIns="0" bIns="0" rtlCol="0" anchor="ctr"/>
          <a:lstStyle/>
          <a:p>
            <a:pPr marL="0" indent="0">
              <a:buNone/>
            </a:pPr>
            <a:r>
              <a:rPr lang="en-US" sz="1100" dirty="0">
                <a:solidFill>
                  <a:srgbClr val="0D0D0D"/>
                </a:solidFill>
                <a:latin typeface="Open Sans" pitchFamily="34" charset="0"/>
                <a:ea typeface="Open Sans" pitchFamily="34" charset="-122"/>
                <a:cs typeface="Open Sans" pitchFamily="34" charset="-120"/>
              </a:rPr>
              <a:t>Evaluate, correct, and annotate the output</a:t>
            </a:r>
            <a:endParaRPr lang="en-US" sz="1100" dirty="0"/>
          </a:p>
        </p:txBody>
      </p:sp>
      <p:sp>
        <p:nvSpPr>
          <p:cNvPr id="18" name="Shape 16"/>
          <p:cNvSpPr/>
          <p:nvPr/>
        </p:nvSpPr>
        <p:spPr>
          <a:xfrm>
            <a:off x="594360" y="2999232"/>
            <a:ext cx="274320" cy="274320"/>
          </a:xfrm>
          <a:prstGeom prst="ellipse">
            <a:avLst/>
          </a:prstGeom>
          <a:solidFill>
            <a:srgbClr val="024731"/>
          </a:solidFill>
          <a:ln/>
        </p:spPr>
        <p:txBody>
          <a:bodyPr/>
          <a:lstStyle/>
          <a:p>
            <a:endParaRPr lang="en-US"/>
          </a:p>
        </p:txBody>
      </p:sp>
      <p:sp>
        <p:nvSpPr>
          <p:cNvPr id="19" name="Text 17"/>
          <p:cNvSpPr/>
          <p:nvPr/>
        </p:nvSpPr>
        <p:spPr>
          <a:xfrm>
            <a:off x="594360" y="2999232"/>
            <a:ext cx="274320" cy="274320"/>
          </a:xfrm>
          <a:prstGeom prst="rect">
            <a:avLst/>
          </a:prstGeom>
          <a:noFill/>
          <a:ln/>
        </p:spPr>
        <p:txBody>
          <a:bodyPr wrap="square" rtlCol="0" anchor="ctr"/>
          <a:lstStyle/>
          <a:p>
            <a:pPr marL="0" indent="0" algn="ctr">
              <a:buNone/>
            </a:pPr>
            <a:r>
              <a:rPr lang="en-US" sz="1100" b="1" dirty="0">
                <a:solidFill>
                  <a:srgbClr val="FFFFFF"/>
                </a:solidFill>
                <a:latin typeface="Open Sans" pitchFamily="34" charset="0"/>
                <a:ea typeface="Open Sans" pitchFamily="34" charset="-122"/>
                <a:cs typeface="Open Sans" pitchFamily="34" charset="-120"/>
              </a:rPr>
              <a:t>5</a:t>
            </a:r>
            <a:endParaRPr lang="en-US" sz="1100" dirty="0"/>
          </a:p>
        </p:txBody>
      </p:sp>
      <p:sp>
        <p:nvSpPr>
          <p:cNvPr id="20" name="Text 18"/>
          <p:cNvSpPr/>
          <p:nvPr/>
        </p:nvSpPr>
        <p:spPr>
          <a:xfrm>
            <a:off x="1005840" y="2999232"/>
            <a:ext cx="3657600" cy="274320"/>
          </a:xfrm>
          <a:prstGeom prst="rect">
            <a:avLst/>
          </a:prstGeom>
          <a:noFill/>
          <a:ln/>
        </p:spPr>
        <p:txBody>
          <a:bodyPr wrap="square" lIns="0" tIns="0" rIns="0" bIns="0" rtlCol="0" anchor="ctr"/>
          <a:lstStyle/>
          <a:p>
            <a:pPr marL="0" indent="0">
              <a:buNone/>
            </a:pPr>
            <a:r>
              <a:rPr lang="en-US" sz="1100" dirty="0">
                <a:solidFill>
                  <a:srgbClr val="0D0D0D"/>
                </a:solidFill>
                <a:latin typeface="Open Sans" pitchFamily="34" charset="0"/>
                <a:ea typeface="Open Sans" pitchFamily="34" charset="-122"/>
                <a:cs typeface="Open Sans" pitchFamily="34" charset="-120"/>
              </a:rPr>
              <a:t>Write your own executive justification</a:t>
            </a:r>
            <a:endParaRPr lang="en-US" sz="1100" dirty="0"/>
          </a:p>
        </p:txBody>
      </p:sp>
      <p:sp>
        <p:nvSpPr>
          <p:cNvPr id="21" name="Shape 19"/>
          <p:cNvSpPr/>
          <p:nvPr/>
        </p:nvSpPr>
        <p:spPr>
          <a:xfrm>
            <a:off x="4937760" y="1051560"/>
            <a:ext cx="3840480" cy="3794760"/>
          </a:xfrm>
          <a:prstGeom prst="rect">
            <a:avLst/>
          </a:prstGeom>
          <a:solidFill>
            <a:srgbClr val="F5F7F6"/>
          </a:solidFill>
          <a:ln/>
          <a:effectLst>
            <a:outerShdw blurRad="50800" dist="12700" dir="8100000" algn="bl" rotWithShape="0">
              <a:srgbClr val="000000">
                <a:alpha val="10000"/>
              </a:srgbClr>
            </a:outerShdw>
          </a:effectLst>
        </p:spPr>
        <p:txBody>
          <a:bodyPr/>
          <a:lstStyle/>
          <a:p>
            <a:endParaRPr lang="en-US"/>
          </a:p>
        </p:txBody>
      </p:sp>
      <p:sp>
        <p:nvSpPr>
          <p:cNvPr id="22" name="Text 20"/>
          <p:cNvSpPr/>
          <p:nvPr/>
        </p:nvSpPr>
        <p:spPr>
          <a:xfrm>
            <a:off x="5120640" y="1143000"/>
            <a:ext cx="3474720" cy="274320"/>
          </a:xfrm>
          <a:prstGeom prst="rect">
            <a:avLst/>
          </a:prstGeom>
          <a:noFill/>
          <a:ln/>
        </p:spPr>
        <p:txBody>
          <a:bodyPr wrap="square" lIns="0" tIns="0" rIns="0" bIns="0" rtlCol="0" anchor="ctr"/>
          <a:lstStyle/>
          <a:p>
            <a:pPr marL="0" indent="0">
              <a:buNone/>
            </a:pPr>
            <a:r>
              <a:rPr lang="en-US" sz="1200" b="1" dirty="0">
                <a:solidFill>
                  <a:srgbClr val="024731"/>
                </a:solidFill>
                <a:latin typeface="Open Sans" pitchFamily="34" charset="0"/>
                <a:ea typeface="Open Sans" pitchFamily="34" charset="-122"/>
                <a:cs typeface="Open Sans" pitchFamily="34" charset="-120"/>
              </a:rPr>
              <a:t>Evaluated Final Analysis Sections</a:t>
            </a:r>
            <a:endParaRPr lang="en-US" sz="1200" dirty="0"/>
          </a:p>
        </p:txBody>
      </p:sp>
      <p:sp>
        <p:nvSpPr>
          <p:cNvPr id="23" name="Text 21"/>
          <p:cNvSpPr/>
          <p:nvPr/>
        </p:nvSpPr>
        <p:spPr>
          <a:xfrm>
            <a:off x="5212080" y="1554480"/>
            <a:ext cx="27432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1.</a:t>
            </a:r>
            <a:endParaRPr lang="en-US" sz="1100" dirty="0"/>
          </a:p>
        </p:txBody>
      </p:sp>
      <p:sp>
        <p:nvSpPr>
          <p:cNvPr id="24" name="Text 22"/>
          <p:cNvSpPr/>
          <p:nvPr/>
        </p:nvSpPr>
        <p:spPr>
          <a:xfrm>
            <a:off x="5486400" y="1554480"/>
            <a:ext cx="3108960" cy="27432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Company &amp; Data Summary</a:t>
            </a:r>
            <a:endParaRPr lang="en-US" sz="1000" dirty="0"/>
          </a:p>
        </p:txBody>
      </p:sp>
      <p:sp>
        <p:nvSpPr>
          <p:cNvPr id="25" name="Text 23"/>
          <p:cNvSpPr/>
          <p:nvPr/>
        </p:nvSpPr>
        <p:spPr>
          <a:xfrm>
            <a:off x="5212080" y="2011680"/>
            <a:ext cx="27432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2.</a:t>
            </a:r>
            <a:endParaRPr lang="en-US" sz="1100" dirty="0"/>
          </a:p>
        </p:txBody>
      </p:sp>
      <p:sp>
        <p:nvSpPr>
          <p:cNvPr id="26" name="Text 24"/>
          <p:cNvSpPr/>
          <p:nvPr/>
        </p:nvSpPr>
        <p:spPr>
          <a:xfrm>
            <a:off x="5486400" y="2011680"/>
            <a:ext cx="3108960" cy="27432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Ratio Results &amp; Interpretation (all 6 categories)</a:t>
            </a:r>
            <a:endParaRPr lang="en-US" sz="1000" dirty="0"/>
          </a:p>
        </p:txBody>
      </p:sp>
      <p:sp>
        <p:nvSpPr>
          <p:cNvPr id="27" name="Text 25"/>
          <p:cNvSpPr/>
          <p:nvPr/>
        </p:nvSpPr>
        <p:spPr>
          <a:xfrm>
            <a:off x="5212080" y="2468880"/>
            <a:ext cx="27432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3.</a:t>
            </a:r>
            <a:endParaRPr lang="en-US" sz="1100" dirty="0"/>
          </a:p>
        </p:txBody>
      </p:sp>
      <p:sp>
        <p:nvSpPr>
          <p:cNvPr id="28" name="Text 26"/>
          <p:cNvSpPr/>
          <p:nvPr/>
        </p:nvSpPr>
        <p:spPr>
          <a:xfrm>
            <a:off x="5486400" y="2468880"/>
            <a:ext cx="3108960" cy="27432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Du Pont Analysis with your commentary</a:t>
            </a:r>
            <a:endParaRPr lang="en-US" sz="1000" dirty="0"/>
          </a:p>
        </p:txBody>
      </p:sp>
      <p:sp>
        <p:nvSpPr>
          <p:cNvPr id="29" name="Text 27"/>
          <p:cNvSpPr/>
          <p:nvPr/>
        </p:nvSpPr>
        <p:spPr>
          <a:xfrm>
            <a:off x="5212080" y="2926080"/>
            <a:ext cx="27432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4.</a:t>
            </a:r>
            <a:endParaRPr lang="en-US" sz="1100" dirty="0"/>
          </a:p>
        </p:txBody>
      </p:sp>
      <p:sp>
        <p:nvSpPr>
          <p:cNvPr id="30" name="Text 28"/>
          <p:cNvSpPr/>
          <p:nvPr/>
        </p:nvSpPr>
        <p:spPr>
          <a:xfrm>
            <a:off x="5486400" y="2926080"/>
            <a:ext cx="3108960" cy="27432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Strategic Recommendations (3–5, data-supported)</a:t>
            </a:r>
            <a:endParaRPr lang="en-US" sz="1000" dirty="0"/>
          </a:p>
        </p:txBody>
      </p:sp>
      <p:sp>
        <p:nvSpPr>
          <p:cNvPr id="31" name="Text 29"/>
          <p:cNvSpPr/>
          <p:nvPr/>
        </p:nvSpPr>
        <p:spPr>
          <a:xfrm>
            <a:off x="5212080" y="3383280"/>
            <a:ext cx="27432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5.</a:t>
            </a:r>
            <a:endParaRPr lang="en-US" sz="1100" dirty="0"/>
          </a:p>
        </p:txBody>
      </p:sp>
      <p:sp>
        <p:nvSpPr>
          <p:cNvPr id="32" name="Text 30"/>
          <p:cNvSpPr/>
          <p:nvPr/>
        </p:nvSpPr>
        <p:spPr>
          <a:xfrm>
            <a:off x="5486400" y="3383280"/>
            <a:ext cx="3108960" cy="27432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LLM Evaluation &amp; Annotations</a:t>
            </a:r>
            <a:endParaRPr lang="en-US" sz="1000" dirty="0"/>
          </a:p>
        </p:txBody>
      </p:sp>
      <p:sp>
        <p:nvSpPr>
          <p:cNvPr id="33" name="Text 31"/>
          <p:cNvSpPr/>
          <p:nvPr/>
        </p:nvSpPr>
        <p:spPr>
          <a:xfrm>
            <a:off x="5212080" y="3840480"/>
            <a:ext cx="27432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6.</a:t>
            </a:r>
            <a:endParaRPr lang="en-US" sz="1100" dirty="0"/>
          </a:p>
        </p:txBody>
      </p:sp>
      <p:sp>
        <p:nvSpPr>
          <p:cNvPr id="34" name="Text 32"/>
          <p:cNvSpPr/>
          <p:nvPr/>
        </p:nvSpPr>
        <p:spPr>
          <a:xfrm>
            <a:off x="5486400" y="3840480"/>
            <a:ext cx="3108960" cy="27432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Spec Retrospective (what to improve)</a:t>
            </a:r>
            <a:endParaRPr lang="en-US" sz="1000" dirty="0"/>
          </a:p>
        </p:txBody>
      </p:sp>
      <p:sp>
        <p:nvSpPr>
          <p:cNvPr id="35" name="Text 33"/>
          <p:cNvSpPr/>
          <p:nvPr/>
        </p:nvSpPr>
        <p:spPr>
          <a:xfrm>
            <a:off x="5212080" y="4297680"/>
            <a:ext cx="274320" cy="228600"/>
          </a:xfrm>
          <a:prstGeom prst="rect">
            <a:avLst/>
          </a:prstGeom>
          <a:noFill/>
          <a:ln/>
        </p:spPr>
        <p:txBody>
          <a:bodyPr wrap="square" lIns="0" tIns="0" rIns="0" bIns="0" rtlCol="0" anchor="ctr"/>
          <a:lstStyle/>
          <a:p>
            <a:pPr marL="0" indent="0">
              <a:buNone/>
            </a:pPr>
            <a:r>
              <a:rPr lang="en-US" sz="1100" b="1" dirty="0">
                <a:solidFill>
                  <a:srgbClr val="024731"/>
                </a:solidFill>
                <a:latin typeface="Open Sans" pitchFamily="34" charset="0"/>
                <a:ea typeface="Open Sans" pitchFamily="34" charset="-122"/>
                <a:cs typeface="Open Sans" pitchFamily="34" charset="-120"/>
              </a:rPr>
              <a:t>7.</a:t>
            </a:r>
            <a:endParaRPr lang="en-US" sz="1100" dirty="0"/>
          </a:p>
        </p:txBody>
      </p:sp>
      <p:sp>
        <p:nvSpPr>
          <p:cNvPr id="36" name="Text 34"/>
          <p:cNvSpPr/>
          <p:nvPr/>
        </p:nvSpPr>
        <p:spPr>
          <a:xfrm>
            <a:off x="5486400" y="4297680"/>
            <a:ext cx="3108960" cy="365760"/>
          </a:xfrm>
          <a:prstGeom prst="rect">
            <a:avLst/>
          </a:prstGeom>
          <a:noFill/>
          <a:ln/>
        </p:spPr>
        <p:txBody>
          <a:bodyPr wrap="square" lIns="0" tIns="0" rIns="0" bIns="0" rtlCol="0" anchor="ctr"/>
          <a:lstStyle/>
          <a:p>
            <a:pPr marL="0" indent="0">
              <a:buNone/>
            </a:pPr>
            <a:r>
              <a:rPr lang="en-US" sz="1000" dirty="0">
                <a:solidFill>
                  <a:srgbClr val="0D0D0D"/>
                </a:solidFill>
                <a:latin typeface="Open Sans" pitchFamily="34" charset="0"/>
                <a:ea typeface="Open Sans" pitchFamily="34" charset="-122"/>
                <a:cs typeface="Open Sans" pitchFamily="34" charset="-120"/>
              </a:rPr>
              <a:t>Executive Justification (your voice, not the LLM’s)</a:t>
            </a:r>
            <a:endParaRPr lang="en-US" sz="1000" dirty="0"/>
          </a:p>
        </p:txBody>
      </p:sp>
      <p:sp>
        <p:nvSpPr>
          <p:cNvPr id="37" name="Shape 35"/>
          <p:cNvSpPr/>
          <p:nvPr/>
        </p:nvSpPr>
        <p:spPr>
          <a:xfrm>
            <a:off x="457200" y="4434840"/>
            <a:ext cx="8229600" cy="457200"/>
          </a:xfrm>
          <a:prstGeom prst="rect">
            <a:avLst/>
          </a:prstGeom>
          <a:solidFill>
            <a:srgbClr val="024731"/>
          </a:solidFill>
          <a:ln/>
        </p:spPr>
        <p:txBody>
          <a:bodyPr/>
          <a:lstStyle/>
          <a:p>
            <a:endParaRPr lang="en-US"/>
          </a:p>
        </p:txBody>
      </p:sp>
      <p:sp>
        <p:nvSpPr>
          <p:cNvPr id="38" name="Text 36"/>
          <p:cNvSpPr/>
          <p:nvPr/>
        </p:nvSpPr>
        <p:spPr>
          <a:xfrm>
            <a:off x="594360" y="4453128"/>
            <a:ext cx="7955280" cy="411480"/>
          </a:xfrm>
          <a:prstGeom prst="rect">
            <a:avLst/>
          </a:prstGeom>
          <a:noFill/>
          <a:ln/>
        </p:spPr>
        <p:txBody>
          <a:bodyPr wrap="square" rtlCol="0" anchor="ctr"/>
          <a:lstStyle/>
          <a:p>
            <a:pPr marL="0" indent="0" algn="ctr">
              <a:buNone/>
            </a:pPr>
            <a:r>
              <a:rPr lang="en-US" sz="1100" b="1" dirty="0">
                <a:solidFill>
                  <a:srgbClr val="FFFFFF"/>
                </a:solidFill>
                <a:latin typeface="Open Sans" pitchFamily="34" charset="0"/>
                <a:ea typeface="Open Sans" pitchFamily="34" charset="-122"/>
                <a:cs typeface="Open Sans" pitchFamily="34" charset="-120"/>
              </a:rPr>
              <a:t>The future of finance: specify the work, evaluate the output, take responsibility for the final product.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5F7F6"/>
        </a:solidFill>
        <a:effectLst/>
      </p:bgPr>
    </p:bg>
    <p:spTree>
      <p:nvGrpSpPr>
        <p:cNvPr id="1" name=""/>
        <p:cNvGrpSpPr/>
        <p:nvPr/>
      </p:nvGrpSpPr>
      <p:grpSpPr>
        <a:xfrm>
          <a:off x="0" y="0"/>
          <a:ext cx="0" cy="0"/>
          <a:chOff x="0" y="0"/>
          <a:chExt cx="0" cy="0"/>
        </a:xfrm>
      </p:grpSpPr>
      <p:sp>
        <p:nvSpPr>
          <p:cNvPr id="2" name="Text 0"/>
          <p:cNvSpPr/>
          <p:nvPr/>
        </p:nvSpPr>
        <p:spPr>
          <a:xfrm>
            <a:off x="548640" y="320040"/>
            <a:ext cx="8229600" cy="548640"/>
          </a:xfrm>
          <a:prstGeom prst="rect">
            <a:avLst/>
          </a:prstGeom>
          <a:noFill/>
          <a:ln/>
        </p:spPr>
        <p:txBody>
          <a:bodyPr wrap="square" lIns="0" tIns="0" rIns="0" bIns="0" rtlCol="0" anchor="ctr"/>
          <a:lstStyle/>
          <a:p>
            <a:pPr marL="0" indent="0">
              <a:buNone/>
            </a:pPr>
            <a:r>
              <a:rPr lang="en-US" sz="2600" b="1" dirty="0">
                <a:solidFill>
                  <a:srgbClr val="024731"/>
                </a:solidFill>
                <a:latin typeface="Open Sans" pitchFamily="34" charset="0"/>
                <a:ea typeface="Open Sans" pitchFamily="34" charset="-122"/>
                <a:cs typeface="Open Sans" pitchFamily="34" charset="-120"/>
              </a:rPr>
              <a:t>International Scope — Choose Any Public Company</a:t>
            </a:r>
            <a:endParaRPr lang="en-US" sz="2600" dirty="0"/>
          </a:p>
        </p:txBody>
      </p:sp>
      <p:sp>
        <p:nvSpPr>
          <p:cNvPr id="3" name="Text 1"/>
          <p:cNvSpPr/>
          <p:nvPr/>
        </p:nvSpPr>
        <p:spPr>
          <a:xfrm>
            <a:off x="548640" y="822960"/>
            <a:ext cx="8046720" cy="320040"/>
          </a:xfrm>
          <a:prstGeom prst="rect">
            <a:avLst/>
          </a:prstGeom>
          <a:noFill/>
          <a:ln/>
        </p:spPr>
        <p:txBody>
          <a:bodyPr wrap="square" rtlCol="0" anchor="ctr"/>
          <a:lstStyle/>
          <a:p>
            <a:pPr marL="0" indent="0">
              <a:buNone/>
            </a:pPr>
            <a:r>
              <a:rPr lang="en-US" sz="1200" dirty="0">
                <a:solidFill>
                  <a:srgbClr val="6B7280"/>
                </a:solidFill>
                <a:latin typeface="Open Sans" pitchFamily="34" charset="0"/>
                <a:ea typeface="Open Sans" pitchFamily="34" charset="-122"/>
                <a:cs typeface="Open Sans" pitchFamily="34" charset="-120"/>
              </a:rPr>
              <a:t>Non-U.S. companies are encouraged. Analyze the company most relevant to your career.</a:t>
            </a:r>
            <a:endParaRPr lang="en-US" sz="1200" dirty="0"/>
          </a:p>
        </p:txBody>
      </p:sp>
      <p:sp>
        <p:nvSpPr>
          <p:cNvPr id="4" name="Shape 2"/>
          <p:cNvSpPr/>
          <p:nvPr/>
        </p:nvSpPr>
        <p:spPr>
          <a:xfrm>
            <a:off x="548640" y="1371600"/>
            <a:ext cx="2606040" cy="118872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5" name="Shape 3"/>
          <p:cNvSpPr/>
          <p:nvPr/>
        </p:nvSpPr>
        <p:spPr>
          <a:xfrm>
            <a:off x="548640" y="1371600"/>
            <a:ext cx="2606040" cy="54864"/>
          </a:xfrm>
          <a:prstGeom prst="rect">
            <a:avLst/>
          </a:prstGeom>
          <a:solidFill>
            <a:srgbClr val="C9A84C"/>
          </a:solidFill>
          <a:ln/>
        </p:spPr>
        <p:txBody>
          <a:bodyPr/>
          <a:lstStyle/>
          <a:p>
            <a:endParaRPr lang="en-US"/>
          </a:p>
        </p:txBody>
      </p:sp>
      <p:sp>
        <p:nvSpPr>
          <p:cNvPr id="6" name="Text 4"/>
          <p:cNvSpPr/>
          <p:nvPr/>
        </p:nvSpPr>
        <p:spPr>
          <a:xfrm>
            <a:off x="685800" y="1508760"/>
            <a:ext cx="233172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Vietnam</a:t>
            </a:r>
            <a:endParaRPr lang="en-US" sz="1300" dirty="0"/>
          </a:p>
        </p:txBody>
      </p:sp>
      <p:sp>
        <p:nvSpPr>
          <p:cNvPr id="7" name="Text 5"/>
          <p:cNvSpPr/>
          <p:nvPr/>
        </p:nvSpPr>
        <p:spPr>
          <a:xfrm>
            <a:off x="685800" y="1783080"/>
            <a:ext cx="233172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HOSE  ·  HNX</a:t>
            </a:r>
            <a:endParaRPr lang="en-US" sz="1100" dirty="0"/>
          </a:p>
        </p:txBody>
      </p:sp>
      <p:sp>
        <p:nvSpPr>
          <p:cNvPr id="8" name="Text 6"/>
          <p:cNvSpPr/>
          <p:nvPr/>
        </p:nvSpPr>
        <p:spPr>
          <a:xfrm>
            <a:off x="685800" y="2057400"/>
            <a:ext cx="2331720" cy="36576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VAS reporting; note differences from GAAP</a:t>
            </a:r>
            <a:endParaRPr lang="en-US" sz="900" dirty="0"/>
          </a:p>
        </p:txBody>
      </p:sp>
      <p:sp>
        <p:nvSpPr>
          <p:cNvPr id="9" name="Shape 7"/>
          <p:cNvSpPr/>
          <p:nvPr/>
        </p:nvSpPr>
        <p:spPr>
          <a:xfrm>
            <a:off x="3383280" y="1371600"/>
            <a:ext cx="2606040" cy="118872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10" name="Shape 8"/>
          <p:cNvSpPr/>
          <p:nvPr/>
        </p:nvSpPr>
        <p:spPr>
          <a:xfrm>
            <a:off x="3383280" y="1371600"/>
            <a:ext cx="2606040" cy="54864"/>
          </a:xfrm>
          <a:prstGeom prst="rect">
            <a:avLst/>
          </a:prstGeom>
          <a:solidFill>
            <a:srgbClr val="024731"/>
          </a:solidFill>
          <a:ln/>
        </p:spPr>
        <p:txBody>
          <a:bodyPr/>
          <a:lstStyle/>
          <a:p>
            <a:endParaRPr lang="en-US"/>
          </a:p>
        </p:txBody>
      </p:sp>
      <p:sp>
        <p:nvSpPr>
          <p:cNvPr id="11" name="Text 9"/>
          <p:cNvSpPr/>
          <p:nvPr/>
        </p:nvSpPr>
        <p:spPr>
          <a:xfrm>
            <a:off x="3520440" y="1508760"/>
            <a:ext cx="233172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Singapore</a:t>
            </a:r>
            <a:endParaRPr lang="en-US" sz="1300" dirty="0"/>
          </a:p>
        </p:txBody>
      </p:sp>
      <p:sp>
        <p:nvSpPr>
          <p:cNvPr id="12" name="Text 10"/>
          <p:cNvSpPr/>
          <p:nvPr/>
        </p:nvSpPr>
        <p:spPr>
          <a:xfrm>
            <a:off x="3520440" y="1783080"/>
            <a:ext cx="233172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SGX</a:t>
            </a:r>
            <a:endParaRPr lang="en-US" sz="1100" dirty="0"/>
          </a:p>
        </p:txBody>
      </p:sp>
      <p:sp>
        <p:nvSpPr>
          <p:cNvPr id="13" name="Text 11"/>
          <p:cNvSpPr/>
          <p:nvPr/>
        </p:nvSpPr>
        <p:spPr>
          <a:xfrm>
            <a:off x="3520440" y="2057400"/>
            <a:ext cx="2331720" cy="36576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Many IFRS reporters; strong English disclosures</a:t>
            </a:r>
            <a:endParaRPr lang="en-US" sz="900" dirty="0"/>
          </a:p>
        </p:txBody>
      </p:sp>
      <p:sp>
        <p:nvSpPr>
          <p:cNvPr id="14" name="Shape 12"/>
          <p:cNvSpPr/>
          <p:nvPr/>
        </p:nvSpPr>
        <p:spPr>
          <a:xfrm>
            <a:off x="6217920" y="1371600"/>
            <a:ext cx="2606040" cy="118872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15" name="Shape 13"/>
          <p:cNvSpPr/>
          <p:nvPr/>
        </p:nvSpPr>
        <p:spPr>
          <a:xfrm>
            <a:off x="6217920" y="1371600"/>
            <a:ext cx="2606040" cy="54864"/>
          </a:xfrm>
          <a:prstGeom prst="rect">
            <a:avLst/>
          </a:prstGeom>
          <a:solidFill>
            <a:srgbClr val="024731"/>
          </a:solidFill>
          <a:ln/>
        </p:spPr>
        <p:txBody>
          <a:bodyPr/>
          <a:lstStyle/>
          <a:p>
            <a:endParaRPr lang="en-US"/>
          </a:p>
        </p:txBody>
      </p:sp>
      <p:sp>
        <p:nvSpPr>
          <p:cNvPr id="16" name="Text 14"/>
          <p:cNvSpPr/>
          <p:nvPr/>
        </p:nvSpPr>
        <p:spPr>
          <a:xfrm>
            <a:off x="6355080" y="1508760"/>
            <a:ext cx="233172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Thailand</a:t>
            </a:r>
            <a:endParaRPr lang="en-US" sz="1300" dirty="0"/>
          </a:p>
        </p:txBody>
      </p:sp>
      <p:sp>
        <p:nvSpPr>
          <p:cNvPr id="17" name="Text 15"/>
          <p:cNvSpPr/>
          <p:nvPr/>
        </p:nvSpPr>
        <p:spPr>
          <a:xfrm>
            <a:off x="6355080" y="1783080"/>
            <a:ext cx="233172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SET</a:t>
            </a:r>
            <a:endParaRPr lang="en-US" sz="1100" dirty="0"/>
          </a:p>
        </p:txBody>
      </p:sp>
      <p:sp>
        <p:nvSpPr>
          <p:cNvPr id="18" name="Text 16"/>
          <p:cNvSpPr/>
          <p:nvPr/>
        </p:nvSpPr>
        <p:spPr>
          <a:xfrm>
            <a:off x="6355080" y="2057400"/>
            <a:ext cx="2331720" cy="36576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Thai GAAP converging with IFRS</a:t>
            </a:r>
            <a:endParaRPr lang="en-US" sz="900" dirty="0"/>
          </a:p>
        </p:txBody>
      </p:sp>
      <p:sp>
        <p:nvSpPr>
          <p:cNvPr id="19" name="Shape 17"/>
          <p:cNvSpPr/>
          <p:nvPr/>
        </p:nvSpPr>
        <p:spPr>
          <a:xfrm>
            <a:off x="548640" y="2788920"/>
            <a:ext cx="2606040" cy="118872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20" name="Shape 18"/>
          <p:cNvSpPr/>
          <p:nvPr/>
        </p:nvSpPr>
        <p:spPr>
          <a:xfrm>
            <a:off x="548640" y="2788920"/>
            <a:ext cx="2606040" cy="54864"/>
          </a:xfrm>
          <a:prstGeom prst="rect">
            <a:avLst/>
          </a:prstGeom>
          <a:solidFill>
            <a:srgbClr val="024731"/>
          </a:solidFill>
          <a:ln/>
        </p:spPr>
        <p:txBody>
          <a:bodyPr/>
          <a:lstStyle/>
          <a:p>
            <a:endParaRPr lang="en-US"/>
          </a:p>
        </p:txBody>
      </p:sp>
      <p:sp>
        <p:nvSpPr>
          <p:cNvPr id="21" name="Text 19"/>
          <p:cNvSpPr/>
          <p:nvPr/>
        </p:nvSpPr>
        <p:spPr>
          <a:xfrm>
            <a:off x="685800" y="2926080"/>
            <a:ext cx="233172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Indonesia</a:t>
            </a:r>
            <a:endParaRPr lang="en-US" sz="1300" dirty="0"/>
          </a:p>
        </p:txBody>
      </p:sp>
      <p:sp>
        <p:nvSpPr>
          <p:cNvPr id="22" name="Text 20"/>
          <p:cNvSpPr/>
          <p:nvPr/>
        </p:nvSpPr>
        <p:spPr>
          <a:xfrm>
            <a:off x="685800" y="3200400"/>
            <a:ext cx="233172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IDX</a:t>
            </a:r>
            <a:endParaRPr lang="en-US" sz="1100" dirty="0"/>
          </a:p>
        </p:txBody>
      </p:sp>
      <p:sp>
        <p:nvSpPr>
          <p:cNvPr id="23" name="Text 21"/>
          <p:cNvSpPr/>
          <p:nvPr/>
        </p:nvSpPr>
        <p:spPr>
          <a:xfrm>
            <a:off x="685800" y="3474720"/>
            <a:ext cx="2331720" cy="36576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IFRS-converged; IDR reporting currency</a:t>
            </a:r>
            <a:endParaRPr lang="en-US" sz="900" dirty="0"/>
          </a:p>
        </p:txBody>
      </p:sp>
      <p:sp>
        <p:nvSpPr>
          <p:cNvPr id="24" name="Shape 22"/>
          <p:cNvSpPr/>
          <p:nvPr/>
        </p:nvSpPr>
        <p:spPr>
          <a:xfrm>
            <a:off x="3383280" y="2788920"/>
            <a:ext cx="2606040" cy="118872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25" name="Shape 23"/>
          <p:cNvSpPr/>
          <p:nvPr/>
        </p:nvSpPr>
        <p:spPr>
          <a:xfrm>
            <a:off x="3383280" y="2788920"/>
            <a:ext cx="2606040" cy="54864"/>
          </a:xfrm>
          <a:prstGeom prst="rect">
            <a:avLst/>
          </a:prstGeom>
          <a:solidFill>
            <a:srgbClr val="024731"/>
          </a:solidFill>
          <a:ln/>
        </p:spPr>
        <p:txBody>
          <a:bodyPr/>
          <a:lstStyle/>
          <a:p>
            <a:endParaRPr lang="en-US"/>
          </a:p>
        </p:txBody>
      </p:sp>
      <p:sp>
        <p:nvSpPr>
          <p:cNvPr id="26" name="Text 24"/>
          <p:cNvSpPr/>
          <p:nvPr/>
        </p:nvSpPr>
        <p:spPr>
          <a:xfrm>
            <a:off x="3520440" y="2926080"/>
            <a:ext cx="233172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United States</a:t>
            </a:r>
            <a:endParaRPr lang="en-US" sz="1300" dirty="0"/>
          </a:p>
        </p:txBody>
      </p:sp>
      <p:sp>
        <p:nvSpPr>
          <p:cNvPr id="27" name="Text 25"/>
          <p:cNvSpPr/>
          <p:nvPr/>
        </p:nvSpPr>
        <p:spPr>
          <a:xfrm>
            <a:off x="3520440" y="3200400"/>
            <a:ext cx="233172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NYSE  ·  NASDAQ</a:t>
            </a:r>
            <a:endParaRPr lang="en-US" sz="1100" dirty="0"/>
          </a:p>
        </p:txBody>
      </p:sp>
      <p:sp>
        <p:nvSpPr>
          <p:cNvPr id="28" name="Text 26"/>
          <p:cNvSpPr/>
          <p:nvPr/>
        </p:nvSpPr>
        <p:spPr>
          <a:xfrm>
            <a:off x="3520440" y="3474720"/>
            <a:ext cx="2331720" cy="36576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10-K filings via SEC EDGAR</a:t>
            </a:r>
            <a:endParaRPr lang="en-US" sz="900" dirty="0"/>
          </a:p>
        </p:txBody>
      </p:sp>
      <p:sp>
        <p:nvSpPr>
          <p:cNvPr id="29" name="Shape 27"/>
          <p:cNvSpPr/>
          <p:nvPr/>
        </p:nvSpPr>
        <p:spPr>
          <a:xfrm>
            <a:off x="6217920" y="2788920"/>
            <a:ext cx="2606040" cy="118872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30" name="Shape 28"/>
          <p:cNvSpPr/>
          <p:nvPr/>
        </p:nvSpPr>
        <p:spPr>
          <a:xfrm>
            <a:off x="6217920" y="2788920"/>
            <a:ext cx="2606040" cy="54864"/>
          </a:xfrm>
          <a:prstGeom prst="rect">
            <a:avLst/>
          </a:prstGeom>
          <a:solidFill>
            <a:srgbClr val="024731"/>
          </a:solidFill>
          <a:ln/>
        </p:spPr>
        <p:txBody>
          <a:bodyPr/>
          <a:lstStyle/>
          <a:p>
            <a:endParaRPr lang="en-US"/>
          </a:p>
        </p:txBody>
      </p:sp>
      <p:sp>
        <p:nvSpPr>
          <p:cNvPr id="31" name="Text 29"/>
          <p:cNvSpPr/>
          <p:nvPr/>
        </p:nvSpPr>
        <p:spPr>
          <a:xfrm>
            <a:off x="6355080" y="2926080"/>
            <a:ext cx="2331720" cy="274320"/>
          </a:xfrm>
          <a:prstGeom prst="rect">
            <a:avLst/>
          </a:prstGeom>
          <a:noFill/>
          <a:ln/>
        </p:spPr>
        <p:txBody>
          <a:bodyPr wrap="square" lIns="0" tIns="0" rIns="0" bIns="0" rtlCol="0" anchor="ctr"/>
          <a:lstStyle/>
          <a:p>
            <a:pPr marL="0" indent="0">
              <a:buNone/>
            </a:pPr>
            <a:r>
              <a:rPr lang="en-US" sz="1300" b="1" dirty="0">
                <a:solidFill>
                  <a:srgbClr val="024731"/>
                </a:solidFill>
                <a:latin typeface="Open Sans" pitchFamily="34" charset="0"/>
                <a:ea typeface="Open Sans" pitchFamily="34" charset="-122"/>
                <a:cs typeface="Open Sans" pitchFamily="34" charset="-120"/>
              </a:rPr>
              <a:t>Malaysia</a:t>
            </a:r>
            <a:endParaRPr lang="en-US" sz="1300" dirty="0"/>
          </a:p>
        </p:txBody>
      </p:sp>
      <p:sp>
        <p:nvSpPr>
          <p:cNvPr id="32" name="Text 30"/>
          <p:cNvSpPr/>
          <p:nvPr/>
        </p:nvSpPr>
        <p:spPr>
          <a:xfrm>
            <a:off x="6355080" y="3200400"/>
            <a:ext cx="2331720" cy="228600"/>
          </a:xfrm>
          <a:prstGeom prst="rect">
            <a:avLst/>
          </a:prstGeom>
          <a:noFill/>
          <a:ln/>
        </p:spPr>
        <p:txBody>
          <a:bodyPr wrap="square" lIns="0" tIns="0" rIns="0" bIns="0" rtlCol="0" anchor="ctr"/>
          <a:lstStyle/>
          <a:p>
            <a:pPr marL="0" indent="0">
              <a:buNone/>
            </a:pPr>
            <a:r>
              <a:rPr lang="en-US" sz="1100" b="1" dirty="0">
                <a:solidFill>
                  <a:srgbClr val="0D0D0D"/>
                </a:solidFill>
                <a:latin typeface="Open Sans" pitchFamily="34" charset="0"/>
                <a:ea typeface="Open Sans" pitchFamily="34" charset="-122"/>
                <a:cs typeface="Open Sans" pitchFamily="34" charset="-120"/>
              </a:rPr>
              <a:t>Bursa Malaysia</a:t>
            </a:r>
            <a:endParaRPr lang="en-US" sz="1100" dirty="0"/>
          </a:p>
        </p:txBody>
      </p:sp>
      <p:sp>
        <p:nvSpPr>
          <p:cNvPr id="33" name="Text 31"/>
          <p:cNvSpPr/>
          <p:nvPr/>
        </p:nvSpPr>
        <p:spPr>
          <a:xfrm>
            <a:off x="6355080" y="3474720"/>
            <a:ext cx="2331720" cy="365760"/>
          </a:xfrm>
          <a:prstGeom prst="rect">
            <a:avLst/>
          </a:prstGeom>
          <a:noFill/>
          <a:ln/>
        </p:spPr>
        <p:txBody>
          <a:bodyPr wrap="square" lIns="0" tIns="0" rIns="0" bIns="0" rtlCol="0" anchor="ctr"/>
          <a:lstStyle/>
          <a:p>
            <a:pPr marL="0" indent="0">
              <a:buNone/>
            </a:pPr>
            <a:r>
              <a:rPr lang="en-US" sz="900" dirty="0">
                <a:solidFill>
                  <a:srgbClr val="6B7280"/>
                </a:solidFill>
                <a:latin typeface="Open Sans" pitchFamily="34" charset="0"/>
                <a:ea typeface="Open Sans" pitchFamily="34" charset="-122"/>
                <a:cs typeface="Open Sans" pitchFamily="34" charset="-120"/>
              </a:rPr>
              <a:t>MFRS (IFRS-converged)</a:t>
            </a:r>
            <a:endParaRPr lang="en-US" sz="900" dirty="0"/>
          </a:p>
        </p:txBody>
      </p:sp>
      <p:sp>
        <p:nvSpPr>
          <p:cNvPr id="34" name="Text 32"/>
          <p:cNvSpPr/>
          <p:nvPr/>
        </p:nvSpPr>
        <p:spPr>
          <a:xfrm>
            <a:off x="548640" y="4434840"/>
            <a:ext cx="8046720" cy="457200"/>
          </a:xfrm>
          <a:prstGeom prst="rect">
            <a:avLst/>
          </a:prstGeom>
          <a:noFill/>
          <a:ln/>
        </p:spPr>
        <p:txBody>
          <a:bodyPr wrap="square" rtlCol="0" anchor="ctr"/>
          <a:lstStyle/>
          <a:p>
            <a:pPr marL="0" indent="0">
              <a:buNone/>
            </a:pPr>
            <a:r>
              <a:rPr lang="en-US" sz="1000" i="1" dirty="0">
                <a:solidFill>
                  <a:srgbClr val="6B7280"/>
                </a:solidFill>
                <a:latin typeface="Open Sans" pitchFamily="34" charset="0"/>
                <a:ea typeface="Open Sans" pitchFamily="34" charset="-122"/>
                <a:cs typeface="Open Sans" pitchFamily="34" charset="-120"/>
              </a:rPr>
              <a:t>All deliverables must be in English. Ratios computed in the company’s reporting currency. Note any IFRS/GAAP/VAS differences that affect interpretation.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02473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DA78F"/>
          </a:solidFill>
          <a:ln/>
        </p:spPr>
        <p:txBody>
          <a:bodyPr/>
          <a:lstStyle/>
          <a:p>
            <a:endParaRPr lang="en-US"/>
          </a:p>
        </p:txBody>
      </p:sp>
      <p:sp>
        <p:nvSpPr>
          <p:cNvPr id="3" name="Shape 1"/>
          <p:cNvSpPr/>
          <p:nvPr/>
        </p:nvSpPr>
        <p:spPr>
          <a:xfrm>
            <a:off x="6858000" y="0"/>
            <a:ext cx="2286000" cy="5143500"/>
          </a:xfrm>
          <a:prstGeom prst="rect">
            <a:avLst/>
          </a:prstGeom>
          <a:solidFill>
            <a:srgbClr val="01362A">
              <a:alpha val="60000"/>
            </a:srgbClr>
          </a:solidFill>
          <a:ln/>
        </p:spPr>
        <p:txBody>
          <a:bodyPr/>
          <a:lstStyle/>
          <a:p>
            <a:endParaRPr lang="en-US"/>
          </a:p>
        </p:txBody>
      </p:sp>
      <p:sp>
        <p:nvSpPr>
          <p:cNvPr id="4" name="Text 2"/>
          <p:cNvSpPr/>
          <p:nvPr/>
        </p:nvSpPr>
        <p:spPr>
          <a:xfrm>
            <a:off x="640080" y="914400"/>
            <a:ext cx="5486400" cy="731520"/>
          </a:xfrm>
          <a:prstGeom prst="rect">
            <a:avLst/>
          </a:prstGeom>
          <a:noFill/>
          <a:ln/>
        </p:spPr>
        <p:txBody>
          <a:bodyPr wrap="square" rtlCol="0" anchor="ctr"/>
          <a:lstStyle/>
          <a:p>
            <a:pPr marL="0" indent="0">
              <a:buNone/>
            </a:pPr>
            <a:r>
              <a:rPr lang="en-US" sz="4000" b="1" dirty="0">
                <a:solidFill>
                  <a:srgbClr val="FFFFFF"/>
                </a:solidFill>
                <a:latin typeface="Open Sans" pitchFamily="34" charset="0"/>
                <a:ea typeface="Open Sans" pitchFamily="34" charset="-122"/>
                <a:cs typeface="Open Sans" pitchFamily="34" charset="-120"/>
              </a:rPr>
              <a:t>Let’s Begin</a:t>
            </a:r>
            <a:endParaRPr lang="en-US" sz="4000" dirty="0"/>
          </a:p>
        </p:txBody>
      </p:sp>
      <p:sp>
        <p:nvSpPr>
          <p:cNvPr id="5" name="Text 3"/>
          <p:cNvSpPr/>
          <p:nvPr/>
        </p:nvSpPr>
        <p:spPr>
          <a:xfrm>
            <a:off x="640080" y="1645920"/>
            <a:ext cx="5486400" cy="457200"/>
          </a:xfrm>
          <a:prstGeom prst="rect">
            <a:avLst/>
          </a:prstGeom>
          <a:noFill/>
          <a:ln/>
        </p:spPr>
        <p:txBody>
          <a:bodyPr wrap="square" rtlCol="0" anchor="ctr"/>
          <a:lstStyle/>
          <a:p>
            <a:pPr marL="0" indent="0">
              <a:buNone/>
            </a:pPr>
            <a:r>
              <a:rPr lang="en-US" sz="1800" i="1" dirty="0">
                <a:solidFill>
                  <a:srgbClr val="4DA78F"/>
                </a:solidFill>
                <a:latin typeface="Open Sans" pitchFamily="34" charset="0"/>
                <a:ea typeface="Open Sans" pitchFamily="34" charset="-122"/>
                <a:cs typeface="Open Sans" pitchFamily="34" charset="-120"/>
              </a:rPr>
              <a:t>The goal isn’t perfection — it’s specification</a:t>
            </a:r>
            <a:endParaRPr lang="en-US" sz="1800" dirty="0"/>
          </a:p>
        </p:txBody>
      </p:sp>
      <p:sp>
        <p:nvSpPr>
          <p:cNvPr id="6" name="Text 4"/>
          <p:cNvSpPr/>
          <p:nvPr/>
        </p:nvSpPr>
        <p:spPr>
          <a:xfrm>
            <a:off x="640080" y="2377440"/>
            <a:ext cx="5943600" cy="2011680"/>
          </a:xfrm>
          <a:prstGeom prst="rect">
            <a:avLst/>
          </a:prstGeom>
          <a:noFill/>
          <a:ln/>
        </p:spPr>
        <p:txBody>
          <a:bodyPr wrap="square" rtlCol="0" anchor="ctr"/>
          <a:lstStyle/>
          <a:p>
            <a:pPr marL="342900" indent="-342900">
              <a:spcAft>
                <a:spcPts val="800"/>
              </a:spcAft>
              <a:buSzPct val="100000"/>
              <a:buChar char="✓"/>
            </a:pPr>
            <a:r>
              <a:rPr lang="en-US" sz="1300" dirty="0">
                <a:solidFill>
                  <a:srgbClr val="B8DDD1"/>
                </a:solidFill>
                <a:latin typeface="Open Sans" pitchFamily="34" charset="0"/>
                <a:ea typeface="Open Sans" pitchFamily="34" charset="-122"/>
                <a:cs typeface="Open Sans" pitchFamily="34" charset="-120"/>
              </a:rPr>
              <a:t>Upload the provided template, choose your company, populate real data</a:t>
            </a:r>
            <a:endParaRPr lang="en-US" sz="1300" dirty="0"/>
          </a:p>
          <a:p>
            <a:pPr marL="342900" indent="-342900">
              <a:spcAft>
                <a:spcPts val="800"/>
              </a:spcAft>
              <a:buSzPct val="100000"/>
              <a:buChar char="✓"/>
            </a:pPr>
            <a:r>
              <a:rPr lang="en-US" sz="1300" dirty="0">
                <a:solidFill>
                  <a:srgbClr val="B8DDD1"/>
                </a:solidFill>
                <a:latin typeface="Open Sans" pitchFamily="34" charset="0"/>
                <a:ea typeface="Open Sans" pitchFamily="34" charset="-122"/>
                <a:cs typeface="Open Sans" pitchFamily="34" charset="-120"/>
              </a:rPr>
              <a:t>Draft a spec with an LLM — precise enough that a fresh LLM can execute it cold</a:t>
            </a:r>
            <a:endParaRPr lang="en-US" sz="1300" dirty="0"/>
          </a:p>
          <a:p>
            <a:pPr marL="342900" indent="-342900">
              <a:spcAft>
                <a:spcPts val="800"/>
              </a:spcAft>
              <a:buSzPct val="100000"/>
              <a:buChar char="✓"/>
            </a:pPr>
            <a:r>
              <a:rPr lang="en-US" sz="1300" dirty="0">
                <a:solidFill>
                  <a:srgbClr val="B8DDD1"/>
                </a:solidFill>
                <a:latin typeface="Open Sans" pitchFamily="34" charset="0"/>
                <a:ea typeface="Open Sans" pitchFamily="34" charset="-122"/>
                <a:cs typeface="Open Sans" pitchFamily="34" charset="-120"/>
              </a:rPr>
              <a:t>Evaluate the output — what did the AI get right? What did it miss?</a:t>
            </a:r>
            <a:endParaRPr lang="en-US" sz="1300" dirty="0"/>
          </a:p>
          <a:p>
            <a:pPr marL="342900" indent="-342900">
              <a:spcAft>
                <a:spcPts val="800"/>
              </a:spcAft>
              <a:buSzPct val="100000"/>
              <a:buChar char="✓"/>
            </a:pPr>
            <a:r>
              <a:rPr lang="en-US" sz="1300" dirty="0">
                <a:solidFill>
                  <a:srgbClr val="B8DDD1"/>
                </a:solidFill>
                <a:latin typeface="Open Sans" pitchFamily="34" charset="0"/>
                <a:ea typeface="Open Sans" pitchFamily="34" charset="-122"/>
                <a:cs typeface="Open Sans" pitchFamily="34" charset="-120"/>
              </a:rPr>
              <a:t>Commit every deliverable to GitHub — version control matters</a:t>
            </a:r>
            <a:endParaRPr lang="en-US" sz="1300" dirty="0"/>
          </a:p>
          <a:p>
            <a:pPr marL="342900" indent="-342900">
              <a:spcAft>
                <a:spcPts val="800"/>
              </a:spcAft>
              <a:buSzPct val="100000"/>
              <a:buChar char="✓"/>
            </a:pPr>
            <a:r>
              <a:rPr lang="en-US" sz="1300" dirty="0">
                <a:solidFill>
                  <a:srgbClr val="B8DDD1"/>
                </a:solidFill>
                <a:latin typeface="Open Sans" pitchFamily="34" charset="0"/>
                <a:ea typeface="Open Sans" pitchFamily="34" charset="-122"/>
                <a:cs typeface="Open Sans" pitchFamily="34" charset="-120"/>
              </a:rPr>
              <a:t>We’re all learning in real-time. Your uncertainty is shared by everyone.</a:t>
            </a:r>
            <a:endParaRPr lang="en-US" sz="1300" dirty="0"/>
          </a:p>
        </p:txBody>
      </p:sp>
      <p:sp>
        <p:nvSpPr>
          <p:cNvPr id="7" name="Text 5"/>
          <p:cNvSpPr/>
          <p:nvPr/>
        </p:nvSpPr>
        <p:spPr>
          <a:xfrm>
            <a:off x="640080" y="4663440"/>
            <a:ext cx="7772400" cy="274320"/>
          </a:xfrm>
          <a:prstGeom prst="rect">
            <a:avLst/>
          </a:prstGeom>
          <a:noFill/>
          <a:ln/>
        </p:spPr>
        <p:txBody>
          <a:bodyPr wrap="square" rtlCol="0" anchor="ctr"/>
          <a:lstStyle/>
          <a:p>
            <a:pPr marL="0" indent="0">
              <a:buNone/>
            </a:pPr>
            <a:r>
              <a:rPr lang="en-US" sz="1000" dirty="0">
                <a:solidFill>
                  <a:srgbClr val="B8DDD1"/>
                </a:solidFill>
                <a:latin typeface="Open Sans" pitchFamily="34" charset="0"/>
                <a:ea typeface="Open Sans" pitchFamily="34" charset="-122"/>
                <a:cs typeface="Open Sans" pitchFamily="34" charset="-120"/>
              </a:rPr>
              <a:t>BUS-629  |  Shidler College of Business  |  University of Hawaiʻi at Mānoa  |  adamstau@hawaii.edu</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Text 1"/>
          <p:cNvSpPr/>
          <p:nvPr/>
        </p:nvSpPr>
        <p:spPr>
          <a:xfrm>
            <a:off x="731520" y="27432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Quick Reference Cheat Sheet</a:t>
            </a:r>
            <a:endParaRPr lang="en-US" sz="2800" dirty="0"/>
          </a:p>
        </p:txBody>
      </p:sp>
      <p:sp>
        <p:nvSpPr>
          <p:cNvPr id="4" name="Text 2"/>
          <p:cNvSpPr/>
          <p:nvPr/>
        </p:nvSpPr>
        <p:spPr>
          <a:xfrm>
            <a:off x="731520" y="868680"/>
            <a:ext cx="36576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Git Commands</a:t>
            </a:r>
            <a:endParaRPr lang="en-US" sz="1400" dirty="0"/>
          </a:p>
        </p:txBody>
      </p:sp>
      <p:sp>
        <p:nvSpPr>
          <p:cNvPr id="5" name="Text 3"/>
          <p:cNvSpPr/>
          <p:nvPr/>
        </p:nvSpPr>
        <p:spPr>
          <a:xfrm>
            <a:off x="731520" y="1280160"/>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clone &lt;url&gt;</a:t>
            </a:r>
            <a:endParaRPr lang="en-US" sz="1100" dirty="0"/>
          </a:p>
        </p:txBody>
      </p:sp>
      <p:sp>
        <p:nvSpPr>
          <p:cNvPr id="6" name="Text 4"/>
          <p:cNvSpPr/>
          <p:nvPr/>
        </p:nvSpPr>
        <p:spPr>
          <a:xfrm>
            <a:off x="731520" y="1481328"/>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Download repository for the first time</a:t>
            </a:r>
            <a:endParaRPr lang="en-US" sz="900" dirty="0"/>
          </a:p>
        </p:txBody>
      </p:sp>
      <p:sp>
        <p:nvSpPr>
          <p:cNvPr id="7" name="Text 5"/>
          <p:cNvSpPr/>
          <p:nvPr/>
        </p:nvSpPr>
        <p:spPr>
          <a:xfrm>
            <a:off x="731520" y="1719072"/>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status</a:t>
            </a:r>
            <a:endParaRPr lang="en-US" sz="1100" dirty="0"/>
          </a:p>
        </p:txBody>
      </p:sp>
      <p:sp>
        <p:nvSpPr>
          <p:cNvPr id="8" name="Text 6"/>
          <p:cNvSpPr/>
          <p:nvPr/>
        </p:nvSpPr>
        <p:spPr>
          <a:xfrm>
            <a:off x="731520" y="1920240"/>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See what files have changed</a:t>
            </a:r>
            <a:endParaRPr lang="en-US" sz="900" dirty="0"/>
          </a:p>
        </p:txBody>
      </p:sp>
      <p:sp>
        <p:nvSpPr>
          <p:cNvPr id="9" name="Text 7"/>
          <p:cNvSpPr/>
          <p:nvPr/>
        </p:nvSpPr>
        <p:spPr>
          <a:xfrm>
            <a:off x="731520" y="2157984"/>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add .</a:t>
            </a:r>
            <a:endParaRPr lang="en-US" sz="1100" dirty="0"/>
          </a:p>
        </p:txBody>
      </p:sp>
      <p:sp>
        <p:nvSpPr>
          <p:cNvPr id="10" name="Text 8"/>
          <p:cNvSpPr/>
          <p:nvPr/>
        </p:nvSpPr>
        <p:spPr>
          <a:xfrm>
            <a:off x="731520" y="2359152"/>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Stage all changes for commit</a:t>
            </a:r>
            <a:endParaRPr lang="en-US" sz="900" dirty="0"/>
          </a:p>
        </p:txBody>
      </p:sp>
      <p:sp>
        <p:nvSpPr>
          <p:cNvPr id="11" name="Text 9"/>
          <p:cNvSpPr/>
          <p:nvPr/>
        </p:nvSpPr>
        <p:spPr>
          <a:xfrm>
            <a:off x="731520" y="2596896"/>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commit -m "msg"</a:t>
            </a:r>
            <a:endParaRPr lang="en-US" sz="1100" dirty="0"/>
          </a:p>
        </p:txBody>
      </p:sp>
      <p:sp>
        <p:nvSpPr>
          <p:cNvPr id="12" name="Text 10"/>
          <p:cNvSpPr/>
          <p:nvPr/>
        </p:nvSpPr>
        <p:spPr>
          <a:xfrm>
            <a:off x="731520" y="2798064"/>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Save a snapshot with a message</a:t>
            </a:r>
            <a:endParaRPr lang="en-US" sz="900" dirty="0"/>
          </a:p>
        </p:txBody>
      </p:sp>
      <p:sp>
        <p:nvSpPr>
          <p:cNvPr id="13" name="Text 11"/>
          <p:cNvSpPr/>
          <p:nvPr/>
        </p:nvSpPr>
        <p:spPr>
          <a:xfrm>
            <a:off x="731520" y="3035808"/>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push</a:t>
            </a:r>
            <a:endParaRPr lang="en-US" sz="1100" dirty="0"/>
          </a:p>
        </p:txBody>
      </p:sp>
      <p:sp>
        <p:nvSpPr>
          <p:cNvPr id="14" name="Text 12"/>
          <p:cNvSpPr/>
          <p:nvPr/>
        </p:nvSpPr>
        <p:spPr>
          <a:xfrm>
            <a:off x="731520" y="3236976"/>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Upload commits to GitHub</a:t>
            </a:r>
            <a:endParaRPr lang="en-US" sz="900" dirty="0"/>
          </a:p>
        </p:txBody>
      </p:sp>
      <p:sp>
        <p:nvSpPr>
          <p:cNvPr id="15" name="Text 13"/>
          <p:cNvSpPr/>
          <p:nvPr/>
        </p:nvSpPr>
        <p:spPr>
          <a:xfrm>
            <a:off x="731520" y="3474720"/>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pull</a:t>
            </a:r>
            <a:endParaRPr lang="en-US" sz="1100" dirty="0"/>
          </a:p>
        </p:txBody>
      </p:sp>
      <p:sp>
        <p:nvSpPr>
          <p:cNvPr id="16" name="Text 14"/>
          <p:cNvSpPr/>
          <p:nvPr/>
        </p:nvSpPr>
        <p:spPr>
          <a:xfrm>
            <a:off x="731520" y="3675888"/>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Download latest changes from GitHub</a:t>
            </a:r>
            <a:endParaRPr lang="en-US" sz="900" dirty="0"/>
          </a:p>
        </p:txBody>
      </p:sp>
      <p:sp>
        <p:nvSpPr>
          <p:cNvPr id="17" name="Text 15"/>
          <p:cNvSpPr/>
          <p:nvPr/>
        </p:nvSpPr>
        <p:spPr>
          <a:xfrm>
            <a:off x="731520" y="3913632"/>
            <a:ext cx="3200400" cy="22860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git log --oneline</a:t>
            </a:r>
            <a:endParaRPr lang="en-US" sz="1100" dirty="0"/>
          </a:p>
        </p:txBody>
      </p:sp>
      <p:sp>
        <p:nvSpPr>
          <p:cNvPr id="18" name="Text 16"/>
          <p:cNvSpPr/>
          <p:nvPr/>
        </p:nvSpPr>
        <p:spPr>
          <a:xfrm>
            <a:off x="731520" y="4114800"/>
            <a:ext cx="32004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View commit history</a:t>
            </a:r>
            <a:endParaRPr lang="en-US" sz="900" dirty="0"/>
          </a:p>
        </p:txBody>
      </p:sp>
      <p:sp>
        <p:nvSpPr>
          <p:cNvPr id="19" name="Shape 17"/>
          <p:cNvSpPr/>
          <p:nvPr/>
        </p:nvSpPr>
        <p:spPr>
          <a:xfrm>
            <a:off x="4389120" y="868680"/>
            <a:ext cx="18288" cy="3474720"/>
          </a:xfrm>
          <a:prstGeom prst="rect">
            <a:avLst/>
          </a:prstGeom>
          <a:solidFill>
            <a:srgbClr val="5A6B7A"/>
          </a:solidFill>
          <a:ln/>
        </p:spPr>
        <p:txBody>
          <a:bodyPr/>
          <a:lstStyle/>
          <a:p>
            <a:endParaRPr lang="en-US"/>
          </a:p>
        </p:txBody>
      </p:sp>
      <p:sp>
        <p:nvSpPr>
          <p:cNvPr id="20" name="Text 18"/>
          <p:cNvSpPr/>
          <p:nvPr/>
        </p:nvSpPr>
        <p:spPr>
          <a:xfrm>
            <a:off x="4754880" y="868680"/>
            <a:ext cx="36576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Useful Links</a:t>
            </a:r>
            <a:endParaRPr lang="en-US" sz="1400" dirty="0"/>
          </a:p>
        </p:txBody>
      </p:sp>
      <p:sp>
        <p:nvSpPr>
          <p:cNvPr id="21" name="Text 19"/>
          <p:cNvSpPr/>
          <p:nvPr/>
        </p:nvSpPr>
        <p:spPr>
          <a:xfrm>
            <a:off x="4754880" y="1280160"/>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github.com</a:t>
            </a:r>
            <a:endParaRPr lang="en-US" sz="1100" dirty="0"/>
          </a:p>
        </p:txBody>
      </p:sp>
      <p:sp>
        <p:nvSpPr>
          <p:cNvPr id="22" name="Text 20"/>
          <p:cNvSpPr/>
          <p:nvPr/>
        </p:nvSpPr>
        <p:spPr>
          <a:xfrm>
            <a:off x="4754880" y="1481328"/>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Create account &amp; view repositories</a:t>
            </a:r>
            <a:endParaRPr lang="en-US" sz="900" dirty="0"/>
          </a:p>
        </p:txBody>
      </p:sp>
      <p:sp>
        <p:nvSpPr>
          <p:cNvPr id="23" name="Text 21"/>
          <p:cNvSpPr/>
          <p:nvPr/>
        </p:nvSpPr>
        <p:spPr>
          <a:xfrm>
            <a:off x="4754880" y="1719072"/>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desktop.github.com</a:t>
            </a:r>
            <a:endParaRPr lang="en-US" sz="1100" dirty="0"/>
          </a:p>
        </p:txBody>
      </p:sp>
      <p:sp>
        <p:nvSpPr>
          <p:cNvPr id="24" name="Text 22"/>
          <p:cNvSpPr/>
          <p:nvPr/>
        </p:nvSpPr>
        <p:spPr>
          <a:xfrm>
            <a:off x="4754880" y="1920240"/>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GitHub Desktop (visual Git client)</a:t>
            </a:r>
            <a:endParaRPr lang="en-US" sz="900" dirty="0"/>
          </a:p>
        </p:txBody>
      </p:sp>
      <p:sp>
        <p:nvSpPr>
          <p:cNvPr id="25" name="Text 23"/>
          <p:cNvSpPr/>
          <p:nvPr/>
        </p:nvSpPr>
        <p:spPr>
          <a:xfrm>
            <a:off x="4754880" y="2157984"/>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chatgpt.com</a:t>
            </a:r>
            <a:endParaRPr lang="en-US" sz="1100" dirty="0"/>
          </a:p>
        </p:txBody>
      </p:sp>
      <p:sp>
        <p:nvSpPr>
          <p:cNvPr id="26" name="Text 24"/>
          <p:cNvSpPr/>
          <p:nvPr/>
        </p:nvSpPr>
        <p:spPr>
          <a:xfrm>
            <a:off x="4754880" y="2359152"/>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ChatGPT (OpenAI)</a:t>
            </a:r>
            <a:endParaRPr lang="en-US" sz="900" dirty="0"/>
          </a:p>
        </p:txBody>
      </p:sp>
      <p:sp>
        <p:nvSpPr>
          <p:cNvPr id="27" name="Text 25"/>
          <p:cNvSpPr/>
          <p:nvPr/>
        </p:nvSpPr>
        <p:spPr>
          <a:xfrm>
            <a:off x="4754880" y="2596896"/>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claude.ai</a:t>
            </a:r>
            <a:endParaRPr lang="en-US" sz="1100" dirty="0"/>
          </a:p>
        </p:txBody>
      </p:sp>
      <p:sp>
        <p:nvSpPr>
          <p:cNvPr id="28" name="Text 26"/>
          <p:cNvSpPr/>
          <p:nvPr/>
        </p:nvSpPr>
        <p:spPr>
          <a:xfrm>
            <a:off x="4754880" y="2798064"/>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Claude (Anthropic)</a:t>
            </a:r>
            <a:endParaRPr lang="en-US" sz="900" dirty="0"/>
          </a:p>
        </p:txBody>
      </p:sp>
      <p:sp>
        <p:nvSpPr>
          <p:cNvPr id="29" name="Text 27"/>
          <p:cNvSpPr/>
          <p:nvPr/>
        </p:nvSpPr>
        <p:spPr>
          <a:xfrm>
            <a:off x="4754880" y="3035808"/>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education.github.com</a:t>
            </a:r>
            <a:endParaRPr lang="en-US" sz="1100" dirty="0"/>
          </a:p>
        </p:txBody>
      </p:sp>
      <p:sp>
        <p:nvSpPr>
          <p:cNvPr id="30" name="Text 28"/>
          <p:cNvSpPr/>
          <p:nvPr/>
        </p:nvSpPr>
        <p:spPr>
          <a:xfrm>
            <a:off x="4754880" y="3236976"/>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Student Developer Pack (free Pro)</a:t>
            </a:r>
            <a:endParaRPr lang="en-US" sz="900" dirty="0"/>
          </a:p>
        </p:txBody>
      </p:sp>
      <p:sp>
        <p:nvSpPr>
          <p:cNvPr id="31" name="Text 29"/>
          <p:cNvSpPr/>
          <p:nvPr/>
        </p:nvSpPr>
        <p:spPr>
          <a:xfrm>
            <a:off x="4754880" y="3474720"/>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code.visualstudio.com</a:t>
            </a:r>
            <a:endParaRPr lang="en-US" sz="1100" dirty="0"/>
          </a:p>
        </p:txBody>
      </p:sp>
      <p:sp>
        <p:nvSpPr>
          <p:cNvPr id="32" name="Text 30"/>
          <p:cNvSpPr/>
          <p:nvPr/>
        </p:nvSpPr>
        <p:spPr>
          <a:xfrm>
            <a:off x="4754880" y="3675888"/>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VS Code (free text editor)</a:t>
            </a:r>
            <a:endParaRPr lang="en-US" sz="900" dirty="0"/>
          </a:p>
        </p:txBody>
      </p:sp>
      <p:sp>
        <p:nvSpPr>
          <p:cNvPr id="33" name="Text 31"/>
          <p:cNvSpPr/>
          <p:nvPr/>
        </p:nvSpPr>
        <p:spPr>
          <a:xfrm>
            <a:off x="4754880" y="3913632"/>
            <a:ext cx="3657600" cy="228600"/>
          </a:xfrm>
          <a:prstGeom prst="rect">
            <a:avLst/>
          </a:prstGeom>
          <a:noFill/>
          <a:ln/>
        </p:spPr>
        <p:txBody>
          <a:bodyPr wrap="square" lIns="0" tIns="0" rIns="0" bIns="0" rtlCol="0" anchor="ctr"/>
          <a:lstStyle/>
          <a:p>
            <a:pPr marL="0" indent="0">
              <a:buNone/>
            </a:pPr>
            <a:r>
              <a:rPr lang="en-US" sz="1100" b="1" dirty="0">
                <a:solidFill>
                  <a:srgbClr val="6B8FA3"/>
                </a:solidFill>
                <a:latin typeface="Open Sans" pitchFamily="34" charset="0"/>
                <a:ea typeface="Open Sans" pitchFamily="34" charset="-122"/>
                <a:cs typeface="Open Sans" pitchFamily="34" charset="-120"/>
              </a:rPr>
              <a:t>git-scm.com</a:t>
            </a:r>
            <a:endParaRPr lang="en-US" sz="1100" dirty="0"/>
          </a:p>
        </p:txBody>
      </p:sp>
      <p:sp>
        <p:nvSpPr>
          <p:cNvPr id="34" name="Text 32"/>
          <p:cNvSpPr/>
          <p:nvPr/>
        </p:nvSpPr>
        <p:spPr>
          <a:xfrm>
            <a:off x="4754880" y="4114800"/>
            <a:ext cx="3657600" cy="201168"/>
          </a:xfrm>
          <a:prstGeom prst="rect">
            <a:avLst/>
          </a:prstGeom>
          <a:noFill/>
          <a:ln/>
        </p:spPr>
        <p:txBody>
          <a:bodyPr wrap="square" lIns="0" tIns="0" rIns="0" bIns="0" rtlCol="0" anchor="ctr"/>
          <a:lstStyle/>
          <a:p>
            <a:pPr marL="0" indent="0">
              <a:buNone/>
            </a:pPr>
            <a:r>
              <a:rPr lang="en-US" sz="900" dirty="0">
                <a:solidFill>
                  <a:srgbClr val="8A9BAD"/>
                </a:solidFill>
                <a:latin typeface="Open Sans" pitchFamily="34" charset="0"/>
                <a:ea typeface="Open Sans" pitchFamily="34" charset="-122"/>
                <a:cs typeface="Open Sans" pitchFamily="34" charset="-120"/>
              </a:rPr>
              <a:t>Official Git download</a:t>
            </a:r>
            <a:endParaRPr lang="en-US" sz="900" dirty="0"/>
          </a:p>
        </p:txBody>
      </p:sp>
      <p:sp>
        <p:nvSpPr>
          <p:cNvPr id="35" name="Shape 33"/>
          <p:cNvSpPr/>
          <p:nvPr/>
        </p:nvSpPr>
        <p:spPr>
          <a:xfrm>
            <a:off x="0" y="4572000"/>
            <a:ext cx="9144000" cy="36576"/>
          </a:xfrm>
          <a:prstGeom prst="rect">
            <a:avLst/>
          </a:prstGeom>
          <a:solidFill>
            <a:srgbClr val="B8975C"/>
          </a:solidFill>
          <a:ln/>
        </p:spPr>
        <p:txBody>
          <a:bodyPr/>
          <a:lstStyle/>
          <a:p>
            <a:endParaRPr lang="en-US"/>
          </a:p>
        </p:txBody>
      </p:sp>
      <p:sp>
        <p:nvSpPr>
          <p:cNvPr id="36" name="Text 34"/>
          <p:cNvSpPr/>
          <p:nvPr/>
        </p:nvSpPr>
        <p:spPr>
          <a:xfrm>
            <a:off x="457200" y="4663440"/>
            <a:ext cx="8229600" cy="320040"/>
          </a:xfrm>
          <a:prstGeom prst="rect">
            <a:avLst/>
          </a:prstGeom>
          <a:noFill/>
          <a:ln/>
        </p:spPr>
        <p:txBody>
          <a:bodyPr wrap="square"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Stauffer  |  Shidler College of Business  |  University of Hawaiʻi at Mānoa  |  adamstau@hawaii.edu</a:t>
            </a:r>
            <a:endParaRPr lang="en-US" sz="1000" dirty="0"/>
          </a:p>
        </p:txBody>
      </p:sp>
    </p:spTree>
    <p:extLst>
      <p:ext uri="{BB962C8B-B14F-4D97-AF65-F5344CB8AC3E}">
        <p14:creationId xmlns:p14="http://schemas.microsoft.com/office/powerpoint/2010/main" val="1506970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0  |  GitHub &amp; Workflow Onboarding  |  Corporate-Finance/ (new repo)</a:t>
            </a:r>
            <a:endParaRPr lang="en-US" sz="900" dirty="0"/>
          </a:p>
        </p:txBody>
      </p:sp>
      <p:sp>
        <p:nvSpPr>
          <p:cNvPr id="5" name="Shape 3"/>
          <p:cNvSpPr/>
          <p:nvPr/>
        </p:nvSpPr>
        <p:spPr>
          <a:xfrm>
            <a:off x="731520" y="274320"/>
            <a:ext cx="1179576" cy="274320"/>
          </a:xfrm>
          <a:prstGeom prst="rect">
            <a:avLst/>
          </a:prstGeom>
          <a:solidFill>
            <a:srgbClr val="36454F"/>
          </a:solidFill>
          <a:ln/>
        </p:spPr>
        <p:txBody>
          <a:bodyPr/>
          <a:lstStyle/>
          <a:p>
            <a:endParaRPr lang="en-US"/>
          </a:p>
        </p:txBody>
      </p:sp>
      <p:sp>
        <p:nvSpPr>
          <p:cNvPr id="6" name="Text 4"/>
          <p:cNvSpPr/>
          <p:nvPr/>
        </p:nvSpPr>
        <p:spPr>
          <a:xfrm>
            <a:off x="731520" y="274320"/>
            <a:ext cx="1179576" cy="274320"/>
          </a:xfrm>
          <a:prstGeom prst="rect">
            <a:avLst/>
          </a:prstGeom>
          <a:noFill/>
          <a:ln/>
        </p:spPr>
        <p:txBody>
          <a:bodyPr wrap="square" lIns="0" tIns="0" rIns="0" bIns="0" rtlCol="0" anchor="ctr"/>
          <a:lstStyle/>
          <a:p>
            <a:pPr marL="0" indent="0" algn="ctr">
              <a:buNone/>
            </a:pPr>
            <a:r>
              <a:rPr lang="en-US" sz="900" b="1" kern="0" spc="300" dirty="0">
                <a:solidFill>
                  <a:srgbClr val="B8975C"/>
                </a:solidFill>
                <a:latin typeface="Open Sans" pitchFamily="34" charset="0"/>
                <a:ea typeface="Open Sans" pitchFamily="34" charset="-122"/>
                <a:cs typeface="Open Sans" pitchFamily="34" charset="-120"/>
              </a:rPr>
              <a:t>STEP 3 OF 5</a:t>
            </a:r>
            <a:endParaRPr lang="en-US" sz="900" dirty="0"/>
          </a:p>
        </p:txBody>
      </p:sp>
      <p:sp>
        <p:nvSpPr>
          <p:cNvPr id="7" name="Text 5"/>
          <p:cNvSpPr/>
          <p:nvPr/>
        </p:nvSpPr>
        <p:spPr>
          <a:xfrm>
            <a:off x="731520" y="64008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Create Your Repo &amp; Directory Skeleton</a:t>
            </a:r>
            <a:endParaRPr lang="en-US" sz="2800" dirty="0"/>
          </a:p>
        </p:txBody>
      </p:sp>
      <p:sp>
        <p:nvSpPr>
          <p:cNvPr id="8" name="Shape 6"/>
          <p:cNvSpPr/>
          <p:nvPr/>
        </p:nvSpPr>
        <p:spPr>
          <a:xfrm>
            <a:off x="731520" y="1280160"/>
            <a:ext cx="365760" cy="365760"/>
          </a:xfrm>
          <a:prstGeom prst="line">
            <a:avLst/>
          </a:prstGeom>
          <a:solidFill>
            <a:srgbClr val="B8975C"/>
          </a:solidFill>
          <a:ln/>
        </p:spPr>
        <p:txBody>
          <a:bodyPr/>
          <a:lstStyle/>
          <a:p>
            <a:endParaRPr lang="en-US"/>
          </a:p>
        </p:txBody>
      </p:sp>
      <p:sp>
        <p:nvSpPr>
          <p:cNvPr id="9" name="Text 7"/>
          <p:cNvSpPr/>
          <p:nvPr/>
        </p:nvSpPr>
        <p:spPr>
          <a:xfrm>
            <a:off x="731520" y="12801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1</a:t>
            </a:r>
            <a:endParaRPr lang="en-US" sz="1400" dirty="0"/>
          </a:p>
        </p:txBody>
      </p:sp>
      <p:sp>
        <p:nvSpPr>
          <p:cNvPr id="10" name="Text 8"/>
          <p:cNvSpPr/>
          <p:nvPr/>
        </p:nvSpPr>
        <p:spPr>
          <a:xfrm>
            <a:off x="1280160" y="128016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On github.com, click + → New repository</a:t>
            </a:r>
            <a:endParaRPr lang="en-US" sz="1300" dirty="0"/>
          </a:p>
        </p:txBody>
      </p:sp>
      <p:sp>
        <p:nvSpPr>
          <p:cNvPr id="11" name="Shape 9"/>
          <p:cNvSpPr/>
          <p:nvPr/>
        </p:nvSpPr>
        <p:spPr>
          <a:xfrm>
            <a:off x="731520" y="1828800"/>
            <a:ext cx="365760" cy="365760"/>
          </a:xfrm>
          <a:prstGeom prst="line">
            <a:avLst/>
          </a:prstGeom>
          <a:solidFill>
            <a:srgbClr val="B8975C"/>
          </a:solidFill>
          <a:ln/>
        </p:spPr>
        <p:txBody>
          <a:bodyPr/>
          <a:lstStyle/>
          <a:p>
            <a:endParaRPr lang="en-US"/>
          </a:p>
        </p:txBody>
      </p:sp>
      <p:sp>
        <p:nvSpPr>
          <p:cNvPr id="12" name="Text 10"/>
          <p:cNvSpPr/>
          <p:nvPr/>
        </p:nvSpPr>
        <p:spPr>
          <a:xfrm>
            <a:off x="731520" y="18288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2</a:t>
            </a:r>
            <a:endParaRPr lang="en-US" sz="1400" dirty="0"/>
          </a:p>
        </p:txBody>
      </p:sp>
      <p:sp>
        <p:nvSpPr>
          <p:cNvPr id="13" name="Text 11"/>
          <p:cNvSpPr/>
          <p:nvPr/>
        </p:nvSpPr>
        <p:spPr>
          <a:xfrm>
            <a:off x="1280160" y="182880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Name it Corporate-Finance, set visibility to Public</a:t>
            </a:r>
            <a:endParaRPr lang="en-US" sz="1300" dirty="0"/>
          </a:p>
        </p:txBody>
      </p:sp>
      <p:sp>
        <p:nvSpPr>
          <p:cNvPr id="14" name="Shape 12"/>
          <p:cNvSpPr/>
          <p:nvPr/>
        </p:nvSpPr>
        <p:spPr>
          <a:xfrm>
            <a:off x="731520" y="2377440"/>
            <a:ext cx="365760" cy="365760"/>
          </a:xfrm>
          <a:prstGeom prst="line">
            <a:avLst/>
          </a:prstGeom>
          <a:solidFill>
            <a:srgbClr val="B8975C"/>
          </a:solidFill>
          <a:ln/>
        </p:spPr>
        <p:txBody>
          <a:bodyPr/>
          <a:lstStyle/>
          <a:p>
            <a:endParaRPr lang="en-US"/>
          </a:p>
        </p:txBody>
      </p:sp>
      <p:sp>
        <p:nvSpPr>
          <p:cNvPr id="15" name="Text 13"/>
          <p:cNvSpPr/>
          <p:nvPr/>
        </p:nvSpPr>
        <p:spPr>
          <a:xfrm>
            <a:off x="73152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3</a:t>
            </a:r>
            <a:endParaRPr lang="en-US" sz="1400" dirty="0"/>
          </a:p>
        </p:txBody>
      </p:sp>
      <p:sp>
        <p:nvSpPr>
          <p:cNvPr id="16" name="Text 14"/>
          <p:cNvSpPr/>
          <p:nvPr/>
        </p:nvSpPr>
        <p:spPr>
          <a:xfrm>
            <a:off x="1280160" y="237744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Check "Add a README file", then click Create repository</a:t>
            </a:r>
            <a:endParaRPr lang="en-US" sz="1300" dirty="0"/>
          </a:p>
        </p:txBody>
      </p:sp>
      <p:sp>
        <p:nvSpPr>
          <p:cNvPr id="17" name="Shape 15"/>
          <p:cNvSpPr/>
          <p:nvPr/>
        </p:nvSpPr>
        <p:spPr>
          <a:xfrm>
            <a:off x="731520" y="2926080"/>
            <a:ext cx="365760" cy="365760"/>
          </a:xfrm>
          <a:prstGeom prst="line">
            <a:avLst/>
          </a:prstGeom>
          <a:solidFill>
            <a:srgbClr val="B8975C"/>
          </a:solidFill>
          <a:ln/>
        </p:spPr>
        <p:txBody>
          <a:bodyPr/>
          <a:lstStyle/>
          <a:p>
            <a:endParaRPr lang="en-US"/>
          </a:p>
        </p:txBody>
      </p:sp>
      <p:sp>
        <p:nvSpPr>
          <p:cNvPr id="18" name="Text 16"/>
          <p:cNvSpPr/>
          <p:nvPr/>
        </p:nvSpPr>
        <p:spPr>
          <a:xfrm>
            <a:off x="731520" y="29260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4</a:t>
            </a:r>
            <a:endParaRPr lang="en-US" sz="1400" dirty="0"/>
          </a:p>
        </p:txBody>
      </p:sp>
      <p:sp>
        <p:nvSpPr>
          <p:cNvPr id="19" name="Text 17"/>
          <p:cNvSpPr/>
          <p:nvPr/>
        </p:nvSpPr>
        <p:spPr>
          <a:xfrm>
            <a:off x="1280160" y="292608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In GitHub Desktop: File → Clone repository → pick yours</a:t>
            </a:r>
            <a:endParaRPr lang="en-US" sz="1300" dirty="0"/>
          </a:p>
        </p:txBody>
      </p:sp>
      <p:sp>
        <p:nvSpPr>
          <p:cNvPr id="20" name="Shape 18"/>
          <p:cNvSpPr/>
          <p:nvPr/>
        </p:nvSpPr>
        <p:spPr>
          <a:xfrm>
            <a:off x="731520" y="3474720"/>
            <a:ext cx="365760" cy="365760"/>
          </a:xfrm>
          <a:prstGeom prst="line">
            <a:avLst/>
          </a:prstGeom>
          <a:solidFill>
            <a:srgbClr val="B8975C"/>
          </a:solidFill>
          <a:ln/>
        </p:spPr>
        <p:txBody>
          <a:bodyPr/>
          <a:lstStyle/>
          <a:p>
            <a:endParaRPr lang="en-US"/>
          </a:p>
        </p:txBody>
      </p:sp>
      <p:sp>
        <p:nvSpPr>
          <p:cNvPr id="21" name="Text 19"/>
          <p:cNvSpPr/>
          <p:nvPr/>
        </p:nvSpPr>
        <p:spPr>
          <a:xfrm>
            <a:off x="731520" y="3474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5</a:t>
            </a:r>
            <a:endParaRPr lang="en-US" sz="1400" dirty="0"/>
          </a:p>
        </p:txBody>
      </p:sp>
      <p:sp>
        <p:nvSpPr>
          <p:cNvPr id="22" name="Text 20"/>
          <p:cNvSpPr/>
          <p:nvPr/>
        </p:nvSpPr>
        <p:spPr>
          <a:xfrm>
            <a:off x="1280160" y="347472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Build the directory tree (next slide) and add a README to each</a:t>
            </a:r>
            <a:endParaRPr lang="en-US" sz="1300" dirty="0"/>
          </a:p>
        </p:txBody>
      </p:sp>
      <p:sp>
        <p:nvSpPr>
          <p:cNvPr id="23" name="Shape 21"/>
          <p:cNvSpPr/>
          <p:nvPr/>
        </p:nvSpPr>
        <p:spPr>
          <a:xfrm>
            <a:off x="5486400" y="1280160"/>
            <a:ext cx="3108960" cy="29260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24" name="Image 0" descr="preencoded.png"/>
          <p:cNvPicPr>
            <a:picLocks noChangeAspect="1"/>
          </p:cNvPicPr>
          <p:nvPr/>
        </p:nvPicPr>
        <p:blipFill>
          <a:blip r:embed="rId3"/>
          <a:stretch>
            <a:fillRect/>
          </a:stretch>
        </p:blipFill>
        <p:spPr>
          <a:xfrm>
            <a:off x="5715000" y="1463040"/>
            <a:ext cx="320040" cy="320040"/>
          </a:xfrm>
          <a:prstGeom prst="rect">
            <a:avLst/>
          </a:prstGeom>
        </p:spPr>
      </p:pic>
      <p:sp>
        <p:nvSpPr>
          <p:cNvPr id="25" name="Text 22"/>
          <p:cNvSpPr/>
          <p:nvPr/>
        </p:nvSpPr>
        <p:spPr>
          <a:xfrm>
            <a:off x="6126480" y="1463040"/>
            <a:ext cx="22860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Pro Tips</a:t>
            </a:r>
            <a:endParaRPr lang="en-US" sz="1400" dirty="0"/>
          </a:p>
        </p:txBody>
      </p:sp>
      <p:sp>
        <p:nvSpPr>
          <p:cNvPr id="26" name="Text 23"/>
          <p:cNvSpPr/>
          <p:nvPr/>
        </p:nvSpPr>
        <p:spPr>
          <a:xfrm>
            <a:off x="5715000" y="1920240"/>
            <a:ext cx="2697480" cy="2103120"/>
          </a:xfrm>
          <a:prstGeom prst="rect">
            <a:avLst/>
          </a:prstGeom>
          <a:noFill/>
          <a:ln/>
        </p:spPr>
        <p:txBody>
          <a:bodyPr wrap="square" lIns="0" tIns="0" rIns="0" bIns="0" rtlCol="0" anchor="t"/>
          <a:lstStyle/>
          <a:p>
            <a:pPr marL="0" indent="0">
              <a:buNone/>
            </a:pPr>
            <a:r>
              <a:rPr lang="en-US" sz="1100" b="1" dirty="0">
                <a:solidFill>
                  <a:srgbClr val="1E2530"/>
                </a:solidFill>
              </a:rPr>
              <a:t>Public is required</a:t>
            </a:r>
            <a:endParaRPr lang="en-US" sz="1100" dirty="0"/>
          </a:p>
          <a:p>
            <a:pPr marL="0" indent="0">
              <a:buNone/>
            </a:pPr>
            <a:r>
              <a:rPr lang="en-US" sz="1000" dirty="0">
                <a:solidFill>
                  <a:srgbClr val="5A6B7A"/>
                </a:solidFill>
              </a:rPr>
              <a:t>The whole point is discoverability — recruiters and collaborators must be able to find your work without an account.
</a:t>
            </a:r>
            <a:endParaRPr lang="en-US" sz="1100" dirty="0"/>
          </a:p>
          <a:p>
            <a:pPr marL="0" indent="0">
              <a:buNone/>
            </a:pPr>
            <a:r>
              <a:rPr lang="en-US" sz="1100" b="1" dirty="0">
                <a:solidFill>
                  <a:srgbClr val="1E2530"/>
                </a:solidFill>
              </a:rPr>
              <a:t>Every directory needs a README</a:t>
            </a:r>
            <a:endParaRPr lang="en-US" sz="1100" dirty="0"/>
          </a:p>
          <a:p>
            <a:pPr marL="0" indent="0">
              <a:buNone/>
            </a:pPr>
            <a:r>
              <a:rPr lang="en-US" sz="1000" dirty="0">
                <a:solidFill>
                  <a:srgbClr val="5A6B7A"/>
                </a:solidFill>
              </a:rPr>
              <a:t>If a new collaborator can navigate your repo by READMEs alone, the structure is right.
</a:t>
            </a:r>
            <a:endParaRPr lang="en-US" sz="1100" dirty="0"/>
          </a:p>
          <a:p>
            <a:pPr marL="0" indent="0">
              <a:buNone/>
            </a:pPr>
            <a:r>
              <a:rPr lang="en-US" sz="1100" b="1" dirty="0">
                <a:solidFill>
                  <a:srgbClr val="1E2530"/>
                </a:solidFill>
              </a:rPr>
              <a:t>Reference the course repo</a:t>
            </a:r>
            <a:endParaRPr lang="en-US" sz="1100" dirty="0"/>
          </a:p>
          <a:p>
            <a:pPr marL="0" indent="0">
              <a:buNone/>
            </a:pPr>
            <a:r>
              <a:rPr lang="en-US" sz="1000" dirty="0">
                <a:solidFill>
                  <a:srgbClr val="5A6B7A"/>
                </a:solidFill>
              </a:rPr>
              <a:t>The course repo is a living example. Mirror its structure and READMEs in your own.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0  |  GitHub &amp; Workflow Onboarding  |  README.md  ·  RESUME.md  ·  BIO.md</a:t>
            </a:r>
            <a:endParaRPr lang="en-US" sz="900" dirty="0"/>
          </a:p>
        </p:txBody>
      </p:sp>
      <p:sp>
        <p:nvSpPr>
          <p:cNvPr id="5" name="Shape 3"/>
          <p:cNvSpPr/>
          <p:nvPr/>
        </p:nvSpPr>
        <p:spPr>
          <a:xfrm>
            <a:off x="731520" y="274320"/>
            <a:ext cx="1179576" cy="274320"/>
          </a:xfrm>
          <a:prstGeom prst="rect">
            <a:avLst/>
          </a:prstGeom>
          <a:solidFill>
            <a:srgbClr val="36454F"/>
          </a:solidFill>
          <a:ln/>
        </p:spPr>
        <p:txBody>
          <a:bodyPr/>
          <a:lstStyle/>
          <a:p>
            <a:endParaRPr lang="en-US"/>
          </a:p>
        </p:txBody>
      </p:sp>
      <p:sp>
        <p:nvSpPr>
          <p:cNvPr id="6" name="Text 4"/>
          <p:cNvSpPr/>
          <p:nvPr/>
        </p:nvSpPr>
        <p:spPr>
          <a:xfrm>
            <a:off x="731520" y="274320"/>
            <a:ext cx="1179576" cy="274320"/>
          </a:xfrm>
          <a:prstGeom prst="rect">
            <a:avLst/>
          </a:prstGeom>
          <a:noFill/>
          <a:ln/>
        </p:spPr>
        <p:txBody>
          <a:bodyPr wrap="square" lIns="0" tIns="0" rIns="0" bIns="0" rtlCol="0" anchor="ctr"/>
          <a:lstStyle/>
          <a:p>
            <a:pPr marL="0" indent="0" algn="ctr">
              <a:buNone/>
            </a:pPr>
            <a:r>
              <a:rPr lang="en-US" sz="900" b="1" kern="0" spc="300" dirty="0">
                <a:solidFill>
                  <a:srgbClr val="B8975C"/>
                </a:solidFill>
                <a:latin typeface="Open Sans" pitchFamily="34" charset="0"/>
                <a:ea typeface="Open Sans" pitchFamily="34" charset="-122"/>
                <a:cs typeface="Open Sans" pitchFamily="34" charset="-120"/>
              </a:rPr>
              <a:t>STEP 4 OF 5</a:t>
            </a:r>
            <a:endParaRPr lang="en-US" sz="900" dirty="0"/>
          </a:p>
        </p:txBody>
      </p:sp>
      <p:sp>
        <p:nvSpPr>
          <p:cNvPr id="7" name="Text 5"/>
          <p:cNvSpPr/>
          <p:nvPr/>
        </p:nvSpPr>
        <p:spPr>
          <a:xfrm>
            <a:off x="731520" y="64008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Draft RESUME.md &amp; BIO.md with an LLM</a:t>
            </a:r>
            <a:endParaRPr lang="en-US" sz="2800" dirty="0"/>
          </a:p>
        </p:txBody>
      </p:sp>
      <p:sp>
        <p:nvSpPr>
          <p:cNvPr id="8" name="Shape 6"/>
          <p:cNvSpPr/>
          <p:nvPr/>
        </p:nvSpPr>
        <p:spPr>
          <a:xfrm>
            <a:off x="731520" y="1280160"/>
            <a:ext cx="365760" cy="365760"/>
          </a:xfrm>
          <a:prstGeom prst="line">
            <a:avLst/>
          </a:prstGeom>
          <a:solidFill>
            <a:srgbClr val="B8975C"/>
          </a:solidFill>
          <a:ln/>
        </p:spPr>
        <p:txBody>
          <a:bodyPr/>
          <a:lstStyle/>
          <a:p>
            <a:endParaRPr lang="en-US"/>
          </a:p>
        </p:txBody>
      </p:sp>
      <p:sp>
        <p:nvSpPr>
          <p:cNvPr id="9" name="Text 7"/>
          <p:cNvSpPr/>
          <p:nvPr/>
        </p:nvSpPr>
        <p:spPr>
          <a:xfrm>
            <a:off x="731520" y="12801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1</a:t>
            </a:r>
            <a:endParaRPr lang="en-US" sz="1400" dirty="0"/>
          </a:p>
        </p:txBody>
      </p:sp>
      <p:sp>
        <p:nvSpPr>
          <p:cNvPr id="10" name="Text 8"/>
          <p:cNvSpPr/>
          <p:nvPr/>
        </p:nvSpPr>
        <p:spPr>
          <a:xfrm>
            <a:off x="1280160" y="128016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Open Claude (claude.ai) or ChatGPT (chatgpt.com)</a:t>
            </a:r>
            <a:endParaRPr lang="en-US" sz="1300" dirty="0"/>
          </a:p>
        </p:txBody>
      </p:sp>
      <p:sp>
        <p:nvSpPr>
          <p:cNvPr id="11" name="Shape 9"/>
          <p:cNvSpPr/>
          <p:nvPr/>
        </p:nvSpPr>
        <p:spPr>
          <a:xfrm>
            <a:off x="731520" y="1828800"/>
            <a:ext cx="365760" cy="365760"/>
          </a:xfrm>
          <a:prstGeom prst="line">
            <a:avLst/>
          </a:prstGeom>
          <a:solidFill>
            <a:srgbClr val="B8975C"/>
          </a:solidFill>
          <a:ln/>
        </p:spPr>
        <p:txBody>
          <a:bodyPr/>
          <a:lstStyle/>
          <a:p>
            <a:endParaRPr lang="en-US"/>
          </a:p>
        </p:txBody>
      </p:sp>
      <p:sp>
        <p:nvSpPr>
          <p:cNvPr id="12" name="Text 10"/>
          <p:cNvSpPr/>
          <p:nvPr/>
        </p:nvSpPr>
        <p:spPr>
          <a:xfrm>
            <a:off x="731520" y="18288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2</a:t>
            </a:r>
            <a:endParaRPr lang="en-US" sz="1400" dirty="0"/>
          </a:p>
        </p:txBody>
      </p:sp>
      <p:sp>
        <p:nvSpPr>
          <p:cNvPr id="13" name="Text 11"/>
          <p:cNvSpPr/>
          <p:nvPr/>
        </p:nvSpPr>
        <p:spPr>
          <a:xfrm>
            <a:off x="1280160" y="182880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Paste the bio template + your LinkedIn or existing CV</a:t>
            </a:r>
            <a:endParaRPr lang="en-US" sz="1300" dirty="0"/>
          </a:p>
        </p:txBody>
      </p:sp>
      <p:sp>
        <p:nvSpPr>
          <p:cNvPr id="14" name="Shape 12"/>
          <p:cNvSpPr/>
          <p:nvPr/>
        </p:nvSpPr>
        <p:spPr>
          <a:xfrm>
            <a:off x="731520" y="2377440"/>
            <a:ext cx="365760" cy="365760"/>
          </a:xfrm>
          <a:prstGeom prst="line">
            <a:avLst/>
          </a:prstGeom>
          <a:solidFill>
            <a:srgbClr val="B8975C"/>
          </a:solidFill>
          <a:ln/>
        </p:spPr>
        <p:txBody>
          <a:bodyPr/>
          <a:lstStyle/>
          <a:p>
            <a:endParaRPr lang="en-US"/>
          </a:p>
        </p:txBody>
      </p:sp>
      <p:sp>
        <p:nvSpPr>
          <p:cNvPr id="15" name="Text 13"/>
          <p:cNvSpPr/>
          <p:nvPr/>
        </p:nvSpPr>
        <p:spPr>
          <a:xfrm>
            <a:off x="73152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3</a:t>
            </a:r>
            <a:endParaRPr lang="en-US" sz="1400" dirty="0"/>
          </a:p>
        </p:txBody>
      </p:sp>
      <p:sp>
        <p:nvSpPr>
          <p:cNvPr id="16" name="Text 14"/>
          <p:cNvSpPr/>
          <p:nvPr/>
        </p:nvSpPr>
        <p:spPr>
          <a:xfrm>
            <a:off x="1280160" y="237744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Iterate using the template’s prompt library (try 2–3 angles)</a:t>
            </a:r>
            <a:endParaRPr lang="en-US" sz="1300" dirty="0"/>
          </a:p>
        </p:txBody>
      </p:sp>
      <p:sp>
        <p:nvSpPr>
          <p:cNvPr id="17" name="Shape 15"/>
          <p:cNvSpPr/>
          <p:nvPr/>
        </p:nvSpPr>
        <p:spPr>
          <a:xfrm>
            <a:off x="731520" y="2926080"/>
            <a:ext cx="365760" cy="365760"/>
          </a:xfrm>
          <a:prstGeom prst="line">
            <a:avLst/>
          </a:prstGeom>
          <a:solidFill>
            <a:srgbClr val="B8975C"/>
          </a:solidFill>
          <a:ln/>
        </p:spPr>
        <p:txBody>
          <a:bodyPr/>
          <a:lstStyle/>
          <a:p>
            <a:endParaRPr lang="en-US"/>
          </a:p>
        </p:txBody>
      </p:sp>
      <p:sp>
        <p:nvSpPr>
          <p:cNvPr id="18" name="Text 16"/>
          <p:cNvSpPr/>
          <p:nvPr/>
        </p:nvSpPr>
        <p:spPr>
          <a:xfrm>
            <a:off x="731520" y="29260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4</a:t>
            </a:r>
            <a:endParaRPr lang="en-US" sz="1400" dirty="0"/>
          </a:p>
        </p:txBody>
      </p:sp>
      <p:sp>
        <p:nvSpPr>
          <p:cNvPr id="19" name="Text 17"/>
          <p:cNvSpPr/>
          <p:nvPr/>
        </p:nvSpPr>
        <p:spPr>
          <a:xfrm>
            <a:off x="1280160" y="292608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Save outputs as README.md, RESUME.md, and BIO.md</a:t>
            </a:r>
            <a:endParaRPr lang="en-US" sz="1300" dirty="0"/>
          </a:p>
        </p:txBody>
      </p:sp>
      <p:sp>
        <p:nvSpPr>
          <p:cNvPr id="20" name="Shape 18"/>
          <p:cNvSpPr/>
          <p:nvPr/>
        </p:nvSpPr>
        <p:spPr>
          <a:xfrm>
            <a:off x="731520" y="3474720"/>
            <a:ext cx="365760" cy="365760"/>
          </a:xfrm>
          <a:prstGeom prst="line">
            <a:avLst/>
          </a:prstGeom>
          <a:solidFill>
            <a:srgbClr val="B8975C"/>
          </a:solidFill>
          <a:ln/>
        </p:spPr>
        <p:txBody>
          <a:bodyPr/>
          <a:lstStyle/>
          <a:p>
            <a:endParaRPr lang="en-US"/>
          </a:p>
        </p:txBody>
      </p:sp>
      <p:sp>
        <p:nvSpPr>
          <p:cNvPr id="21" name="Text 19"/>
          <p:cNvSpPr/>
          <p:nvPr/>
        </p:nvSpPr>
        <p:spPr>
          <a:xfrm>
            <a:off x="731520" y="3474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5</a:t>
            </a:r>
            <a:endParaRPr lang="en-US" sz="1400" dirty="0"/>
          </a:p>
        </p:txBody>
      </p:sp>
      <p:sp>
        <p:nvSpPr>
          <p:cNvPr id="22" name="Text 20"/>
          <p:cNvSpPr/>
          <p:nvPr/>
        </p:nvSpPr>
        <p:spPr>
          <a:xfrm>
            <a:off x="1280160" y="3474720"/>
            <a:ext cx="3840480" cy="36576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Commit &amp; push via GitHub Desktop (Step 5 walkthrough)</a:t>
            </a:r>
            <a:endParaRPr lang="en-US" sz="1300" dirty="0"/>
          </a:p>
        </p:txBody>
      </p:sp>
      <p:sp>
        <p:nvSpPr>
          <p:cNvPr id="23" name="Shape 21"/>
          <p:cNvSpPr/>
          <p:nvPr/>
        </p:nvSpPr>
        <p:spPr>
          <a:xfrm>
            <a:off x="5486400" y="1280160"/>
            <a:ext cx="3108960" cy="29260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24" name="Image 0" descr="preencoded.png"/>
          <p:cNvPicPr>
            <a:picLocks noChangeAspect="1"/>
          </p:cNvPicPr>
          <p:nvPr/>
        </p:nvPicPr>
        <p:blipFill>
          <a:blip r:embed="rId3"/>
          <a:stretch>
            <a:fillRect/>
          </a:stretch>
        </p:blipFill>
        <p:spPr>
          <a:xfrm>
            <a:off x="5715000" y="1463040"/>
            <a:ext cx="320040" cy="320040"/>
          </a:xfrm>
          <a:prstGeom prst="rect">
            <a:avLst/>
          </a:prstGeom>
        </p:spPr>
      </p:pic>
      <p:sp>
        <p:nvSpPr>
          <p:cNvPr id="25" name="Text 22"/>
          <p:cNvSpPr/>
          <p:nvPr/>
        </p:nvSpPr>
        <p:spPr>
          <a:xfrm>
            <a:off x="6126480" y="1463040"/>
            <a:ext cx="22860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Pro Tips</a:t>
            </a:r>
            <a:endParaRPr lang="en-US" sz="1400" dirty="0"/>
          </a:p>
        </p:txBody>
      </p:sp>
      <p:sp>
        <p:nvSpPr>
          <p:cNvPr id="26" name="Text 23"/>
          <p:cNvSpPr/>
          <p:nvPr/>
        </p:nvSpPr>
        <p:spPr>
          <a:xfrm>
            <a:off x="5715000" y="1920240"/>
            <a:ext cx="2697480" cy="2103120"/>
          </a:xfrm>
          <a:prstGeom prst="rect">
            <a:avLst/>
          </a:prstGeom>
          <a:noFill/>
          <a:ln/>
        </p:spPr>
        <p:txBody>
          <a:bodyPr wrap="square" lIns="0" tIns="0" rIns="0" bIns="0" rtlCol="0" anchor="t"/>
          <a:lstStyle/>
          <a:p>
            <a:pPr marL="0" indent="0">
              <a:buNone/>
            </a:pPr>
            <a:r>
              <a:rPr lang="en-US" sz="1100" b="1" dirty="0">
                <a:solidFill>
                  <a:srgbClr val="1E2530"/>
                </a:solidFill>
              </a:rPr>
              <a:t>Bio: 150–200 words</a:t>
            </a:r>
            <a:endParaRPr lang="en-US" sz="1100" dirty="0"/>
          </a:p>
          <a:p>
            <a:pPr marL="0" indent="0">
              <a:buNone/>
            </a:pPr>
            <a:r>
              <a:rPr lang="en-US" sz="1000" dirty="0">
                <a:solidFill>
                  <a:srgbClr val="5A6B7A"/>
                </a:solidFill>
              </a:rPr>
              <a:t>Structured. Specific to your goals. Avoid generic LinkedIn-speak.
</a:t>
            </a:r>
            <a:endParaRPr lang="en-US" sz="1100" dirty="0"/>
          </a:p>
          <a:p>
            <a:pPr marL="0" indent="0">
              <a:buNone/>
            </a:pPr>
            <a:r>
              <a:rPr lang="en-US" sz="1100" b="1" dirty="0">
                <a:solidFill>
                  <a:srgbClr val="1E2530"/>
                </a:solidFill>
              </a:rPr>
              <a:t>Resume: Penn-style</a:t>
            </a:r>
            <a:endParaRPr lang="en-US" sz="1100" dirty="0"/>
          </a:p>
          <a:p>
            <a:pPr marL="0" indent="0">
              <a:buNone/>
            </a:pPr>
            <a:r>
              <a:rPr lang="en-US" sz="1000" dirty="0">
                <a:solidFill>
                  <a:srgbClr val="5A6B7A"/>
                </a:solidFill>
              </a:rPr>
              <a:t>Quantified achievements. Concise. The template covers the format.
</a:t>
            </a:r>
            <a:endParaRPr lang="en-US" sz="1100" dirty="0"/>
          </a:p>
          <a:p>
            <a:pPr marL="0" indent="0">
              <a:buNone/>
            </a:pPr>
            <a:r>
              <a:rPr lang="en-US" sz="1100" b="1" dirty="0">
                <a:solidFill>
                  <a:srgbClr val="1E2530"/>
                </a:solidFill>
              </a:rPr>
              <a:t>Iterate, don’t accept</a:t>
            </a:r>
            <a:endParaRPr lang="en-US" sz="1100" dirty="0"/>
          </a:p>
          <a:p>
            <a:pPr marL="0" indent="0">
              <a:buNone/>
            </a:pPr>
            <a:r>
              <a:rPr lang="en-US" sz="1000" dirty="0">
                <a:solidFill>
                  <a:srgbClr val="5A6B7A"/>
                </a:solidFill>
              </a:rPr>
              <a:t>The first LLM draft is rarely the strongest. Try a different angle, then pick.</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Stage 1  |  Excel Onboarding  |  performance-ratios-template.xlsx</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Excel Tips Before You Build</a:t>
            </a:r>
            <a:endParaRPr lang="en-US" sz="2800" dirty="0"/>
          </a:p>
        </p:txBody>
      </p:sp>
      <p:sp>
        <p:nvSpPr>
          <p:cNvPr id="6" name="Text 4"/>
          <p:cNvSpPr/>
          <p:nvPr/>
        </p:nvSpPr>
        <p:spPr>
          <a:xfrm>
            <a:off x="731520" y="868680"/>
            <a:ext cx="7680960" cy="54864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 xml:space="preserve">Three things to know before you populate the template at Stage 3 — they save hours and prevent the most common mistakes EMBA students hit on their first ratio build.</a:t>
            </a:r>
            <a:r>
              <a:rPr lang="en-US" sz="1300" dirty="0" err="1">
                <a:solidFill>
                  <a:srgbClr val="5A6B7A"/>
                </a:solidFill>
                <a:latin typeface="Open Sans" pitchFamily="34" charset="0"/>
                <a:ea typeface="Open Sans" pitchFamily="34" charset="-122"/>
                <a:cs typeface="Open Sans" pitchFamily="34" charset="-120"/>
              </a:rPr>
              <a:t/>
            </a:r>
            <a:r>
              <a:rPr lang="en-US" sz="1300" dirty="0">
                <a:solidFill>
                  <a:srgbClr val="5A6B7A"/>
                </a:solidFill>
                <a:latin typeface="Open Sans" pitchFamily="34" charset="0"/>
                <a:ea typeface="Open Sans" pitchFamily="34" charset="-122"/>
                <a:cs typeface="Open Sans" pitchFamily="34" charset="-120"/>
              </a:rPr>
              <a:t xml:space="preserve"/>
            </a:r>
            <a:endParaRPr lang="en-US" sz="1300" dirty="0"/>
          </a:p>
        </p:txBody>
      </p:sp>
      <p:sp>
        <p:nvSpPr>
          <p:cNvPr id="7" name="Shape 5"/>
          <p:cNvSpPr/>
          <p:nvPr/>
        </p:nvSpPr>
        <p:spPr>
          <a:xfrm>
            <a:off x="73152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554480" y="1920240"/>
            <a:ext cx="457200" cy="457200"/>
          </a:xfrm>
          <a:prstGeom prst="rect">
            <a:avLst/>
          </a:prstGeom>
        </p:spPr>
      </p:pic>
      <p:sp>
        <p:nvSpPr>
          <p:cNvPr id="9" name="Text 6"/>
          <p:cNvSpPr/>
          <p:nvPr/>
        </p:nvSpPr>
        <p:spPr>
          <a:xfrm>
            <a:off x="86868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Named Ranges</a:t>
            </a:r>
            <a:endParaRPr lang="en-US" sz="1400" dirty="0"/>
          </a:p>
        </p:txBody>
      </p:sp>
      <p:sp>
        <p:nvSpPr>
          <p:cNvPr id="10" name="Text 7"/>
          <p:cNvSpPr/>
          <p:nvPr/>
        </p:nvSpPr>
        <p:spPr>
          <a:xfrm>
            <a:off x="86868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Type a name in the Name Box (top-left of the formula bar) to define one. Reference any cell by name in formulas instead of A1 notation.</a:t>
            </a:r>
            <a:endParaRPr lang="en-US" sz="1100" dirty="0"/>
          </a:p>
        </p:txBody>
      </p:sp>
      <p:sp>
        <p:nvSpPr>
          <p:cNvPr id="11" name="Shape 8"/>
          <p:cNvSpPr/>
          <p:nvPr/>
        </p:nvSpPr>
        <p:spPr>
          <a:xfrm>
            <a:off x="338328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206240" y="1920240"/>
            <a:ext cx="457200" cy="457200"/>
          </a:xfrm>
          <a:prstGeom prst="rect">
            <a:avLst/>
          </a:prstGeom>
        </p:spPr>
      </p:pic>
      <p:sp>
        <p:nvSpPr>
          <p:cNvPr id="13" name="Text 9"/>
          <p:cNvSpPr/>
          <p:nvPr/>
        </p:nvSpPr>
        <p:spPr>
          <a:xfrm>
            <a:off x="352044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Color Conventions</a:t>
            </a:r>
            <a:endParaRPr lang="en-US" sz="1400" dirty="0"/>
          </a:p>
        </p:txBody>
      </p:sp>
      <p:sp>
        <p:nvSpPr>
          <p:cNvPr id="14" name="Text 10"/>
          <p:cNvSpPr/>
          <p:nvPr/>
        </p:nvSpPr>
        <p:spPr>
          <a:xfrm>
            <a:off x="352044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Yellow = data inputs. Light blue = analyst assumptions. Green text = formulas (don't overwrite). Gray = computed ratio outputs.</a:t>
            </a:r>
            <a:endParaRPr lang="en-US" sz="1100" dirty="0"/>
          </a:p>
        </p:txBody>
      </p:sp>
      <p:sp>
        <p:nvSpPr>
          <p:cNvPr id="15" name="Shape 11"/>
          <p:cNvSpPr/>
          <p:nvPr/>
        </p:nvSpPr>
        <p:spPr>
          <a:xfrm>
            <a:off x="603504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858000" y="1920240"/>
            <a:ext cx="457200" cy="457200"/>
          </a:xfrm>
          <a:prstGeom prst="rect">
            <a:avLst/>
          </a:prstGeom>
        </p:spPr>
      </p:pic>
      <p:sp>
        <p:nvSpPr>
          <p:cNvPr id="17" name="Text 12"/>
          <p:cNvSpPr/>
          <p:nvPr/>
        </p:nvSpPr>
        <p:spPr>
          <a:xfrm>
            <a:off x="617220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Speed Keys</a:t>
            </a:r>
            <a:endParaRPr lang="en-US" sz="1400" dirty="0"/>
          </a:p>
        </p:txBody>
      </p:sp>
      <p:sp>
        <p:nvSpPr>
          <p:cNvPr id="18" name="Text 13"/>
          <p:cNvSpPr/>
          <p:nvPr/>
        </p:nvSpPr>
        <p:spPr>
          <a:xfrm>
            <a:off x="617220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F2 edits the active cell's formula. F4 cycles absolute/relative refs ($A$1 ↔ A1). Click any name in the Name Box to jump to it.</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4731"/>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  Repo Hygiene  |  .gitignore lives at your repo root</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.gitignore — Keep Junk Out of Your Repo</a:t>
            </a:r>
            <a:endParaRPr lang="en-US" sz="2800" dirty="0"/>
          </a:p>
        </p:txBody>
      </p:sp>
      <p:sp>
        <p:nvSpPr>
          <p:cNvPr id="6" name="Text 4"/>
          <p:cNvSpPr/>
          <p:nvPr/>
        </p:nvSpPr>
        <p:spPr>
          <a:xfrm>
            <a:off x="731520" y="868680"/>
            <a:ext cx="7680960" cy="54864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 xml:space="preserve">A .gitignore file at your repo root tells Git which files to ignore. Without one, your repo collects OS junk, Excel lock files, and (worst case) credentials. Use the course template as a starting point.</a:t>
            </a:r>
            <a:r>
              <a:rPr lang="en-US" sz="1300" dirty="0" err="1">
                <a:solidFill>
                  <a:srgbClr val="5A6B7A"/>
                </a:solidFill>
                <a:latin typeface="Open Sans" pitchFamily="34" charset="0"/>
                <a:ea typeface="Open Sans" pitchFamily="34" charset="-122"/>
                <a:cs typeface="Open Sans" pitchFamily="34" charset="-120"/>
              </a:rPr>
              <a:t/>
            </a:r>
            <a:r>
              <a:rPr lang="en-US" sz="1300" dirty="0">
                <a:solidFill>
                  <a:srgbClr val="5A6B7A"/>
                </a:solidFill>
                <a:latin typeface="Open Sans" pitchFamily="34" charset="0"/>
                <a:ea typeface="Open Sans" pitchFamily="34" charset="-122"/>
                <a:cs typeface="Open Sans" pitchFamily="34" charset="-120"/>
              </a:rPr>
              <a:t xml:space="preserve"/>
            </a:r>
            <a:endParaRPr lang="en-US" sz="1300" dirty="0"/>
          </a:p>
        </p:txBody>
      </p:sp>
      <p:sp>
        <p:nvSpPr>
          <p:cNvPr id="7" name="Shape 5"/>
          <p:cNvSpPr/>
          <p:nvPr/>
        </p:nvSpPr>
        <p:spPr>
          <a:xfrm>
            <a:off x="73152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554480" y="1920240"/>
            <a:ext cx="457200" cy="457200"/>
          </a:xfrm>
          <a:prstGeom prst="rect">
            <a:avLst/>
          </a:prstGeom>
        </p:spPr>
      </p:pic>
      <p:sp>
        <p:nvSpPr>
          <p:cNvPr id="9" name="Text 6"/>
          <p:cNvSpPr/>
          <p:nvPr/>
        </p:nvSpPr>
        <p:spPr>
          <a:xfrm>
            <a:off x="86868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OS Junk Files</a:t>
            </a:r>
            <a:endParaRPr lang="en-US" sz="1400" dirty="0"/>
          </a:p>
        </p:txBody>
      </p:sp>
      <p:sp>
        <p:nvSpPr>
          <p:cNvPr id="10" name="Text 7"/>
          <p:cNvSpPr/>
          <p:nvPr/>
        </p:nvSpPr>
        <p:spPr>
          <a:xfrm>
            <a:off x="86868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.DS_Store (macOS), Thumbs.db (Windows), desktop.ini. Useless to anyone but your OS — never commit them.</a:t>
            </a:r>
            <a:endParaRPr lang="en-US" sz="1100" dirty="0"/>
          </a:p>
        </p:txBody>
      </p:sp>
      <p:sp>
        <p:nvSpPr>
          <p:cNvPr id="11" name="Shape 8"/>
          <p:cNvSpPr/>
          <p:nvPr/>
        </p:nvSpPr>
        <p:spPr>
          <a:xfrm>
            <a:off x="338328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206240" y="1920240"/>
            <a:ext cx="457200" cy="457200"/>
          </a:xfrm>
          <a:prstGeom prst="rect">
            <a:avLst/>
          </a:prstGeom>
        </p:spPr>
      </p:pic>
      <p:sp>
        <p:nvSpPr>
          <p:cNvPr id="13" name="Text 9"/>
          <p:cNvSpPr/>
          <p:nvPr/>
        </p:nvSpPr>
        <p:spPr>
          <a:xfrm>
            <a:off x="352044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Office Lock Files</a:t>
            </a:r>
            <a:endParaRPr lang="en-US" sz="1400" dirty="0"/>
          </a:p>
        </p:txBody>
      </p:sp>
      <p:sp>
        <p:nvSpPr>
          <p:cNvPr id="14" name="Text 10"/>
          <p:cNvSpPr/>
          <p:nvPr/>
        </p:nvSpPr>
        <p:spPr>
          <a:xfrm>
            <a:off x="352044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~$*.xlsx, ~$*.docx — created when Excel/Word has a file open. Commits will fail until you close the file. Just ignore them.</a:t>
            </a:r>
            <a:endParaRPr lang="en-US" sz="1100" dirty="0"/>
          </a:p>
        </p:txBody>
      </p:sp>
      <p:sp>
        <p:nvSpPr>
          <p:cNvPr id="15" name="Shape 11"/>
          <p:cNvSpPr/>
          <p:nvPr/>
        </p:nvSpPr>
        <p:spPr>
          <a:xfrm>
            <a:off x="603504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858000" y="1920240"/>
            <a:ext cx="457200" cy="457200"/>
          </a:xfrm>
          <a:prstGeom prst="rect">
            <a:avLst/>
          </a:prstGeom>
        </p:spPr>
      </p:pic>
      <p:sp>
        <p:nvSpPr>
          <p:cNvPr id="17" name="Text 12"/>
          <p:cNvSpPr/>
          <p:nvPr/>
        </p:nvSpPr>
        <p:spPr>
          <a:xfrm>
            <a:off x="617220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Secrets &amp; Credentials</a:t>
            </a:r>
            <a:endParaRPr lang="en-US" sz="1400" dirty="0"/>
          </a:p>
        </p:txBody>
      </p:sp>
      <p:sp>
        <p:nvSpPr>
          <p:cNvPr id="18" name="Text 13"/>
          <p:cNvSpPr/>
          <p:nvPr/>
        </p:nvSpPr>
        <p:spPr>
          <a:xfrm>
            <a:off x="6172200" y="2880360"/>
            <a:ext cx="2103120" cy="1188720"/>
          </a:xfrm>
          <a:prstGeom prst="rect">
            <a:avLst/>
          </a:prstGeom>
          <a:noFill/>
          <a:ln/>
        </p:spPr>
        <p:txBody>
          <a:bodyPr wrap="square" lIns="0" tIns="0" rIns="0" bIns="0" rtlCol="0" anchor="t"/>
          <a:lstStyle/>
          <a:p>
            <a:pPr marL="0" indent="0" algn="ctr">
              <a:lnSpc>
                <a:spcPct val="140000"/>
              </a:lnSpc>
              <a:buNone/>
            </a:pPr>
            <a:r>
              <a:rPr lang="en-US" sz="1100" dirty="0">
                <a:solidFill>
                  <a:srgbClr val="5A6B7A"/>
                </a:solidFill>
                <a:latin typeface="Open Sans" pitchFamily="34" charset="0"/>
                <a:ea typeface="Open Sans" pitchFamily="34" charset="-122"/>
                <a:cs typeface="Open Sans" pitchFamily="34" charset="-120"/>
              </a:rPr>
              <a:t>.env files, *.key, anything containing API keys or passwords. Once committed publicly, treat them as compromised — rotate.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2483</Words>
  <Application>Microsoft Office PowerPoint</Application>
  <PresentationFormat>On-screen Show (16:9)</PresentationFormat>
  <Paragraphs>426</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Consolas</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BUS-629 Accounting &amp; Performance Ratios — Spec-Driven Design Project</dc:title>
  <dc:subject>PptxGenJS Presentation</dc:subject>
  <dc:creator>Adam W. Stauffer</dc:creator>
  <cp:lastModifiedBy>Adam Stauffer</cp:lastModifiedBy>
  <cp:revision>3</cp:revision>
  <dcterms:created xsi:type="dcterms:W3CDTF">2026-04-03T18:35:26Z</dcterms:created>
  <dcterms:modified xsi:type="dcterms:W3CDTF">2026-05-09T20:44:26Z</dcterms:modified>
</cp:coreProperties>
</file>
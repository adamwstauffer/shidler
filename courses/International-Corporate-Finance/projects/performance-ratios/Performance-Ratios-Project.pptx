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335" r:id="rId3"/>
    <p:sldId id="257" r:id="rId4"/>
    <p:sldId id="258" r:id="rId5"/>
    <p:sldId id="259" r:id="rId6"/>
    <p:sldId id="267" r:id="rId7"/>
    <p:sldId id="269" r:id="rId8"/>
    <p:sldId id="329" r:id="rId9"/>
    <p:sldId id="260" r:id="rId10"/>
    <p:sldId id="270" r:id="rId11"/>
    <p:sldId id="274" r:id="rId12"/>
    <p:sldId id="275" r:id="rId13"/>
    <p:sldId id="276" r:id="rId14"/>
    <p:sldId id="271" r:id="rId15"/>
    <p:sldId id="330" r:id="rId16"/>
    <p:sldId id="261" r:id="rId17"/>
    <p:sldId id="277" r:id="rId18"/>
    <p:sldId id="331" r:id="rId19"/>
    <p:sldId id="262" r:id="rId20"/>
    <p:sldId id="298" r:id="rId21"/>
    <p:sldId id="266" r:id="rId22"/>
    <p:sldId id="333" r:id="rId23"/>
    <p:sldId id="263" r:id="rId24"/>
    <p:sldId id="299" r:id="rId25"/>
    <p:sldId id="332" r:id="rId26"/>
    <p:sldId id="302" r:id="rId27"/>
    <p:sldId id="300" r:id="rId28"/>
    <p:sldId id="334" r:id="rId29"/>
    <p:sldId id="265" r:id="rId30"/>
    <p:sldId id="303" r:id="rId31"/>
    <p:sldId id="296" r:id="rId32"/>
    <p:sldId id="336" r:id="rId33"/>
    <p:sldId id="337" r:id="rId34"/>
    <p:sldId id="338" r:id="rId35"/>
    <p:sldId id="339" r:id="rId36"/>
    <p:sldId id="340" r:id="rId37"/>
    <p:sldId id="341" r:id="rId38"/>
    <p:sldId id="342" r:id="rId39"/>
    <p:sldId id="343" r:id="rId40"/>
    <p:sldId id="345" r:id="rId41"/>
    <p:sldId id="344" r:id="rId42"/>
    <p:sldId id="346" r:id="rId43"/>
    <p:sldId id="347" r:id="rId44"/>
    <p:sldId id="348" r:id="rId45"/>
    <p:sldId id="349" r:id="rId46"/>
    <p:sldId id="350" r:id="rId47"/>
    <p:sldId id="351" r:id="rId48"/>
    <p:sldId id="352" r:id="rId49"/>
    <p:sldId id="353" r:id="rId50"/>
    <p:sldId id="355" r:id="rId51"/>
    <p:sldId id="354" r:id="rId52"/>
    <p:sldId id="356" r:id="rId58"/>
    <p:sldId id="357" r:id="rId59"/>
    <p:sldId id="358" r:id="rId60"/>
    <p:sldId id="359" r:id="rId6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2" d="100"/>
          <a:sy n="142" d="100"/>
        </p:scale>
        <p:origin x="108" y="8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999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24792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F1D0-FE81-7A8B-F3D5-9969A05E1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957C5-297A-9883-EB1D-5922F9C07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5E9ACD-EEBC-3E55-1DA8-979B35AA36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47B54-72B9-4286-309A-EAEAEEB61FF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3993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8DA79-A589-548C-DF61-E37645515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751AB-9161-EA53-CAEE-2AAAFA416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E745C0-C413-44C8-70ED-AAEB227DCA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8FE1C-5943-EAB3-B832-5D283A68B5A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20732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FA016-9851-27DF-C88C-F3D8820C6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8D58E-892F-4087-CA82-BE37ECB91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C55DF-4FFE-1755-CF16-F03157C6B3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FBF74C-CB16-7438-3004-0A255092D2F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336005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73245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454C-D00B-AE80-CFE1-35F6A6CCB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16734-088E-897D-8234-2B0789875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045CE-A27A-61D4-57C3-2BE3828B1E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63C201-A2E2-AF71-B476-EBCD331522A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654742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EE394-F06A-6734-8A54-86BC39A23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AB8AB-0B64-4B3C-2517-63FFC2F58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82B21-3451-B6B6-494B-5DBC8D4DC5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A5C980-9DCB-5266-14E2-158928813786}"/>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450258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1BB8-2D6F-7832-97D9-00DD8314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2CC1C-5537-2383-C84A-E4995EF54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9C097-138B-5BAF-78C7-E4EDC5C84A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3655B9-F996-922A-93A2-02CC0259622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908634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7BC79-7774-89F1-0774-176E33E1E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56FAA-C598-2887-608F-A4A6F9944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0C2CA-3EF7-4AA4-3A07-EF5D7FF718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F0322-8304-5BE0-9253-7756FDB193D0}"/>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4235898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5561061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6.svg"/></Relationships>
</file>

<file path=ppt/slides/_rels/slide33.xml.rels><?xml version="1.0" encoding="UTF-8"?><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36.xml.rels><?xml version="1.0" encoding="UTF-8"?><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9.xml.rels><?xml version="1.0" encoding="UTF-8"?><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2.xml.rels><?xml version="1.0" encoding="UTF-8"?><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43.xml.rels><?xml version="1.0" encoding="UTF-8"?><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4.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5.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6.xml.rels><?xml version="1.0" encoding="UTF-8"?><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7.xml.rels><?xml version="1.0" encoding="UTF-8"?><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8.xml.rels><?xml version="1.0" encoding="UTF-8"?><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51.xml.rels><?xml version="1.0" encoding="UTF-8"?><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2.xml.rels><?xml version="1.0" encoding="UTF-8"?><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1.xml"/></Relationships>
</file>

<file path=ppt/slides/_rels/slide5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78F"/>
          </a:solidFill>
          <a:ln/>
        </p:spPr>
        <p:txBody>
          <a:bodyPr/>
          <a:lstStyle/>
          <a:p>
            <a:endParaRPr lang="en-US"/>
          </a:p>
        </p:txBody>
      </p:sp>
      <p:sp>
        <p:nvSpPr>
          <p:cNvPr id="3" name="Shape 1"/>
          <p:cNvSpPr/>
          <p:nvPr/>
        </p:nvSpPr>
        <p:spPr>
          <a:xfrm>
            <a:off x="6858000" y="0"/>
            <a:ext cx="2286000" cy="5143500"/>
          </a:xfrm>
          <a:prstGeom prst="rect">
            <a:avLst/>
          </a:prstGeom>
          <a:solidFill>
            <a:srgbClr val="01362A">
              <a:alpha val="60000"/>
            </a:srgbClr>
          </a:solidFill>
          <a:ln/>
        </p:spPr>
        <p:txBody>
          <a:bodyPr/>
          <a:lstStyle/>
          <a:p>
            <a:endParaRPr lang="en-US"/>
          </a:p>
        </p:txBody>
      </p:sp>
      <p:sp>
        <p:nvSpPr>
          <p:cNvPr id="4" name="Text 2"/>
          <p:cNvSpPr/>
          <p:nvPr/>
        </p:nvSpPr>
        <p:spPr>
          <a:xfrm>
            <a:off x="640080" y="548640"/>
            <a:ext cx="5943600" cy="822960"/>
          </a:xfrm>
          <a:prstGeom prst="rect">
            <a:avLst/>
          </a:prstGeom>
          <a:noFill/>
          <a:ln/>
        </p:spPr>
        <p:txBody>
          <a:bodyPr wrap="square" rtlCol="0" anchor="ctr"/>
          <a:lstStyle/>
          <a:p>
            <a:pPr marL="0" indent="0">
              <a:buNone/>
            </a:pPr>
            <a:r>
              <a:rPr lang="en-US" sz="4800" b="1" kern="0" spc="400" dirty="0">
                <a:solidFill>
                  <a:srgbClr val="FFFFFF"/>
                </a:solidFill>
                <a:latin typeface="Open Sans" pitchFamily="34" charset="0"/>
                <a:ea typeface="Open Sans" pitchFamily="34" charset="-122"/>
                <a:cs typeface="Open Sans" pitchFamily="34" charset="-120"/>
              </a:rPr>
              <a:t>BUS-629</a:t>
            </a:r>
            <a:endParaRPr lang="en-US" sz="4800" dirty="0"/>
          </a:p>
        </p:txBody>
      </p:sp>
      <p:sp>
        <p:nvSpPr>
          <p:cNvPr id="5" name="Text 3"/>
          <p:cNvSpPr/>
          <p:nvPr/>
        </p:nvSpPr>
        <p:spPr>
          <a:xfrm>
            <a:off x="640080" y="1371600"/>
            <a:ext cx="5943600" cy="1097280"/>
          </a:xfrm>
          <a:prstGeom prst="rect">
            <a:avLst/>
          </a:prstGeom>
          <a:noFill/>
          <a:ln/>
        </p:spPr>
        <p:txBody>
          <a:bodyPr wrap="square" rtlCol="0" anchor="ctr"/>
          <a:lstStyle/>
          <a:p>
            <a:pPr marL="0" indent="0">
              <a:buNone/>
            </a:pPr>
            <a:r>
              <a:rPr lang="en-US" sz="3200" b="1" dirty="0">
                <a:solidFill>
                  <a:srgbClr val="B8DDD1"/>
                </a:solidFill>
                <a:latin typeface="Open Sans" pitchFamily="34" charset="0"/>
                <a:ea typeface="Open Sans" pitchFamily="34" charset="-122"/>
                <a:cs typeface="Open Sans" pitchFamily="34" charset="-120"/>
              </a:rPr>
              <a:t>Accounting &amp;</a:t>
            </a:r>
            <a:endParaRPr lang="en-US" sz="3200" dirty="0"/>
          </a:p>
          <a:p>
            <a:pPr marL="0" indent="0">
              <a:buNone/>
            </a:pPr>
            <a:r>
              <a:rPr lang="en-US" sz="3200" b="1" dirty="0">
                <a:solidFill>
                  <a:srgbClr val="B8DDD1"/>
                </a:solidFill>
                <a:latin typeface="Open Sans" pitchFamily="34" charset="0"/>
                <a:ea typeface="Open Sans" pitchFamily="34" charset="-122"/>
                <a:cs typeface="Open Sans" pitchFamily="34" charset="-120"/>
              </a:rPr>
              <a:t>Performance Ratios</a:t>
            </a:r>
            <a:endParaRPr lang="en-US" sz="3200" dirty="0"/>
          </a:p>
        </p:txBody>
      </p:sp>
      <p:sp>
        <p:nvSpPr>
          <p:cNvPr id="6" name="Text 4"/>
          <p:cNvSpPr/>
          <p:nvPr/>
        </p:nvSpPr>
        <p:spPr>
          <a:xfrm>
            <a:off x="640080" y="2560320"/>
            <a:ext cx="5943600" cy="548640"/>
          </a:xfrm>
          <a:prstGeom prst="rect">
            <a:avLst/>
          </a:prstGeom>
          <a:noFill/>
          <a:ln/>
        </p:spPr>
        <p:txBody>
          <a:bodyPr wrap="square" rtlCol="0" anchor="ctr"/>
          <a:lstStyle/>
          <a:p>
            <a:pPr marL="0" indent="0">
              <a:buNone/>
            </a:pPr>
            <a:r>
              <a:rPr lang="en-US" sz="2000" i="1" dirty="0">
                <a:solidFill>
                  <a:srgbClr val="4DA78F"/>
                </a:solidFill>
                <a:latin typeface="Open Sans" pitchFamily="34" charset="0"/>
                <a:ea typeface="Open Sans" pitchFamily="34" charset="-122"/>
                <a:cs typeface="Open Sans" pitchFamily="34" charset="-120"/>
              </a:rPr>
              <a:t>Spec-Driven Design Project Using GitHub &amp; AI</a:t>
            </a:r>
            <a:endParaRPr lang="en-US" sz="2000" dirty="0"/>
          </a:p>
        </p:txBody>
      </p:sp>
      <p:sp>
        <p:nvSpPr>
          <p:cNvPr id="7" name="Shape 5"/>
          <p:cNvSpPr/>
          <p:nvPr/>
        </p:nvSpPr>
        <p:spPr>
          <a:xfrm>
            <a:off x="640080" y="3474720"/>
            <a:ext cx="411480" cy="411480"/>
          </a:xfrm>
          <a:prstGeom prst="ellipse">
            <a:avLst/>
          </a:prstGeom>
          <a:solidFill>
            <a:srgbClr val="4DA78F"/>
          </a:solidFill>
          <a:ln/>
        </p:spPr>
        <p:txBody>
          <a:bodyPr/>
          <a:lstStyle/>
          <a:p>
            <a:endParaRPr lang="en-US"/>
          </a:p>
        </p:txBody>
      </p:sp>
      <p:sp>
        <p:nvSpPr>
          <p:cNvPr id="8" name="Text 6"/>
          <p:cNvSpPr/>
          <p:nvPr/>
        </p:nvSpPr>
        <p:spPr>
          <a:xfrm>
            <a:off x="64008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0</a:t>
            </a:r>
            <a:endParaRPr lang="en-US" sz="1400" dirty="0"/>
          </a:p>
        </p:txBody>
      </p:sp>
      <p:sp>
        <p:nvSpPr>
          <p:cNvPr id="9" name="Text 7"/>
          <p:cNvSpPr/>
          <p:nvPr/>
        </p:nvSpPr>
        <p:spPr>
          <a:xfrm>
            <a:off x="45720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Setup</a:t>
            </a:r>
            <a:endParaRPr lang="en-US" sz="900" dirty="0"/>
          </a:p>
        </p:txBody>
      </p:sp>
      <p:sp>
        <p:nvSpPr>
          <p:cNvPr id="10" name="Shape 8"/>
          <p:cNvSpPr/>
          <p:nvPr/>
        </p:nvSpPr>
        <p:spPr>
          <a:xfrm>
            <a:off x="1097280" y="3680460"/>
            <a:ext cx="731520" cy="0"/>
          </a:xfrm>
          <a:prstGeom prst="line">
            <a:avLst/>
          </a:prstGeom>
          <a:noFill/>
          <a:ln w="19050">
            <a:solidFill>
              <a:srgbClr val="4DA78F"/>
            </a:solidFill>
            <a:prstDash val="dash"/>
          </a:ln>
        </p:spPr>
        <p:txBody>
          <a:bodyPr/>
          <a:lstStyle/>
          <a:p>
            <a:endParaRPr lang="en-US"/>
          </a:p>
        </p:txBody>
      </p:sp>
      <p:sp>
        <p:nvSpPr>
          <p:cNvPr id="11" name="Shape 9"/>
          <p:cNvSpPr/>
          <p:nvPr/>
        </p:nvSpPr>
        <p:spPr>
          <a:xfrm>
            <a:off x="1874520" y="3474720"/>
            <a:ext cx="411480" cy="411480"/>
          </a:xfrm>
          <a:prstGeom prst="ellipse">
            <a:avLst/>
          </a:prstGeom>
          <a:solidFill>
            <a:srgbClr val="4DA78F"/>
          </a:solidFill>
          <a:ln/>
        </p:spPr>
        <p:txBody>
          <a:bodyPr/>
          <a:lstStyle/>
          <a:p>
            <a:endParaRPr lang="en-US"/>
          </a:p>
        </p:txBody>
      </p:sp>
      <p:sp>
        <p:nvSpPr>
          <p:cNvPr id="12" name="Text 10"/>
          <p:cNvSpPr/>
          <p:nvPr/>
        </p:nvSpPr>
        <p:spPr>
          <a:xfrm>
            <a:off x="187452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1</a:t>
            </a:r>
            <a:endParaRPr lang="en-US" sz="1400" dirty="0"/>
          </a:p>
        </p:txBody>
      </p:sp>
      <p:sp>
        <p:nvSpPr>
          <p:cNvPr id="13" name="Text 11"/>
          <p:cNvSpPr/>
          <p:nvPr/>
        </p:nvSpPr>
        <p:spPr>
          <a:xfrm>
            <a:off x="169164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Build</a:t>
            </a:r>
            <a:endParaRPr lang="en-US" sz="900" dirty="0"/>
          </a:p>
        </p:txBody>
      </p:sp>
      <p:sp>
        <p:nvSpPr>
          <p:cNvPr id="14" name="Shape 12"/>
          <p:cNvSpPr/>
          <p:nvPr/>
        </p:nvSpPr>
        <p:spPr>
          <a:xfrm>
            <a:off x="2331720" y="3680460"/>
            <a:ext cx="731520" cy="0"/>
          </a:xfrm>
          <a:prstGeom prst="line">
            <a:avLst/>
          </a:prstGeom>
          <a:noFill/>
          <a:ln w="19050">
            <a:solidFill>
              <a:srgbClr val="4DA78F"/>
            </a:solidFill>
            <a:prstDash val="dash"/>
          </a:ln>
        </p:spPr>
        <p:txBody>
          <a:bodyPr/>
          <a:lstStyle/>
          <a:p>
            <a:endParaRPr lang="en-US"/>
          </a:p>
        </p:txBody>
      </p:sp>
      <p:sp>
        <p:nvSpPr>
          <p:cNvPr id="15" name="Shape 13"/>
          <p:cNvSpPr/>
          <p:nvPr/>
        </p:nvSpPr>
        <p:spPr>
          <a:xfrm>
            <a:off x="3108960" y="3474720"/>
            <a:ext cx="411480" cy="411480"/>
          </a:xfrm>
          <a:prstGeom prst="ellipse">
            <a:avLst/>
          </a:prstGeom>
          <a:solidFill>
            <a:srgbClr val="4DA78F"/>
          </a:solidFill>
          <a:ln/>
        </p:spPr>
        <p:txBody>
          <a:bodyPr/>
          <a:lstStyle/>
          <a:p>
            <a:endParaRPr lang="en-US"/>
          </a:p>
        </p:txBody>
      </p:sp>
      <p:sp>
        <p:nvSpPr>
          <p:cNvPr id="16" name="Text 14"/>
          <p:cNvSpPr/>
          <p:nvPr/>
        </p:nvSpPr>
        <p:spPr>
          <a:xfrm>
            <a:off x="310896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2</a:t>
            </a:r>
            <a:endParaRPr lang="en-US" sz="1400" dirty="0"/>
          </a:p>
        </p:txBody>
      </p:sp>
      <p:sp>
        <p:nvSpPr>
          <p:cNvPr id="17" name="Text 15"/>
          <p:cNvSpPr/>
          <p:nvPr/>
        </p:nvSpPr>
        <p:spPr>
          <a:xfrm>
            <a:off x="292608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Memo</a:t>
            </a:r>
            <a:endParaRPr lang="en-US" sz="900" dirty="0"/>
          </a:p>
        </p:txBody>
      </p:sp>
      <p:sp>
        <p:nvSpPr>
          <p:cNvPr id="18" name="Shape 16"/>
          <p:cNvSpPr/>
          <p:nvPr/>
        </p:nvSpPr>
        <p:spPr>
          <a:xfrm>
            <a:off x="3566160" y="3680460"/>
            <a:ext cx="731520" cy="0"/>
          </a:xfrm>
          <a:prstGeom prst="line">
            <a:avLst/>
          </a:prstGeom>
          <a:noFill/>
          <a:ln w="19050">
            <a:solidFill>
              <a:srgbClr val="4DA78F"/>
            </a:solidFill>
            <a:prstDash val="dash"/>
          </a:ln>
        </p:spPr>
        <p:txBody>
          <a:bodyPr/>
          <a:lstStyle/>
          <a:p>
            <a:endParaRPr lang="en-US"/>
          </a:p>
        </p:txBody>
      </p:sp>
      <p:sp>
        <p:nvSpPr>
          <p:cNvPr id="19" name="Shape 17"/>
          <p:cNvSpPr/>
          <p:nvPr/>
        </p:nvSpPr>
        <p:spPr>
          <a:xfrm>
            <a:off x="4343400" y="3474720"/>
            <a:ext cx="411480" cy="411480"/>
          </a:xfrm>
          <a:prstGeom prst="ellipse">
            <a:avLst/>
          </a:prstGeom>
          <a:solidFill>
            <a:srgbClr val="4DA78F"/>
          </a:solidFill>
          <a:ln/>
        </p:spPr>
        <p:txBody>
          <a:bodyPr/>
          <a:lstStyle/>
          <a:p>
            <a:endParaRPr lang="en-US"/>
          </a:p>
        </p:txBody>
      </p:sp>
      <p:sp>
        <p:nvSpPr>
          <p:cNvPr id="20" name="Text 18"/>
          <p:cNvSpPr/>
          <p:nvPr/>
        </p:nvSpPr>
        <p:spPr>
          <a:xfrm>
            <a:off x="434340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3</a:t>
            </a:r>
            <a:endParaRPr lang="en-US" sz="1400" dirty="0"/>
          </a:p>
        </p:txBody>
      </p:sp>
      <p:sp>
        <p:nvSpPr>
          <p:cNvPr id="21" name="Text 19"/>
          <p:cNvSpPr/>
          <p:nvPr/>
        </p:nvSpPr>
        <p:spPr>
          <a:xfrm>
            <a:off x="416052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Model</a:t>
            </a:r>
            <a:endParaRPr lang="en-US" sz="900" dirty="0"/>
          </a:p>
        </p:txBody>
      </p:sp>
      <p:sp>
        <p:nvSpPr>
          <p:cNvPr id="22" name="Shape 20"/>
          <p:cNvSpPr/>
          <p:nvPr/>
        </p:nvSpPr>
        <p:spPr>
          <a:xfrm>
            <a:off x="4800600" y="3680460"/>
            <a:ext cx="731520" cy="0"/>
          </a:xfrm>
          <a:prstGeom prst="line">
            <a:avLst/>
          </a:prstGeom>
          <a:noFill/>
          <a:ln w="19050">
            <a:solidFill>
              <a:srgbClr val="4DA78F"/>
            </a:solidFill>
            <a:prstDash val="dash"/>
          </a:ln>
        </p:spPr>
        <p:txBody>
          <a:bodyPr/>
          <a:lstStyle/>
          <a:p>
            <a:endParaRPr lang="en-US"/>
          </a:p>
        </p:txBody>
      </p:sp>
      <p:sp>
        <p:nvSpPr>
          <p:cNvPr id="23" name="Shape 21"/>
          <p:cNvSpPr/>
          <p:nvPr/>
        </p:nvSpPr>
        <p:spPr>
          <a:xfrm>
            <a:off x="5577840" y="3474720"/>
            <a:ext cx="411480" cy="411480"/>
          </a:xfrm>
          <a:prstGeom prst="ellipse">
            <a:avLst/>
          </a:prstGeom>
          <a:solidFill>
            <a:srgbClr val="C9A84C"/>
          </a:solidFill>
          <a:ln/>
        </p:spPr>
        <p:txBody>
          <a:bodyPr/>
          <a:lstStyle/>
          <a:p>
            <a:endParaRPr lang="en-US"/>
          </a:p>
        </p:txBody>
      </p:sp>
      <p:sp>
        <p:nvSpPr>
          <p:cNvPr id="24" name="Text 22"/>
          <p:cNvSpPr/>
          <p:nvPr/>
        </p:nvSpPr>
        <p:spPr>
          <a:xfrm>
            <a:off x="557784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4</a:t>
            </a:r>
            <a:endParaRPr lang="en-US" sz="1400" dirty="0"/>
          </a:p>
        </p:txBody>
      </p:sp>
      <p:sp>
        <p:nvSpPr>
          <p:cNvPr id="25" name="Text 23"/>
          <p:cNvSpPr/>
          <p:nvPr/>
        </p:nvSpPr>
        <p:spPr>
          <a:xfrm>
            <a:off x="539496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Spec</a:t>
            </a:r>
            <a:endParaRPr lang="en-US" sz="900" dirty="0"/>
          </a:p>
        </p:txBody>
      </p:sp>
      <p:sp>
        <p:nvSpPr>
          <p:cNvPr id="26" name="Shape 24"/>
          <p:cNvSpPr/>
          <p:nvPr/>
        </p:nvSpPr>
        <p:spPr>
          <a:xfrm>
            <a:off x="6035040" y="3680460"/>
            <a:ext cx="731520" cy="0"/>
          </a:xfrm>
          <a:prstGeom prst="line">
            <a:avLst/>
          </a:prstGeom>
          <a:noFill/>
          <a:ln w="19050">
            <a:solidFill>
              <a:srgbClr val="4DA78F"/>
            </a:solidFill>
            <a:prstDash val="dash"/>
          </a:ln>
        </p:spPr>
        <p:txBody>
          <a:bodyPr/>
          <a:lstStyle/>
          <a:p>
            <a:endParaRPr lang="en-US"/>
          </a:p>
        </p:txBody>
      </p:sp>
      <p:sp>
        <p:nvSpPr>
          <p:cNvPr id="27" name="Shape 25"/>
          <p:cNvSpPr/>
          <p:nvPr/>
        </p:nvSpPr>
        <p:spPr>
          <a:xfrm>
            <a:off x="6812280" y="3474720"/>
            <a:ext cx="411480" cy="411480"/>
          </a:xfrm>
          <a:prstGeom prst="ellipse">
            <a:avLst/>
          </a:prstGeom>
          <a:solidFill>
            <a:srgbClr val="4DA78F"/>
          </a:solidFill>
          <a:ln/>
        </p:spPr>
        <p:txBody>
          <a:bodyPr/>
          <a:lstStyle/>
          <a:p>
            <a:endParaRPr lang="en-US"/>
          </a:p>
        </p:txBody>
      </p:sp>
      <p:sp>
        <p:nvSpPr>
          <p:cNvPr id="28" name="Text 26"/>
          <p:cNvSpPr/>
          <p:nvPr/>
        </p:nvSpPr>
        <p:spPr>
          <a:xfrm>
            <a:off x="681228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5</a:t>
            </a:r>
            <a:endParaRPr lang="en-US" sz="1400" dirty="0"/>
          </a:p>
        </p:txBody>
      </p:sp>
      <p:sp>
        <p:nvSpPr>
          <p:cNvPr id="29" name="Text 27"/>
          <p:cNvSpPr/>
          <p:nvPr/>
        </p:nvSpPr>
        <p:spPr>
          <a:xfrm>
            <a:off x="662940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Evaluate</a:t>
            </a:r>
            <a:endParaRPr lang="en-US" sz="900" dirty="0"/>
          </a:p>
        </p:txBody>
      </p:sp>
      <p:sp>
        <p:nvSpPr>
          <p:cNvPr id="30" name="Text 28"/>
          <p:cNvSpPr/>
          <p:nvPr/>
        </p:nvSpPr>
        <p:spPr>
          <a:xfrm>
            <a:off x="640080" y="4663440"/>
            <a:ext cx="7772400" cy="274320"/>
          </a:xfrm>
          <a:prstGeom prst="rect">
            <a:avLst/>
          </a:prstGeom>
          <a:noFill/>
          <a:ln/>
        </p:spPr>
        <p:txBody>
          <a:bodyPr wrap="square"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Adam W. Stauffer  |  Shidler College of Business  |  University of Hawaiʻi at Mānoa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502920"/>
          </a:xfrm>
          <a:prstGeom prst="rect">
            <a:avLst/>
          </a:prstGeom>
          <a:noFill/>
        </p:spPr>
        <p:txBody>
          <a:bodyPr wrap="square" lIns="0" tIns="0" rIns="0" bIns="0" anchor="t">
            <a:spAutoFit/>
          </a:bodyPr>
          <a:lstStyle/>
          <a:p>
            <a:pPr algn="l"/>
            <a:r>
              <a:rPr sz="2800" b="1">
                <a:solidFill>
                  <a:srgbClr val="024731"/>
                </a:solidFill>
                <a:latin typeface="Open Sans"/>
              </a:rPr>
              <a:t>Contents</a:t>
            </a:r>
          </a:p>
        </p:txBody>
      </p:sp>
      <p:sp>
        <p:nvSpPr>
          <p:cNvPr id="4" name="TextBox 3"/>
          <p:cNvSpPr txBox="1"/>
          <p:nvPr/>
        </p:nvSpPr>
        <p:spPr>
          <a:xfrm>
            <a:off x="457200" y="841248"/>
            <a:ext cx="8229600" cy="320040"/>
          </a:xfrm>
          <a:prstGeom prst="rect">
            <a:avLst/>
          </a:prstGeom>
          <a:noFill/>
        </p:spPr>
        <p:txBody>
          <a:bodyPr wrap="square" lIns="0" tIns="0" rIns="0" bIns="0" anchor="t">
            <a:spAutoFit/>
          </a:bodyPr>
          <a:lstStyle/>
          <a:p>
            <a:pPr algn="l"/>
            <a:r>
              <a:rPr sz="1200" b="0">
                <a:solidFill>
                  <a:srgbClr val="555555"/>
                </a:solidFill>
                <a:latin typeface="Open Sans"/>
              </a:rPr>
              <a:t>Use this map to navigate the deck. Page numbers point at the start of each section.</a:t>
            </a:r>
          </a:p>
        </p:txBody>
      </p:sp>
      <p:sp>
        <p:nvSpPr>
          <p:cNvPr id="5" name="TextBox 4"/>
          <p:cNvSpPr txBox="1"/>
          <p:nvPr/>
        </p:nvSpPr>
        <p:spPr>
          <a:xfrm>
            <a:off x="457200" y="4818888"/>
            <a:ext cx="8229600" cy="228600"/>
          </a:xfrm>
          <a:prstGeom prst="rect">
            <a:avLst/>
          </a:prstGeom>
          <a:noFill/>
        </p:spPr>
        <p:txBody>
          <a:bodyPr wrap="square" lIns="0" tIns="0" rIns="0" bIns="0" anchor="t">
            <a:spAutoFit/>
          </a:bodyPr>
          <a:lstStyle/>
          <a:p>
            <a:pPr algn="l"/>
            <a:r>
              <a:rPr sz="900" b="0">
                <a:solidFill>
                  <a:srgbClr val="555555"/>
                </a:solidFill>
                <a:latin typeface="Open Sans"/>
              </a:rPr>
              <a:t>BUS-629  |  AI Ratios Project  |  Shidler College of Business</a:t>
            </a:r>
          </a:p>
        </p:txBody>
      </p:sp>
      <p:sp>
        <p:nvSpPr>
          <p:cNvPr id="6" name="Rounded Rectangle 5"/>
          <p:cNvSpPr/>
          <p:nvPr/>
        </p:nvSpPr>
        <p:spPr>
          <a:xfrm>
            <a:off x="457200" y="1325880"/>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p.3</a:t>
            </a:r>
          </a:p>
        </p:txBody>
      </p:sp>
      <p:sp>
        <p:nvSpPr>
          <p:cNvPr id="7" name="TextBox 6"/>
          <p:cNvSpPr txBox="1"/>
          <p:nvPr/>
        </p:nvSpPr>
        <p:spPr>
          <a:xfrm>
            <a:off x="1051560" y="1362456"/>
            <a:ext cx="3520440" cy="184666"/>
          </a:xfrm>
          <a:prstGeom prst="rect">
            <a:avLst/>
          </a:prstGeom>
          <a:noFill/>
        </p:spPr>
        <p:txBody>
          <a:bodyPr wrap="square" lIns="0" tIns="0" rIns="0" bIns="0" anchor="t">
            <a:spAutoFit/>
          </a:bodyPr>
          <a:lstStyle/>
          <a:p>
            <a:pPr algn="l"/>
            <a:r>
              <a:rPr sz="1200" b="0">
                <a:solidFill>
                  <a:srgbClr val="0D0D0D"/>
                </a:solidFill>
                <a:latin typeface="Open Sans"/>
              </a:rPr>
              <a:t>Why this project matters</a:t>
            </a:r>
          </a:p>
        </p:txBody>
      </p:sp>
      <p:sp>
        <p:nvSpPr>
          <p:cNvPr id="8" name="Rounded Rectangle 7"/>
          <p:cNvSpPr/>
          <p:nvPr/>
        </p:nvSpPr>
        <p:spPr>
          <a:xfrm>
            <a:off x="457200" y="1719072"/>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p.4</a:t>
            </a:r>
          </a:p>
        </p:txBody>
      </p:sp>
      <p:sp>
        <p:nvSpPr>
          <p:cNvPr id="9" name="TextBox 8"/>
          <p:cNvSpPr txBox="1"/>
          <p:nvPr/>
        </p:nvSpPr>
        <p:spPr>
          <a:xfrm>
            <a:off x="1051560" y="1755648"/>
            <a:ext cx="3520440" cy="184666"/>
          </a:xfrm>
          <a:prstGeom prst="rect">
            <a:avLst/>
          </a:prstGeom>
          <a:noFill/>
        </p:spPr>
        <p:txBody>
          <a:bodyPr wrap="square" lIns="0" tIns="0" rIns="0" bIns="0" anchor="t">
            <a:spAutoFit/>
          </a:bodyPr>
          <a:lstStyle/>
          <a:p>
            <a:pPr algn="l"/>
            <a:r>
              <a:rPr sz="1200" b="0">
                <a:solidFill>
                  <a:srgbClr val="0D0D0D"/>
                </a:solidFill>
                <a:latin typeface="Open Sans"/>
              </a:rPr>
              <a:t>Project overview — Six Stages</a:t>
            </a:r>
          </a:p>
        </p:txBody>
      </p:sp>
      <p:sp>
        <p:nvSpPr>
          <p:cNvPr id="10" name="Rounded Rectangle 9"/>
          <p:cNvSpPr/>
          <p:nvPr/>
        </p:nvSpPr>
        <p:spPr>
          <a:xfrm>
            <a:off x="457200" y="2112264"/>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p.5</a:t>
            </a:r>
          </a:p>
        </p:txBody>
      </p:sp>
      <p:sp>
        <p:nvSpPr>
          <p:cNvPr id="11" name="TextBox 10"/>
          <p:cNvSpPr txBox="1"/>
          <p:nvPr/>
        </p:nvSpPr>
        <p:spPr>
          <a:xfrm>
            <a:off x="1051560" y="2148840"/>
            <a:ext cx="3520440" cy="184666"/>
          </a:xfrm>
          <a:prstGeom prst="rect">
            <a:avLst/>
          </a:prstGeom>
          <a:noFill/>
        </p:spPr>
        <p:txBody>
          <a:bodyPr wrap="square" lIns="0" tIns="0" rIns="0" bIns="0" anchor="t">
            <a:spAutoFit/>
          </a:bodyPr>
          <a:lstStyle/>
          <a:p>
            <a:pPr algn="l"/>
            <a:r>
              <a:rPr sz="1200" b="0">
                <a:solidFill>
                  <a:srgbClr val="0D0D0D"/>
                </a:solidFill>
                <a:latin typeface="Open Sans"/>
              </a:rPr>
              <a:t>The spec-driven design arc</a:t>
            </a:r>
          </a:p>
        </p:txBody>
      </p:sp>
      <p:sp>
        <p:nvSpPr>
          <p:cNvPr id="12" name="Rounded Rectangle 11"/>
          <p:cNvSpPr/>
          <p:nvPr/>
        </p:nvSpPr>
        <p:spPr>
          <a:xfrm>
            <a:off x="457200" y="2505456"/>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p.6</a:t>
            </a:r>
          </a:p>
        </p:txBody>
      </p:sp>
      <p:sp>
        <p:nvSpPr>
          <p:cNvPr id="13" name="TextBox 12"/>
          <p:cNvSpPr txBox="1"/>
          <p:nvPr/>
        </p:nvSpPr>
        <p:spPr>
          <a:xfrm>
            <a:off x="1051560" y="2542032"/>
            <a:ext cx="3520440" cy="184666"/>
          </a:xfrm>
          <a:prstGeom prst="rect">
            <a:avLst/>
          </a:prstGeom>
          <a:noFill/>
        </p:spPr>
        <p:txBody>
          <a:bodyPr wrap="square" lIns="0" tIns="0" rIns="0" bIns="0" anchor="t">
            <a:spAutoFit/>
          </a:bodyPr>
          <a:lstStyle/>
          <a:p>
            <a:pPr algn="l"/>
            <a:r>
              <a:rPr sz="1200" b="0">
                <a:solidFill>
                  <a:srgbClr val="0D0D0D"/>
                </a:solidFill>
                <a:latin typeface="Open Sans"/>
              </a:rPr>
              <a:t>Career relevance</a:t>
            </a:r>
          </a:p>
        </p:txBody>
      </p:sp>
      <p:sp>
        <p:nvSpPr>
          <p:cNvPr id="14" name="Rounded Rectangle 13"/>
          <p:cNvSpPr/>
          <p:nvPr/>
        </p:nvSpPr>
        <p:spPr>
          <a:xfrm>
            <a:off x="457200" y="2898648"/>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p.7</a:t>
            </a:r>
          </a:p>
        </p:txBody>
      </p:sp>
      <p:sp>
        <p:nvSpPr>
          <p:cNvPr id="15" name="TextBox 14"/>
          <p:cNvSpPr txBox="1"/>
          <p:nvPr/>
        </p:nvSpPr>
        <p:spPr>
          <a:xfrm>
            <a:off x="1051560" y="2935224"/>
            <a:ext cx="3520440" cy="184666"/>
          </a:xfrm>
          <a:prstGeom prst="rect">
            <a:avLst/>
          </a:prstGeom>
          <a:noFill/>
        </p:spPr>
        <p:txBody>
          <a:bodyPr wrap="square" lIns="0" tIns="0" rIns="0" bIns="0" anchor="t">
            <a:spAutoFit/>
          </a:bodyPr>
          <a:lstStyle/>
          <a:p>
            <a:pPr algn="l"/>
            <a:r>
              <a:rPr sz="1200" b="0">
                <a:solidFill>
                  <a:srgbClr val="0D0D0D"/>
                </a:solidFill>
                <a:latin typeface="Open Sans"/>
              </a:rPr>
              <a:t>What is GitHub &amp; why it matters</a:t>
            </a:r>
          </a:p>
        </p:txBody>
      </p:sp>
      <p:sp>
        <p:nvSpPr>
          <p:cNvPr id="16" name="Rounded Rectangle 15"/>
          <p:cNvSpPr/>
          <p:nvPr/>
        </p:nvSpPr>
        <p:spPr>
          <a:xfrm>
            <a:off x="457200" y="3291840"/>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p.8</a:t>
            </a:r>
          </a:p>
        </p:txBody>
      </p:sp>
      <p:sp>
        <p:nvSpPr>
          <p:cNvPr id="17" name="TextBox 16"/>
          <p:cNvSpPr txBox="1"/>
          <p:nvPr/>
        </p:nvSpPr>
        <p:spPr>
          <a:xfrm>
            <a:off x="1051560" y="3328416"/>
            <a:ext cx="3520440" cy="184666"/>
          </a:xfrm>
          <a:prstGeom prst="rect">
            <a:avLst/>
          </a:prstGeom>
          <a:noFill/>
        </p:spPr>
        <p:txBody>
          <a:bodyPr wrap="square" lIns="0" tIns="0" rIns="0" bIns="0" anchor="t">
            <a:spAutoFit/>
          </a:bodyPr>
          <a:lstStyle/>
          <a:p>
            <a:pPr algn="l"/>
            <a:r>
              <a:rPr sz="1200" b="0">
                <a:solidFill>
                  <a:srgbClr val="0D0D0D"/>
                </a:solidFill>
                <a:latin typeface="Open Sans"/>
              </a:rPr>
              <a:t>Stage 0 — Repository setup</a:t>
            </a:r>
          </a:p>
        </p:txBody>
      </p:sp>
      <p:sp>
        <p:nvSpPr>
          <p:cNvPr id="18" name="Rounded Rectangle 17"/>
          <p:cNvSpPr/>
          <p:nvPr/>
        </p:nvSpPr>
        <p:spPr>
          <a:xfrm>
            <a:off x="457200" y="3685032"/>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p.15</a:t>
            </a:r>
          </a:p>
        </p:txBody>
      </p:sp>
      <p:sp>
        <p:nvSpPr>
          <p:cNvPr id="19" name="TextBox 18"/>
          <p:cNvSpPr txBox="1"/>
          <p:nvPr/>
        </p:nvSpPr>
        <p:spPr>
          <a:xfrm>
            <a:off x="1051560" y="3721608"/>
            <a:ext cx="3520440" cy="184666"/>
          </a:xfrm>
          <a:prstGeom prst="rect">
            <a:avLst/>
          </a:prstGeom>
          <a:noFill/>
        </p:spPr>
        <p:txBody>
          <a:bodyPr wrap="square" lIns="0" tIns="0" rIns="0" bIns="0" anchor="t">
            <a:spAutoFit/>
          </a:bodyPr>
          <a:lstStyle/>
          <a:p>
            <a:pPr algn="l"/>
            <a:r>
              <a:rPr sz="1200" b="0">
                <a:solidFill>
                  <a:srgbClr val="0D0D0D"/>
                </a:solidFill>
                <a:latin typeface="Open Sans"/>
              </a:rPr>
              <a:t>Stage 1 — Ratios template upload</a:t>
            </a:r>
          </a:p>
        </p:txBody>
      </p:sp>
      <p:sp>
        <p:nvSpPr>
          <p:cNvPr id="20" name="Rounded Rectangle 19"/>
          <p:cNvSpPr/>
          <p:nvPr/>
        </p:nvSpPr>
        <p:spPr>
          <a:xfrm>
            <a:off x="457200" y="4078224"/>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p.18</a:t>
            </a:r>
          </a:p>
        </p:txBody>
      </p:sp>
      <p:sp>
        <p:nvSpPr>
          <p:cNvPr id="21" name="TextBox 20"/>
          <p:cNvSpPr txBox="1"/>
          <p:nvPr/>
        </p:nvSpPr>
        <p:spPr>
          <a:xfrm>
            <a:off x="1051560" y="4114800"/>
            <a:ext cx="3520440" cy="184666"/>
          </a:xfrm>
          <a:prstGeom prst="rect">
            <a:avLst/>
          </a:prstGeom>
          <a:noFill/>
        </p:spPr>
        <p:txBody>
          <a:bodyPr wrap="square" lIns="0" tIns="0" rIns="0" bIns="0" anchor="t">
            <a:spAutoFit/>
          </a:bodyPr>
          <a:lstStyle/>
          <a:p>
            <a:pPr algn="l"/>
            <a:r>
              <a:rPr sz="1200" b="0">
                <a:solidFill>
                  <a:srgbClr val="0D0D0D"/>
                </a:solidFill>
                <a:latin typeface="Open Sans"/>
              </a:rPr>
              <a:t>Stage 2 — Company selection memo</a:t>
            </a:r>
          </a:p>
        </p:txBody>
      </p:sp>
      <p:sp>
        <p:nvSpPr>
          <p:cNvPr id="22" name="Rounded Rectangle 21"/>
          <p:cNvSpPr/>
          <p:nvPr/>
        </p:nvSpPr>
        <p:spPr>
          <a:xfrm>
            <a:off x="4709160" y="1325880"/>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p.21</a:t>
            </a:r>
          </a:p>
        </p:txBody>
      </p:sp>
      <p:sp>
        <p:nvSpPr>
          <p:cNvPr id="23" name="TextBox 22"/>
          <p:cNvSpPr txBox="1"/>
          <p:nvPr/>
        </p:nvSpPr>
        <p:spPr>
          <a:xfrm>
            <a:off x="5303520" y="1362456"/>
            <a:ext cx="3520440" cy="184666"/>
          </a:xfrm>
          <a:prstGeom prst="rect">
            <a:avLst/>
          </a:prstGeom>
          <a:noFill/>
        </p:spPr>
        <p:txBody>
          <a:bodyPr wrap="square" lIns="0" tIns="0" rIns="0" bIns="0" anchor="t">
            <a:spAutoFit/>
          </a:bodyPr>
          <a:lstStyle/>
          <a:p>
            <a:pPr algn="l"/>
            <a:r>
              <a:rPr sz="1200" b="0">
                <a:solidFill>
                  <a:srgbClr val="0D0D0D"/>
                </a:solidFill>
                <a:latin typeface="Open Sans"/>
              </a:rPr>
              <a:t>International scope — any public company</a:t>
            </a:r>
          </a:p>
        </p:txBody>
      </p:sp>
      <p:sp>
        <p:nvSpPr>
          <p:cNvPr id="24" name="Rounded Rectangle 23"/>
          <p:cNvSpPr/>
          <p:nvPr/>
        </p:nvSpPr>
        <p:spPr>
          <a:xfrm>
            <a:off x="4709160" y="1719072"/>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p.22</a:t>
            </a:r>
          </a:p>
        </p:txBody>
      </p:sp>
      <p:sp>
        <p:nvSpPr>
          <p:cNvPr id="25" name="TextBox 24"/>
          <p:cNvSpPr txBox="1"/>
          <p:nvPr/>
        </p:nvSpPr>
        <p:spPr>
          <a:xfrm>
            <a:off x="5303520" y="1755648"/>
            <a:ext cx="3520440" cy="184666"/>
          </a:xfrm>
          <a:prstGeom prst="rect">
            <a:avLst/>
          </a:prstGeom>
          <a:noFill/>
        </p:spPr>
        <p:txBody>
          <a:bodyPr wrap="square" lIns="0" tIns="0" rIns="0" bIns="0" anchor="t">
            <a:spAutoFit/>
          </a:bodyPr>
          <a:lstStyle/>
          <a:p>
            <a:pPr algn="l"/>
            <a:r>
              <a:rPr sz="1200" b="0">
                <a:solidFill>
                  <a:srgbClr val="0D0D0D"/>
                </a:solidFill>
                <a:latin typeface="Open Sans"/>
              </a:rPr>
              <a:t>Stage 3 — Model population &amp; validation</a:t>
            </a:r>
          </a:p>
        </p:txBody>
      </p:sp>
      <p:sp>
        <p:nvSpPr>
          <p:cNvPr id="26" name="Rounded Rectangle 25"/>
          <p:cNvSpPr/>
          <p:nvPr/>
        </p:nvSpPr>
        <p:spPr>
          <a:xfrm>
            <a:off x="4709160" y="2112264"/>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p.25</a:t>
            </a:r>
          </a:p>
        </p:txBody>
      </p:sp>
      <p:sp>
        <p:nvSpPr>
          <p:cNvPr id="27" name="TextBox 26"/>
          <p:cNvSpPr txBox="1"/>
          <p:nvPr/>
        </p:nvSpPr>
        <p:spPr>
          <a:xfrm>
            <a:off x="5303520" y="2148840"/>
            <a:ext cx="3520440" cy="184666"/>
          </a:xfrm>
          <a:prstGeom prst="rect">
            <a:avLst/>
          </a:prstGeom>
          <a:noFill/>
        </p:spPr>
        <p:txBody>
          <a:bodyPr wrap="square" lIns="0" tIns="0" rIns="0" bIns="0" anchor="t">
            <a:spAutoFit/>
          </a:bodyPr>
          <a:lstStyle/>
          <a:p>
            <a:pPr algn="l"/>
            <a:r>
              <a:rPr sz="1200" b="0">
                <a:solidFill>
                  <a:srgbClr val="0D0D0D"/>
                </a:solidFill>
                <a:latin typeface="Open Sans"/>
              </a:rPr>
              <a:t>Stage 4 — Technical specification</a:t>
            </a:r>
          </a:p>
        </p:txBody>
      </p:sp>
      <p:sp>
        <p:nvSpPr>
          <p:cNvPr id="28" name="Rounded Rectangle 27"/>
          <p:cNvSpPr/>
          <p:nvPr/>
        </p:nvSpPr>
        <p:spPr>
          <a:xfrm>
            <a:off x="4709160" y="2505456"/>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p.28</a:t>
            </a:r>
          </a:p>
        </p:txBody>
      </p:sp>
      <p:sp>
        <p:nvSpPr>
          <p:cNvPr id="29" name="TextBox 28"/>
          <p:cNvSpPr txBox="1"/>
          <p:nvPr/>
        </p:nvSpPr>
        <p:spPr>
          <a:xfrm>
            <a:off x="5303520" y="2542032"/>
            <a:ext cx="3520440" cy="184666"/>
          </a:xfrm>
          <a:prstGeom prst="rect">
            <a:avLst/>
          </a:prstGeom>
          <a:noFill/>
        </p:spPr>
        <p:txBody>
          <a:bodyPr wrap="square" lIns="0" tIns="0" rIns="0" bIns="0" anchor="t">
            <a:spAutoFit/>
          </a:bodyPr>
          <a:lstStyle/>
          <a:p>
            <a:pPr algn="l"/>
            <a:r>
              <a:rPr sz="1200" b="0">
                <a:solidFill>
                  <a:srgbClr val="0D0D0D"/>
                </a:solidFill>
                <a:latin typeface="Open Sans"/>
              </a:rPr>
              <a:t>Stage 5 — LLM analysis &amp; repo polish</a:t>
            </a:r>
          </a:p>
        </p:txBody>
      </p:sp>
      <p:sp>
        <p:nvSpPr>
          <p:cNvPr id="30" name="Rounded Rectangle 29"/>
          <p:cNvSpPr/>
          <p:nvPr/>
        </p:nvSpPr>
        <p:spPr>
          <a:xfrm>
            <a:off x="4709160" y="2898648"/>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p.31</a:t>
            </a:r>
          </a:p>
        </p:txBody>
      </p:sp>
      <p:sp>
        <p:nvSpPr>
          <p:cNvPr id="31" name="TextBox 30"/>
          <p:cNvSpPr txBox="1"/>
          <p:nvPr/>
        </p:nvSpPr>
        <p:spPr>
          <a:xfrm>
            <a:off x="5303520" y="2935224"/>
            <a:ext cx="3520440" cy="184666"/>
          </a:xfrm>
          <a:prstGeom prst="rect">
            <a:avLst/>
          </a:prstGeom>
          <a:noFill/>
        </p:spPr>
        <p:txBody>
          <a:bodyPr wrap="square" lIns="0" tIns="0" rIns="0" bIns="0" anchor="t">
            <a:spAutoFit/>
          </a:bodyPr>
          <a:lstStyle/>
          <a:p>
            <a:pPr algn="l"/>
            <a:r>
              <a:rPr sz="1200" b="0">
                <a:solidFill>
                  <a:srgbClr val="0D0D0D"/>
                </a:solidFill>
                <a:latin typeface="Open Sans"/>
              </a:rPr>
              <a:t>Appendix A — Using GitHub</a:t>
            </a:r>
          </a:p>
        </p:txBody>
      </p:sp>
      <p:sp>
        <p:nvSpPr>
          <p:cNvPr id="32" name="Rounded Rectangle 31"/>
          <p:cNvSpPr/>
          <p:nvPr/>
        </p:nvSpPr>
        <p:spPr>
          <a:xfrm>
            <a:off x="4709160" y="3291840"/>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p.33</a:t>
            </a:r>
          </a:p>
        </p:txBody>
      </p:sp>
      <p:sp>
        <p:nvSpPr>
          <p:cNvPr id="33" name="TextBox 32"/>
          <p:cNvSpPr txBox="1"/>
          <p:nvPr/>
        </p:nvSpPr>
        <p:spPr>
          <a:xfrm>
            <a:off x="5303520" y="3328416"/>
            <a:ext cx="3520440" cy="184666"/>
          </a:xfrm>
          <a:prstGeom prst="rect">
            <a:avLst/>
          </a:prstGeom>
          <a:noFill/>
        </p:spPr>
        <p:txBody>
          <a:bodyPr wrap="square" lIns="0" tIns="0" rIns="0" bIns="0" anchor="t">
            <a:spAutoFit/>
          </a:bodyPr>
          <a:lstStyle/>
          <a:p>
            <a:pPr algn="l"/>
            <a:r>
              <a:rPr sz="1200" b="0">
                <a:solidFill>
                  <a:srgbClr val="0D0D0D"/>
                </a:solidFill>
                <a:latin typeface="Open Sans"/>
              </a:rPr>
              <a:t>Quick reference cheat sheet</a:t>
            </a:r>
          </a:p>
        </p:txBody>
      </p:sp>
      <p:sp>
        <p:nvSpPr>
          <p:cNvPr id="34" name="Rounded Rectangle 33"/>
          <p:cNvSpPr/>
          <p:nvPr/>
        </p:nvSpPr>
        <p:spPr>
          <a:xfrm>
            <a:off x="4709160" y="3685032"/>
            <a:ext cx="502920" cy="292608"/>
          </a:xfrm>
          <a:prstGeom prst="round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Open Sans"/>
              </a:rPr>
              <a:t>p.34</a:t>
            </a:r>
          </a:p>
        </p:txBody>
      </p:sp>
      <p:sp>
        <p:nvSpPr>
          <p:cNvPr id="35" name="TextBox 34"/>
          <p:cNvSpPr txBox="1"/>
          <p:nvPr/>
        </p:nvSpPr>
        <p:spPr>
          <a:xfrm>
            <a:off x="5303520" y="3721608"/>
            <a:ext cx="3520440" cy="184666"/>
          </a:xfrm>
          <a:prstGeom prst="rect">
            <a:avLst/>
          </a:prstGeom>
          <a:noFill/>
        </p:spPr>
        <p:txBody>
          <a:bodyPr wrap="square" lIns="0" tIns="0" rIns="0" bIns="0" anchor="t">
            <a:spAutoFit/>
          </a:bodyPr>
          <a:lstStyle/>
          <a:p>
            <a:pPr algn="l"/>
            <a:r>
              <a:rPr sz="1200" b="0">
                <a:solidFill>
                  <a:srgbClr val="0D0D0D"/>
                </a:solidFill>
                <a:latin typeface="Open Sans"/>
              </a:rPr>
              <a:t>Appendix B — Using Claude</a:t>
            </a:r>
          </a:p>
        </p:txBody>
      </p:sp>
    </p:spTree>
    <p:extLst>
      <p:ext uri="{BB962C8B-B14F-4D97-AF65-F5344CB8AC3E}">
        <p14:creationId xmlns:p14="http://schemas.microsoft.com/office/powerpoint/2010/main" val="1381656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594360"/>
          </a:xfrm>
          <a:prstGeom prst="rect">
            <a:avLst/>
          </a:prstGeom>
          <a:noFill/>
          <a:ln/>
        </p:spPr>
        <p:txBody>
          <a:bodyPr wrap="square" lIns="0" tIns="0" rIns="0" bIns="0" rtlCol="0" anchor="ctr"/>
          <a:lstStyle/>
          <a:p>
            <a:pPr marL="0" indent="0">
              <a:buNone/>
            </a:pPr>
            <a:r>
              <a:rPr lang="en-US" sz="3000" b="1" dirty="0">
                <a:solidFill>
                  <a:srgbClr val="024731"/>
                </a:solidFill>
                <a:latin typeface="Open Sans" pitchFamily="34" charset="0"/>
                <a:ea typeface="Open Sans" pitchFamily="34" charset="-122"/>
                <a:cs typeface="Open Sans" pitchFamily="34" charset="-120"/>
              </a:rPr>
              <a:t>Why This Project Matters</a:t>
            </a:r>
            <a:endParaRPr lang="en-US" sz="3000" dirty="0"/>
          </a:p>
        </p:txBody>
      </p:sp>
      <p:sp>
        <p:nvSpPr>
          <p:cNvPr id="3" name="Text 1"/>
          <p:cNvSpPr/>
          <p:nvPr/>
        </p:nvSpPr>
        <p:spPr>
          <a:xfrm>
            <a:off x="548640" y="960120"/>
            <a:ext cx="8046720" cy="548640"/>
          </a:xfrm>
          <a:prstGeom prst="rect">
            <a:avLst/>
          </a:prstGeom>
          <a:noFill/>
          <a:ln/>
        </p:spPr>
        <p:txBody>
          <a:bodyPr wrap="square" rtlCol="0" anchor="ctr"/>
          <a:lstStyle/>
          <a:p>
            <a:pPr marL="0" indent="0">
              <a:buNone/>
            </a:pPr>
            <a:r>
              <a:rPr lang="en-US" sz="1200" dirty="0">
                <a:solidFill>
                  <a:srgbClr val="6B7280"/>
                </a:solidFill>
                <a:latin typeface="Open Sans" pitchFamily="34" charset="0"/>
                <a:ea typeface="Open Sans" pitchFamily="34" charset="-122"/>
                <a:cs typeface="Open Sans" pitchFamily="34" charset="-120"/>
              </a:rPr>
              <a:t>This project teaches you to specify analytical work precisely enough that any competent executor — human or AI — can produce correct output. That is a more valuable skill than doing the analysis yourself.</a:t>
            </a:r>
            <a:endParaRPr lang="en-US" sz="1200" dirty="0"/>
          </a:p>
        </p:txBody>
      </p:sp>
      <p:sp>
        <p:nvSpPr>
          <p:cNvPr id="4" name="Shape 2"/>
          <p:cNvSpPr/>
          <p:nvPr/>
        </p:nvSpPr>
        <p:spPr>
          <a:xfrm>
            <a:off x="548640" y="173736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5" name="Shape 3"/>
          <p:cNvSpPr/>
          <p:nvPr/>
        </p:nvSpPr>
        <p:spPr>
          <a:xfrm>
            <a:off x="548640" y="1737360"/>
            <a:ext cx="54864" cy="1280160"/>
          </a:xfrm>
          <a:prstGeom prst="rect">
            <a:avLst/>
          </a:prstGeom>
          <a:solidFill>
            <a:srgbClr val="024731"/>
          </a:solidFill>
          <a:ln/>
        </p:spPr>
        <p:txBody>
          <a:bodyPr/>
          <a:lstStyle/>
          <a:p>
            <a:endParaRPr lang="en-US"/>
          </a:p>
        </p:txBody>
      </p:sp>
      <p:sp>
        <p:nvSpPr>
          <p:cNvPr id="6" name="Shape 4"/>
          <p:cNvSpPr/>
          <p:nvPr/>
        </p:nvSpPr>
        <p:spPr>
          <a:xfrm>
            <a:off x="777240" y="1965960"/>
            <a:ext cx="457200" cy="457200"/>
          </a:xfrm>
          <a:prstGeom prst="ellipse">
            <a:avLst/>
          </a:prstGeom>
          <a:solidFill>
            <a:srgbClr val="E6F2E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77824" y="2066544"/>
            <a:ext cx="256032" cy="256032"/>
          </a:xfrm>
          <a:prstGeom prst="rect">
            <a:avLst/>
          </a:prstGeom>
        </p:spPr>
      </p:pic>
      <p:sp>
        <p:nvSpPr>
          <p:cNvPr id="8" name="Text 5"/>
          <p:cNvSpPr/>
          <p:nvPr/>
        </p:nvSpPr>
        <p:spPr>
          <a:xfrm>
            <a:off x="1371600" y="192024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Spec-Driven Design</a:t>
            </a:r>
            <a:endParaRPr lang="en-US" sz="1400" dirty="0"/>
          </a:p>
        </p:txBody>
      </p:sp>
      <p:sp>
        <p:nvSpPr>
          <p:cNvPr id="9" name="Text 6"/>
          <p:cNvSpPr/>
          <p:nvPr/>
        </p:nvSpPr>
        <p:spPr>
          <a:xfrm>
            <a:off x="1371600" y="224028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Write specifications precise enough to delegate. The spec is the central artifact — not the spreadsheet, not the prompt.</a:t>
            </a:r>
            <a:endParaRPr lang="en-US" sz="1000" dirty="0"/>
          </a:p>
        </p:txBody>
      </p:sp>
      <p:sp>
        <p:nvSpPr>
          <p:cNvPr id="10" name="Shape 7"/>
          <p:cNvSpPr/>
          <p:nvPr/>
        </p:nvSpPr>
        <p:spPr>
          <a:xfrm>
            <a:off x="4754880" y="173736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1" name="Shape 8"/>
          <p:cNvSpPr/>
          <p:nvPr/>
        </p:nvSpPr>
        <p:spPr>
          <a:xfrm>
            <a:off x="4754880" y="1737360"/>
            <a:ext cx="54864" cy="1280160"/>
          </a:xfrm>
          <a:prstGeom prst="rect">
            <a:avLst/>
          </a:prstGeom>
          <a:solidFill>
            <a:srgbClr val="024731"/>
          </a:solidFill>
          <a:ln/>
        </p:spPr>
        <p:txBody>
          <a:bodyPr/>
          <a:lstStyle/>
          <a:p>
            <a:endParaRPr lang="en-US"/>
          </a:p>
        </p:txBody>
      </p:sp>
      <p:sp>
        <p:nvSpPr>
          <p:cNvPr id="12" name="Shape 9"/>
          <p:cNvSpPr/>
          <p:nvPr/>
        </p:nvSpPr>
        <p:spPr>
          <a:xfrm>
            <a:off x="4983480" y="1965960"/>
            <a:ext cx="457200" cy="457200"/>
          </a:xfrm>
          <a:prstGeom prst="ellipse">
            <a:avLst/>
          </a:prstGeom>
          <a:solidFill>
            <a:srgbClr val="E6F2E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84064" y="2066544"/>
            <a:ext cx="256032" cy="256032"/>
          </a:xfrm>
          <a:prstGeom prst="rect">
            <a:avLst/>
          </a:prstGeom>
        </p:spPr>
      </p:pic>
      <p:sp>
        <p:nvSpPr>
          <p:cNvPr id="14" name="Text 10"/>
          <p:cNvSpPr/>
          <p:nvPr/>
        </p:nvSpPr>
        <p:spPr>
          <a:xfrm>
            <a:off x="5577840" y="192024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Real-World Skills</a:t>
            </a:r>
            <a:endParaRPr lang="en-US" sz="1400" dirty="0"/>
          </a:p>
        </p:txBody>
      </p:sp>
      <p:sp>
        <p:nvSpPr>
          <p:cNvPr id="15" name="Text 11"/>
          <p:cNvSpPr/>
          <p:nvPr/>
        </p:nvSpPr>
        <p:spPr>
          <a:xfrm>
            <a:off x="5577840" y="224028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Build financial models, validate data, interpret ratios. The same workflow used by FP&amp;A analysts, equity researchers, and auditors.</a:t>
            </a:r>
            <a:endParaRPr lang="en-US" sz="1000" dirty="0"/>
          </a:p>
        </p:txBody>
      </p:sp>
      <p:sp>
        <p:nvSpPr>
          <p:cNvPr id="16" name="Shape 12"/>
          <p:cNvSpPr/>
          <p:nvPr/>
        </p:nvSpPr>
        <p:spPr>
          <a:xfrm>
            <a:off x="548640" y="320040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7" name="Shape 13"/>
          <p:cNvSpPr/>
          <p:nvPr/>
        </p:nvSpPr>
        <p:spPr>
          <a:xfrm>
            <a:off x="548640" y="3200400"/>
            <a:ext cx="54864" cy="1280160"/>
          </a:xfrm>
          <a:prstGeom prst="rect">
            <a:avLst/>
          </a:prstGeom>
          <a:solidFill>
            <a:srgbClr val="024731"/>
          </a:solidFill>
          <a:ln/>
        </p:spPr>
        <p:txBody>
          <a:bodyPr/>
          <a:lstStyle/>
          <a:p>
            <a:endParaRPr lang="en-US"/>
          </a:p>
        </p:txBody>
      </p:sp>
      <p:sp>
        <p:nvSpPr>
          <p:cNvPr id="18" name="Shape 14"/>
          <p:cNvSpPr/>
          <p:nvPr/>
        </p:nvSpPr>
        <p:spPr>
          <a:xfrm>
            <a:off x="777240" y="3429000"/>
            <a:ext cx="457200" cy="457200"/>
          </a:xfrm>
          <a:prstGeom prst="ellipse">
            <a:avLst/>
          </a:prstGeom>
          <a:solidFill>
            <a:srgbClr val="E6F2EF"/>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77824" y="3529584"/>
            <a:ext cx="256032" cy="256032"/>
          </a:xfrm>
          <a:prstGeom prst="rect">
            <a:avLst/>
          </a:prstGeom>
        </p:spPr>
      </p:pic>
      <p:sp>
        <p:nvSpPr>
          <p:cNvPr id="20" name="Text 15"/>
          <p:cNvSpPr/>
          <p:nvPr/>
        </p:nvSpPr>
        <p:spPr>
          <a:xfrm>
            <a:off x="1371600" y="338328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Critical AI Literacy</a:t>
            </a:r>
            <a:endParaRPr lang="en-US" sz="1400" dirty="0"/>
          </a:p>
        </p:txBody>
      </p:sp>
      <p:sp>
        <p:nvSpPr>
          <p:cNvPr id="21" name="Text 16"/>
          <p:cNvSpPr/>
          <p:nvPr/>
        </p:nvSpPr>
        <p:spPr>
          <a:xfrm>
            <a:off x="1371600" y="370332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Don’t just use AI — evaluate its output. Identify what it gets right, what it misses, and what only a human expert catches.</a:t>
            </a:r>
            <a:endParaRPr lang="en-US" sz="1000" dirty="0"/>
          </a:p>
        </p:txBody>
      </p:sp>
      <p:sp>
        <p:nvSpPr>
          <p:cNvPr id="22" name="Shape 17"/>
          <p:cNvSpPr/>
          <p:nvPr/>
        </p:nvSpPr>
        <p:spPr>
          <a:xfrm>
            <a:off x="4754880" y="320040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23" name="Shape 18"/>
          <p:cNvSpPr/>
          <p:nvPr/>
        </p:nvSpPr>
        <p:spPr>
          <a:xfrm>
            <a:off x="4754880" y="3200400"/>
            <a:ext cx="54864" cy="1280160"/>
          </a:xfrm>
          <a:prstGeom prst="rect">
            <a:avLst/>
          </a:prstGeom>
          <a:solidFill>
            <a:srgbClr val="024731"/>
          </a:solidFill>
          <a:ln/>
        </p:spPr>
        <p:txBody>
          <a:bodyPr/>
          <a:lstStyle/>
          <a:p>
            <a:endParaRPr lang="en-US"/>
          </a:p>
        </p:txBody>
      </p:sp>
      <p:sp>
        <p:nvSpPr>
          <p:cNvPr id="24" name="Shape 19"/>
          <p:cNvSpPr/>
          <p:nvPr/>
        </p:nvSpPr>
        <p:spPr>
          <a:xfrm>
            <a:off x="4983480" y="3429000"/>
            <a:ext cx="457200" cy="457200"/>
          </a:xfrm>
          <a:prstGeom prst="ellipse">
            <a:avLst/>
          </a:prstGeom>
          <a:solidFill>
            <a:srgbClr val="E6F2EF"/>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084064" y="3529584"/>
            <a:ext cx="256032" cy="256032"/>
          </a:xfrm>
          <a:prstGeom prst="rect">
            <a:avLst/>
          </a:prstGeom>
        </p:spPr>
      </p:pic>
      <p:sp>
        <p:nvSpPr>
          <p:cNvPr id="26" name="Text 20"/>
          <p:cNvSpPr/>
          <p:nvPr/>
        </p:nvSpPr>
        <p:spPr>
          <a:xfrm>
            <a:off x="5577840" y="338328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Portfolio Artifact</a:t>
            </a:r>
            <a:endParaRPr lang="en-US" sz="1400" dirty="0"/>
          </a:p>
        </p:txBody>
      </p:sp>
      <p:sp>
        <p:nvSpPr>
          <p:cNvPr id="27" name="Text 21"/>
          <p:cNvSpPr/>
          <p:nvPr/>
        </p:nvSpPr>
        <p:spPr>
          <a:xfrm>
            <a:off x="5577840" y="370332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A six-stage deliverable for interviews: repo setup, model, memo, spec, LLM analysis, and executive evaluation.</a:t>
            </a:r>
            <a:endParaRPr lang="en-US" sz="1000" dirty="0"/>
          </a:p>
        </p:txBody>
      </p:sp>
      <p:sp>
        <p:nvSpPr>
          <p:cNvPr id="28" name="Text 22"/>
          <p:cNvSpPr/>
          <p:nvPr/>
        </p:nvSpPr>
        <p:spPr>
          <a:xfrm>
            <a:off x="548640" y="4617720"/>
            <a:ext cx="8046720" cy="365760"/>
          </a:xfrm>
          <a:prstGeom prst="rect">
            <a:avLst/>
          </a:prstGeom>
          <a:noFill/>
          <a:ln/>
        </p:spPr>
        <p:txBody>
          <a:bodyPr wrap="square" rtlCol="0" anchor="ctr"/>
          <a:lstStyle/>
          <a:p>
            <a:pPr marL="0" indent="0">
              <a:buNone/>
            </a:pPr>
            <a:r>
              <a:rPr lang="en-US" sz="1000" i="1" dirty="0">
                <a:solidFill>
                  <a:srgbClr val="6B7280"/>
                </a:solidFill>
                <a:latin typeface="Open Sans" pitchFamily="34" charset="0"/>
                <a:ea typeface="Open Sans" pitchFamily="34" charset="-122"/>
                <a:cs typeface="Open Sans" pitchFamily="34" charset="-120"/>
              </a:rPr>
              <a:t>“Incomplete understanding is normal. Playing with AI tools is more than half the battle. We’re all figuring this out together.”</a:t>
            </a:r>
            <a:r>
              <a:rPr lang="en-US" sz="1000" b="1" dirty="0">
                <a:solidFill>
                  <a:srgbClr val="6B7280"/>
                </a:solidFill>
                <a:latin typeface="Open Sans" pitchFamily="34" charset="0"/>
                <a:ea typeface="Open Sans" pitchFamily="34" charset="-122"/>
                <a:cs typeface="Open Sans" pitchFamily="34" charset="-120"/>
              </a:rPr>
              <a:t xml:space="preserve">  — Instructor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024731"/>
                </a:solidFill>
                <a:latin typeface="Open Sans" pitchFamily="34" charset="0"/>
                <a:ea typeface="Open Sans" pitchFamily="34" charset="-122"/>
                <a:cs typeface="Open Sans" pitchFamily="34" charset="-120"/>
              </a:rPr>
              <a:t>Project Overview — Six Stages</a:t>
            </a:r>
            <a:endParaRPr lang="en-US" sz="2800" dirty="0"/>
          </a:p>
        </p:txBody>
      </p:sp>
      <p:sp>
        <p:nvSpPr>
          <p:cNvPr id="3" name="Text 1"/>
          <p:cNvSpPr/>
          <p:nvPr/>
        </p:nvSpPr>
        <p:spPr>
          <a:xfrm>
            <a:off x="548640" y="777240"/>
            <a:ext cx="8229600" cy="274320"/>
          </a:xfrm>
          <a:prstGeom prst="rect">
            <a:avLst/>
          </a:prstGeom>
          <a:noFill/>
          <a:ln/>
        </p:spPr>
        <p:txBody>
          <a:bodyPr wrap="square" rtlCol="0" anchor="ctr"/>
          <a:lstStyle/>
          <a:p>
            <a:pPr marL="0" indent="0">
              <a:buNone/>
            </a:pPr>
            <a:r>
              <a:rPr lang="en-US" sz="1100" b="1" kern="0" spc="200" dirty="0">
                <a:solidFill>
                  <a:srgbClr val="4DA78F"/>
                </a:solidFill>
                <a:latin typeface="Open Sans" pitchFamily="34" charset="0"/>
                <a:ea typeface="Open Sans" pitchFamily="34" charset="-122"/>
                <a:cs typeface="Open Sans" pitchFamily="34" charset="-120"/>
              </a:rPr>
              <a:t>SETUP  →  TEMPLATE  →  FRAME  →  POPULATE  →  SPECIFY  →  EVALUATE</a:t>
            </a:r>
            <a:endParaRPr lang="en-US" sz="1100" dirty="0"/>
          </a:p>
        </p:txBody>
      </p:sp>
      <p:sp>
        <p:nvSpPr>
          <p:cNvPr id="4" name="Shape 2"/>
          <p:cNvSpPr/>
          <p:nvPr/>
        </p:nvSpPr>
        <p:spPr>
          <a:xfrm>
            <a:off x="548640" y="123444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5" name="Shape 3"/>
          <p:cNvSpPr/>
          <p:nvPr/>
        </p:nvSpPr>
        <p:spPr>
          <a:xfrm>
            <a:off x="685800" y="1371600"/>
            <a:ext cx="384048" cy="384048"/>
          </a:xfrm>
          <a:prstGeom prst="ellipse">
            <a:avLst/>
          </a:prstGeom>
          <a:solidFill>
            <a:srgbClr val="024731"/>
          </a:solidFill>
          <a:ln/>
        </p:spPr>
        <p:txBody>
          <a:bodyPr/>
          <a:lstStyle/>
          <a:p>
            <a:endParaRPr lang="en-US"/>
          </a:p>
        </p:txBody>
      </p:sp>
      <p:sp>
        <p:nvSpPr>
          <p:cNvPr id="6" name="Text 4"/>
          <p:cNvSpPr/>
          <p:nvPr/>
        </p:nvSpPr>
        <p:spPr>
          <a:xfrm>
            <a:off x="685800" y="137160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0</a:t>
            </a:r>
            <a:endParaRPr lang="en-US" sz="1600" dirty="0"/>
          </a:p>
        </p:txBody>
      </p:sp>
      <p:sp>
        <p:nvSpPr>
          <p:cNvPr id="7" name="Text 5"/>
          <p:cNvSpPr/>
          <p:nvPr/>
        </p:nvSpPr>
        <p:spPr>
          <a:xfrm>
            <a:off x="2423160" y="139903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5%</a:t>
            </a:r>
            <a:endParaRPr lang="en-US" sz="1100" dirty="0"/>
          </a:p>
        </p:txBody>
      </p:sp>
      <p:sp>
        <p:nvSpPr>
          <p:cNvPr id="8" name="Text 6"/>
          <p:cNvSpPr/>
          <p:nvPr/>
        </p:nvSpPr>
        <p:spPr>
          <a:xfrm>
            <a:off x="1188720" y="139903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Repo Setup</a:t>
            </a:r>
            <a:endParaRPr lang="en-US" sz="1200" dirty="0"/>
          </a:p>
        </p:txBody>
      </p:sp>
      <p:sp>
        <p:nvSpPr>
          <p:cNvPr id="9" name="Text 7"/>
          <p:cNvSpPr/>
          <p:nvPr/>
        </p:nvSpPr>
        <p:spPr>
          <a:xfrm>
            <a:off x="685800" y="187452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Create GitHub repo with IB-style directory structure. Learn Git, Markdown, READMEs.</a:t>
            </a:r>
            <a:endParaRPr lang="en-US" sz="1000" dirty="0"/>
          </a:p>
        </p:txBody>
      </p:sp>
      <p:sp>
        <p:nvSpPr>
          <p:cNvPr id="10" name="Shape 8"/>
          <p:cNvSpPr/>
          <p:nvPr/>
        </p:nvSpPr>
        <p:spPr>
          <a:xfrm>
            <a:off x="3383280" y="123444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Shape 9"/>
          <p:cNvSpPr/>
          <p:nvPr/>
        </p:nvSpPr>
        <p:spPr>
          <a:xfrm>
            <a:off x="3520440" y="1371600"/>
            <a:ext cx="384048" cy="384048"/>
          </a:xfrm>
          <a:prstGeom prst="ellipse">
            <a:avLst/>
          </a:prstGeom>
          <a:solidFill>
            <a:srgbClr val="024731"/>
          </a:solidFill>
          <a:ln/>
        </p:spPr>
        <p:txBody>
          <a:bodyPr/>
          <a:lstStyle/>
          <a:p>
            <a:endParaRPr lang="en-US"/>
          </a:p>
        </p:txBody>
      </p:sp>
      <p:sp>
        <p:nvSpPr>
          <p:cNvPr id="12" name="Text 10"/>
          <p:cNvSpPr/>
          <p:nvPr/>
        </p:nvSpPr>
        <p:spPr>
          <a:xfrm>
            <a:off x="3520440" y="137160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1</a:t>
            </a:r>
            <a:endParaRPr lang="en-US" sz="1600" dirty="0"/>
          </a:p>
        </p:txBody>
      </p:sp>
      <p:sp>
        <p:nvSpPr>
          <p:cNvPr id="13" name="Text 11"/>
          <p:cNvSpPr/>
          <p:nvPr/>
        </p:nvSpPr>
        <p:spPr>
          <a:xfrm>
            <a:off x="5257800" y="139903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20%</a:t>
            </a:r>
            <a:endParaRPr lang="en-US" sz="1100" dirty="0"/>
          </a:p>
        </p:txBody>
      </p:sp>
      <p:sp>
        <p:nvSpPr>
          <p:cNvPr id="14" name="Text 12"/>
          <p:cNvSpPr/>
          <p:nvPr/>
        </p:nvSpPr>
        <p:spPr>
          <a:xfrm>
            <a:off x="4023360" y="139903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Ratios Template Upload</a:t>
            </a:r>
            <a:endParaRPr lang="en-US" sz="1200" dirty="0"/>
          </a:p>
        </p:txBody>
      </p:sp>
      <p:sp>
        <p:nvSpPr>
          <p:cNvPr id="15" name="Text 13"/>
          <p:cNvSpPr/>
          <p:nvPr/>
        </p:nvSpPr>
        <p:spPr>
          <a:xfrm>
            <a:off x="3520440" y="187452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Use the provided ratios template. Upload an unmodified copy and study its structure.</a:t>
            </a:r>
            <a:endParaRPr lang="en-US" sz="1000" dirty="0"/>
          </a:p>
        </p:txBody>
      </p:sp>
      <p:sp>
        <p:nvSpPr>
          <p:cNvPr id="16" name="Shape 14"/>
          <p:cNvSpPr/>
          <p:nvPr/>
        </p:nvSpPr>
        <p:spPr>
          <a:xfrm>
            <a:off x="6217920" y="123444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7" name="Shape 15"/>
          <p:cNvSpPr/>
          <p:nvPr/>
        </p:nvSpPr>
        <p:spPr>
          <a:xfrm>
            <a:off x="6355080" y="1371600"/>
            <a:ext cx="384048" cy="384048"/>
          </a:xfrm>
          <a:prstGeom prst="ellipse">
            <a:avLst/>
          </a:prstGeom>
          <a:solidFill>
            <a:srgbClr val="024731"/>
          </a:solidFill>
          <a:ln/>
        </p:spPr>
        <p:txBody>
          <a:bodyPr/>
          <a:lstStyle/>
          <a:p>
            <a:endParaRPr lang="en-US"/>
          </a:p>
        </p:txBody>
      </p:sp>
      <p:sp>
        <p:nvSpPr>
          <p:cNvPr id="18" name="Text 16"/>
          <p:cNvSpPr/>
          <p:nvPr/>
        </p:nvSpPr>
        <p:spPr>
          <a:xfrm>
            <a:off x="6355080" y="137160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2</a:t>
            </a:r>
            <a:endParaRPr lang="en-US" sz="1600" dirty="0"/>
          </a:p>
        </p:txBody>
      </p:sp>
      <p:sp>
        <p:nvSpPr>
          <p:cNvPr id="19" name="Text 17"/>
          <p:cNvSpPr/>
          <p:nvPr/>
        </p:nvSpPr>
        <p:spPr>
          <a:xfrm>
            <a:off x="8092440" y="139903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10%</a:t>
            </a:r>
            <a:endParaRPr lang="en-US" sz="1100" dirty="0"/>
          </a:p>
        </p:txBody>
      </p:sp>
      <p:sp>
        <p:nvSpPr>
          <p:cNvPr id="20" name="Text 18"/>
          <p:cNvSpPr/>
          <p:nvPr/>
        </p:nvSpPr>
        <p:spPr>
          <a:xfrm>
            <a:off x="6858000" y="139903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Company Selection Memo</a:t>
            </a:r>
            <a:endParaRPr lang="en-US" sz="1200" dirty="0"/>
          </a:p>
        </p:txBody>
      </p:sp>
      <p:sp>
        <p:nvSpPr>
          <p:cNvPr id="21" name="Text 19"/>
          <p:cNvSpPr/>
          <p:nvPr/>
        </p:nvSpPr>
        <p:spPr>
          <a:xfrm>
            <a:off x="6355080" y="187452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Choose your company, frame the analysis, identify data sources and hypotheses.</a:t>
            </a:r>
            <a:endParaRPr lang="en-US" sz="1000" dirty="0"/>
          </a:p>
        </p:txBody>
      </p:sp>
      <p:sp>
        <p:nvSpPr>
          <p:cNvPr id="22" name="Shape 20"/>
          <p:cNvSpPr/>
          <p:nvPr/>
        </p:nvSpPr>
        <p:spPr>
          <a:xfrm>
            <a:off x="548640" y="310896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23" name="Shape 21"/>
          <p:cNvSpPr/>
          <p:nvPr/>
        </p:nvSpPr>
        <p:spPr>
          <a:xfrm>
            <a:off x="685800" y="3246120"/>
            <a:ext cx="384048" cy="384048"/>
          </a:xfrm>
          <a:prstGeom prst="ellipse">
            <a:avLst/>
          </a:prstGeom>
          <a:solidFill>
            <a:srgbClr val="024731"/>
          </a:solidFill>
          <a:ln/>
        </p:spPr>
        <p:txBody>
          <a:bodyPr/>
          <a:lstStyle/>
          <a:p>
            <a:endParaRPr lang="en-US"/>
          </a:p>
        </p:txBody>
      </p:sp>
      <p:sp>
        <p:nvSpPr>
          <p:cNvPr id="24" name="Text 22"/>
          <p:cNvSpPr/>
          <p:nvPr/>
        </p:nvSpPr>
        <p:spPr>
          <a:xfrm>
            <a:off x="685800" y="324612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3</a:t>
            </a:r>
            <a:endParaRPr lang="en-US" sz="1600" dirty="0"/>
          </a:p>
        </p:txBody>
      </p:sp>
      <p:sp>
        <p:nvSpPr>
          <p:cNvPr id="25" name="Text 23"/>
          <p:cNvSpPr/>
          <p:nvPr/>
        </p:nvSpPr>
        <p:spPr>
          <a:xfrm>
            <a:off x="2423160" y="327355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20%</a:t>
            </a:r>
            <a:endParaRPr lang="en-US" sz="1100" dirty="0"/>
          </a:p>
        </p:txBody>
      </p:sp>
      <p:sp>
        <p:nvSpPr>
          <p:cNvPr id="26" name="Text 24"/>
          <p:cNvSpPr/>
          <p:nvPr/>
        </p:nvSpPr>
        <p:spPr>
          <a:xfrm>
            <a:off x="1188720" y="327355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Model Population &amp; Validation</a:t>
            </a:r>
            <a:endParaRPr lang="en-US" sz="1200" dirty="0"/>
          </a:p>
        </p:txBody>
      </p:sp>
      <p:sp>
        <p:nvSpPr>
          <p:cNvPr id="27" name="Text 25"/>
          <p:cNvSpPr/>
          <p:nvPr/>
        </p:nvSpPr>
        <p:spPr>
          <a:xfrm>
            <a:off x="685800" y="374904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Populate the template with real financials. Ratios auto-compute. Self-audit with Big 4-style checklist.</a:t>
            </a:r>
            <a:endParaRPr lang="en-US" sz="1000" dirty="0"/>
          </a:p>
        </p:txBody>
      </p:sp>
      <p:sp>
        <p:nvSpPr>
          <p:cNvPr id="28" name="Shape 26"/>
          <p:cNvSpPr/>
          <p:nvPr/>
        </p:nvSpPr>
        <p:spPr>
          <a:xfrm>
            <a:off x="3383280" y="310896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29" name="Shape 27"/>
          <p:cNvSpPr/>
          <p:nvPr/>
        </p:nvSpPr>
        <p:spPr>
          <a:xfrm>
            <a:off x="3520440" y="3246120"/>
            <a:ext cx="384048" cy="384048"/>
          </a:xfrm>
          <a:prstGeom prst="ellipse">
            <a:avLst/>
          </a:prstGeom>
          <a:solidFill>
            <a:srgbClr val="C9A84C"/>
          </a:solidFill>
          <a:ln/>
        </p:spPr>
        <p:txBody>
          <a:bodyPr/>
          <a:lstStyle/>
          <a:p>
            <a:endParaRPr lang="en-US"/>
          </a:p>
        </p:txBody>
      </p:sp>
      <p:sp>
        <p:nvSpPr>
          <p:cNvPr id="30" name="Text 28"/>
          <p:cNvSpPr/>
          <p:nvPr/>
        </p:nvSpPr>
        <p:spPr>
          <a:xfrm>
            <a:off x="3520440" y="324612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4</a:t>
            </a:r>
            <a:endParaRPr lang="en-US" sz="1600" dirty="0"/>
          </a:p>
        </p:txBody>
      </p:sp>
      <p:sp>
        <p:nvSpPr>
          <p:cNvPr id="31" name="Text 29"/>
          <p:cNvSpPr/>
          <p:nvPr/>
        </p:nvSpPr>
        <p:spPr>
          <a:xfrm>
            <a:off x="5257800" y="327355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20%</a:t>
            </a:r>
            <a:endParaRPr lang="en-US" sz="1100" dirty="0"/>
          </a:p>
        </p:txBody>
      </p:sp>
      <p:sp>
        <p:nvSpPr>
          <p:cNvPr id="32" name="Text 30"/>
          <p:cNvSpPr/>
          <p:nvPr/>
        </p:nvSpPr>
        <p:spPr>
          <a:xfrm>
            <a:off x="4023360" y="327355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Technical Specification</a:t>
            </a:r>
            <a:endParaRPr lang="en-US" sz="1200" dirty="0"/>
          </a:p>
        </p:txBody>
      </p:sp>
      <p:sp>
        <p:nvSpPr>
          <p:cNvPr id="33" name="Text 31"/>
          <p:cNvSpPr/>
          <p:nvPr/>
        </p:nvSpPr>
        <p:spPr>
          <a:xfrm>
            <a:off x="3520440" y="374904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Use an LLM to draft a spec defining the model AND the analysis. Edit, refine, and log every prompt.</a:t>
            </a:r>
            <a:endParaRPr lang="en-US" sz="1000" dirty="0"/>
          </a:p>
        </p:txBody>
      </p:sp>
      <p:sp>
        <p:nvSpPr>
          <p:cNvPr id="34" name="Shape 32"/>
          <p:cNvSpPr/>
          <p:nvPr/>
        </p:nvSpPr>
        <p:spPr>
          <a:xfrm>
            <a:off x="6217920" y="310896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35" name="Shape 33"/>
          <p:cNvSpPr/>
          <p:nvPr/>
        </p:nvSpPr>
        <p:spPr>
          <a:xfrm>
            <a:off x="6355080" y="3246120"/>
            <a:ext cx="384048" cy="384048"/>
          </a:xfrm>
          <a:prstGeom prst="ellipse">
            <a:avLst/>
          </a:prstGeom>
          <a:solidFill>
            <a:srgbClr val="024731"/>
          </a:solidFill>
          <a:ln/>
        </p:spPr>
        <p:txBody>
          <a:bodyPr/>
          <a:lstStyle/>
          <a:p>
            <a:endParaRPr lang="en-US"/>
          </a:p>
        </p:txBody>
      </p:sp>
      <p:sp>
        <p:nvSpPr>
          <p:cNvPr id="36" name="Text 34"/>
          <p:cNvSpPr/>
          <p:nvPr/>
        </p:nvSpPr>
        <p:spPr>
          <a:xfrm>
            <a:off x="6355080" y="324612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5</a:t>
            </a:r>
            <a:endParaRPr lang="en-US" sz="1600" dirty="0"/>
          </a:p>
        </p:txBody>
      </p:sp>
      <p:sp>
        <p:nvSpPr>
          <p:cNvPr id="37" name="Text 35"/>
          <p:cNvSpPr/>
          <p:nvPr/>
        </p:nvSpPr>
        <p:spPr>
          <a:xfrm>
            <a:off x="8092440" y="327355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25%</a:t>
            </a:r>
            <a:endParaRPr lang="en-US" sz="1100" dirty="0"/>
          </a:p>
        </p:txBody>
      </p:sp>
      <p:sp>
        <p:nvSpPr>
          <p:cNvPr id="38" name="Text 36"/>
          <p:cNvSpPr/>
          <p:nvPr/>
        </p:nvSpPr>
        <p:spPr>
          <a:xfrm>
            <a:off x="6858000" y="327355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LLM Analysis &amp; Evaluation</a:t>
            </a:r>
            <a:endParaRPr lang="en-US" sz="1200" dirty="0"/>
          </a:p>
        </p:txBody>
      </p:sp>
      <p:sp>
        <p:nvSpPr>
          <p:cNvPr id="39" name="Text 37"/>
          <p:cNvSpPr/>
          <p:nvPr/>
        </p:nvSpPr>
        <p:spPr>
          <a:xfrm>
            <a:off x="6355080" y="374904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Execute the spec, write the full analysis, evaluate AI output, polish your repo. Own the final product.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24731"/>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The Spec-Driven Design Arc</a:t>
            </a:r>
            <a:endParaRPr lang="en-US" sz="2800" dirty="0"/>
          </a:p>
        </p:txBody>
      </p:sp>
      <p:sp>
        <p:nvSpPr>
          <p:cNvPr id="3" name="Shape 1"/>
          <p:cNvSpPr/>
          <p:nvPr/>
        </p:nvSpPr>
        <p:spPr>
          <a:xfrm>
            <a:off x="548640" y="1051560"/>
            <a:ext cx="3840480" cy="365760"/>
          </a:xfrm>
          <a:prstGeom prst="rect">
            <a:avLst/>
          </a:prstGeom>
          <a:solidFill>
            <a:srgbClr val="4DA78F">
              <a:alpha val="70000"/>
            </a:srgbClr>
          </a:solidFill>
          <a:ln/>
        </p:spPr>
        <p:txBody>
          <a:bodyPr/>
          <a:lstStyle/>
          <a:p>
            <a:endParaRPr lang="en-US"/>
          </a:p>
        </p:txBody>
      </p:sp>
      <p:sp>
        <p:nvSpPr>
          <p:cNvPr id="4" name="Text 2"/>
          <p:cNvSpPr/>
          <p:nvPr/>
        </p:nvSpPr>
        <p:spPr>
          <a:xfrm>
            <a:off x="548640" y="1051560"/>
            <a:ext cx="3840480" cy="365760"/>
          </a:xfrm>
          <a:prstGeom prst="rect">
            <a:avLst/>
          </a:prstGeom>
          <a:noFill/>
          <a:ln/>
        </p:spPr>
        <p:txBody>
          <a:bodyPr wrap="square" rtlCol="0" anchor="ctr"/>
          <a:lstStyle/>
          <a:p>
            <a:pPr marL="0" indent="0" algn="ctr">
              <a:buNone/>
            </a:pPr>
            <a:r>
              <a:rPr lang="en-US" sz="1100" b="1" kern="0" spc="150" dirty="0">
                <a:solidFill>
                  <a:srgbClr val="FFFFFF"/>
                </a:solidFill>
                <a:latin typeface="Open Sans" pitchFamily="34" charset="0"/>
                <a:ea typeface="Open Sans" pitchFamily="34" charset="-122"/>
                <a:cs typeface="Open Sans" pitchFamily="34" charset="-120"/>
              </a:rPr>
              <a:t>TACIT KNOWLEDGE ACQUISITION</a:t>
            </a:r>
            <a:endParaRPr lang="en-US" sz="1100" dirty="0"/>
          </a:p>
        </p:txBody>
      </p:sp>
      <p:sp>
        <p:nvSpPr>
          <p:cNvPr id="5" name="Shape 3"/>
          <p:cNvSpPr/>
          <p:nvPr/>
        </p:nvSpPr>
        <p:spPr>
          <a:xfrm>
            <a:off x="4754880" y="1051560"/>
            <a:ext cx="3840480" cy="365760"/>
          </a:xfrm>
          <a:prstGeom prst="rect">
            <a:avLst/>
          </a:prstGeom>
          <a:solidFill>
            <a:srgbClr val="C9A84C">
              <a:alpha val="70000"/>
            </a:srgbClr>
          </a:solidFill>
          <a:ln/>
        </p:spPr>
        <p:txBody>
          <a:bodyPr/>
          <a:lstStyle/>
          <a:p>
            <a:endParaRPr lang="en-US"/>
          </a:p>
        </p:txBody>
      </p:sp>
      <p:sp>
        <p:nvSpPr>
          <p:cNvPr id="6" name="Text 4"/>
          <p:cNvSpPr/>
          <p:nvPr/>
        </p:nvSpPr>
        <p:spPr>
          <a:xfrm>
            <a:off x="4754880" y="1051560"/>
            <a:ext cx="3840480" cy="365760"/>
          </a:xfrm>
          <a:prstGeom prst="rect">
            <a:avLst/>
          </a:prstGeom>
          <a:noFill/>
          <a:ln/>
        </p:spPr>
        <p:txBody>
          <a:bodyPr wrap="square" rtlCol="0" anchor="ctr"/>
          <a:lstStyle/>
          <a:p>
            <a:pPr marL="0" indent="0" algn="ctr">
              <a:buNone/>
            </a:pPr>
            <a:r>
              <a:rPr lang="en-US" sz="1100" b="1" kern="0" spc="150" dirty="0">
                <a:solidFill>
                  <a:srgbClr val="FFFFFF"/>
                </a:solidFill>
                <a:latin typeface="Open Sans" pitchFamily="34" charset="0"/>
                <a:ea typeface="Open Sans" pitchFamily="34" charset="-122"/>
                <a:cs typeface="Open Sans" pitchFamily="34" charset="-120"/>
              </a:rPr>
              <a:t>KNOWLEDGE EXTERNALIZATION</a:t>
            </a:r>
            <a:endParaRPr lang="en-US" sz="1100" dirty="0"/>
          </a:p>
        </p:txBody>
      </p:sp>
      <p:sp>
        <p:nvSpPr>
          <p:cNvPr id="7" name="Shape 5"/>
          <p:cNvSpPr/>
          <p:nvPr/>
        </p:nvSpPr>
        <p:spPr>
          <a:xfrm>
            <a:off x="731520" y="1737360"/>
            <a:ext cx="502920" cy="502920"/>
          </a:xfrm>
          <a:prstGeom prst="ellipse">
            <a:avLst/>
          </a:prstGeom>
          <a:solidFill>
            <a:srgbClr val="4DA78F"/>
          </a:solidFill>
          <a:ln/>
        </p:spPr>
        <p:txBody>
          <a:bodyPr/>
          <a:lstStyle/>
          <a:p>
            <a:endParaRPr lang="en-US"/>
          </a:p>
        </p:txBody>
      </p:sp>
      <p:sp>
        <p:nvSpPr>
          <p:cNvPr id="8" name="Text 6"/>
          <p:cNvSpPr/>
          <p:nvPr/>
        </p:nvSpPr>
        <p:spPr>
          <a:xfrm>
            <a:off x="7315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0</a:t>
            </a:r>
            <a:endParaRPr lang="en-US" sz="1800" dirty="0"/>
          </a:p>
        </p:txBody>
      </p:sp>
      <p:sp>
        <p:nvSpPr>
          <p:cNvPr id="9" name="Shape 7"/>
          <p:cNvSpPr/>
          <p:nvPr/>
        </p:nvSpPr>
        <p:spPr>
          <a:xfrm>
            <a:off x="1280160" y="1988820"/>
            <a:ext cx="777240" cy="0"/>
          </a:xfrm>
          <a:prstGeom prst="line">
            <a:avLst/>
          </a:prstGeom>
          <a:noFill/>
          <a:ln w="25400">
            <a:solidFill>
              <a:srgbClr val="4DA78F"/>
            </a:solidFill>
            <a:prstDash val="dash"/>
          </a:ln>
        </p:spPr>
        <p:txBody>
          <a:bodyPr/>
          <a:lstStyle/>
          <a:p>
            <a:endParaRPr lang="en-US"/>
          </a:p>
        </p:txBody>
      </p:sp>
      <p:sp>
        <p:nvSpPr>
          <p:cNvPr id="10" name="Text 8"/>
          <p:cNvSpPr/>
          <p:nvPr/>
        </p:nvSpPr>
        <p:spPr>
          <a:xfrm>
            <a:off x="4572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Set up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workspace</a:t>
            </a:r>
            <a:endParaRPr lang="en-US" sz="1000" dirty="0"/>
          </a:p>
        </p:txBody>
      </p:sp>
      <p:sp>
        <p:nvSpPr>
          <p:cNvPr id="11" name="Text 9"/>
          <p:cNvSpPr/>
          <p:nvPr/>
        </p:nvSpPr>
        <p:spPr>
          <a:xfrm>
            <a:off x="4572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“We organized it”</a:t>
            </a:r>
            <a:endParaRPr lang="en-US" sz="900" dirty="0"/>
          </a:p>
        </p:txBody>
      </p:sp>
      <p:sp>
        <p:nvSpPr>
          <p:cNvPr id="12" name="Shape 10"/>
          <p:cNvSpPr/>
          <p:nvPr/>
        </p:nvSpPr>
        <p:spPr>
          <a:xfrm>
            <a:off x="2103120" y="1737360"/>
            <a:ext cx="502920" cy="502920"/>
          </a:xfrm>
          <a:prstGeom prst="ellipse">
            <a:avLst/>
          </a:prstGeom>
          <a:solidFill>
            <a:srgbClr val="4DA78F"/>
          </a:solidFill>
          <a:ln/>
        </p:spPr>
        <p:txBody>
          <a:bodyPr/>
          <a:lstStyle/>
          <a:p>
            <a:endParaRPr lang="en-US"/>
          </a:p>
        </p:txBody>
      </p:sp>
      <p:sp>
        <p:nvSpPr>
          <p:cNvPr id="13" name="Text 11"/>
          <p:cNvSpPr/>
          <p:nvPr/>
        </p:nvSpPr>
        <p:spPr>
          <a:xfrm>
            <a:off x="21031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1</a:t>
            </a:r>
            <a:endParaRPr lang="en-US" sz="1800" dirty="0"/>
          </a:p>
        </p:txBody>
      </p:sp>
      <p:sp>
        <p:nvSpPr>
          <p:cNvPr id="14" name="Shape 12"/>
          <p:cNvSpPr/>
          <p:nvPr/>
        </p:nvSpPr>
        <p:spPr>
          <a:xfrm>
            <a:off x="2651760" y="1988820"/>
            <a:ext cx="777240" cy="0"/>
          </a:xfrm>
          <a:prstGeom prst="line">
            <a:avLst/>
          </a:prstGeom>
          <a:noFill/>
          <a:ln w="25400">
            <a:solidFill>
              <a:srgbClr val="4DA78F"/>
            </a:solidFill>
            <a:prstDash val="dash"/>
          </a:ln>
        </p:spPr>
        <p:txBody>
          <a:bodyPr/>
          <a:lstStyle/>
          <a:p>
            <a:endParaRPr lang="en-US"/>
          </a:p>
        </p:txBody>
      </p:sp>
      <p:sp>
        <p:nvSpPr>
          <p:cNvPr id="15" name="Text 13"/>
          <p:cNvSpPr/>
          <p:nvPr/>
        </p:nvSpPr>
        <p:spPr>
          <a:xfrm>
            <a:off x="18288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Study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container</a:t>
            </a:r>
            <a:endParaRPr lang="en-US" sz="1000" dirty="0"/>
          </a:p>
        </p:txBody>
      </p:sp>
      <p:sp>
        <p:nvSpPr>
          <p:cNvPr id="16" name="Text 14"/>
          <p:cNvSpPr/>
          <p:nvPr/>
        </p:nvSpPr>
        <p:spPr>
          <a:xfrm>
            <a:off x="18288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see how it’s built”</a:t>
            </a:r>
            <a:endParaRPr lang="en-US" sz="900" dirty="0"/>
          </a:p>
        </p:txBody>
      </p:sp>
      <p:sp>
        <p:nvSpPr>
          <p:cNvPr id="17" name="Shape 15"/>
          <p:cNvSpPr/>
          <p:nvPr/>
        </p:nvSpPr>
        <p:spPr>
          <a:xfrm>
            <a:off x="3474720" y="1737360"/>
            <a:ext cx="502920" cy="502920"/>
          </a:xfrm>
          <a:prstGeom prst="ellipse">
            <a:avLst/>
          </a:prstGeom>
          <a:solidFill>
            <a:srgbClr val="4DA78F"/>
          </a:solidFill>
          <a:ln/>
        </p:spPr>
        <p:txBody>
          <a:bodyPr/>
          <a:lstStyle/>
          <a:p>
            <a:endParaRPr lang="en-US"/>
          </a:p>
        </p:txBody>
      </p:sp>
      <p:sp>
        <p:nvSpPr>
          <p:cNvPr id="18" name="Text 16"/>
          <p:cNvSpPr/>
          <p:nvPr/>
        </p:nvSpPr>
        <p:spPr>
          <a:xfrm>
            <a:off x="34747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2</a:t>
            </a:r>
            <a:endParaRPr lang="en-US" sz="1800" dirty="0"/>
          </a:p>
        </p:txBody>
      </p:sp>
      <p:sp>
        <p:nvSpPr>
          <p:cNvPr id="19" name="Shape 17"/>
          <p:cNvSpPr/>
          <p:nvPr/>
        </p:nvSpPr>
        <p:spPr>
          <a:xfrm>
            <a:off x="4023360" y="1988820"/>
            <a:ext cx="777240" cy="0"/>
          </a:xfrm>
          <a:prstGeom prst="line">
            <a:avLst/>
          </a:prstGeom>
          <a:noFill/>
          <a:ln w="25400">
            <a:solidFill>
              <a:srgbClr val="4DA78F"/>
            </a:solidFill>
            <a:prstDash val="dash"/>
          </a:ln>
        </p:spPr>
        <p:txBody>
          <a:bodyPr/>
          <a:lstStyle/>
          <a:p>
            <a:endParaRPr lang="en-US"/>
          </a:p>
        </p:txBody>
      </p:sp>
      <p:sp>
        <p:nvSpPr>
          <p:cNvPr id="20" name="Text 18"/>
          <p:cNvSpPr/>
          <p:nvPr/>
        </p:nvSpPr>
        <p:spPr>
          <a:xfrm>
            <a:off x="32004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Frame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analysis</a:t>
            </a:r>
            <a:endParaRPr lang="en-US" sz="1000" dirty="0"/>
          </a:p>
        </p:txBody>
      </p:sp>
      <p:sp>
        <p:nvSpPr>
          <p:cNvPr id="21" name="Text 19"/>
          <p:cNvSpPr/>
          <p:nvPr/>
        </p:nvSpPr>
        <p:spPr>
          <a:xfrm>
            <a:off x="32004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chose why”</a:t>
            </a:r>
            <a:endParaRPr lang="en-US" sz="900" dirty="0"/>
          </a:p>
        </p:txBody>
      </p:sp>
      <p:sp>
        <p:nvSpPr>
          <p:cNvPr id="22" name="Shape 20"/>
          <p:cNvSpPr/>
          <p:nvPr/>
        </p:nvSpPr>
        <p:spPr>
          <a:xfrm>
            <a:off x="4846320" y="1737360"/>
            <a:ext cx="502920" cy="502920"/>
          </a:xfrm>
          <a:prstGeom prst="ellipse">
            <a:avLst/>
          </a:prstGeom>
          <a:solidFill>
            <a:srgbClr val="4DA78F"/>
          </a:solidFill>
          <a:ln/>
        </p:spPr>
        <p:txBody>
          <a:bodyPr/>
          <a:lstStyle/>
          <a:p>
            <a:endParaRPr lang="en-US"/>
          </a:p>
        </p:txBody>
      </p:sp>
      <p:sp>
        <p:nvSpPr>
          <p:cNvPr id="23" name="Text 21"/>
          <p:cNvSpPr/>
          <p:nvPr/>
        </p:nvSpPr>
        <p:spPr>
          <a:xfrm>
            <a:off x="48463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3</a:t>
            </a:r>
            <a:endParaRPr lang="en-US" sz="1800" dirty="0"/>
          </a:p>
        </p:txBody>
      </p:sp>
      <p:sp>
        <p:nvSpPr>
          <p:cNvPr id="24" name="Shape 22"/>
          <p:cNvSpPr/>
          <p:nvPr/>
        </p:nvSpPr>
        <p:spPr>
          <a:xfrm>
            <a:off x="5394960" y="1988820"/>
            <a:ext cx="777240" cy="0"/>
          </a:xfrm>
          <a:prstGeom prst="line">
            <a:avLst/>
          </a:prstGeom>
          <a:noFill/>
          <a:ln w="25400">
            <a:solidFill>
              <a:srgbClr val="4DA78F"/>
            </a:solidFill>
            <a:prstDash val="dash"/>
          </a:ln>
        </p:spPr>
        <p:txBody>
          <a:bodyPr/>
          <a:lstStyle/>
          <a:p>
            <a:endParaRPr lang="en-US"/>
          </a:p>
        </p:txBody>
      </p:sp>
      <p:sp>
        <p:nvSpPr>
          <p:cNvPr id="25" name="Text 23"/>
          <p:cNvSpPr/>
          <p:nvPr/>
        </p:nvSpPr>
        <p:spPr>
          <a:xfrm>
            <a:off x="45720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Populate &amp;</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validate</a:t>
            </a:r>
            <a:endParaRPr lang="en-US" sz="1000" dirty="0"/>
          </a:p>
        </p:txBody>
      </p:sp>
      <p:sp>
        <p:nvSpPr>
          <p:cNvPr id="26" name="Text 24"/>
          <p:cNvSpPr/>
          <p:nvPr/>
        </p:nvSpPr>
        <p:spPr>
          <a:xfrm>
            <a:off x="45720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verified it”</a:t>
            </a:r>
            <a:endParaRPr lang="en-US" sz="900" dirty="0"/>
          </a:p>
        </p:txBody>
      </p:sp>
      <p:sp>
        <p:nvSpPr>
          <p:cNvPr id="27" name="Shape 25"/>
          <p:cNvSpPr/>
          <p:nvPr/>
        </p:nvSpPr>
        <p:spPr>
          <a:xfrm>
            <a:off x="6217920" y="1737360"/>
            <a:ext cx="502920" cy="502920"/>
          </a:xfrm>
          <a:prstGeom prst="ellipse">
            <a:avLst/>
          </a:prstGeom>
          <a:solidFill>
            <a:srgbClr val="C9A84C"/>
          </a:solidFill>
          <a:ln/>
        </p:spPr>
        <p:txBody>
          <a:bodyPr/>
          <a:lstStyle/>
          <a:p>
            <a:endParaRPr lang="en-US"/>
          </a:p>
        </p:txBody>
      </p:sp>
      <p:sp>
        <p:nvSpPr>
          <p:cNvPr id="28" name="Text 26"/>
          <p:cNvSpPr/>
          <p:nvPr/>
        </p:nvSpPr>
        <p:spPr>
          <a:xfrm>
            <a:off x="62179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4</a:t>
            </a:r>
            <a:endParaRPr lang="en-US" sz="1800" dirty="0"/>
          </a:p>
        </p:txBody>
      </p:sp>
      <p:sp>
        <p:nvSpPr>
          <p:cNvPr id="29" name="Shape 27"/>
          <p:cNvSpPr/>
          <p:nvPr/>
        </p:nvSpPr>
        <p:spPr>
          <a:xfrm>
            <a:off x="6766560" y="1988820"/>
            <a:ext cx="777240" cy="0"/>
          </a:xfrm>
          <a:prstGeom prst="line">
            <a:avLst/>
          </a:prstGeom>
          <a:noFill/>
          <a:ln w="25400">
            <a:solidFill>
              <a:srgbClr val="4DA78F"/>
            </a:solidFill>
            <a:prstDash val="dash"/>
          </a:ln>
        </p:spPr>
        <p:txBody>
          <a:bodyPr/>
          <a:lstStyle/>
          <a:p>
            <a:endParaRPr lang="en-US"/>
          </a:p>
        </p:txBody>
      </p:sp>
      <p:sp>
        <p:nvSpPr>
          <p:cNvPr id="30" name="Text 28"/>
          <p:cNvSpPr/>
          <p:nvPr/>
        </p:nvSpPr>
        <p:spPr>
          <a:xfrm>
            <a:off x="59436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Write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specification</a:t>
            </a:r>
            <a:endParaRPr lang="en-US" sz="1000" dirty="0"/>
          </a:p>
        </p:txBody>
      </p:sp>
      <p:sp>
        <p:nvSpPr>
          <p:cNvPr id="31" name="Text 29"/>
          <p:cNvSpPr/>
          <p:nvPr/>
        </p:nvSpPr>
        <p:spPr>
          <a:xfrm>
            <a:off x="59436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can specify it”</a:t>
            </a:r>
            <a:endParaRPr lang="en-US" sz="900" dirty="0"/>
          </a:p>
        </p:txBody>
      </p:sp>
      <p:sp>
        <p:nvSpPr>
          <p:cNvPr id="32" name="Shape 30"/>
          <p:cNvSpPr/>
          <p:nvPr/>
        </p:nvSpPr>
        <p:spPr>
          <a:xfrm>
            <a:off x="7589520" y="1737360"/>
            <a:ext cx="502920" cy="502920"/>
          </a:xfrm>
          <a:prstGeom prst="ellipse">
            <a:avLst/>
          </a:prstGeom>
          <a:solidFill>
            <a:srgbClr val="4DA78F"/>
          </a:solidFill>
          <a:ln/>
        </p:spPr>
        <p:txBody>
          <a:bodyPr/>
          <a:lstStyle/>
          <a:p>
            <a:endParaRPr lang="en-US"/>
          </a:p>
        </p:txBody>
      </p:sp>
      <p:sp>
        <p:nvSpPr>
          <p:cNvPr id="33" name="Text 31"/>
          <p:cNvSpPr/>
          <p:nvPr/>
        </p:nvSpPr>
        <p:spPr>
          <a:xfrm>
            <a:off x="75895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5</a:t>
            </a:r>
            <a:endParaRPr lang="en-US" sz="1800" dirty="0"/>
          </a:p>
        </p:txBody>
      </p:sp>
      <p:sp>
        <p:nvSpPr>
          <p:cNvPr id="34" name="Text 32"/>
          <p:cNvSpPr/>
          <p:nvPr/>
        </p:nvSpPr>
        <p:spPr>
          <a:xfrm>
            <a:off x="73152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Execute &amp;</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evaluate</a:t>
            </a:r>
            <a:endParaRPr lang="en-US" sz="1000" dirty="0"/>
          </a:p>
        </p:txBody>
      </p:sp>
      <p:sp>
        <p:nvSpPr>
          <p:cNvPr id="35" name="Text 33"/>
          <p:cNvSpPr/>
          <p:nvPr/>
        </p:nvSpPr>
        <p:spPr>
          <a:xfrm>
            <a:off x="73152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can judge it”</a:t>
            </a:r>
            <a:endParaRPr lang="en-US" sz="900" dirty="0"/>
          </a:p>
        </p:txBody>
      </p:sp>
      <p:sp>
        <p:nvSpPr>
          <p:cNvPr id="36" name="Shape 34"/>
          <p:cNvSpPr/>
          <p:nvPr/>
        </p:nvSpPr>
        <p:spPr>
          <a:xfrm>
            <a:off x="548640" y="3520440"/>
            <a:ext cx="8046720" cy="1097280"/>
          </a:xfrm>
          <a:prstGeom prst="rect">
            <a:avLst/>
          </a:prstGeom>
          <a:solidFill>
            <a:srgbClr val="01362A"/>
          </a:solidFill>
          <a:ln/>
        </p:spPr>
        <p:txBody>
          <a:bodyPr/>
          <a:lstStyle/>
          <a:p>
            <a:endParaRPr lang="en-US"/>
          </a:p>
        </p:txBody>
      </p:sp>
      <p:sp>
        <p:nvSpPr>
          <p:cNvPr id="37" name="Shape 35"/>
          <p:cNvSpPr/>
          <p:nvPr/>
        </p:nvSpPr>
        <p:spPr>
          <a:xfrm>
            <a:off x="548640" y="3520440"/>
            <a:ext cx="54864" cy="1097280"/>
          </a:xfrm>
          <a:prstGeom prst="rect">
            <a:avLst/>
          </a:prstGeom>
          <a:solidFill>
            <a:srgbClr val="C9A84C"/>
          </a:solidFill>
          <a:ln/>
        </p:spPr>
        <p:txBody>
          <a:bodyPr/>
          <a:lstStyle/>
          <a:p>
            <a:endParaRPr lang="en-US"/>
          </a:p>
        </p:txBody>
      </p:sp>
      <p:sp>
        <p:nvSpPr>
          <p:cNvPr id="38" name="Text 36"/>
          <p:cNvSpPr/>
          <p:nvPr/>
        </p:nvSpPr>
        <p:spPr>
          <a:xfrm>
            <a:off x="822960" y="3611880"/>
            <a:ext cx="7589520" cy="320040"/>
          </a:xfrm>
          <a:prstGeom prst="rect">
            <a:avLst/>
          </a:prstGeom>
          <a:noFill/>
          <a:ln/>
        </p:spPr>
        <p:txBody>
          <a:bodyPr wrap="square" lIns="0" tIns="0" rIns="0" bIns="0" rtlCol="0" anchor="ctr"/>
          <a:lstStyle/>
          <a:p>
            <a:pPr marL="0" indent="0">
              <a:buNone/>
            </a:pPr>
            <a:r>
              <a:rPr lang="en-US" sz="1600" b="1" dirty="0">
                <a:solidFill>
                  <a:srgbClr val="C9A84C"/>
                </a:solidFill>
                <a:latin typeface="Open Sans" pitchFamily="34" charset="0"/>
                <a:ea typeface="Open Sans" pitchFamily="34" charset="-122"/>
                <a:cs typeface="Open Sans" pitchFamily="34" charset="-120"/>
              </a:rPr>
              <a:t>The Spec Is the Bridge</a:t>
            </a:r>
            <a:endParaRPr lang="en-US" sz="1600" dirty="0"/>
          </a:p>
        </p:txBody>
      </p:sp>
      <p:sp>
        <p:nvSpPr>
          <p:cNvPr id="39" name="Text 37"/>
          <p:cNvSpPr/>
          <p:nvPr/>
        </p:nvSpPr>
        <p:spPr>
          <a:xfrm>
            <a:off x="822960" y="3931920"/>
            <a:ext cx="7589520" cy="59436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Everything before Stage 4 builds knowledge. Everything after it tests whether that knowledge was captured precisely enough to be actionable. The spec must define the complete model (structure, data, formulas, validation) AND the analysis (interpretation, benchmarks, recommendations).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marL="0" indent="0">
              <a:buNone/>
            </a:pPr>
            <a:r>
              <a:rPr lang="en-US" sz="2600" b="1" dirty="0">
                <a:solidFill>
                  <a:schemeClr val="accent6">
                    <a:lumMod val="50000"/>
                  </a:schemeClr>
                </a:solidFill>
                <a:latin typeface="Open Sans" pitchFamily="34" charset="0"/>
                <a:ea typeface="Open Sans" pitchFamily="34" charset="-122"/>
                <a:cs typeface="Open Sans" pitchFamily="34" charset="-120"/>
              </a:rPr>
              <a:t>Career Relevance — Where This Gets Used</a:t>
            </a:r>
            <a:endParaRPr lang="en-US" sz="2600" dirty="0">
              <a:solidFill>
                <a:schemeClr val="accent6">
                  <a:lumMod val="50000"/>
                </a:schemeClr>
              </a:solidFill>
            </a:endParaRPr>
          </a:p>
        </p:txBody>
      </p:sp>
      <p:sp>
        <p:nvSpPr>
          <p:cNvPr id="3" name="Text 1"/>
          <p:cNvSpPr/>
          <p:nvPr/>
        </p:nvSpPr>
        <p:spPr>
          <a:xfrm>
            <a:off x="548640" y="777240"/>
            <a:ext cx="8046720" cy="320040"/>
          </a:xfrm>
          <a:prstGeom prst="rect">
            <a:avLst/>
          </a:prstGeom>
          <a:noFill/>
          <a:ln/>
        </p:spPr>
        <p:txBody>
          <a:bodyPr wrap="square" rtlCol="0" anchor="ctr"/>
          <a:lstStyle/>
          <a:p>
            <a:pPr marL="0" indent="0">
              <a:buNone/>
            </a:pPr>
            <a:r>
              <a:rPr lang="en-US" sz="1200" dirty="0">
                <a:solidFill>
                  <a:srgbClr val="B8DDD1"/>
                </a:solidFill>
                <a:latin typeface="Open Sans" pitchFamily="34" charset="0"/>
                <a:ea typeface="Open Sans" pitchFamily="34" charset="-122"/>
                <a:cs typeface="Open Sans" pitchFamily="34" charset="-120"/>
              </a:rPr>
              <a:t>The skills built in this project appear directly in job descriptions for these roles:</a:t>
            </a:r>
            <a:endParaRPr lang="en-US" sz="1200" dirty="0"/>
          </a:p>
        </p:txBody>
      </p:sp>
      <p:sp>
        <p:nvSpPr>
          <p:cNvPr id="4" name="Shape 2"/>
          <p:cNvSpPr/>
          <p:nvPr/>
        </p:nvSpPr>
        <p:spPr>
          <a:xfrm>
            <a:off x="548640" y="1325880"/>
            <a:ext cx="2606040" cy="1463040"/>
          </a:xfrm>
          <a:prstGeom prst="rect">
            <a:avLst/>
          </a:prstGeom>
          <a:solidFill>
            <a:srgbClr val="01362A"/>
          </a:solidFill>
          <a:ln/>
        </p:spPr>
        <p:txBody>
          <a:bodyPr/>
          <a:lstStyle/>
          <a:p>
            <a:endParaRPr lang="en-US"/>
          </a:p>
        </p:txBody>
      </p:sp>
      <p:sp>
        <p:nvSpPr>
          <p:cNvPr id="5" name="Shape 3"/>
          <p:cNvSpPr/>
          <p:nvPr/>
        </p:nvSpPr>
        <p:spPr>
          <a:xfrm>
            <a:off x="548640" y="1325880"/>
            <a:ext cx="2606040" cy="54864"/>
          </a:xfrm>
          <a:prstGeom prst="rect">
            <a:avLst/>
          </a:prstGeom>
          <a:solidFill>
            <a:srgbClr val="4DA78F"/>
          </a:solidFill>
          <a:ln/>
        </p:spPr>
        <p:txBody>
          <a:bodyPr/>
          <a:lstStyle/>
          <a:p>
            <a:endParaRPr lang="en-US"/>
          </a:p>
        </p:txBody>
      </p:sp>
      <p:sp>
        <p:nvSpPr>
          <p:cNvPr id="6" name="Text 4"/>
          <p:cNvSpPr/>
          <p:nvPr/>
        </p:nvSpPr>
        <p:spPr>
          <a:xfrm>
            <a:off x="731520" y="146304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FP&amp;A</a:t>
            </a:r>
            <a:endParaRPr lang="en-US" sz="1400" dirty="0"/>
          </a:p>
        </p:txBody>
      </p:sp>
      <p:sp>
        <p:nvSpPr>
          <p:cNvPr id="7" name="Text 5"/>
          <p:cNvSpPr/>
          <p:nvPr/>
        </p:nvSpPr>
        <p:spPr>
          <a:xfrm>
            <a:off x="731520" y="182880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Ratio trend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Performance benchmarking</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Budget variance analysis</a:t>
            </a:r>
            <a:endParaRPr lang="en-US" sz="1000" dirty="0"/>
          </a:p>
        </p:txBody>
      </p:sp>
      <p:sp>
        <p:nvSpPr>
          <p:cNvPr id="8" name="Shape 6"/>
          <p:cNvSpPr/>
          <p:nvPr/>
        </p:nvSpPr>
        <p:spPr>
          <a:xfrm>
            <a:off x="3383280" y="1325880"/>
            <a:ext cx="2606040" cy="1463040"/>
          </a:xfrm>
          <a:prstGeom prst="rect">
            <a:avLst/>
          </a:prstGeom>
          <a:solidFill>
            <a:srgbClr val="01362A"/>
          </a:solidFill>
          <a:ln/>
        </p:spPr>
        <p:txBody>
          <a:bodyPr/>
          <a:lstStyle/>
          <a:p>
            <a:endParaRPr lang="en-US"/>
          </a:p>
        </p:txBody>
      </p:sp>
      <p:sp>
        <p:nvSpPr>
          <p:cNvPr id="9" name="Shape 7"/>
          <p:cNvSpPr/>
          <p:nvPr/>
        </p:nvSpPr>
        <p:spPr>
          <a:xfrm>
            <a:off x="3383280" y="1325880"/>
            <a:ext cx="2606040" cy="54864"/>
          </a:xfrm>
          <a:prstGeom prst="rect">
            <a:avLst/>
          </a:prstGeom>
          <a:solidFill>
            <a:srgbClr val="4DA78F"/>
          </a:solidFill>
          <a:ln/>
        </p:spPr>
        <p:txBody>
          <a:bodyPr/>
          <a:lstStyle/>
          <a:p>
            <a:endParaRPr lang="en-US"/>
          </a:p>
        </p:txBody>
      </p:sp>
      <p:sp>
        <p:nvSpPr>
          <p:cNvPr id="10" name="Text 8"/>
          <p:cNvSpPr/>
          <p:nvPr/>
        </p:nvSpPr>
        <p:spPr>
          <a:xfrm>
            <a:off x="3566160" y="146304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Corporate Finance</a:t>
            </a:r>
            <a:endParaRPr lang="en-US" sz="1400" dirty="0"/>
          </a:p>
        </p:txBody>
      </p:sp>
      <p:sp>
        <p:nvSpPr>
          <p:cNvPr id="11" name="Text 9"/>
          <p:cNvSpPr/>
          <p:nvPr/>
        </p:nvSpPr>
        <p:spPr>
          <a:xfrm>
            <a:off x="3566160" y="182880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Capital structure optimization</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Liquidity management</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Investor relations</a:t>
            </a:r>
            <a:endParaRPr lang="en-US" sz="1000" dirty="0"/>
          </a:p>
        </p:txBody>
      </p:sp>
      <p:sp>
        <p:nvSpPr>
          <p:cNvPr id="12" name="Shape 10"/>
          <p:cNvSpPr/>
          <p:nvPr/>
        </p:nvSpPr>
        <p:spPr>
          <a:xfrm>
            <a:off x="6217920" y="1325880"/>
            <a:ext cx="2606040" cy="1463040"/>
          </a:xfrm>
          <a:prstGeom prst="rect">
            <a:avLst/>
          </a:prstGeom>
          <a:solidFill>
            <a:srgbClr val="01362A"/>
          </a:solidFill>
          <a:ln/>
        </p:spPr>
        <p:txBody>
          <a:bodyPr/>
          <a:lstStyle/>
          <a:p>
            <a:endParaRPr lang="en-US"/>
          </a:p>
        </p:txBody>
      </p:sp>
      <p:sp>
        <p:nvSpPr>
          <p:cNvPr id="13" name="Shape 11"/>
          <p:cNvSpPr/>
          <p:nvPr/>
        </p:nvSpPr>
        <p:spPr>
          <a:xfrm>
            <a:off x="6217920" y="1325880"/>
            <a:ext cx="2606040" cy="54864"/>
          </a:xfrm>
          <a:prstGeom prst="rect">
            <a:avLst/>
          </a:prstGeom>
          <a:solidFill>
            <a:srgbClr val="4DA78F"/>
          </a:solidFill>
          <a:ln/>
        </p:spPr>
        <p:txBody>
          <a:bodyPr/>
          <a:lstStyle/>
          <a:p>
            <a:endParaRPr lang="en-US"/>
          </a:p>
        </p:txBody>
      </p:sp>
      <p:sp>
        <p:nvSpPr>
          <p:cNvPr id="14" name="Text 12"/>
          <p:cNvSpPr/>
          <p:nvPr/>
        </p:nvSpPr>
        <p:spPr>
          <a:xfrm>
            <a:off x="6400800" y="146304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Investment Banking</a:t>
            </a:r>
            <a:endParaRPr lang="en-US" sz="1400" dirty="0"/>
          </a:p>
        </p:txBody>
      </p:sp>
      <p:sp>
        <p:nvSpPr>
          <p:cNvPr id="15" name="Text 13"/>
          <p:cNvSpPr/>
          <p:nvPr/>
        </p:nvSpPr>
        <p:spPr>
          <a:xfrm>
            <a:off x="6400800" y="182880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Comparable company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Credit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Valuation multiples</a:t>
            </a:r>
            <a:endParaRPr lang="en-US" sz="1000" dirty="0"/>
          </a:p>
        </p:txBody>
      </p:sp>
      <p:sp>
        <p:nvSpPr>
          <p:cNvPr id="16" name="Shape 14"/>
          <p:cNvSpPr/>
          <p:nvPr/>
        </p:nvSpPr>
        <p:spPr>
          <a:xfrm>
            <a:off x="548640" y="3017520"/>
            <a:ext cx="2606040" cy="1463040"/>
          </a:xfrm>
          <a:prstGeom prst="rect">
            <a:avLst/>
          </a:prstGeom>
          <a:solidFill>
            <a:srgbClr val="01362A"/>
          </a:solidFill>
          <a:ln/>
        </p:spPr>
        <p:txBody>
          <a:bodyPr/>
          <a:lstStyle/>
          <a:p>
            <a:endParaRPr lang="en-US"/>
          </a:p>
        </p:txBody>
      </p:sp>
      <p:sp>
        <p:nvSpPr>
          <p:cNvPr id="17" name="Shape 15"/>
          <p:cNvSpPr/>
          <p:nvPr/>
        </p:nvSpPr>
        <p:spPr>
          <a:xfrm>
            <a:off x="548640" y="3017520"/>
            <a:ext cx="2606040" cy="54864"/>
          </a:xfrm>
          <a:prstGeom prst="rect">
            <a:avLst/>
          </a:prstGeom>
          <a:solidFill>
            <a:srgbClr val="4DA78F"/>
          </a:solidFill>
          <a:ln/>
        </p:spPr>
        <p:txBody>
          <a:bodyPr/>
          <a:lstStyle/>
          <a:p>
            <a:endParaRPr lang="en-US"/>
          </a:p>
        </p:txBody>
      </p:sp>
      <p:sp>
        <p:nvSpPr>
          <p:cNvPr id="18" name="Text 16"/>
          <p:cNvSpPr/>
          <p:nvPr/>
        </p:nvSpPr>
        <p:spPr>
          <a:xfrm>
            <a:off x="731520" y="315468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Accounting &amp; Audit</a:t>
            </a:r>
            <a:endParaRPr lang="en-US" sz="1400" dirty="0"/>
          </a:p>
        </p:txBody>
      </p:sp>
      <p:sp>
        <p:nvSpPr>
          <p:cNvPr id="19" name="Text 17"/>
          <p:cNvSpPr/>
          <p:nvPr/>
        </p:nvSpPr>
        <p:spPr>
          <a:xfrm>
            <a:off x="731520" y="352044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Analytical procedures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Internal controls evaluation</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Financial statement analysis</a:t>
            </a:r>
            <a:endParaRPr lang="en-US" sz="1000" dirty="0"/>
          </a:p>
        </p:txBody>
      </p:sp>
      <p:sp>
        <p:nvSpPr>
          <p:cNvPr id="20" name="Shape 18"/>
          <p:cNvSpPr/>
          <p:nvPr/>
        </p:nvSpPr>
        <p:spPr>
          <a:xfrm>
            <a:off x="3383280" y="3017520"/>
            <a:ext cx="2606040" cy="1463040"/>
          </a:xfrm>
          <a:prstGeom prst="rect">
            <a:avLst/>
          </a:prstGeom>
          <a:solidFill>
            <a:srgbClr val="01362A"/>
          </a:solidFill>
          <a:ln/>
        </p:spPr>
        <p:txBody>
          <a:bodyPr/>
          <a:lstStyle/>
          <a:p>
            <a:endParaRPr lang="en-US"/>
          </a:p>
        </p:txBody>
      </p:sp>
      <p:sp>
        <p:nvSpPr>
          <p:cNvPr id="21" name="Shape 19"/>
          <p:cNvSpPr/>
          <p:nvPr/>
        </p:nvSpPr>
        <p:spPr>
          <a:xfrm>
            <a:off x="3383280" y="3017520"/>
            <a:ext cx="2606040" cy="54864"/>
          </a:xfrm>
          <a:prstGeom prst="rect">
            <a:avLst/>
          </a:prstGeom>
          <a:solidFill>
            <a:srgbClr val="4DA78F"/>
          </a:solidFill>
          <a:ln/>
        </p:spPr>
        <p:txBody>
          <a:bodyPr/>
          <a:lstStyle/>
          <a:p>
            <a:endParaRPr lang="en-US"/>
          </a:p>
        </p:txBody>
      </p:sp>
      <p:sp>
        <p:nvSpPr>
          <p:cNvPr id="22" name="Text 20"/>
          <p:cNvSpPr/>
          <p:nvPr/>
        </p:nvSpPr>
        <p:spPr>
          <a:xfrm>
            <a:off x="3566160" y="315468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Data &amp; AI Analytics</a:t>
            </a:r>
            <a:endParaRPr lang="en-US" sz="1400" dirty="0"/>
          </a:p>
        </p:txBody>
      </p:sp>
      <p:sp>
        <p:nvSpPr>
          <p:cNvPr id="23" name="Text 21"/>
          <p:cNvSpPr/>
          <p:nvPr/>
        </p:nvSpPr>
        <p:spPr>
          <a:xfrm>
            <a:off x="3566160" y="352044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Spec-to-prompt pipelines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GitHub version control</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AI-assisted modeling</a:t>
            </a:r>
            <a:endParaRPr lang="en-US" sz="1000" dirty="0"/>
          </a:p>
        </p:txBody>
      </p:sp>
      <p:sp>
        <p:nvSpPr>
          <p:cNvPr id="24" name="Shape 22"/>
          <p:cNvSpPr/>
          <p:nvPr/>
        </p:nvSpPr>
        <p:spPr>
          <a:xfrm>
            <a:off x="6217920" y="3017520"/>
            <a:ext cx="2606040" cy="1463040"/>
          </a:xfrm>
          <a:prstGeom prst="rect">
            <a:avLst/>
          </a:prstGeom>
          <a:solidFill>
            <a:srgbClr val="01362A"/>
          </a:solidFill>
          <a:ln/>
        </p:spPr>
        <p:txBody>
          <a:bodyPr/>
          <a:lstStyle/>
          <a:p>
            <a:endParaRPr lang="en-US"/>
          </a:p>
        </p:txBody>
      </p:sp>
      <p:sp>
        <p:nvSpPr>
          <p:cNvPr id="25" name="Shape 23"/>
          <p:cNvSpPr/>
          <p:nvPr/>
        </p:nvSpPr>
        <p:spPr>
          <a:xfrm>
            <a:off x="6217920" y="3017520"/>
            <a:ext cx="2606040" cy="54864"/>
          </a:xfrm>
          <a:prstGeom prst="rect">
            <a:avLst/>
          </a:prstGeom>
          <a:solidFill>
            <a:srgbClr val="4DA78F"/>
          </a:solidFill>
          <a:ln/>
        </p:spPr>
        <p:txBody>
          <a:bodyPr/>
          <a:lstStyle/>
          <a:p>
            <a:endParaRPr lang="en-US"/>
          </a:p>
        </p:txBody>
      </p:sp>
      <p:sp>
        <p:nvSpPr>
          <p:cNvPr id="26" name="Text 24"/>
          <p:cNvSpPr/>
          <p:nvPr/>
        </p:nvSpPr>
        <p:spPr>
          <a:xfrm>
            <a:off x="6400800" y="315468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Consulting</a:t>
            </a:r>
            <a:endParaRPr lang="en-US" sz="1400" dirty="0"/>
          </a:p>
        </p:txBody>
      </p:sp>
      <p:sp>
        <p:nvSpPr>
          <p:cNvPr id="27" name="Text 25"/>
          <p:cNvSpPr/>
          <p:nvPr/>
        </p:nvSpPr>
        <p:spPr>
          <a:xfrm>
            <a:off x="6400800" y="352044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Due diligence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Spec-driven delegation</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Executive communication</a:t>
            </a:r>
            <a:endParaRPr lang="en-US" sz="1000" dirty="0"/>
          </a:p>
        </p:txBody>
      </p:sp>
      <p:sp>
        <p:nvSpPr>
          <p:cNvPr id="28" name="Text 26"/>
          <p:cNvSpPr/>
          <p:nvPr/>
        </p:nvSpPr>
        <p:spPr>
          <a:xfrm>
            <a:off x="548640" y="4663440"/>
            <a:ext cx="8046720" cy="274320"/>
          </a:xfrm>
          <a:prstGeom prst="rect">
            <a:avLst/>
          </a:prstGeom>
          <a:noFill/>
          <a:ln/>
        </p:spPr>
        <p:txBody>
          <a:bodyPr wrap="square" rtlCol="0" anchor="ctr"/>
          <a:lstStyle/>
          <a:p>
            <a:pPr marL="0" indent="0">
              <a:buNone/>
            </a:pPr>
            <a:r>
              <a:rPr lang="en-US" sz="1100" b="1" dirty="0">
                <a:solidFill>
                  <a:srgbClr val="C9A84C"/>
                </a:solidFill>
                <a:latin typeface="Open Sans" pitchFamily="34" charset="0"/>
                <a:ea typeface="Open Sans" pitchFamily="34" charset="-122"/>
                <a:cs typeface="Open Sans" pitchFamily="34" charset="-120"/>
              </a:rPr>
              <a:t>This is a portfolio-ready artifact for internships, promotions, and graduate programs.</a:t>
            </a:r>
            <a:endParaRPr lang="en-US" sz="1100" dirty="0"/>
          </a:p>
        </p:txBody>
      </p:sp>
    </p:spTree>
    <p:extLst>
      <p:ext uri="{BB962C8B-B14F-4D97-AF65-F5344CB8AC3E}">
        <p14:creationId xmlns:p14="http://schemas.microsoft.com/office/powerpoint/2010/main" val="396205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BUS-629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What Is GitHub &amp; Why Does It Matter?</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 xml:space="preserve">GitHub is a cloud platform for version control. Think of it as Google Docs or </a:t>
            </a:r>
            <a:r>
              <a:rPr lang="en-US" sz="1300" dirty="0" err="1">
                <a:solidFill>
                  <a:srgbClr val="5A6B7A"/>
                </a:solidFill>
                <a:latin typeface="Open Sans" pitchFamily="34" charset="0"/>
                <a:ea typeface="Open Sans" pitchFamily="34" charset="-122"/>
                <a:cs typeface="Open Sans" pitchFamily="34" charset="-120"/>
              </a:rPr>
              <a:t>DropBox</a:t>
            </a:r>
            <a:r>
              <a:rPr lang="en-US" sz="1300" dirty="0">
                <a:solidFill>
                  <a:srgbClr val="5A6B7A"/>
                </a:solidFill>
                <a:latin typeface="Open Sans" pitchFamily="34" charset="0"/>
                <a:ea typeface="Open Sans" pitchFamily="34" charset="-122"/>
                <a:cs typeface="Open Sans" pitchFamily="34" charset="-120"/>
              </a:rPr>
              <a:t xml:space="preserve"> for code and documents — every change is tracked, reversible, and visible to your instructor.</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55448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Version History</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Every save (commit) is permanent. You can always go back to a previous version if something breaks.</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0624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Portfolio Artifact</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Your GitHub profile becomes a professional portfolio. Employers and grad schools check GitHub.</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85800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Submission &amp; Grading</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All stage deliverables are submitted by committing to GitHub. Your commit history IS your audit trail.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BB883-426B-E8D1-1DD1-7524737DDC5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EFAAD1-3590-726E-DAA2-22F3B8EAF0C0}"/>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97D63483-4CAA-E4A6-C0CC-010D2B0127C1}"/>
              </a:ext>
            </a:extLst>
          </p:cNvPr>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STAGE 0</a:t>
            </a:r>
            <a:endParaRPr lang="en-US" sz="1400" dirty="0"/>
          </a:p>
        </p:txBody>
      </p:sp>
      <p:sp>
        <p:nvSpPr>
          <p:cNvPr id="4" name="Text 2">
            <a:extLst>
              <a:ext uri="{FF2B5EF4-FFF2-40B4-BE49-F238E27FC236}">
                <a16:creationId xmlns:a16="http://schemas.microsoft.com/office/drawing/2014/main" id="{46BF2A88-7978-DB27-4E54-C7FB69426933}"/>
              </a:ext>
            </a:extLst>
          </p:cNvPr>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Setup GitHub Repo</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5496EC70-BA8E-CA4A-FF4E-3C90AA7FA00C}"/>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4F739FD6-FEE5-F5ED-783C-2A3A58B9D469}"/>
              </a:ext>
            </a:extLst>
          </p:cNvPr>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600" dirty="0">
                <a:solidFill>
                  <a:srgbClr val="36454F"/>
                </a:solidFill>
              </a:rPr>
              <a:t>Create your repository, install GitHub Desktop, and clone it locally so every step that follows is tracked.</a:t>
            </a:r>
          </a:p>
        </p:txBody>
      </p:sp>
      <p:pic>
        <p:nvPicPr>
          <p:cNvPr id="7" name="Image 0" descr="preencoded.png">
            <a:extLst>
              <a:ext uri="{FF2B5EF4-FFF2-40B4-BE49-F238E27FC236}">
                <a16:creationId xmlns:a16="http://schemas.microsoft.com/office/drawing/2014/main" id="{C85ACDA1-CB93-F31A-EDDD-FF661BECBC92}"/>
              </a:ext>
            </a:extLst>
          </p:cNvPr>
          <p:cNvPicPr>
            <a:picLocks noChangeAspect="1"/>
          </p:cNvPicPr>
          <p:nvPr/>
        </p:nvPicPr>
        <p:blipFill>
          <a:blip r:embed="rId3"/>
          <a:stretch>
            <a:fillRect/>
          </a:stretch>
        </p:blipFill>
        <p:spPr>
          <a:xfrm>
            <a:off x="7132320" y="3017520"/>
            <a:ext cx="1097280" cy="1097280"/>
          </a:xfrm>
          <a:prstGeom prst="rect">
            <a:avLst/>
          </a:prstGeom>
        </p:spPr>
      </p:pic>
      <p:sp>
        <p:nvSpPr>
          <p:cNvPr id="8" name="Text 5">
            <a:extLst>
              <a:ext uri="{FF2B5EF4-FFF2-40B4-BE49-F238E27FC236}">
                <a16:creationId xmlns:a16="http://schemas.microsoft.com/office/drawing/2014/main" id="{6CEA2D6F-F5EF-E249-C43C-AD7260A4517D}"/>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1250955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0 — Repository Setup &amp; Infrastructure</a:t>
            </a:r>
            <a:endParaRPr lang="en-US" sz="2000" dirty="0"/>
          </a:p>
        </p:txBody>
      </p:sp>
      <p:sp>
        <p:nvSpPr>
          <p:cNvPr id="4" name="Text 2"/>
          <p:cNvSpPr/>
          <p:nvPr/>
        </p:nvSpPr>
        <p:spPr>
          <a:xfrm>
            <a:off x="548640" y="429768"/>
            <a:ext cx="2743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5% of project</a:t>
            </a:r>
            <a:endParaRPr lang="en-US" sz="1100" dirty="0"/>
          </a:p>
        </p:txBody>
      </p:sp>
      <p:sp>
        <p:nvSpPr>
          <p:cNvPr id="5" name="Shape 3"/>
          <p:cNvSpPr/>
          <p:nvPr/>
        </p:nvSpPr>
        <p:spPr>
          <a:xfrm>
            <a:off x="457200" y="1051560"/>
            <a:ext cx="4023360" cy="3566160"/>
          </a:xfrm>
          <a:prstGeom prst="rect">
            <a:avLst/>
          </a:prstGeom>
          <a:solidFill>
            <a:srgbClr val="1A2332"/>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640080" y="1188720"/>
            <a:ext cx="3657600" cy="3291840"/>
          </a:xfrm>
          <a:prstGeom prst="rect">
            <a:avLst/>
          </a:prstGeom>
          <a:noFill/>
          <a:ln/>
        </p:spPr>
        <p:txBody>
          <a:bodyPr wrap="square" rtlCol="0" anchor="ctr"/>
          <a:lstStyle/>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Corporate-Finance/      # your portfolio repo</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README.md           # your bio (repo home)</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RESUME.md           # markdown resume</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BIO.md              # optional longer bio</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docs/               # written deliverables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decisions/      # memos (Stage 2)</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specs/          # tech specs (Stage 4)</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plans/          # optional plans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templates/      # local stubs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models/             # Excel work</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templates/      # blank ratios template</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builds/         # populated (Stage 3)</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data/               # raw financials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analysis/validation/  # Stage 3 reports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deliverables/       # final (Stage 5)</a:t>
            </a:r>
            <a:endParaRPr lang="en-US" sz="1000" dirty="0"/>
          </a:p>
        </p:txBody>
      </p:sp>
      <p:sp>
        <p:nvSpPr>
          <p:cNvPr id="7" name="Shape 5"/>
          <p:cNvSpPr/>
          <p:nvPr/>
        </p:nvSpPr>
        <p:spPr>
          <a:xfrm>
            <a:off x="4846320" y="1097280"/>
            <a:ext cx="365760" cy="365760"/>
          </a:xfrm>
          <a:prstGeom prst="ellipse">
            <a:avLst/>
          </a:prstGeom>
          <a:solidFill>
            <a:srgbClr val="E6F2EF"/>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4926787" y="1177747"/>
            <a:ext cx="204826" cy="204826"/>
          </a:xfrm>
          <a:prstGeom prst="rect">
            <a:avLst/>
          </a:prstGeom>
        </p:spPr>
      </p:pic>
      <p:sp>
        <p:nvSpPr>
          <p:cNvPr id="9" name="Text 6"/>
          <p:cNvSpPr/>
          <p:nvPr/>
        </p:nvSpPr>
        <p:spPr>
          <a:xfrm>
            <a:off x="5349240" y="105156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README.md Files</a:t>
            </a:r>
            <a:endParaRPr lang="en-US" sz="1200" dirty="0"/>
          </a:p>
        </p:txBody>
      </p:sp>
      <p:sp>
        <p:nvSpPr>
          <p:cNvPr id="10" name="Text 7"/>
          <p:cNvSpPr/>
          <p:nvPr/>
        </p:nvSpPr>
        <p:spPr>
          <a:xfrm>
            <a:off x="5349240" y="132588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Every directory gets a README. If someone new joins, they navigate by READMEs alone.</a:t>
            </a:r>
            <a:endParaRPr lang="en-US" sz="1000" dirty="0"/>
          </a:p>
        </p:txBody>
      </p:sp>
      <p:sp>
        <p:nvSpPr>
          <p:cNvPr id="11" name="Shape 8"/>
          <p:cNvSpPr/>
          <p:nvPr/>
        </p:nvSpPr>
        <p:spPr>
          <a:xfrm>
            <a:off x="4846320" y="1965960"/>
            <a:ext cx="365760" cy="365760"/>
          </a:xfrm>
          <a:prstGeom prst="ellipse">
            <a:avLst/>
          </a:prstGeom>
          <a:solidFill>
            <a:srgbClr val="E6F2E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26787" y="2046427"/>
            <a:ext cx="204826" cy="204826"/>
          </a:xfrm>
          <a:prstGeom prst="rect">
            <a:avLst/>
          </a:prstGeom>
        </p:spPr>
      </p:pic>
      <p:sp>
        <p:nvSpPr>
          <p:cNvPr id="13" name="Text 9"/>
          <p:cNvSpPr/>
          <p:nvPr/>
        </p:nvSpPr>
        <p:spPr>
          <a:xfrm>
            <a:off x="5349240" y="192024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Git Basics</a:t>
            </a:r>
            <a:endParaRPr lang="en-US" sz="1200" dirty="0"/>
          </a:p>
        </p:txBody>
      </p:sp>
      <p:sp>
        <p:nvSpPr>
          <p:cNvPr id="14" name="Text 10"/>
          <p:cNvSpPr/>
          <p:nvPr/>
        </p:nvSpPr>
        <p:spPr>
          <a:xfrm>
            <a:off x="5349240" y="219456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Clone, add, commit, push, pull. Descriptive commit messages. Version control as a professional skill.</a:t>
            </a:r>
            <a:endParaRPr lang="en-US" sz="1000" dirty="0"/>
          </a:p>
        </p:txBody>
      </p:sp>
      <p:sp>
        <p:nvSpPr>
          <p:cNvPr id="15" name="Shape 11"/>
          <p:cNvSpPr/>
          <p:nvPr/>
        </p:nvSpPr>
        <p:spPr>
          <a:xfrm>
            <a:off x="4846320" y="2834640"/>
            <a:ext cx="365760" cy="365760"/>
          </a:xfrm>
          <a:prstGeom prst="ellipse">
            <a:avLst/>
          </a:prstGeom>
          <a:solidFill>
            <a:srgbClr val="E6F2E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926787" y="2915107"/>
            <a:ext cx="204826" cy="204826"/>
          </a:xfrm>
          <a:prstGeom prst="rect">
            <a:avLst/>
          </a:prstGeom>
        </p:spPr>
      </p:pic>
      <p:sp>
        <p:nvSpPr>
          <p:cNvPr id="17" name="Text 12"/>
          <p:cNvSpPr/>
          <p:nvPr/>
        </p:nvSpPr>
        <p:spPr>
          <a:xfrm>
            <a:off x="5349240" y="278892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Markdown</a:t>
            </a:r>
            <a:endParaRPr lang="en-US" sz="1200" dirty="0"/>
          </a:p>
        </p:txBody>
      </p:sp>
      <p:sp>
        <p:nvSpPr>
          <p:cNvPr id="18" name="Text 13"/>
          <p:cNvSpPr/>
          <p:nvPr/>
        </p:nvSpPr>
        <p:spPr>
          <a:xfrm>
            <a:off x="5349240" y="306324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Headings, lists, tables, links, code blocks — the same tools used in every stage.</a:t>
            </a:r>
            <a:endParaRPr lang="en-US" sz="1000" dirty="0"/>
          </a:p>
        </p:txBody>
      </p:sp>
      <p:sp>
        <p:nvSpPr>
          <p:cNvPr id="19" name="Shape 14"/>
          <p:cNvSpPr/>
          <p:nvPr/>
        </p:nvSpPr>
        <p:spPr>
          <a:xfrm>
            <a:off x="4846320" y="3703320"/>
            <a:ext cx="365760" cy="365760"/>
          </a:xfrm>
          <a:prstGeom prst="ellipse">
            <a:avLst/>
          </a:prstGeom>
          <a:solidFill>
            <a:srgbClr val="E6F2E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4926787" y="3783787"/>
            <a:ext cx="204826" cy="204826"/>
          </a:xfrm>
          <a:prstGeom prst="rect">
            <a:avLst/>
          </a:prstGeom>
        </p:spPr>
      </p:pic>
      <p:sp>
        <p:nvSpPr>
          <p:cNvPr id="21" name="Text 15"/>
          <p:cNvSpPr/>
          <p:nvPr/>
        </p:nvSpPr>
        <p:spPr>
          <a:xfrm>
            <a:off x="5349240" y="365760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Separation of Concerns</a:t>
            </a:r>
            <a:endParaRPr lang="en-US" sz="1200" dirty="0"/>
          </a:p>
        </p:txBody>
      </p:sp>
      <p:sp>
        <p:nvSpPr>
          <p:cNvPr id="22" name="Text 16"/>
          <p:cNvSpPr/>
          <p:nvPr/>
        </p:nvSpPr>
        <p:spPr>
          <a:xfrm>
            <a:off x="5349240" y="393192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Raw data ≠ analysis. Templates ≠ builds. Drafts ≠ deliverables.</a:t>
            </a:r>
            <a:endParaRPr lang="en-US" sz="1000" dirty="0"/>
          </a:p>
        </p:txBody>
      </p:sp>
      <p:sp>
        <p:nvSpPr>
          <p:cNvPr id="23" name="Text 17"/>
          <p:cNvSpPr/>
          <p:nvPr/>
        </p:nvSpPr>
        <p:spPr>
          <a:xfrm>
            <a:off x="4846320" y="4526280"/>
            <a:ext cx="3840480" cy="274320"/>
          </a:xfrm>
          <a:prstGeom prst="rect">
            <a:avLst/>
          </a:prstGeom>
          <a:noFill/>
          <a:ln/>
        </p:spPr>
        <p:txBody>
          <a:bodyPr wrap="square"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The course repo serves as a living example — replicate its structure in your own repo.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your-repo on github.com</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1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Create a GitHub Account</a:t>
            </a:r>
            <a:endParaRPr lang="en-US" sz="2800" dirty="0"/>
          </a:p>
        </p:txBody>
      </p:sp>
      <p:sp>
        <p:nvSpPr>
          <p:cNvPr id="8" name="Shape 6"/>
          <p:cNvSpPr/>
          <p:nvPr/>
        </p:nvSpPr>
        <p:spPr>
          <a:xfrm>
            <a:off x="731520" y="1280160"/>
            <a:ext cx="365760" cy="365760"/>
          </a:xfrm>
          <a:prstGeom prst="line">
            <a:avLst/>
          </a:prstGeom>
          <a:solidFill>
            <a:srgbClr val="B8975C"/>
          </a:solidFill>
          <a:ln/>
        </p:spPr>
        <p:txBody>
          <a:bodyPr/>
          <a:lstStyle/>
          <a:p>
            <a:endParaRPr lang="en-US"/>
          </a:p>
        </p:txBody>
      </p:sp>
      <p:sp>
        <p:nvSpPr>
          <p:cNvPr id="9" name="Text 7"/>
          <p:cNvSpPr/>
          <p:nvPr/>
        </p:nvSpPr>
        <p:spPr>
          <a:xfrm>
            <a:off x="73152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0" name="Text 8"/>
          <p:cNvSpPr/>
          <p:nvPr/>
        </p:nvSpPr>
        <p:spPr>
          <a:xfrm>
            <a:off x="1280160" y="128016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Go to github.com and click Sign Up</a:t>
            </a:r>
            <a:endParaRPr lang="en-US" sz="1300" dirty="0"/>
          </a:p>
        </p:txBody>
      </p:sp>
      <p:sp>
        <p:nvSpPr>
          <p:cNvPr id="11" name="Shape 9"/>
          <p:cNvSpPr/>
          <p:nvPr/>
        </p:nvSpPr>
        <p:spPr>
          <a:xfrm>
            <a:off x="731520" y="1828800"/>
            <a:ext cx="365760" cy="365760"/>
          </a:xfrm>
          <a:prstGeom prst="line">
            <a:avLst/>
          </a:prstGeom>
          <a:solidFill>
            <a:srgbClr val="B8975C"/>
          </a:solidFill>
          <a:ln/>
        </p:spPr>
        <p:txBody>
          <a:bodyPr/>
          <a:lstStyle/>
          <a:p>
            <a:endParaRPr lang="en-US"/>
          </a:p>
        </p:txBody>
      </p:sp>
      <p:sp>
        <p:nvSpPr>
          <p:cNvPr id="12" name="Text 10"/>
          <p:cNvSpPr/>
          <p:nvPr/>
        </p:nvSpPr>
        <p:spPr>
          <a:xfrm>
            <a:off x="7315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3" name="Text 11"/>
          <p:cNvSpPr/>
          <p:nvPr/>
        </p:nvSpPr>
        <p:spPr>
          <a:xfrm>
            <a:off x="1280160" y="182880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Use your @hawaii.edu email (gets free GitHub Pro)</a:t>
            </a:r>
            <a:endParaRPr lang="en-US" sz="1300" dirty="0"/>
          </a:p>
        </p:txBody>
      </p:sp>
      <p:sp>
        <p:nvSpPr>
          <p:cNvPr id="14" name="Shape 12"/>
          <p:cNvSpPr/>
          <p:nvPr/>
        </p:nvSpPr>
        <p:spPr>
          <a:xfrm>
            <a:off x="731520" y="2377440"/>
            <a:ext cx="365760" cy="365760"/>
          </a:xfrm>
          <a:prstGeom prst="line">
            <a:avLst/>
          </a:prstGeom>
          <a:solidFill>
            <a:srgbClr val="B8975C"/>
          </a:solidFill>
          <a:ln/>
        </p:spPr>
        <p:txBody>
          <a:bodyPr/>
          <a:lstStyle/>
          <a:p>
            <a:endParaRPr lang="en-US"/>
          </a:p>
        </p:txBody>
      </p:sp>
      <p:sp>
        <p:nvSpPr>
          <p:cNvPr id="15" name="Text 13"/>
          <p:cNvSpPr/>
          <p:nvPr/>
        </p:nvSpPr>
        <p:spPr>
          <a:xfrm>
            <a:off x="73152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6" name="Text 14"/>
          <p:cNvSpPr/>
          <p:nvPr/>
        </p:nvSpPr>
        <p:spPr>
          <a:xfrm>
            <a:off x="1280160" y="237744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Choose a professional username (e.g., firstname-lastname)</a:t>
            </a:r>
            <a:endParaRPr lang="en-US" sz="1300" dirty="0"/>
          </a:p>
        </p:txBody>
      </p:sp>
      <p:sp>
        <p:nvSpPr>
          <p:cNvPr id="17" name="Shape 15"/>
          <p:cNvSpPr/>
          <p:nvPr/>
        </p:nvSpPr>
        <p:spPr>
          <a:xfrm>
            <a:off x="731520" y="2926080"/>
            <a:ext cx="365760" cy="365760"/>
          </a:xfrm>
          <a:prstGeom prst="line">
            <a:avLst/>
          </a:prstGeom>
          <a:solidFill>
            <a:srgbClr val="B8975C"/>
          </a:solidFill>
          <a:ln/>
        </p:spPr>
        <p:txBody>
          <a:bodyPr/>
          <a:lstStyle/>
          <a:p>
            <a:endParaRPr lang="en-US"/>
          </a:p>
        </p:txBody>
      </p:sp>
      <p:sp>
        <p:nvSpPr>
          <p:cNvPr id="18" name="Text 16"/>
          <p:cNvSpPr/>
          <p:nvPr/>
        </p:nvSpPr>
        <p:spPr>
          <a:xfrm>
            <a:off x="7315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9" name="Text 17"/>
          <p:cNvSpPr/>
          <p:nvPr/>
        </p:nvSpPr>
        <p:spPr>
          <a:xfrm>
            <a:off x="1280160" y="292608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Verify your email address</a:t>
            </a:r>
            <a:endParaRPr lang="en-US" sz="1300" dirty="0"/>
          </a:p>
        </p:txBody>
      </p:sp>
      <p:sp>
        <p:nvSpPr>
          <p:cNvPr id="20" name="Shape 18"/>
          <p:cNvSpPr/>
          <p:nvPr/>
        </p:nvSpPr>
        <p:spPr>
          <a:xfrm>
            <a:off x="731520" y="3474720"/>
            <a:ext cx="365760" cy="365760"/>
          </a:xfrm>
          <a:prstGeom prst="line">
            <a:avLst/>
          </a:prstGeom>
          <a:solidFill>
            <a:srgbClr val="B8975C"/>
          </a:solidFill>
          <a:ln/>
        </p:spPr>
        <p:txBody>
          <a:bodyPr/>
          <a:lstStyle/>
          <a:p>
            <a:endParaRPr lang="en-US"/>
          </a:p>
        </p:txBody>
      </p:sp>
      <p:sp>
        <p:nvSpPr>
          <p:cNvPr id="21" name="Text 19"/>
          <p:cNvSpPr/>
          <p:nvPr/>
        </p:nvSpPr>
        <p:spPr>
          <a:xfrm>
            <a:off x="73152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2" name="Text 20"/>
          <p:cNvSpPr/>
          <p:nvPr/>
        </p:nvSpPr>
        <p:spPr>
          <a:xfrm>
            <a:off x="1280160" y="347472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Share your GitHub username with the instructor</a:t>
            </a:r>
            <a:endParaRPr lang="en-US" sz="1300" dirty="0"/>
          </a:p>
        </p:txBody>
      </p:sp>
      <p:sp>
        <p:nvSpPr>
          <p:cNvPr id="23" name="Shape 21"/>
          <p:cNvSpPr/>
          <p:nvPr/>
        </p:nvSpPr>
        <p:spPr>
          <a:xfrm>
            <a:off x="5486400" y="1280160"/>
            <a:ext cx="310896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5715000" y="1463040"/>
            <a:ext cx="320040" cy="320040"/>
          </a:xfrm>
          <a:prstGeom prst="rect">
            <a:avLst/>
          </a:prstGeom>
        </p:spPr>
      </p:pic>
      <p:sp>
        <p:nvSpPr>
          <p:cNvPr id="25" name="Text 22"/>
          <p:cNvSpPr/>
          <p:nvPr/>
        </p:nvSpPr>
        <p:spPr>
          <a:xfrm>
            <a:off x="6126480" y="1463040"/>
            <a:ext cx="22860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Pro Tips</a:t>
            </a:r>
            <a:endParaRPr lang="en-US" sz="1400" dirty="0"/>
          </a:p>
        </p:txBody>
      </p:sp>
      <p:sp>
        <p:nvSpPr>
          <p:cNvPr id="26" name="Text 23"/>
          <p:cNvSpPr/>
          <p:nvPr/>
        </p:nvSpPr>
        <p:spPr>
          <a:xfrm>
            <a:off x="5715000" y="1920240"/>
            <a:ext cx="2697480" cy="2103120"/>
          </a:xfrm>
          <a:prstGeom prst="rect">
            <a:avLst/>
          </a:prstGeom>
          <a:noFill/>
          <a:ln/>
        </p:spPr>
        <p:txBody>
          <a:bodyPr wrap="square" lIns="0" tIns="0" rIns="0" bIns="0" rtlCol="0" anchor="t"/>
          <a:lstStyle/>
          <a:p>
            <a:pPr marL="0" indent="0">
              <a:buNone/>
            </a:pPr>
            <a:r>
              <a:rPr lang="en-US" sz="1100" b="1" dirty="0">
                <a:solidFill>
                  <a:srgbClr val="1E2530"/>
                </a:solidFill>
              </a:rPr>
              <a:t>Username matters</a:t>
            </a:r>
            <a:endParaRPr lang="en-US" sz="1100" dirty="0"/>
          </a:p>
          <a:p>
            <a:pPr marL="0" indent="0">
              <a:buNone/>
            </a:pPr>
            <a:r>
              <a:rPr lang="en-US" sz="1000" dirty="0">
                <a:solidFill>
                  <a:srgbClr val="5A6B7A"/>
                </a:solidFill>
              </a:rPr>
              <a:t>Employers see it. Avoid gamer tags or joke names.
</a:t>
            </a:r>
            <a:endParaRPr lang="en-US" sz="1100" dirty="0"/>
          </a:p>
          <a:p>
            <a:pPr marL="0" indent="0">
              <a:buNone/>
            </a:pPr>
            <a:r>
              <a:rPr lang="en-US" sz="1100" b="1" dirty="0">
                <a:solidFill>
                  <a:srgbClr val="1E2530"/>
                </a:solidFill>
              </a:rPr>
              <a:t>Student Developer Pack</a:t>
            </a:r>
            <a:endParaRPr lang="en-US" sz="1100" dirty="0"/>
          </a:p>
          <a:p>
            <a:pPr marL="0" indent="0">
              <a:buNone/>
            </a:pPr>
            <a:r>
              <a:rPr lang="en-US" sz="1000" dirty="0">
                <a:solidFill>
                  <a:srgbClr val="5A6B7A"/>
                </a:solidFill>
              </a:rPr>
              <a:t>education.github.com — free Pro features, Copilot access, and more with your .edu email.
</a:t>
            </a:r>
            <a:endParaRPr lang="en-US" sz="1100" dirty="0"/>
          </a:p>
          <a:p>
            <a:pPr marL="0" indent="0">
              <a:buNone/>
            </a:pPr>
            <a:r>
              <a:rPr lang="en-US" sz="1100" b="1" dirty="0">
                <a:solidFill>
                  <a:srgbClr val="1E2530"/>
                </a:solidFill>
              </a:rPr>
              <a:t>Profile photo</a:t>
            </a:r>
            <a:endParaRPr lang="en-US" sz="1100" dirty="0"/>
          </a:p>
          <a:p>
            <a:pPr marL="0" indent="0">
              <a:buNone/>
            </a:pPr>
            <a:r>
              <a:rPr lang="en-US" sz="1000" dirty="0">
                <a:solidFill>
                  <a:srgbClr val="5A6B7A"/>
                </a:solidFill>
              </a:rPr>
              <a:t>Optional but professional. Headshot or avatar helps your instructor identify you.</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desktop.github.com</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2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Install GitHub Desktop</a:t>
            </a:r>
            <a:endParaRPr lang="en-US" sz="2800" dirty="0"/>
          </a:p>
        </p:txBody>
      </p:sp>
      <p:sp>
        <p:nvSpPr>
          <p:cNvPr id="8" name="Text 6"/>
          <p:cNvSpPr/>
          <p:nvPr/>
        </p:nvSpPr>
        <p:spPr>
          <a:xfrm>
            <a:off x="731520" y="1143000"/>
            <a:ext cx="7680960" cy="365760"/>
          </a:xfrm>
          <a:prstGeom prst="rect">
            <a:avLst/>
          </a:prstGeom>
          <a:noFill/>
          <a:ln/>
        </p:spPr>
        <p:txBody>
          <a:bodyPr wrap="square" lIns="0" tIns="0" rIns="0" bIns="0" rtlCol="0" anchor="ctr"/>
          <a:lstStyle/>
          <a:p>
            <a:pPr marL="0" indent="0">
              <a:buNone/>
            </a:pPr>
            <a:r>
              <a:rPr lang="en-US" sz="1200" dirty="0">
                <a:solidFill>
                  <a:srgbClr val="5A6B7A"/>
                </a:solidFill>
                <a:latin typeface="Open Sans" pitchFamily="34" charset="0"/>
                <a:ea typeface="Open Sans" pitchFamily="34" charset="-122"/>
                <a:cs typeface="Open Sans" pitchFamily="34" charset="-120"/>
              </a:rPr>
              <a:t>GitHub Desktop is a free visual app — no terminal, no command line. It installs Git in the background and wraps every Git operation in a button or menu.</a:t>
            </a:r>
            <a:endParaRPr lang="en-US" sz="1200" dirty="0"/>
          </a:p>
        </p:txBody>
      </p:sp>
      <p:sp>
        <p:nvSpPr>
          <p:cNvPr id="9" name="Shape 7"/>
          <p:cNvSpPr/>
          <p:nvPr/>
        </p:nvSpPr>
        <p:spPr>
          <a:xfrm>
            <a:off x="731520" y="1691640"/>
            <a:ext cx="3840480" cy="178308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0" name="Text 8"/>
          <p:cNvSpPr/>
          <p:nvPr/>
        </p:nvSpPr>
        <p:spPr>
          <a:xfrm>
            <a:off x="914400" y="1783080"/>
            <a:ext cx="3474720" cy="320040"/>
          </a:xfrm>
          <a:prstGeom prst="rect">
            <a:avLst/>
          </a:prstGeom>
          <a:noFill/>
          <a:ln/>
        </p:spPr>
        <p:txBody>
          <a:bodyPr wrap="square" lIns="0" tIns="0" rIns="0" bIns="0" rtlCol="0" anchor="ctr"/>
          <a:lstStyle/>
          <a:p>
            <a:pPr marL="0" indent="0">
              <a:buNone/>
            </a:pPr>
            <a:r>
              <a:rPr lang="en-US" sz="1500" b="1" dirty="0">
                <a:solidFill>
                  <a:srgbClr val="1E2530"/>
                </a:solidFill>
                <a:latin typeface="Open Sans" pitchFamily="34" charset="0"/>
                <a:ea typeface="Open Sans" pitchFamily="34" charset="-122"/>
                <a:cs typeface="Open Sans" pitchFamily="34" charset="-120"/>
              </a:rPr>
              <a:t>Windows</a:t>
            </a:r>
            <a:endParaRPr lang="en-US" sz="1500" dirty="0"/>
          </a:p>
        </p:txBody>
      </p:sp>
      <p:sp>
        <p:nvSpPr>
          <p:cNvPr id="11" name="Text 9"/>
          <p:cNvSpPr/>
          <p:nvPr/>
        </p:nvSpPr>
        <p:spPr>
          <a:xfrm>
            <a:off x="914400" y="214884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Download from desktop.github.com</a:t>
            </a:r>
            <a:endParaRPr lang="en-US" sz="1100" dirty="0"/>
          </a:p>
        </p:txBody>
      </p:sp>
      <p:sp>
        <p:nvSpPr>
          <p:cNvPr id="12" name="Text 10"/>
          <p:cNvSpPr/>
          <p:nvPr/>
        </p:nvSpPr>
        <p:spPr>
          <a:xfrm>
            <a:off x="914400" y="246888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Run the installer — Git is bundled in, no separate install needed</a:t>
            </a:r>
            <a:endParaRPr lang="en-US" sz="1100" dirty="0"/>
          </a:p>
        </p:txBody>
      </p:sp>
      <p:sp>
        <p:nvSpPr>
          <p:cNvPr id="13" name="Text 11"/>
          <p:cNvSpPr/>
          <p:nvPr/>
        </p:nvSpPr>
        <p:spPr>
          <a:xfrm>
            <a:off x="914400" y="278892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Launch GitHub Desktop from your Start menu</a:t>
            </a:r>
            <a:endParaRPr lang="en-US" sz="1100" dirty="0"/>
          </a:p>
        </p:txBody>
      </p:sp>
      <p:sp>
        <p:nvSpPr>
          <p:cNvPr id="14" name="Text 12"/>
          <p:cNvSpPr/>
          <p:nvPr/>
        </p:nvSpPr>
        <p:spPr>
          <a:xfrm>
            <a:off x="914400" y="310896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Sign in with your GitHub.com account</a:t>
            </a:r>
            <a:endParaRPr lang="en-US" sz="1100" dirty="0"/>
          </a:p>
        </p:txBody>
      </p:sp>
      <p:sp>
        <p:nvSpPr>
          <p:cNvPr id="15" name="Shape 13"/>
          <p:cNvSpPr/>
          <p:nvPr/>
        </p:nvSpPr>
        <p:spPr>
          <a:xfrm>
            <a:off x="4937760" y="1691640"/>
            <a:ext cx="3840480" cy="178308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6" name="Text 14"/>
          <p:cNvSpPr/>
          <p:nvPr/>
        </p:nvSpPr>
        <p:spPr>
          <a:xfrm>
            <a:off x="5120640" y="1783080"/>
            <a:ext cx="3474720" cy="320040"/>
          </a:xfrm>
          <a:prstGeom prst="rect">
            <a:avLst/>
          </a:prstGeom>
          <a:noFill/>
          <a:ln/>
        </p:spPr>
        <p:txBody>
          <a:bodyPr wrap="square" lIns="0" tIns="0" rIns="0" bIns="0" rtlCol="0" anchor="ctr"/>
          <a:lstStyle/>
          <a:p>
            <a:pPr marL="0" indent="0">
              <a:buNone/>
            </a:pPr>
            <a:r>
              <a:rPr lang="en-US" sz="1500" b="1" dirty="0">
                <a:solidFill>
                  <a:srgbClr val="1E2530"/>
                </a:solidFill>
                <a:latin typeface="Open Sans" pitchFamily="34" charset="0"/>
                <a:ea typeface="Open Sans" pitchFamily="34" charset="-122"/>
                <a:cs typeface="Open Sans" pitchFamily="34" charset="-120"/>
              </a:rPr>
              <a:t>Mac</a:t>
            </a:r>
            <a:endParaRPr lang="en-US" sz="1500" dirty="0"/>
          </a:p>
        </p:txBody>
      </p:sp>
      <p:sp>
        <p:nvSpPr>
          <p:cNvPr id="17" name="Text 15"/>
          <p:cNvSpPr/>
          <p:nvPr/>
        </p:nvSpPr>
        <p:spPr>
          <a:xfrm>
            <a:off x="5120640" y="214884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Download from desktop.github.com</a:t>
            </a:r>
            <a:endParaRPr lang="en-US" sz="1100" dirty="0"/>
          </a:p>
        </p:txBody>
      </p:sp>
      <p:sp>
        <p:nvSpPr>
          <p:cNvPr id="18" name="Text 16"/>
          <p:cNvSpPr/>
          <p:nvPr/>
        </p:nvSpPr>
        <p:spPr>
          <a:xfrm>
            <a:off x="5120640" y="246888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Open the .dmg, drag to Applications</a:t>
            </a:r>
            <a:endParaRPr lang="en-US" sz="1100" dirty="0"/>
          </a:p>
        </p:txBody>
      </p:sp>
      <p:sp>
        <p:nvSpPr>
          <p:cNvPr id="19" name="Text 17"/>
          <p:cNvSpPr/>
          <p:nvPr/>
        </p:nvSpPr>
        <p:spPr>
          <a:xfrm>
            <a:off x="5120640" y="278892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Launch GitHub Desktop from Applications</a:t>
            </a:r>
            <a:endParaRPr lang="en-US" sz="1100" dirty="0"/>
          </a:p>
        </p:txBody>
      </p:sp>
      <p:sp>
        <p:nvSpPr>
          <p:cNvPr id="20" name="Text 18"/>
          <p:cNvSpPr/>
          <p:nvPr/>
        </p:nvSpPr>
        <p:spPr>
          <a:xfrm>
            <a:off x="5120640" y="310896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Sign in with your GitHub.com account</a:t>
            </a:r>
            <a:endParaRPr lang="en-US" sz="1100" dirty="0"/>
          </a:p>
        </p:txBody>
      </p:sp>
      <p:sp>
        <p:nvSpPr>
          <p:cNvPr id="21" name="Shape 19"/>
          <p:cNvSpPr/>
          <p:nvPr/>
        </p:nvSpPr>
        <p:spPr>
          <a:xfrm>
            <a:off x="731520" y="3703320"/>
            <a:ext cx="7680960" cy="822960"/>
          </a:xfrm>
          <a:prstGeom prst="rect">
            <a:avLst/>
          </a:prstGeom>
          <a:solidFill>
            <a:srgbClr val="36454F"/>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960120" y="3840480"/>
            <a:ext cx="365760" cy="365760"/>
          </a:xfrm>
          <a:prstGeom prst="rect">
            <a:avLst/>
          </a:prstGeom>
        </p:spPr>
      </p:pic>
      <p:sp>
        <p:nvSpPr>
          <p:cNvPr id="23" name="Text 20"/>
          <p:cNvSpPr/>
          <p:nvPr/>
        </p:nvSpPr>
        <p:spPr>
          <a:xfrm>
            <a:off x="1463040" y="3749040"/>
            <a:ext cx="3657600" cy="274320"/>
          </a:xfrm>
          <a:prstGeom prst="rect">
            <a:avLst/>
          </a:prstGeom>
          <a:noFill/>
          <a:ln/>
        </p:spPr>
        <p:txBody>
          <a:bodyPr wrap="square" lIns="0" tIns="0" rIns="0" bIns="0" rtlCol="0" anchor="ctr"/>
          <a:lstStyle/>
          <a:p>
            <a:pPr marL="0" indent="0">
              <a:buNone/>
            </a:pPr>
            <a:r>
              <a:rPr lang="en-US" sz="1100" b="1" dirty="0">
                <a:solidFill>
                  <a:srgbClr val="B8975C"/>
                </a:solidFill>
                <a:latin typeface="Open Sans" pitchFamily="34" charset="0"/>
                <a:ea typeface="Open Sans" pitchFamily="34" charset="-122"/>
                <a:cs typeface="Open Sans" pitchFamily="34" charset="-120"/>
              </a:rPr>
              <a:t>First-Time Setup (Desktop confirms these on first launch):</a:t>
            </a:r>
            <a:endParaRPr lang="en-US" sz="1100" dirty="0"/>
          </a:p>
        </p:txBody>
      </p:sp>
      <p:sp>
        <p:nvSpPr>
          <p:cNvPr id="24" name="Text 21"/>
          <p:cNvSpPr/>
          <p:nvPr/>
        </p:nvSpPr>
        <p:spPr>
          <a:xfrm>
            <a:off x="1463040" y="4023360"/>
            <a:ext cx="6400800" cy="411480"/>
          </a:xfrm>
          <a:prstGeom prst="rect">
            <a:avLst/>
          </a:prstGeom>
          <a:noFill/>
          <a:ln/>
        </p:spPr>
        <p:txBody>
          <a:bodyPr wrap="square" lIns="0" tIns="0" rIns="0" bIns="0" rtlCol="0" anchor="ctr"/>
          <a:lstStyle/>
          <a:p>
            <a:pPr marL="0" indent="0">
              <a:lnSpc>
                <a:spcPct val="130000"/>
              </a:lnSpc>
              <a:buNone/>
            </a:pPr>
            <a:r>
              <a:rPr lang="en-US" sz="1100" dirty="0">
                <a:solidFill>
                  <a:srgbClr val="FFFFFF"/>
                </a:solidFill>
                <a:latin typeface="Consolas" pitchFamily="34" charset="0"/>
                <a:ea typeface="Consolas" pitchFamily="34" charset="-122"/>
                <a:cs typeface="Consolas" pitchFamily="34" charset="-120"/>
              </a:rPr>
              <a:t>Name:   Your full name (appears on every commit)</a:t>
            </a:r>
            <a:endParaRPr lang="en-US" sz="1100" dirty="0"/>
          </a:p>
          <a:p>
            <a:pPr marL="0" indent="0">
              <a:lnSpc>
                <a:spcPct val="130000"/>
              </a:lnSpc>
              <a:buNone/>
            </a:pPr>
            <a:r>
              <a:rPr lang="en-US" sz="1100" dirty="0">
                <a:solidFill>
                  <a:srgbClr val="FFFFFF"/>
                </a:solidFill>
                <a:latin typeface="Consolas" pitchFamily="34" charset="0"/>
                <a:ea typeface="Consolas" pitchFamily="34" charset="-122"/>
                <a:cs typeface="Consolas" pitchFamily="34" charset="-120"/>
              </a:rPr>
              <a:t>Email:  your@hawaii.edu  (matches your GitHub account)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Corporate-Finance/ (new repo)</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3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Create Your Repo &amp; Directory Skeleton</a:t>
            </a:r>
            <a:endParaRPr lang="en-US" sz="2800" dirty="0"/>
          </a:p>
        </p:txBody>
      </p:sp>
      <p:sp>
        <p:nvSpPr>
          <p:cNvPr id="8" name="Shape 6"/>
          <p:cNvSpPr/>
          <p:nvPr/>
        </p:nvSpPr>
        <p:spPr>
          <a:xfrm>
            <a:off x="731520" y="1280160"/>
            <a:ext cx="365760" cy="365760"/>
          </a:xfrm>
          <a:prstGeom prst="line">
            <a:avLst/>
          </a:prstGeom>
          <a:solidFill>
            <a:srgbClr val="B8975C"/>
          </a:solidFill>
          <a:ln/>
        </p:spPr>
        <p:txBody>
          <a:bodyPr/>
          <a:lstStyle/>
          <a:p>
            <a:endParaRPr lang="en-US"/>
          </a:p>
        </p:txBody>
      </p:sp>
      <p:sp>
        <p:nvSpPr>
          <p:cNvPr id="9" name="Text 7"/>
          <p:cNvSpPr/>
          <p:nvPr/>
        </p:nvSpPr>
        <p:spPr>
          <a:xfrm>
            <a:off x="73152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0" name="Text 8"/>
          <p:cNvSpPr/>
          <p:nvPr/>
        </p:nvSpPr>
        <p:spPr>
          <a:xfrm>
            <a:off x="1280160" y="128016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On github.com, click + → New repository</a:t>
            </a:r>
            <a:endParaRPr lang="en-US" sz="1300" dirty="0"/>
          </a:p>
        </p:txBody>
      </p:sp>
      <p:sp>
        <p:nvSpPr>
          <p:cNvPr id="11" name="Shape 9"/>
          <p:cNvSpPr/>
          <p:nvPr/>
        </p:nvSpPr>
        <p:spPr>
          <a:xfrm>
            <a:off x="731520" y="1828800"/>
            <a:ext cx="365760" cy="365760"/>
          </a:xfrm>
          <a:prstGeom prst="line">
            <a:avLst/>
          </a:prstGeom>
          <a:solidFill>
            <a:srgbClr val="B8975C"/>
          </a:solidFill>
          <a:ln/>
        </p:spPr>
        <p:txBody>
          <a:bodyPr/>
          <a:lstStyle/>
          <a:p>
            <a:endParaRPr lang="en-US"/>
          </a:p>
        </p:txBody>
      </p:sp>
      <p:sp>
        <p:nvSpPr>
          <p:cNvPr id="12" name="Text 10"/>
          <p:cNvSpPr/>
          <p:nvPr/>
        </p:nvSpPr>
        <p:spPr>
          <a:xfrm>
            <a:off x="7315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3" name="Text 11"/>
          <p:cNvSpPr/>
          <p:nvPr/>
        </p:nvSpPr>
        <p:spPr>
          <a:xfrm>
            <a:off x="1280160" y="182880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Name it Corporate-Finance, set visibility to Public</a:t>
            </a:r>
            <a:endParaRPr lang="en-US" sz="1300" dirty="0"/>
          </a:p>
        </p:txBody>
      </p:sp>
      <p:sp>
        <p:nvSpPr>
          <p:cNvPr id="14" name="Shape 12"/>
          <p:cNvSpPr/>
          <p:nvPr/>
        </p:nvSpPr>
        <p:spPr>
          <a:xfrm>
            <a:off x="731520" y="2377440"/>
            <a:ext cx="365760" cy="365760"/>
          </a:xfrm>
          <a:prstGeom prst="line">
            <a:avLst/>
          </a:prstGeom>
          <a:solidFill>
            <a:srgbClr val="B8975C"/>
          </a:solidFill>
          <a:ln/>
        </p:spPr>
        <p:txBody>
          <a:bodyPr/>
          <a:lstStyle/>
          <a:p>
            <a:endParaRPr lang="en-US"/>
          </a:p>
        </p:txBody>
      </p:sp>
      <p:sp>
        <p:nvSpPr>
          <p:cNvPr id="15" name="Text 13"/>
          <p:cNvSpPr/>
          <p:nvPr/>
        </p:nvSpPr>
        <p:spPr>
          <a:xfrm>
            <a:off x="73152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6" name="Text 14"/>
          <p:cNvSpPr/>
          <p:nvPr/>
        </p:nvSpPr>
        <p:spPr>
          <a:xfrm>
            <a:off x="1280160" y="237744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Check "Add a README file", then click Create repository</a:t>
            </a:r>
            <a:endParaRPr lang="en-US" sz="1300" dirty="0"/>
          </a:p>
        </p:txBody>
      </p:sp>
      <p:sp>
        <p:nvSpPr>
          <p:cNvPr id="17" name="Shape 15"/>
          <p:cNvSpPr/>
          <p:nvPr/>
        </p:nvSpPr>
        <p:spPr>
          <a:xfrm>
            <a:off x="731520" y="2926080"/>
            <a:ext cx="365760" cy="365760"/>
          </a:xfrm>
          <a:prstGeom prst="line">
            <a:avLst/>
          </a:prstGeom>
          <a:solidFill>
            <a:srgbClr val="B8975C"/>
          </a:solidFill>
          <a:ln/>
        </p:spPr>
        <p:txBody>
          <a:bodyPr/>
          <a:lstStyle/>
          <a:p>
            <a:endParaRPr lang="en-US"/>
          </a:p>
        </p:txBody>
      </p:sp>
      <p:sp>
        <p:nvSpPr>
          <p:cNvPr id="18" name="Text 16"/>
          <p:cNvSpPr/>
          <p:nvPr/>
        </p:nvSpPr>
        <p:spPr>
          <a:xfrm>
            <a:off x="7315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9" name="Text 17"/>
          <p:cNvSpPr/>
          <p:nvPr/>
        </p:nvSpPr>
        <p:spPr>
          <a:xfrm>
            <a:off x="1280160" y="292608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In GitHub Desktop: File → Clone repository → pick yours</a:t>
            </a:r>
            <a:endParaRPr lang="en-US" sz="1300" dirty="0"/>
          </a:p>
        </p:txBody>
      </p:sp>
      <p:sp>
        <p:nvSpPr>
          <p:cNvPr id="20" name="Shape 18"/>
          <p:cNvSpPr/>
          <p:nvPr/>
        </p:nvSpPr>
        <p:spPr>
          <a:xfrm>
            <a:off x="731520" y="3474720"/>
            <a:ext cx="365760" cy="365760"/>
          </a:xfrm>
          <a:prstGeom prst="line">
            <a:avLst/>
          </a:prstGeom>
          <a:solidFill>
            <a:srgbClr val="B8975C"/>
          </a:solidFill>
          <a:ln/>
        </p:spPr>
        <p:txBody>
          <a:bodyPr/>
          <a:lstStyle/>
          <a:p>
            <a:endParaRPr lang="en-US"/>
          </a:p>
        </p:txBody>
      </p:sp>
      <p:sp>
        <p:nvSpPr>
          <p:cNvPr id="21" name="Text 19"/>
          <p:cNvSpPr/>
          <p:nvPr/>
        </p:nvSpPr>
        <p:spPr>
          <a:xfrm>
            <a:off x="73152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2" name="Text 20"/>
          <p:cNvSpPr/>
          <p:nvPr/>
        </p:nvSpPr>
        <p:spPr>
          <a:xfrm>
            <a:off x="1280160" y="347472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Build the directory tree (next slide) and add a README to each</a:t>
            </a:r>
            <a:endParaRPr lang="en-US" sz="1300" dirty="0"/>
          </a:p>
        </p:txBody>
      </p:sp>
      <p:sp>
        <p:nvSpPr>
          <p:cNvPr id="23" name="Shape 21"/>
          <p:cNvSpPr/>
          <p:nvPr/>
        </p:nvSpPr>
        <p:spPr>
          <a:xfrm>
            <a:off x="5486400" y="1280160"/>
            <a:ext cx="310896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2"/>
          <a:stretch>
            <a:fillRect/>
          </a:stretch>
        </p:blipFill>
        <p:spPr>
          <a:xfrm>
            <a:off x="5715000" y="1463040"/>
            <a:ext cx="320040" cy="320040"/>
          </a:xfrm>
          <a:prstGeom prst="rect">
            <a:avLst/>
          </a:prstGeom>
        </p:spPr>
      </p:pic>
      <p:sp>
        <p:nvSpPr>
          <p:cNvPr id="25" name="Text 22"/>
          <p:cNvSpPr/>
          <p:nvPr/>
        </p:nvSpPr>
        <p:spPr>
          <a:xfrm>
            <a:off x="6126480" y="1463040"/>
            <a:ext cx="22860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Pro Tips</a:t>
            </a:r>
            <a:endParaRPr lang="en-US" sz="1400" dirty="0"/>
          </a:p>
        </p:txBody>
      </p:sp>
      <p:sp>
        <p:nvSpPr>
          <p:cNvPr id="26" name="Text 23"/>
          <p:cNvSpPr/>
          <p:nvPr/>
        </p:nvSpPr>
        <p:spPr>
          <a:xfrm>
            <a:off x="5715000" y="1920240"/>
            <a:ext cx="2697480" cy="2103120"/>
          </a:xfrm>
          <a:prstGeom prst="rect">
            <a:avLst/>
          </a:prstGeom>
          <a:noFill/>
          <a:ln/>
        </p:spPr>
        <p:txBody>
          <a:bodyPr wrap="square" lIns="0" tIns="0" rIns="0" bIns="0" rtlCol="0" anchor="t"/>
          <a:lstStyle/>
          <a:p>
            <a:pPr marL="0" indent="0">
              <a:buNone/>
            </a:pPr>
            <a:r>
              <a:rPr lang="en-US" sz="1100" b="1" dirty="0">
                <a:solidFill>
                  <a:srgbClr val="1E2530"/>
                </a:solidFill>
              </a:rPr>
              <a:t>Public is required</a:t>
            </a:r>
            <a:endParaRPr lang="en-US" sz="1100" dirty="0"/>
          </a:p>
          <a:p>
            <a:pPr marL="0" indent="0">
              <a:buNone/>
            </a:pPr>
            <a:r>
              <a:rPr lang="en-US" sz="1000" dirty="0">
                <a:solidFill>
                  <a:srgbClr val="5A6B7A"/>
                </a:solidFill>
              </a:rPr>
              <a:t>The whole point is discoverability — recruiters and collaborators must be able to find your work without an account.
</a:t>
            </a:r>
            <a:endParaRPr lang="en-US" sz="1100" dirty="0"/>
          </a:p>
          <a:p>
            <a:pPr marL="0" indent="0">
              <a:buNone/>
            </a:pPr>
            <a:r>
              <a:rPr lang="en-US" sz="1100" b="1" dirty="0">
                <a:solidFill>
                  <a:srgbClr val="1E2530"/>
                </a:solidFill>
              </a:rPr>
              <a:t>Every directory needs a README</a:t>
            </a:r>
            <a:endParaRPr lang="en-US" sz="1100" dirty="0"/>
          </a:p>
          <a:p>
            <a:pPr marL="0" indent="0">
              <a:buNone/>
            </a:pPr>
            <a:r>
              <a:rPr lang="en-US" sz="1000" dirty="0">
                <a:solidFill>
                  <a:srgbClr val="5A6B7A"/>
                </a:solidFill>
              </a:rPr>
              <a:t>If a new collaborator can navigate your repo by READMEs alone, the structure is right.
</a:t>
            </a:r>
            <a:endParaRPr lang="en-US" sz="1100" dirty="0"/>
          </a:p>
          <a:p>
            <a:pPr marL="0" indent="0">
              <a:buNone/>
            </a:pPr>
            <a:r>
              <a:rPr lang="en-US" sz="1100" b="1" dirty="0">
                <a:solidFill>
                  <a:srgbClr val="1E2530"/>
                </a:solidFill>
              </a:rPr>
              <a:t>Reference the course repo</a:t>
            </a:r>
            <a:endParaRPr lang="en-US" sz="1100" dirty="0"/>
          </a:p>
          <a:p>
            <a:pPr marL="0" indent="0">
              <a:buNone/>
            </a:pPr>
            <a:r>
              <a:rPr lang="en-US" sz="1000" dirty="0">
                <a:solidFill>
                  <a:srgbClr val="5A6B7A"/>
                </a:solidFill>
              </a:rPr>
              <a:t>The course repo is a living example. Mirror its structure and READMEs in your own.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README.md  ·  RESUME.md  ·  BIO.md</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4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Draft RESUME.md &amp; BIO.md with an LLM</a:t>
            </a:r>
            <a:endParaRPr lang="en-US" sz="2800" dirty="0"/>
          </a:p>
        </p:txBody>
      </p:sp>
      <p:sp>
        <p:nvSpPr>
          <p:cNvPr id="8" name="Shape 6"/>
          <p:cNvSpPr/>
          <p:nvPr/>
        </p:nvSpPr>
        <p:spPr>
          <a:xfrm>
            <a:off x="731520" y="1280160"/>
            <a:ext cx="365760" cy="365760"/>
          </a:xfrm>
          <a:prstGeom prst="line">
            <a:avLst/>
          </a:prstGeom>
          <a:solidFill>
            <a:srgbClr val="B8975C"/>
          </a:solidFill>
          <a:ln/>
        </p:spPr>
        <p:txBody>
          <a:bodyPr/>
          <a:lstStyle/>
          <a:p>
            <a:endParaRPr lang="en-US"/>
          </a:p>
        </p:txBody>
      </p:sp>
      <p:sp>
        <p:nvSpPr>
          <p:cNvPr id="9" name="Text 7"/>
          <p:cNvSpPr/>
          <p:nvPr/>
        </p:nvSpPr>
        <p:spPr>
          <a:xfrm>
            <a:off x="73152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0" name="Text 8"/>
          <p:cNvSpPr/>
          <p:nvPr/>
        </p:nvSpPr>
        <p:spPr>
          <a:xfrm>
            <a:off x="1280160" y="128016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Open Claude (claude.ai) or ChatGPT (chatgpt.com)</a:t>
            </a:r>
            <a:endParaRPr lang="en-US" sz="1300" dirty="0"/>
          </a:p>
        </p:txBody>
      </p:sp>
      <p:sp>
        <p:nvSpPr>
          <p:cNvPr id="11" name="Shape 9"/>
          <p:cNvSpPr/>
          <p:nvPr/>
        </p:nvSpPr>
        <p:spPr>
          <a:xfrm>
            <a:off x="731520" y="1828800"/>
            <a:ext cx="365760" cy="365760"/>
          </a:xfrm>
          <a:prstGeom prst="line">
            <a:avLst/>
          </a:prstGeom>
          <a:solidFill>
            <a:srgbClr val="B8975C"/>
          </a:solidFill>
          <a:ln/>
        </p:spPr>
        <p:txBody>
          <a:bodyPr/>
          <a:lstStyle/>
          <a:p>
            <a:endParaRPr lang="en-US"/>
          </a:p>
        </p:txBody>
      </p:sp>
      <p:sp>
        <p:nvSpPr>
          <p:cNvPr id="12" name="Text 10"/>
          <p:cNvSpPr/>
          <p:nvPr/>
        </p:nvSpPr>
        <p:spPr>
          <a:xfrm>
            <a:off x="7315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3" name="Text 11"/>
          <p:cNvSpPr/>
          <p:nvPr/>
        </p:nvSpPr>
        <p:spPr>
          <a:xfrm>
            <a:off x="1280160" y="182880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Paste the bio template + your LinkedIn or existing CV</a:t>
            </a:r>
            <a:endParaRPr lang="en-US" sz="1300" dirty="0"/>
          </a:p>
        </p:txBody>
      </p:sp>
      <p:sp>
        <p:nvSpPr>
          <p:cNvPr id="14" name="Shape 12"/>
          <p:cNvSpPr/>
          <p:nvPr/>
        </p:nvSpPr>
        <p:spPr>
          <a:xfrm>
            <a:off x="731520" y="2377440"/>
            <a:ext cx="365760" cy="365760"/>
          </a:xfrm>
          <a:prstGeom prst="line">
            <a:avLst/>
          </a:prstGeom>
          <a:solidFill>
            <a:srgbClr val="B8975C"/>
          </a:solidFill>
          <a:ln/>
        </p:spPr>
        <p:txBody>
          <a:bodyPr/>
          <a:lstStyle/>
          <a:p>
            <a:endParaRPr lang="en-US"/>
          </a:p>
        </p:txBody>
      </p:sp>
      <p:sp>
        <p:nvSpPr>
          <p:cNvPr id="15" name="Text 13"/>
          <p:cNvSpPr/>
          <p:nvPr/>
        </p:nvSpPr>
        <p:spPr>
          <a:xfrm>
            <a:off x="73152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6" name="Text 14"/>
          <p:cNvSpPr/>
          <p:nvPr/>
        </p:nvSpPr>
        <p:spPr>
          <a:xfrm>
            <a:off x="1280160" y="237744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Iterate using the template’s prompt library (try 2–3 angles)</a:t>
            </a:r>
            <a:endParaRPr lang="en-US" sz="1300" dirty="0"/>
          </a:p>
        </p:txBody>
      </p:sp>
      <p:sp>
        <p:nvSpPr>
          <p:cNvPr id="17" name="Shape 15"/>
          <p:cNvSpPr/>
          <p:nvPr/>
        </p:nvSpPr>
        <p:spPr>
          <a:xfrm>
            <a:off x="731520" y="2926080"/>
            <a:ext cx="365760" cy="365760"/>
          </a:xfrm>
          <a:prstGeom prst="line">
            <a:avLst/>
          </a:prstGeom>
          <a:solidFill>
            <a:srgbClr val="B8975C"/>
          </a:solidFill>
          <a:ln/>
        </p:spPr>
        <p:txBody>
          <a:bodyPr/>
          <a:lstStyle/>
          <a:p>
            <a:endParaRPr lang="en-US"/>
          </a:p>
        </p:txBody>
      </p:sp>
      <p:sp>
        <p:nvSpPr>
          <p:cNvPr id="18" name="Text 16"/>
          <p:cNvSpPr/>
          <p:nvPr/>
        </p:nvSpPr>
        <p:spPr>
          <a:xfrm>
            <a:off x="7315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9" name="Text 17"/>
          <p:cNvSpPr/>
          <p:nvPr/>
        </p:nvSpPr>
        <p:spPr>
          <a:xfrm>
            <a:off x="1280160" y="292608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Save outputs as README.md, RESUME.md, and BIO.md</a:t>
            </a:r>
            <a:endParaRPr lang="en-US" sz="1300" dirty="0"/>
          </a:p>
        </p:txBody>
      </p:sp>
      <p:sp>
        <p:nvSpPr>
          <p:cNvPr id="20" name="Shape 18"/>
          <p:cNvSpPr/>
          <p:nvPr/>
        </p:nvSpPr>
        <p:spPr>
          <a:xfrm>
            <a:off x="731520" y="3474720"/>
            <a:ext cx="365760" cy="365760"/>
          </a:xfrm>
          <a:prstGeom prst="line">
            <a:avLst/>
          </a:prstGeom>
          <a:solidFill>
            <a:srgbClr val="B8975C"/>
          </a:solidFill>
          <a:ln/>
        </p:spPr>
        <p:txBody>
          <a:bodyPr/>
          <a:lstStyle/>
          <a:p>
            <a:endParaRPr lang="en-US"/>
          </a:p>
        </p:txBody>
      </p:sp>
      <p:sp>
        <p:nvSpPr>
          <p:cNvPr id="21" name="Text 19"/>
          <p:cNvSpPr/>
          <p:nvPr/>
        </p:nvSpPr>
        <p:spPr>
          <a:xfrm>
            <a:off x="73152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2" name="Text 20"/>
          <p:cNvSpPr/>
          <p:nvPr/>
        </p:nvSpPr>
        <p:spPr>
          <a:xfrm>
            <a:off x="1280160" y="347472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Commit &amp; push via GitHub Desktop (Step 5 walkthrough)</a:t>
            </a:r>
            <a:endParaRPr lang="en-US" sz="1300" dirty="0"/>
          </a:p>
        </p:txBody>
      </p:sp>
      <p:sp>
        <p:nvSpPr>
          <p:cNvPr id="23" name="Shape 21"/>
          <p:cNvSpPr/>
          <p:nvPr/>
        </p:nvSpPr>
        <p:spPr>
          <a:xfrm>
            <a:off x="5486400" y="1280160"/>
            <a:ext cx="310896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2"/>
          <a:stretch>
            <a:fillRect/>
          </a:stretch>
        </p:blipFill>
        <p:spPr>
          <a:xfrm>
            <a:off x="5715000" y="1463040"/>
            <a:ext cx="320040" cy="320040"/>
          </a:xfrm>
          <a:prstGeom prst="rect">
            <a:avLst/>
          </a:prstGeom>
        </p:spPr>
      </p:pic>
      <p:sp>
        <p:nvSpPr>
          <p:cNvPr id="25" name="Text 22"/>
          <p:cNvSpPr/>
          <p:nvPr/>
        </p:nvSpPr>
        <p:spPr>
          <a:xfrm>
            <a:off x="6126480" y="1463040"/>
            <a:ext cx="22860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Pro Tips</a:t>
            </a:r>
            <a:endParaRPr lang="en-US" sz="1400" dirty="0"/>
          </a:p>
        </p:txBody>
      </p:sp>
      <p:sp>
        <p:nvSpPr>
          <p:cNvPr id="26" name="Text 23"/>
          <p:cNvSpPr/>
          <p:nvPr/>
        </p:nvSpPr>
        <p:spPr>
          <a:xfrm>
            <a:off x="5715000" y="1920240"/>
            <a:ext cx="2697480" cy="2103120"/>
          </a:xfrm>
          <a:prstGeom prst="rect">
            <a:avLst/>
          </a:prstGeom>
          <a:noFill/>
          <a:ln/>
        </p:spPr>
        <p:txBody>
          <a:bodyPr wrap="square" lIns="0" tIns="0" rIns="0" bIns="0" rtlCol="0" anchor="t"/>
          <a:lstStyle/>
          <a:p>
            <a:pPr marL="0" indent="0">
              <a:buNone/>
            </a:pPr>
            <a:r>
              <a:rPr lang="en-US" sz="1100" b="1" dirty="0">
                <a:solidFill>
                  <a:srgbClr val="1E2530"/>
                </a:solidFill>
              </a:rPr>
              <a:t>Bio: 150–200 words</a:t>
            </a:r>
            <a:endParaRPr lang="en-US" sz="1100" dirty="0"/>
          </a:p>
          <a:p>
            <a:pPr marL="0" indent="0">
              <a:buNone/>
            </a:pPr>
            <a:r>
              <a:rPr lang="en-US" sz="1000" dirty="0">
                <a:solidFill>
                  <a:srgbClr val="5A6B7A"/>
                </a:solidFill>
              </a:rPr>
              <a:t>Structured. Specific to your goals. Avoid generic LinkedIn-speak.
</a:t>
            </a:r>
            <a:endParaRPr lang="en-US" sz="1100" dirty="0"/>
          </a:p>
          <a:p>
            <a:pPr marL="0" indent="0">
              <a:buNone/>
            </a:pPr>
            <a:r>
              <a:rPr lang="en-US" sz="1100" b="1" dirty="0">
                <a:solidFill>
                  <a:srgbClr val="1E2530"/>
                </a:solidFill>
              </a:rPr>
              <a:t>Resume: Penn-style</a:t>
            </a:r>
            <a:endParaRPr lang="en-US" sz="1100" dirty="0"/>
          </a:p>
          <a:p>
            <a:pPr marL="0" indent="0">
              <a:buNone/>
            </a:pPr>
            <a:r>
              <a:rPr lang="en-US" sz="1000" dirty="0">
                <a:solidFill>
                  <a:srgbClr val="5A6B7A"/>
                </a:solidFill>
              </a:rPr>
              <a:t>Quantified achievements. Concise. The template covers the format.
</a:t>
            </a:r>
            <a:endParaRPr lang="en-US" sz="1100" dirty="0"/>
          </a:p>
          <a:p>
            <a:pPr marL="0" indent="0">
              <a:buNone/>
            </a:pPr>
            <a:r>
              <a:rPr lang="en-US" sz="1100" b="1" dirty="0">
                <a:solidFill>
                  <a:srgbClr val="1E2530"/>
                </a:solidFill>
              </a:rPr>
              <a:t>Iterate, don’t accept</a:t>
            </a:r>
            <a:endParaRPr lang="en-US" sz="1100" dirty="0"/>
          </a:p>
          <a:p>
            <a:pPr marL="0" indent="0">
              <a:buNone/>
            </a:pPr>
            <a:r>
              <a:rPr lang="en-US" sz="1000" dirty="0">
                <a:solidFill>
                  <a:srgbClr val="5A6B7A"/>
                </a:solidFill>
              </a:rPr>
              <a:t>The first LLM draft is rarely the strongest. Try a different angle, then pick.</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every commit lands in your repo</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5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The Git Workflow: Add, Commit, Push</a:t>
            </a:r>
            <a:endParaRPr lang="en-US" sz="2800" dirty="0"/>
          </a:p>
        </p:txBody>
      </p:sp>
      <p:sp>
        <p:nvSpPr>
          <p:cNvPr id="8" name="Text 6"/>
          <p:cNvSpPr/>
          <p:nvPr/>
        </p:nvSpPr>
        <p:spPr>
          <a:xfrm>
            <a:off x="731520" y="1097280"/>
            <a:ext cx="7680960" cy="320040"/>
          </a:xfrm>
          <a:prstGeom prst="rect">
            <a:avLst/>
          </a:prstGeom>
          <a:noFill/>
          <a:ln/>
        </p:spPr>
        <p:txBody>
          <a:bodyPr wrap="square" lIns="0" tIns="0" rIns="0" bIns="0" rtlCol="0" anchor="ctr"/>
          <a:lstStyle/>
          <a:p>
            <a:pPr marL="0" indent="0">
              <a:buNone/>
            </a:pPr>
            <a:r>
              <a:rPr lang="en-US" sz="1200" dirty="0">
                <a:solidFill>
                  <a:srgbClr val="5A6B7A"/>
                </a:solidFill>
                <a:latin typeface="Open Sans" pitchFamily="34" charset="0"/>
                <a:ea typeface="Open Sans" pitchFamily="34" charset="-122"/>
                <a:cs typeface="Open Sans" pitchFamily="34" charset="-120"/>
              </a:rPr>
              <a:t>These three commands are all you need. Run them every time you finish work on a deliverable.</a:t>
            </a:r>
            <a:endParaRPr lang="en-US" sz="1200" dirty="0"/>
          </a:p>
        </p:txBody>
      </p:sp>
      <p:sp>
        <p:nvSpPr>
          <p:cNvPr id="9" name="Shape 7"/>
          <p:cNvSpPr/>
          <p:nvPr/>
        </p:nvSpPr>
        <p:spPr>
          <a:xfrm>
            <a:off x="731520" y="1554480"/>
            <a:ext cx="2468880" cy="265176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0" name="Shape 8"/>
          <p:cNvSpPr/>
          <p:nvPr/>
        </p:nvSpPr>
        <p:spPr>
          <a:xfrm>
            <a:off x="1691640" y="1691640"/>
            <a:ext cx="365760" cy="365760"/>
          </a:xfrm>
          <a:prstGeom prst="line">
            <a:avLst/>
          </a:prstGeom>
          <a:solidFill>
            <a:srgbClr val="B8975C"/>
          </a:solidFill>
          <a:ln/>
        </p:spPr>
        <p:txBody>
          <a:bodyPr/>
          <a:lstStyle/>
          <a:p>
            <a:endParaRPr lang="en-US"/>
          </a:p>
        </p:txBody>
      </p:sp>
      <p:sp>
        <p:nvSpPr>
          <p:cNvPr id="11" name="Text 9"/>
          <p:cNvSpPr/>
          <p:nvPr/>
        </p:nvSpPr>
        <p:spPr>
          <a:xfrm>
            <a:off x="169164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2" name="Text 10"/>
          <p:cNvSpPr/>
          <p:nvPr/>
        </p:nvSpPr>
        <p:spPr>
          <a:xfrm>
            <a:off x="868680" y="2148840"/>
            <a:ext cx="2194560" cy="274320"/>
          </a:xfrm>
          <a:prstGeom prst="rect">
            <a:avLst/>
          </a:prstGeom>
          <a:noFill/>
          <a:ln/>
        </p:spPr>
        <p:txBody>
          <a:bodyPr wrap="square" lIns="0" tIns="0" rIns="0" bIns="0" rtlCol="0" anchor="ctr"/>
          <a:lstStyle/>
          <a:p>
            <a:pPr marL="0" indent="0" algn="ctr">
              <a:buNone/>
            </a:pPr>
            <a:r>
              <a:rPr lang="en-US" sz="1500" b="1" dirty="0">
                <a:solidFill>
                  <a:srgbClr val="1E2530"/>
                </a:solidFill>
                <a:latin typeface="Open Sans" pitchFamily="34" charset="0"/>
                <a:ea typeface="Open Sans" pitchFamily="34" charset="-122"/>
                <a:cs typeface="Open Sans" pitchFamily="34" charset="-120"/>
              </a:rPr>
              <a:t>Stage</a:t>
            </a:r>
            <a:endParaRPr lang="en-US" sz="1500" dirty="0"/>
          </a:p>
        </p:txBody>
      </p:sp>
      <p:sp>
        <p:nvSpPr>
          <p:cNvPr id="13" name="Text 11"/>
          <p:cNvSpPr/>
          <p:nvPr/>
        </p:nvSpPr>
        <p:spPr>
          <a:xfrm>
            <a:off x="868680" y="2514600"/>
            <a:ext cx="2194560" cy="365760"/>
          </a:xfrm>
          <a:prstGeom prst="rect">
            <a:avLst/>
          </a:prstGeom>
          <a:solidFill>
            <a:srgbClr val="36454F"/>
          </a:solidFill>
          <a:ln/>
        </p:spPr>
        <p:txBody>
          <a:bodyPr wrap="square" lIns="0" tIns="0" rIns="0" bIns="0" rtlCol="0" anchor="ctr"/>
          <a:lstStyle/>
          <a:p>
            <a:pPr marL="0" indent="0" algn="ctr">
              <a:buNone/>
            </a:pPr>
            <a:r>
              <a:rPr lang="en-US" sz="1000" dirty="0">
                <a:solidFill>
                  <a:srgbClr val="B8975C"/>
                </a:solidFill>
                <a:latin typeface="Consolas" pitchFamily="34" charset="0"/>
                <a:ea typeface="Consolas" pitchFamily="34" charset="-122"/>
                <a:cs typeface="Consolas" pitchFamily="34" charset="-120"/>
              </a:rPr>
              <a:t>git add .</a:t>
            </a:r>
            <a:endParaRPr lang="en-US" sz="1000" dirty="0"/>
          </a:p>
        </p:txBody>
      </p:sp>
      <p:sp>
        <p:nvSpPr>
          <p:cNvPr id="14" name="Text 12"/>
          <p:cNvSpPr/>
          <p:nvPr/>
        </p:nvSpPr>
        <p:spPr>
          <a:xfrm>
            <a:off x="868680" y="2971800"/>
            <a:ext cx="2194560" cy="1005840"/>
          </a:xfrm>
          <a:prstGeom prst="rect">
            <a:avLst/>
          </a:prstGeom>
          <a:noFill/>
          <a:ln/>
        </p:spPr>
        <p:txBody>
          <a:bodyPr wrap="square" lIns="0" tIns="0" rIns="0" bIns="0" rtlCol="0" anchor="t"/>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Tells Git which files to include in the next save. The dot means all changed files.</a:t>
            </a:r>
            <a:endParaRPr lang="en-US" sz="1100" dirty="0"/>
          </a:p>
        </p:txBody>
      </p:sp>
      <p:sp>
        <p:nvSpPr>
          <p:cNvPr id="15" name="Shape 13"/>
          <p:cNvSpPr/>
          <p:nvPr/>
        </p:nvSpPr>
        <p:spPr>
          <a:xfrm>
            <a:off x="3474720" y="1554480"/>
            <a:ext cx="2468880" cy="265176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6" name="Shape 14"/>
          <p:cNvSpPr/>
          <p:nvPr/>
        </p:nvSpPr>
        <p:spPr>
          <a:xfrm>
            <a:off x="4434840" y="1691640"/>
            <a:ext cx="365760" cy="365760"/>
          </a:xfrm>
          <a:prstGeom prst="line">
            <a:avLst/>
          </a:prstGeom>
          <a:solidFill>
            <a:srgbClr val="B8975C"/>
          </a:solidFill>
          <a:ln/>
        </p:spPr>
        <p:txBody>
          <a:bodyPr/>
          <a:lstStyle/>
          <a:p>
            <a:endParaRPr lang="en-US"/>
          </a:p>
        </p:txBody>
      </p:sp>
      <p:sp>
        <p:nvSpPr>
          <p:cNvPr id="17" name="Text 15"/>
          <p:cNvSpPr/>
          <p:nvPr/>
        </p:nvSpPr>
        <p:spPr>
          <a:xfrm>
            <a:off x="443484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8" name="Text 16"/>
          <p:cNvSpPr/>
          <p:nvPr/>
        </p:nvSpPr>
        <p:spPr>
          <a:xfrm>
            <a:off x="3611880" y="2148840"/>
            <a:ext cx="2194560" cy="274320"/>
          </a:xfrm>
          <a:prstGeom prst="rect">
            <a:avLst/>
          </a:prstGeom>
          <a:noFill/>
          <a:ln/>
        </p:spPr>
        <p:txBody>
          <a:bodyPr wrap="square" lIns="0" tIns="0" rIns="0" bIns="0" rtlCol="0" anchor="ctr"/>
          <a:lstStyle/>
          <a:p>
            <a:pPr marL="0" indent="0" algn="ctr">
              <a:buNone/>
            </a:pPr>
            <a:r>
              <a:rPr lang="en-US" sz="1500" b="1" dirty="0">
                <a:solidFill>
                  <a:srgbClr val="1E2530"/>
                </a:solidFill>
                <a:latin typeface="Open Sans" pitchFamily="34" charset="0"/>
                <a:ea typeface="Open Sans" pitchFamily="34" charset="-122"/>
                <a:cs typeface="Open Sans" pitchFamily="34" charset="-120"/>
              </a:rPr>
              <a:t>Commit</a:t>
            </a:r>
            <a:endParaRPr lang="en-US" sz="1500" dirty="0"/>
          </a:p>
        </p:txBody>
      </p:sp>
      <p:sp>
        <p:nvSpPr>
          <p:cNvPr id="19" name="Text 17"/>
          <p:cNvSpPr/>
          <p:nvPr/>
        </p:nvSpPr>
        <p:spPr>
          <a:xfrm>
            <a:off x="3611880" y="2514600"/>
            <a:ext cx="2194560" cy="365760"/>
          </a:xfrm>
          <a:prstGeom prst="rect">
            <a:avLst/>
          </a:prstGeom>
          <a:solidFill>
            <a:srgbClr val="36454F"/>
          </a:solidFill>
          <a:ln/>
        </p:spPr>
        <p:txBody>
          <a:bodyPr wrap="square" lIns="0" tIns="0" rIns="0" bIns="0" rtlCol="0" anchor="ctr"/>
          <a:lstStyle/>
          <a:p>
            <a:pPr marL="0" indent="0" algn="ctr">
              <a:buNone/>
            </a:pPr>
            <a:r>
              <a:rPr lang="en-US" sz="1000" dirty="0">
                <a:solidFill>
                  <a:srgbClr val="B8975C"/>
                </a:solidFill>
                <a:latin typeface="Consolas" pitchFamily="34" charset="0"/>
                <a:ea typeface="Consolas" pitchFamily="34" charset="-122"/>
                <a:cs typeface="Consolas" pitchFamily="34" charset="-120"/>
              </a:rPr>
              <a:t>git commit -m "Stage 1 memo"</a:t>
            </a:r>
            <a:endParaRPr lang="en-US" sz="1000" dirty="0"/>
          </a:p>
        </p:txBody>
      </p:sp>
      <p:sp>
        <p:nvSpPr>
          <p:cNvPr id="20" name="Text 18"/>
          <p:cNvSpPr/>
          <p:nvPr/>
        </p:nvSpPr>
        <p:spPr>
          <a:xfrm>
            <a:off x="3611880" y="2971800"/>
            <a:ext cx="2194560" cy="1005840"/>
          </a:xfrm>
          <a:prstGeom prst="rect">
            <a:avLst/>
          </a:prstGeom>
          <a:noFill/>
          <a:ln/>
        </p:spPr>
        <p:txBody>
          <a:bodyPr wrap="square" lIns="0" tIns="0" rIns="0" bIns="0" rtlCol="0" anchor="t"/>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Creates a permanent snapshot with a descriptive message. This is your save point.</a:t>
            </a:r>
            <a:endParaRPr lang="en-US" sz="1100" dirty="0"/>
          </a:p>
        </p:txBody>
      </p:sp>
      <p:sp>
        <p:nvSpPr>
          <p:cNvPr id="21" name="Shape 19"/>
          <p:cNvSpPr/>
          <p:nvPr/>
        </p:nvSpPr>
        <p:spPr>
          <a:xfrm>
            <a:off x="6217920" y="1554480"/>
            <a:ext cx="2468880" cy="265176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22" name="Shape 20"/>
          <p:cNvSpPr/>
          <p:nvPr/>
        </p:nvSpPr>
        <p:spPr>
          <a:xfrm>
            <a:off x="7178040" y="1691640"/>
            <a:ext cx="365760" cy="365760"/>
          </a:xfrm>
          <a:prstGeom prst="line">
            <a:avLst/>
          </a:prstGeom>
          <a:solidFill>
            <a:srgbClr val="B8975C"/>
          </a:solidFill>
          <a:ln/>
        </p:spPr>
        <p:txBody>
          <a:bodyPr/>
          <a:lstStyle/>
          <a:p>
            <a:endParaRPr lang="en-US"/>
          </a:p>
        </p:txBody>
      </p:sp>
      <p:sp>
        <p:nvSpPr>
          <p:cNvPr id="23" name="Text 21"/>
          <p:cNvSpPr/>
          <p:nvPr/>
        </p:nvSpPr>
        <p:spPr>
          <a:xfrm>
            <a:off x="717804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24" name="Text 22"/>
          <p:cNvSpPr/>
          <p:nvPr/>
        </p:nvSpPr>
        <p:spPr>
          <a:xfrm>
            <a:off x="6355080" y="2148840"/>
            <a:ext cx="2194560" cy="274320"/>
          </a:xfrm>
          <a:prstGeom prst="rect">
            <a:avLst/>
          </a:prstGeom>
          <a:noFill/>
          <a:ln/>
        </p:spPr>
        <p:txBody>
          <a:bodyPr wrap="square" lIns="0" tIns="0" rIns="0" bIns="0" rtlCol="0" anchor="ctr"/>
          <a:lstStyle/>
          <a:p>
            <a:pPr marL="0" indent="0" algn="ctr">
              <a:buNone/>
            </a:pPr>
            <a:r>
              <a:rPr lang="en-US" sz="1500" b="1" dirty="0">
                <a:solidFill>
                  <a:srgbClr val="1E2530"/>
                </a:solidFill>
                <a:latin typeface="Open Sans" pitchFamily="34" charset="0"/>
                <a:ea typeface="Open Sans" pitchFamily="34" charset="-122"/>
                <a:cs typeface="Open Sans" pitchFamily="34" charset="-120"/>
              </a:rPr>
              <a:t>Push</a:t>
            </a:r>
            <a:endParaRPr lang="en-US" sz="1500" dirty="0"/>
          </a:p>
        </p:txBody>
      </p:sp>
      <p:sp>
        <p:nvSpPr>
          <p:cNvPr id="25" name="Text 23"/>
          <p:cNvSpPr/>
          <p:nvPr/>
        </p:nvSpPr>
        <p:spPr>
          <a:xfrm>
            <a:off x="6355080" y="2514600"/>
            <a:ext cx="2194560" cy="365760"/>
          </a:xfrm>
          <a:prstGeom prst="rect">
            <a:avLst/>
          </a:prstGeom>
          <a:solidFill>
            <a:srgbClr val="36454F"/>
          </a:solidFill>
          <a:ln/>
        </p:spPr>
        <p:txBody>
          <a:bodyPr wrap="square" lIns="0" tIns="0" rIns="0" bIns="0" rtlCol="0" anchor="ctr"/>
          <a:lstStyle/>
          <a:p>
            <a:pPr marL="0" indent="0" algn="ctr">
              <a:buNone/>
            </a:pPr>
            <a:r>
              <a:rPr lang="en-US" sz="1000" dirty="0">
                <a:solidFill>
                  <a:srgbClr val="B8975C"/>
                </a:solidFill>
                <a:latin typeface="Consolas" pitchFamily="34" charset="0"/>
                <a:ea typeface="Consolas" pitchFamily="34" charset="-122"/>
                <a:cs typeface="Consolas" pitchFamily="34" charset="-120"/>
              </a:rPr>
              <a:t>git push</a:t>
            </a:r>
            <a:endParaRPr lang="en-US" sz="1000" dirty="0"/>
          </a:p>
        </p:txBody>
      </p:sp>
      <p:sp>
        <p:nvSpPr>
          <p:cNvPr id="26" name="Text 24"/>
          <p:cNvSpPr/>
          <p:nvPr/>
        </p:nvSpPr>
        <p:spPr>
          <a:xfrm>
            <a:off x="6355080" y="2971800"/>
            <a:ext cx="2194560" cy="1005840"/>
          </a:xfrm>
          <a:prstGeom prst="rect">
            <a:avLst/>
          </a:prstGeom>
          <a:noFill/>
          <a:ln/>
        </p:spPr>
        <p:txBody>
          <a:bodyPr wrap="square" lIns="0" tIns="0" rIns="0" bIns="0" rtlCol="0" anchor="t"/>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Uploads your commits to GitHub so they are visible online and to your instructor.</a:t>
            </a:r>
            <a:endParaRPr lang="en-US" sz="1100" dirty="0"/>
          </a:p>
        </p:txBody>
      </p:sp>
      <p:sp>
        <p:nvSpPr>
          <p:cNvPr id="27" name="Shape 25"/>
          <p:cNvSpPr/>
          <p:nvPr/>
        </p:nvSpPr>
        <p:spPr>
          <a:xfrm>
            <a:off x="731520" y="4315968"/>
            <a:ext cx="7680960" cy="45720"/>
          </a:xfrm>
          <a:prstGeom prst="rect">
            <a:avLst/>
          </a:prstGeom>
          <a:solidFill>
            <a:srgbClr val="B8975C"/>
          </a:solid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6466A-0B29-D946-370B-A9CEE8F905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5F63C5-A4CF-88DC-5998-89879FC4A483}"/>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CE3790C8-211C-0714-0538-58993642C16E}"/>
              </a:ext>
            </a:extLst>
          </p:cNvPr>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STAGE 1</a:t>
            </a:r>
            <a:endParaRPr lang="en-US" sz="1400" dirty="0"/>
          </a:p>
        </p:txBody>
      </p:sp>
      <p:sp>
        <p:nvSpPr>
          <p:cNvPr id="4" name="Text 2">
            <a:extLst>
              <a:ext uri="{FF2B5EF4-FFF2-40B4-BE49-F238E27FC236}">
                <a16:creationId xmlns:a16="http://schemas.microsoft.com/office/drawing/2014/main" id="{DBE2BABE-B92F-EED8-5D9C-B57229C175EE}"/>
              </a:ext>
            </a:extLst>
          </p:cNvPr>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Upload Ratios Template</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159D3B6E-9238-49E7-F616-6D51214502FB}"/>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7056E6EE-CF0C-5C1B-DC1E-1C6CA3A8502B}"/>
              </a:ext>
            </a:extLst>
          </p:cNvPr>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600" dirty="0">
                <a:solidFill>
                  <a:srgbClr val="36454F"/>
                </a:solidFill>
              </a:rPr>
              <a:t>Upload the ratios template to your repo — your spreadsheet workspace for the rest of the project.</a:t>
            </a:r>
          </a:p>
        </p:txBody>
      </p:sp>
      <p:pic>
        <p:nvPicPr>
          <p:cNvPr id="7" name="Image 0" descr="preencoded.png">
            <a:extLst>
              <a:ext uri="{FF2B5EF4-FFF2-40B4-BE49-F238E27FC236}">
                <a16:creationId xmlns:a16="http://schemas.microsoft.com/office/drawing/2014/main" id="{309B72F1-F488-4639-2665-82EF8540A100}"/>
              </a:ext>
            </a:extLst>
          </p:cNvPr>
          <p:cNvPicPr>
            <a:picLocks noChangeAspect="1"/>
          </p:cNvPicPr>
          <p:nvPr/>
        </p:nvPicPr>
        <p:blipFill>
          <a:blip r:embed="rId3"/>
          <a:stretch>
            <a:fillRect/>
          </a:stretch>
        </p:blipFill>
        <p:spPr>
          <a:xfrm>
            <a:off x="7132320" y="3017520"/>
            <a:ext cx="1097280" cy="1097280"/>
          </a:xfrm>
          <a:prstGeom prst="rect">
            <a:avLst/>
          </a:prstGeom>
        </p:spPr>
      </p:pic>
      <p:sp>
        <p:nvSpPr>
          <p:cNvPr id="8" name="Text 5">
            <a:extLst>
              <a:ext uri="{FF2B5EF4-FFF2-40B4-BE49-F238E27FC236}">
                <a16:creationId xmlns:a16="http://schemas.microsoft.com/office/drawing/2014/main" id="{4FD084F7-4518-627F-5FC1-24E1E1A4097B}"/>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824262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1 — Ratios Template Upload</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20% of project  |  Upload-only — use the provided ratios template, do not modify</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300" b="1" dirty="0">
                <a:solidFill>
                  <a:srgbClr val="0D0D0D"/>
                </a:solidFill>
                <a:latin typeface="Open Sans" pitchFamily="34" charset="0"/>
                <a:ea typeface="Open Sans" pitchFamily="34" charset="-122"/>
                <a:cs typeface="Open Sans" pitchFamily="34" charset="-120"/>
              </a:rPr>
              <a:t>The provided template includes:</a:t>
            </a:r>
            <a:endParaRPr lang="en-US" sz="1300" dirty="0"/>
          </a:p>
        </p:txBody>
      </p:sp>
      <p:sp>
        <p:nvSpPr>
          <p:cNvPr id="6" name="Text 4"/>
          <p:cNvSpPr/>
          <p:nvPr/>
        </p:nvSpPr>
        <p:spPr>
          <a:xfrm>
            <a:off x="548640" y="1371600"/>
            <a:ext cx="4114800" cy="2011680"/>
          </a:xfrm>
          <a:prstGeom prst="rect">
            <a:avLst/>
          </a:prstGeom>
          <a:noFill/>
          <a:ln/>
        </p:spPr>
        <p:txBody>
          <a:bodyPr wrap="square" rtlCol="0" anchor="ctr"/>
          <a:lstStyle/>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Financial statement tabs (Balance Sheet, Income Statement, Cash Flow)</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Ratios tab with all six categories pre-filled in named-range notation</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Named ranges (BAL_*, INC_*, CASH_*, RATIO_*) defined throughout</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Color coding system applied (Yellow/Blue/Green/Gray)</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Cover &amp; Instructions tab with project overview and named-range key</a:t>
            </a:r>
            <a:endParaRPr lang="en-US" sz="1100" dirty="0"/>
          </a:p>
        </p:txBody>
      </p:sp>
      <p:sp>
        <p:nvSpPr>
          <p:cNvPr id="7" name="Text 5"/>
          <p:cNvSpPr/>
          <p:nvPr/>
        </p:nvSpPr>
        <p:spPr>
          <a:xfrm>
            <a:off x="548640" y="3520440"/>
            <a:ext cx="4114800" cy="27432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Color Coding Convention</a:t>
            </a:r>
            <a:endParaRPr lang="en-US" sz="1200" dirty="0"/>
          </a:p>
        </p:txBody>
      </p:sp>
      <p:sp>
        <p:nvSpPr>
          <p:cNvPr id="8" name="Shape 6"/>
          <p:cNvSpPr/>
          <p:nvPr/>
        </p:nvSpPr>
        <p:spPr>
          <a:xfrm>
            <a:off x="548640" y="3840480"/>
            <a:ext cx="914400" cy="594360"/>
          </a:xfrm>
          <a:prstGeom prst="rect">
            <a:avLst/>
          </a:prstGeom>
          <a:solidFill>
            <a:srgbClr val="FEF3C7"/>
          </a:solidFill>
          <a:ln w="19050">
            <a:solidFill>
              <a:srgbClr val="D97706"/>
            </a:solidFill>
            <a:prstDash val="solid"/>
          </a:ln>
        </p:spPr>
        <p:txBody>
          <a:bodyPr/>
          <a:lstStyle/>
          <a:p>
            <a:endParaRPr lang="en-US"/>
          </a:p>
        </p:txBody>
      </p:sp>
      <p:sp>
        <p:nvSpPr>
          <p:cNvPr id="9" name="Text 7"/>
          <p:cNvSpPr/>
          <p:nvPr/>
        </p:nvSpPr>
        <p:spPr>
          <a:xfrm>
            <a:off x="548640" y="3886200"/>
            <a:ext cx="914400" cy="502920"/>
          </a:xfrm>
          <a:prstGeom prst="rect">
            <a:avLst/>
          </a:prstGeom>
          <a:noFill/>
          <a:ln/>
        </p:spPr>
        <p:txBody>
          <a:bodyPr wrap="square" rtlCol="0" anchor="ctr"/>
          <a:lstStyle/>
          <a:p>
            <a:pPr marL="0" indent="0" algn="ctr">
              <a:buNone/>
            </a:pPr>
            <a:r>
              <a:rPr lang="en-US" sz="800" b="1" dirty="0">
                <a:solidFill>
                  <a:srgbClr val="D97706"/>
                </a:solidFill>
                <a:latin typeface="Open Sans" pitchFamily="34" charset="0"/>
                <a:ea typeface="Open Sans" pitchFamily="34" charset="-122"/>
                <a:cs typeface="Open Sans" pitchFamily="34" charset="-120"/>
              </a:rPr>
              <a:t>Yellow = Inputs</a:t>
            </a:r>
            <a:endParaRPr lang="en-US" sz="800" dirty="0"/>
          </a:p>
        </p:txBody>
      </p:sp>
      <p:sp>
        <p:nvSpPr>
          <p:cNvPr id="10" name="Shape 8"/>
          <p:cNvSpPr/>
          <p:nvPr/>
        </p:nvSpPr>
        <p:spPr>
          <a:xfrm>
            <a:off x="1572768" y="3840480"/>
            <a:ext cx="914400" cy="594360"/>
          </a:xfrm>
          <a:prstGeom prst="rect">
            <a:avLst/>
          </a:prstGeom>
          <a:solidFill>
            <a:srgbClr val="DBEAFE"/>
          </a:solidFill>
          <a:ln w="19050">
            <a:solidFill>
              <a:srgbClr val="2563EB"/>
            </a:solidFill>
            <a:prstDash val="solid"/>
          </a:ln>
        </p:spPr>
        <p:txBody>
          <a:bodyPr/>
          <a:lstStyle/>
          <a:p>
            <a:endParaRPr lang="en-US"/>
          </a:p>
        </p:txBody>
      </p:sp>
      <p:sp>
        <p:nvSpPr>
          <p:cNvPr id="11" name="Text 9"/>
          <p:cNvSpPr/>
          <p:nvPr/>
        </p:nvSpPr>
        <p:spPr>
          <a:xfrm>
            <a:off x="1572768" y="3886200"/>
            <a:ext cx="914400" cy="502920"/>
          </a:xfrm>
          <a:prstGeom prst="rect">
            <a:avLst/>
          </a:prstGeom>
          <a:noFill/>
          <a:ln/>
        </p:spPr>
        <p:txBody>
          <a:bodyPr wrap="square" rtlCol="0" anchor="ctr"/>
          <a:lstStyle/>
          <a:p>
            <a:pPr marL="0" indent="0" algn="ctr">
              <a:buNone/>
            </a:pPr>
            <a:r>
              <a:rPr lang="en-US" sz="800" b="1" dirty="0">
                <a:solidFill>
                  <a:srgbClr val="2563EB"/>
                </a:solidFill>
                <a:latin typeface="Open Sans" pitchFamily="34" charset="0"/>
                <a:ea typeface="Open Sans" pitchFamily="34" charset="-122"/>
                <a:cs typeface="Open Sans" pitchFamily="34" charset="-120"/>
              </a:rPr>
              <a:t>Blue = Assumptions</a:t>
            </a:r>
            <a:endParaRPr lang="en-US" sz="800" dirty="0"/>
          </a:p>
        </p:txBody>
      </p:sp>
      <p:sp>
        <p:nvSpPr>
          <p:cNvPr id="12" name="Shape 10"/>
          <p:cNvSpPr/>
          <p:nvPr/>
        </p:nvSpPr>
        <p:spPr>
          <a:xfrm>
            <a:off x="2596896" y="3840480"/>
            <a:ext cx="914400" cy="594360"/>
          </a:xfrm>
          <a:prstGeom prst="rect">
            <a:avLst/>
          </a:prstGeom>
          <a:solidFill>
            <a:srgbClr val="D1FAE5"/>
          </a:solidFill>
          <a:ln w="19050">
            <a:solidFill>
              <a:srgbClr val="059669"/>
            </a:solidFill>
            <a:prstDash val="solid"/>
          </a:ln>
        </p:spPr>
        <p:txBody>
          <a:bodyPr/>
          <a:lstStyle/>
          <a:p>
            <a:endParaRPr lang="en-US"/>
          </a:p>
        </p:txBody>
      </p:sp>
      <p:sp>
        <p:nvSpPr>
          <p:cNvPr id="13" name="Text 11"/>
          <p:cNvSpPr/>
          <p:nvPr/>
        </p:nvSpPr>
        <p:spPr>
          <a:xfrm>
            <a:off x="2596896" y="3886200"/>
            <a:ext cx="914400" cy="502920"/>
          </a:xfrm>
          <a:prstGeom prst="rect">
            <a:avLst/>
          </a:prstGeom>
          <a:noFill/>
          <a:ln/>
        </p:spPr>
        <p:txBody>
          <a:bodyPr wrap="square" rtlCol="0" anchor="ctr"/>
          <a:lstStyle/>
          <a:p>
            <a:pPr marL="0" indent="0" algn="ctr">
              <a:buNone/>
            </a:pPr>
            <a:r>
              <a:rPr lang="en-US" sz="800" b="1" dirty="0">
                <a:solidFill>
                  <a:srgbClr val="059669"/>
                </a:solidFill>
                <a:latin typeface="Open Sans" pitchFamily="34" charset="0"/>
                <a:ea typeface="Open Sans" pitchFamily="34" charset="-122"/>
                <a:cs typeface="Open Sans" pitchFamily="34" charset="-120"/>
              </a:rPr>
              <a:t>Green text = Formulas</a:t>
            </a:r>
            <a:endParaRPr lang="en-US" sz="800" dirty="0"/>
          </a:p>
        </p:txBody>
      </p:sp>
      <p:sp>
        <p:nvSpPr>
          <p:cNvPr id="14" name="Shape 12"/>
          <p:cNvSpPr/>
          <p:nvPr/>
        </p:nvSpPr>
        <p:spPr>
          <a:xfrm>
            <a:off x="3621024" y="3840480"/>
            <a:ext cx="914400" cy="594360"/>
          </a:xfrm>
          <a:prstGeom prst="rect">
            <a:avLst/>
          </a:prstGeom>
          <a:solidFill>
            <a:srgbClr val="E5E7EB"/>
          </a:solidFill>
          <a:ln w="19050">
            <a:solidFill>
              <a:srgbClr val="6B7280"/>
            </a:solidFill>
            <a:prstDash val="solid"/>
          </a:ln>
        </p:spPr>
        <p:txBody>
          <a:bodyPr/>
          <a:lstStyle/>
          <a:p>
            <a:endParaRPr lang="en-US"/>
          </a:p>
        </p:txBody>
      </p:sp>
      <p:sp>
        <p:nvSpPr>
          <p:cNvPr id="15" name="Text 13"/>
          <p:cNvSpPr/>
          <p:nvPr/>
        </p:nvSpPr>
        <p:spPr>
          <a:xfrm>
            <a:off x="3621024" y="3886200"/>
            <a:ext cx="914400" cy="502920"/>
          </a:xfrm>
          <a:prstGeom prst="rect">
            <a:avLst/>
          </a:prstGeom>
          <a:noFill/>
          <a:ln/>
        </p:spPr>
        <p:txBody>
          <a:bodyPr wrap="square" rtlCol="0" anchor="ctr"/>
          <a:lstStyle/>
          <a:p>
            <a:pPr marL="0" indent="0" algn="ctr">
              <a:buNone/>
            </a:pPr>
            <a:r>
              <a:rPr lang="en-US" sz="800" b="1" dirty="0">
                <a:solidFill>
                  <a:srgbClr val="6B7280"/>
                </a:solidFill>
                <a:latin typeface="Open Sans" pitchFamily="34" charset="0"/>
                <a:ea typeface="Open Sans" pitchFamily="34" charset="-122"/>
                <a:cs typeface="Open Sans" pitchFamily="34" charset="-120"/>
              </a:rPr>
              <a:t>Gray = Outputs</a:t>
            </a:r>
            <a:endParaRPr lang="en-US" sz="800" dirty="0"/>
          </a:p>
        </p:txBody>
      </p:sp>
      <p:sp>
        <p:nvSpPr>
          <p:cNvPr id="16" name="Shape 14"/>
          <p:cNvSpPr/>
          <p:nvPr/>
        </p:nvSpPr>
        <p:spPr>
          <a:xfrm>
            <a:off x="5029200" y="1051560"/>
            <a:ext cx="3657600" cy="361188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7" name="Text 15"/>
          <p:cNvSpPr/>
          <p:nvPr/>
        </p:nvSpPr>
        <p:spPr>
          <a:xfrm>
            <a:off x="5212080" y="1188720"/>
            <a:ext cx="329184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Six Ratio Categories</a:t>
            </a:r>
            <a:endParaRPr lang="en-US" sz="1300" dirty="0"/>
          </a:p>
        </p:txBody>
      </p:sp>
      <p:sp>
        <p:nvSpPr>
          <p:cNvPr id="18" name="Shape 16"/>
          <p:cNvSpPr/>
          <p:nvPr/>
        </p:nvSpPr>
        <p:spPr>
          <a:xfrm>
            <a:off x="5303520" y="1618488"/>
            <a:ext cx="228600" cy="228600"/>
          </a:xfrm>
          <a:prstGeom prst="ellipse">
            <a:avLst/>
          </a:prstGeom>
          <a:solidFill>
            <a:srgbClr val="024731"/>
          </a:solidFill>
          <a:ln/>
        </p:spPr>
        <p:txBody>
          <a:bodyPr/>
          <a:lstStyle/>
          <a:p>
            <a:endParaRPr lang="en-US"/>
          </a:p>
        </p:txBody>
      </p:sp>
      <p:sp>
        <p:nvSpPr>
          <p:cNvPr id="19" name="Text 17"/>
          <p:cNvSpPr/>
          <p:nvPr/>
        </p:nvSpPr>
        <p:spPr>
          <a:xfrm>
            <a:off x="5303520" y="1618488"/>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1</a:t>
            </a:r>
            <a:endParaRPr lang="en-US" sz="900" dirty="0"/>
          </a:p>
        </p:txBody>
      </p:sp>
      <p:sp>
        <p:nvSpPr>
          <p:cNvPr id="20" name="Text 18"/>
          <p:cNvSpPr/>
          <p:nvPr/>
        </p:nvSpPr>
        <p:spPr>
          <a:xfrm>
            <a:off x="5623560" y="1581912"/>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Performance</a:t>
            </a:r>
            <a:endParaRPr lang="en-US" sz="1100" dirty="0"/>
          </a:p>
        </p:txBody>
      </p:sp>
      <p:sp>
        <p:nvSpPr>
          <p:cNvPr id="21" name="Text 19"/>
          <p:cNvSpPr/>
          <p:nvPr/>
        </p:nvSpPr>
        <p:spPr>
          <a:xfrm>
            <a:off x="5623560" y="1783080"/>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MVA, Market-to-Book, EVA</a:t>
            </a:r>
            <a:endParaRPr lang="en-US" sz="900" dirty="0"/>
          </a:p>
        </p:txBody>
      </p:sp>
      <p:sp>
        <p:nvSpPr>
          <p:cNvPr id="22" name="Shape 20"/>
          <p:cNvSpPr/>
          <p:nvPr/>
        </p:nvSpPr>
        <p:spPr>
          <a:xfrm>
            <a:off x="5303520" y="2103120"/>
            <a:ext cx="228600" cy="228600"/>
          </a:xfrm>
          <a:prstGeom prst="ellipse">
            <a:avLst/>
          </a:prstGeom>
          <a:solidFill>
            <a:srgbClr val="024731"/>
          </a:solidFill>
          <a:ln/>
        </p:spPr>
        <p:txBody>
          <a:bodyPr/>
          <a:lstStyle/>
          <a:p>
            <a:endParaRPr lang="en-US"/>
          </a:p>
        </p:txBody>
      </p:sp>
      <p:sp>
        <p:nvSpPr>
          <p:cNvPr id="23" name="Text 21"/>
          <p:cNvSpPr/>
          <p:nvPr/>
        </p:nvSpPr>
        <p:spPr>
          <a:xfrm>
            <a:off x="5303520" y="2103120"/>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2</a:t>
            </a:r>
            <a:endParaRPr lang="en-US" sz="900" dirty="0"/>
          </a:p>
        </p:txBody>
      </p:sp>
      <p:sp>
        <p:nvSpPr>
          <p:cNvPr id="24" name="Text 22"/>
          <p:cNvSpPr/>
          <p:nvPr/>
        </p:nvSpPr>
        <p:spPr>
          <a:xfrm>
            <a:off x="5623560" y="2066544"/>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Profitability</a:t>
            </a:r>
            <a:endParaRPr lang="en-US" sz="1100" dirty="0"/>
          </a:p>
        </p:txBody>
      </p:sp>
      <p:sp>
        <p:nvSpPr>
          <p:cNvPr id="25" name="Text 23"/>
          <p:cNvSpPr/>
          <p:nvPr/>
        </p:nvSpPr>
        <p:spPr>
          <a:xfrm>
            <a:off x="5623560" y="2267712"/>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ROA, ROC, ROE</a:t>
            </a:r>
            <a:endParaRPr lang="en-US" sz="900" dirty="0"/>
          </a:p>
        </p:txBody>
      </p:sp>
      <p:sp>
        <p:nvSpPr>
          <p:cNvPr id="26" name="Shape 24"/>
          <p:cNvSpPr/>
          <p:nvPr/>
        </p:nvSpPr>
        <p:spPr>
          <a:xfrm>
            <a:off x="5303520" y="2587752"/>
            <a:ext cx="228600" cy="228600"/>
          </a:xfrm>
          <a:prstGeom prst="ellipse">
            <a:avLst/>
          </a:prstGeom>
          <a:solidFill>
            <a:srgbClr val="024731"/>
          </a:solidFill>
          <a:ln/>
        </p:spPr>
        <p:txBody>
          <a:bodyPr/>
          <a:lstStyle/>
          <a:p>
            <a:endParaRPr lang="en-US"/>
          </a:p>
        </p:txBody>
      </p:sp>
      <p:sp>
        <p:nvSpPr>
          <p:cNvPr id="27" name="Text 25"/>
          <p:cNvSpPr/>
          <p:nvPr/>
        </p:nvSpPr>
        <p:spPr>
          <a:xfrm>
            <a:off x="5303520" y="2587752"/>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3</a:t>
            </a:r>
            <a:endParaRPr lang="en-US" sz="900" dirty="0"/>
          </a:p>
        </p:txBody>
      </p:sp>
      <p:sp>
        <p:nvSpPr>
          <p:cNvPr id="28" name="Text 26"/>
          <p:cNvSpPr/>
          <p:nvPr/>
        </p:nvSpPr>
        <p:spPr>
          <a:xfrm>
            <a:off x="5623560" y="2551176"/>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Efficiency</a:t>
            </a:r>
            <a:endParaRPr lang="en-US" sz="1100" dirty="0"/>
          </a:p>
        </p:txBody>
      </p:sp>
      <p:sp>
        <p:nvSpPr>
          <p:cNvPr id="29" name="Text 27"/>
          <p:cNvSpPr/>
          <p:nvPr/>
        </p:nvSpPr>
        <p:spPr>
          <a:xfrm>
            <a:off x="5623560" y="2752344"/>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Asset Turnover, Inventory Days, Collection Period</a:t>
            </a:r>
            <a:endParaRPr lang="en-US" sz="900" dirty="0"/>
          </a:p>
        </p:txBody>
      </p:sp>
      <p:sp>
        <p:nvSpPr>
          <p:cNvPr id="30" name="Shape 28"/>
          <p:cNvSpPr/>
          <p:nvPr/>
        </p:nvSpPr>
        <p:spPr>
          <a:xfrm>
            <a:off x="5303520" y="3072384"/>
            <a:ext cx="228600" cy="228600"/>
          </a:xfrm>
          <a:prstGeom prst="ellipse">
            <a:avLst/>
          </a:prstGeom>
          <a:solidFill>
            <a:srgbClr val="024731"/>
          </a:solidFill>
          <a:ln/>
        </p:spPr>
        <p:txBody>
          <a:bodyPr/>
          <a:lstStyle/>
          <a:p>
            <a:endParaRPr lang="en-US"/>
          </a:p>
        </p:txBody>
      </p:sp>
      <p:sp>
        <p:nvSpPr>
          <p:cNvPr id="31" name="Text 29"/>
          <p:cNvSpPr/>
          <p:nvPr/>
        </p:nvSpPr>
        <p:spPr>
          <a:xfrm>
            <a:off x="5303520" y="3072384"/>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4</a:t>
            </a:r>
            <a:endParaRPr lang="en-US" sz="900" dirty="0"/>
          </a:p>
        </p:txBody>
      </p:sp>
      <p:sp>
        <p:nvSpPr>
          <p:cNvPr id="32" name="Text 30"/>
          <p:cNvSpPr/>
          <p:nvPr/>
        </p:nvSpPr>
        <p:spPr>
          <a:xfrm>
            <a:off x="5623560" y="3035808"/>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Leverage</a:t>
            </a:r>
            <a:endParaRPr lang="en-US" sz="1100" dirty="0"/>
          </a:p>
        </p:txBody>
      </p:sp>
      <p:sp>
        <p:nvSpPr>
          <p:cNvPr id="33" name="Text 31"/>
          <p:cNvSpPr/>
          <p:nvPr/>
        </p:nvSpPr>
        <p:spPr>
          <a:xfrm>
            <a:off x="5623560" y="3236976"/>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Debt Ratio, TIE, Cash Coverage, Debt Burden</a:t>
            </a:r>
            <a:endParaRPr lang="en-US" sz="900" dirty="0"/>
          </a:p>
        </p:txBody>
      </p:sp>
      <p:sp>
        <p:nvSpPr>
          <p:cNvPr id="34" name="Shape 32"/>
          <p:cNvSpPr/>
          <p:nvPr/>
        </p:nvSpPr>
        <p:spPr>
          <a:xfrm>
            <a:off x="5303520" y="3557016"/>
            <a:ext cx="228600" cy="228600"/>
          </a:xfrm>
          <a:prstGeom prst="ellipse">
            <a:avLst/>
          </a:prstGeom>
          <a:solidFill>
            <a:srgbClr val="024731"/>
          </a:solidFill>
          <a:ln/>
        </p:spPr>
        <p:txBody>
          <a:bodyPr/>
          <a:lstStyle/>
          <a:p>
            <a:endParaRPr lang="en-US"/>
          </a:p>
        </p:txBody>
      </p:sp>
      <p:sp>
        <p:nvSpPr>
          <p:cNvPr id="35" name="Text 33"/>
          <p:cNvSpPr/>
          <p:nvPr/>
        </p:nvSpPr>
        <p:spPr>
          <a:xfrm>
            <a:off x="5303520" y="3557016"/>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5</a:t>
            </a:r>
            <a:endParaRPr lang="en-US" sz="900" dirty="0"/>
          </a:p>
        </p:txBody>
      </p:sp>
      <p:sp>
        <p:nvSpPr>
          <p:cNvPr id="36" name="Text 34"/>
          <p:cNvSpPr/>
          <p:nvPr/>
        </p:nvSpPr>
        <p:spPr>
          <a:xfrm>
            <a:off x="5623560" y="3520440"/>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Liquidity</a:t>
            </a:r>
            <a:endParaRPr lang="en-US" sz="1100" dirty="0"/>
          </a:p>
        </p:txBody>
      </p:sp>
      <p:sp>
        <p:nvSpPr>
          <p:cNvPr id="37" name="Text 35"/>
          <p:cNvSpPr/>
          <p:nvPr/>
        </p:nvSpPr>
        <p:spPr>
          <a:xfrm>
            <a:off x="5623560" y="3721608"/>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Current Ratio, Quick Ratio, Cash Ratio, NWC</a:t>
            </a:r>
            <a:endParaRPr lang="en-US" sz="900" dirty="0"/>
          </a:p>
        </p:txBody>
      </p:sp>
      <p:sp>
        <p:nvSpPr>
          <p:cNvPr id="38" name="Shape 36"/>
          <p:cNvSpPr/>
          <p:nvPr/>
        </p:nvSpPr>
        <p:spPr>
          <a:xfrm>
            <a:off x="5303520" y="4041648"/>
            <a:ext cx="228600" cy="228600"/>
          </a:xfrm>
          <a:prstGeom prst="ellipse">
            <a:avLst/>
          </a:prstGeom>
          <a:solidFill>
            <a:srgbClr val="024731"/>
          </a:solidFill>
          <a:ln/>
        </p:spPr>
        <p:txBody>
          <a:bodyPr/>
          <a:lstStyle/>
          <a:p>
            <a:endParaRPr lang="en-US"/>
          </a:p>
        </p:txBody>
      </p:sp>
      <p:sp>
        <p:nvSpPr>
          <p:cNvPr id="39" name="Text 37"/>
          <p:cNvSpPr/>
          <p:nvPr/>
        </p:nvSpPr>
        <p:spPr>
          <a:xfrm>
            <a:off x="5303520" y="4041648"/>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6</a:t>
            </a:r>
            <a:endParaRPr lang="en-US" sz="900" dirty="0"/>
          </a:p>
        </p:txBody>
      </p:sp>
      <p:sp>
        <p:nvSpPr>
          <p:cNvPr id="40" name="Text 38"/>
          <p:cNvSpPr/>
          <p:nvPr/>
        </p:nvSpPr>
        <p:spPr>
          <a:xfrm>
            <a:off x="5623560" y="4005072"/>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Du Pont</a:t>
            </a:r>
            <a:endParaRPr lang="en-US" sz="1100" dirty="0"/>
          </a:p>
        </p:txBody>
      </p:sp>
      <p:sp>
        <p:nvSpPr>
          <p:cNvPr id="41" name="Text 39"/>
          <p:cNvSpPr/>
          <p:nvPr/>
        </p:nvSpPr>
        <p:spPr>
          <a:xfrm>
            <a:off x="5623560" y="4206240"/>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ROA &amp; ROE decomposition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1  |  Excel Onboarding  |  performance-ratios-template.xlsx</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Excel Tips Before You Build</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Three things to know before you populate the template at Stage 3 — they save hours and prevent the most common mistakes EMBA students hit on their first ratio build.</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2"/>
          <a:stretch>
            <a:fillRect/>
          </a:stretch>
        </p:blipFill>
        <p:spPr>
          <a:xfrm>
            <a:off x="155448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Named Ranges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Type a name in the Name Box (top-left of the formula bar) to define one. Reference any cell by name in formulas instead of A1 notation.</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3"/>
          <a:stretch>
            <a:fillRect/>
          </a:stretch>
        </p:blipFill>
        <p:spPr>
          <a:xfrm>
            <a:off x="420624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Color Conventions</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Yellow = data inputs. Light blue = analyst assumptions. Green text = formulas (don't overwrite). Gray = computed ratio outputs.</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4"/>
          <a:stretch>
            <a:fillRect/>
          </a:stretch>
        </p:blipFill>
        <p:spPr>
          <a:xfrm>
            <a:off x="685800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Speed Keys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F2 edits the active cell's formula. F4 cycles absolute/relative refs ($A$1 ↔ A1). Click any name in the Name Box to jump to it.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75666-D35F-9616-6D3D-0307A5FE1EF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8A41F7-4DDE-A707-AC83-1B757E39DE4C}"/>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8C8A04B4-823D-3E15-6A5C-1BAE5BF797EC}"/>
              </a:ext>
            </a:extLst>
          </p:cNvPr>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STAGE 2</a:t>
            </a:r>
            <a:endParaRPr lang="en-US" sz="1400" dirty="0"/>
          </a:p>
        </p:txBody>
      </p:sp>
      <p:sp>
        <p:nvSpPr>
          <p:cNvPr id="4" name="Text 2">
            <a:extLst>
              <a:ext uri="{FF2B5EF4-FFF2-40B4-BE49-F238E27FC236}">
                <a16:creationId xmlns:a16="http://schemas.microsoft.com/office/drawing/2014/main" id="{9D1C255D-99C1-14A5-6D63-B7C3A4E9BA0D}"/>
              </a:ext>
            </a:extLst>
          </p:cNvPr>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Draft .md Decision Memo</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A3A04EA9-0FF8-F8BD-AAF0-F0E889F49C19}"/>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38606147-BE4D-C55D-C95A-22EAD142783F}"/>
              </a:ext>
            </a:extLst>
          </p:cNvPr>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600" dirty="0">
                <a:solidFill>
                  <a:srgbClr val="36454F"/>
                </a:solidFill>
              </a:rPr>
              <a:t>Pick a public company and defend the choice in a short markdown decision memo committed to your repo.</a:t>
            </a:r>
          </a:p>
        </p:txBody>
      </p:sp>
      <p:pic>
        <p:nvPicPr>
          <p:cNvPr id="7" name="Image 0" descr="preencoded.png">
            <a:extLst>
              <a:ext uri="{FF2B5EF4-FFF2-40B4-BE49-F238E27FC236}">
                <a16:creationId xmlns:a16="http://schemas.microsoft.com/office/drawing/2014/main" id="{9F424061-9722-78F8-28AD-F18B1CEC624F}"/>
              </a:ext>
            </a:extLst>
          </p:cNvPr>
          <p:cNvPicPr>
            <a:picLocks noChangeAspect="1"/>
          </p:cNvPicPr>
          <p:nvPr/>
        </p:nvPicPr>
        <p:blipFill>
          <a:blip r:embed="rId3"/>
          <a:stretch>
            <a:fillRect/>
          </a:stretch>
        </p:blipFill>
        <p:spPr>
          <a:xfrm>
            <a:off x="7132320" y="3017520"/>
            <a:ext cx="1097280" cy="1097280"/>
          </a:xfrm>
          <a:prstGeom prst="rect">
            <a:avLst/>
          </a:prstGeom>
        </p:spPr>
      </p:pic>
      <p:sp>
        <p:nvSpPr>
          <p:cNvPr id="8" name="Text 5">
            <a:extLst>
              <a:ext uri="{FF2B5EF4-FFF2-40B4-BE49-F238E27FC236}">
                <a16:creationId xmlns:a16="http://schemas.microsoft.com/office/drawing/2014/main" id="{F41FAAEA-6A64-633D-1BE1-CAC022CD8504}"/>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2616327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2 — Company Selection Memo</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10% of project  |  Choose your company, frame the analysis</a:t>
            </a:r>
            <a:endParaRPr lang="en-US" sz="1100" dirty="0"/>
          </a:p>
        </p:txBody>
      </p:sp>
      <p:sp>
        <p:nvSpPr>
          <p:cNvPr id="5" name="Shape 3"/>
          <p:cNvSpPr/>
          <p:nvPr/>
        </p:nvSpPr>
        <p:spPr>
          <a:xfrm>
            <a:off x="548640" y="1097280"/>
            <a:ext cx="5120640" cy="502920"/>
          </a:xfrm>
          <a:prstGeom prst="rect">
            <a:avLst/>
          </a:prstGeom>
          <a:solidFill>
            <a:srgbClr val="F5F7F6"/>
          </a:solidFill>
          <a:ln/>
        </p:spPr>
        <p:txBody>
          <a:bodyPr/>
          <a:lstStyle/>
          <a:p>
            <a:endParaRPr lang="en-US"/>
          </a:p>
        </p:txBody>
      </p:sp>
      <p:sp>
        <p:nvSpPr>
          <p:cNvPr id="6" name="Shape 4"/>
          <p:cNvSpPr/>
          <p:nvPr/>
        </p:nvSpPr>
        <p:spPr>
          <a:xfrm>
            <a:off x="685800" y="1188720"/>
            <a:ext cx="320040" cy="320040"/>
          </a:xfrm>
          <a:prstGeom prst="ellipse">
            <a:avLst/>
          </a:prstGeom>
          <a:solidFill>
            <a:srgbClr val="024731"/>
          </a:solidFill>
          <a:ln/>
        </p:spPr>
        <p:txBody>
          <a:bodyPr/>
          <a:lstStyle/>
          <a:p>
            <a:endParaRPr lang="en-US"/>
          </a:p>
        </p:txBody>
      </p:sp>
      <p:sp>
        <p:nvSpPr>
          <p:cNvPr id="7" name="Text 5"/>
          <p:cNvSpPr/>
          <p:nvPr/>
        </p:nvSpPr>
        <p:spPr>
          <a:xfrm>
            <a:off x="685800" y="118872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1</a:t>
            </a:r>
            <a:endParaRPr lang="en-US" sz="1200" dirty="0"/>
          </a:p>
        </p:txBody>
      </p:sp>
      <p:sp>
        <p:nvSpPr>
          <p:cNvPr id="8" name="Text 6"/>
          <p:cNvSpPr/>
          <p:nvPr/>
        </p:nvSpPr>
        <p:spPr>
          <a:xfrm>
            <a:off x="1143000" y="111556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Company Overview</a:t>
            </a:r>
            <a:endParaRPr lang="en-US" sz="1100" dirty="0"/>
          </a:p>
        </p:txBody>
      </p:sp>
      <p:sp>
        <p:nvSpPr>
          <p:cNvPr id="9" name="Text 7"/>
          <p:cNvSpPr/>
          <p:nvPr/>
        </p:nvSpPr>
        <p:spPr>
          <a:xfrm>
            <a:off x="1143000" y="134416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Name, ticker, exchange, industry, market cap, reporting currency</a:t>
            </a:r>
            <a:endParaRPr lang="en-US" sz="900" dirty="0"/>
          </a:p>
        </p:txBody>
      </p:sp>
      <p:sp>
        <p:nvSpPr>
          <p:cNvPr id="10" name="Shape 8"/>
          <p:cNvSpPr/>
          <p:nvPr/>
        </p:nvSpPr>
        <p:spPr>
          <a:xfrm>
            <a:off x="548640" y="1691640"/>
            <a:ext cx="5120640" cy="502920"/>
          </a:xfrm>
          <a:prstGeom prst="rect">
            <a:avLst/>
          </a:prstGeom>
          <a:solidFill>
            <a:srgbClr val="FFFFFF"/>
          </a:solidFill>
          <a:ln/>
        </p:spPr>
        <p:txBody>
          <a:bodyPr/>
          <a:lstStyle/>
          <a:p>
            <a:endParaRPr lang="en-US"/>
          </a:p>
        </p:txBody>
      </p:sp>
      <p:sp>
        <p:nvSpPr>
          <p:cNvPr id="11" name="Shape 9"/>
          <p:cNvSpPr/>
          <p:nvPr/>
        </p:nvSpPr>
        <p:spPr>
          <a:xfrm>
            <a:off x="685800" y="1783080"/>
            <a:ext cx="320040" cy="320040"/>
          </a:xfrm>
          <a:prstGeom prst="ellipse">
            <a:avLst/>
          </a:prstGeom>
          <a:solidFill>
            <a:srgbClr val="024731"/>
          </a:solidFill>
          <a:ln/>
        </p:spPr>
        <p:txBody>
          <a:bodyPr/>
          <a:lstStyle/>
          <a:p>
            <a:endParaRPr lang="en-US"/>
          </a:p>
        </p:txBody>
      </p:sp>
      <p:sp>
        <p:nvSpPr>
          <p:cNvPr id="12" name="Text 10"/>
          <p:cNvSpPr/>
          <p:nvPr/>
        </p:nvSpPr>
        <p:spPr>
          <a:xfrm>
            <a:off x="685800" y="178308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2</a:t>
            </a:r>
            <a:endParaRPr lang="en-US" sz="1200" dirty="0"/>
          </a:p>
        </p:txBody>
      </p:sp>
      <p:sp>
        <p:nvSpPr>
          <p:cNvPr id="13" name="Text 11"/>
          <p:cNvSpPr/>
          <p:nvPr/>
        </p:nvSpPr>
        <p:spPr>
          <a:xfrm>
            <a:off x="1143000" y="170992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Selection Rationale</a:t>
            </a:r>
            <a:endParaRPr lang="en-US" sz="1100" dirty="0"/>
          </a:p>
        </p:txBody>
      </p:sp>
      <p:sp>
        <p:nvSpPr>
          <p:cNvPr id="14" name="Text 12"/>
          <p:cNvSpPr/>
          <p:nvPr/>
        </p:nvSpPr>
        <p:spPr>
          <a:xfrm>
            <a:off x="1143000" y="193852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Why this company? Relevance to your industry, employer, or career goals</a:t>
            </a:r>
            <a:endParaRPr lang="en-US" sz="900" dirty="0"/>
          </a:p>
        </p:txBody>
      </p:sp>
      <p:sp>
        <p:nvSpPr>
          <p:cNvPr id="15" name="Shape 13"/>
          <p:cNvSpPr/>
          <p:nvPr/>
        </p:nvSpPr>
        <p:spPr>
          <a:xfrm>
            <a:off x="548640" y="2286000"/>
            <a:ext cx="5120640" cy="502920"/>
          </a:xfrm>
          <a:prstGeom prst="rect">
            <a:avLst/>
          </a:prstGeom>
          <a:solidFill>
            <a:srgbClr val="F5F7F6"/>
          </a:solidFill>
          <a:ln/>
        </p:spPr>
        <p:txBody>
          <a:bodyPr/>
          <a:lstStyle/>
          <a:p>
            <a:endParaRPr lang="en-US"/>
          </a:p>
        </p:txBody>
      </p:sp>
      <p:sp>
        <p:nvSpPr>
          <p:cNvPr id="16" name="Shape 14"/>
          <p:cNvSpPr/>
          <p:nvPr/>
        </p:nvSpPr>
        <p:spPr>
          <a:xfrm>
            <a:off x="685800" y="2377440"/>
            <a:ext cx="320040" cy="320040"/>
          </a:xfrm>
          <a:prstGeom prst="ellipse">
            <a:avLst/>
          </a:prstGeom>
          <a:solidFill>
            <a:srgbClr val="024731"/>
          </a:solidFill>
          <a:ln/>
        </p:spPr>
        <p:txBody>
          <a:bodyPr/>
          <a:lstStyle/>
          <a:p>
            <a:endParaRPr lang="en-US"/>
          </a:p>
        </p:txBody>
      </p:sp>
      <p:sp>
        <p:nvSpPr>
          <p:cNvPr id="17" name="Text 15"/>
          <p:cNvSpPr/>
          <p:nvPr/>
        </p:nvSpPr>
        <p:spPr>
          <a:xfrm>
            <a:off x="685800" y="237744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3</a:t>
            </a:r>
            <a:endParaRPr lang="en-US" sz="1200" dirty="0"/>
          </a:p>
        </p:txBody>
      </p:sp>
      <p:sp>
        <p:nvSpPr>
          <p:cNvPr id="18" name="Text 16"/>
          <p:cNvSpPr/>
          <p:nvPr/>
        </p:nvSpPr>
        <p:spPr>
          <a:xfrm>
            <a:off x="1143000" y="230428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Data Availability</a:t>
            </a:r>
            <a:endParaRPr lang="en-US" sz="1100" dirty="0"/>
          </a:p>
        </p:txBody>
      </p:sp>
      <p:sp>
        <p:nvSpPr>
          <p:cNvPr id="19" name="Text 17"/>
          <p:cNvSpPr/>
          <p:nvPr/>
        </p:nvSpPr>
        <p:spPr>
          <a:xfrm>
            <a:off x="1143000" y="253288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Confirm 10-K / annual report access. Note fiscal year, reporting standard (GAAP/IFRS/VAS)</a:t>
            </a:r>
            <a:endParaRPr lang="en-US" sz="900" dirty="0"/>
          </a:p>
        </p:txBody>
      </p:sp>
      <p:sp>
        <p:nvSpPr>
          <p:cNvPr id="20" name="Shape 18"/>
          <p:cNvSpPr/>
          <p:nvPr/>
        </p:nvSpPr>
        <p:spPr>
          <a:xfrm>
            <a:off x="548640" y="2880360"/>
            <a:ext cx="5120640" cy="502920"/>
          </a:xfrm>
          <a:prstGeom prst="rect">
            <a:avLst/>
          </a:prstGeom>
          <a:solidFill>
            <a:srgbClr val="FFFFFF"/>
          </a:solidFill>
          <a:ln/>
        </p:spPr>
        <p:txBody>
          <a:bodyPr/>
          <a:lstStyle/>
          <a:p>
            <a:endParaRPr lang="en-US"/>
          </a:p>
        </p:txBody>
      </p:sp>
      <p:sp>
        <p:nvSpPr>
          <p:cNvPr id="21" name="Shape 19"/>
          <p:cNvSpPr/>
          <p:nvPr/>
        </p:nvSpPr>
        <p:spPr>
          <a:xfrm>
            <a:off x="685800" y="2971800"/>
            <a:ext cx="320040" cy="320040"/>
          </a:xfrm>
          <a:prstGeom prst="ellipse">
            <a:avLst/>
          </a:prstGeom>
          <a:solidFill>
            <a:srgbClr val="024731"/>
          </a:solidFill>
          <a:ln/>
        </p:spPr>
        <p:txBody>
          <a:bodyPr/>
          <a:lstStyle/>
          <a:p>
            <a:endParaRPr lang="en-US"/>
          </a:p>
        </p:txBody>
      </p:sp>
      <p:sp>
        <p:nvSpPr>
          <p:cNvPr id="22" name="Text 20"/>
          <p:cNvSpPr/>
          <p:nvPr/>
        </p:nvSpPr>
        <p:spPr>
          <a:xfrm>
            <a:off x="685800" y="297180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4</a:t>
            </a:r>
            <a:endParaRPr lang="en-US" sz="1200" dirty="0"/>
          </a:p>
        </p:txBody>
      </p:sp>
      <p:sp>
        <p:nvSpPr>
          <p:cNvPr id="23" name="Text 21"/>
          <p:cNvSpPr/>
          <p:nvPr/>
        </p:nvSpPr>
        <p:spPr>
          <a:xfrm>
            <a:off x="1143000" y="289864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Preliminary Observations</a:t>
            </a:r>
            <a:endParaRPr lang="en-US" sz="1100" dirty="0"/>
          </a:p>
        </p:txBody>
      </p:sp>
      <p:sp>
        <p:nvSpPr>
          <p:cNvPr id="24" name="Text 22"/>
          <p:cNvSpPr/>
          <p:nvPr/>
        </p:nvSpPr>
        <p:spPr>
          <a:xfrm>
            <a:off x="1143000" y="312724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2–3 hypotheses about what ratio analysis might reveal</a:t>
            </a:r>
            <a:endParaRPr lang="en-US" sz="900" dirty="0"/>
          </a:p>
        </p:txBody>
      </p:sp>
      <p:sp>
        <p:nvSpPr>
          <p:cNvPr id="25" name="Shape 23"/>
          <p:cNvSpPr/>
          <p:nvPr/>
        </p:nvSpPr>
        <p:spPr>
          <a:xfrm>
            <a:off x="548640" y="3474720"/>
            <a:ext cx="5120640" cy="502920"/>
          </a:xfrm>
          <a:prstGeom prst="rect">
            <a:avLst/>
          </a:prstGeom>
          <a:solidFill>
            <a:srgbClr val="F5F7F6"/>
          </a:solidFill>
          <a:ln/>
        </p:spPr>
        <p:txBody>
          <a:bodyPr/>
          <a:lstStyle/>
          <a:p>
            <a:endParaRPr lang="en-US"/>
          </a:p>
        </p:txBody>
      </p:sp>
      <p:sp>
        <p:nvSpPr>
          <p:cNvPr id="26" name="Shape 24"/>
          <p:cNvSpPr/>
          <p:nvPr/>
        </p:nvSpPr>
        <p:spPr>
          <a:xfrm>
            <a:off x="685800" y="3566160"/>
            <a:ext cx="320040" cy="320040"/>
          </a:xfrm>
          <a:prstGeom prst="ellipse">
            <a:avLst/>
          </a:prstGeom>
          <a:solidFill>
            <a:srgbClr val="024731"/>
          </a:solidFill>
          <a:ln/>
        </p:spPr>
        <p:txBody>
          <a:bodyPr/>
          <a:lstStyle/>
          <a:p>
            <a:endParaRPr lang="en-US"/>
          </a:p>
        </p:txBody>
      </p:sp>
      <p:sp>
        <p:nvSpPr>
          <p:cNvPr id="27" name="Text 25"/>
          <p:cNvSpPr/>
          <p:nvPr/>
        </p:nvSpPr>
        <p:spPr>
          <a:xfrm>
            <a:off x="685800" y="356616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5</a:t>
            </a:r>
            <a:endParaRPr lang="en-US" sz="1200" dirty="0"/>
          </a:p>
        </p:txBody>
      </p:sp>
      <p:sp>
        <p:nvSpPr>
          <p:cNvPr id="28" name="Text 26"/>
          <p:cNvSpPr/>
          <p:nvPr/>
        </p:nvSpPr>
        <p:spPr>
          <a:xfrm>
            <a:off x="1143000" y="349300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Ratio Categories Preview</a:t>
            </a:r>
            <a:endParaRPr lang="en-US" sz="1100" dirty="0"/>
          </a:p>
        </p:txBody>
      </p:sp>
      <p:sp>
        <p:nvSpPr>
          <p:cNvPr id="29" name="Text 27"/>
          <p:cNvSpPr/>
          <p:nvPr/>
        </p:nvSpPr>
        <p:spPr>
          <a:xfrm>
            <a:off x="1143000" y="372160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Which categories matter most for this company’s industry and why</a:t>
            </a:r>
            <a:endParaRPr lang="en-US" sz="900" dirty="0"/>
          </a:p>
        </p:txBody>
      </p:sp>
      <p:sp>
        <p:nvSpPr>
          <p:cNvPr id="30" name="Shape 28"/>
          <p:cNvSpPr/>
          <p:nvPr/>
        </p:nvSpPr>
        <p:spPr>
          <a:xfrm>
            <a:off x="548640" y="4069080"/>
            <a:ext cx="5120640" cy="502920"/>
          </a:xfrm>
          <a:prstGeom prst="rect">
            <a:avLst/>
          </a:prstGeom>
          <a:solidFill>
            <a:srgbClr val="FFFFFF"/>
          </a:solidFill>
          <a:ln/>
        </p:spPr>
        <p:txBody>
          <a:bodyPr/>
          <a:lstStyle/>
          <a:p>
            <a:endParaRPr lang="en-US"/>
          </a:p>
        </p:txBody>
      </p:sp>
      <p:sp>
        <p:nvSpPr>
          <p:cNvPr id="31" name="Shape 29"/>
          <p:cNvSpPr/>
          <p:nvPr/>
        </p:nvSpPr>
        <p:spPr>
          <a:xfrm>
            <a:off x="685800" y="4160520"/>
            <a:ext cx="320040" cy="320040"/>
          </a:xfrm>
          <a:prstGeom prst="ellipse">
            <a:avLst/>
          </a:prstGeom>
          <a:solidFill>
            <a:srgbClr val="024731"/>
          </a:solidFill>
          <a:ln/>
        </p:spPr>
        <p:txBody>
          <a:bodyPr/>
          <a:lstStyle/>
          <a:p>
            <a:endParaRPr lang="en-US"/>
          </a:p>
        </p:txBody>
      </p:sp>
      <p:sp>
        <p:nvSpPr>
          <p:cNvPr id="32" name="Text 30"/>
          <p:cNvSpPr/>
          <p:nvPr/>
        </p:nvSpPr>
        <p:spPr>
          <a:xfrm>
            <a:off x="685800" y="416052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6</a:t>
            </a:r>
            <a:endParaRPr lang="en-US" sz="1200" dirty="0"/>
          </a:p>
        </p:txBody>
      </p:sp>
      <p:sp>
        <p:nvSpPr>
          <p:cNvPr id="33" name="Text 31"/>
          <p:cNvSpPr/>
          <p:nvPr/>
        </p:nvSpPr>
        <p:spPr>
          <a:xfrm>
            <a:off x="1143000" y="408736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Data Collection Plan</a:t>
            </a:r>
            <a:endParaRPr lang="en-US" sz="1100" dirty="0"/>
          </a:p>
        </p:txBody>
      </p:sp>
      <p:sp>
        <p:nvSpPr>
          <p:cNvPr id="34" name="Text 32"/>
          <p:cNvSpPr/>
          <p:nvPr/>
        </p:nvSpPr>
        <p:spPr>
          <a:xfrm>
            <a:off x="1143000" y="431596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What financials are needed, market assumptions to source, timeline</a:t>
            </a:r>
            <a:endParaRPr lang="en-US" sz="900" dirty="0"/>
          </a:p>
        </p:txBody>
      </p:sp>
      <p:sp>
        <p:nvSpPr>
          <p:cNvPr id="35" name="Shape 33"/>
          <p:cNvSpPr/>
          <p:nvPr/>
        </p:nvSpPr>
        <p:spPr>
          <a:xfrm>
            <a:off x="5943600" y="1097280"/>
            <a:ext cx="2926080" cy="3566160"/>
          </a:xfrm>
          <a:prstGeom prst="rect">
            <a:avLst/>
          </a:prstGeom>
          <a:solidFill>
            <a:srgbClr val="E6F2EF"/>
          </a:solidFill>
          <a:ln/>
          <a:effectLst>
            <a:outerShdw blurRad="50800" dist="12700" dir="8100000" algn="bl" rotWithShape="0">
              <a:srgbClr val="000000">
                <a:alpha val="10000"/>
              </a:srgbClr>
            </a:outerShdw>
          </a:effectLst>
        </p:spPr>
        <p:txBody>
          <a:bodyPr/>
          <a:lstStyle/>
          <a:p>
            <a:endParaRPr lang="en-US"/>
          </a:p>
        </p:txBody>
      </p:sp>
      <p:sp>
        <p:nvSpPr>
          <p:cNvPr id="36" name="Shape 34"/>
          <p:cNvSpPr/>
          <p:nvPr/>
        </p:nvSpPr>
        <p:spPr>
          <a:xfrm>
            <a:off x="5943600" y="1097280"/>
            <a:ext cx="2926080" cy="411480"/>
          </a:xfrm>
          <a:prstGeom prst="rect">
            <a:avLst/>
          </a:prstGeom>
          <a:solidFill>
            <a:srgbClr val="024731"/>
          </a:solidFill>
          <a:ln/>
        </p:spPr>
        <p:txBody>
          <a:bodyPr/>
          <a:lstStyle/>
          <a:p>
            <a:endParaRPr lang="en-US"/>
          </a:p>
        </p:txBody>
      </p:sp>
      <p:sp>
        <p:nvSpPr>
          <p:cNvPr id="37" name="Text 35"/>
          <p:cNvSpPr/>
          <p:nvPr/>
        </p:nvSpPr>
        <p:spPr>
          <a:xfrm>
            <a:off x="6035040" y="1115568"/>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Open Sans" pitchFamily="34" charset="0"/>
                <a:ea typeface="Open Sans" pitchFamily="34" charset="-122"/>
                <a:cs typeface="Open Sans" pitchFamily="34" charset="-120"/>
              </a:rPr>
              <a:t>Company Eligibility</a:t>
            </a:r>
            <a:endParaRPr lang="en-US" sz="1300" dirty="0"/>
          </a:p>
        </p:txBody>
      </p:sp>
      <p:sp>
        <p:nvSpPr>
          <p:cNvPr id="38" name="Text 36"/>
          <p:cNvSpPr/>
          <p:nvPr/>
        </p:nvSpPr>
        <p:spPr>
          <a:xfrm>
            <a:off x="6080760" y="1645920"/>
            <a:ext cx="2651760" cy="2834640"/>
          </a:xfrm>
          <a:prstGeom prst="rect">
            <a:avLst/>
          </a:prstGeom>
          <a:noFill/>
          <a:ln/>
        </p:spPr>
        <p:txBody>
          <a:bodyPr wrap="square" rtlCol="0" anchor="ctr"/>
          <a:lstStyle/>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Publicly traded on a major exchange</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NYSE, NASDAQ, HOSE, HNX, SGX, SET, IDX, or other recognized exchange</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Non-financial company</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Minimum 2 years of data</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Non-U.S. companies encouraged — especially Vietnamese and ASEAN firms</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English-language deliverables required; source financials may be in local language</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Note IFRS / GAAP / VAS differences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369332"/>
          </a:xfrm>
          <a:prstGeom prst="rect">
            <a:avLst/>
          </a:prstGeom>
          <a:noFill/>
        </p:spPr>
        <p:txBody>
          <a:bodyPr wrap="square" lIns="0" tIns="0" rIns="0" bIns="0" anchor="t">
            <a:spAutoFit/>
          </a:bodyPr>
          <a:lstStyle/>
          <a:p>
            <a:pPr algn="l"/>
            <a:r>
              <a:rPr sz="2400" b="1" dirty="0">
                <a:solidFill>
                  <a:srgbClr val="024731"/>
                </a:solidFill>
                <a:latin typeface="Open Sans"/>
              </a:rPr>
              <a:t>Stage 2 — Company Selection Memo  |  Step by Step</a:t>
            </a:r>
          </a:p>
        </p:txBody>
      </p:sp>
      <p:sp>
        <p:nvSpPr>
          <p:cNvPr id="4" name="TextBox 3"/>
          <p:cNvSpPr txBox="1"/>
          <p:nvPr/>
        </p:nvSpPr>
        <p:spPr>
          <a:xfrm>
            <a:off x="457200" y="841248"/>
            <a:ext cx="8229600" cy="320040"/>
          </a:xfrm>
          <a:prstGeom prst="rect">
            <a:avLst/>
          </a:prstGeom>
          <a:noFill/>
        </p:spPr>
        <p:txBody>
          <a:bodyPr wrap="square" lIns="0" tIns="0" rIns="0" bIns="0" anchor="t">
            <a:spAutoFit/>
          </a:bodyPr>
          <a:lstStyle/>
          <a:p>
            <a:pPr algn="l"/>
            <a:r>
              <a:rPr sz="1200" b="0">
                <a:solidFill>
                  <a:srgbClr val="555555"/>
                </a:solidFill>
                <a:latin typeface="Open Sans"/>
              </a:rPr>
              <a:t>A 400–600 word memo selecting your company. Reviewed by the instructor as a pull request on your repo.</a:t>
            </a:r>
          </a:p>
        </p:txBody>
      </p:sp>
      <p:sp>
        <p:nvSpPr>
          <p:cNvPr id="5" name="TextBox 4"/>
          <p:cNvSpPr txBox="1"/>
          <p:nvPr/>
        </p:nvSpPr>
        <p:spPr>
          <a:xfrm>
            <a:off x="457200" y="4818888"/>
            <a:ext cx="8229600" cy="228600"/>
          </a:xfrm>
          <a:prstGeom prst="rect">
            <a:avLst/>
          </a:prstGeom>
          <a:noFill/>
        </p:spPr>
        <p:txBody>
          <a:bodyPr wrap="square" lIns="0" tIns="0" rIns="0" bIns="0" anchor="t">
            <a:spAutoFit/>
          </a:bodyPr>
          <a:lstStyle/>
          <a:p>
            <a:pPr algn="l"/>
            <a:r>
              <a:rPr sz="900" b="0">
                <a:solidFill>
                  <a:srgbClr val="555555"/>
                </a:solidFill>
                <a:latin typeface="Open Sans"/>
              </a:rPr>
              <a:t>Stage 2  |  10% of project  |  Deliverable-only  |  docs/decisions/  |  see stage2-company-selection-memo.md</a:t>
            </a:r>
          </a:p>
        </p:txBody>
      </p:sp>
      <p:sp>
        <p:nvSpPr>
          <p:cNvPr id="6" name="Oval 5"/>
          <p:cNvSpPr/>
          <p:nvPr/>
        </p:nvSpPr>
        <p:spPr>
          <a:xfrm>
            <a:off x="45720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1</a:t>
            </a:r>
          </a:p>
        </p:txBody>
      </p:sp>
      <p:sp>
        <p:nvSpPr>
          <p:cNvPr id="7" name="TextBox 6"/>
          <p:cNvSpPr txBox="1"/>
          <p:nvPr/>
        </p:nvSpPr>
        <p:spPr>
          <a:xfrm>
            <a:off x="91440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Pick your company</a:t>
            </a:r>
          </a:p>
        </p:txBody>
      </p:sp>
      <p:sp>
        <p:nvSpPr>
          <p:cNvPr id="8" name="TextBox 7"/>
          <p:cNvSpPr txBox="1"/>
          <p:nvPr/>
        </p:nvSpPr>
        <p:spPr>
          <a:xfrm>
            <a:off x="914400" y="1587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Publicly traded on NYSE, NASDAQ, HOSE, HNX, SGX, SET, IDX, or other recognized exchange. Non-financial. At least 2 years of audited data available.</a:t>
            </a:r>
          </a:p>
        </p:txBody>
      </p:sp>
      <p:sp>
        <p:nvSpPr>
          <p:cNvPr id="9" name="Oval 8"/>
          <p:cNvSpPr/>
          <p:nvPr/>
        </p:nvSpPr>
        <p:spPr>
          <a:xfrm>
            <a:off x="457200" y="2501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2</a:t>
            </a:r>
          </a:p>
        </p:txBody>
      </p:sp>
      <p:sp>
        <p:nvSpPr>
          <p:cNvPr id="10" name="TextBox 9"/>
          <p:cNvSpPr txBox="1"/>
          <p:nvPr/>
        </p:nvSpPr>
        <p:spPr>
          <a:xfrm>
            <a:off x="914400" y="2463800"/>
            <a:ext cx="3703320" cy="256032"/>
          </a:xfrm>
          <a:prstGeom prst="rect">
            <a:avLst/>
          </a:prstGeom>
          <a:noFill/>
        </p:spPr>
        <p:txBody>
          <a:bodyPr wrap="square" lIns="0" tIns="0" rIns="0" bIns="0" anchor="t">
            <a:spAutoFit/>
          </a:bodyPr>
          <a:lstStyle/>
          <a:p>
            <a:pPr algn="l"/>
            <a:r>
              <a:rPr sz="1300" b="1">
                <a:solidFill>
                  <a:srgbClr val="024731"/>
                </a:solidFill>
                <a:latin typeface="Open Sans"/>
              </a:rPr>
              <a:t>Confirm data access</a:t>
            </a:r>
          </a:p>
        </p:txBody>
      </p:sp>
      <p:sp>
        <p:nvSpPr>
          <p:cNvPr id="11" name="TextBox 10"/>
          <p:cNvSpPr txBox="1"/>
          <p:nvPr/>
        </p:nvSpPr>
        <p:spPr>
          <a:xfrm>
            <a:off x="914400" y="2730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Locate the 10-K or annual report on SEC EDGAR, the company IR page, or the local exchange portal. Note fiscal year end, reporting standard (GAAP / IFRS / VAS), and currency.</a:t>
            </a:r>
          </a:p>
        </p:txBody>
      </p:sp>
      <p:sp>
        <p:nvSpPr>
          <p:cNvPr id="12" name="Oval 11"/>
          <p:cNvSpPr/>
          <p:nvPr/>
        </p:nvSpPr>
        <p:spPr>
          <a:xfrm>
            <a:off x="457200" y="3644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3</a:t>
            </a:r>
          </a:p>
        </p:txBody>
      </p:sp>
      <p:sp>
        <p:nvSpPr>
          <p:cNvPr id="13" name="TextBox 12"/>
          <p:cNvSpPr txBox="1"/>
          <p:nvPr/>
        </p:nvSpPr>
        <p:spPr>
          <a:xfrm>
            <a:off x="914400" y="3606800"/>
            <a:ext cx="3703320" cy="256032"/>
          </a:xfrm>
          <a:prstGeom prst="rect">
            <a:avLst/>
          </a:prstGeom>
          <a:noFill/>
        </p:spPr>
        <p:txBody>
          <a:bodyPr wrap="square" lIns="0" tIns="0" rIns="0" bIns="0" anchor="t">
            <a:spAutoFit/>
          </a:bodyPr>
          <a:lstStyle/>
          <a:p>
            <a:pPr algn="l"/>
            <a:r>
              <a:rPr sz="1300" b="1">
                <a:solidFill>
                  <a:srgbClr val="024731"/>
                </a:solidFill>
                <a:latin typeface="Open Sans"/>
              </a:rPr>
              <a:t>Copy the memo template</a:t>
            </a:r>
          </a:p>
        </p:txBody>
      </p:sp>
      <p:sp>
        <p:nvSpPr>
          <p:cNvPr id="14" name="TextBox 13"/>
          <p:cNvSpPr txBox="1"/>
          <p:nvPr/>
        </p:nvSpPr>
        <p:spPr>
          <a:xfrm>
            <a:off x="914400" y="3873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Copy docs/templates/memo-template.md into docs/decisions/ in your repo. Rename to YYYY-MM-DD-{lastname}-{company}-selection.md, all lowercase, hyphen-separated.</a:t>
            </a:r>
          </a:p>
        </p:txBody>
      </p:sp>
      <p:sp>
        <p:nvSpPr>
          <p:cNvPr id="15" name="Oval 14"/>
          <p:cNvSpPr/>
          <p:nvPr/>
        </p:nvSpPr>
        <p:spPr>
          <a:xfrm>
            <a:off x="470916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4</a:t>
            </a:r>
          </a:p>
        </p:txBody>
      </p:sp>
      <p:sp>
        <p:nvSpPr>
          <p:cNvPr id="16" name="TextBox 15"/>
          <p:cNvSpPr txBox="1"/>
          <p:nvPr/>
        </p:nvSpPr>
        <p:spPr>
          <a:xfrm>
            <a:off x="516636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Write the six required sections</a:t>
            </a:r>
          </a:p>
        </p:txBody>
      </p:sp>
      <p:sp>
        <p:nvSpPr>
          <p:cNvPr id="17" name="TextBox 16"/>
          <p:cNvSpPr txBox="1"/>
          <p:nvPr/>
        </p:nvSpPr>
        <p:spPr>
          <a:xfrm>
            <a:off x="5166360" y="1587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Company overview, selection rationale, data availability, preliminary hypotheses ("I expect X because Y"), ratio categories preview, and data collection plan.</a:t>
            </a:r>
          </a:p>
        </p:txBody>
      </p:sp>
      <p:sp>
        <p:nvSpPr>
          <p:cNvPr id="18" name="Oval 17"/>
          <p:cNvSpPr/>
          <p:nvPr/>
        </p:nvSpPr>
        <p:spPr>
          <a:xfrm>
            <a:off x="4709160" y="2501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5</a:t>
            </a:r>
          </a:p>
        </p:txBody>
      </p:sp>
      <p:sp>
        <p:nvSpPr>
          <p:cNvPr id="19" name="TextBox 18"/>
          <p:cNvSpPr txBox="1"/>
          <p:nvPr/>
        </p:nvSpPr>
        <p:spPr>
          <a:xfrm>
            <a:off x="5166360" y="2463800"/>
            <a:ext cx="3703320" cy="256032"/>
          </a:xfrm>
          <a:prstGeom prst="rect">
            <a:avLst/>
          </a:prstGeom>
          <a:noFill/>
        </p:spPr>
        <p:txBody>
          <a:bodyPr wrap="square" lIns="0" tIns="0" rIns="0" bIns="0" anchor="t">
            <a:spAutoFit/>
          </a:bodyPr>
          <a:lstStyle/>
          <a:p>
            <a:pPr algn="l"/>
            <a:r>
              <a:rPr sz="1300" b="1">
                <a:solidFill>
                  <a:srgbClr val="024731"/>
                </a:solidFill>
                <a:latin typeface="Open Sans"/>
              </a:rPr>
              <a:t>Grant the instructor Write access</a:t>
            </a:r>
          </a:p>
        </p:txBody>
      </p:sp>
      <p:sp>
        <p:nvSpPr>
          <p:cNvPr id="20" name="TextBox 19"/>
          <p:cNvSpPr txBox="1"/>
          <p:nvPr/>
        </p:nvSpPr>
        <p:spPr>
          <a:xfrm>
            <a:off x="5166360" y="2730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On GitHub: Settings → Collaborators → Add people → `adamwstauffer` → Write role. This enables PR-style feedback on your memo, which Stage 5 grades.</a:t>
            </a:r>
          </a:p>
        </p:txBody>
      </p:sp>
      <p:sp>
        <p:nvSpPr>
          <p:cNvPr id="21" name="Oval 20"/>
          <p:cNvSpPr/>
          <p:nvPr/>
        </p:nvSpPr>
        <p:spPr>
          <a:xfrm>
            <a:off x="4709160" y="3644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6</a:t>
            </a:r>
          </a:p>
        </p:txBody>
      </p:sp>
      <p:sp>
        <p:nvSpPr>
          <p:cNvPr id="22" name="TextBox 21"/>
          <p:cNvSpPr txBox="1"/>
          <p:nvPr/>
        </p:nvSpPr>
        <p:spPr>
          <a:xfrm>
            <a:off x="5166360" y="3606800"/>
            <a:ext cx="3703320" cy="256032"/>
          </a:xfrm>
          <a:prstGeom prst="rect">
            <a:avLst/>
          </a:prstGeom>
          <a:noFill/>
        </p:spPr>
        <p:txBody>
          <a:bodyPr wrap="square" lIns="0" tIns="0" rIns="0" bIns="0" anchor="t">
            <a:spAutoFit/>
          </a:bodyPr>
          <a:lstStyle/>
          <a:p>
            <a:pPr algn="l"/>
            <a:r>
              <a:rPr sz="1300" b="1">
                <a:solidFill>
                  <a:srgbClr val="024731"/>
                </a:solidFill>
                <a:latin typeface="Open Sans"/>
              </a:rPr>
              <a:t>Commit &amp; push</a:t>
            </a:r>
          </a:p>
        </p:txBody>
      </p:sp>
      <p:sp>
        <p:nvSpPr>
          <p:cNvPr id="23" name="TextBox 22"/>
          <p:cNvSpPr txBox="1"/>
          <p:nvPr/>
        </p:nvSpPr>
        <p:spPr>
          <a:xfrm>
            <a:off x="5166360" y="3873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git add, git commit, git push. If GitHub blocks you, upload the .md to Lamaku as a fallback — same filename, no grade penalty.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8229600" cy="548640"/>
          </a:xfrm>
          <a:prstGeom prst="rect">
            <a:avLst/>
          </a:prstGeom>
          <a:noFill/>
          <a:ln/>
        </p:spPr>
        <p:txBody>
          <a:bodyPr wrap="square" lIns="0" tIns="0" rIns="0" bIns="0" rtlCol="0" anchor="ctr"/>
          <a:lstStyle/>
          <a:p>
            <a:pPr marL="0" indent="0">
              <a:buNone/>
            </a:pPr>
            <a:r>
              <a:rPr lang="en-US" sz="2400" b="1" dirty="0">
                <a:solidFill>
                  <a:srgbClr val="024731"/>
                </a:solidFill>
                <a:latin typeface="Open Sans" pitchFamily="34" charset="0"/>
                <a:ea typeface="Open Sans" pitchFamily="34" charset="-122"/>
                <a:cs typeface="Open Sans" pitchFamily="34" charset="-120"/>
              </a:rPr>
              <a:t>International Scope — Choose Any Public Company</a:t>
            </a:r>
            <a:endParaRPr lang="en-US" sz="2400" dirty="0"/>
          </a:p>
        </p:txBody>
      </p:sp>
      <p:sp>
        <p:nvSpPr>
          <p:cNvPr id="3" name="Text 1"/>
          <p:cNvSpPr/>
          <p:nvPr/>
        </p:nvSpPr>
        <p:spPr>
          <a:xfrm>
            <a:off x="548640" y="822960"/>
            <a:ext cx="8046720" cy="320040"/>
          </a:xfrm>
          <a:prstGeom prst="rect">
            <a:avLst/>
          </a:prstGeom>
          <a:noFill/>
          <a:ln/>
        </p:spPr>
        <p:txBody>
          <a:bodyPr wrap="square" rtlCol="0" anchor="ctr"/>
          <a:lstStyle/>
          <a:p>
            <a:pPr marL="0" indent="0">
              <a:buNone/>
            </a:pPr>
            <a:r>
              <a:rPr lang="en-US" sz="1200" dirty="0">
                <a:solidFill>
                  <a:srgbClr val="6B7280"/>
                </a:solidFill>
                <a:latin typeface="Open Sans" pitchFamily="34" charset="0"/>
                <a:ea typeface="Open Sans" pitchFamily="34" charset="-122"/>
                <a:cs typeface="Open Sans" pitchFamily="34" charset="-120"/>
              </a:rPr>
              <a:t>Non-U.S. companies are encouraged. Analyze the company most relevant to your career.</a:t>
            </a:r>
            <a:endParaRPr lang="en-US" sz="1200" dirty="0"/>
          </a:p>
        </p:txBody>
      </p:sp>
      <p:sp>
        <p:nvSpPr>
          <p:cNvPr id="4" name="Shape 2"/>
          <p:cNvSpPr/>
          <p:nvPr/>
        </p:nvSpPr>
        <p:spPr>
          <a:xfrm>
            <a:off x="548640" y="137160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5" name="Shape 3"/>
          <p:cNvSpPr/>
          <p:nvPr/>
        </p:nvSpPr>
        <p:spPr>
          <a:xfrm>
            <a:off x="548640" y="1371600"/>
            <a:ext cx="2606040" cy="54864"/>
          </a:xfrm>
          <a:prstGeom prst="rect">
            <a:avLst/>
          </a:prstGeom>
          <a:solidFill>
            <a:srgbClr val="C9A84C"/>
          </a:solidFill>
          <a:ln/>
        </p:spPr>
        <p:txBody>
          <a:bodyPr/>
          <a:lstStyle/>
          <a:p>
            <a:endParaRPr lang="en-US"/>
          </a:p>
        </p:txBody>
      </p:sp>
      <p:sp>
        <p:nvSpPr>
          <p:cNvPr id="6" name="Text 4"/>
          <p:cNvSpPr/>
          <p:nvPr/>
        </p:nvSpPr>
        <p:spPr>
          <a:xfrm>
            <a:off x="685800" y="150876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Vietnam</a:t>
            </a:r>
            <a:endParaRPr lang="en-US" sz="1300" dirty="0"/>
          </a:p>
        </p:txBody>
      </p:sp>
      <p:sp>
        <p:nvSpPr>
          <p:cNvPr id="7" name="Text 5"/>
          <p:cNvSpPr/>
          <p:nvPr/>
        </p:nvSpPr>
        <p:spPr>
          <a:xfrm>
            <a:off x="685800" y="178308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HOSE  ·  HNX</a:t>
            </a:r>
            <a:endParaRPr lang="en-US" sz="1100" dirty="0"/>
          </a:p>
        </p:txBody>
      </p:sp>
      <p:sp>
        <p:nvSpPr>
          <p:cNvPr id="8" name="Text 6"/>
          <p:cNvSpPr/>
          <p:nvPr/>
        </p:nvSpPr>
        <p:spPr>
          <a:xfrm>
            <a:off x="685800" y="205740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VAS reporting; note differences from GAAP</a:t>
            </a:r>
            <a:endParaRPr lang="en-US" sz="900" dirty="0"/>
          </a:p>
        </p:txBody>
      </p:sp>
      <p:sp>
        <p:nvSpPr>
          <p:cNvPr id="9" name="Shape 7"/>
          <p:cNvSpPr/>
          <p:nvPr/>
        </p:nvSpPr>
        <p:spPr>
          <a:xfrm>
            <a:off x="3383280" y="137160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0" name="Shape 8"/>
          <p:cNvSpPr/>
          <p:nvPr/>
        </p:nvSpPr>
        <p:spPr>
          <a:xfrm>
            <a:off x="3383280" y="1371600"/>
            <a:ext cx="2606040" cy="54864"/>
          </a:xfrm>
          <a:prstGeom prst="rect">
            <a:avLst/>
          </a:prstGeom>
          <a:solidFill>
            <a:srgbClr val="024731"/>
          </a:solidFill>
          <a:ln/>
        </p:spPr>
        <p:txBody>
          <a:bodyPr/>
          <a:lstStyle/>
          <a:p>
            <a:endParaRPr lang="en-US"/>
          </a:p>
        </p:txBody>
      </p:sp>
      <p:sp>
        <p:nvSpPr>
          <p:cNvPr id="11" name="Text 9"/>
          <p:cNvSpPr/>
          <p:nvPr/>
        </p:nvSpPr>
        <p:spPr>
          <a:xfrm>
            <a:off x="3520440" y="150876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Singapore</a:t>
            </a:r>
            <a:endParaRPr lang="en-US" sz="1300" dirty="0"/>
          </a:p>
        </p:txBody>
      </p:sp>
      <p:sp>
        <p:nvSpPr>
          <p:cNvPr id="12" name="Text 10"/>
          <p:cNvSpPr/>
          <p:nvPr/>
        </p:nvSpPr>
        <p:spPr>
          <a:xfrm>
            <a:off x="3520440" y="178308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SGX</a:t>
            </a:r>
            <a:endParaRPr lang="en-US" sz="1100" dirty="0"/>
          </a:p>
        </p:txBody>
      </p:sp>
      <p:sp>
        <p:nvSpPr>
          <p:cNvPr id="13" name="Text 11"/>
          <p:cNvSpPr/>
          <p:nvPr/>
        </p:nvSpPr>
        <p:spPr>
          <a:xfrm>
            <a:off x="3520440" y="205740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Many IFRS reporters; strong English disclosures</a:t>
            </a:r>
            <a:endParaRPr lang="en-US" sz="900" dirty="0"/>
          </a:p>
        </p:txBody>
      </p:sp>
      <p:sp>
        <p:nvSpPr>
          <p:cNvPr id="14" name="Shape 12"/>
          <p:cNvSpPr/>
          <p:nvPr/>
        </p:nvSpPr>
        <p:spPr>
          <a:xfrm>
            <a:off x="6217920" y="137160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5" name="Shape 13"/>
          <p:cNvSpPr/>
          <p:nvPr/>
        </p:nvSpPr>
        <p:spPr>
          <a:xfrm>
            <a:off x="6217920" y="1371600"/>
            <a:ext cx="2606040" cy="54864"/>
          </a:xfrm>
          <a:prstGeom prst="rect">
            <a:avLst/>
          </a:prstGeom>
          <a:solidFill>
            <a:srgbClr val="024731"/>
          </a:solidFill>
          <a:ln/>
        </p:spPr>
        <p:txBody>
          <a:bodyPr/>
          <a:lstStyle/>
          <a:p>
            <a:endParaRPr lang="en-US"/>
          </a:p>
        </p:txBody>
      </p:sp>
      <p:sp>
        <p:nvSpPr>
          <p:cNvPr id="16" name="Text 14"/>
          <p:cNvSpPr/>
          <p:nvPr/>
        </p:nvSpPr>
        <p:spPr>
          <a:xfrm>
            <a:off x="6355080" y="150876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Thailand</a:t>
            </a:r>
            <a:endParaRPr lang="en-US" sz="1300" dirty="0"/>
          </a:p>
        </p:txBody>
      </p:sp>
      <p:sp>
        <p:nvSpPr>
          <p:cNvPr id="17" name="Text 15"/>
          <p:cNvSpPr/>
          <p:nvPr/>
        </p:nvSpPr>
        <p:spPr>
          <a:xfrm>
            <a:off x="6355080" y="178308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SET</a:t>
            </a:r>
            <a:endParaRPr lang="en-US" sz="1100" dirty="0"/>
          </a:p>
        </p:txBody>
      </p:sp>
      <p:sp>
        <p:nvSpPr>
          <p:cNvPr id="18" name="Text 16"/>
          <p:cNvSpPr/>
          <p:nvPr/>
        </p:nvSpPr>
        <p:spPr>
          <a:xfrm>
            <a:off x="6355080" y="205740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Thai GAAP converging with IFRS</a:t>
            </a:r>
            <a:endParaRPr lang="en-US" sz="900" dirty="0"/>
          </a:p>
        </p:txBody>
      </p:sp>
      <p:sp>
        <p:nvSpPr>
          <p:cNvPr id="19" name="Shape 17"/>
          <p:cNvSpPr/>
          <p:nvPr/>
        </p:nvSpPr>
        <p:spPr>
          <a:xfrm>
            <a:off x="548640" y="278892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20" name="Shape 18"/>
          <p:cNvSpPr/>
          <p:nvPr/>
        </p:nvSpPr>
        <p:spPr>
          <a:xfrm>
            <a:off x="548640" y="2788920"/>
            <a:ext cx="2606040" cy="54864"/>
          </a:xfrm>
          <a:prstGeom prst="rect">
            <a:avLst/>
          </a:prstGeom>
          <a:solidFill>
            <a:srgbClr val="024731"/>
          </a:solidFill>
          <a:ln/>
        </p:spPr>
        <p:txBody>
          <a:bodyPr/>
          <a:lstStyle/>
          <a:p>
            <a:endParaRPr lang="en-US"/>
          </a:p>
        </p:txBody>
      </p:sp>
      <p:sp>
        <p:nvSpPr>
          <p:cNvPr id="21" name="Text 19"/>
          <p:cNvSpPr/>
          <p:nvPr/>
        </p:nvSpPr>
        <p:spPr>
          <a:xfrm>
            <a:off x="685800" y="292608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Indonesia</a:t>
            </a:r>
            <a:endParaRPr lang="en-US" sz="1300" dirty="0"/>
          </a:p>
        </p:txBody>
      </p:sp>
      <p:sp>
        <p:nvSpPr>
          <p:cNvPr id="22" name="Text 20"/>
          <p:cNvSpPr/>
          <p:nvPr/>
        </p:nvSpPr>
        <p:spPr>
          <a:xfrm>
            <a:off x="685800" y="320040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IDX</a:t>
            </a:r>
            <a:endParaRPr lang="en-US" sz="1100" dirty="0"/>
          </a:p>
        </p:txBody>
      </p:sp>
      <p:sp>
        <p:nvSpPr>
          <p:cNvPr id="23" name="Text 21"/>
          <p:cNvSpPr/>
          <p:nvPr/>
        </p:nvSpPr>
        <p:spPr>
          <a:xfrm>
            <a:off x="685800" y="347472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IFRS-converged; IDR reporting currency</a:t>
            </a:r>
            <a:endParaRPr lang="en-US" sz="900" dirty="0"/>
          </a:p>
        </p:txBody>
      </p:sp>
      <p:sp>
        <p:nvSpPr>
          <p:cNvPr id="24" name="Shape 22"/>
          <p:cNvSpPr/>
          <p:nvPr/>
        </p:nvSpPr>
        <p:spPr>
          <a:xfrm>
            <a:off x="3383280" y="278892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25" name="Shape 23"/>
          <p:cNvSpPr/>
          <p:nvPr/>
        </p:nvSpPr>
        <p:spPr>
          <a:xfrm>
            <a:off x="3383280" y="2788920"/>
            <a:ext cx="2606040" cy="54864"/>
          </a:xfrm>
          <a:prstGeom prst="rect">
            <a:avLst/>
          </a:prstGeom>
          <a:solidFill>
            <a:srgbClr val="024731"/>
          </a:solidFill>
          <a:ln/>
        </p:spPr>
        <p:txBody>
          <a:bodyPr/>
          <a:lstStyle/>
          <a:p>
            <a:endParaRPr lang="en-US"/>
          </a:p>
        </p:txBody>
      </p:sp>
      <p:sp>
        <p:nvSpPr>
          <p:cNvPr id="26" name="Text 24"/>
          <p:cNvSpPr/>
          <p:nvPr/>
        </p:nvSpPr>
        <p:spPr>
          <a:xfrm>
            <a:off x="3520440" y="292608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United States</a:t>
            </a:r>
            <a:endParaRPr lang="en-US" sz="1300" dirty="0"/>
          </a:p>
        </p:txBody>
      </p:sp>
      <p:sp>
        <p:nvSpPr>
          <p:cNvPr id="27" name="Text 25"/>
          <p:cNvSpPr/>
          <p:nvPr/>
        </p:nvSpPr>
        <p:spPr>
          <a:xfrm>
            <a:off x="3520440" y="320040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NYSE  ·  NASDAQ</a:t>
            </a:r>
            <a:endParaRPr lang="en-US" sz="1100" dirty="0"/>
          </a:p>
        </p:txBody>
      </p:sp>
      <p:sp>
        <p:nvSpPr>
          <p:cNvPr id="28" name="Text 26"/>
          <p:cNvSpPr/>
          <p:nvPr/>
        </p:nvSpPr>
        <p:spPr>
          <a:xfrm>
            <a:off x="3520440" y="347472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10-K filings via SEC EDGAR</a:t>
            </a:r>
            <a:endParaRPr lang="en-US" sz="900" dirty="0"/>
          </a:p>
        </p:txBody>
      </p:sp>
      <p:sp>
        <p:nvSpPr>
          <p:cNvPr id="29" name="Shape 27"/>
          <p:cNvSpPr/>
          <p:nvPr/>
        </p:nvSpPr>
        <p:spPr>
          <a:xfrm>
            <a:off x="6217920" y="278892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30" name="Shape 28"/>
          <p:cNvSpPr/>
          <p:nvPr/>
        </p:nvSpPr>
        <p:spPr>
          <a:xfrm>
            <a:off x="6217920" y="2788920"/>
            <a:ext cx="2606040" cy="54864"/>
          </a:xfrm>
          <a:prstGeom prst="rect">
            <a:avLst/>
          </a:prstGeom>
          <a:solidFill>
            <a:srgbClr val="024731"/>
          </a:solidFill>
          <a:ln/>
        </p:spPr>
        <p:txBody>
          <a:bodyPr/>
          <a:lstStyle/>
          <a:p>
            <a:endParaRPr lang="en-US"/>
          </a:p>
        </p:txBody>
      </p:sp>
      <p:sp>
        <p:nvSpPr>
          <p:cNvPr id="31" name="Text 29"/>
          <p:cNvSpPr/>
          <p:nvPr/>
        </p:nvSpPr>
        <p:spPr>
          <a:xfrm>
            <a:off x="6355080" y="292608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Malaysia</a:t>
            </a:r>
            <a:endParaRPr lang="en-US" sz="1300" dirty="0"/>
          </a:p>
        </p:txBody>
      </p:sp>
      <p:sp>
        <p:nvSpPr>
          <p:cNvPr id="32" name="Text 30"/>
          <p:cNvSpPr/>
          <p:nvPr/>
        </p:nvSpPr>
        <p:spPr>
          <a:xfrm>
            <a:off x="6355080" y="320040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Bursa Malaysia</a:t>
            </a:r>
            <a:endParaRPr lang="en-US" sz="1100" dirty="0"/>
          </a:p>
        </p:txBody>
      </p:sp>
      <p:sp>
        <p:nvSpPr>
          <p:cNvPr id="33" name="Text 31"/>
          <p:cNvSpPr/>
          <p:nvPr/>
        </p:nvSpPr>
        <p:spPr>
          <a:xfrm>
            <a:off x="6355080" y="347472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MFRS (IFRS-converged)</a:t>
            </a:r>
            <a:endParaRPr lang="en-US" sz="900" dirty="0"/>
          </a:p>
        </p:txBody>
      </p:sp>
      <p:sp>
        <p:nvSpPr>
          <p:cNvPr id="34" name="Text 32"/>
          <p:cNvSpPr/>
          <p:nvPr/>
        </p:nvSpPr>
        <p:spPr>
          <a:xfrm>
            <a:off x="548640" y="4434840"/>
            <a:ext cx="8046720" cy="457200"/>
          </a:xfrm>
          <a:prstGeom prst="rect">
            <a:avLst/>
          </a:prstGeom>
          <a:noFill/>
          <a:ln/>
        </p:spPr>
        <p:txBody>
          <a:bodyPr wrap="square" rtlCol="0" anchor="ctr"/>
          <a:lstStyle/>
          <a:p>
            <a:pPr marL="0" indent="0">
              <a:buNone/>
            </a:pPr>
            <a:r>
              <a:rPr lang="en-US" sz="1000" i="1" dirty="0">
                <a:solidFill>
                  <a:srgbClr val="6B7280"/>
                </a:solidFill>
                <a:latin typeface="Open Sans" pitchFamily="34" charset="0"/>
                <a:ea typeface="Open Sans" pitchFamily="34" charset="-122"/>
                <a:cs typeface="Open Sans" pitchFamily="34" charset="-120"/>
              </a:rPr>
              <a:t>All deliverables must be in English. Ratios computed in the company’s reporting currency. Note any IFRS/GAAP/VAS differences that affect interpretation.</a:t>
            </a:r>
            <a:endParaRPr lang="en-US" sz="1000" dirty="0"/>
          </a:p>
        </p:txBody>
      </p:sp>
    </p:spTree>
    <p:extLst>
      <p:ext uri="{BB962C8B-B14F-4D97-AF65-F5344CB8AC3E}">
        <p14:creationId xmlns:p14="http://schemas.microsoft.com/office/powerpoint/2010/main" val="3786864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C40F-A83E-4D1E-3446-225F38C32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041EBA-2AE8-FE0F-D50C-8060C481B131}"/>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4913FFAF-74D9-69ED-C3BA-DD910E7404F8}"/>
              </a:ext>
            </a:extLst>
          </p:cNvPr>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STAGE 3</a:t>
            </a:r>
            <a:endParaRPr lang="en-US" sz="1400" dirty="0"/>
          </a:p>
        </p:txBody>
      </p:sp>
      <p:sp>
        <p:nvSpPr>
          <p:cNvPr id="4" name="Text 2">
            <a:extLst>
              <a:ext uri="{FF2B5EF4-FFF2-40B4-BE49-F238E27FC236}">
                <a16:creationId xmlns:a16="http://schemas.microsoft.com/office/drawing/2014/main" id="{2BD2264A-7D52-36C2-C463-71659C913145}"/>
              </a:ext>
            </a:extLst>
          </p:cNvPr>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Company Financials</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735F3405-7666-9F46-BC92-97BA9509292F}"/>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977A81CD-3339-9B2B-AA68-9C902782FDD1}"/>
              </a:ext>
            </a:extLst>
          </p:cNvPr>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600" dirty="0">
                <a:solidFill>
                  <a:srgbClr val="36454F"/>
                </a:solidFill>
              </a:rPr>
              <a:t>Populate the Stage 1 ratios template with real financials for your selected company. Income Statement, Balance Sheet, and Cash Flow — full interpretation comes at Stage 5.</a:t>
            </a:r>
          </a:p>
        </p:txBody>
      </p:sp>
      <p:pic>
        <p:nvPicPr>
          <p:cNvPr id="7" name="Image 0" descr="preencoded.png">
            <a:extLst>
              <a:ext uri="{FF2B5EF4-FFF2-40B4-BE49-F238E27FC236}">
                <a16:creationId xmlns:a16="http://schemas.microsoft.com/office/drawing/2014/main" id="{E2A4C1DF-9246-818A-2803-876CB070611E}"/>
              </a:ext>
            </a:extLst>
          </p:cNvPr>
          <p:cNvPicPr>
            <a:picLocks noChangeAspect="1"/>
          </p:cNvPicPr>
          <p:nvPr/>
        </p:nvPicPr>
        <p:blipFill>
          <a:blip r:embed="rId3"/>
          <a:stretch>
            <a:fillRect/>
          </a:stretch>
        </p:blipFill>
        <p:spPr>
          <a:xfrm>
            <a:off x="7132320" y="3017520"/>
            <a:ext cx="1097280" cy="1097280"/>
          </a:xfrm>
          <a:prstGeom prst="rect">
            <a:avLst/>
          </a:prstGeom>
        </p:spPr>
      </p:pic>
      <p:sp>
        <p:nvSpPr>
          <p:cNvPr id="8" name="Text 5">
            <a:extLst>
              <a:ext uri="{FF2B5EF4-FFF2-40B4-BE49-F238E27FC236}">
                <a16:creationId xmlns:a16="http://schemas.microsoft.com/office/drawing/2014/main" id="{C70DB536-4894-82E9-564C-F96AA7EDE07F}"/>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4220319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3 — Populated Financials</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20% of project  |  Populate the financials — full analysis comes in Stage 5</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Deliverables</a:t>
            </a:r>
            <a:endParaRPr lang="en-US" sz="1400" dirty="0"/>
          </a:p>
        </p:txBody>
      </p:sp>
      <p:sp>
        <p:nvSpPr>
          <p:cNvPr id="6" name="Shape 4"/>
          <p:cNvSpPr/>
          <p:nvPr/>
        </p:nvSpPr>
        <p:spPr>
          <a:xfrm>
            <a:off x="548640" y="1417320"/>
            <a:ext cx="4114800" cy="502920"/>
          </a:xfrm>
          <a:prstGeom prst="rect">
            <a:avLst/>
          </a:prstGeom>
          <a:solidFill>
            <a:srgbClr val="E6F2EF"/>
          </a:solidFill>
          <a:ln/>
        </p:spPr>
        <p:txBody>
          <a:bodyPr/>
          <a:lstStyle/>
          <a:p>
            <a:endParaRPr lang="en-US"/>
          </a:p>
        </p:txBody>
      </p:sp>
      <p:sp>
        <p:nvSpPr>
          <p:cNvPr id="7" name="Text 5"/>
          <p:cNvSpPr/>
          <p:nvPr/>
        </p:nvSpPr>
        <p:spPr>
          <a:xfrm>
            <a:off x="685800" y="146304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1. Completed .xlsx workbook</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saved to models/builds/</a:t>
            </a:r>
            <a:endParaRPr lang="en-US" sz="1100" dirty="0"/>
          </a:p>
        </p:txBody>
      </p:sp>
      <p:sp>
        <p:nvSpPr>
          <p:cNvPr id="8" name="Shape 6"/>
          <p:cNvSpPr/>
          <p:nvPr/>
        </p:nvSpPr>
        <p:spPr>
          <a:xfrm>
            <a:off x="548640" y="2011680"/>
            <a:ext cx="4114800" cy="502920"/>
          </a:xfrm>
          <a:prstGeom prst="rect">
            <a:avLst/>
          </a:prstGeom>
          <a:solidFill>
            <a:srgbClr val="E6F2EF"/>
          </a:solidFill>
          <a:ln/>
        </p:spPr>
        <p:txBody>
          <a:bodyPr/>
          <a:lstStyle/>
          <a:p>
            <a:endParaRPr lang="en-US"/>
          </a:p>
        </p:txBody>
      </p:sp>
      <p:sp>
        <p:nvSpPr>
          <p:cNvPr id="9" name="Text 7"/>
          <p:cNvSpPr/>
          <p:nvPr/>
        </p:nvSpPr>
        <p:spPr>
          <a:xfrm>
            <a:off x="685800" y="205740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2. Cover &amp; Instructions tab</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source URL, standard, currency, FYE</a:t>
            </a:r>
            <a:endParaRPr lang="en-US" sz="1100" dirty="0"/>
          </a:p>
        </p:txBody>
      </p:sp>
      <p:sp>
        <p:nvSpPr>
          <p:cNvPr id="10" name="Shape 8"/>
          <p:cNvSpPr/>
          <p:nvPr/>
        </p:nvSpPr>
        <p:spPr>
          <a:xfrm>
            <a:off x="4937760" y="1051560"/>
            <a:ext cx="3840480" cy="37490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Text 9"/>
          <p:cNvSpPr/>
          <p:nvPr/>
        </p:nvSpPr>
        <p:spPr>
          <a:xfrm>
            <a:off x="4946904" y="1143000"/>
            <a:ext cx="3822192"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Self-Audit Checklist</a:t>
            </a:r>
            <a:endParaRPr lang="en-US" sz="1400" dirty="0"/>
          </a:p>
        </p:txBody>
      </p:sp>
      <p:sp>
        <p:nvSpPr>
          <p:cNvPr id="12" name="Text 10"/>
          <p:cNvSpPr/>
          <p:nvPr/>
        </p:nvSpPr>
        <p:spPr>
          <a:xfrm>
            <a:off x="5120640" y="1417320"/>
            <a:ext cx="3474720" cy="228600"/>
          </a:xfrm>
          <a:prstGeom prst="rect">
            <a:avLst/>
          </a:prstGeom>
          <a:noFill/>
          <a:ln/>
        </p:spPr>
        <p:txBody>
          <a:bodyPr wrap="square" lIns="0" tIns="0" rIns="0" bIns="0"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Quick checks before you commit</a:t>
            </a:r>
            <a:endParaRPr lang="en-US" sz="900" dirty="0"/>
          </a:p>
        </p:txBody>
      </p:sp>
      <p:sp>
        <p:nvSpPr>
          <p:cNvPr id="13" name="Shape 11"/>
          <p:cNvSpPr/>
          <p:nvPr/>
        </p:nvSpPr>
        <p:spPr>
          <a:xfrm>
            <a:off x="5212080" y="1783080"/>
            <a:ext cx="201168" cy="201168"/>
          </a:xfrm>
          <a:prstGeom prst="rect">
            <a:avLst/>
          </a:prstGeom>
          <a:solidFill>
            <a:srgbClr val="FFFFFF"/>
          </a:solidFill>
          <a:ln w="19050">
            <a:solidFill>
              <a:srgbClr val="024731"/>
            </a:solidFill>
            <a:prstDash val="solid"/>
          </a:ln>
        </p:spPr>
        <p:txBody>
          <a:bodyPr/>
          <a:lstStyle/>
          <a:p>
            <a:endParaRPr lang="en-US"/>
          </a:p>
        </p:txBody>
      </p:sp>
      <p:sp>
        <p:nvSpPr>
          <p:cNvPr id="14" name="Text 12"/>
          <p:cNvSpPr/>
          <p:nvPr/>
        </p:nvSpPr>
        <p:spPr>
          <a:xfrm>
            <a:off x="5532120" y="176479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Balance Sheet balances (both years)</a:t>
            </a:r>
            <a:endParaRPr lang="en-US" sz="1000" dirty="0"/>
          </a:p>
        </p:txBody>
      </p:sp>
      <p:sp>
        <p:nvSpPr>
          <p:cNvPr id="15" name="Shape 13"/>
          <p:cNvSpPr/>
          <p:nvPr/>
        </p:nvSpPr>
        <p:spPr>
          <a:xfrm>
            <a:off x="5212080" y="2130552"/>
            <a:ext cx="201168" cy="201168"/>
          </a:xfrm>
          <a:prstGeom prst="rect">
            <a:avLst/>
          </a:prstGeom>
          <a:solidFill>
            <a:srgbClr val="FFFFFF"/>
          </a:solidFill>
          <a:ln w="19050">
            <a:solidFill>
              <a:srgbClr val="024731"/>
            </a:solidFill>
            <a:prstDash val="solid"/>
          </a:ln>
        </p:spPr>
        <p:txBody>
          <a:bodyPr/>
          <a:lstStyle/>
          <a:p>
            <a:endParaRPr lang="en-US"/>
          </a:p>
        </p:txBody>
      </p:sp>
      <p:sp>
        <p:nvSpPr>
          <p:cNvPr id="16" name="Text 14"/>
          <p:cNvSpPr/>
          <p:nvPr/>
        </p:nvSpPr>
        <p:spPr>
          <a:xfrm>
            <a:off x="5532120" y="2112264"/>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No #REF! or #DIV/0! cells anywhere</a:t>
            </a:r>
            <a:endParaRPr lang="en-US" sz="1000" dirty="0"/>
          </a:p>
        </p:txBody>
      </p:sp>
      <p:sp>
        <p:nvSpPr>
          <p:cNvPr id="17" name="Shape 15"/>
          <p:cNvSpPr/>
          <p:nvPr/>
        </p:nvSpPr>
        <p:spPr>
          <a:xfrm>
            <a:off x="5212080" y="2478024"/>
            <a:ext cx="201168" cy="201168"/>
          </a:xfrm>
          <a:prstGeom prst="rect">
            <a:avLst/>
          </a:prstGeom>
          <a:solidFill>
            <a:srgbClr val="FFFFFF"/>
          </a:solidFill>
          <a:ln w="19050">
            <a:solidFill>
              <a:srgbClr val="024731"/>
            </a:solidFill>
            <a:prstDash val="solid"/>
          </a:ln>
        </p:spPr>
        <p:txBody>
          <a:bodyPr/>
          <a:lstStyle/>
          <a:p>
            <a:endParaRPr lang="en-US"/>
          </a:p>
        </p:txBody>
      </p:sp>
      <p:sp>
        <p:nvSpPr>
          <p:cNvPr id="18" name="Text 16"/>
          <p:cNvSpPr/>
          <p:nvPr/>
        </p:nvSpPr>
        <p:spPr>
          <a:xfrm>
            <a:off x="5532120" y="2459736"/>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Prior-year cells populated (startYear_*)</a:t>
            </a:r>
            <a:endParaRPr lang="en-US" sz="1000" dirty="0"/>
          </a:p>
        </p:txBody>
      </p:sp>
      <p:sp>
        <p:nvSpPr>
          <p:cNvPr id="19" name="Shape 17"/>
          <p:cNvSpPr/>
          <p:nvPr/>
        </p:nvSpPr>
        <p:spPr>
          <a:xfrm>
            <a:off x="5212080" y="2825496"/>
            <a:ext cx="201168" cy="201168"/>
          </a:xfrm>
          <a:prstGeom prst="rect">
            <a:avLst/>
          </a:prstGeom>
          <a:solidFill>
            <a:srgbClr val="FFFFFF"/>
          </a:solidFill>
          <a:ln w="19050">
            <a:solidFill>
              <a:srgbClr val="024731"/>
            </a:solidFill>
            <a:prstDash val="solid"/>
          </a:ln>
        </p:spPr>
        <p:txBody>
          <a:bodyPr/>
          <a:lstStyle/>
          <a:p>
            <a:endParaRPr lang="en-US"/>
          </a:p>
        </p:txBody>
      </p:sp>
      <p:sp>
        <p:nvSpPr>
          <p:cNvPr id="20" name="Text 18"/>
          <p:cNvSpPr/>
          <p:nvPr/>
        </p:nvSpPr>
        <p:spPr>
          <a:xfrm>
            <a:off x="5532120" y="2807208"/>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Sign checks (no impossible negatives)</a:t>
            </a:r>
            <a:endParaRPr lang="en-US" sz="1000" dirty="0"/>
          </a:p>
        </p:txBody>
      </p:sp>
      <p:sp>
        <p:nvSpPr>
          <p:cNvPr id="21" name="Shape 19"/>
          <p:cNvSpPr/>
          <p:nvPr/>
        </p:nvSpPr>
        <p:spPr>
          <a:xfrm>
            <a:off x="5212080" y="3172968"/>
            <a:ext cx="201168" cy="201168"/>
          </a:xfrm>
          <a:prstGeom prst="rect">
            <a:avLst/>
          </a:prstGeom>
          <a:solidFill>
            <a:srgbClr val="FFFFFF"/>
          </a:solidFill>
          <a:ln w="19050">
            <a:solidFill>
              <a:srgbClr val="024731"/>
            </a:solidFill>
            <a:prstDash val="solid"/>
          </a:ln>
        </p:spPr>
        <p:txBody>
          <a:bodyPr/>
          <a:lstStyle/>
          <a:p>
            <a:endParaRPr lang="en-US"/>
          </a:p>
        </p:txBody>
      </p:sp>
      <p:sp>
        <p:nvSpPr>
          <p:cNvPr id="22" name="Text 20"/>
          <p:cNvSpPr/>
          <p:nvPr/>
        </p:nvSpPr>
        <p:spPr>
          <a:xfrm>
            <a:off x="5532120" y="3154680"/>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Source documentation in Cover tab</a:t>
            </a:r>
            <a:endParaRPr lang="en-US" sz="1000" dirty="0"/>
          </a:p>
        </p:txBody>
      </p:sp>
      <p:sp>
        <p:nvSpPr>
          <p:cNvPr id="23" name="Shape 21"/>
          <p:cNvSpPr/>
          <p:nvPr/>
        </p:nvSpPr>
        <p:spPr>
          <a:xfrm>
            <a:off x="5212080" y="3520440"/>
            <a:ext cx="201168" cy="201168"/>
          </a:xfrm>
          <a:prstGeom prst="rect">
            <a:avLst/>
          </a:prstGeom>
          <a:solidFill>
            <a:srgbClr val="FFFFFF"/>
          </a:solidFill>
          <a:ln w="19050">
            <a:solidFill>
              <a:srgbClr val="024731"/>
            </a:solidFill>
            <a:prstDash val="solid"/>
          </a:ln>
        </p:spPr>
        <p:txBody>
          <a:bodyPr/>
          <a:lstStyle/>
          <a:p>
            <a:endParaRPr lang="en-US"/>
          </a:p>
        </p:txBody>
      </p:sp>
      <p:sp>
        <p:nvSpPr>
          <p:cNvPr id="24" name="Text 22"/>
          <p:cNvSpPr/>
          <p:nvPr/>
        </p:nvSpPr>
        <p:spPr>
          <a:xfrm>
            <a:off x="5532120" y="350215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Ratios tab is not blank (formulas compute)</a:t>
            </a:r>
            <a:endParaRPr lang="en-US" sz="1000" dirty="0"/>
          </a:p>
        </p:txBody>
      </p:sp>
      <p:sp>
        <p:nvSpPr>
          <p:cNvPr id="29" name="Shape 27"/>
          <p:cNvSpPr/>
          <p:nvPr/>
        </p:nvSpPr>
        <p:spPr>
          <a:xfrm>
            <a:off x="548640" y="4434840"/>
            <a:ext cx="4114800" cy="457200"/>
          </a:xfrm>
          <a:prstGeom prst="rect">
            <a:avLst/>
          </a:prstGeom>
          <a:solidFill>
            <a:srgbClr val="024731"/>
          </a:solidFill>
          <a:ln/>
        </p:spPr>
        <p:txBody>
          <a:bodyPr/>
          <a:lstStyle/>
          <a:p>
            <a:endParaRPr lang="en-US"/>
          </a:p>
        </p:txBody>
      </p:sp>
      <p:sp>
        <p:nvSpPr>
          <p:cNvPr id="30" name="Text 28"/>
          <p:cNvSpPr/>
          <p:nvPr/>
        </p:nvSpPr>
        <p:spPr>
          <a:xfrm>
            <a:off x="685800" y="4453128"/>
            <a:ext cx="3840480" cy="4114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 xml:space="preserve">This stage builds the foundation for the Financial Statement analysis you will perform in </a:t>
            </a:r>
            <a:r>
              <a:rPr lang="en-US" sz="1000">
                <a:solidFill>
                  <a:srgbClr val="FFFFFF"/>
                </a:solidFill>
                <a:latin typeface="Open Sans" pitchFamily="34" charset="0"/>
                <a:ea typeface="Open Sans" pitchFamily="34" charset="-122"/>
                <a:cs typeface="Open Sans" pitchFamily="34" charset="-120"/>
              </a:rPr>
              <a:t>Stage 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369332"/>
          </a:xfrm>
          <a:prstGeom prst="rect">
            <a:avLst/>
          </a:prstGeom>
          <a:noFill/>
        </p:spPr>
        <p:txBody>
          <a:bodyPr wrap="square" lIns="0" tIns="0" rIns="0" bIns="0" anchor="t">
            <a:spAutoFit/>
          </a:bodyPr>
          <a:lstStyle/>
          <a:p>
            <a:pPr algn="l"/>
            <a:r>
              <a:rPr sz="2400" b="1" dirty="0">
                <a:solidFill>
                  <a:srgbClr val="024731"/>
                </a:solidFill>
                <a:latin typeface="Open Sans"/>
              </a:rPr>
              <a:t>Stage 3 — Populated Financials  |  Step by Step</a:t>
            </a:r>
          </a:p>
        </p:txBody>
      </p:sp>
      <p:sp>
        <p:nvSpPr>
          <p:cNvPr id="4" name="TextBox 3"/>
          <p:cNvSpPr txBox="1"/>
          <p:nvPr/>
        </p:nvSpPr>
        <p:spPr>
          <a:xfrm>
            <a:off x="457200" y="841248"/>
            <a:ext cx="8229600" cy="320040"/>
          </a:xfrm>
          <a:prstGeom prst="rect">
            <a:avLst/>
          </a:prstGeom>
          <a:noFill/>
        </p:spPr>
        <p:txBody>
          <a:bodyPr wrap="square" lIns="0" tIns="0" rIns="0" bIns="0" anchor="t">
            <a:spAutoFit/>
          </a:bodyPr>
          <a:lstStyle/>
          <a:p>
            <a:pPr algn="l"/>
            <a:r>
              <a:rPr sz="1200" b="0">
                <a:solidFill>
                  <a:srgbClr val="555555"/>
                </a:solidFill>
                <a:latin typeface="Open Sans"/>
              </a:rPr>
              <a:t>Populate the Stage 1 template with real financials. No interpretation yet — that comes at Stage 5.</a:t>
            </a:r>
          </a:p>
        </p:txBody>
      </p:sp>
      <p:sp>
        <p:nvSpPr>
          <p:cNvPr id="5" name="TextBox 4"/>
          <p:cNvSpPr txBox="1"/>
          <p:nvPr/>
        </p:nvSpPr>
        <p:spPr>
          <a:xfrm>
            <a:off x="457200" y="4818888"/>
            <a:ext cx="8229600" cy="228600"/>
          </a:xfrm>
          <a:prstGeom prst="rect">
            <a:avLst/>
          </a:prstGeom>
          <a:noFill/>
        </p:spPr>
        <p:txBody>
          <a:bodyPr wrap="square" lIns="0" tIns="0" rIns="0" bIns="0" anchor="t">
            <a:spAutoFit/>
          </a:bodyPr>
          <a:lstStyle/>
          <a:p>
            <a:pPr algn="l"/>
            <a:r>
              <a:rPr sz="900" b="0">
                <a:solidFill>
                  <a:srgbClr val="555555"/>
                </a:solidFill>
                <a:latin typeface="Open Sans"/>
              </a:rPr>
              <a:t>Stage 3  |  20% of project  |  Upload-only  |  models/builds/  |  see stage3-model-population-validation.md</a:t>
            </a:r>
          </a:p>
        </p:txBody>
      </p:sp>
      <p:sp>
        <p:nvSpPr>
          <p:cNvPr id="6" name="Oval 5"/>
          <p:cNvSpPr/>
          <p:nvPr/>
        </p:nvSpPr>
        <p:spPr>
          <a:xfrm>
            <a:off x="45720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1</a:t>
            </a:r>
          </a:p>
        </p:txBody>
      </p:sp>
      <p:sp>
        <p:nvSpPr>
          <p:cNvPr id="7" name="TextBox 6"/>
          <p:cNvSpPr txBox="1"/>
          <p:nvPr/>
        </p:nvSpPr>
        <p:spPr>
          <a:xfrm>
            <a:off x="91440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Save your copy of the template</a:t>
            </a:r>
          </a:p>
        </p:txBody>
      </p:sp>
      <p:sp>
        <p:nvSpPr>
          <p:cNvPr id="8" name="TextBox 7"/>
          <p:cNvSpPr txBox="1"/>
          <p:nvPr/>
        </p:nvSpPr>
        <p:spPr>
          <a:xfrm>
            <a:off x="914400" y="1587500"/>
            <a:ext cx="3703320" cy="571500"/>
          </a:xfrm>
          <a:prstGeom prst="rect">
            <a:avLst/>
          </a:prstGeom>
          <a:noFill/>
        </p:spPr>
        <p:txBody>
          <a:bodyPr wrap="square" lIns="0" tIns="0" rIns="0" bIns="0" anchor="t">
            <a:spAutoFit/>
          </a:bodyPr>
          <a:lstStyle/>
          <a:p>
            <a:pPr algn="l">
              <a:lnSpc>
                <a:spcPct val="115000"/>
              </a:lnSpc>
            </a:pPr>
            <a:r>
              <a:rPr sz="1050" b="0" dirty="0">
                <a:solidFill>
                  <a:srgbClr val="0D0D0D"/>
                </a:solidFill>
                <a:latin typeface="Open Sans"/>
              </a:rPr>
              <a:t>Open the Stage 1 template. Save As: models/builds/YYYY-MM-DD-{</a:t>
            </a:r>
            <a:r>
              <a:rPr sz="1050" b="0" dirty="0" err="1">
                <a:solidFill>
                  <a:srgbClr val="0D0D0D"/>
                </a:solidFill>
                <a:latin typeface="Open Sans"/>
              </a:rPr>
              <a:t>lastname</a:t>
            </a:r>
            <a:r>
              <a:rPr sz="1050" b="0" dirty="0">
                <a:solidFill>
                  <a:srgbClr val="0D0D0D"/>
                </a:solidFill>
                <a:latin typeface="Open Sans"/>
              </a:rPr>
              <a:t>}-{company}-financials.xlsx. Lowercase, hyphen-separated.</a:t>
            </a:r>
          </a:p>
        </p:txBody>
      </p:sp>
      <p:sp>
        <p:nvSpPr>
          <p:cNvPr id="9" name="Oval 8"/>
          <p:cNvSpPr/>
          <p:nvPr/>
        </p:nvSpPr>
        <p:spPr>
          <a:xfrm>
            <a:off x="457200" y="22098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2</a:t>
            </a:r>
          </a:p>
        </p:txBody>
      </p:sp>
      <p:sp>
        <p:nvSpPr>
          <p:cNvPr id="10" name="TextBox 9"/>
          <p:cNvSpPr txBox="1"/>
          <p:nvPr/>
        </p:nvSpPr>
        <p:spPr>
          <a:xfrm>
            <a:off x="914400" y="2171700"/>
            <a:ext cx="3703320" cy="256032"/>
          </a:xfrm>
          <a:prstGeom prst="rect">
            <a:avLst/>
          </a:prstGeom>
          <a:noFill/>
        </p:spPr>
        <p:txBody>
          <a:bodyPr wrap="square" lIns="0" tIns="0" rIns="0" bIns="0" anchor="t">
            <a:spAutoFit/>
          </a:bodyPr>
          <a:lstStyle/>
          <a:p>
            <a:pPr algn="l"/>
            <a:r>
              <a:rPr sz="1300" b="1">
                <a:solidFill>
                  <a:srgbClr val="024731"/>
                </a:solidFill>
                <a:latin typeface="Open Sans"/>
              </a:rPr>
              <a:t>Populate Income Statement</a:t>
            </a:r>
          </a:p>
        </p:txBody>
      </p:sp>
      <p:sp>
        <p:nvSpPr>
          <p:cNvPr id="11" name="TextBox 10"/>
          <p:cNvSpPr txBox="1"/>
          <p:nvPr/>
        </p:nvSpPr>
        <p:spPr>
          <a:xfrm>
            <a:off x="914400" y="2438400"/>
            <a:ext cx="3703320" cy="571500"/>
          </a:xfrm>
          <a:prstGeom prst="rect">
            <a:avLst/>
          </a:prstGeom>
          <a:noFill/>
        </p:spPr>
        <p:txBody>
          <a:bodyPr wrap="square" lIns="0" tIns="0" rIns="0" bIns="0" anchor="t">
            <a:spAutoFit/>
          </a:bodyPr>
          <a:lstStyle/>
          <a:p>
            <a:pPr algn="l">
              <a:lnSpc>
                <a:spcPct val="115000"/>
              </a:lnSpc>
            </a:pPr>
            <a:r>
              <a:rPr sz="1050" b="0" dirty="0">
                <a:solidFill>
                  <a:srgbClr val="0D0D0D"/>
                </a:solidFill>
                <a:latin typeface="Open Sans"/>
              </a:rPr>
              <a:t>Current year + prior year. Tie totals (Revenue, Net Income) to the source 10-K before trusting line items.</a:t>
            </a:r>
          </a:p>
        </p:txBody>
      </p:sp>
      <p:sp>
        <p:nvSpPr>
          <p:cNvPr id="12" name="Oval 11"/>
          <p:cNvSpPr/>
          <p:nvPr/>
        </p:nvSpPr>
        <p:spPr>
          <a:xfrm>
            <a:off x="457200" y="30607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3</a:t>
            </a:r>
          </a:p>
        </p:txBody>
      </p:sp>
      <p:sp>
        <p:nvSpPr>
          <p:cNvPr id="13" name="TextBox 12"/>
          <p:cNvSpPr txBox="1"/>
          <p:nvPr/>
        </p:nvSpPr>
        <p:spPr>
          <a:xfrm>
            <a:off x="914400" y="3022600"/>
            <a:ext cx="3703320" cy="256032"/>
          </a:xfrm>
          <a:prstGeom prst="rect">
            <a:avLst/>
          </a:prstGeom>
          <a:noFill/>
        </p:spPr>
        <p:txBody>
          <a:bodyPr wrap="square" lIns="0" tIns="0" rIns="0" bIns="0" anchor="t">
            <a:spAutoFit/>
          </a:bodyPr>
          <a:lstStyle/>
          <a:p>
            <a:pPr algn="l"/>
            <a:r>
              <a:rPr sz="1300" b="1">
                <a:solidFill>
                  <a:srgbClr val="024731"/>
                </a:solidFill>
                <a:latin typeface="Open Sans"/>
              </a:rPr>
              <a:t>Populate Balance Sheet</a:t>
            </a:r>
          </a:p>
        </p:txBody>
      </p:sp>
      <p:sp>
        <p:nvSpPr>
          <p:cNvPr id="14" name="TextBox 13"/>
          <p:cNvSpPr txBox="1"/>
          <p:nvPr/>
        </p:nvSpPr>
        <p:spPr>
          <a:xfrm>
            <a:off x="914400" y="3289300"/>
            <a:ext cx="3703320" cy="571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Current year + prior year. Prior-year fills the startYear_* named ranges — without these, start-of-year ratios fail silently.</a:t>
            </a:r>
          </a:p>
        </p:txBody>
      </p:sp>
      <p:sp>
        <p:nvSpPr>
          <p:cNvPr id="15" name="Oval 14"/>
          <p:cNvSpPr/>
          <p:nvPr/>
        </p:nvSpPr>
        <p:spPr>
          <a:xfrm>
            <a:off x="457200" y="39116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4</a:t>
            </a:r>
          </a:p>
        </p:txBody>
      </p:sp>
      <p:sp>
        <p:nvSpPr>
          <p:cNvPr id="16" name="TextBox 15"/>
          <p:cNvSpPr txBox="1"/>
          <p:nvPr/>
        </p:nvSpPr>
        <p:spPr>
          <a:xfrm>
            <a:off x="914400" y="3873500"/>
            <a:ext cx="3703320" cy="256032"/>
          </a:xfrm>
          <a:prstGeom prst="rect">
            <a:avLst/>
          </a:prstGeom>
          <a:noFill/>
        </p:spPr>
        <p:txBody>
          <a:bodyPr wrap="square" lIns="0" tIns="0" rIns="0" bIns="0" anchor="t">
            <a:spAutoFit/>
          </a:bodyPr>
          <a:lstStyle/>
          <a:p>
            <a:pPr algn="l"/>
            <a:r>
              <a:rPr sz="1300" b="1">
                <a:solidFill>
                  <a:srgbClr val="024731"/>
                </a:solidFill>
                <a:latin typeface="Open Sans"/>
              </a:rPr>
              <a:t>Populate Cash Flow</a:t>
            </a:r>
          </a:p>
        </p:txBody>
      </p:sp>
      <p:sp>
        <p:nvSpPr>
          <p:cNvPr id="17" name="TextBox 16"/>
          <p:cNvSpPr txBox="1"/>
          <p:nvPr/>
        </p:nvSpPr>
        <p:spPr>
          <a:xfrm>
            <a:off x="914400" y="4140200"/>
            <a:ext cx="3703320" cy="571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Current year + prior year. Verify operating, investing, financing subtotals match the source.</a:t>
            </a:r>
          </a:p>
        </p:txBody>
      </p:sp>
      <p:sp>
        <p:nvSpPr>
          <p:cNvPr id="18" name="Oval 17"/>
          <p:cNvSpPr/>
          <p:nvPr/>
        </p:nvSpPr>
        <p:spPr>
          <a:xfrm>
            <a:off x="470916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5</a:t>
            </a:r>
          </a:p>
        </p:txBody>
      </p:sp>
      <p:sp>
        <p:nvSpPr>
          <p:cNvPr id="19" name="TextBox 18"/>
          <p:cNvSpPr txBox="1"/>
          <p:nvPr/>
        </p:nvSpPr>
        <p:spPr>
          <a:xfrm>
            <a:off x="516636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Add market &amp; analyst assumptions</a:t>
            </a:r>
          </a:p>
        </p:txBody>
      </p:sp>
      <p:sp>
        <p:nvSpPr>
          <p:cNvPr id="20" name="TextBox 19"/>
          <p:cNvSpPr txBox="1"/>
          <p:nvPr/>
        </p:nvSpPr>
        <p:spPr>
          <a:xfrm>
            <a:off x="5166360" y="1587500"/>
            <a:ext cx="3703320" cy="571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Share price at fiscal year-end, shares outstanding, tax rate, cost of capital. Cover &amp; Instructions tab captures these inputs.</a:t>
            </a:r>
          </a:p>
        </p:txBody>
      </p:sp>
      <p:sp>
        <p:nvSpPr>
          <p:cNvPr id="21" name="Oval 20"/>
          <p:cNvSpPr/>
          <p:nvPr/>
        </p:nvSpPr>
        <p:spPr>
          <a:xfrm>
            <a:off x="4709160" y="22098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6</a:t>
            </a:r>
          </a:p>
        </p:txBody>
      </p:sp>
      <p:sp>
        <p:nvSpPr>
          <p:cNvPr id="22" name="TextBox 21"/>
          <p:cNvSpPr txBox="1"/>
          <p:nvPr/>
        </p:nvSpPr>
        <p:spPr>
          <a:xfrm>
            <a:off x="5166360" y="2171700"/>
            <a:ext cx="3703320" cy="256032"/>
          </a:xfrm>
          <a:prstGeom prst="rect">
            <a:avLst/>
          </a:prstGeom>
          <a:noFill/>
        </p:spPr>
        <p:txBody>
          <a:bodyPr wrap="square" lIns="0" tIns="0" rIns="0" bIns="0" anchor="t">
            <a:spAutoFit/>
          </a:bodyPr>
          <a:lstStyle/>
          <a:p>
            <a:pPr algn="l"/>
            <a:r>
              <a:rPr sz="1300" b="1">
                <a:solidFill>
                  <a:srgbClr val="024731"/>
                </a:solidFill>
                <a:latin typeface="Open Sans"/>
              </a:rPr>
              <a:t>Update Cover &amp; Instructions tab</a:t>
            </a:r>
          </a:p>
        </p:txBody>
      </p:sp>
      <p:sp>
        <p:nvSpPr>
          <p:cNvPr id="23" name="TextBox 22"/>
          <p:cNvSpPr txBox="1"/>
          <p:nvPr/>
        </p:nvSpPr>
        <p:spPr>
          <a:xfrm>
            <a:off x="5166360" y="2438400"/>
            <a:ext cx="3703320" cy="571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Source URL, reporting standard, currency, fiscal year end. Flag any IFRS / VAS adjustments here.</a:t>
            </a:r>
          </a:p>
        </p:txBody>
      </p:sp>
      <p:sp>
        <p:nvSpPr>
          <p:cNvPr id="24" name="Oval 23"/>
          <p:cNvSpPr/>
          <p:nvPr/>
        </p:nvSpPr>
        <p:spPr>
          <a:xfrm>
            <a:off x="4709160" y="30607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7</a:t>
            </a:r>
          </a:p>
        </p:txBody>
      </p:sp>
      <p:sp>
        <p:nvSpPr>
          <p:cNvPr id="25" name="TextBox 24"/>
          <p:cNvSpPr txBox="1"/>
          <p:nvPr/>
        </p:nvSpPr>
        <p:spPr>
          <a:xfrm>
            <a:off x="5166360" y="3022600"/>
            <a:ext cx="3703320" cy="256032"/>
          </a:xfrm>
          <a:prstGeom prst="rect">
            <a:avLst/>
          </a:prstGeom>
          <a:noFill/>
        </p:spPr>
        <p:txBody>
          <a:bodyPr wrap="square" lIns="0" tIns="0" rIns="0" bIns="0" anchor="t">
            <a:spAutoFit/>
          </a:bodyPr>
          <a:lstStyle/>
          <a:p>
            <a:pPr algn="l"/>
            <a:r>
              <a:rPr sz="1300" b="1">
                <a:solidFill>
                  <a:srgbClr val="024731"/>
                </a:solidFill>
                <a:latin typeface="Open Sans"/>
              </a:rPr>
              <a:t>Run the self-check</a:t>
            </a:r>
          </a:p>
        </p:txBody>
      </p:sp>
      <p:sp>
        <p:nvSpPr>
          <p:cNvPr id="26" name="TextBox 25"/>
          <p:cNvSpPr txBox="1"/>
          <p:nvPr/>
        </p:nvSpPr>
        <p:spPr>
          <a:xfrm>
            <a:off x="5166360" y="3289300"/>
            <a:ext cx="3703320" cy="571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Balance Sheet balances (Assets = Liabilities + Equity). No #REF! or #DIV/0! cells. Ratios tab populated — if blank, you missed a financial-statement tab.</a:t>
            </a:r>
          </a:p>
        </p:txBody>
      </p:sp>
      <p:sp>
        <p:nvSpPr>
          <p:cNvPr id="27" name="Oval 26"/>
          <p:cNvSpPr/>
          <p:nvPr/>
        </p:nvSpPr>
        <p:spPr>
          <a:xfrm>
            <a:off x="4709160" y="39116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8</a:t>
            </a:r>
          </a:p>
        </p:txBody>
      </p:sp>
      <p:sp>
        <p:nvSpPr>
          <p:cNvPr id="28" name="TextBox 27"/>
          <p:cNvSpPr txBox="1"/>
          <p:nvPr/>
        </p:nvSpPr>
        <p:spPr>
          <a:xfrm>
            <a:off x="5166360" y="3873500"/>
            <a:ext cx="3703320" cy="256032"/>
          </a:xfrm>
          <a:prstGeom prst="rect">
            <a:avLst/>
          </a:prstGeom>
          <a:noFill/>
        </p:spPr>
        <p:txBody>
          <a:bodyPr wrap="square" lIns="0" tIns="0" rIns="0" bIns="0" anchor="t">
            <a:spAutoFit/>
          </a:bodyPr>
          <a:lstStyle/>
          <a:p>
            <a:pPr algn="l"/>
            <a:r>
              <a:rPr sz="1300" b="1">
                <a:solidFill>
                  <a:srgbClr val="024731"/>
                </a:solidFill>
                <a:latin typeface="Open Sans"/>
              </a:rPr>
              <a:t>Commit incrementally</a:t>
            </a:r>
          </a:p>
        </p:txBody>
      </p:sp>
      <p:sp>
        <p:nvSpPr>
          <p:cNvPr id="29" name="TextBox 28"/>
          <p:cNvSpPr txBox="1"/>
          <p:nvPr/>
        </p:nvSpPr>
        <p:spPr>
          <a:xfrm>
            <a:off x="5166360" y="4140200"/>
            <a:ext cx="3703320" cy="571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One commit per statement (IS, BS, CF). Your Stage 4 retrospective benefits from a clean history. Push when done.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74B4-F44F-C4EE-0084-09005153A2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EADEF2A-2669-BB3B-56BA-C21DEECFF240}"/>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CF88345B-DAD0-ECD5-67D2-7AFD3FC28FC7}"/>
              </a:ext>
            </a:extLst>
          </p:cNvPr>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STAGE 4</a:t>
            </a:r>
            <a:endParaRPr lang="en-US" sz="1400" dirty="0"/>
          </a:p>
        </p:txBody>
      </p:sp>
      <p:sp>
        <p:nvSpPr>
          <p:cNvPr id="4" name="Text 2">
            <a:extLst>
              <a:ext uri="{FF2B5EF4-FFF2-40B4-BE49-F238E27FC236}">
                <a16:creationId xmlns:a16="http://schemas.microsoft.com/office/drawing/2014/main" id="{8B37101B-FF8D-831A-99E8-A1BF8BBA9198}"/>
              </a:ext>
            </a:extLst>
          </p:cNvPr>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 xml:space="preserve">Ratio </a:t>
            </a:r>
            <a:r>
              <a:rPr lang="en-US" sz="4000" b="1">
                <a:solidFill>
                  <a:schemeClr val="accent6">
                    <a:lumMod val="50000"/>
                  </a:schemeClr>
                </a:solidFill>
                <a:latin typeface="Open Sans" pitchFamily="34" charset="0"/>
                <a:ea typeface="Open Sans" pitchFamily="34" charset="-122"/>
                <a:cs typeface="Open Sans" pitchFamily="34" charset="-120"/>
              </a:rPr>
              <a:t>Analysis Specification</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3011C909-3F10-A632-9DD9-E109AB136FD2}"/>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D848A7C0-C8A8-5C34-2028-5E93FEE15351}"/>
              </a:ext>
            </a:extLst>
          </p:cNvPr>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600" dirty="0">
                <a:solidFill>
                  <a:srgbClr val="36454F"/>
                </a:solidFill>
              </a:rPr>
              <a:t>Use an LLM to draft the technical specification that defines both the ratio model and the analysis. Edit, refine, and log every prompt — the spec is the central artifact.</a:t>
            </a:r>
          </a:p>
        </p:txBody>
      </p:sp>
      <p:pic>
        <p:nvPicPr>
          <p:cNvPr id="7" name="Image 0" descr="preencoded.png">
            <a:extLst>
              <a:ext uri="{FF2B5EF4-FFF2-40B4-BE49-F238E27FC236}">
                <a16:creationId xmlns:a16="http://schemas.microsoft.com/office/drawing/2014/main" id="{3E773439-2D20-2B91-6205-E56F538EDB86}"/>
              </a:ext>
            </a:extLst>
          </p:cNvPr>
          <p:cNvPicPr>
            <a:picLocks noChangeAspect="1"/>
          </p:cNvPicPr>
          <p:nvPr/>
        </p:nvPicPr>
        <p:blipFill>
          <a:blip r:embed="rId3"/>
          <a:stretch>
            <a:fillRect/>
          </a:stretch>
        </p:blipFill>
        <p:spPr>
          <a:xfrm>
            <a:off x="7132320" y="3017520"/>
            <a:ext cx="1097280" cy="1097280"/>
          </a:xfrm>
          <a:prstGeom prst="rect">
            <a:avLst/>
          </a:prstGeom>
        </p:spPr>
      </p:pic>
      <p:sp>
        <p:nvSpPr>
          <p:cNvPr id="8" name="Text 5">
            <a:extLst>
              <a:ext uri="{FF2B5EF4-FFF2-40B4-BE49-F238E27FC236}">
                <a16:creationId xmlns:a16="http://schemas.microsoft.com/office/drawing/2014/main" id="{1E2516BC-0792-AE30-9196-116A922CE673}"/>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2749235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64008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4 — Technical Specification</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20% of project  |  LLM-drafted, student-refined  |  Deliverable-only — no in-class presentation this semester</a:t>
            </a:r>
            <a:endParaRPr lang="en-US" sz="1100" dirty="0"/>
          </a:p>
        </p:txBody>
      </p:sp>
      <p:sp>
        <p:nvSpPr>
          <p:cNvPr id="5" name="Shape 3"/>
          <p:cNvSpPr/>
          <p:nvPr/>
        </p:nvSpPr>
        <p:spPr>
          <a:xfrm>
            <a:off x="7132320" y="0"/>
            <a:ext cx="2011680" cy="822960"/>
          </a:xfrm>
          <a:prstGeom prst="rect">
            <a:avLst/>
          </a:prstGeom>
          <a:solidFill>
            <a:srgbClr val="C9A84C"/>
          </a:solidFill>
          <a:ln/>
        </p:spPr>
        <p:txBody>
          <a:bodyPr/>
          <a:lstStyle/>
          <a:p>
            <a:endParaRPr lang="en-US"/>
          </a:p>
        </p:txBody>
      </p:sp>
      <p:sp>
        <p:nvSpPr>
          <p:cNvPr id="6" name="Text 4"/>
          <p:cNvSpPr/>
          <p:nvPr/>
        </p:nvSpPr>
        <p:spPr>
          <a:xfrm>
            <a:off x="7132320" y="91440"/>
            <a:ext cx="2011680" cy="640080"/>
          </a:xfrm>
          <a:prstGeom prst="rect">
            <a:avLst/>
          </a:prstGeom>
          <a:noFill/>
          <a:ln/>
        </p:spPr>
        <p:txBody>
          <a:bodyPr wrap="square" rtlCol="0" anchor="ctr"/>
          <a:lstStyle/>
          <a:p>
            <a:pPr marL="0" indent="0" algn="ctr">
              <a:buNone/>
            </a:pPr>
            <a:r>
              <a:rPr lang="en-US" sz="1200" b="1" dirty="0">
                <a:solidFill>
                  <a:srgbClr val="024731"/>
                </a:solidFill>
                <a:latin typeface="Open Sans" pitchFamily="34" charset="0"/>
                <a:ea typeface="Open Sans" pitchFamily="34" charset="-122"/>
                <a:cs typeface="Open Sans" pitchFamily="34" charset="-120"/>
              </a:rPr>
              <a:t>SPEC-DRIVEN</a:t>
            </a:r>
            <a:endParaRPr lang="en-US" sz="1200" dirty="0"/>
          </a:p>
          <a:p>
            <a:pPr marL="0" indent="0" algn="ctr">
              <a:buNone/>
            </a:pPr>
            <a:r>
              <a:rPr lang="en-US" sz="1200" b="1" dirty="0">
                <a:solidFill>
                  <a:srgbClr val="024731"/>
                </a:solidFill>
                <a:latin typeface="Open Sans" pitchFamily="34" charset="0"/>
                <a:ea typeface="Open Sans" pitchFamily="34" charset="-122"/>
                <a:cs typeface="Open Sans" pitchFamily="34" charset="-120"/>
              </a:rPr>
              <a:t>DESIGN</a:t>
            </a:r>
            <a:endParaRPr lang="en-US" sz="1200" dirty="0"/>
          </a:p>
        </p:txBody>
      </p:sp>
      <p:sp>
        <p:nvSpPr>
          <p:cNvPr id="7" name="Shape 5"/>
          <p:cNvSpPr/>
          <p:nvPr/>
        </p:nvSpPr>
        <p:spPr>
          <a:xfrm>
            <a:off x="457200" y="1051560"/>
            <a:ext cx="4023360" cy="320040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8" name="Shape 6"/>
          <p:cNvSpPr/>
          <p:nvPr/>
        </p:nvSpPr>
        <p:spPr>
          <a:xfrm>
            <a:off x="457200" y="1051560"/>
            <a:ext cx="4023360" cy="411480"/>
          </a:xfrm>
          <a:prstGeom prst="rect">
            <a:avLst/>
          </a:prstGeom>
          <a:solidFill>
            <a:srgbClr val="024731"/>
          </a:solidFill>
          <a:ln/>
        </p:spPr>
        <p:txBody>
          <a:bodyPr/>
          <a:lstStyle/>
          <a:p>
            <a:endParaRPr lang="en-US"/>
          </a:p>
        </p:txBody>
      </p:sp>
      <p:sp>
        <p:nvSpPr>
          <p:cNvPr id="9" name="Text 7"/>
          <p:cNvSpPr/>
          <p:nvPr/>
        </p:nvSpPr>
        <p:spPr>
          <a:xfrm>
            <a:off x="594360" y="1069848"/>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Open Sans" pitchFamily="34" charset="0"/>
                <a:ea typeface="Open Sans" pitchFamily="34" charset="-122"/>
                <a:cs typeface="Open Sans" pitchFamily="34" charset="-120"/>
              </a:rPr>
              <a:t>Part A — Model Specification</a:t>
            </a:r>
            <a:endParaRPr lang="en-US" sz="1300" dirty="0"/>
          </a:p>
        </p:txBody>
      </p:sp>
      <p:sp>
        <p:nvSpPr>
          <p:cNvPr id="10" name="Text 8"/>
          <p:cNvSpPr/>
          <p:nvPr/>
        </p:nvSpPr>
        <p:spPr>
          <a:xfrm>
            <a:off x="594360" y="160020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1</a:t>
            </a:r>
            <a:endParaRPr lang="en-US" sz="1000" dirty="0"/>
          </a:p>
        </p:txBody>
      </p:sp>
      <p:sp>
        <p:nvSpPr>
          <p:cNvPr id="11" name="Text 9"/>
          <p:cNvSpPr/>
          <p:nvPr/>
        </p:nvSpPr>
        <p:spPr>
          <a:xfrm>
            <a:off x="868680" y="158191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Scope &amp; Objective</a:t>
            </a:r>
            <a:endParaRPr lang="en-US" sz="1000" dirty="0"/>
          </a:p>
        </p:txBody>
      </p:sp>
      <p:sp>
        <p:nvSpPr>
          <p:cNvPr id="12" name="Text 10"/>
          <p:cNvSpPr/>
          <p:nvPr/>
        </p:nvSpPr>
        <p:spPr>
          <a:xfrm>
            <a:off x="868680" y="175564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Company, fiscal period, reporting standard, currency</a:t>
            </a:r>
            <a:endParaRPr lang="en-US" sz="900" dirty="0"/>
          </a:p>
        </p:txBody>
      </p:sp>
      <p:sp>
        <p:nvSpPr>
          <p:cNvPr id="13" name="Text 11"/>
          <p:cNvSpPr/>
          <p:nvPr/>
        </p:nvSpPr>
        <p:spPr>
          <a:xfrm>
            <a:off x="594360" y="196596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2</a:t>
            </a:r>
            <a:endParaRPr lang="en-US" sz="1000" dirty="0"/>
          </a:p>
        </p:txBody>
      </p:sp>
      <p:sp>
        <p:nvSpPr>
          <p:cNvPr id="14" name="Text 12"/>
          <p:cNvSpPr/>
          <p:nvPr/>
        </p:nvSpPr>
        <p:spPr>
          <a:xfrm>
            <a:off x="868680" y="194767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Model Architecture</a:t>
            </a:r>
            <a:endParaRPr lang="en-US" sz="1000" dirty="0"/>
          </a:p>
        </p:txBody>
      </p:sp>
      <p:sp>
        <p:nvSpPr>
          <p:cNvPr id="15" name="Text 13"/>
          <p:cNvSpPr/>
          <p:nvPr/>
        </p:nvSpPr>
        <p:spPr>
          <a:xfrm>
            <a:off x="868680" y="212140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Tab layout, color coding, input/calc/output separation</a:t>
            </a:r>
            <a:endParaRPr lang="en-US" sz="900" dirty="0"/>
          </a:p>
        </p:txBody>
      </p:sp>
      <p:sp>
        <p:nvSpPr>
          <p:cNvPr id="16" name="Text 14"/>
          <p:cNvSpPr/>
          <p:nvPr/>
        </p:nvSpPr>
        <p:spPr>
          <a:xfrm>
            <a:off x="594360" y="233172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3</a:t>
            </a:r>
            <a:endParaRPr lang="en-US" sz="1000" dirty="0"/>
          </a:p>
        </p:txBody>
      </p:sp>
      <p:sp>
        <p:nvSpPr>
          <p:cNvPr id="17" name="Text 15"/>
          <p:cNvSpPr/>
          <p:nvPr/>
        </p:nvSpPr>
        <p:spPr>
          <a:xfrm>
            <a:off x="868680" y="231343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Data Inputs</a:t>
            </a:r>
            <a:endParaRPr lang="en-US" sz="1000" dirty="0"/>
          </a:p>
        </p:txBody>
      </p:sp>
      <p:sp>
        <p:nvSpPr>
          <p:cNvPr id="18" name="Text 16"/>
          <p:cNvSpPr/>
          <p:nvPr/>
        </p:nvSpPr>
        <p:spPr>
          <a:xfrm>
            <a:off x="868680" y="248716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Every value explicit — the executor does not infer data</a:t>
            </a:r>
            <a:endParaRPr lang="en-US" sz="900" dirty="0"/>
          </a:p>
        </p:txBody>
      </p:sp>
      <p:sp>
        <p:nvSpPr>
          <p:cNvPr id="19" name="Text 17"/>
          <p:cNvSpPr/>
          <p:nvPr/>
        </p:nvSpPr>
        <p:spPr>
          <a:xfrm>
            <a:off x="594360" y="269748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4</a:t>
            </a:r>
            <a:endParaRPr lang="en-US" sz="1000" dirty="0"/>
          </a:p>
        </p:txBody>
      </p:sp>
      <p:sp>
        <p:nvSpPr>
          <p:cNvPr id="20" name="Text 18"/>
          <p:cNvSpPr/>
          <p:nvPr/>
        </p:nvSpPr>
        <p:spPr>
          <a:xfrm>
            <a:off x="868680" y="267919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Named Range Map</a:t>
            </a:r>
            <a:endParaRPr lang="en-US" sz="1000" dirty="0"/>
          </a:p>
        </p:txBody>
      </p:sp>
      <p:sp>
        <p:nvSpPr>
          <p:cNvPr id="21" name="Text 19"/>
          <p:cNvSpPr/>
          <p:nvPr/>
        </p:nvSpPr>
        <p:spPr>
          <a:xfrm>
            <a:off x="868680" y="285292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Full map: name, source, value, unit</a:t>
            </a:r>
            <a:endParaRPr lang="en-US" sz="900" dirty="0"/>
          </a:p>
        </p:txBody>
      </p:sp>
      <p:sp>
        <p:nvSpPr>
          <p:cNvPr id="22" name="Text 20"/>
          <p:cNvSpPr/>
          <p:nvPr/>
        </p:nvSpPr>
        <p:spPr>
          <a:xfrm>
            <a:off x="594360" y="306324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5</a:t>
            </a:r>
            <a:endParaRPr lang="en-US" sz="1000" dirty="0"/>
          </a:p>
        </p:txBody>
      </p:sp>
      <p:sp>
        <p:nvSpPr>
          <p:cNvPr id="23" name="Text 21"/>
          <p:cNvSpPr/>
          <p:nvPr/>
        </p:nvSpPr>
        <p:spPr>
          <a:xfrm>
            <a:off x="868680" y="304495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Derived Inputs</a:t>
            </a:r>
            <a:endParaRPr lang="en-US" sz="1000" dirty="0"/>
          </a:p>
        </p:txBody>
      </p:sp>
      <p:sp>
        <p:nvSpPr>
          <p:cNvPr id="24" name="Text 22"/>
          <p:cNvSpPr/>
          <p:nvPr/>
        </p:nvSpPr>
        <p:spPr>
          <a:xfrm>
            <a:off x="868680" y="321868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Averages, start-of-year, daily rates with formulas</a:t>
            </a:r>
            <a:endParaRPr lang="en-US" sz="900" dirty="0"/>
          </a:p>
        </p:txBody>
      </p:sp>
      <p:sp>
        <p:nvSpPr>
          <p:cNvPr id="25" name="Text 23"/>
          <p:cNvSpPr/>
          <p:nvPr/>
        </p:nvSpPr>
        <p:spPr>
          <a:xfrm>
            <a:off x="594360" y="342900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6</a:t>
            </a:r>
            <a:endParaRPr lang="en-US" sz="1000" dirty="0"/>
          </a:p>
        </p:txBody>
      </p:sp>
      <p:sp>
        <p:nvSpPr>
          <p:cNvPr id="26" name="Text 24"/>
          <p:cNvSpPr/>
          <p:nvPr/>
        </p:nvSpPr>
        <p:spPr>
          <a:xfrm>
            <a:off x="868680" y="341071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Ratio Formulas</a:t>
            </a:r>
            <a:endParaRPr lang="en-US" sz="1000" dirty="0"/>
          </a:p>
        </p:txBody>
      </p:sp>
      <p:sp>
        <p:nvSpPr>
          <p:cNvPr id="27" name="Text 25"/>
          <p:cNvSpPr/>
          <p:nvPr/>
        </p:nvSpPr>
        <p:spPr>
          <a:xfrm>
            <a:off x="868680" y="358444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All 25+ ratios in named-range notation with units</a:t>
            </a:r>
            <a:endParaRPr lang="en-US" sz="900" dirty="0"/>
          </a:p>
        </p:txBody>
      </p:sp>
      <p:sp>
        <p:nvSpPr>
          <p:cNvPr id="28" name="Text 26"/>
          <p:cNvSpPr/>
          <p:nvPr/>
        </p:nvSpPr>
        <p:spPr>
          <a:xfrm>
            <a:off x="594360" y="379476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7</a:t>
            </a:r>
            <a:endParaRPr lang="en-US" sz="1000" dirty="0"/>
          </a:p>
        </p:txBody>
      </p:sp>
      <p:sp>
        <p:nvSpPr>
          <p:cNvPr id="29" name="Text 27"/>
          <p:cNvSpPr/>
          <p:nvPr/>
        </p:nvSpPr>
        <p:spPr>
          <a:xfrm>
            <a:off x="868680" y="377647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Validation Rules</a:t>
            </a:r>
            <a:endParaRPr lang="en-US" sz="1000" dirty="0"/>
          </a:p>
        </p:txBody>
      </p:sp>
      <p:sp>
        <p:nvSpPr>
          <p:cNvPr id="30" name="Text 28"/>
          <p:cNvSpPr/>
          <p:nvPr/>
        </p:nvSpPr>
        <p:spPr>
          <a:xfrm>
            <a:off x="868680" y="395020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Du Pont checks, BS balance, consistency tests</a:t>
            </a:r>
            <a:endParaRPr lang="en-US" sz="900" dirty="0"/>
          </a:p>
        </p:txBody>
      </p:sp>
      <p:sp>
        <p:nvSpPr>
          <p:cNvPr id="31" name="Shape 29"/>
          <p:cNvSpPr/>
          <p:nvPr/>
        </p:nvSpPr>
        <p:spPr>
          <a:xfrm>
            <a:off x="4663440" y="1051560"/>
            <a:ext cx="4023360" cy="320040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32" name="Shape 30"/>
          <p:cNvSpPr/>
          <p:nvPr/>
        </p:nvSpPr>
        <p:spPr>
          <a:xfrm>
            <a:off x="4663440" y="1051560"/>
            <a:ext cx="4023360" cy="411480"/>
          </a:xfrm>
          <a:prstGeom prst="rect">
            <a:avLst/>
          </a:prstGeom>
          <a:solidFill>
            <a:srgbClr val="024731"/>
          </a:solidFill>
          <a:ln/>
        </p:spPr>
        <p:txBody>
          <a:bodyPr/>
          <a:lstStyle/>
          <a:p>
            <a:endParaRPr lang="en-US"/>
          </a:p>
        </p:txBody>
      </p:sp>
      <p:sp>
        <p:nvSpPr>
          <p:cNvPr id="33" name="Text 31"/>
          <p:cNvSpPr/>
          <p:nvPr/>
        </p:nvSpPr>
        <p:spPr>
          <a:xfrm>
            <a:off x="4800600" y="1069848"/>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Open Sans" pitchFamily="34" charset="0"/>
                <a:ea typeface="Open Sans" pitchFamily="34" charset="-122"/>
                <a:cs typeface="Open Sans" pitchFamily="34" charset="-120"/>
              </a:rPr>
              <a:t>Part B — Analysis Specification</a:t>
            </a:r>
            <a:endParaRPr lang="en-US" sz="1300" dirty="0"/>
          </a:p>
        </p:txBody>
      </p:sp>
      <p:sp>
        <p:nvSpPr>
          <p:cNvPr id="34" name="Text 32"/>
          <p:cNvSpPr/>
          <p:nvPr/>
        </p:nvSpPr>
        <p:spPr>
          <a:xfrm>
            <a:off x="4800600" y="160020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8</a:t>
            </a:r>
            <a:endParaRPr lang="en-US" sz="1000" dirty="0"/>
          </a:p>
        </p:txBody>
      </p:sp>
      <p:sp>
        <p:nvSpPr>
          <p:cNvPr id="35" name="Text 33"/>
          <p:cNvSpPr/>
          <p:nvPr/>
        </p:nvSpPr>
        <p:spPr>
          <a:xfrm>
            <a:off x="5166360" y="158191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Analysis Requirements</a:t>
            </a:r>
            <a:endParaRPr lang="en-US" sz="1000" dirty="0"/>
          </a:p>
        </p:txBody>
      </p:sp>
      <p:sp>
        <p:nvSpPr>
          <p:cNvPr id="36" name="Text 34"/>
          <p:cNvSpPr/>
          <p:nvPr/>
        </p:nvSpPr>
        <p:spPr>
          <a:xfrm>
            <a:off x="5166360" y="176479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What to interpret per category; benchmarks; cross-category connections</a:t>
            </a:r>
            <a:endParaRPr lang="en-US" sz="900" dirty="0"/>
          </a:p>
        </p:txBody>
      </p:sp>
      <p:sp>
        <p:nvSpPr>
          <p:cNvPr id="37" name="Text 35"/>
          <p:cNvSpPr/>
          <p:nvPr/>
        </p:nvSpPr>
        <p:spPr>
          <a:xfrm>
            <a:off x="4800600" y="210312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9</a:t>
            </a:r>
            <a:endParaRPr lang="en-US" sz="1000" dirty="0"/>
          </a:p>
        </p:txBody>
      </p:sp>
      <p:sp>
        <p:nvSpPr>
          <p:cNvPr id="38" name="Text 36"/>
          <p:cNvSpPr/>
          <p:nvPr/>
        </p:nvSpPr>
        <p:spPr>
          <a:xfrm>
            <a:off x="5166360" y="208483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Du Pont Decomposition</a:t>
            </a:r>
            <a:endParaRPr lang="en-US" sz="1000" dirty="0"/>
          </a:p>
        </p:txBody>
      </p:sp>
      <p:sp>
        <p:nvSpPr>
          <p:cNvPr id="39" name="Text 37"/>
          <p:cNvSpPr/>
          <p:nvPr/>
        </p:nvSpPr>
        <p:spPr>
          <a:xfrm>
            <a:off x="5166360" y="226771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ROE breakdown instructions: which driver? Sustainable?</a:t>
            </a:r>
            <a:endParaRPr lang="en-US" sz="900" dirty="0"/>
          </a:p>
        </p:txBody>
      </p:sp>
      <p:sp>
        <p:nvSpPr>
          <p:cNvPr id="40" name="Text 38"/>
          <p:cNvSpPr/>
          <p:nvPr/>
        </p:nvSpPr>
        <p:spPr>
          <a:xfrm>
            <a:off x="4800600" y="260604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10</a:t>
            </a:r>
            <a:endParaRPr lang="en-US" sz="1000" dirty="0"/>
          </a:p>
        </p:txBody>
      </p:sp>
      <p:sp>
        <p:nvSpPr>
          <p:cNvPr id="41" name="Text 39"/>
          <p:cNvSpPr/>
          <p:nvPr/>
        </p:nvSpPr>
        <p:spPr>
          <a:xfrm>
            <a:off x="5166360" y="258775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Strategic Recommendations</a:t>
            </a:r>
            <a:endParaRPr lang="en-US" sz="1000" dirty="0"/>
          </a:p>
        </p:txBody>
      </p:sp>
      <p:sp>
        <p:nvSpPr>
          <p:cNvPr id="42" name="Text 40"/>
          <p:cNvSpPr/>
          <p:nvPr/>
        </p:nvSpPr>
        <p:spPr>
          <a:xfrm>
            <a:off x="5166360" y="277063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3–5 recommendations; evidence standard; actionable specificity</a:t>
            </a:r>
            <a:endParaRPr lang="en-US" sz="900" dirty="0"/>
          </a:p>
        </p:txBody>
      </p:sp>
      <p:sp>
        <p:nvSpPr>
          <p:cNvPr id="43" name="Text 41"/>
          <p:cNvSpPr/>
          <p:nvPr/>
        </p:nvSpPr>
        <p:spPr>
          <a:xfrm>
            <a:off x="4800600" y="310896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11</a:t>
            </a:r>
            <a:endParaRPr lang="en-US" sz="1000" dirty="0"/>
          </a:p>
        </p:txBody>
      </p:sp>
      <p:sp>
        <p:nvSpPr>
          <p:cNvPr id="44" name="Text 42"/>
          <p:cNvSpPr/>
          <p:nvPr/>
        </p:nvSpPr>
        <p:spPr>
          <a:xfrm>
            <a:off x="5166360" y="309067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Output Format</a:t>
            </a:r>
            <a:endParaRPr lang="en-US" sz="1000" dirty="0"/>
          </a:p>
        </p:txBody>
      </p:sp>
      <p:sp>
        <p:nvSpPr>
          <p:cNvPr id="45" name="Text 43"/>
          <p:cNvSpPr/>
          <p:nvPr/>
        </p:nvSpPr>
        <p:spPr>
          <a:xfrm>
            <a:off x="5166360" y="327355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Exact deliverable structure, sections, length, tone, audience</a:t>
            </a:r>
            <a:endParaRPr lang="en-US" sz="900" dirty="0"/>
          </a:p>
        </p:txBody>
      </p:sp>
      <p:sp>
        <p:nvSpPr>
          <p:cNvPr id="46" name="Shape 44"/>
          <p:cNvSpPr/>
          <p:nvPr/>
        </p:nvSpPr>
        <p:spPr>
          <a:xfrm>
            <a:off x="457200" y="4356100"/>
            <a:ext cx="8229600" cy="533400"/>
          </a:xfrm>
          <a:prstGeom prst="rect">
            <a:avLst/>
          </a:prstGeom>
          <a:solidFill>
            <a:srgbClr val="E6F2EF"/>
          </a:solidFill>
          <a:ln/>
        </p:spPr>
        <p:txBody>
          <a:bodyPr/>
          <a:lstStyle/>
          <a:p>
            <a:endParaRPr lang="en-US"/>
          </a:p>
        </p:txBody>
      </p:sp>
      <p:sp>
        <p:nvSpPr>
          <p:cNvPr id="47" name="Shape 45"/>
          <p:cNvSpPr/>
          <p:nvPr/>
        </p:nvSpPr>
        <p:spPr>
          <a:xfrm>
            <a:off x="457200" y="4356100"/>
            <a:ext cx="54864" cy="533400"/>
          </a:xfrm>
          <a:prstGeom prst="rect">
            <a:avLst/>
          </a:prstGeom>
          <a:solidFill>
            <a:srgbClr val="C9A84C"/>
          </a:solidFill>
          <a:ln/>
        </p:spPr>
        <p:txBody>
          <a:bodyPr/>
          <a:lstStyle/>
          <a:p>
            <a:endParaRPr lang="en-US"/>
          </a:p>
        </p:txBody>
      </p:sp>
      <p:sp>
        <p:nvSpPr>
          <p:cNvPr id="48" name="Text 46"/>
          <p:cNvSpPr/>
          <p:nvPr/>
        </p:nvSpPr>
        <p:spPr>
          <a:xfrm>
            <a:off x="635000" y="4394200"/>
            <a:ext cx="1651000" cy="228600"/>
          </a:xfrm>
          <a:prstGeom prst="rect">
            <a:avLst/>
          </a:prstGeom>
          <a:noFill/>
          <a:ln/>
        </p:spPr>
        <p:txBody>
          <a:bodyPr wrap="square" lIns="0" tIns="0" rIns="0" bIns="0" rtlCol="0" anchor="ctr"/>
          <a:lstStyle/>
          <a:p>
            <a:pPr marL="0" indent="0" algn="l">
              <a:buNone/>
            </a:pPr>
            <a:r>
              <a:rPr lang="en-US" sz="1100" b="1" dirty="0">
                <a:solidFill>
                  <a:srgbClr val="024731"/>
                </a:solidFill>
                <a:latin typeface="Open Sans" pitchFamily="34" charset="0"/>
              </a:rPr>
              <a:t>Quality Test</a:t>
            </a:r>
          </a:p>
        </p:txBody>
      </p:sp>
      <p:sp>
        <p:nvSpPr>
          <p:cNvPr id="49" name="Text 47"/>
          <p:cNvSpPr/>
          <p:nvPr/>
        </p:nvSpPr>
        <p:spPr>
          <a:xfrm>
            <a:off x="2349500" y="4394200"/>
            <a:ext cx="6210300" cy="482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rPr>
              <a:t>Use an LLM to draft Part A + Part B from your Stage 3 model. Test against a fresh LLM session — if the cold output mirrors your model, the spec is precise enough. Log every prompt.</a:t>
            </a:r>
          </a:p>
        </p:txBody>
      </p:sp>
      <p:sp>
        <p:nvSpPr>
          <p:cNvPr id="50" name="Shape 48"/>
          <p:cNvSpPr/>
          <p:nvPr/>
        </p:nvSpPr>
        <p:spPr>
          <a:xfrm>
            <a:off x="457200" y="4927600"/>
            <a:ext cx="8229600" cy="215900"/>
          </a:xfrm>
          <a:prstGeom prst="rect">
            <a:avLst/>
          </a:prstGeom>
          <a:solidFill>
            <a:srgbClr val="024731"/>
          </a:solidFill>
          <a:ln/>
        </p:spPr>
        <p:txBody>
          <a:bodyPr/>
          <a:lstStyle/>
          <a:p>
            <a:endParaRPr lang="en-US"/>
          </a:p>
        </p:txBody>
      </p:sp>
      <p:sp>
        <p:nvSpPr>
          <p:cNvPr id="51" name="Text 49"/>
          <p:cNvSpPr/>
          <p:nvPr/>
        </p:nvSpPr>
        <p:spPr>
          <a:xfrm>
            <a:off x="594360" y="4927600"/>
            <a:ext cx="7955280" cy="215900"/>
          </a:xfrm>
          <a:prstGeom prst="rect">
            <a:avLst/>
          </a:prstGeom>
          <a:noFill/>
          <a:ln/>
        </p:spPr>
        <p:txBody>
          <a:bodyPr wrap="square" rtlCol="0" anchor="ctr"/>
          <a:lstStyle/>
          <a:p>
            <a:pPr marL="0" indent="0" algn="ctr">
              <a:buNone/>
            </a:pPr>
            <a:r>
              <a:rPr lang="en-US" sz="900" dirty="0">
                <a:solidFill>
                  <a:srgbClr val="FFFFFF"/>
                </a:solidFill>
                <a:latin typeface="Open Sans" pitchFamily="34" charset="0"/>
              </a:rPr>
              <a:t>Rubric:  Data &amp; Structure 25%  |  Ratios &amp; Validation 25%  |  Analysis Spec 25%  |  Spec Craft + Prompt Log 25%</a:t>
            </a:r>
          </a:p>
        </p:txBody>
      </p:sp>
    </p:spTree>
    <p:extLst>
      <p:ext uri="{BB962C8B-B14F-4D97-AF65-F5344CB8AC3E}">
        <p14:creationId xmlns:p14="http://schemas.microsoft.com/office/powerpoint/2010/main" val="1711063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369332"/>
          </a:xfrm>
          <a:prstGeom prst="rect">
            <a:avLst/>
          </a:prstGeom>
          <a:noFill/>
        </p:spPr>
        <p:txBody>
          <a:bodyPr wrap="square" lIns="0" tIns="0" rIns="0" bIns="0" anchor="t">
            <a:spAutoFit/>
          </a:bodyPr>
          <a:lstStyle/>
          <a:p>
            <a:pPr algn="l"/>
            <a:r>
              <a:rPr sz="2400" b="1" dirty="0">
                <a:solidFill>
                  <a:srgbClr val="024731"/>
                </a:solidFill>
                <a:latin typeface="Open Sans"/>
              </a:rPr>
              <a:t>Stage 4 — Technical Specification  |  Step by Step</a:t>
            </a:r>
          </a:p>
        </p:txBody>
      </p:sp>
      <p:sp>
        <p:nvSpPr>
          <p:cNvPr id="4" name="TextBox 3"/>
          <p:cNvSpPr txBox="1"/>
          <p:nvPr/>
        </p:nvSpPr>
        <p:spPr>
          <a:xfrm>
            <a:off x="457200" y="841248"/>
            <a:ext cx="8229600" cy="320040"/>
          </a:xfrm>
          <a:prstGeom prst="rect">
            <a:avLst/>
          </a:prstGeom>
          <a:noFill/>
        </p:spPr>
        <p:txBody>
          <a:bodyPr wrap="square" lIns="0" tIns="0" rIns="0" bIns="0" anchor="t">
            <a:spAutoFit/>
          </a:bodyPr>
          <a:lstStyle/>
          <a:p>
            <a:pPr algn="l"/>
            <a:r>
              <a:rPr sz="1200" b="0">
                <a:solidFill>
                  <a:srgbClr val="555555"/>
                </a:solidFill>
                <a:latin typeface="Open Sans"/>
              </a:rPr>
              <a:t>Use an LLM to draft the spec. The HIL iteration is what separates a strong submission from a one-shot dump.</a:t>
            </a:r>
          </a:p>
        </p:txBody>
      </p:sp>
      <p:sp>
        <p:nvSpPr>
          <p:cNvPr id="5" name="TextBox 4"/>
          <p:cNvSpPr txBox="1"/>
          <p:nvPr/>
        </p:nvSpPr>
        <p:spPr>
          <a:xfrm>
            <a:off x="457200" y="4818888"/>
            <a:ext cx="8229600" cy="228600"/>
          </a:xfrm>
          <a:prstGeom prst="rect">
            <a:avLst/>
          </a:prstGeom>
          <a:noFill/>
        </p:spPr>
        <p:txBody>
          <a:bodyPr wrap="square" lIns="0" tIns="0" rIns="0" bIns="0" anchor="t">
            <a:spAutoFit/>
          </a:bodyPr>
          <a:lstStyle/>
          <a:p>
            <a:pPr algn="l"/>
            <a:r>
              <a:rPr sz="900" b="0">
                <a:solidFill>
                  <a:srgbClr val="555555"/>
                </a:solidFill>
                <a:latin typeface="Open Sans"/>
              </a:rPr>
              <a:t>Stage 4  |  20% of project  |  Deliverable-only  |  docs/specs/  |  see stage4-technical-specification.md</a:t>
            </a:r>
          </a:p>
        </p:txBody>
      </p:sp>
      <p:sp>
        <p:nvSpPr>
          <p:cNvPr id="6" name="Oval 5"/>
          <p:cNvSpPr/>
          <p:nvPr/>
        </p:nvSpPr>
        <p:spPr>
          <a:xfrm>
            <a:off x="45720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1</a:t>
            </a:r>
          </a:p>
        </p:txBody>
      </p:sp>
      <p:sp>
        <p:nvSpPr>
          <p:cNvPr id="7" name="TextBox 6"/>
          <p:cNvSpPr txBox="1"/>
          <p:nvPr/>
        </p:nvSpPr>
        <p:spPr>
          <a:xfrm>
            <a:off x="91440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Pick a workflow</a:t>
            </a:r>
          </a:p>
        </p:txBody>
      </p:sp>
      <p:sp>
        <p:nvSpPr>
          <p:cNvPr id="8" name="TextBox 7"/>
          <p:cNvSpPr txBox="1"/>
          <p:nvPr/>
        </p:nvSpPr>
        <p:spPr>
          <a:xfrm>
            <a:off x="914400" y="1587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Workflow A (Claude desktop / ChatGPT, no install — recommended for first-time CLI users) or Workflow B (Claude Code in your terminal). Both produce the same deliverable.</a:t>
            </a:r>
          </a:p>
        </p:txBody>
      </p:sp>
      <p:sp>
        <p:nvSpPr>
          <p:cNvPr id="9" name="Oval 8"/>
          <p:cNvSpPr/>
          <p:nvPr/>
        </p:nvSpPr>
        <p:spPr>
          <a:xfrm>
            <a:off x="457200" y="2501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2</a:t>
            </a:r>
          </a:p>
        </p:txBody>
      </p:sp>
      <p:sp>
        <p:nvSpPr>
          <p:cNvPr id="10" name="TextBox 9"/>
          <p:cNvSpPr txBox="1"/>
          <p:nvPr/>
        </p:nvSpPr>
        <p:spPr>
          <a:xfrm>
            <a:off x="914400" y="2463800"/>
            <a:ext cx="3703320" cy="256032"/>
          </a:xfrm>
          <a:prstGeom prst="rect">
            <a:avLst/>
          </a:prstGeom>
          <a:noFill/>
        </p:spPr>
        <p:txBody>
          <a:bodyPr wrap="square" lIns="0" tIns="0" rIns="0" bIns="0" anchor="t">
            <a:spAutoFit/>
          </a:bodyPr>
          <a:lstStyle/>
          <a:p>
            <a:pPr algn="l"/>
            <a:r>
              <a:rPr sz="1300" b="1">
                <a:solidFill>
                  <a:srgbClr val="024731"/>
                </a:solidFill>
                <a:latin typeface="Open Sans"/>
              </a:rPr>
              <a:t>Gather your context</a:t>
            </a:r>
          </a:p>
        </p:txBody>
      </p:sp>
      <p:sp>
        <p:nvSpPr>
          <p:cNvPr id="11" name="TextBox 10"/>
          <p:cNvSpPr txBox="1"/>
          <p:nvPr/>
        </p:nvSpPr>
        <p:spPr>
          <a:xfrm>
            <a:off x="914400" y="2730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Stage 1 template (.xlsx), Stage 3 populated workbook (.xlsx), spec template (docs/templates/spec-template.md), and this Stage 4 brief. Upload all four to the LLM.</a:t>
            </a:r>
          </a:p>
        </p:txBody>
      </p:sp>
      <p:sp>
        <p:nvSpPr>
          <p:cNvPr id="12" name="Oval 11"/>
          <p:cNvSpPr/>
          <p:nvPr/>
        </p:nvSpPr>
        <p:spPr>
          <a:xfrm>
            <a:off x="457200" y="3644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3</a:t>
            </a:r>
          </a:p>
        </p:txBody>
      </p:sp>
      <p:sp>
        <p:nvSpPr>
          <p:cNvPr id="13" name="TextBox 12"/>
          <p:cNvSpPr txBox="1"/>
          <p:nvPr/>
        </p:nvSpPr>
        <p:spPr>
          <a:xfrm>
            <a:off x="914400" y="3606800"/>
            <a:ext cx="3703320" cy="256032"/>
          </a:xfrm>
          <a:prstGeom prst="rect">
            <a:avLst/>
          </a:prstGeom>
          <a:noFill/>
        </p:spPr>
        <p:txBody>
          <a:bodyPr wrap="square" lIns="0" tIns="0" rIns="0" bIns="0" anchor="t">
            <a:spAutoFit/>
          </a:bodyPr>
          <a:lstStyle/>
          <a:p>
            <a:pPr algn="l"/>
            <a:r>
              <a:rPr sz="1300" b="1">
                <a:solidFill>
                  <a:srgbClr val="024731"/>
                </a:solidFill>
                <a:latin typeface="Open Sans"/>
              </a:rPr>
              <a:t>Prompt for the draft</a:t>
            </a:r>
          </a:p>
        </p:txBody>
      </p:sp>
      <p:sp>
        <p:nvSpPr>
          <p:cNvPr id="14" name="TextBox 13"/>
          <p:cNvSpPr txBox="1"/>
          <p:nvPr/>
        </p:nvSpPr>
        <p:spPr>
          <a:xfrm>
            <a:off x="914400" y="3873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Ask the LLM to draft Part A (Model Spec, items 1–7) + Part B (Analysis Spec, items 8–11) using named-range notation. Insist on numeric Data Inputs from your Stage 3 workbook.</a:t>
            </a:r>
          </a:p>
        </p:txBody>
      </p:sp>
      <p:sp>
        <p:nvSpPr>
          <p:cNvPr id="15" name="Oval 14"/>
          <p:cNvSpPr/>
          <p:nvPr/>
        </p:nvSpPr>
        <p:spPr>
          <a:xfrm>
            <a:off x="470916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4</a:t>
            </a:r>
          </a:p>
        </p:txBody>
      </p:sp>
      <p:sp>
        <p:nvSpPr>
          <p:cNvPr id="16" name="TextBox 15"/>
          <p:cNvSpPr txBox="1"/>
          <p:nvPr/>
        </p:nvSpPr>
        <p:spPr>
          <a:xfrm>
            <a:off x="516636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Run the HIL iteration</a:t>
            </a:r>
          </a:p>
        </p:txBody>
      </p:sp>
      <p:sp>
        <p:nvSpPr>
          <p:cNvPr id="17" name="TextBox 16"/>
          <p:cNvSpPr txBox="1"/>
          <p:nvPr/>
        </p:nvSpPr>
        <p:spPr>
          <a:xfrm>
            <a:off x="5166360" y="1587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Read the LLM's draft critically. Identify one consequential gap (a missing value, an ambiguous formula, an unclear instruction). Revise either the prompt or the spec to address it.</a:t>
            </a:r>
          </a:p>
        </p:txBody>
      </p:sp>
      <p:sp>
        <p:nvSpPr>
          <p:cNvPr id="18" name="Oval 17"/>
          <p:cNvSpPr/>
          <p:nvPr/>
        </p:nvSpPr>
        <p:spPr>
          <a:xfrm>
            <a:off x="4709160" y="2501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5</a:t>
            </a:r>
          </a:p>
        </p:txBody>
      </p:sp>
      <p:sp>
        <p:nvSpPr>
          <p:cNvPr id="19" name="TextBox 18"/>
          <p:cNvSpPr txBox="1"/>
          <p:nvPr/>
        </p:nvSpPr>
        <p:spPr>
          <a:xfrm>
            <a:off x="5166360" y="2463800"/>
            <a:ext cx="3703320" cy="256032"/>
          </a:xfrm>
          <a:prstGeom prst="rect">
            <a:avLst/>
          </a:prstGeom>
          <a:noFill/>
        </p:spPr>
        <p:txBody>
          <a:bodyPr wrap="square" lIns="0" tIns="0" rIns="0" bIns="0" anchor="t">
            <a:spAutoFit/>
          </a:bodyPr>
          <a:lstStyle/>
          <a:p>
            <a:pPr algn="l"/>
            <a:r>
              <a:rPr sz="1300" b="1">
                <a:solidFill>
                  <a:srgbClr val="024731"/>
                </a:solidFill>
                <a:latin typeface="Open Sans"/>
              </a:rPr>
              <a:t>Document the HIL pass</a:t>
            </a:r>
          </a:p>
        </p:txBody>
      </p:sp>
      <p:sp>
        <p:nvSpPr>
          <p:cNvPr id="20" name="TextBox 19"/>
          <p:cNvSpPr txBox="1"/>
          <p:nvPr/>
        </p:nvSpPr>
        <p:spPr>
          <a:xfrm>
            <a:off x="5166360" y="2730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Easiest path: write a 150–250 word before/after note in your prompt log. Alternatives: a round-2 prompt entry, or a side-by-side diff file in analysis/validation/.</a:t>
            </a:r>
          </a:p>
        </p:txBody>
      </p:sp>
      <p:sp>
        <p:nvSpPr>
          <p:cNvPr id="21" name="Oval 20"/>
          <p:cNvSpPr/>
          <p:nvPr/>
        </p:nvSpPr>
        <p:spPr>
          <a:xfrm>
            <a:off x="4709160" y="3644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6</a:t>
            </a:r>
          </a:p>
        </p:txBody>
      </p:sp>
      <p:sp>
        <p:nvSpPr>
          <p:cNvPr id="22" name="TextBox 21"/>
          <p:cNvSpPr txBox="1"/>
          <p:nvPr/>
        </p:nvSpPr>
        <p:spPr>
          <a:xfrm>
            <a:off x="5166360" y="3606800"/>
            <a:ext cx="3703320" cy="256032"/>
          </a:xfrm>
          <a:prstGeom prst="rect">
            <a:avLst/>
          </a:prstGeom>
          <a:noFill/>
        </p:spPr>
        <p:txBody>
          <a:bodyPr wrap="square" lIns="0" tIns="0" rIns="0" bIns="0" anchor="t">
            <a:spAutoFit/>
          </a:bodyPr>
          <a:lstStyle/>
          <a:p>
            <a:pPr algn="l"/>
            <a:r>
              <a:rPr sz="1300" b="1">
                <a:solidFill>
                  <a:srgbClr val="024731"/>
                </a:solidFill>
                <a:latin typeface="Open Sans"/>
              </a:rPr>
              <a:t>Save &amp; commit the spec</a:t>
            </a:r>
          </a:p>
        </p:txBody>
      </p:sp>
      <p:sp>
        <p:nvSpPr>
          <p:cNvPr id="23" name="TextBox 22"/>
          <p:cNvSpPr txBox="1"/>
          <p:nvPr/>
        </p:nvSpPr>
        <p:spPr>
          <a:xfrm>
            <a:off x="5166360" y="3873500"/>
            <a:ext cx="3703320" cy="825500"/>
          </a:xfrm>
          <a:prstGeom prst="rect">
            <a:avLst/>
          </a:prstGeom>
          <a:noFill/>
        </p:spPr>
        <p:txBody>
          <a:bodyPr wrap="square" lIns="0" tIns="0" rIns="0" bIns="0" anchor="t">
            <a:spAutoFit/>
          </a:bodyPr>
          <a:lstStyle/>
          <a:p>
            <a:pPr algn="l">
              <a:lnSpc>
                <a:spcPct val="115000"/>
              </a:lnSpc>
            </a:pPr>
            <a:r>
              <a:rPr sz="1050" b="0">
                <a:solidFill>
                  <a:srgbClr val="0D0D0D"/>
                </a:solidFill>
                <a:latin typeface="Open Sans"/>
              </a:rPr>
              <a:t>Save the final spec to docs/specs/YYYY-MM-DD-{lastname}-{company}-spec.md. Update deliverables/prompt-log.md with each meaningful prompt session. Commit and push.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BFA0-4D01-5AAA-D79C-6BB4B52A835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374225-1992-C4CF-9313-6D7F8C783623}"/>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3C0ADF11-2DA6-4C9A-4323-902E407A1DB4}"/>
              </a:ext>
            </a:extLst>
          </p:cNvPr>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STAGE 5</a:t>
            </a:r>
            <a:endParaRPr lang="en-US" sz="1400" dirty="0"/>
          </a:p>
        </p:txBody>
      </p:sp>
      <p:sp>
        <p:nvSpPr>
          <p:cNvPr id="4" name="Text 2">
            <a:extLst>
              <a:ext uri="{FF2B5EF4-FFF2-40B4-BE49-F238E27FC236}">
                <a16:creationId xmlns:a16="http://schemas.microsoft.com/office/drawing/2014/main" id="{061844DB-524A-6AD9-D183-05F7571B3C9C}"/>
              </a:ext>
            </a:extLst>
          </p:cNvPr>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Standardized Analysis Leveraging LLMs &amp; Agents</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C691E501-B474-6208-FFA7-39F8B158C131}"/>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7BB30C55-D73E-56E8-C40B-F2AE19AD9AEC}"/>
              </a:ext>
            </a:extLst>
          </p:cNvPr>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600" dirty="0">
                <a:solidFill>
                  <a:srgbClr val="36454F"/>
                </a:solidFill>
              </a:rPr>
              <a:t>Run your Stage 4 prompt through Claude, verify every number, and polish the repo into a portfolio-ready deliverable.</a:t>
            </a:r>
          </a:p>
        </p:txBody>
      </p:sp>
      <p:pic>
        <p:nvPicPr>
          <p:cNvPr id="7" name="Image 0" descr="preencoded.png">
            <a:extLst>
              <a:ext uri="{FF2B5EF4-FFF2-40B4-BE49-F238E27FC236}">
                <a16:creationId xmlns:a16="http://schemas.microsoft.com/office/drawing/2014/main" id="{00577F53-3F4D-B79C-5F1C-A1677FA0F043}"/>
              </a:ext>
            </a:extLst>
          </p:cNvPr>
          <p:cNvPicPr>
            <a:picLocks noChangeAspect="1"/>
          </p:cNvPicPr>
          <p:nvPr/>
        </p:nvPicPr>
        <p:blipFill>
          <a:blip r:embed="rId3"/>
          <a:stretch>
            <a:fillRect/>
          </a:stretch>
        </p:blipFill>
        <p:spPr>
          <a:xfrm>
            <a:off x="7132320" y="3017520"/>
            <a:ext cx="1097280" cy="1097280"/>
          </a:xfrm>
          <a:prstGeom prst="rect">
            <a:avLst/>
          </a:prstGeom>
        </p:spPr>
      </p:pic>
      <p:sp>
        <p:nvSpPr>
          <p:cNvPr id="8" name="Text 5">
            <a:extLst>
              <a:ext uri="{FF2B5EF4-FFF2-40B4-BE49-F238E27FC236}">
                <a16:creationId xmlns:a16="http://schemas.microsoft.com/office/drawing/2014/main" id="{7B683DE2-9EF8-DD81-453F-C22C35490221}"/>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4244585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5 — LLM Analysis &amp; Executive Evaluation</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25% of project  |  Full analysis + LLM evaluation + repo polish  |  Deliverable-only — no in-class presentation this semester</a:t>
            </a:r>
            <a:endParaRPr lang="en-US" sz="1100" dirty="0"/>
          </a:p>
        </p:txBody>
      </p:sp>
      <p:sp>
        <p:nvSpPr>
          <p:cNvPr id="5" name="Text 3"/>
          <p:cNvSpPr/>
          <p:nvPr/>
        </p:nvSpPr>
        <p:spPr>
          <a:xfrm>
            <a:off x="548640" y="1051560"/>
            <a:ext cx="36576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How It Works</a:t>
            </a:r>
            <a:endParaRPr lang="en-US" sz="1400" dirty="0"/>
          </a:p>
        </p:txBody>
      </p:sp>
      <p:sp>
        <p:nvSpPr>
          <p:cNvPr id="6" name="Shape 4"/>
          <p:cNvSpPr/>
          <p:nvPr/>
        </p:nvSpPr>
        <p:spPr>
          <a:xfrm>
            <a:off x="594360" y="1463040"/>
            <a:ext cx="274320" cy="274320"/>
          </a:xfrm>
          <a:prstGeom prst="ellipse">
            <a:avLst/>
          </a:prstGeom>
          <a:solidFill>
            <a:srgbClr val="024731"/>
          </a:solidFill>
          <a:ln/>
        </p:spPr>
        <p:txBody>
          <a:bodyPr/>
          <a:lstStyle/>
          <a:p>
            <a:endParaRPr lang="en-US"/>
          </a:p>
        </p:txBody>
      </p:sp>
      <p:sp>
        <p:nvSpPr>
          <p:cNvPr id="7" name="Text 5"/>
          <p:cNvSpPr/>
          <p:nvPr/>
        </p:nvSpPr>
        <p:spPr>
          <a:xfrm>
            <a:off x="594360" y="1463040"/>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1</a:t>
            </a:r>
            <a:endParaRPr lang="en-US" sz="1100" dirty="0"/>
          </a:p>
        </p:txBody>
      </p:sp>
      <p:sp>
        <p:nvSpPr>
          <p:cNvPr id="8" name="Text 6"/>
          <p:cNvSpPr/>
          <p:nvPr/>
        </p:nvSpPr>
        <p:spPr>
          <a:xfrm>
            <a:off x="1005840" y="1463040"/>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Paste your Stage 4 spec into an LLM — nothing else</a:t>
            </a:r>
            <a:endParaRPr lang="en-US" sz="1100" dirty="0"/>
          </a:p>
        </p:txBody>
      </p:sp>
      <p:sp>
        <p:nvSpPr>
          <p:cNvPr id="9" name="Shape 7"/>
          <p:cNvSpPr/>
          <p:nvPr/>
        </p:nvSpPr>
        <p:spPr>
          <a:xfrm>
            <a:off x="594360" y="1847088"/>
            <a:ext cx="274320" cy="274320"/>
          </a:xfrm>
          <a:prstGeom prst="ellipse">
            <a:avLst/>
          </a:prstGeom>
          <a:solidFill>
            <a:srgbClr val="024731"/>
          </a:solidFill>
          <a:ln/>
        </p:spPr>
        <p:txBody>
          <a:bodyPr/>
          <a:lstStyle/>
          <a:p>
            <a:endParaRPr lang="en-US"/>
          </a:p>
        </p:txBody>
      </p:sp>
      <p:sp>
        <p:nvSpPr>
          <p:cNvPr id="10" name="Text 8"/>
          <p:cNvSpPr/>
          <p:nvPr/>
        </p:nvSpPr>
        <p:spPr>
          <a:xfrm>
            <a:off x="594360" y="1847088"/>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2</a:t>
            </a:r>
            <a:endParaRPr lang="en-US" sz="1100" dirty="0"/>
          </a:p>
        </p:txBody>
      </p:sp>
      <p:sp>
        <p:nvSpPr>
          <p:cNvPr id="11" name="Text 9"/>
          <p:cNvSpPr/>
          <p:nvPr/>
        </p:nvSpPr>
        <p:spPr>
          <a:xfrm>
            <a:off x="1005840" y="1847088"/>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Save the raw, unedited LLM response</a:t>
            </a:r>
            <a:endParaRPr lang="en-US" sz="1100" dirty="0"/>
          </a:p>
        </p:txBody>
      </p:sp>
      <p:sp>
        <p:nvSpPr>
          <p:cNvPr id="12" name="Shape 10"/>
          <p:cNvSpPr/>
          <p:nvPr/>
        </p:nvSpPr>
        <p:spPr>
          <a:xfrm>
            <a:off x="594360" y="2231136"/>
            <a:ext cx="274320" cy="274320"/>
          </a:xfrm>
          <a:prstGeom prst="ellipse">
            <a:avLst/>
          </a:prstGeom>
          <a:solidFill>
            <a:srgbClr val="024731"/>
          </a:solidFill>
          <a:ln/>
        </p:spPr>
        <p:txBody>
          <a:bodyPr/>
          <a:lstStyle/>
          <a:p>
            <a:endParaRPr lang="en-US"/>
          </a:p>
        </p:txBody>
      </p:sp>
      <p:sp>
        <p:nvSpPr>
          <p:cNvPr id="13" name="Text 11"/>
          <p:cNvSpPr/>
          <p:nvPr/>
        </p:nvSpPr>
        <p:spPr>
          <a:xfrm>
            <a:off x="594360" y="2231136"/>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3</a:t>
            </a:r>
            <a:endParaRPr lang="en-US" sz="1100" dirty="0"/>
          </a:p>
        </p:txBody>
      </p:sp>
      <p:sp>
        <p:nvSpPr>
          <p:cNvPr id="14" name="Text 12"/>
          <p:cNvSpPr/>
          <p:nvPr/>
        </p:nvSpPr>
        <p:spPr>
          <a:xfrm>
            <a:off x="1005840" y="2231136"/>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Compare against your Stage 3 model</a:t>
            </a:r>
            <a:endParaRPr lang="en-US" sz="1100" dirty="0"/>
          </a:p>
        </p:txBody>
      </p:sp>
      <p:sp>
        <p:nvSpPr>
          <p:cNvPr id="15" name="Shape 13"/>
          <p:cNvSpPr/>
          <p:nvPr/>
        </p:nvSpPr>
        <p:spPr>
          <a:xfrm>
            <a:off x="594360" y="2615184"/>
            <a:ext cx="274320" cy="274320"/>
          </a:xfrm>
          <a:prstGeom prst="ellipse">
            <a:avLst/>
          </a:prstGeom>
          <a:solidFill>
            <a:srgbClr val="024731"/>
          </a:solidFill>
          <a:ln/>
        </p:spPr>
        <p:txBody>
          <a:bodyPr/>
          <a:lstStyle/>
          <a:p>
            <a:endParaRPr lang="en-US"/>
          </a:p>
        </p:txBody>
      </p:sp>
      <p:sp>
        <p:nvSpPr>
          <p:cNvPr id="16" name="Text 14"/>
          <p:cNvSpPr/>
          <p:nvPr/>
        </p:nvSpPr>
        <p:spPr>
          <a:xfrm>
            <a:off x="594360" y="2615184"/>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4</a:t>
            </a:r>
            <a:endParaRPr lang="en-US" sz="1100" dirty="0"/>
          </a:p>
        </p:txBody>
      </p:sp>
      <p:sp>
        <p:nvSpPr>
          <p:cNvPr id="17" name="Text 15"/>
          <p:cNvSpPr/>
          <p:nvPr/>
        </p:nvSpPr>
        <p:spPr>
          <a:xfrm>
            <a:off x="1005840" y="2615184"/>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Evaluate, correct, and annotate the output</a:t>
            </a:r>
            <a:endParaRPr lang="en-US" sz="1100" dirty="0"/>
          </a:p>
        </p:txBody>
      </p:sp>
      <p:sp>
        <p:nvSpPr>
          <p:cNvPr id="18" name="Shape 16"/>
          <p:cNvSpPr/>
          <p:nvPr/>
        </p:nvSpPr>
        <p:spPr>
          <a:xfrm>
            <a:off x="594360" y="2999232"/>
            <a:ext cx="274320" cy="274320"/>
          </a:xfrm>
          <a:prstGeom prst="ellipse">
            <a:avLst/>
          </a:prstGeom>
          <a:solidFill>
            <a:srgbClr val="024731"/>
          </a:solidFill>
          <a:ln/>
        </p:spPr>
        <p:txBody>
          <a:bodyPr/>
          <a:lstStyle/>
          <a:p>
            <a:endParaRPr lang="en-US"/>
          </a:p>
        </p:txBody>
      </p:sp>
      <p:sp>
        <p:nvSpPr>
          <p:cNvPr id="19" name="Text 17"/>
          <p:cNvSpPr/>
          <p:nvPr/>
        </p:nvSpPr>
        <p:spPr>
          <a:xfrm>
            <a:off x="594360" y="2999232"/>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5</a:t>
            </a:r>
            <a:endParaRPr lang="en-US" sz="1100" dirty="0"/>
          </a:p>
        </p:txBody>
      </p:sp>
      <p:sp>
        <p:nvSpPr>
          <p:cNvPr id="20" name="Text 18"/>
          <p:cNvSpPr/>
          <p:nvPr/>
        </p:nvSpPr>
        <p:spPr>
          <a:xfrm>
            <a:off x="1005840" y="2999232"/>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Write your own executive justification</a:t>
            </a:r>
            <a:endParaRPr lang="en-US" sz="1100" dirty="0"/>
          </a:p>
        </p:txBody>
      </p:sp>
      <p:sp>
        <p:nvSpPr>
          <p:cNvPr id="21" name="Shape 19"/>
          <p:cNvSpPr/>
          <p:nvPr/>
        </p:nvSpPr>
        <p:spPr>
          <a:xfrm>
            <a:off x="4937760" y="1051560"/>
            <a:ext cx="3840480" cy="379476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22" name="Text 20"/>
          <p:cNvSpPr/>
          <p:nvPr/>
        </p:nvSpPr>
        <p:spPr>
          <a:xfrm>
            <a:off x="5120640" y="1143000"/>
            <a:ext cx="347472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Evaluated Final Analysis Sections</a:t>
            </a:r>
            <a:endParaRPr lang="en-US" sz="1200" dirty="0"/>
          </a:p>
        </p:txBody>
      </p:sp>
      <p:sp>
        <p:nvSpPr>
          <p:cNvPr id="23" name="Text 21"/>
          <p:cNvSpPr/>
          <p:nvPr/>
        </p:nvSpPr>
        <p:spPr>
          <a:xfrm>
            <a:off x="5212080" y="15544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1.</a:t>
            </a:r>
            <a:endParaRPr lang="en-US" sz="1100" dirty="0"/>
          </a:p>
        </p:txBody>
      </p:sp>
      <p:sp>
        <p:nvSpPr>
          <p:cNvPr id="24" name="Text 22"/>
          <p:cNvSpPr/>
          <p:nvPr/>
        </p:nvSpPr>
        <p:spPr>
          <a:xfrm>
            <a:off x="5486400" y="15544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Company &amp; Data Summary</a:t>
            </a:r>
            <a:endParaRPr lang="en-US" sz="1000" dirty="0"/>
          </a:p>
        </p:txBody>
      </p:sp>
      <p:sp>
        <p:nvSpPr>
          <p:cNvPr id="25" name="Text 23"/>
          <p:cNvSpPr/>
          <p:nvPr/>
        </p:nvSpPr>
        <p:spPr>
          <a:xfrm>
            <a:off x="5212080" y="20116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2.</a:t>
            </a:r>
            <a:endParaRPr lang="en-US" sz="1100" dirty="0"/>
          </a:p>
        </p:txBody>
      </p:sp>
      <p:sp>
        <p:nvSpPr>
          <p:cNvPr id="26" name="Text 24"/>
          <p:cNvSpPr/>
          <p:nvPr/>
        </p:nvSpPr>
        <p:spPr>
          <a:xfrm>
            <a:off x="5486400" y="20116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Ratio Results &amp; Interpretation (all 6 categories)</a:t>
            </a:r>
            <a:endParaRPr lang="en-US" sz="1000" dirty="0"/>
          </a:p>
        </p:txBody>
      </p:sp>
      <p:sp>
        <p:nvSpPr>
          <p:cNvPr id="27" name="Text 25"/>
          <p:cNvSpPr/>
          <p:nvPr/>
        </p:nvSpPr>
        <p:spPr>
          <a:xfrm>
            <a:off x="5212080" y="24688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3.</a:t>
            </a:r>
            <a:endParaRPr lang="en-US" sz="1100" dirty="0"/>
          </a:p>
        </p:txBody>
      </p:sp>
      <p:sp>
        <p:nvSpPr>
          <p:cNvPr id="28" name="Text 26"/>
          <p:cNvSpPr/>
          <p:nvPr/>
        </p:nvSpPr>
        <p:spPr>
          <a:xfrm>
            <a:off x="5486400" y="24688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Du Pont Analysis with your commentary</a:t>
            </a:r>
            <a:endParaRPr lang="en-US" sz="1000" dirty="0"/>
          </a:p>
        </p:txBody>
      </p:sp>
      <p:sp>
        <p:nvSpPr>
          <p:cNvPr id="29" name="Text 27"/>
          <p:cNvSpPr/>
          <p:nvPr/>
        </p:nvSpPr>
        <p:spPr>
          <a:xfrm>
            <a:off x="5212080" y="29260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4.</a:t>
            </a:r>
            <a:endParaRPr lang="en-US" sz="1100" dirty="0"/>
          </a:p>
        </p:txBody>
      </p:sp>
      <p:sp>
        <p:nvSpPr>
          <p:cNvPr id="30" name="Text 28"/>
          <p:cNvSpPr/>
          <p:nvPr/>
        </p:nvSpPr>
        <p:spPr>
          <a:xfrm>
            <a:off x="5486400" y="29260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Strategic Recommendations (3–5, data-supported)</a:t>
            </a:r>
            <a:endParaRPr lang="en-US" sz="1000" dirty="0"/>
          </a:p>
        </p:txBody>
      </p:sp>
      <p:sp>
        <p:nvSpPr>
          <p:cNvPr id="31" name="Text 29"/>
          <p:cNvSpPr/>
          <p:nvPr/>
        </p:nvSpPr>
        <p:spPr>
          <a:xfrm>
            <a:off x="5212080" y="33832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5.</a:t>
            </a:r>
            <a:endParaRPr lang="en-US" sz="1100" dirty="0"/>
          </a:p>
        </p:txBody>
      </p:sp>
      <p:sp>
        <p:nvSpPr>
          <p:cNvPr id="32" name="Text 30"/>
          <p:cNvSpPr/>
          <p:nvPr/>
        </p:nvSpPr>
        <p:spPr>
          <a:xfrm>
            <a:off x="5486400" y="33832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LLM Evaluation &amp; Annotations</a:t>
            </a:r>
            <a:endParaRPr lang="en-US" sz="1000" dirty="0"/>
          </a:p>
        </p:txBody>
      </p:sp>
      <p:sp>
        <p:nvSpPr>
          <p:cNvPr id="35" name="Text 33"/>
          <p:cNvSpPr/>
          <p:nvPr/>
        </p:nvSpPr>
        <p:spPr>
          <a:xfrm>
            <a:off x="5212080" y="38404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6.</a:t>
            </a:r>
            <a:endParaRPr lang="en-US" sz="1100" dirty="0"/>
          </a:p>
        </p:txBody>
      </p:sp>
      <p:sp>
        <p:nvSpPr>
          <p:cNvPr id="36" name="Text 34"/>
          <p:cNvSpPr/>
          <p:nvPr/>
        </p:nvSpPr>
        <p:spPr>
          <a:xfrm>
            <a:off x="5486400" y="3773250"/>
            <a:ext cx="3108960" cy="36576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Executive Justification (your voice, not the LLM’s)</a:t>
            </a:r>
            <a:endParaRPr lang="en-US" sz="1000" dirty="0"/>
          </a:p>
        </p:txBody>
      </p:sp>
      <p:sp>
        <p:nvSpPr>
          <p:cNvPr id="37" name="Shape 35"/>
          <p:cNvSpPr/>
          <p:nvPr/>
        </p:nvSpPr>
        <p:spPr>
          <a:xfrm>
            <a:off x="457200" y="4434840"/>
            <a:ext cx="8229600" cy="457200"/>
          </a:xfrm>
          <a:prstGeom prst="rect">
            <a:avLst/>
          </a:prstGeom>
          <a:solidFill>
            <a:srgbClr val="024731"/>
          </a:solidFill>
          <a:ln/>
        </p:spPr>
        <p:txBody>
          <a:bodyPr/>
          <a:lstStyle/>
          <a:p>
            <a:endParaRPr lang="en-US"/>
          </a:p>
        </p:txBody>
      </p:sp>
      <p:sp>
        <p:nvSpPr>
          <p:cNvPr id="38" name="Text 36"/>
          <p:cNvSpPr/>
          <p:nvPr/>
        </p:nvSpPr>
        <p:spPr>
          <a:xfrm>
            <a:off x="594360" y="4453128"/>
            <a:ext cx="7955280" cy="41148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The future of finance: specify the work, evaluate the output, take responsibility for the final product.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8229600" cy="369332"/>
          </a:xfrm>
          <a:prstGeom prst="rect">
            <a:avLst/>
          </a:prstGeom>
          <a:noFill/>
        </p:spPr>
        <p:txBody>
          <a:bodyPr wrap="square" lIns="0" tIns="0" rIns="0" bIns="0" anchor="t">
            <a:spAutoFit/>
          </a:bodyPr>
          <a:lstStyle/>
          <a:p>
            <a:pPr algn="l"/>
            <a:r>
              <a:rPr sz="2400" b="1" dirty="0">
                <a:solidFill>
                  <a:srgbClr val="024731"/>
                </a:solidFill>
                <a:latin typeface="Open Sans"/>
              </a:rPr>
              <a:t>Stage 5 — LLM Analysis &amp; Repo Polish  |  Step by Step</a:t>
            </a:r>
          </a:p>
        </p:txBody>
      </p:sp>
      <p:sp>
        <p:nvSpPr>
          <p:cNvPr id="4" name="TextBox 3"/>
          <p:cNvSpPr txBox="1"/>
          <p:nvPr/>
        </p:nvSpPr>
        <p:spPr>
          <a:xfrm>
            <a:off x="457200" y="841248"/>
            <a:ext cx="8229600" cy="320040"/>
          </a:xfrm>
          <a:prstGeom prst="rect">
            <a:avLst/>
          </a:prstGeom>
          <a:noFill/>
        </p:spPr>
        <p:txBody>
          <a:bodyPr wrap="square" lIns="0" tIns="0" rIns="0" bIns="0" anchor="t">
            <a:spAutoFit/>
          </a:bodyPr>
          <a:lstStyle/>
          <a:p>
            <a:pPr algn="l"/>
            <a:r>
              <a:rPr sz="1200" b="0" dirty="0">
                <a:solidFill>
                  <a:srgbClr val="555555"/>
                </a:solidFill>
                <a:latin typeface="Open Sans"/>
              </a:rPr>
              <a:t>Execute → Verify → Evaluate → Retrospect → Polish. Your repo URL is the portfolio piece.</a:t>
            </a:r>
          </a:p>
        </p:txBody>
      </p:sp>
      <p:sp>
        <p:nvSpPr>
          <p:cNvPr id="5" name="TextBox 4"/>
          <p:cNvSpPr txBox="1"/>
          <p:nvPr/>
        </p:nvSpPr>
        <p:spPr>
          <a:xfrm>
            <a:off x="457200" y="4818888"/>
            <a:ext cx="8229600" cy="228600"/>
          </a:xfrm>
          <a:prstGeom prst="rect">
            <a:avLst/>
          </a:prstGeom>
          <a:noFill/>
        </p:spPr>
        <p:txBody>
          <a:bodyPr wrap="square" lIns="0" tIns="0" rIns="0" bIns="0" anchor="t">
            <a:spAutoFit/>
          </a:bodyPr>
          <a:lstStyle/>
          <a:p>
            <a:pPr algn="l"/>
            <a:r>
              <a:rPr sz="900" b="0">
                <a:solidFill>
                  <a:srgbClr val="555555"/>
                </a:solidFill>
                <a:latin typeface="Open Sans"/>
              </a:rPr>
              <a:t>Stage 5  |  25% of project  |  Deliverable-only  |  deliverables/ + repo polish  |  see stage5-llm-analysis-evaluation.md</a:t>
            </a:r>
          </a:p>
        </p:txBody>
      </p:sp>
      <p:sp>
        <p:nvSpPr>
          <p:cNvPr id="6" name="Oval 5"/>
          <p:cNvSpPr/>
          <p:nvPr/>
        </p:nvSpPr>
        <p:spPr>
          <a:xfrm>
            <a:off x="45720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1</a:t>
            </a:r>
          </a:p>
        </p:txBody>
      </p:sp>
      <p:sp>
        <p:nvSpPr>
          <p:cNvPr id="7" name="TextBox 6"/>
          <p:cNvSpPr txBox="1"/>
          <p:nvPr/>
        </p:nvSpPr>
        <p:spPr>
          <a:xfrm>
            <a:off x="91440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Execute the spec</a:t>
            </a:r>
          </a:p>
        </p:txBody>
      </p:sp>
      <p:sp>
        <p:nvSpPr>
          <p:cNvPr id="8" name="TextBox 7"/>
          <p:cNvSpPr txBox="1"/>
          <p:nvPr/>
        </p:nvSpPr>
        <p:spPr>
          <a:xfrm>
            <a:off x="914400" y="1587500"/>
            <a:ext cx="3703320" cy="493853"/>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Open a fresh LLM session. Paste your Stage 4 spec — nothing else, no extra context. Save the unedited response to deliverables/...-llm-raw.md.</a:t>
            </a:r>
          </a:p>
        </p:txBody>
      </p:sp>
      <p:sp>
        <p:nvSpPr>
          <p:cNvPr id="9" name="Oval 8"/>
          <p:cNvSpPr/>
          <p:nvPr/>
        </p:nvSpPr>
        <p:spPr>
          <a:xfrm>
            <a:off x="457200" y="22098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2</a:t>
            </a:r>
          </a:p>
        </p:txBody>
      </p:sp>
      <p:sp>
        <p:nvSpPr>
          <p:cNvPr id="10" name="TextBox 9"/>
          <p:cNvSpPr txBox="1"/>
          <p:nvPr/>
        </p:nvSpPr>
        <p:spPr>
          <a:xfrm>
            <a:off x="914400" y="2171700"/>
            <a:ext cx="3703320" cy="256032"/>
          </a:xfrm>
          <a:prstGeom prst="rect">
            <a:avLst/>
          </a:prstGeom>
          <a:noFill/>
        </p:spPr>
        <p:txBody>
          <a:bodyPr wrap="square" lIns="0" tIns="0" rIns="0" bIns="0" anchor="t">
            <a:spAutoFit/>
          </a:bodyPr>
          <a:lstStyle/>
          <a:p>
            <a:pPr algn="l"/>
            <a:r>
              <a:rPr sz="1300" b="1">
                <a:solidFill>
                  <a:srgbClr val="024731"/>
                </a:solidFill>
                <a:latin typeface="Open Sans"/>
              </a:rPr>
              <a:t>Verify ≥5 ratios manually</a:t>
            </a:r>
          </a:p>
        </p:txBody>
      </p:sp>
      <p:sp>
        <p:nvSpPr>
          <p:cNvPr id="11" name="TextBox 10"/>
          <p:cNvSpPr txBox="1"/>
          <p:nvPr/>
        </p:nvSpPr>
        <p:spPr>
          <a:xfrm>
            <a:off x="914400" y="2438400"/>
            <a:ext cx="3703320" cy="493853"/>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Recompute by hand from your Stage 3 financials. Build the table at analysis/validation/...-stage5-verification.md. Flag discrepancies with one-line explanations.</a:t>
            </a:r>
          </a:p>
        </p:txBody>
      </p:sp>
      <p:sp>
        <p:nvSpPr>
          <p:cNvPr id="12" name="Oval 11"/>
          <p:cNvSpPr/>
          <p:nvPr/>
        </p:nvSpPr>
        <p:spPr>
          <a:xfrm>
            <a:off x="457200" y="30607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3</a:t>
            </a:r>
          </a:p>
        </p:txBody>
      </p:sp>
      <p:sp>
        <p:nvSpPr>
          <p:cNvPr id="13" name="TextBox 12"/>
          <p:cNvSpPr txBox="1"/>
          <p:nvPr/>
        </p:nvSpPr>
        <p:spPr>
          <a:xfrm>
            <a:off x="914400" y="3022600"/>
            <a:ext cx="3703320" cy="256032"/>
          </a:xfrm>
          <a:prstGeom prst="rect">
            <a:avLst/>
          </a:prstGeom>
          <a:noFill/>
        </p:spPr>
        <p:txBody>
          <a:bodyPr wrap="square" lIns="0" tIns="0" rIns="0" bIns="0" anchor="t">
            <a:spAutoFit/>
          </a:bodyPr>
          <a:lstStyle/>
          <a:p>
            <a:pPr algn="l"/>
            <a:r>
              <a:rPr sz="1300" b="1">
                <a:solidFill>
                  <a:srgbClr val="024731"/>
                </a:solidFill>
                <a:latin typeface="Open Sans"/>
              </a:rPr>
              <a:t>Write the evaluated final analysis</a:t>
            </a:r>
          </a:p>
        </p:txBody>
      </p:sp>
      <p:sp>
        <p:nvSpPr>
          <p:cNvPr id="14" name="TextBox 13"/>
          <p:cNvSpPr txBox="1"/>
          <p:nvPr/>
        </p:nvSpPr>
        <p:spPr>
          <a:xfrm>
            <a:off x="914400" y="3289300"/>
            <a:ext cx="3703320" cy="493853"/>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Edit, correct, annotate the LLM's draft. All six categories + Du Pont + recommendations + LLM evaluation + your own executive justification.</a:t>
            </a:r>
          </a:p>
        </p:txBody>
      </p:sp>
      <p:sp>
        <p:nvSpPr>
          <p:cNvPr id="15" name="Oval 14"/>
          <p:cNvSpPr/>
          <p:nvPr/>
        </p:nvSpPr>
        <p:spPr>
          <a:xfrm>
            <a:off x="457200" y="39116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4</a:t>
            </a:r>
          </a:p>
        </p:txBody>
      </p:sp>
      <p:sp>
        <p:nvSpPr>
          <p:cNvPr id="16" name="TextBox 15"/>
          <p:cNvSpPr txBox="1"/>
          <p:nvPr/>
        </p:nvSpPr>
        <p:spPr>
          <a:xfrm>
            <a:off x="914400" y="3873500"/>
            <a:ext cx="3703320" cy="256032"/>
          </a:xfrm>
          <a:prstGeom prst="rect">
            <a:avLst/>
          </a:prstGeom>
          <a:noFill/>
        </p:spPr>
        <p:txBody>
          <a:bodyPr wrap="square" lIns="0" tIns="0" rIns="0" bIns="0" anchor="t">
            <a:spAutoFit/>
          </a:bodyPr>
          <a:lstStyle/>
          <a:p>
            <a:pPr algn="l"/>
            <a:r>
              <a:rPr sz="1300" b="1">
                <a:solidFill>
                  <a:srgbClr val="024731"/>
                </a:solidFill>
                <a:latin typeface="Open Sans"/>
              </a:rPr>
              <a:t>Fill out the spec retrospective</a:t>
            </a:r>
          </a:p>
        </p:txBody>
      </p:sp>
      <p:sp>
        <p:nvSpPr>
          <p:cNvPr id="17" name="TextBox 16"/>
          <p:cNvSpPr txBox="1"/>
          <p:nvPr/>
        </p:nvSpPr>
        <p:spPr>
          <a:xfrm>
            <a:off x="914400" y="4140200"/>
            <a:ext cx="3703320" cy="493853"/>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Use docs/templates/spec-retrospective-template.md. Section verdicts (Clear/Vague/Missing), top 3 gaps with evidence, effectiveness rating 1–5 with justification.</a:t>
            </a:r>
          </a:p>
        </p:txBody>
      </p:sp>
      <p:sp>
        <p:nvSpPr>
          <p:cNvPr id="18" name="Oval 17"/>
          <p:cNvSpPr/>
          <p:nvPr/>
        </p:nvSpPr>
        <p:spPr>
          <a:xfrm>
            <a:off x="4709160" y="13589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5</a:t>
            </a:r>
          </a:p>
        </p:txBody>
      </p:sp>
      <p:sp>
        <p:nvSpPr>
          <p:cNvPr id="19" name="TextBox 18"/>
          <p:cNvSpPr txBox="1"/>
          <p:nvPr/>
        </p:nvSpPr>
        <p:spPr>
          <a:xfrm>
            <a:off x="5166360" y="1320800"/>
            <a:ext cx="3703320" cy="256032"/>
          </a:xfrm>
          <a:prstGeom prst="rect">
            <a:avLst/>
          </a:prstGeom>
          <a:noFill/>
        </p:spPr>
        <p:txBody>
          <a:bodyPr wrap="square" lIns="0" tIns="0" rIns="0" bIns="0" anchor="t">
            <a:spAutoFit/>
          </a:bodyPr>
          <a:lstStyle/>
          <a:p>
            <a:pPr algn="l"/>
            <a:r>
              <a:rPr sz="1300" b="1">
                <a:solidFill>
                  <a:srgbClr val="024731"/>
                </a:solidFill>
                <a:latin typeface="Open Sans"/>
              </a:rPr>
              <a:t>Incorporate Stage 2 feedback</a:t>
            </a:r>
          </a:p>
        </p:txBody>
      </p:sp>
      <p:sp>
        <p:nvSpPr>
          <p:cNvPr id="20" name="TextBox 19"/>
          <p:cNvSpPr txBox="1"/>
          <p:nvPr/>
        </p:nvSpPr>
        <p:spPr>
          <a:xfrm>
            <a:off x="5166360" y="1587500"/>
            <a:ext cx="3703320" cy="493853"/>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Show how you responded to the instructor's PR comments on your Stage 2 memo. Revised memo, follow-up memo, or commit messages that reference the PR. Disagreement is fine if visible.</a:t>
            </a:r>
          </a:p>
        </p:txBody>
      </p:sp>
      <p:sp>
        <p:nvSpPr>
          <p:cNvPr id="21" name="Oval 20"/>
          <p:cNvSpPr/>
          <p:nvPr/>
        </p:nvSpPr>
        <p:spPr>
          <a:xfrm>
            <a:off x="4709160" y="22098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6</a:t>
            </a:r>
          </a:p>
        </p:txBody>
      </p:sp>
      <p:sp>
        <p:nvSpPr>
          <p:cNvPr id="22" name="TextBox 21"/>
          <p:cNvSpPr txBox="1"/>
          <p:nvPr/>
        </p:nvSpPr>
        <p:spPr>
          <a:xfrm>
            <a:off x="5166360" y="2171700"/>
            <a:ext cx="3703320" cy="256032"/>
          </a:xfrm>
          <a:prstGeom prst="rect">
            <a:avLst/>
          </a:prstGeom>
          <a:noFill/>
        </p:spPr>
        <p:txBody>
          <a:bodyPr wrap="square" lIns="0" tIns="0" rIns="0" bIns="0" anchor="t">
            <a:spAutoFit/>
          </a:bodyPr>
          <a:lstStyle/>
          <a:p>
            <a:pPr algn="l"/>
            <a:r>
              <a:rPr sz="1300" b="1">
                <a:solidFill>
                  <a:srgbClr val="024731"/>
                </a:solidFill>
                <a:latin typeface="Open Sans"/>
              </a:rPr>
              <a:t>Polish the repo (budget 2–3 hours)</a:t>
            </a:r>
          </a:p>
        </p:txBody>
      </p:sp>
      <p:sp>
        <p:nvSpPr>
          <p:cNvPr id="23" name="TextBox 22"/>
          <p:cNvSpPr txBox="1"/>
          <p:nvPr/>
        </p:nvSpPr>
        <p:spPr>
          <a:xfrm>
            <a:off x="5166360" y="2438400"/>
            <a:ext cx="3703320" cy="493853"/>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Top-of-README block, one-line repo description on GitHub, LICENSE, .gitignore, per-directory READMEs, clean commit history. The repo is the portfolio artifact.</a:t>
            </a:r>
          </a:p>
        </p:txBody>
      </p:sp>
      <p:sp>
        <p:nvSpPr>
          <p:cNvPr id="24" name="Oval 23"/>
          <p:cNvSpPr/>
          <p:nvPr/>
        </p:nvSpPr>
        <p:spPr>
          <a:xfrm>
            <a:off x="4709160" y="3060700"/>
            <a:ext cx="329184" cy="329184"/>
          </a:xfrm>
          <a:prstGeom prst="ellipse">
            <a:avLst/>
          </a:prstGeom>
          <a:solidFill>
            <a:srgbClr val="02473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Open Sans"/>
              </a:rPr>
              <a:t>7</a:t>
            </a:r>
          </a:p>
        </p:txBody>
      </p:sp>
      <p:sp>
        <p:nvSpPr>
          <p:cNvPr id="25" name="TextBox 24"/>
          <p:cNvSpPr txBox="1"/>
          <p:nvPr/>
        </p:nvSpPr>
        <p:spPr>
          <a:xfrm>
            <a:off x="5166360" y="3022600"/>
            <a:ext cx="3703320" cy="256032"/>
          </a:xfrm>
          <a:prstGeom prst="rect">
            <a:avLst/>
          </a:prstGeom>
          <a:noFill/>
        </p:spPr>
        <p:txBody>
          <a:bodyPr wrap="square" lIns="0" tIns="0" rIns="0" bIns="0" anchor="t">
            <a:spAutoFit/>
          </a:bodyPr>
          <a:lstStyle/>
          <a:p>
            <a:pPr algn="l"/>
            <a:r>
              <a:rPr sz="1300" b="1">
                <a:solidFill>
                  <a:srgbClr val="024731"/>
                </a:solidFill>
                <a:latin typeface="Open Sans"/>
              </a:rPr>
              <a:t>Submit on Lamaku</a:t>
            </a:r>
          </a:p>
        </p:txBody>
      </p:sp>
      <p:sp>
        <p:nvSpPr>
          <p:cNvPr id="26" name="TextBox 25"/>
          <p:cNvSpPr txBox="1"/>
          <p:nvPr/>
        </p:nvSpPr>
        <p:spPr>
          <a:xfrm>
            <a:off x="5166360" y="3289300"/>
            <a:ext cx="3703320" cy="325730"/>
          </a:xfrm>
          <a:prstGeom prst="rect">
            <a:avLst/>
          </a:prstGeom>
          <a:noFill/>
        </p:spPr>
        <p:txBody>
          <a:bodyPr wrap="square" lIns="0" tIns="0" rIns="0" bIns="0" anchor="t">
            <a:spAutoFit/>
          </a:bodyPr>
          <a:lstStyle/>
          <a:p>
            <a:pPr algn="l">
              <a:lnSpc>
                <a:spcPct val="115000"/>
              </a:lnSpc>
            </a:pPr>
            <a:r>
              <a:rPr sz="950" b="0">
                <a:solidFill>
                  <a:srgbClr val="0D0D0D"/>
                </a:solidFill>
                <a:latin typeface="Open Sans"/>
              </a:rPr>
              <a:t>Submit the public GitHub repo URL via Lamaku. Confirm the repo is public and accessible without login before submitting.</a:t>
            </a:r>
          </a:p>
        </p:txBody>
      </p:sp>
    </p:spTree>
    <p:extLst>
      <p:ext uri="{BB962C8B-B14F-4D97-AF65-F5344CB8AC3E}">
        <p14:creationId xmlns:p14="http://schemas.microsoft.com/office/powerpoint/2010/main" val="16752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8C8A8-8564-943A-0CE2-B9EAD893FF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53C377-5E53-F9E8-A27F-0C516CF4EE5A}"/>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FB49E700-5A07-CB8D-CD15-D0780F2BA747}"/>
              </a:ext>
            </a:extLst>
          </p:cNvPr>
          <p:cNvSpPr/>
          <p:nvPr/>
        </p:nvSpPr>
        <p:spPr>
          <a:xfrm>
            <a:off x="731520" y="54864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APPENDIX</a:t>
            </a:r>
            <a:endParaRPr lang="en-US" sz="1400" dirty="0"/>
          </a:p>
        </p:txBody>
      </p:sp>
      <p:sp>
        <p:nvSpPr>
          <p:cNvPr id="4" name="Text 2">
            <a:extLst>
              <a:ext uri="{FF2B5EF4-FFF2-40B4-BE49-F238E27FC236}">
                <a16:creationId xmlns:a16="http://schemas.microsoft.com/office/drawing/2014/main" id="{F54F229D-F05E-B476-5B3E-4BBC55431E5F}"/>
              </a:ext>
            </a:extLst>
          </p:cNvPr>
          <p:cNvSpPr/>
          <p:nvPr/>
        </p:nvSpPr>
        <p:spPr>
          <a:xfrm>
            <a:off x="731520" y="1097280"/>
            <a:ext cx="7680960" cy="182880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Using GitHub</a:t>
            </a:r>
            <a:endParaRPr lang="en-US" sz="4000" dirty="0">
              <a:solidFill>
                <a:schemeClr val="accent6">
                  <a:lumMod val="50000"/>
                </a:schemeClr>
              </a:solidFill>
            </a:endParaRPr>
          </a:p>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for Your Project</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839A0219-6F48-03FD-88BB-49FB29159640}"/>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F2900D6E-9BE4-4C5F-F3CB-86C919186C1A}"/>
              </a:ext>
            </a:extLst>
          </p:cNvPr>
          <p:cNvSpPr/>
          <p:nvPr/>
        </p:nvSpPr>
        <p:spPr>
          <a:xfrm>
            <a:off x="731520" y="3337560"/>
            <a:ext cx="6400800" cy="73152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 standalone quick guide to GitHub. No prior GH experience required.</a:t>
            </a:r>
            <a:endParaRPr lang="en-US" sz="1400" dirty="0"/>
          </a:p>
        </p:txBody>
      </p:sp>
      <p:pic>
        <p:nvPicPr>
          <p:cNvPr id="7" name="Image 0" descr="preencoded.png">
            <a:extLst>
              <a:ext uri="{FF2B5EF4-FFF2-40B4-BE49-F238E27FC236}">
                <a16:creationId xmlns:a16="http://schemas.microsoft.com/office/drawing/2014/main" id="{C3335FD3-0934-88F3-5290-2F0CA62CFE62}"/>
              </a:ext>
            </a:extLst>
          </p:cNvPr>
          <p:cNvPicPr>
            <a:picLocks noChangeAspect="1"/>
          </p:cNvPicPr>
          <p:nvPr/>
        </p:nvPicPr>
        <p:blipFill>
          <a:blip r:embed="rId3"/>
          <a:stretch>
            <a:fillRect/>
          </a:stretch>
        </p:blipFill>
        <p:spPr>
          <a:xfrm>
            <a:off x="7132320" y="3200400"/>
            <a:ext cx="1097280" cy="1097280"/>
          </a:xfrm>
          <a:prstGeom prst="rect">
            <a:avLst/>
          </a:prstGeom>
        </p:spPr>
      </p:pic>
      <p:sp>
        <p:nvSpPr>
          <p:cNvPr id="8" name="Text 5">
            <a:extLst>
              <a:ext uri="{FF2B5EF4-FFF2-40B4-BE49-F238E27FC236}">
                <a16:creationId xmlns:a16="http://schemas.microsoft.com/office/drawing/2014/main" id="{1E0F0504-7EA9-C4C2-CD3C-A13D947AD528}"/>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303619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.gitignore — Keep Junk Out of Your Repo</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A .gitignore file at your repo root tells Git which files to ignore. Without one, your repo collects OS junk, Excel lock files, and (worst case) credentials. Use the course template as a starting point.</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2"/>
          <a:stretch>
            <a:fillRect/>
          </a:stretch>
        </p:blipFill>
        <p:spPr>
          <a:xfrm>
            <a:off x="155448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OS Junk Files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.DS_Store (macOS), Thumbs.db (Windows), desktop.ini. Useless to anyone but your OS — never commit them.</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3"/>
          <a:stretch>
            <a:fillRect/>
          </a:stretch>
        </p:blipFill>
        <p:spPr>
          <a:xfrm>
            <a:off x="420624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Office Lock Files</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~$*.xlsx, ~$*.docx — created when Excel/Word has a file open. Commits will fail until you close the file. Just ignore them.</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Secrets &amp; Credentials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.env files, *.key, anything containing API keys or passwords. Once committed publicly, treat them as compromised — rotate.</a:t>
            </a:r>
            <a:endParaRPr lang="en-US" sz="1100" dirty="0"/>
          </a:p>
        </p:txBody>
      </p:sp>
      <p:pic>
        <p:nvPicPr>
          <p:cNvPr id="19" name="Graphic 19"/>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8000" y="1917700"/>
            <a:ext cx="457200" cy="457200"/>
          </a:xfrm>
          <a:prstGeom prst="rect">
            <a:avLst/>
          </a:prstGeom>
        </p:spPr>
      </p:pic>
    </p:spTree>
    <p:extLst>
      <p:ext uri="{BB962C8B-B14F-4D97-AF65-F5344CB8AC3E}">
        <p14:creationId xmlns:p14="http://schemas.microsoft.com/office/powerpoint/2010/main" val="2311056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274320"/>
            <a:ext cx="7680960" cy="457200"/>
          </a:xfrm>
          <a:prstGeom prst="rect">
            <a:avLst/>
          </a:prstGeom>
          <a:noFill/>
          <a:ln/>
        </p:spPr>
        <p:txBody>
          <a:bodyPr wrap="square" lIns="0" tIns="0" rIns="0" bIns="0" rtlCol="0" anchor="ctr"/>
          <a:lstStyle/>
          <a:p>
            <a:pPr marL="0" indent="0">
              <a:buNone/>
            </a:pPr>
            <a:r>
              <a:rPr lang="en-US" sz="2800" b="1" dirty="0">
                <a:solidFill>
                  <a:schemeClr val="accent6">
                    <a:lumMod val="50000"/>
                  </a:schemeClr>
                </a:solidFill>
                <a:latin typeface="Open Sans" pitchFamily="34" charset="0"/>
                <a:ea typeface="Open Sans" pitchFamily="34" charset="-122"/>
                <a:cs typeface="Open Sans" pitchFamily="34" charset="-120"/>
              </a:rPr>
              <a:t>Quick Reference Cheat Sheet</a:t>
            </a:r>
            <a:endParaRPr lang="en-US" sz="2800" dirty="0">
              <a:solidFill>
                <a:schemeClr val="accent6">
                  <a:lumMod val="50000"/>
                </a:schemeClr>
              </a:solidFill>
            </a:endParaRPr>
          </a:p>
        </p:txBody>
      </p:sp>
      <p:sp>
        <p:nvSpPr>
          <p:cNvPr id="4" name="Text 2"/>
          <p:cNvSpPr/>
          <p:nvPr/>
        </p:nvSpPr>
        <p:spPr>
          <a:xfrm>
            <a:off x="731520" y="86868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Git Commands</a:t>
            </a:r>
            <a:endParaRPr lang="en-US" sz="1400" dirty="0"/>
          </a:p>
        </p:txBody>
      </p:sp>
      <p:sp>
        <p:nvSpPr>
          <p:cNvPr id="5" name="Text 3"/>
          <p:cNvSpPr/>
          <p:nvPr/>
        </p:nvSpPr>
        <p:spPr>
          <a:xfrm>
            <a:off x="731520" y="1280160"/>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clone &lt;url&gt;</a:t>
            </a:r>
            <a:endParaRPr lang="en-US" sz="1100" dirty="0"/>
          </a:p>
        </p:txBody>
      </p:sp>
      <p:sp>
        <p:nvSpPr>
          <p:cNvPr id="6" name="Text 4"/>
          <p:cNvSpPr/>
          <p:nvPr/>
        </p:nvSpPr>
        <p:spPr>
          <a:xfrm>
            <a:off x="731520" y="1481328"/>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Download repository for the first time</a:t>
            </a:r>
            <a:endParaRPr lang="en-US" sz="900" dirty="0"/>
          </a:p>
        </p:txBody>
      </p:sp>
      <p:sp>
        <p:nvSpPr>
          <p:cNvPr id="7" name="Text 5"/>
          <p:cNvSpPr/>
          <p:nvPr/>
        </p:nvSpPr>
        <p:spPr>
          <a:xfrm>
            <a:off x="731520" y="1719072"/>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status</a:t>
            </a:r>
            <a:endParaRPr lang="en-US" sz="1100" dirty="0"/>
          </a:p>
        </p:txBody>
      </p:sp>
      <p:sp>
        <p:nvSpPr>
          <p:cNvPr id="8" name="Text 6"/>
          <p:cNvSpPr/>
          <p:nvPr/>
        </p:nvSpPr>
        <p:spPr>
          <a:xfrm>
            <a:off x="731520" y="1920240"/>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See what files have changed</a:t>
            </a:r>
            <a:endParaRPr lang="en-US" sz="900" dirty="0"/>
          </a:p>
        </p:txBody>
      </p:sp>
      <p:sp>
        <p:nvSpPr>
          <p:cNvPr id="9" name="Text 7"/>
          <p:cNvSpPr/>
          <p:nvPr/>
        </p:nvSpPr>
        <p:spPr>
          <a:xfrm>
            <a:off x="731520" y="2157984"/>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add .</a:t>
            </a:r>
            <a:endParaRPr lang="en-US" sz="1100" dirty="0"/>
          </a:p>
        </p:txBody>
      </p:sp>
      <p:sp>
        <p:nvSpPr>
          <p:cNvPr id="10" name="Text 8"/>
          <p:cNvSpPr/>
          <p:nvPr/>
        </p:nvSpPr>
        <p:spPr>
          <a:xfrm>
            <a:off x="731520" y="2359152"/>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Stage all changes for commit</a:t>
            </a:r>
            <a:endParaRPr lang="en-US" sz="900" dirty="0"/>
          </a:p>
        </p:txBody>
      </p:sp>
      <p:sp>
        <p:nvSpPr>
          <p:cNvPr id="11" name="Text 9"/>
          <p:cNvSpPr/>
          <p:nvPr/>
        </p:nvSpPr>
        <p:spPr>
          <a:xfrm>
            <a:off x="731520" y="2596896"/>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commit -m "msg"</a:t>
            </a:r>
            <a:endParaRPr lang="en-US" sz="1100" dirty="0"/>
          </a:p>
        </p:txBody>
      </p:sp>
      <p:sp>
        <p:nvSpPr>
          <p:cNvPr id="12" name="Text 10"/>
          <p:cNvSpPr/>
          <p:nvPr/>
        </p:nvSpPr>
        <p:spPr>
          <a:xfrm>
            <a:off x="731520" y="2798064"/>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Save a snapshot with a message</a:t>
            </a:r>
            <a:endParaRPr lang="en-US" sz="900" dirty="0"/>
          </a:p>
        </p:txBody>
      </p:sp>
      <p:sp>
        <p:nvSpPr>
          <p:cNvPr id="13" name="Text 11"/>
          <p:cNvSpPr/>
          <p:nvPr/>
        </p:nvSpPr>
        <p:spPr>
          <a:xfrm>
            <a:off x="731520" y="3035808"/>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push</a:t>
            </a:r>
            <a:endParaRPr lang="en-US" sz="1100" dirty="0"/>
          </a:p>
        </p:txBody>
      </p:sp>
      <p:sp>
        <p:nvSpPr>
          <p:cNvPr id="14" name="Text 12"/>
          <p:cNvSpPr/>
          <p:nvPr/>
        </p:nvSpPr>
        <p:spPr>
          <a:xfrm>
            <a:off x="731520" y="3236976"/>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Upload commits to GitHub</a:t>
            </a:r>
            <a:endParaRPr lang="en-US" sz="900" dirty="0"/>
          </a:p>
        </p:txBody>
      </p:sp>
      <p:sp>
        <p:nvSpPr>
          <p:cNvPr id="15" name="Text 13"/>
          <p:cNvSpPr/>
          <p:nvPr/>
        </p:nvSpPr>
        <p:spPr>
          <a:xfrm>
            <a:off x="731520" y="3474720"/>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pull</a:t>
            </a:r>
            <a:endParaRPr lang="en-US" sz="1100" dirty="0"/>
          </a:p>
        </p:txBody>
      </p:sp>
      <p:sp>
        <p:nvSpPr>
          <p:cNvPr id="16" name="Text 14"/>
          <p:cNvSpPr/>
          <p:nvPr/>
        </p:nvSpPr>
        <p:spPr>
          <a:xfrm>
            <a:off x="731520" y="3675888"/>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Download latest changes from GitHub</a:t>
            </a:r>
            <a:endParaRPr lang="en-US" sz="900" dirty="0"/>
          </a:p>
        </p:txBody>
      </p:sp>
      <p:sp>
        <p:nvSpPr>
          <p:cNvPr id="17" name="Text 15"/>
          <p:cNvSpPr/>
          <p:nvPr/>
        </p:nvSpPr>
        <p:spPr>
          <a:xfrm>
            <a:off x="731520" y="3913632"/>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log --oneline</a:t>
            </a:r>
            <a:endParaRPr lang="en-US" sz="1100" dirty="0"/>
          </a:p>
        </p:txBody>
      </p:sp>
      <p:sp>
        <p:nvSpPr>
          <p:cNvPr id="18" name="Text 16"/>
          <p:cNvSpPr/>
          <p:nvPr/>
        </p:nvSpPr>
        <p:spPr>
          <a:xfrm>
            <a:off x="731520" y="4114800"/>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View commit history</a:t>
            </a:r>
            <a:endParaRPr lang="en-US" sz="900" dirty="0"/>
          </a:p>
        </p:txBody>
      </p:sp>
      <p:sp>
        <p:nvSpPr>
          <p:cNvPr id="19" name="Shape 17"/>
          <p:cNvSpPr/>
          <p:nvPr/>
        </p:nvSpPr>
        <p:spPr>
          <a:xfrm>
            <a:off x="4389120" y="868680"/>
            <a:ext cx="18288" cy="3474720"/>
          </a:xfrm>
          <a:prstGeom prst="rect">
            <a:avLst/>
          </a:prstGeom>
          <a:solidFill>
            <a:srgbClr val="5A6B7A"/>
          </a:solidFill>
          <a:ln/>
        </p:spPr>
        <p:txBody>
          <a:bodyPr/>
          <a:lstStyle/>
          <a:p>
            <a:endParaRPr lang="en-US"/>
          </a:p>
        </p:txBody>
      </p:sp>
      <p:sp>
        <p:nvSpPr>
          <p:cNvPr id="20" name="Text 18"/>
          <p:cNvSpPr/>
          <p:nvPr/>
        </p:nvSpPr>
        <p:spPr>
          <a:xfrm>
            <a:off x="4754880" y="86868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Useful Links</a:t>
            </a:r>
            <a:endParaRPr lang="en-US" sz="1400" dirty="0"/>
          </a:p>
        </p:txBody>
      </p:sp>
      <p:sp>
        <p:nvSpPr>
          <p:cNvPr id="21" name="Text 19"/>
          <p:cNvSpPr/>
          <p:nvPr/>
        </p:nvSpPr>
        <p:spPr>
          <a:xfrm>
            <a:off x="4754880" y="1280160"/>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github.com</a:t>
            </a:r>
            <a:endParaRPr lang="en-US" sz="1100" dirty="0"/>
          </a:p>
        </p:txBody>
      </p:sp>
      <p:sp>
        <p:nvSpPr>
          <p:cNvPr id="22" name="Text 20"/>
          <p:cNvSpPr/>
          <p:nvPr/>
        </p:nvSpPr>
        <p:spPr>
          <a:xfrm>
            <a:off x="4754880" y="1481328"/>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Create account &amp; view repositories</a:t>
            </a:r>
            <a:endParaRPr lang="en-US" sz="900" dirty="0"/>
          </a:p>
        </p:txBody>
      </p:sp>
      <p:sp>
        <p:nvSpPr>
          <p:cNvPr id="23" name="Text 21"/>
          <p:cNvSpPr/>
          <p:nvPr/>
        </p:nvSpPr>
        <p:spPr>
          <a:xfrm>
            <a:off x="4754880" y="1719072"/>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desktop.github.com</a:t>
            </a:r>
            <a:endParaRPr lang="en-US" sz="1100" dirty="0"/>
          </a:p>
        </p:txBody>
      </p:sp>
      <p:sp>
        <p:nvSpPr>
          <p:cNvPr id="24" name="Text 22"/>
          <p:cNvSpPr/>
          <p:nvPr/>
        </p:nvSpPr>
        <p:spPr>
          <a:xfrm>
            <a:off x="4754880" y="1920240"/>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GitHub Desktop (visual Git client)</a:t>
            </a:r>
            <a:endParaRPr lang="en-US" sz="900" dirty="0"/>
          </a:p>
        </p:txBody>
      </p:sp>
      <p:sp>
        <p:nvSpPr>
          <p:cNvPr id="25" name="Text 23"/>
          <p:cNvSpPr/>
          <p:nvPr/>
        </p:nvSpPr>
        <p:spPr>
          <a:xfrm>
            <a:off x="4754880" y="2157984"/>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chatgpt.com</a:t>
            </a:r>
            <a:endParaRPr lang="en-US" sz="1100" dirty="0"/>
          </a:p>
        </p:txBody>
      </p:sp>
      <p:sp>
        <p:nvSpPr>
          <p:cNvPr id="26" name="Text 24"/>
          <p:cNvSpPr/>
          <p:nvPr/>
        </p:nvSpPr>
        <p:spPr>
          <a:xfrm>
            <a:off x="4754880" y="2359152"/>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ChatGPT (OpenAI)</a:t>
            </a:r>
            <a:endParaRPr lang="en-US" sz="900" dirty="0"/>
          </a:p>
        </p:txBody>
      </p:sp>
      <p:sp>
        <p:nvSpPr>
          <p:cNvPr id="27" name="Text 25"/>
          <p:cNvSpPr/>
          <p:nvPr/>
        </p:nvSpPr>
        <p:spPr>
          <a:xfrm>
            <a:off x="4754880" y="2596896"/>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claude.ai</a:t>
            </a:r>
            <a:endParaRPr lang="en-US" sz="1100" dirty="0"/>
          </a:p>
        </p:txBody>
      </p:sp>
      <p:sp>
        <p:nvSpPr>
          <p:cNvPr id="28" name="Text 26"/>
          <p:cNvSpPr/>
          <p:nvPr/>
        </p:nvSpPr>
        <p:spPr>
          <a:xfrm>
            <a:off x="4754880" y="2798064"/>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Claude (Anthropic)</a:t>
            </a:r>
            <a:endParaRPr lang="en-US" sz="900" dirty="0"/>
          </a:p>
        </p:txBody>
      </p:sp>
      <p:sp>
        <p:nvSpPr>
          <p:cNvPr id="29" name="Text 27"/>
          <p:cNvSpPr/>
          <p:nvPr/>
        </p:nvSpPr>
        <p:spPr>
          <a:xfrm>
            <a:off x="4754880" y="3035808"/>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education.github.com</a:t>
            </a:r>
            <a:endParaRPr lang="en-US" sz="1100" dirty="0"/>
          </a:p>
        </p:txBody>
      </p:sp>
      <p:sp>
        <p:nvSpPr>
          <p:cNvPr id="30" name="Text 28"/>
          <p:cNvSpPr/>
          <p:nvPr/>
        </p:nvSpPr>
        <p:spPr>
          <a:xfrm>
            <a:off x="4754880" y="3236976"/>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Student Developer Pack (free Pro)</a:t>
            </a:r>
            <a:endParaRPr lang="en-US" sz="900" dirty="0"/>
          </a:p>
        </p:txBody>
      </p:sp>
      <p:sp>
        <p:nvSpPr>
          <p:cNvPr id="31" name="Text 29"/>
          <p:cNvSpPr/>
          <p:nvPr/>
        </p:nvSpPr>
        <p:spPr>
          <a:xfrm>
            <a:off x="4754880" y="3474720"/>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code.visualstudio.com</a:t>
            </a:r>
            <a:endParaRPr lang="en-US" sz="1100" dirty="0"/>
          </a:p>
        </p:txBody>
      </p:sp>
      <p:sp>
        <p:nvSpPr>
          <p:cNvPr id="32" name="Text 30"/>
          <p:cNvSpPr/>
          <p:nvPr/>
        </p:nvSpPr>
        <p:spPr>
          <a:xfrm>
            <a:off x="4754880" y="3675888"/>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VS Code (free text editor)</a:t>
            </a:r>
            <a:endParaRPr lang="en-US" sz="900" dirty="0"/>
          </a:p>
        </p:txBody>
      </p:sp>
      <p:sp>
        <p:nvSpPr>
          <p:cNvPr id="33" name="Text 31"/>
          <p:cNvSpPr/>
          <p:nvPr/>
        </p:nvSpPr>
        <p:spPr>
          <a:xfrm>
            <a:off x="4754880" y="3913632"/>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git-scm.com</a:t>
            </a:r>
            <a:endParaRPr lang="en-US" sz="1100" dirty="0"/>
          </a:p>
        </p:txBody>
      </p:sp>
      <p:sp>
        <p:nvSpPr>
          <p:cNvPr id="34" name="Text 32"/>
          <p:cNvSpPr/>
          <p:nvPr/>
        </p:nvSpPr>
        <p:spPr>
          <a:xfrm>
            <a:off x="4754880" y="4114800"/>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Official Git download</a:t>
            </a:r>
            <a:endParaRPr lang="en-US" sz="900" dirty="0"/>
          </a:p>
        </p:txBody>
      </p:sp>
      <p:sp>
        <p:nvSpPr>
          <p:cNvPr id="35" name="Shape 33"/>
          <p:cNvSpPr/>
          <p:nvPr/>
        </p:nvSpPr>
        <p:spPr>
          <a:xfrm>
            <a:off x="0" y="4572000"/>
            <a:ext cx="9144000" cy="36576"/>
          </a:xfrm>
          <a:prstGeom prst="rect">
            <a:avLst/>
          </a:prstGeom>
          <a:solidFill>
            <a:srgbClr val="B8975C"/>
          </a:solidFill>
          <a:ln/>
        </p:spPr>
        <p:txBody>
          <a:bodyPr/>
          <a:lstStyle/>
          <a:p>
            <a:endParaRPr lang="en-US"/>
          </a:p>
        </p:txBody>
      </p:sp>
      <p:sp>
        <p:nvSpPr>
          <p:cNvPr id="36" name="Text 34"/>
          <p:cNvSpPr/>
          <p:nvPr/>
        </p:nvSpPr>
        <p:spPr>
          <a:xfrm>
            <a:off x="457200" y="4663440"/>
            <a:ext cx="8229600" cy="320040"/>
          </a:xfrm>
          <a:prstGeom prst="rect">
            <a:avLst/>
          </a:prstGeom>
          <a:noFill/>
          <a:ln/>
        </p:spPr>
        <p:txBody>
          <a:bodyPr wrap="square"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1420464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54864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APPENDIX</a:t>
            </a:r>
            <a:endParaRPr lang="en-US" sz="1400" dirty="0"/>
          </a:p>
        </p:txBody>
      </p:sp>
      <p:sp>
        <p:nvSpPr>
          <p:cNvPr id="4" name="Text 2"/>
          <p:cNvSpPr/>
          <p:nvPr/>
        </p:nvSpPr>
        <p:spPr>
          <a:xfrm>
            <a:off x="731520" y="1097280"/>
            <a:ext cx="7680960" cy="182880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Using Claude</a:t>
            </a:r>
            <a:endParaRPr lang="en-US" sz="4000" dirty="0">
              <a:solidFill>
                <a:schemeClr val="accent6">
                  <a:lumMod val="50000"/>
                </a:schemeClr>
              </a:solidFill>
            </a:endParaRPr>
          </a:p>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for Your Project</a:t>
            </a:r>
            <a:endParaRPr lang="en-US" sz="4000" dirty="0">
              <a:solidFill>
                <a:schemeClr val="accent6">
                  <a:lumMod val="50000"/>
                </a:schemeClr>
              </a:solidFill>
            </a:endParaRPr>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73152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 standalone guide to Claude — on the web, in the app,</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in your terminal. No prior AI experience required.</a:t>
            </a:r>
            <a:endParaRPr lang="en-US" sz="1400" dirty="0"/>
          </a:p>
        </p:txBody>
      </p:sp>
      <p:pic>
        <p:nvPicPr>
          <p:cNvPr id="7" name="Image 0" descr="preencoded.png"/>
          <p:cNvPicPr>
            <a:picLocks noChangeAspect="1"/>
          </p:cNvPicPr>
          <p:nvPr/>
        </p:nvPicPr>
        <p:blipFill>
          <a:blip r:embed="rId3"/>
          <a:stretch>
            <a:fillRect/>
          </a:stretch>
        </p:blipFill>
        <p:spPr>
          <a:xfrm>
            <a:off x="7132320" y="320040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1407311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What Is Claude?</a:t>
            </a:r>
            <a:endParaRPr lang="en-US" sz="2800" dirty="0"/>
          </a:p>
        </p:txBody>
      </p:sp>
      <p:sp>
        <p:nvSpPr>
          <p:cNvPr id="6" name="Text 4"/>
          <p:cNvSpPr/>
          <p:nvPr/>
        </p:nvSpPr>
        <p:spPr>
          <a:xfrm>
            <a:off x="731520" y="95250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Claude is an AI assistant made by Anthropic. Like ChatGPT, it can help you write, analyze data, explain concepts, and review your work — but it has a few distinct strengths that make it especially useful for this course.</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60020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Long Documents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Claude can process very long inputs — paste your entire spec, memo, or data set and it keeps track of everything.</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5196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Careful Reasoning</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Particularly strong at multi-step calculations like ratio analysis, hedge math, and Du Pont decomposition.</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90372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File Uploads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Upload Excel workbooks, PDFs, and images directly. Claude reads the content and can verify your formulas.</a:t>
            </a:r>
            <a:endParaRPr lang="en-US" sz="1100" dirty="0"/>
          </a:p>
        </p:txBody>
      </p:sp>
    </p:spTree>
    <p:extLst>
      <p:ext uri="{BB962C8B-B14F-4D97-AF65-F5344CB8AC3E}">
        <p14:creationId xmlns:p14="http://schemas.microsoft.com/office/powerpoint/2010/main" val="1369019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Claude vs ChatGPT — Both Are Useful</a:t>
            </a:r>
            <a:endParaRPr lang="en-US" sz="2800" dirty="0"/>
          </a:p>
        </p:txBody>
      </p:sp>
      <p:sp>
        <p:nvSpPr>
          <p:cNvPr id="6" name="Text 4"/>
          <p:cNvSpPr/>
          <p:nvPr/>
        </p:nvSpPr>
        <p:spPr>
          <a:xfrm>
            <a:off x="731520" y="952500"/>
            <a:ext cx="7680960" cy="36576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You are welcome to use either tool (or both). Here’s when each one shines.</a:t>
            </a:r>
            <a:endParaRPr lang="en-US" sz="1300" dirty="0"/>
          </a:p>
        </p:txBody>
      </p:sp>
      <p:sp>
        <p:nvSpPr>
          <p:cNvPr id="7" name="Shape 5"/>
          <p:cNvSpPr/>
          <p:nvPr/>
        </p:nvSpPr>
        <p:spPr>
          <a:xfrm>
            <a:off x="7315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63040"/>
            <a:ext cx="3566160" cy="457200"/>
          </a:xfrm>
          <a:prstGeom prst="rect">
            <a:avLst/>
          </a:prstGeom>
          <a:solidFill>
            <a:srgbClr val="1E2530"/>
          </a:solidFill>
          <a:ln/>
        </p:spPr>
        <p:txBody>
          <a:bodyPr/>
          <a:lstStyle/>
          <a:p>
            <a:endParaRPr lang="en-US"/>
          </a:p>
        </p:txBody>
      </p:sp>
      <p:sp>
        <p:nvSpPr>
          <p:cNvPr id="9" name="Text 7"/>
          <p:cNvSpPr/>
          <p:nvPr/>
        </p:nvSpPr>
        <p:spPr>
          <a:xfrm>
            <a:off x="7315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Claude</a:t>
            </a:r>
            <a:endParaRPr lang="en-US" sz="1600" dirty="0"/>
          </a:p>
        </p:txBody>
      </p:sp>
      <p:sp>
        <p:nvSpPr>
          <p:cNvPr id="10" name="Text 8"/>
          <p:cNvSpPr/>
          <p:nvPr/>
        </p:nvSpPr>
        <p:spPr>
          <a:xfrm>
            <a:off x="9144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Long context window — paste entire specs or data sets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Strong structured output (memos, tables, Markdown)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File uploads: Excel, PDF, images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Careful multi-step reasoning and math</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Projects feature keeps course files as persistent context</a:t>
            </a:r>
            <a:endParaRPr lang="en-US" sz="1100" dirty="0"/>
          </a:p>
        </p:txBody>
      </p:sp>
      <p:sp>
        <p:nvSpPr>
          <p:cNvPr id="11" name="Shape 9"/>
          <p:cNvSpPr/>
          <p:nvPr/>
        </p:nvSpPr>
        <p:spPr>
          <a:xfrm>
            <a:off x="48463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846320" y="1463040"/>
            <a:ext cx="3566160" cy="457200"/>
          </a:xfrm>
          <a:prstGeom prst="rect">
            <a:avLst/>
          </a:prstGeom>
          <a:solidFill>
            <a:srgbClr val="36454F"/>
          </a:solidFill>
          <a:ln/>
        </p:spPr>
        <p:txBody>
          <a:bodyPr/>
          <a:lstStyle/>
          <a:p>
            <a:endParaRPr lang="en-US"/>
          </a:p>
        </p:txBody>
      </p:sp>
      <p:sp>
        <p:nvSpPr>
          <p:cNvPr id="13" name="Text 11"/>
          <p:cNvSpPr/>
          <p:nvPr/>
        </p:nvSpPr>
        <p:spPr>
          <a:xfrm>
            <a:off x="48463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ChatGPT</a:t>
            </a:r>
            <a:endParaRPr lang="en-US" sz="1600" dirty="0"/>
          </a:p>
        </p:txBody>
      </p:sp>
      <p:sp>
        <p:nvSpPr>
          <p:cNvPr id="14" name="Text 12"/>
          <p:cNvSpPr/>
          <p:nvPr/>
        </p:nvSpPr>
        <p:spPr>
          <a:xfrm>
            <a:off x="50292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Web browsing and real-time search built in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DALL·E image generation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Code Interpreter runs Python in-browser</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Large plugin / GPT Store ecosystem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Widely used — more community tutorials available</a:t>
            </a:r>
            <a:endParaRPr lang="en-US" sz="1100" dirty="0"/>
          </a:p>
        </p:txBody>
      </p:sp>
    </p:spTree>
    <p:extLst>
      <p:ext uri="{BB962C8B-B14F-4D97-AF65-F5344CB8AC3E}">
        <p14:creationId xmlns:p14="http://schemas.microsoft.com/office/powerpoint/2010/main" val="488616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Chat vs Code — Why “Code” Versions Are a Superpower</a:t>
            </a:r>
            <a:endParaRPr lang="en-US" sz="2000" dirty="0"/>
          </a:p>
        </p:txBody>
      </p:sp>
      <p:sp>
        <p:nvSpPr>
          <p:cNvPr id="6" name="Text 4"/>
          <p:cNvSpPr/>
          <p:nvPr/>
        </p:nvSpPr>
        <p:spPr>
          <a:xfrm>
            <a:off x="731520" y="952500"/>
            <a:ext cx="7680960" cy="5486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rPr>
              <a:t>Both Claude and ChatGPT have "code" variants — agents that run in a harness with tools to read files and take action. Chat answers questions. Code does work.</a:t>
            </a:r>
          </a:p>
        </p:txBody>
      </p:sp>
      <p:sp>
        <p:nvSpPr>
          <p:cNvPr id="7" name="Shape 5"/>
          <p:cNvSpPr/>
          <p:nvPr/>
        </p:nvSpPr>
        <p:spPr>
          <a:xfrm>
            <a:off x="731520" y="1463039"/>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63039"/>
            <a:ext cx="3566160" cy="457200"/>
          </a:xfrm>
          <a:prstGeom prst="rect">
            <a:avLst/>
          </a:prstGeom>
          <a:solidFill>
            <a:srgbClr val="1E2530"/>
          </a:solidFill>
          <a:ln/>
        </p:spPr>
        <p:txBody>
          <a:bodyPr/>
          <a:lstStyle/>
          <a:p>
            <a:endParaRPr lang="en-US"/>
          </a:p>
        </p:txBody>
      </p:sp>
      <p:sp>
        <p:nvSpPr>
          <p:cNvPr id="9" name="Text 7"/>
          <p:cNvSpPr/>
          <p:nvPr/>
        </p:nvSpPr>
        <p:spPr>
          <a:xfrm>
            <a:off x="731520" y="1463039"/>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Claude Code (Anthropic)</a:t>
            </a:r>
            <a:endParaRPr lang="en-US" sz="1600" dirty="0"/>
          </a:p>
        </p:txBody>
      </p:sp>
      <p:sp>
        <p:nvSpPr>
          <p:cNvPr id="10" name="Text 8"/>
          <p:cNvSpPr/>
          <p:nvPr/>
        </p:nvSpPr>
        <p:spPr>
          <a:xfrm>
            <a:off x="9144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Runs in your terminal — reads and writes files directly in your repo</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Executes Git commands, edits files, runs scripts — with your approval</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Sees your entire project: specs, Excel, memos, folder structure</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Free to use (requires Anthropic account); install via npm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Best for: building deliverables, verifying models, committing to GitHub</a:t>
            </a:r>
            <a:endParaRPr lang="en-US" sz="1100" dirty="0"/>
          </a:p>
        </p:txBody>
      </p:sp>
      <p:sp>
        <p:nvSpPr>
          <p:cNvPr id="11" name="Shape 9"/>
          <p:cNvSpPr/>
          <p:nvPr/>
        </p:nvSpPr>
        <p:spPr>
          <a:xfrm>
            <a:off x="4846320" y="1463039"/>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846320" y="1463039"/>
            <a:ext cx="3566160" cy="457200"/>
          </a:xfrm>
          <a:prstGeom prst="rect">
            <a:avLst/>
          </a:prstGeom>
          <a:solidFill>
            <a:srgbClr val="36454F"/>
          </a:solidFill>
          <a:ln/>
        </p:spPr>
        <p:txBody>
          <a:bodyPr/>
          <a:lstStyle/>
          <a:p>
            <a:endParaRPr lang="en-US"/>
          </a:p>
        </p:txBody>
      </p:sp>
      <p:sp>
        <p:nvSpPr>
          <p:cNvPr id="13" name="Text 11"/>
          <p:cNvSpPr/>
          <p:nvPr/>
        </p:nvSpPr>
        <p:spPr>
          <a:xfrm>
            <a:off x="4846320" y="1463039"/>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Codex (OpenAI)</a:t>
            </a:r>
            <a:endParaRPr lang="en-US" sz="1600" dirty="0"/>
          </a:p>
        </p:txBody>
      </p:sp>
      <p:sp>
        <p:nvSpPr>
          <p:cNvPr id="14" name="Text 12"/>
          <p:cNvSpPr/>
          <p:nvPr/>
        </p:nvSpPr>
        <p:spPr>
          <a:xfrm>
            <a:off x="50292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OpenAI’s coding agent — runs tasks in a cloud sandbox environment</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Connects to your GitHub repos and works asynchronously on tasks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Writes code, creates PRs, and runs tests in an isolated environment</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Requires ChatGPT Pro ($200/mo); accessed via chatgpt.com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Best for: automated coding tasks, background work, PR creation</a:t>
            </a:r>
            <a:endParaRPr lang="en-US" sz="1100" dirty="0"/>
          </a:p>
        </p:txBody>
      </p:sp>
    </p:spTree>
    <p:extLst>
      <p:ext uri="{BB962C8B-B14F-4D97-AF65-F5344CB8AC3E}">
        <p14:creationId xmlns:p14="http://schemas.microsoft.com/office/powerpoint/2010/main" val="4530895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Key Concepts Before You Start</a:t>
            </a:r>
            <a:endParaRPr lang="en-US" sz="2800" dirty="0"/>
          </a:p>
        </p:txBody>
      </p:sp>
      <p:sp>
        <p:nvSpPr>
          <p:cNvPr id="6" name="Shape 4"/>
          <p:cNvSpPr/>
          <p:nvPr/>
        </p:nvSpPr>
        <p:spPr>
          <a:xfrm>
            <a:off x="7315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325880"/>
            <a:ext cx="411480" cy="411480"/>
          </a:xfrm>
          <a:prstGeom prst="rect">
            <a:avLst/>
          </a:prstGeom>
        </p:spPr>
      </p:pic>
      <p:sp>
        <p:nvSpPr>
          <p:cNvPr id="8" name="Text 5"/>
          <p:cNvSpPr/>
          <p:nvPr/>
        </p:nvSpPr>
        <p:spPr>
          <a:xfrm>
            <a:off x="14630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Conversations</a:t>
            </a:r>
            <a:endParaRPr lang="en-US" sz="1400" dirty="0"/>
          </a:p>
        </p:txBody>
      </p:sp>
      <p:sp>
        <p:nvSpPr>
          <p:cNvPr id="9" name="Text 6"/>
          <p:cNvSpPr/>
          <p:nvPr/>
        </p:nvSpPr>
        <p:spPr>
          <a:xfrm>
            <a:off x="14630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Each chat is independent. Claude does not remember previous conversations unless you provide context.</a:t>
            </a:r>
            <a:endParaRPr lang="en-US" sz="1100" dirty="0"/>
          </a:p>
        </p:txBody>
      </p:sp>
      <p:sp>
        <p:nvSpPr>
          <p:cNvPr id="10" name="Shape 7"/>
          <p:cNvSpPr/>
          <p:nvPr/>
        </p:nvSpPr>
        <p:spPr>
          <a:xfrm>
            <a:off x="48463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325880"/>
            <a:ext cx="411480" cy="411480"/>
          </a:xfrm>
          <a:prstGeom prst="rect">
            <a:avLst/>
          </a:prstGeom>
        </p:spPr>
      </p:pic>
      <p:sp>
        <p:nvSpPr>
          <p:cNvPr id="12" name="Text 8"/>
          <p:cNvSpPr/>
          <p:nvPr/>
        </p:nvSpPr>
        <p:spPr>
          <a:xfrm>
            <a:off x="55778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Context Is Everything</a:t>
            </a:r>
            <a:endParaRPr lang="en-US" sz="1400" dirty="0"/>
          </a:p>
        </p:txBody>
      </p:sp>
      <p:sp>
        <p:nvSpPr>
          <p:cNvPr id="13" name="Text 9"/>
          <p:cNvSpPr/>
          <p:nvPr/>
        </p:nvSpPr>
        <p:spPr>
          <a:xfrm>
            <a:off x="55778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The more specific your input, the better the output. Paste your spec, state your variables, name your company.</a:t>
            </a:r>
            <a:endParaRPr lang="en-US" sz="1100" dirty="0"/>
          </a:p>
        </p:txBody>
      </p:sp>
      <p:sp>
        <p:nvSpPr>
          <p:cNvPr id="14" name="Shape 10"/>
          <p:cNvSpPr/>
          <p:nvPr/>
        </p:nvSpPr>
        <p:spPr>
          <a:xfrm>
            <a:off x="7315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914400" y="3063240"/>
            <a:ext cx="411480" cy="411480"/>
          </a:xfrm>
          <a:prstGeom prst="rect">
            <a:avLst/>
          </a:prstGeom>
        </p:spPr>
      </p:pic>
      <p:sp>
        <p:nvSpPr>
          <p:cNvPr id="16" name="Text 11"/>
          <p:cNvSpPr/>
          <p:nvPr/>
        </p:nvSpPr>
        <p:spPr>
          <a:xfrm>
            <a:off x="14630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Verify, Don’t Trust</a:t>
            </a:r>
            <a:endParaRPr lang="en-US" sz="1400" dirty="0"/>
          </a:p>
        </p:txBody>
      </p:sp>
      <p:sp>
        <p:nvSpPr>
          <p:cNvPr id="17" name="Text 12"/>
          <p:cNvSpPr/>
          <p:nvPr/>
        </p:nvSpPr>
        <p:spPr>
          <a:xfrm>
            <a:off x="14630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AI can produce plausible-sounding errors. Always cross-check formulas, numbers, and ratio definitions against your textbook or SEC filing.</a:t>
            </a:r>
            <a:endParaRPr lang="en-US" sz="1100" dirty="0"/>
          </a:p>
        </p:txBody>
      </p:sp>
      <p:sp>
        <p:nvSpPr>
          <p:cNvPr id="18" name="Shape 13"/>
          <p:cNvSpPr/>
          <p:nvPr/>
        </p:nvSpPr>
        <p:spPr>
          <a:xfrm>
            <a:off x="48463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5029200" y="3063240"/>
            <a:ext cx="411480" cy="411480"/>
          </a:xfrm>
          <a:prstGeom prst="rect">
            <a:avLst/>
          </a:prstGeom>
        </p:spPr>
      </p:pic>
      <p:sp>
        <p:nvSpPr>
          <p:cNvPr id="20" name="Text 14"/>
          <p:cNvSpPr/>
          <p:nvPr/>
        </p:nvSpPr>
        <p:spPr>
          <a:xfrm>
            <a:off x="55778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Iterate</a:t>
            </a:r>
            <a:endParaRPr lang="en-US" sz="1400" dirty="0"/>
          </a:p>
        </p:txBody>
      </p:sp>
      <p:sp>
        <p:nvSpPr>
          <p:cNvPr id="21" name="Text 15"/>
          <p:cNvSpPr/>
          <p:nvPr/>
        </p:nvSpPr>
        <p:spPr>
          <a:xfrm>
            <a:off x="55778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Your first prompt rarely gives the final answer. Refine: “Make this more concise,” “Add the Du Pont breakdown,” “Format as Markdown table.”</a:t>
            </a:r>
            <a:endParaRPr lang="en-US" sz="1100" dirty="0"/>
          </a:p>
        </p:txBody>
      </p:sp>
    </p:spTree>
    <p:extLst>
      <p:ext uri="{BB962C8B-B14F-4D97-AF65-F5344CB8AC3E}">
        <p14:creationId xmlns:p14="http://schemas.microsoft.com/office/powerpoint/2010/main" val="396230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PART 1</a:t>
            </a:r>
            <a:endParaRPr lang="en-US" sz="1400" dirty="0"/>
          </a:p>
        </p:txBody>
      </p:sp>
      <p:sp>
        <p:nvSpPr>
          <p:cNvPr id="4" name="Text 2"/>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rgbClr val="024731"/>
                </a:solidFill>
                <a:latin typeface="Open Sans" pitchFamily="34" charset="0"/>
                <a:ea typeface="Open Sans" pitchFamily="34" charset="-122"/>
                <a:cs typeface="Open Sans" pitchFamily="34" charset="-120"/>
              </a:rPr>
              <a:t>Claude on the Web</a:t>
            </a:r>
            <a:endParaRPr lang="en-US" sz="4000" dirty="0"/>
          </a:p>
          <a:p>
            <a:pPr marL="0" indent="0">
              <a:lnSpc>
                <a:spcPct val="110000"/>
              </a:lnSpc>
              <a:buNone/>
            </a:pPr>
            <a:r>
              <a:rPr lang="en-US" sz="4000" b="1" dirty="0">
                <a:solidFill>
                  <a:srgbClr val="024731"/>
                </a:solidFill>
                <a:latin typeface="Open Sans" pitchFamily="34" charset="0"/>
                <a:ea typeface="Open Sans" pitchFamily="34" charset="-122"/>
                <a:cs typeface="Open Sans" pitchFamily="34" charset="-120"/>
              </a:rPr>
              <a:t>&amp; Desktop App</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How to use claude.ai for drafting memos, verifying formulas,</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building your Stage 4 AI prompt.</a:t>
            </a:r>
            <a:endParaRPr lang="en-US" sz="1400" dirty="0"/>
          </a:p>
        </p:txBody>
      </p:sp>
      <p:pic>
        <p:nvPicPr>
          <p:cNvPr id="7" name="Image 0" descr="preencoded.png"/>
          <p:cNvPicPr>
            <a:picLocks noChangeAspect="1"/>
          </p:cNvPicPr>
          <p:nvPr/>
        </p:nvPicPr>
        <p:blipFill>
          <a:blip r:embed="rId3"/>
          <a:stretch>
            <a:fillRect/>
          </a:stretch>
        </p:blipFill>
        <p:spPr>
          <a:xfrm>
            <a:off x="7132320" y="301752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2048310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Getting Started with claude.ai</a:t>
            </a:r>
            <a:endParaRPr lang="en-US" sz="2800" dirty="0"/>
          </a:p>
        </p:txBody>
      </p:sp>
      <p:sp>
        <p:nvSpPr>
          <p:cNvPr id="6" name="Text 4"/>
          <p:cNvSpPr/>
          <p:nvPr/>
        </p:nvSpPr>
        <p:spPr>
          <a:xfrm>
            <a:off x="731520" y="952500"/>
            <a:ext cx="7680960" cy="36576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claude.ai  |  Free tier is sufficient. Pro ($20/mo) gives extended thinking and longer conversations.</a:t>
            </a:r>
            <a:endParaRPr lang="en-US" sz="1300" dirty="0"/>
          </a:p>
        </p:txBody>
      </p:sp>
      <p:sp>
        <p:nvSpPr>
          <p:cNvPr id="7" name="Shape 5"/>
          <p:cNvSpPr/>
          <p:nvPr/>
        </p:nvSpPr>
        <p:spPr>
          <a:xfrm>
            <a:off x="731520" y="1417320"/>
            <a:ext cx="411480" cy="411480"/>
          </a:xfrm>
          <a:prstGeom prst="rect">
            <a:avLst/>
          </a:prstGeom>
          <a:solidFill>
            <a:srgbClr val="1E2530"/>
          </a:solidFill>
          <a:ln/>
        </p:spPr>
        <p:txBody>
          <a:bodyPr/>
          <a:lstStyle/>
          <a:p>
            <a:endParaRPr lang="en-US"/>
          </a:p>
        </p:txBody>
      </p:sp>
      <p:sp>
        <p:nvSpPr>
          <p:cNvPr id="8" name="Text 6"/>
          <p:cNvSpPr/>
          <p:nvPr/>
        </p:nvSpPr>
        <p:spPr>
          <a:xfrm>
            <a:off x="731520" y="1417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9" name="Text 7"/>
          <p:cNvSpPr/>
          <p:nvPr/>
        </p:nvSpPr>
        <p:spPr>
          <a:xfrm>
            <a:off x="1325880" y="141732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Go to claude.ai and click Sign Up</a:t>
            </a:r>
            <a:endParaRPr lang="en-US" sz="1300" dirty="0"/>
          </a:p>
        </p:txBody>
      </p:sp>
      <p:sp>
        <p:nvSpPr>
          <p:cNvPr id="10" name="Shape 8"/>
          <p:cNvSpPr/>
          <p:nvPr/>
        </p:nvSpPr>
        <p:spPr>
          <a:xfrm>
            <a:off x="731520" y="1965960"/>
            <a:ext cx="411480" cy="411480"/>
          </a:xfrm>
          <a:prstGeom prst="rect">
            <a:avLst/>
          </a:prstGeom>
          <a:solidFill>
            <a:srgbClr val="1E2530"/>
          </a:solidFill>
          <a:ln/>
        </p:spPr>
        <p:txBody>
          <a:bodyPr/>
          <a:lstStyle/>
          <a:p>
            <a:endParaRPr lang="en-US"/>
          </a:p>
        </p:txBody>
      </p:sp>
      <p:sp>
        <p:nvSpPr>
          <p:cNvPr id="11" name="Text 9"/>
          <p:cNvSpPr/>
          <p:nvPr/>
        </p:nvSpPr>
        <p:spPr>
          <a:xfrm>
            <a:off x="731520" y="19659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2" name="Text 10"/>
          <p:cNvSpPr/>
          <p:nvPr/>
        </p:nvSpPr>
        <p:spPr>
          <a:xfrm>
            <a:off x="1325880" y="196596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Create an account with your @hawaii.edu email</a:t>
            </a:r>
            <a:endParaRPr lang="en-US" sz="1300" dirty="0"/>
          </a:p>
        </p:txBody>
      </p:sp>
      <p:sp>
        <p:nvSpPr>
          <p:cNvPr id="13" name="Shape 11"/>
          <p:cNvSpPr/>
          <p:nvPr/>
        </p:nvSpPr>
        <p:spPr>
          <a:xfrm>
            <a:off x="731520" y="2514600"/>
            <a:ext cx="411480" cy="411480"/>
          </a:xfrm>
          <a:prstGeom prst="rect">
            <a:avLst/>
          </a:prstGeom>
          <a:solidFill>
            <a:srgbClr val="1E2530"/>
          </a:solidFill>
          <a:ln/>
        </p:spPr>
        <p:txBody>
          <a:bodyPr/>
          <a:lstStyle/>
          <a:p>
            <a:endParaRPr lang="en-US"/>
          </a:p>
        </p:txBody>
      </p:sp>
      <p:sp>
        <p:nvSpPr>
          <p:cNvPr id="14" name="Text 12"/>
          <p:cNvSpPr/>
          <p:nvPr/>
        </p:nvSpPr>
        <p:spPr>
          <a:xfrm>
            <a:off x="731520" y="25146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5" name="Text 13"/>
          <p:cNvSpPr/>
          <p:nvPr/>
        </p:nvSpPr>
        <p:spPr>
          <a:xfrm>
            <a:off x="1325880" y="251460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Start a new conversation — type your question in the message box</a:t>
            </a:r>
            <a:endParaRPr lang="en-US" sz="1300" dirty="0"/>
          </a:p>
        </p:txBody>
      </p:sp>
      <p:sp>
        <p:nvSpPr>
          <p:cNvPr id="16" name="Shape 14"/>
          <p:cNvSpPr/>
          <p:nvPr/>
        </p:nvSpPr>
        <p:spPr>
          <a:xfrm>
            <a:off x="731520" y="3063240"/>
            <a:ext cx="411480" cy="411480"/>
          </a:xfrm>
          <a:prstGeom prst="rect">
            <a:avLst/>
          </a:prstGeom>
          <a:solidFill>
            <a:srgbClr val="1E2530"/>
          </a:solidFill>
          <a:ln/>
        </p:spPr>
        <p:txBody>
          <a:bodyPr/>
          <a:lstStyle/>
          <a:p>
            <a:endParaRPr lang="en-US"/>
          </a:p>
        </p:txBody>
      </p:sp>
      <p:sp>
        <p:nvSpPr>
          <p:cNvPr id="17" name="Text 15"/>
          <p:cNvSpPr/>
          <p:nvPr/>
        </p:nvSpPr>
        <p:spPr>
          <a:xfrm>
            <a:off x="731520"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8" name="Text 16"/>
          <p:cNvSpPr/>
          <p:nvPr/>
        </p:nvSpPr>
        <p:spPr>
          <a:xfrm>
            <a:off x="1325880" y="306324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Upload files with the paperclip icon (Excel, PDF, images)</a:t>
            </a:r>
            <a:endParaRPr lang="en-US" sz="1300" dirty="0"/>
          </a:p>
        </p:txBody>
      </p:sp>
      <p:sp>
        <p:nvSpPr>
          <p:cNvPr id="19" name="Shape 17"/>
          <p:cNvSpPr/>
          <p:nvPr/>
        </p:nvSpPr>
        <p:spPr>
          <a:xfrm>
            <a:off x="731520" y="3611880"/>
            <a:ext cx="411480" cy="411480"/>
          </a:xfrm>
          <a:prstGeom prst="rect">
            <a:avLst/>
          </a:prstGeom>
          <a:solidFill>
            <a:srgbClr val="1E2530"/>
          </a:solidFill>
          <a:ln/>
        </p:spPr>
        <p:txBody>
          <a:bodyPr/>
          <a:lstStyle/>
          <a:p>
            <a:endParaRPr lang="en-US"/>
          </a:p>
        </p:txBody>
      </p:sp>
      <p:sp>
        <p:nvSpPr>
          <p:cNvPr id="20" name="Text 18"/>
          <p:cNvSpPr/>
          <p:nvPr/>
        </p:nvSpPr>
        <p:spPr>
          <a:xfrm>
            <a:off x="731520" y="3611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1" name="Text 19"/>
          <p:cNvSpPr/>
          <p:nvPr/>
        </p:nvSpPr>
        <p:spPr>
          <a:xfrm>
            <a:off x="1325880" y="361188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Download the desktop app for Mac or Windows (same account)</a:t>
            </a:r>
            <a:endParaRPr lang="en-US" sz="1300" dirty="0"/>
          </a:p>
        </p:txBody>
      </p:sp>
      <p:sp>
        <p:nvSpPr>
          <p:cNvPr id="22" name="Shape 20"/>
          <p:cNvSpPr/>
          <p:nvPr/>
        </p:nvSpPr>
        <p:spPr>
          <a:xfrm>
            <a:off x="5303520" y="1417320"/>
            <a:ext cx="320040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3" name="Image 0" descr="preencoded.png"/>
          <p:cNvPicPr>
            <a:picLocks noChangeAspect="1"/>
          </p:cNvPicPr>
          <p:nvPr/>
        </p:nvPicPr>
        <p:blipFill>
          <a:blip r:embed="rId3"/>
          <a:stretch>
            <a:fillRect/>
          </a:stretch>
        </p:blipFill>
        <p:spPr>
          <a:xfrm>
            <a:off x="5532120" y="1600200"/>
            <a:ext cx="320040" cy="320040"/>
          </a:xfrm>
          <a:prstGeom prst="rect">
            <a:avLst/>
          </a:prstGeom>
        </p:spPr>
      </p:pic>
      <p:sp>
        <p:nvSpPr>
          <p:cNvPr id="24" name="Text 21"/>
          <p:cNvSpPr/>
          <p:nvPr/>
        </p:nvSpPr>
        <p:spPr>
          <a:xfrm>
            <a:off x="5943600" y="1600200"/>
            <a:ext cx="23774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Pro Tips</a:t>
            </a:r>
            <a:endParaRPr lang="en-US" sz="1400" dirty="0"/>
          </a:p>
        </p:txBody>
      </p:sp>
      <p:sp>
        <p:nvSpPr>
          <p:cNvPr id="25" name="Text 22"/>
          <p:cNvSpPr/>
          <p:nvPr/>
        </p:nvSpPr>
        <p:spPr>
          <a:xfrm>
            <a:off x="5532120" y="210312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Desktop app</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Same as the website but runs in its own window. Great for split-screen with Excel.</a:t>
            </a:r>
            <a:endParaRPr lang="en-US" sz="1000" dirty="0"/>
          </a:p>
        </p:txBody>
      </p:sp>
      <p:sp>
        <p:nvSpPr>
          <p:cNvPr id="26" name="Text 23"/>
          <p:cNvSpPr/>
          <p:nvPr/>
        </p:nvSpPr>
        <p:spPr>
          <a:xfrm>
            <a:off x="5532120" y="283464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Free vs Pro</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Free tier has daily message limits. Pro gives higher limits, extended thinking, and priority access.</a:t>
            </a:r>
            <a:endParaRPr lang="en-US" sz="1000" dirty="0"/>
          </a:p>
        </p:txBody>
      </p:sp>
      <p:sp>
        <p:nvSpPr>
          <p:cNvPr id="27" name="Text 24"/>
          <p:cNvSpPr/>
          <p:nvPr/>
        </p:nvSpPr>
        <p:spPr>
          <a:xfrm>
            <a:off x="5532120" y="356616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Privacy</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Don’t paste sensitive personal data. Course materials and public financial data are fine.</a:t>
            </a:r>
            <a:endParaRPr lang="en-US" sz="1000" dirty="0"/>
          </a:p>
        </p:txBody>
      </p:sp>
    </p:spTree>
    <p:extLst>
      <p:ext uri="{BB962C8B-B14F-4D97-AF65-F5344CB8AC3E}">
        <p14:creationId xmlns:p14="http://schemas.microsoft.com/office/powerpoint/2010/main" val="856357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Uploading Files &amp; Using Projects</a:t>
            </a:r>
            <a:endParaRPr lang="en-US" sz="2800" dirty="0"/>
          </a:p>
        </p:txBody>
      </p:sp>
      <p:sp>
        <p:nvSpPr>
          <p:cNvPr id="6" name="Shape 4"/>
          <p:cNvSpPr/>
          <p:nvPr/>
        </p:nvSpPr>
        <p:spPr>
          <a:xfrm>
            <a:off x="731520" y="952500"/>
            <a:ext cx="3749040" cy="3429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188720"/>
            <a:ext cx="365760" cy="365760"/>
          </a:xfrm>
          <a:prstGeom prst="rect">
            <a:avLst/>
          </a:prstGeom>
        </p:spPr>
      </p:pic>
      <p:sp>
        <p:nvSpPr>
          <p:cNvPr id="8" name="Text 5"/>
          <p:cNvSpPr/>
          <p:nvPr/>
        </p:nvSpPr>
        <p:spPr>
          <a:xfrm>
            <a:off x="1371600" y="1188720"/>
            <a:ext cx="2926080" cy="365760"/>
          </a:xfrm>
          <a:prstGeom prst="rect">
            <a:avLst/>
          </a:prstGeom>
          <a:noFill/>
          <a:ln/>
        </p:spPr>
        <p:txBody>
          <a:bodyPr wrap="square" lIns="0" tIns="0" rIns="0" bIns="0" rtlCol="0" anchor="ctr"/>
          <a:lstStyle/>
          <a:p>
            <a:pPr marL="0" indent="0">
              <a:buNone/>
            </a:pPr>
            <a:r>
              <a:rPr lang="en-US" sz="1600" b="1" dirty="0">
                <a:solidFill>
                  <a:srgbClr val="1E2530"/>
                </a:solidFill>
                <a:latin typeface="Open Sans" pitchFamily="34" charset="0"/>
                <a:ea typeface="Open Sans" pitchFamily="34" charset="-122"/>
                <a:cs typeface="Open Sans" pitchFamily="34" charset="-120"/>
              </a:rPr>
              <a:t>File Uploads</a:t>
            </a:r>
            <a:endParaRPr lang="en-US" sz="1600" dirty="0"/>
          </a:p>
        </p:txBody>
      </p:sp>
      <p:sp>
        <p:nvSpPr>
          <p:cNvPr id="9" name="Text 6"/>
          <p:cNvSpPr/>
          <p:nvPr/>
        </p:nvSpPr>
        <p:spPr>
          <a:xfrm>
            <a:off x="914400" y="1737360"/>
            <a:ext cx="3383280" cy="237744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Click the paperclip icon or drag and drop</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Supported: .xlsx, .pdf, .csv, .png, .jpg, .md</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Claude reads the actual content — not just the filename</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Upload your Stage 2 Excel to verify ratios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Upload your Stage 3 spec as context for Stage 4</a:t>
            </a:r>
            <a:endParaRPr lang="en-US" sz="1100" dirty="0"/>
          </a:p>
        </p:txBody>
      </p:sp>
      <p:sp>
        <p:nvSpPr>
          <p:cNvPr id="10" name="Shape 7"/>
          <p:cNvSpPr/>
          <p:nvPr/>
        </p:nvSpPr>
        <p:spPr>
          <a:xfrm>
            <a:off x="4663440" y="1005840"/>
            <a:ext cx="3749040" cy="3429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846320" y="1188720"/>
            <a:ext cx="365760" cy="365760"/>
          </a:xfrm>
          <a:prstGeom prst="rect">
            <a:avLst/>
          </a:prstGeom>
        </p:spPr>
      </p:pic>
      <p:sp>
        <p:nvSpPr>
          <p:cNvPr id="12" name="Text 8"/>
          <p:cNvSpPr/>
          <p:nvPr/>
        </p:nvSpPr>
        <p:spPr>
          <a:xfrm>
            <a:off x="5303520" y="1188720"/>
            <a:ext cx="2926080" cy="365760"/>
          </a:xfrm>
          <a:prstGeom prst="rect">
            <a:avLst/>
          </a:prstGeom>
          <a:noFill/>
          <a:ln/>
        </p:spPr>
        <p:txBody>
          <a:bodyPr wrap="square" lIns="0" tIns="0" rIns="0" bIns="0" rtlCol="0" anchor="ctr"/>
          <a:lstStyle/>
          <a:p>
            <a:pPr marL="0" indent="0">
              <a:buNone/>
            </a:pPr>
            <a:r>
              <a:rPr lang="en-US" sz="1600" b="1" dirty="0">
                <a:solidFill>
                  <a:srgbClr val="1E2530"/>
                </a:solidFill>
                <a:latin typeface="Open Sans" pitchFamily="34" charset="0"/>
                <a:ea typeface="Open Sans" pitchFamily="34" charset="-122"/>
                <a:cs typeface="Open Sans" pitchFamily="34" charset="-120"/>
              </a:rPr>
              <a:t>Projects (Pro Feature)</a:t>
            </a:r>
            <a:endParaRPr lang="en-US" sz="1600" dirty="0"/>
          </a:p>
        </p:txBody>
      </p:sp>
      <p:sp>
        <p:nvSpPr>
          <p:cNvPr id="13" name="Text 9"/>
          <p:cNvSpPr/>
          <p:nvPr/>
        </p:nvSpPr>
        <p:spPr>
          <a:xfrm>
            <a:off x="4846320" y="1737360"/>
            <a:ext cx="3383280" cy="237744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Create a project and attach your spec, rubric, and data files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Every conversation in that project automatically sees those files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No need to re-upload each session</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Add custom instructions: “Always use BUS-314 named range conventions”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Great for multi-session work across stages</a:t>
            </a:r>
            <a:endParaRPr lang="en-US" sz="1100" dirty="0"/>
          </a:p>
        </p:txBody>
      </p:sp>
    </p:spTree>
    <p:extLst>
      <p:ext uri="{BB962C8B-B14F-4D97-AF65-F5344CB8AC3E}">
        <p14:creationId xmlns:p14="http://schemas.microsoft.com/office/powerpoint/2010/main" val="25395610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Artifacts</a:t>
            </a:r>
            <a:endParaRPr lang="en-US" sz="2800" dirty="0"/>
          </a:p>
        </p:txBody>
      </p:sp>
      <p:sp>
        <p:nvSpPr>
          <p:cNvPr id="6" name="Text 4"/>
          <p:cNvSpPr/>
          <p:nvPr/>
        </p:nvSpPr>
        <p:spPr>
          <a:xfrm>
            <a:off x="731520" y="952500"/>
            <a:ext cx="7680960" cy="45720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When Claude generates a memo, table, or code block, it appears in an Artifact panel — a side-by-side document you can copy, edit, or download directly.</a:t>
            </a:r>
            <a:endParaRPr lang="en-US" sz="1300" dirty="0"/>
          </a:p>
        </p:txBody>
      </p:sp>
      <p:sp>
        <p:nvSpPr>
          <p:cNvPr id="7" name="Shape 5"/>
          <p:cNvSpPr/>
          <p:nvPr/>
        </p:nvSpPr>
        <p:spPr>
          <a:xfrm>
            <a:off x="73152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645920" y="1783080"/>
            <a:ext cx="457200" cy="457200"/>
          </a:xfrm>
          <a:prstGeom prst="rect">
            <a:avLst/>
          </a:prstGeom>
        </p:spPr>
      </p:pic>
      <p:sp>
        <p:nvSpPr>
          <p:cNvPr id="9" name="Text 6"/>
          <p:cNvSpPr/>
          <p:nvPr/>
        </p:nvSpPr>
        <p:spPr>
          <a:xfrm>
            <a:off x="86868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Markdown Memos</a:t>
            </a:r>
            <a:endParaRPr lang="en-US" sz="1400" dirty="0"/>
          </a:p>
        </p:txBody>
      </p:sp>
      <p:sp>
        <p:nvSpPr>
          <p:cNvPr id="10" name="Text 7"/>
          <p:cNvSpPr/>
          <p:nvPr/>
        </p:nvSpPr>
        <p:spPr>
          <a:xfrm>
            <a:off x="86868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Ask Claude to draft your Stage 1 or Stage 4 memo. It appears as an editable Artifact you can copy into your .md file.</a:t>
            </a:r>
            <a:endParaRPr lang="en-US" sz="1100" dirty="0"/>
          </a:p>
        </p:txBody>
      </p:sp>
      <p:sp>
        <p:nvSpPr>
          <p:cNvPr id="11" name="Shape 8"/>
          <p:cNvSpPr/>
          <p:nvPr/>
        </p:nvSpPr>
        <p:spPr>
          <a:xfrm>
            <a:off x="356616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480560" y="1783080"/>
            <a:ext cx="457200" cy="457200"/>
          </a:xfrm>
          <a:prstGeom prst="rect">
            <a:avLst/>
          </a:prstGeom>
        </p:spPr>
      </p:pic>
      <p:sp>
        <p:nvSpPr>
          <p:cNvPr id="13" name="Text 9"/>
          <p:cNvSpPr/>
          <p:nvPr/>
        </p:nvSpPr>
        <p:spPr>
          <a:xfrm>
            <a:off x="370332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Tables &amp; Charts</a:t>
            </a:r>
            <a:endParaRPr lang="en-US" sz="1400" dirty="0"/>
          </a:p>
        </p:txBody>
      </p:sp>
      <p:sp>
        <p:nvSpPr>
          <p:cNvPr id="14" name="Text 10"/>
          <p:cNvSpPr/>
          <p:nvPr/>
        </p:nvSpPr>
        <p:spPr>
          <a:xfrm>
            <a:off x="370332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Claude can generate Markdown tables, HTML previews, and structured data. Perfect for ratio summaries.</a:t>
            </a:r>
            <a:endParaRPr lang="en-US" sz="1100" dirty="0"/>
          </a:p>
        </p:txBody>
      </p:sp>
      <p:sp>
        <p:nvSpPr>
          <p:cNvPr id="15" name="Shape 11"/>
          <p:cNvSpPr/>
          <p:nvPr/>
        </p:nvSpPr>
        <p:spPr>
          <a:xfrm>
            <a:off x="640080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7315200" y="1783080"/>
            <a:ext cx="457200" cy="457200"/>
          </a:xfrm>
          <a:prstGeom prst="rect">
            <a:avLst/>
          </a:prstGeom>
        </p:spPr>
      </p:pic>
      <p:sp>
        <p:nvSpPr>
          <p:cNvPr id="17" name="Text 12"/>
          <p:cNvSpPr/>
          <p:nvPr/>
        </p:nvSpPr>
        <p:spPr>
          <a:xfrm>
            <a:off x="653796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Code &amp; Formulas</a:t>
            </a:r>
            <a:endParaRPr lang="en-US" sz="1400" dirty="0"/>
          </a:p>
        </p:txBody>
      </p:sp>
      <p:sp>
        <p:nvSpPr>
          <p:cNvPr id="18" name="Text 13"/>
          <p:cNvSpPr/>
          <p:nvPr/>
        </p:nvSpPr>
        <p:spPr>
          <a:xfrm>
            <a:off x="653796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Request Excel formulas or Python scripts. Artifacts let you preview and iterate without leaving the conversation.</a:t>
            </a:r>
            <a:endParaRPr lang="en-US" sz="1100" dirty="0"/>
          </a:p>
        </p:txBody>
      </p:sp>
    </p:spTree>
    <p:extLst>
      <p:ext uri="{BB962C8B-B14F-4D97-AF65-F5344CB8AC3E}">
        <p14:creationId xmlns:p14="http://schemas.microsoft.com/office/powerpoint/2010/main" val="703141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200" b="1" dirty="0">
                <a:solidFill>
                  <a:srgbClr val="FFFFFF"/>
                </a:solidFill>
                <a:latin typeface="Open Sans" pitchFamily="34" charset="0"/>
                <a:ea typeface="Open Sans" pitchFamily="34" charset="-122"/>
                <a:cs typeface="Open Sans" pitchFamily="34" charset="-120"/>
              </a:rPr>
              <a:t>Example: Using Claude for Structured Analysis</a:t>
            </a:r>
            <a:endParaRPr lang="en-US" sz="2200" dirty="0"/>
          </a:p>
        </p:txBody>
      </p:sp>
      <p:sp>
        <p:nvSpPr>
          <p:cNvPr id="6" name="Shape 4"/>
          <p:cNvSpPr/>
          <p:nvPr/>
        </p:nvSpPr>
        <p:spPr>
          <a:xfrm>
            <a:off x="731520" y="952500"/>
            <a:ext cx="457200" cy="457200"/>
          </a:xfrm>
          <a:prstGeom prst="rect">
            <a:avLst/>
          </a:prstGeom>
          <a:solidFill>
            <a:srgbClr val="1E2530"/>
          </a:solidFill>
          <a:ln/>
        </p:spPr>
        <p:txBody>
          <a:bodyPr/>
          <a:lstStyle/>
          <a:p>
            <a:endParaRPr lang="en-US"/>
          </a:p>
        </p:txBody>
      </p:sp>
      <p:sp>
        <p:nvSpPr>
          <p:cNvPr id="7" name="Text 5"/>
          <p:cNvSpPr/>
          <p:nvPr/>
        </p:nvSpPr>
        <p:spPr>
          <a:xfrm>
            <a:off x="731520" y="1005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1</a:t>
            </a:r>
            <a:endParaRPr lang="en-US" sz="1600" dirty="0"/>
          </a:p>
        </p:txBody>
      </p:sp>
      <p:sp>
        <p:nvSpPr>
          <p:cNvPr id="8" name="Text 6"/>
          <p:cNvSpPr/>
          <p:nvPr/>
        </p:nvSpPr>
        <p:spPr>
          <a:xfrm>
            <a:off x="1371600" y="10058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Upload Context</a:t>
            </a:r>
            <a:endParaRPr lang="en-US" sz="1400" dirty="0"/>
          </a:p>
        </p:txBody>
      </p:sp>
      <p:sp>
        <p:nvSpPr>
          <p:cNvPr id="9" name="Text 7"/>
          <p:cNvSpPr/>
          <p:nvPr/>
        </p:nvSpPr>
        <p:spPr>
          <a:xfrm>
            <a:off x="3200400" y="10058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Upload your spec (.md) and Excel (.xlsx) to Claude.</a:t>
            </a:r>
            <a:endParaRPr lang="en-US" sz="1200" dirty="0"/>
          </a:p>
        </p:txBody>
      </p:sp>
      <p:sp>
        <p:nvSpPr>
          <p:cNvPr id="10" name="Shape 8"/>
          <p:cNvSpPr/>
          <p:nvPr/>
        </p:nvSpPr>
        <p:spPr>
          <a:xfrm>
            <a:off x="731520" y="1920240"/>
            <a:ext cx="457200" cy="457200"/>
          </a:xfrm>
          <a:prstGeom prst="rect">
            <a:avLst/>
          </a:prstGeom>
          <a:solidFill>
            <a:srgbClr val="1E2530"/>
          </a:solidFill>
          <a:ln/>
        </p:spPr>
        <p:txBody>
          <a:bodyPr/>
          <a:lstStyle/>
          <a:p>
            <a:endParaRPr lang="en-US"/>
          </a:p>
        </p:txBody>
      </p:sp>
      <p:sp>
        <p:nvSpPr>
          <p:cNvPr id="11" name="Text 9"/>
          <p:cNvSpPr/>
          <p:nvPr/>
        </p:nvSpPr>
        <p:spPr>
          <a:xfrm>
            <a:off x="731520" y="1920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2</a:t>
            </a:r>
            <a:endParaRPr lang="en-US" sz="1600" dirty="0"/>
          </a:p>
        </p:txBody>
      </p:sp>
      <p:sp>
        <p:nvSpPr>
          <p:cNvPr id="12" name="Text 10"/>
          <p:cNvSpPr/>
          <p:nvPr/>
        </p:nvSpPr>
        <p:spPr>
          <a:xfrm>
            <a:off x="1371600" y="19202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Give the Prompt</a:t>
            </a:r>
            <a:endParaRPr lang="en-US" sz="1400" dirty="0"/>
          </a:p>
        </p:txBody>
      </p:sp>
      <p:sp>
        <p:nvSpPr>
          <p:cNvPr id="13" name="Text 11"/>
          <p:cNvSpPr/>
          <p:nvPr/>
        </p:nvSpPr>
        <p:spPr>
          <a:xfrm>
            <a:off x="3200400" y="19202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“Using the attached spec, write a structured AI prompt that could regenerate my Excel model. Use # GOAL → # DATA → # RATIOS → # VERIFY headers.”</a:t>
            </a:r>
            <a:endParaRPr lang="en-US" sz="1200" dirty="0"/>
          </a:p>
        </p:txBody>
      </p:sp>
      <p:sp>
        <p:nvSpPr>
          <p:cNvPr id="14" name="Shape 12"/>
          <p:cNvSpPr/>
          <p:nvPr/>
        </p:nvSpPr>
        <p:spPr>
          <a:xfrm>
            <a:off x="731520" y="2834640"/>
            <a:ext cx="457200" cy="457200"/>
          </a:xfrm>
          <a:prstGeom prst="rect">
            <a:avLst/>
          </a:prstGeom>
          <a:solidFill>
            <a:srgbClr val="1E2530"/>
          </a:solidFill>
          <a:ln/>
        </p:spPr>
        <p:txBody>
          <a:bodyPr/>
          <a:lstStyle/>
          <a:p>
            <a:endParaRPr lang="en-US"/>
          </a:p>
        </p:txBody>
      </p:sp>
      <p:sp>
        <p:nvSpPr>
          <p:cNvPr id="15" name="Text 13"/>
          <p:cNvSpPr/>
          <p:nvPr/>
        </p:nvSpPr>
        <p:spPr>
          <a:xfrm>
            <a:off x="731520" y="2834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3</a:t>
            </a:r>
            <a:endParaRPr lang="en-US" sz="1600" dirty="0"/>
          </a:p>
        </p:txBody>
      </p:sp>
      <p:sp>
        <p:nvSpPr>
          <p:cNvPr id="16" name="Text 14"/>
          <p:cNvSpPr/>
          <p:nvPr/>
        </p:nvSpPr>
        <p:spPr>
          <a:xfrm>
            <a:off x="1371600" y="28346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Review &amp; Refine</a:t>
            </a:r>
            <a:endParaRPr lang="en-US" sz="1400" dirty="0"/>
          </a:p>
        </p:txBody>
      </p:sp>
      <p:sp>
        <p:nvSpPr>
          <p:cNvPr id="17" name="Text 15"/>
          <p:cNvSpPr/>
          <p:nvPr/>
        </p:nvSpPr>
        <p:spPr>
          <a:xfrm>
            <a:off x="3200400" y="28346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Check that every named range appears. Ask: “Add the Du Pont cross-check step” or “Include color-coding instructions.”</a:t>
            </a:r>
            <a:endParaRPr lang="en-US" sz="1200" dirty="0"/>
          </a:p>
        </p:txBody>
      </p:sp>
      <p:sp>
        <p:nvSpPr>
          <p:cNvPr id="18" name="Shape 16"/>
          <p:cNvSpPr/>
          <p:nvPr/>
        </p:nvSpPr>
        <p:spPr>
          <a:xfrm>
            <a:off x="731520" y="3749040"/>
            <a:ext cx="457200" cy="457200"/>
          </a:xfrm>
          <a:prstGeom prst="rect">
            <a:avLst/>
          </a:prstGeom>
          <a:solidFill>
            <a:srgbClr val="1E2530"/>
          </a:solidFill>
          <a:ln/>
        </p:spPr>
        <p:txBody>
          <a:bodyPr/>
          <a:lstStyle/>
          <a:p>
            <a:endParaRPr lang="en-US"/>
          </a:p>
        </p:txBody>
      </p:sp>
      <p:sp>
        <p:nvSpPr>
          <p:cNvPr id="19" name="Text 17"/>
          <p:cNvSpPr/>
          <p:nvPr/>
        </p:nvSpPr>
        <p:spPr>
          <a:xfrm>
            <a:off x="73152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4</a:t>
            </a:r>
            <a:endParaRPr lang="en-US" sz="1600" dirty="0"/>
          </a:p>
        </p:txBody>
      </p:sp>
      <p:sp>
        <p:nvSpPr>
          <p:cNvPr id="20" name="Text 18"/>
          <p:cNvSpPr/>
          <p:nvPr/>
        </p:nvSpPr>
        <p:spPr>
          <a:xfrm>
            <a:off x="1371600" y="37490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Export</a:t>
            </a:r>
            <a:endParaRPr lang="en-US" sz="1400" dirty="0"/>
          </a:p>
        </p:txBody>
      </p:sp>
      <p:sp>
        <p:nvSpPr>
          <p:cNvPr id="21" name="Text 19"/>
          <p:cNvSpPr/>
          <p:nvPr/>
        </p:nvSpPr>
        <p:spPr>
          <a:xfrm>
            <a:off x="3200400" y="37490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Copy the Artifact into your deliverable. Commit to GitHub.</a:t>
            </a:r>
            <a:endParaRPr lang="en-US" sz="1200" dirty="0"/>
          </a:p>
        </p:txBody>
      </p:sp>
    </p:spTree>
    <p:extLst>
      <p:ext uri="{BB962C8B-B14F-4D97-AF65-F5344CB8AC3E}">
        <p14:creationId xmlns:p14="http://schemas.microsoft.com/office/powerpoint/2010/main" val="3526874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PART 2</a:t>
            </a:r>
            <a:endParaRPr lang="en-US" sz="1400" dirty="0"/>
          </a:p>
        </p:txBody>
      </p:sp>
      <p:sp>
        <p:nvSpPr>
          <p:cNvPr id="4" name="Text 2"/>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rgbClr val="024731"/>
                </a:solidFill>
                <a:latin typeface="Open Sans" pitchFamily="34" charset="0"/>
                <a:ea typeface="Open Sans" pitchFamily="34" charset="-122"/>
                <a:cs typeface="Open Sans" pitchFamily="34" charset="-120"/>
              </a:rPr>
              <a:t>Claude Code</a:t>
            </a:r>
            <a:endParaRPr lang="en-US" sz="4000" dirty="0"/>
          </a:p>
          <a:p>
            <a:pPr marL="0" indent="0">
              <a:lnSpc>
                <a:spcPct val="110000"/>
              </a:lnSpc>
              <a:buNone/>
            </a:pPr>
            <a:r>
              <a:rPr lang="en-US" sz="4000" b="1" dirty="0">
                <a:solidFill>
                  <a:srgbClr val="024731"/>
                </a:solidFill>
                <a:latin typeface="Open Sans" pitchFamily="34" charset="0"/>
                <a:ea typeface="Open Sans" pitchFamily="34" charset="-122"/>
                <a:cs typeface="Open Sans" pitchFamily="34" charset="-120"/>
              </a:rPr>
              <a:t>in Your Terminal</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Claude that lives in your terminal, reads your files,</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works alongside Git. The power-user option.</a:t>
            </a:r>
            <a:endParaRPr lang="en-US" sz="1400" dirty="0"/>
          </a:p>
        </p:txBody>
      </p:sp>
      <p:pic>
        <p:nvPicPr>
          <p:cNvPr id="7" name="Image 0" descr="preencoded.png"/>
          <p:cNvPicPr>
            <a:picLocks noChangeAspect="1"/>
          </p:cNvPicPr>
          <p:nvPr/>
        </p:nvPicPr>
        <p:blipFill>
          <a:blip r:embed="rId3"/>
          <a:stretch>
            <a:fillRect/>
          </a:stretch>
        </p:blipFill>
        <p:spPr>
          <a:xfrm>
            <a:off x="7132320" y="301752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4137408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What Is Claude Code?</a:t>
            </a:r>
            <a:endParaRPr lang="en-US" sz="2800" dirty="0"/>
          </a:p>
        </p:txBody>
      </p:sp>
      <p:sp>
        <p:nvSpPr>
          <p:cNvPr id="6" name="Text 4"/>
          <p:cNvSpPr/>
          <p:nvPr/>
        </p:nvSpPr>
        <p:spPr>
          <a:xfrm>
            <a:off x="731520" y="952500"/>
            <a:ext cx="7680960" cy="50292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Claude Code is a command-line tool that runs Claude directly in your terminal. It can read and write files in your repository, run Git commands, and help you build deliverables without leaving the command line.</a:t>
            </a:r>
            <a:endParaRPr lang="en-US" sz="1300" dirty="0"/>
          </a:p>
        </p:txBody>
      </p:sp>
      <p:sp>
        <p:nvSpPr>
          <p:cNvPr id="7" name="Shape 5"/>
          <p:cNvSpPr/>
          <p:nvPr/>
        </p:nvSpPr>
        <p:spPr>
          <a:xfrm>
            <a:off x="731520" y="160020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1828800"/>
            <a:ext cx="365760" cy="365760"/>
          </a:xfrm>
          <a:prstGeom prst="rect">
            <a:avLst/>
          </a:prstGeom>
        </p:spPr>
      </p:pic>
      <p:sp>
        <p:nvSpPr>
          <p:cNvPr id="9" name="Text 6"/>
          <p:cNvSpPr/>
          <p:nvPr/>
        </p:nvSpPr>
        <p:spPr>
          <a:xfrm>
            <a:off x="1417320" y="173736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Reads Your Repo</a:t>
            </a:r>
            <a:endParaRPr lang="en-US" sz="1300" dirty="0"/>
          </a:p>
        </p:txBody>
      </p:sp>
      <p:sp>
        <p:nvSpPr>
          <p:cNvPr id="10" name="Text 7"/>
          <p:cNvSpPr/>
          <p:nvPr/>
        </p:nvSpPr>
        <p:spPr>
          <a:xfrm>
            <a:off x="1417320" y="205740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Claude Code sees every file in your project. Ask about your spec, your Excel, your memo — it reads them directly.</a:t>
            </a:r>
            <a:endParaRPr lang="en-US" sz="1050" dirty="0"/>
          </a:p>
        </p:txBody>
      </p:sp>
      <p:sp>
        <p:nvSpPr>
          <p:cNvPr id="11" name="Shape 8"/>
          <p:cNvSpPr/>
          <p:nvPr/>
        </p:nvSpPr>
        <p:spPr>
          <a:xfrm>
            <a:off x="4846320" y="160020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5029200" y="1828800"/>
            <a:ext cx="365760" cy="365760"/>
          </a:xfrm>
          <a:prstGeom prst="rect">
            <a:avLst/>
          </a:prstGeom>
        </p:spPr>
      </p:pic>
      <p:sp>
        <p:nvSpPr>
          <p:cNvPr id="13" name="Text 9"/>
          <p:cNvSpPr/>
          <p:nvPr/>
        </p:nvSpPr>
        <p:spPr>
          <a:xfrm>
            <a:off x="5532120" y="173736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Runs Commands</a:t>
            </a:r>
            <a:endParaRPr lang="en-US" sz="1300" dirty="0"/>
          </a:p>
        </p:txBody>
      </p:sp>
      <p:sp>
        <p:nvSpPr>
          <p:cNvPr id="14" name="Text 10"/>
          <p:cNvSpPr/>
          <p:nvPr/>
        </p:nvSpPr>
        <p:spPr>
          <a:xfrm>
            <a:off x="5532120" y="205740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It can execute Git commands, run scripts, and make file edits — all with your approval.</a:t>
            </a:r>
            <a:endParaRPr lang="en-US" sz="1050" dirty="0"/>
          </a:p>
        </p:txBody>
      </p:sp>
      <p:sp>
        <p:nvSpPr>
          <p:cNvPr id="15" name="Shape 11"/>
          <p:cNvSpPr/>
          <p:nvPr/>
        </p:nvSpPr>
        <p:spPr>
          <a:xfrm>
            <a:off x="731520" y="306324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291840"/>
            <a:ext cx="365760" cy="365760"/>
          </a:xfrm>
          <a:prstGeom prst="rect">
            <a:avLst/>
          </a:prstGeom>
        </p:spPr>
      </p:pic>
      <p:sp>
        <p:nvSpPr>
          <p:cNvPr id="17" name="Text 12"/>
          <p:cNvSpPr/>
          <p:nvPr/>
        </p:nvSpPr>
        <p:spPr>
          <a:xfrm>
            <a:off x="1417320" y="320040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Git Integration</a:t>
            </a:r>
            <a:endParaRPr lang="en-US" sz="1300" dirty="0"/>
          </a:p>
        </p:txBody>
      </p:sp>
      <p:sp>
        <p:nvSpPr>
          <p:cNvPr id="18" name="Text 13"/>
          <p:cNvSpPr/>
          <p:nvPr/>
        </p:nvSpPr>
        <p:spPr>
          <a:xfrm>
            <a:off x="1417320" y="352044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Commit, push, create branches, and review diffs without switching tools.</a:t>
            </a:r>
            <a:endParaRPr lang="en-US" sz="1050" dirty="0"/>
          </a:p>
        </p:txBody>
      </p:sp>
      <p:sp>
        <p:nvSpPr>
          <p:cNvPr id="19" name="Shape 14"/>
          <p:cNvSpPr/>
          <p:nvPr/>
        </p:nvSpPr>
        <p:spPr>
          <a:xfrm>
            <a:off x="4846320" y="306324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5029200" y="3291840"/>
            <a:ext cx="365760" cy="365760"/>
          </a:xfrm>
          <a:prstGeom prst="rect">
            <a:avLst/>
          </a:prstGeom>
        </p:spPr>
      </p:pic>
      <p:sp>
        <p:nvSpPr>
          <p:cNvPr id="21" name="Text 15"/>
          <p:cNvSpPr/>
          <p:nvPr/>
        </p:nvSpPr>
        <p:spPr>
          <a:xfrm>
            <a:off x="5532120" y="320040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Project Context</a:t>
            </a:r>
            <a:endParaRPr lang="en-US" sz="1300" dirty="0"/>
          </a:p>
        </p:txBody>
      </p:sp>
      <p:sp>
        <p:nvSpPr>
          <p:cNvPr id="22" name="Text 16"/>
          <p:cNvSpPr/>
          <p:nvPr/>
        </p:nvSpPr>
        <p:spPr>
          <a:xfrm>
            <a:off x="5532120" y="352044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When you launch Claude Code from your repo folder, it automatically understands your project structure.</a:t>
            </a:r>
            <a:endParaRPr lang="en-US" sz="1050" dirty="0"/>
          </a:p>
        </p:txBody>
      </p:sp>
    </p:spTree>
    <p:extLst>
      <p:ext uri="{BB962C8B-B14F-4D97-AF65-F5344CB8AC3E}">
        <p14:creationId xmlns:p14="http://schemas.microsoft.com/office/powerpoint/2010/main" val="1156779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Installing Claude Code</a:t>
            </a:r>
            <a:endParaRPr lang="en-US" sz="2800" dirty="0"/>
          </a:p>
        </p:txBody>
      </p:sp>
      <p:sp>
        <p:nvSpPr>
          <p:cNvPr id="6" name="Text 4"/>
          <p:cNvSpPr/>
          <p:nvPr/>
        </p:nvSpPr>
        <p:spPr>
          <a:xfrm>
            <a:off x="731520" y="95250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 Code requires Node.js (v18+). If you already installed Git, you have a terminal ready.</a:t>
            </a:r>
            <a:endParaRPr lang="en-US" sz="1300" dirty="0"/>
          </a:p>
        </p:txBody>
      </p:sp>
      <p:sp>
        <p:nvSpPr>
          <p:cNvPr id="7" name="Shape 5"/>
          <p:cNvSpPr/>
          <p:nvPr/>
        </p:nvSpPr>
        <p:spPr>
          <a:xfrm>
            <a:off x="731520" y="1417320"/>
            <a:ext cx="3749040" cy="2286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17320"/>
            <a:ext cx="3749040" cy="411480"/>
          </a:xfrm>
          <a:prstGeom prst="rect">
            <a:avLst/>
          </a:prstGeom>
          <a:solidFill>
            <a:srgbClr val="1E2530"/>
          </a:solidFill>
          <a:ln/>
        </p:spPr>
        <p:txBody>
          <a:bodyPr/>
          <a:lstStyle/>
          <a:p>
            <a:endParaRPr lang="en-US"/>
          </a:p>
        </p:txBody>
      </p:sp>
      <p:sp>
        <p:nvSpPr>
          <p:cNvPr id="9" name="Text 7"/>
          <p:cNvSpPr/>
          <p:nvPr/>
        </p:nvSpPr>
        <p:spPr>
          <a:xfrm>
            <a:off x="731520" y="1417320"/>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Windows</a:t>
            </a:r>
            <a:endParaRPr lang="en-US" sz="1400" dirty="0"/>
          </a:p>
        </p:txBody>
      </p:sp>
      <p:sp>
        <p:nvSpPr>
          <p:cNvPr id="10" name="Text 8"/>
          <p:cNvSpPr/>
          <p:nvPr/>
        </p:nvSpPr>
        <p:spPr>
          <a:xfrm>
            <a:off x="914400" y="1965960"/>
            <a:ext cx="3383280" cy="1554480"/>
          </a:xfrm>
          <a:prstGeom prst="rect">
            <a:avLst/>
          </a:prstGeom>
          <a:noFill/>
          <a:ln/>
        </p:spPr>
        <p:txBody>
          <a:bodyPr wrap="square" lIns="0" tIns="0" rIns="0" bIns="0" rtlCol="0" anchor="ctr"/>
          <a:lstStyle/>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Install Node.js from nodejs.org</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Open Git Bash or PowerShell</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Run:  npm install -g @anthropic-ai/claude-code</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Type:  claude  to start</a:t>
            </a:r>
            <a:endParaRPr lang="en-US" sz="1200" dirty="0"/>
          </a:p>
        </p:txBody>
      </p:sp>
      <p:sp>
        <p:nvSpPr>
          <p:cNvPr id="11" name="Shape 9"/>
          <p:cNvSpPr/>
          <p:nvPr/>
        </p:nvSpPr>
        <p:spPr>
          <a:xfrm>
            <a:off x="4663440" y="1417320"/>
            <a:ext cx="3749040" cy="2286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663440" y="1417320"/>
            <a:ext cx="3749040" cy="411480"/>
          </a:xfrm>
          <a:prstGeom prst="rect">
            <a:avLst/>
          </a:prstGeom>
          <a:solidFill>
            <a:srgbClr val="36454F"/>
          </a:solidFill>
          <a:ln/>
        </p:spPr>
        <p:txBody>
          <a:bodyPr/>
          <a:lstStyle/>
          <a:p>
            <a:endParaRPr lang="en-US"/>
          </a:p>
        </p:txBody>
      </p:sp>
      <p:sp>
        <p:nvSpPr>
          <p:cNvPr id="13" name="Text 11"/>
          <p:cNvSpPr/>
          <p:nvPr/>
        </p:nvSpPr>
        <p:spPr>
          <a:xfrm>
            <a:off x="4663440" y="1417320"/>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Mac</a:t>
            </a:r>
            <a:endParaRPr lang="en-US" sz="1400" dirty="0"/>
          </a:p>
        </p:txBody>
      </p:sp>
      <p:sp>
        <p:nvSpPr>
          <p:cNvPr id="14" name="Text 12"/>
          <p:cNvSpPr/>
          <p:nvPr/>
        </p:nvSpPr>
        <p:spPr>
          <a:xfrm>
            <a:off x="4846320" y="1965960"/>
            <a:ext cx="3383280" cy="1554480"/>
          </a:xfrm>
          <a:prstGeom prst="rect">
            <a:avLst/>
          </a:prstGeom>
          <a:noFill/>
          <a:ln/>
        </p:spPr>
        <p:txBody>
          <a:bodyPr wrap="square" lIns="0" tIns="0" rIns="0" bIns="0" rtlCol="0" anchor="ctr"/>
          <a:lstStyle/>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Install Node.js:  brew install node  (or nodejs.org)</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Open Terminal</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Run:  npm install -g @anthropic-ai/claude-code</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Type:  claude  to start</a:t>
            </a:r>
            <a:endParaRPr lang="en-US" sz="1200" dirty="0"/>
          </a:p>
        </p:txBody>
      </p:sp>
      <p:sp>
        <p:nvSpPr>
          <p:cNvPr id="15" name="Text 13"/>
          <p:cNvSpPr/>
          <p:nvPr/>
        </p:nvSpPr>
        <p:spPr>
          <a:xfrm>
            <a:off x="731520" y="3977640"/>
            <a:ext cx="7680960" cy="365760"/>
          </a:xfrm>
          <a:prstGeom prst="rect">
            <a:avLst/>
          </a:prstGeom>
          <a:noFill/>
          <a:ln/>
        </p:spPr>
        <p:txBody>
          <a:bodyPr wrap="square" lIns="0" tIns="0" rIns="0" bIns="0" rtlCol="0" anchor="ctr"/>
          <a:lstStyle/>
          <a:p>
            <a:pPr marL="0" indent="0">
              <a:buNone/>
            </a:pPr>
            <a:r>
              <a:rPr lang="en-US" sz="1200" i="1" dirty="0">
                <a:solidFill>
                  <a:srgbClr val="8A9BAD"/>
                </a:solidFill>
                <a:latin typeface="Open Sans" pitchFamily="34" charset="0"/>
                <a:ea typeface="Open Sans" pitchFamily="34" charset="-122"/>
                <a:cs typeface="Open Sans" pitchFamily="34" charset="-120"/>
              </a:rPr>
              <a:t>First-time setup:  Claude Code will prompt you to sign in with your Anthropic account (free tier works).</a:t>
            </a:r>
            <a:endParaRPr lang="en-US" sz="1200" dirty="0"/>
          </a:p>
        </p:txBody>
      </p:sp>
    </p:spTree>
    <p:extLst>
      <p:ext uri="{BB962C8B-B14F-4D97-AF65-F5344CB8AC3E}">
        <p14:creationId xmlns:p14="http://schemas.microsoft.com/office/powerpoint/2010/main" val="3062150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The Claude Code Workflow</a:t>
            </a:r>
            <a:endParaRPr lang="en-US" sz="2800" dirty="0"/>
          </a:p>
        </p:txBody>
      </p:sp>
      <p:sp>
        <p:nvSpPr>
          <p:cNvPr id="6" name="Text 4"/>
          <p:cNvSpPr/>
          <p:nvPr/>
        </p:nvSpPr>
        <p:spPr>
          <a:xfrm>
            <a:off x="731520" y="95250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Navigate to your repo, type claude, and ask for help in plain English.</a:t>
            </a:r>
            <a:endParaRPr lang="en-US" sz="1300" dirty="0"/>
          </a:p>
        </p:txBody>
      </p:sp>
      <p:sp>
        <p:nvSpPr>
          <p:cNvPr id="7" name="Shape 5"/>
          <p:cNvSpPr/>
          <p:nvPr/>
        </p:nvSpPr>
        <p:spPr>
          <a:xfrm>
            <a:off x="731520" y="141732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17320"/>
            <a:ext cx="502920" cy="868680"/>
          </a:xfrm>
          <a:prstGeom prst="rect">
            <a:avLst/>
          </a:prstGeom>
          <a:solidFill>
            <a:srgbClr val="1E2530"/>
          </a:solidFill>
          <a:ln/>
        </p:spPr>
        <p:txBody>
          <a:bodyPr/>
          <a:lstStyle/>
          <a:p>
            <a:endParaRPr lang="en-US"/>
          </a:p>
        </p:txBody>
      </p:sp>
      <p:sp>
        <p:nvSpPr>
          <p:cNvPr id="9" name="Text 7"/>
          <p:cNvSpPr/>
          <p:nvPr/>
        </p:nvSpPr>
        <p:spPr>
          <a:xfrm>
            <a:off x="731520" y="141732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a:t>
            </a:r>
            <a:endParaRPr lang="en-US" sz="1800" dirty="0"/>
          </a:p>
        </p:txBody>
      </p:sp>
      <p:sp>
        <p:nvSpPr>
          <p:cNvPr id="10" name="Text 8"/>
          <p:cNvSpPr/>
          <p:nvPr/>
        </p:nvSpPr>
        <p:spPr>
          <a:xfrm>
            <a:off x="1417320" y="149047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Navigate</a:t>
            </a:r>
            <a:endParaRPr lang="en-US" sz="1400" dirty="0"/>
          </a:p>
        </p:txBody>
      </p:sp>
      <p:sp>
        <p:nvSpPr>
          <p:cNvPr id="11" name="Text 9"/>
          <p:cNvSpPr/>
          <p:nvPr/>
        </p:nvSpPr>
        <p:spPr>
          <a:xfrm>
            <a:off x="2606040" y="149047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cd ~/GitHub/shidler</a:t>
            </a:r>
            <a:endParaRPr lang="en-US" sz="1200" dirty="0"/>
          </a:p>
        </p:txBody>
      </p:sp>
      <p:sp>
        <p:nvSpPr>
          <p:cNvPr id="12" name="Text 10"/>
          <p:cNvSpPr/>
          <p:nvPr/>
        </p:nvSpPr>
        <p:spPr>
          <a:xfrm>
            <a:off x="1417320" y="185623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Open your terminal and navigate to the cloned repo folder.</a:t>
            </a:r>
            <a:endParaRPr lang="en-US" sz="1100" dirty="0"/>
          </a:p>
        </p:txBody>
      </p:sp>
      <p:sp>
        <p:nvSpPr>
          <p:cNvPr id="13" name="Shape 11"/>
          <p:cNvSpPr/>
          <p:nvPr/>
        </p:nvSpPr>
        <p:spPr>
          <a:xfrm>
            <a:off x="731520" y="260604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731520" y="2606040"/>
            <a:ext cx="502920" cy="868680"/>
          </a:xfrm>
          <a:prstGeom prst="rect">
            <a:avLst/>
          </a:prstGeom>
          <a:solidFill>
            <a:srgbClr val="1E2530"/>
          </a:solidFill>
          <a:ln/>
        </p:spPr>
        <p:txBody>
          <a:bodyPr/>
          <a:lstStyle/>
          <a:p>
            <a:endParaRPr lang="en-US"/>
          </a:p>
        </p:txBody>
      </p:sp>
      <p:sp>
        <p:nvSpPr>
          <p:cNvPr id="15" name="Text 13"/>
          <p:cNvSpPr/>
          <p:nvPr/>
        </p:nvSpPr>
        <p:spPr>
          <a:xfrm>
            <a:off x="731520" y="260604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2</a:t>
            </a:r>
            <a:endParaRPr lang="en-US" sz="1800" dirty="0"/>
          </a:p>
        </p:txBody>
      </p:sp>
      <p:sp>
        <p:nvSpPr>
          <p:cNvPr id="16" name="Text 14"/>
          <p:cNvSpPr/>
          <p:nvPr/>
        </p:nvSpPr>
        <p:spPr>
          <a:xfrm>
            <a:off x="1417320" y="267919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Launch</a:t>
            </a:r>
            <a:endParaRPr lang="en-US" sz="1400" dirty="0"/>
          </a:p>
        </p:txBody>
      </p:sp>
      <p:sp>
        <p:nvSpPr>
          <p:cNvPr id="17" name="Text 15"/>
          <p:cNvSpPr/>
          <p:nvPr/>
        </p:nvSpPr>
        <p:spPr>
          <a:xfrm>
            <a:off x="2606040" y="267919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claude</a:t>
            </a:r>
            <a:endParaRPr lang="en-US" sz="1200" dirty="0"/>
          </a:p>
        </p:txBody>
      </p:sp>
      <p:sp>
        <p:nvSpPr>
          <p:cNvPr id="18" name="Text 16"/>
          <p:cNvSpPr/>
          <p:nvPr/>
        </p:nvSpPr>
        <p:spPr>
          <a:xfrm>
            <a:off x="1417320" y="304495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Start Claude Code. It reads your project files and understands the structure.</a:t>
            </a:r>
            <a:endParaRPr lang="en-US" sz="1100" dirty="0"/>
          </a:p>
        </p:txBody>
      </p:sp>
      <p:sp>
        <p:nvSpPr>
          <p:cNvPr id="19" name="Shape 17"/>
          <p:cNvSpPr/>
          <p:nvPr/>
        </p:nvSpPr>
        <p:spPr>
          <a:xfrm>
            <a:off x="731520" y="379476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794760"/>
            <a:ext cx="502920" cy="868680"/>
          </a:xfrm>
          <a:prstGeom prst="rect">
            <a:avLst/>
          </a:prstGeom>
          <a:solidFill>
            <a:srgbClr val="1E2530"/>
          </a:solidFill>
          <a:ln/>
        </p:spPr>
        <p:txBody>
          <a:bodyPr/>
          <a:lstStyle/>
          <a:p>
            <a:endParaRPr lang="en-US"/>
          </a:p>
        </p:txBody>
      </p:sp>
      <p:sp>
        <p:nvSpPr>
          <p:cNvPr id="21" name="Text 19"/>
          <p:cNvSpPr/>
          <p:nvPr/>
        </p:nvSpPr>
        <p:spPr>
          <a:xfrm>
            <a:off x="731520" y="379476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3</a:t>
            </a:r>
            <a:endParaRPr lang="en-US" sz="1800" dirty="0"/>
          </a:p>
        </p:txBody>
      </p:sp>
      <p:sp>
        <p:nvSpPr>
          <p:cNvPr id="22" name="Text 20"/>
          <p:cNvSpPr/>
          <p:nvPr/>
        </p:nvSpPr>
        <p:spPr>
          <a:xfrm>
            <a:off x="1417320" y="386791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Ask</a:t>
            </a:r>
            <a:endParaRPr lang="en-US" sz="1400" dirty="0"/>
          </a:p>
        </p:txBody>
      </p:sp>
      <p:sp>
        <p:nvSpPr>
          <p:cNvPr id="23" name="Text 21"/>
          <p:cNvSpPr/>
          <p:nvPr/>
        </p:nvSpPr>
        <p:spPr>
          <a:xfrm>
            <a:off x="2606040" y="386791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“Review my Stage 3 spec for completeness”</a:t>
            </a:r>
            <a:endParaRPr lang="en-US" sz="1200" dirty="0"/>
          </a:p>
        </p:txBody>
      </p:sp>
      <p:sp>
        <p:nvSpPr>
          <p:cNvPr id="24" name="Text 22"/>
          <p:cNvSpPr/>
          <p:nvPr/>
        </p:nvSpPr>
        <p:spPr>
          <a:xfrm>
            <a:off x="1417320" y="423367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Type your request in natural language. Claude reads your files and responds.</a:t>
            </a:r>
            <a:endParaRPr lang="en-US" sz="1100" dirty="0"/>
          </a:p>
        </p:txBody>
      </p:sp>
    </p:spTree>
    <p:extLst>
      <p:ext uri="{BB962C8B-B14F-4D97-AF65-F5344CB8AC3E}">
        <p14:creationId xmlns:p14="http://schemas.microsoft.com/office/powerpoint/2010/main" val="3360175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Power Moves with Claude Code</a:t>
            </a:r>
            <a:endParaRPr lang="en-US" sz="2800" dirty="0"/>
          </a:p>
        </p:txBody>
      </p:sp>
      <p:sp>
        <p:nvSpPr>
          <p:cNvPr id="6" name="Text 4"/>
          <p:cNvSpPr/>
          <p:nvPr/>
        </p:nvSpPr>
        <p:spPr>
          <a:xfrm>
            <a:off x="731520" y="95250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Once you’re comfortable with the basics, try these.</a:t>
            </a:r>
            <a:endParaRPr lang="en-US" sz="1300" dirty="0"/>
          </a:p>
        </p:txBody>
      </p:sp>
      <p:sp>
        <p:nvSpPr>
          <p:cNvPr id="7" name="Shape 5"/>
          <p:cNvSpPr/>
          <p:nvPr/>
        </p:nvSpPr>
        <p:spPr>
          <a:xfrm>
            <a:off x="731520" y="137160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371600"/>
            <a:ext cx="73152" cy="658368"/>
          </a:xfrm>
          <a:prstGeom prst="rect">
            <a:avLst/>
          </a:prstGeom>
          <a:solidFill>
            <a:srgbClr val="B8975C"/>
          </a:solidFill>
          <a:ln/>
        </p:spPr>
        <p:txBody>
          <a:bodyPr/>
          <a:lstStyle/>
          <a:p>
            <a:endParaRPr lang="en-US"/>
          </a:p>
        </p:txBody>
      </p:sp>
      <p:sp>
        <p:nvSpPr>
          <p:cNvPr id="9" name="Text 7"/>
          <p:cNvSpPr/>
          <p:nvPr/>
        </p:nvSpPr>
        <p:spPr>
          <a:xfrm>
            <a:off x="1005840" y="141732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Verify Your Model</a:t>
            </a:r>
            <a:endParaRPr lang="en-US" sz="1300" dirty="0"/>
          </a:p>
        </p:txBody>
      </p:sp>
      <p:sp>
        <p:nvSpPr>
          <p:cNvPr id="10" name="Text 8"/>
          <p:cNvSpPr/>
          <p:nvPr/>
        </p:nvSpPr>
        <p:spPr>
          <a:xfrm>
            <a:off x="1005840" y="169164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“Read my Stage 2 Excel and check if all 25 ratios are present.”</a:t>
            </a:r>
            <a:endParaRPr lang="en-US" sz="1150" dirty="0"/>
          </a:p>
        </p:txBody>
      </p:sp>
      <p:sp>
        <p:nvSpPr>
          <p:cNvPr id="11" name="Shape 9"/>
          <p:cNvSpPr/>
          <p:nvPr/>
        </p:nvSpPr>
        <p:spPr>
          <a:xfrm>
            <a:off x="731520" y="219456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731520" y="2194560"/>
            <a:ext cx="73152" cy="658368"/>
          </a:xfrm>
          <a:prstGeom prst="rect">
            <a:avLst/>
          </a:prstGeom>
          <a:solidFill>
            <a:srgbClr val="B8975C"/>
          </a:solidFill>
          <a:ln/>
        </p:spPr>
        <p:txBody>
          <a:bodyPr/>
          <a:lstStyle/>
          <a:p>
            <a:endParaRPr lang="en-US"/>
          </a:p>
        </p:txBody>
      </p:sp>
      <p:sp>
        <p:nvSpPr>
          <p:cNvPr id="13" name="Text 11"/>
          <p:cNvSpPr/>
          <p:nvPr/>
        </p:nvSpPr>
        <p:spPr>
          <a:xfrm>
            <a:off x="1005840" y="224028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Git Without Leaving</a:t>
            </a:r>
            <a:endParaRPr lang="en-US" sz="1300" dirty="0"/>
          </a:p>
        </p:txBody>
      </p:sp>
      <p:sp>
        <p:nvSpPr>
          <p:cNvPr id="14" name="Text 12"/>
          <p:cNvSpPr/>
          <p:nvPr/>
        </p:nvSpPr>
        <p:spPr>
          <a:xfrm>
            <a:off x="1005840" y="251460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“Draft a commit message for my Stage 3 spec and push to GitHub.”</a:t>
            </a:r>
            <a:endParaRPr lang="en-US" sz="1150" dirty="0"/>
          </a:p>
        </p:txBody>
      </p:sp>
      <p:sp>
        <p:nvSpPr>
          <p:cNvPr id="15" name="Shape 13"/>
          <p:cNvSpPr/>
          <p:nvPr/>
        </p:nvSpPr>
        <p:spPr>
          <a:xfrm>
            <a:off x="731520" y="301752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731520" y="3017520"/>
            <a:ext cx="73152" cy="658368"/>
          </a:xfrm>
          <a:prstGeom prst="rect">
            <a:avLst/>
          </a:prstGeom>
          <a:solidFill>
            <a:srgbClr val="B8975C"/>
          </a:solidFill>
          <a:ln/>
        </p:spPr>
        <p:txBody>
          <a:bodyPr/>
          <a:lstStyle/>
          <a:p>
            <a:endParaRPr lang="en-US"/>
          </a:p>
        </p:txBody>
      </p:sp>
      <p:sp>
        <p:nvSpPr>
          <p:cNvPr id="17" name="Text 15"/>
          <p:cNvSpPr/>
          <p:nvPr/>
        </p:nvSpPr>
        <p:spPr>
          <a:xfrm>
            <a:off x="1005840" y="306324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Rubric Check</a:t>
            </a:r>
            <a:endParaRPr lang="en-US" sz="1300" dirty="0"/>
          </a:p>
        </p:txBody>
      </p:sp>
      <p:sp>
        <p:nvSpPr>
          <p:cNvPr id="18" name="Text 16"/>
          <p:cNvSpPr/>
          <p:nvPr/>
        </p:nvSpPr>
        <p:spPr>
          <a:xfrm>
            <a:off x="1005840" y="333756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“Compare my Stage 1 memo to the rubric and suggest improvements.”</a:t>
            </a:r>
            <a:endParaRPr lang="en-US" sz="1150" dirty="0"/>
          </a:p>
        </p:txBody>
      </p:sp>
      <p:sp>
        <p:nvSpPr>
          <p:cNvPr id="19" name="Shape 17"/>
          <p:cNvSpPr/>
          <p:nvPr/>
        </p:nvSpPr>
        <p:spPr>
          <a:xfrm>
            <a:off x="731520" y="384048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840480"/>
            <a:ext cx="73152" cy="658368"/>
          </a:xfrm>
          <a:prstGeom prst="rect">
            <a:avLst/>
          </a:prstGeom>
          <a:solidFill>
            <a:srgbClr val="B8975C"/>
          </a:solidFill>
          <a:ln/>
        </p:spPr>
        <p:txBody>
          <a:bodyPr/>
          <a:lstStyle/>
          <a:p>
            <a:endParaRPr lang="en-US"/>
          </a:p>
        </p:txBody>
      </p:sp>
      <p:sp>
        <p:nvSpPr>
          <p:cNvPr id="21" name="Text 19"/>
          <p:cNvSpPr/>
          <p:nvPr/>
        </p:nvSpPr>
        <p:spPr>
          <a:xfrm>
            <a:off x="1005840" y="388620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Auto-Generate Prompt</a:t>
            </a:r>
            <a:endParaRPr lang="en-US" sz="1300" dirty="0"/>
          </a:p>
        </p:txBody>
      </p:sp>
      <p:sp>
        <p:nvSpPr>
          <p:cNvPr id="22" name="Text 20"/>
          <p:cNvSpPr/>
          <p:nvPr/>
        </p:nvSpPr>
        <p:spPr>
          <a:xfrm>
            <a:off x="1005840" y="416052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“Generate the Stage 4 AI prompt using my spec as the template.”</a:t>
            </a:r>
            <a:endParaRPr lang="en-US" sz="1150" dirty="0"/>
          </a:p>
        </p:txBody>
      </p:sp>
    </p:spTree>
    <p:extLst>
      <p:ext uri="{BB962C8B-B14F-4D97-AF65-F5344CB8AC3E}">
        <p14:creationId xmlns:p14="http://schemas.microsoft.com/office/powerpoint/2010/main" val="39293678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Skills &amp; Slash Commands</a:t>
            </a:r>
            <a:endParaRPr lang="en-US" sz="2800" dirty="0"/>
          </a:p>
        </p:txBody>
      </p:sp>
      <p:sp>
        <p:nvSpPr>
          <p:cNvPr id="6" name="Text 4"/>
          <p:cNvSpPr/>
          <p:nvPr/>
        </p:nvSpPr>
        <p:spPr>
          <a:xfrm>
            <a:off x="731520" y="95250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 Code supports custom skills and /commands that extend its capabilities for your project.</a:t>
            </a:r>
            <a:endParaRPr lang="en-US" sz="1300" dirty="0"/>
          </a:p>
        </p:txBody>
      </p:sp>
      <p:sp>
        <p:nvSpPr>
          <p:cNvPr id="7" name="Shape 5"/>
          <p:cNvSpPr/>
          <p:nvPr/>
        </p:nvSpPr>
        <p:spPr>
          <a:xfrm>
            <a:off x="731520" y="137160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371600"/>
            <a:ext cx="73152" cy="658368"/>
          </a:xfrm>
          <a:prstGeom prst="rect">
            <a:avLst/>
          </a:prstGeom>
          <a:solidFill>
            <a:srgbClr val="B8975C"/>
          </a:solidFill>
          <a:ln/>
        </p:spPr>
        <p:txBody>
          <a:bodyPr/>
          <a:lstStyle/>
          <a:p>
            <a:endParaRPr lang="en-US"/>
          </a:p>
        </p:txBody>
      </p:sp>
      <p:sp>
        <p:nvSpPr>
          <p:cNvPr id="9" name="Text 7"/>
          <p:cNvSpPr/>
          <p:nvPr/>
        </p:nvSpPr>
        <p:spPr>
          <a:xfrm>
            <a:off x="1005840" y="141732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What Are Skills?</a:t>
            </a:r>
            <a:endParaRPr lang="en-US" sz="1300" dirty="0"/>
          </a:p>
        </p:txBody>
      </p:sp>
      <p:sp>
        <p:nvSpPr>
          <p:cNvPr id="10" name="Text 8"/>
          <p:cNvSpPr/>
          <p:nvPr/>
        </p:nvSpPr>
        <p:spPr>
          <a:xfrm>
            <a:off x="1005840" y="169164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“Skills are reusable instruction sets in .claude/skills/. They teach Claude domain knowledge — like how to build Excel models or apply UH branding.”</a:t>
            </a:r>
            <a:endParaRPr lang="en-US" sz="1150" dirty="0"/>
          </a:p>
        </p:txBody>
      </p:sp>
      <p:sp>
        <p:nvSpPr>
          <p:cNvPr id="11" name="Shape 9"/>
          <p:cNvSpPr/>
          <p:nvPr/>
        </p:nvSpPr>
        <p:spPr>
          <a:xfrm>
            <a:off x="731520" y="219456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731520" y="2194560"/>
            <a:ext cx="73152" cy="658368"/>
          </a:xfrm>
          <a:prstGeom prst="rect">
            <a:avLst/>
          </a:prstGeom>
          <a:solidFill>
            <a:srgbClr val="B8975C"/>
          </a:solidFill>
          <a:ln/>
        </p:spPr>
        <p:txBody>
          <a:bodyPr/>
          <a:lstStyle/>
          <a:p>
            <a:endParaRPr lang="en-US"/>
          </a:p>
        </p:txBody>
      </p:sp>
      <p:sp>
        <p:nvSpPr>
          <p:cNvPr id="13" name="Text 11"/>
          <p:cNvSpPr/>
          <p:nvPr/>
        </p:nvSpPr>
        <p:spPr>
          <a:xfrm>
            <a:off x="1005840" y="224028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Using /Commands</a:t>
            </a:r>
            <a:endParaRPr lang="en-US" sz="1300" dirty="0"/>
          </a:p>
        </p:txBody>
      </p:sp>
      <p:sp>
        <p:nvSpPr>
          <p:cNvPr id="14" name="Text 12"/>
          <p:cNvSpPr/>
          <p:nvPr/>
        </p:nvSpPr>
        <p:spPr>
          <a:xfrm>
            <a:off x="1005840" y="251460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“Type /pptx, /xlsx, /docx, /brand-guidelines, or /pdf to activate a skill. Claude loads specialized instructions and produces higher-quality output.”</a:t>
            </a:r>
            <a:endParaRPr lang="en-US" sz="1150" dirty="0"/>
          </a:p>
        </p:txBody>
      </p:sp>
      <p:sp>
        <p:nvSpPr>
          <p:cNvPr id="15" name="Shape 13"/>
          <p:cNvSpPr/>
          <p:nvPr/>
        </p:nvSpPr>
        <p:spPr>
          <a:xfrm>
            <a:off x="731520" y="301752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731520" y="3017520"/>
            <a:ext cx="73152" cy="658368"/>
          </a:xfrm>
          <a:prstGeom prst="rect">
            <a:avLst/>
          </a:prstGeom>
          <a:solidFill>
            <a:srgbClr val="B8975C"/>
          </a:solidFill>
          <a:ln/>
        </p:spPr>
        <p:txBody>
          <a:bodyPr/>
          <a:lstStyle/>
          <a:p>
            <a:endParaRPr lang="en-US"/>
          </a:p>
        </p:txBody>
      </p:sp>
      <p:sp>
        <p:nvSpPr>
          <p:cNvPr id="17" name="Text 15"/>
          <p:cNvSpPr/>
          <p:nvPr/>
        </p:nvSpPr>
        <p:spPr>
          <a:xfrm>
            <a:off x="1005840" y="306324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Installing Skills</a:t>
            </a:r>
            <a:endParaRPr lang="en-US" sz="1300" dirty="0"/>
          </a:p>
        </p:txBody>
      </p:sp>
      <p:sp>
        <p:nvSpPr>
          <p:cNvPr id="18" name="Text 16"/>
          <p:cNvSpPr/>
          <p:nvPr/>
        </p:nvSpPr>
        <p:spPr>
          <a:xfrm>
            <a:off x="1005840" y="333756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“Skills live in .claude/skills/ folders. Clone the repo and they’re ready — no separate install. Claude Code detects them automatically.”</a:t>
            </a:r>
            <a:endParaRPr lang="en-US" sz="1150" dirty="0"/>
          </a:p>
        </p:txBody>
      </p:sp>
      <p:sp>
        <p:nvSpPr>
          <p:cNvPr id="19" name="Shape 17"/>
          <p:cNvSpPr/>
          <p:nvPr/>
        </p:nvSpPr>
        <p:spPr>
          <a:xfrm>
            <a:off x="731520" y="384048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840480"/>
            <a:ext cx="73152" cy="658368"/>
          </a:xfrm>
          <a:prstGeom prst="rect">
            <a:avLst/>
          </a:prstGeom>
          <a:solidFill>
            <a:srgbClr val="B8975C"/>
          </a:solidFill>
          <a:ln/>
        </p:spPr>
        <p:txBody>
          <a:bodyPr/>
          <a:lstStyle/>
          <a:p>
            <a:endParaRPr lang="en-US"/>
          </a:p>
        </p:txBody>
      </p:sp>
      <p:sp>
        <p:nvSpPr>
          <p:cNvPr id="21" name="Text 19"/>
          <p:cNvSpPr/>
          <p:nvPr/>
        </p:nvSpPr>
        <p:spPr>
          <a:xfrm>
            <a:off x="1005840" y="388620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Available in This Repo</a:t>
            </a:r>
            <a:endParaRPr lang="en-US" sz="1300" dirty="0"/>
          </a:p>
        </p:txBody>
      </p:sp>
      <p:sp>
        <p:nvSpPr>
          <p:cNvPr id="22" name="Text 20"/>
          <p:cNvSpPr/>
          <p:nvPr/>
        </p:nvSpPr>
        <p:spPr>
          <a:xfrm>
            <a:off x="1005840" y="416052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“brand-guidelines, bus314-accounting-ratios, docx, xlsx, pptx, pdf, internal-comms, skill-creator — type /help to see all.”</a:t>
            </a:r>
            <a:endParaRPr lang="en-US" sz="1150" dirty="0"/>
          </a:p>
        </p:txBody>
      </p:sp>
    </p:spTree>
    <p:extLst>
      <p:ext uri="{BB962C8B-B14F-4D97-AF65-F5344CB8AC3E}">
        <p14:creationId xmlns:p14="http://schemas.microsoft.com/office/powerpoint/2010/main" val="40954524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The Design System</a:t>
            </a:r>
            <a:endParaRPr lang="en-US" sz="2800" dirty="0"/>
          </a:p>
        </p:txBody>
      </p:sp>
      <p:sp>
        <p:nvSpPr>
          <p:cNvPr id="6" name="Shape 4"/>
          <p:cNvSpPr/>
          <p:nvPr/>
        </p:nvSpPr>
        <p:spPr>
          <a:xfrm>
            <a:off x="7315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2"/>
          <a:stretch>
            <a:fillRect/>
          </a:stretch>
        </p:blipFill>
        <p:spPr>
          <a:xfrm>
            <a:off x="914400" y="1325880"/>
            <a:ext cx="411480" cy="411480"/>
          </a:xfrm>
          <a:prstGeom prst="rect">
            <a:avLst/>
          </a:prstGeom>
        </p:spPr>
      </p:pic>
      <p:sp>
        <p:nvSpPr>
          <p:cNvPr id="8" name="Text 5"/>
          <p:cNvSpPr/>
          <p:nvPr/>
        </p:nvSpPr>
        <p:spPr>
          <a:xfrm>
            <a:off x="14630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design.json</a:t>
            </a:r>
            <a:endParaRPr lang="en-US" sz="1400" dirty="0"/>
          </a:p>
        </p:txBody>
      </p:sp>
      <p:sp>
        <p:nvSpPr>
          <p:cNvPr id="9" name="Text 6"/>
          <p:cNvSpPr/>
          <p:nvPr/>
        </p:nvSpPr>
        <p:spPr>
          <a:xfrm>
            <a:off x="14630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Machine-readable design tokens: colors, typography, spacing, components. Claude reads this file to apply UH branding to any artifact automatically.</a:t>
            </a:r>
            <a:endParaRPr lang="en-US" sz="1100" dirty="0"/>
          </a:p>
        </p:txBody>
      </p:sp>
      <p:sp>
        <p:nvSpPr>
          <p:cNvPr id="10" name="Shape 7"/>
          <p:cNvSpPr/>
          <p:nvPr/>
        </p:nvSpPr>
        <p:spPr>
          <a:xfrm>
            <a:off x="48463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3"/>
          <a:stretch>
            <a:fillRect/>
          </a:stretch>
        </p:blipFill>
        <p:spPr>
          <a:xfrm>
            <a:off x="5029200" y="1325880"/>
            <a:ext cx="411480" cy="411480"/>
          </a:xfrm>
          <a:prstGeom prst="rect">
            <a:avLst/>
          </a:prstGeom>
        </p:spPr>
      </p:pic>
      <p:sp>
        <p:nvSpPr>
          <p:cNvPr id="12" name="Text 8"/>
          <p:cNvSpPr/>
          <p:nvPr/>
        </p:nvSpPr>
        <p:spPr>
          <a:xfrm>
            <a:off x="55778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design-system.html</a:t>
            </a:r>
            <a:endParaRPr lang="en-US" sz="1400" dirty="0"/>
          </a:p>
        </p:txBody>
      </p:sp>
      <p:sp>
        <p:nvSpPr>
          <p:cNvPr id="13" name="Text 9"/>
          <p:cNvSpPr/>
          <p:nvPr/>
        </p:nvSpPr>
        <p:spPr>
          <a:xfrm>
            <a:off x="55778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Human-readable visual reference. Open in a browser to see the full color palette, typography scale, component examples, and spacing rules.</a:t>
            </a:r>
            <a:endParaRPr lang="en-US" sz="1100" dirty="0"/>
          </a:p>
        </p:txBody>
      </p:sp>
      <p:sp>
        <p:nvSpPr>
          <p:cNvPr id="14" name="Shape 10"/>
          <p:cNvSpPr/>
          <p:nvPr/>
        </p:nvSpPr>
        <p:spPr>
          <a:xfrm>
            <a:off x="7315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4"/>
          <a:stretch>
            <a:fillRect/>
          </a:stretch>
        </p:blipFill>
        <p:spPr>
          <a:xfrm>
            <a:off x="914400" y="3063240"/>
            <a:ext cx="411480" cy="411480"/>
          </a:xfrm>
          <a:prstGeom prst="rect">
            <a:avLst/>
          </a:prstGeom>
        </p:spPr>
      </p:pic>
      <p:sp>
        <p:nvSpPr>
          <p:cNvPr id="16" name="Text 11"/>
          <p:cNvSpPr/>
          <p:nvPr/>
        </p:nvSpPr>
        <p:spPr>
          <a:xfrm>
            <a:off x="14630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How Claude Uses It</a:t>
            </a:r>
            <a:endParaRPr lang="en-US" sz="1400" dirty="0"/>
          </a:p>
        </p:txBody>
      </p:sp>
      <p:sp>
        <p:nvSpPr>
          <p:cNvPr id="17" name="Text 12"/>
          <p:cNvSpPr/>
          <p:nvPr/>
        </p:nvSpPr>
        <p:spPr>
          <a:xfrm>
            <a:off x="14630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When you invoke /brand-guidelines or ask Claude to format a document, it reads design.json for exact hex codes, font names, and sizing rules.</a:t>
            </a:r>
            <a:endParaRPr lang="en-US" sz="1100" dirty="0"/>
          </a:p>
        </p:txBody>
      </p:sp>
      <p:sp>
        <p:nvSpPr>
          <p:cNvPr id="18" name="Shape 13"/>
          <p:cNvSpPr/>
          <p:nvPr/>
        </p:nvSpPr>
        <p:spPr>
          <a:xfrm>
            <a:off x="48463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5"/>
          <a:stretch>
            <a:fillRect/>
          </a:stretch>
        </p:blipFill>
        <p:spPr>
          <a:xfrm>
            <a:off x="5029200" y="3063240"/>
            <a:ext cx="411480" cy="411480"/>
          </a:xfrm>
          <a:prstGeom prst="rect">
            <a:avLst/>
          </a:prstGeom>
        </p:spPr>
      </p:pic>
      <p:sp>
        <p:nvSpPr>
          <p:cNvPr id="20" name="Text 14"/>
          <p:cNvSpPr/>
          <p:nvPr/>
        </p:nvSpPr>
        <p:spPr>
          <a:xfrm>
            <a:off x="55778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Where to Find Them</a:t>
            </a:r>
            <a:endParaRPr lang="en-US" sz="1400" dirty="0"/>
          </a:p>
        </p:txBody>
      </p:sp>
      <p:sp>
        <p:nvSpPr>
          <p:cNvPr id="21" name="Text 15"/>
          <p:cNvSpPr/>
          <p:nvPr/>
        </p:nvSpPr>
        <p:spPr>
          <a:xfrm>
            <a:off x="55778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Both files live at docs/_branding/. The JSON is the source of truth; the HTML is for your visual review. Keep them in sync.</a:t>
            </a:r>
            <a:endParaRPr lang="en-US" sz="1100" dirty="0"/>
          </a:p>
        </p:txBody>
      </p:sp>
    </p:spTree>
    <p:extLst>
      <p:ext uri="{BB962C8B-B14F-4D97-AF65-F5344CB8AC3E}">
        <p14:creationId xmlns:p14="http://schemas.microsoft.com/office/powerpoint/2010/main" val="29873998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5500"/>
          </a:xfrm>
          <a:prstGeom prst="rect">
            <a:avLst/>
          </a:prstGeom>
          <a:solidFill>
            <a:srgbClr val="024731"/>
          </a:solidFill>
          <a:ln>
            <a:noFill/>
          </a:ln>
        </p:spPr>
        <p:txBody>
          <a:bodyPr/>
          <a:lstStyle/>
          <a:p>
            <a:endParaRPr lang="en-US"/>
          </a:p>
        </p:txBody>
      </p:sp>
      <p:sp>
        <p:nvSpPr>
          <p:cNvPr id="3" name="Text 1"/>
          <p:cNvSpPr/>
          <p:nvPr/>
        </p:nvSpPr>
        <p:spPr>
          <a:xfrm>
            <a:off x="731520" y="41148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Quick Reference</a:t>
            </a:r>
            <a:endParaRPr lang="en-US" sz="2800" dirty="0"/>
          </a:p>
        </p:txBody>
      </p:sp>
      <p:sp>
        <p:nvSpPr>
          <p:cNvPr id="4" name="Text 2"/>
          <p:cNvSpPr/>
          <p:nvPr/>
        </p:nvSpPr>
        <p:spPr>
          <a:xfrm>
            <a:off x="731520" y="105156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Useful Links</a:t>
            </a:r>
            <a:endParaRPr lang="en-US" sz="1400" dirty="0"/>
          </a:p>
        </p:txBody>
      </p:sp>
      <p:sp>
        <p:nvSpPr>
          <p:cNvPr id="5" name="Text 3"/>
          <p:cNvSpPr/>
          <p:nvPr/>
        </p:nvSpPr>
        <p:spPr>
          <a:xfrm>
            <a:off x="731520" y="150876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a:t>
            </a:r>
            <a:endParaRPr lang="en-US" sz="1100" dirty="0"/>
          </a:p>
        </p:txBody>
      </p:sp>
      <p:sp>
        <p:nvSpPr>
          <p:cNvPr id="6" name="Text 4"/>
          <p:cNvSpPr/>
          <p:nvPr/>
        </p:nvSpPr>
        <p:spPr>
          <a:xfrm>
            <a:off x="731520" y="169164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Web interface (free sign-up)</a:t>
            </a:r>
            <a:endParaRPr lang="en-US" sz="1000" dirty="0"/>
          </a:p>
        </p:txBody>
      </p:sp>
      <p:sp>
        <p:nvSpPr>
          <p:cNvPr id="7" name="Text 5"/>
          <p:cNvSpPr/>
          <p:nvPr/>
        </p:nvSpPr>
        <p:spPr>
          <a:xfrm>
            <a:off x="731520" y="192024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claude.ai/download</a:t>
            </a:r>
            <a:endParaRPr lang="en-US" sz="1100" dirty="0"/>
          </a:p>
        </p:txBody>
      </p:sp>
      <p:sp>
        <p:nvSpPr>
          <p:cNvPr id="8" name="Text 6"/>
          <p:cNvSpPr/>
          <p:nvPr/>
        </p:nvSpPr>
        <p:spPr>
          <a:xfrm>
            <a:off x="731520" y="210312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Desktop app (Mac &amp; Windows)</a:t>
            </a:r>
            <a:endParaRPr lang="en-US" sz="1000" dirty="0"/>
          </a:p>
        </p:txBody>
      </p:sp>
      <p:sp>
        <p:nvSpPr>
          <p:cNvPr id="9" name="Text 7"/>
          <p:cNvSpPr/>
          <p:nvPr/>
        </p:nvSpPr>
        <p:spPr>
          <a:xfrm>
            <a:off x="731520" y="233172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docs.anthropic.com</a:t>
            </a:r>
            <a:endParaRPr lang="en-US" sz="1100" dirty="0"/>
          </a:p>
        </p:txBody>
      </p:sp>
      <p:sp>
        <p:nvSpPr>
          <p:cNvPr id="10" name="Text 8"/>
          <p:cNvSpPr/>
          <p:nvPr/>
        </p:nvSpPr>
        <p:spPr>
          <a:xfrm>
            <a:off x="731520" y="251460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Official Claude documentation</a:t>
            </a:r>
            <a:endParaRPr lang="en-US" sz="1000" dirty="0"/>
          </a:p>
        </p:txBody>
      </p:sp>
      <p:sp>
        <p:nvSpPr>
          <p:cNvPr id="11" name="Text 9"/>
          <p:cNvSpPr/>
          <p:nvPr/>
        </p:nvSpPr>
        <p:spPr>
          <a:xfrm>
            <a:off x="731520" y="274320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claude.ai/code</a:t>
            </a:r>
            <a:endParaRPr lang="en-US" sz="1100" dirty="0"/>
          </a:p>
        </p:txBody>
      </p:sp>
      <p:sp>
        <p:nvSpPr>
          <p:cNvPr id="12" name="Text 10"/>
          <p:cNvSpPr/>
          <p:nvPr/>
        </p:nvSpPr>
        <p:spPr>
          <a:xfrm>
            <a:off x="731520" y="292608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Code (CLI tool)</a:t>
            </a:r>
            <a:endParaRPr lang="en-US" sz="1000" dirty="0"/>
          </a:p>
        </p:txBody>
      </p:sp>
      <p:sp>
        <p:nvSpPr>
          <p:cNvPr id="13" name="Text 11"/>
          <p:cNvSpPr/>
          <p:nvPr/>
        </p:nvSpPr>
        <p:spPr>
          <a:xfrm>
            <a:off x="731520" y="3154680"/>
            <a:ext cx="40640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npmjs.com/package/@anthropic-ai/claude-code</a:t>
            </a:r>
            <a:endParaRPr lang="en-US" sz="1100" dirty="0"/>
          </a:p>
        </p:txBody>
      </p:sp>
      <p:sp>
        <p:nvSpPr>
          <p:cNvPr id="14" name="Text 12"/>
          <p:cNvSpPr/>
          <p:nvPr/>
        </p:nvSpPr>
        <p:spPr>
          <a:xfrm>
            <a:off x="731520" y="333756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Code npm package</a:t>
            </a:r>
            <a:endParaRPr lang="en-US" sz="1000" dirty="0"/>
          </a:p>
        </p:txBody>
      </p:sp>
      <p:sp>
        <p:nvSpPr>
          <p:cNvPr id="15" name="Text 13"/>
          <p:cNvSpPr/>
          <p:nvPr/>
        </p:nvSpPr>
        <p:spPr>
          <a:xfrm>
            <a:off x="4846320" y="105156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Claude Code Commands</a:t>
            </a:r>
            <a:endParaRPr lang="en-US" sz="1400" dirty="0"/>
          </a:p>
        </p:txBody>
      </p:sp>
      <p:sp>
        <p:nvSpPr>
          <p:cNvPr id="16" name="Text 14"/>
          <p:cNvSpPr/>
          <p:nvPr/>
        </p:nvSpPr>
        <p:spPr>
          <a:xfrm>
            <a:off x="4846320" y="150876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t>
            </a:r>
            <a:endParaRPr lang="en-US" sz="1100" dirty="0"/>
          </a:p>
        </p:txBody>
      </p:sp>
      <p:sp>
        <p:nvSpPr>
          <p:cNvPr id="17" name="Text 15"/>
          <p:cNvSpPr/>
          <p:nvPr/>
        </p:nvSpPr>
        <p:spPr>
          <a:xfrm>
            <a:off x="4846320" y="169164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Start Claude Code in current directory</a:t>
            </a:r>
            <a:endParaRPr lang="en-US" sz="1000" dirty="0"/>
          </a:p>
        </p:txBody>
      </p:sp>
      <p:sp>
        <p:nvSpPr>
          <p:cNvPr id="18" name="Text 16"/>
          <p:cNvSpPr/>
          <p:nvPr/>
        </p:nvSpPr>
        <p:spPr>
          <a:xfrm>
            <a:off x="4846320" y="192024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/help</a:t>
            </a:r>
            <a:endParaRPr lang="en-US" sz="1100" dirty="0"/>
          </a:p>
        </p:txBody>
      </p:sp>
      <p:sp>
        <p:nvSpPr>
          <p:cNvPr id="19" name="Text 17"/>
          <p:cNvSpPr/>
          <p:nvPr/>
        </p:nvSpPr>
        <p:spPr>
          <a:xfrm>
            <a:off x="4846320" y="210312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Show available commands</a:t>
            </a:r>
            <a:endParaRPr lang="en-US" sz="1000" dirty="0"/>
          </a:p>
        </p:txBody>
      </p:sp>
      <p:sp>
        <p:nvSpPr>
          <p:cNvPr id="20" name="Text 18"/>
          <p:cNvSpPr/>
          <p:nvPr/>
        </p:nvSpPr>
        <p:spPr>
          <a:xfrm>
            <a:off x="4846320" y="233172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/clear</a:t>
            </a:r>
            <a:endParaRPr lang="en-US" sz="1100" dirty="0"/>
          </a:p>
        </p:txBody>
      </p:sp>
      <p:sp>
        <p:nvSpPr>
          <p:cNvPr id="21" name="Text 19"/>
          <p:cNvSpPr/>
          <p:nvPr/>
        </p:nvSpPr>
        <p:spPr>
          <a:xfrm>
            <a:off x="4846320" y="251460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Clear conversation context</a:t>
            </a:r>
            <a:endParaRPr lang="en-US" sz="1000" dirty="0"/>
          </a:p>
        </p:txBody>
      </p:sp>
      <p:sp>
        <p:nvSpPr>
          <p:cNvPr id="22" name="Text 20"/>
          <p:cNvSpPr/>
          <p:nvPr/>
        </p:nvSpPr>
        <p:spPr>
          <a:xfrm>
            <a:off x="4846320" y="274320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Ctrl+C</a:t>
            </a:r>
            <a:endParaRPr lang="en-US" sz="1100" dirty="0"/>
          </a:p>
        </p:txBody>
      </p:sp>
      <p:sp>
        <p:nvSpPr>
          <p:cNvPr id="23" name="Text 21"/>
          <p:cNvSpPr/>
          <p:nvPr/>
        </p:nvSpPr>
        <p:spPr>
          <a:xfrm>
            <a:off x="4846320" y="292608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Cancel current operation</a:t>
            </a:r>
            <a:endParaRPr lang="en-US" sz="1000" dirty="0"/>
          </a:p>
        </p:txBody>
      </p:sp>
      <p:sp>
        <p:nvSpPr>
          <p:cNvPr id="24" name="Text 22"/>
          <p:cNvSpPr/>
          <p:nvPr/>
        </p:nvSpPr>
        <p:spPr>
          <a:xfrm>
            <a:off x="4846320" y="315468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Type your request</a:t>
            </a:r>
            <a:endParaRPr lang="en-US" sz="1100" dirty="0"/>
          </a:p>
        </p:txBody>
      </p:sp>
      <p:sp>
        <p:nvSpPr>
          <p:cNvPr id="25" name="Text 23"/>
          <p:cNvSpPr/>
          <p:nvPr/>
        </p:nvSpPr>
        <p:spPr>
          <a:xfrm>
            <a:off x="4846320" y="333756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reads your files and responds</a:t>
            </a:r>
            <a:endParaRPr lang="en-US" sz="1000" dirty="0"/>
          </a:p>
        </p:txBody>
      </p:sp>
      <p:sp>
        <p:nvSpPr>
          <p:cNvPr id="26" name="Shape 24"/>
          <p:cNvSpPr/>
          <p:nvPr/>
        </p:nvSpPr>
        <p:spPr>
          <a:xfrm>
            <a:off x="731520" y="3931920"/>
            <a:ext cx="1828800" cy="36576"/>
          </a:xfrm>
          <a:prstGeom prst="rect">
            <a:avLst/>
          </a:prstGeom>
          <a:solidFill>
            <a:srgbClr val="B8975C"/>
          </a:solidFill>
          <a:ln/>
        </p:spPr>
        <p:txBody>
          <a:bodyPr/>
          <a:lstStyle/>
          <a:p>
            <a:endParaRPr lang="en-US"/>
          </a:p>
        </p:txBody>
      </p:sp>
      <p:sp>
        <p:nvSpPr>
          <p:cNvPr id="27" name="Text 25"/>
          <p:cNvSpPr/>
          <p:nvPr/>
        </p:nvSpPr>
        <p:spPr>
          <a:xfrm>
            <a:off x="731520" y="4114800"/>
            <a:ext cx="7680960" cy="274320"/>
          </a:xfrm>
          <a:prstGeom prst="rect">
            <a:avLst/>
          </a:prstGeom>
          <a:noFill/>
          <a:ln/>
        </p:spPr>
        <p:txBody>
          <a:bodyPr wrap="square" lIns="0" tIns="0" rIns="0" bIns="0" rtlCol="0" anchor="ctr"/>
          <a:lstStyle/>
          <a:p>
            <a:pPr marL="0" indent="0">
              <a:buNone/>
            </a:pPr>
            <a:r>
              <a:rPr lang="en-US" sz="1300" dirty="0">
                <a:solidFill>
                  <a:srgbClr val="8A9BAD"/>
                </a:solidFill>
                <a:latin typeface="Open Sans" pitchFamily="34" charset="0"/>
                <a:ea typeface="Open Sans" pitchFamily="34" charset="-122"/>
                <a:cs typeface="Open Sans" pitchFamily="34" charset="-120"/>
              </a:rPr>
              <a:t>Start with the web app. Graduate to Claude Code when you’re ready.</a:t>
            </a:r>
            <a:endParaRPr lang="en-US" sz="1300" dirty="0"/>
          </a:p>
        </p:txBody>
      </p:sp>
      <p:sp>
        <p:nvSpPr>
          <p:cNvPr id="28" name="Text 26"/>
          <p:cNvSpPr/>
          <p:nvPr/>
        </p:nvSpPr>
        <p:spPr>
          <a:xfrm>
            <a:off x="457200" y="473710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6966993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8C8A8-8564-943A-0CE2-B9EAD893FF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53C377-5E53-F9E8-A27F-0C516CF4EE5A}"/>
              </a:ext>
            </a:extLst>
          </p:cNvPr>
          <p:cNvSpPr/>
          <p:nvPr/>
        </p:nvSpPr>
        <p:spPr>
          <a:xfrm>
            <a:off x="0" y="0"/>
            <a:ext cx="9144000" cy="36576"/>
          </a:xfrm>
          <a:prstGeom prst="rect">
            <a:avLst/>
          </a:prstGeom>
          <a:solidFill>
            <a:srgbClr val="B8975C"/>
          </a:solidFill>
          <a:ln/>
        </p:spPr>
        <p:txBody>
          <a:bodyPr/>
          <a:lstStyle/>
          <a:p>
            <a:endParaRPr lang="en-US"/>
          </a:p>
        </p:txBody>
      </p:sp>
      <p:sp>
        <p:nvSpPr>
          <p:cNvPr id="3" name="Text 1">
            <a:extLst>
              <a:ext uri="{FF2B5EF4-FFF2-40B4-BE49-F238E27FC236}">
                <a16:creationId xmlns:a16="http://schemas.microsoft.com/office/drawing/2014/main" id="{FB49E700-5A07-CB8D-CD15-D0780F2BA747}"/>
              </a:ext>
            </a:extLst>
          </p:cNvPr>
          <p:cNvSpPr/>
          <p:nvPr/>
        </p:nvSpPr>
        <p:spPr>
          <a:xfrm>
            <a:off x="731520" y="54864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APPENDIX C</a:t>
            </a:r>
            <a:endParaRPr lang="en-US" sz="1400" dirty="0"/>
          </a:p>
        </p:txBody>
      </p:sp>
      <p:sp>
        <p:nvSpPr>
          <p:cNvPr id="4" name="Text 2">
            <a:extLst>
              <a:ext uri="{FF2B5EF4-FFF2-40B4-BE49-F238E27FC236}">
                <a16:creationId xmlns:a16="http://schemas.microsoft.com/office/drawing/2014/main" id="{F54F229D-F05E-B476-5B3E-4BBC55431E5F}"/>
              </a:ext>
            </a:extLst>
          </p:cNvPr>
          <p:cNvSpPr/>
          <p:nvPr/>
        </p:nvSpPr>
        <p:spPr>
          <a:xfrm>
            <a:off x="731520" y="1097280"/>
            <a:ext cx="7680960" cy="1828800"/>
          </a:xfrm>
          <a:prstGeom prst="rect">
            <a:avLst/>
          </a:prstGeom>
          <a:noFill/>
          <a:ln/>
        </p:spPr>
        <p:txBody>
          <a:bodyPr wrap="square" lIns="0" tIns="0" rIns="0" bIns="0" rtlCol="0" anchor="ctr"/>
          <a:lstStyle/>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Accounting Standards</a:t>
            </a:r>
            <a:endParaRPr lang="en-US" sz="4000" dirty="0">
              <a:solidFill>
                <a:schemeClr val="accent6">
                  <a:lumMod val="50000"/>
                </a:schemeClr>
              </a:solidFill>
            </a:endParaRPr>
          </a:p>
          <a:p>
            <a:pPr marL="0" indent="0">
              <a:lnSpc>
                <a:spcPct val="110000"/>
              </a:lnSpc>
              <a:buNone/>
            </a:pPr>
            <a:r>
              <a:rPr lang="en-US" sz="4000" b="1" dirty="0">
                <a:solidFill>
                  <a:schemeClr val="accent6">
                    <a:lumMod val="50000"/>
                  </a:schemeClr>
                </a:solidFill>
                <a:latin typeface="Open Sans" pitchFamily="34" charset="0"/>
                <a:ea typeface="Open Sans" pitchFamily="34" charset="-122"/>
                <a:cs typeface="Open Sans" pitchFamily="34" charset="-120"/>
              </a:rPr>
              <a:t>&amp; GAAP Conversion</a:t>
            </a:r>
            <a:endParaRPr lang="en-US" sz="4000" dirty="0">
              <a:solidFill>
                <a:schemeClr val="accent6">
                  <a:lumMod val="50000"/>
                </a:schemeClr>
              </a:solidFill>
            </a:endParaRPr>
          </a:p>
        </p:txBody>
      </p:sp>
      <p:sp>
        <p:nvSpPr>
          <p:cNvPr id="5" name="Shape 3">
            <a:extLst>
              <a:ext uri="{FF2B5EF4-FFF2-40B4-BE49-F238E27FC236}">
                <a16:creationId xmlns:a16="http://schemas.microsoft.com/office/drawing/2014/main" id="{839A0219-6F48-03FD-88BB-49FB29159640}"/>
              </a:ext>
            </a:extLst>
          </p:cNvPr>
          <p:cNvSpPr/>
          <p:nvPr/>
        </p:nvSpPr>
        <p:spPr>
          <a:xfrm>
            <a:off x="731520" y="3108960"/>
            <a:ext cx="1828800" cy="36576"/>
          </a:xfrm>
          <a:prstGeom prst="rect">
            <a:avLst/>
          </a:prstGeom>
          <a:solidFill>
            <a:srgbClr val="B8975C"/>
          </a:solidFill>
          <a:ln/>
        </p:spPr>
        <p:txBody>
          <a:bodyPr/>
          <a:lstStyle/>
          <a:p>
            <a:endParaRPr lang="en-US"/>
          </a:p>
        </p:txBody>
      </p:sp>
      <p:sp>
        <p:nvSpPr>
          <p:cNvPr id="6" name="Text 4">
            <a:extLst>
              <a:ext uri="{FF2B5EF4-FFF2-40B4-BE49-F238E27FC236}">
                <a16:creationId xmlns:a16="http://schemas.microsoft.com/office/drawing/2014/main" id="{F2900D6E-9BE4-4C5F-F3CB-86C919186C1A}"/>
              </a:ext>
            </a:extLst>
          </p:cNvPr>
          <p:cNvSpPr/>
          <p:nvPr/>
        </p:nvSpPr>
        <p:spPr>
          <a:xfrm>
            <a:off x="731520" y="3337560"/>
            <a:ext cx="6400800" cy="73152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How to handle non-US-GAAP financials when populating your ratios workbook. Covers VAS, IFRS, CAS, JGAAP, and the GAAP Bridge template.</a:t>
            </a:r>
            <a:endParaRPr lang="en-US" sz="1400" dirty="0"/>
          </a:p>
        </p:txBody>
      </p:sp>
      <p:pic>
        <p:nvPicPr>
          <p:cNvPr id="7" name="Image 0" descr="preencoded.png">
            <a:extLst>
              <a:ext uri="{FF2B5EF4-FFF2-40B4-BE49-F238E27FC236}">
                <a16:creationId xmlns:a16="http://schemas.microsoft.com/office/drawing/2014/main" id="{C3335FD3-0934-88F3-5290-2F0CA62CFE62}"/>
              </a:ext>
            </a:extLst>
          </p:cNvPr>
          <p:cNvPicPr>
            <a:picLocks noChangeAspect="1"/>
          </p:cNvPicPr>
          <p:nvPr/>
        </p:nvPicPr>
        <p:blipFill>
          <a:blip r:embed="rId3"/>
          <a:stretch>
            <a:fillRect/>
          </a:stretch>
        </p:blipFill>
        <p:spPr>
          <a:xfrm>
            <a:off x="7132320" y="3200400"/>
            <a:ext cx="1097280" cy="1097280"/>
          </a:xfrm>
          <a:prstGeom prst="rect">
            <a:avLst/>
          </a:prstGeom>
        </p:spPr>
      </p:pic>
      <p:sp>
        <p:nvSpPr>
          <p:cNvPr id="8" name="Text 5">
            <a:extLst>
              <a:ext uri="{FF2B5EF4-FFF2-40B4-BE49-F238E27FC236}">
                <a16:creationId xmlns:a16="http://schemas.microsoft.com/office/drawing/2014/main" id="{1E0F0504-7EA9-C4C2-CD3C-A13D947AD528}"/>
              </a:ext>
            </a:extLst>
          </p:cNvPr>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extLst>
      <p:ext uri="{BB962C8B-B14F-4D97-AF65-F5344CB8AC3E}">
        <p14:creationId xmlns:p14="http://schemas.microsoft.com/office/powerpoint/2010/main" val="303619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Why Accounting Standards Matter</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Appendix C  |  Non-US companies report under different frameworks — your ratios must account for this</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The Problem</a:t>
            </a:r>
            <a:endParaRPr lang="en-US" sz="1400" dirty="0"/>
          </a:p>
        </p:txBody>
      </p:sp>
      <p:sp>
        <p:nvSpPr>
          <p:cNvPr id="6" name="Shape 4"/>
          <p:cNvSpPr/>
          <p:nvPr/>
        </p:nvSpPr>
        <p:spPr>
          <a:xfrm>
            <a:off x="548640" y="1417320"/>
            <a:ext cx="4114800" cy="502920"/>
          </a:xfrm>
          <a:prstGeom prst="rect">
            <a:avLst/>
          </a:prstGeom>
          <a:solidFill>
            <a:srgbClr val="E6F2EF"/>
          </a:solidFill>
          <a:ln/>
        </p:spPr>
        <p:txBody>
          <a:bodyPr/>
          <a:lstStyle/>
          <a:p>
            <a:endParaRPr lang="en-US"/>
          </a:p>
        </p:txBody>
      </p:sp>
      <p:sp>
        <p:nvSpPr>
          <p:cNvPr id="7" name="Text 5"/>
          <p:cNvSpPr/>
          <p:nvPr/>
        </p:nvSpPr>
        <p:spPr>
          <a:xfrm>
            <a:off x="685800" y="146304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Vietnamese firms report under VAS</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which differs from US GAAP and IFRS</a:t>
            </a:r>
            <a:endParaRPr lang="en-US" sz="1100" dirty="0"/>
          </a:p>
        </p:txBody>
      </p:sp>
      <p:sp>
        <p:nvSpPr>
          <p:cNvPr id="8" name="Shape 6"/>
          <p:cNvSpPr/>
          <p:nvPr/>
        </p:nvSpPr>
        <p:spPr>
          <a:xfrm>
            <a:off x="548640" y="2011680"/>
            <a:ext cx="4114800" cy="502920"/>
          </a:xfrm>
          <a:prstGeom prst="rect">
            <a:avLst/>
          </a:prstGeom>
          <a:solidFill>
            <a:srgbClr val="E6F2EF"/>
          </a:solidFill>
          <a:ln/>
        </p:spPr>
        <p:txBody>
          <a:bodyPr/>
          <a:lstStyle/>
          <a:p>
            <a:endParaRPr lang="en-US"/>
          </a:p>
        </p:txBody>
      </p:sp>
      <p:sp>
        <p:nvSpPr>
          <p:cNvPr id="9" name="Text 7"/>
          <p:cNvSpPr/>
          <p:nvPr/>
        </p:nvSpPr>
        <p:spPr>
          <a:xfrm>
            <a:off x="685800" y="205740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Ratios are only comparable if the</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underlying financials are on a comparable basis</a:t>
            </a:r>
            <a:endParaRPr lang="en-US" sz="1100" dirty="0"/>
          </a:p>
        </p:txBody>
      </p:sp>
      <p:sp>
        <p:nvSpPr>
          <p:cNvPr id="10" name="Shape 8"/>
          <p:cNvSpPr/>
          <p:nvPr/>
        </p:nvSpPr>
        <p:spPr>
          <a:xfrm>
            <a:off x="4937760" y="1051560"/>
            <a:ext cx="3840480" cy="37490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Text 9"/>
          <p:cNvSpPr/>
          <p:nvPr/>
        </p:nvSpPr>
        <p:spPr>
          <a:xfrm>
            <a:off x="4946904" y="1143000"/>
            <a:ext cx="3822192"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Five Areas to Check</a:t>
            </a:r>
            <a:endParaRPr lang="en-US" sz="1400" dirty="0"/>
          </a:p>
        </p:txBody>
      </p:sp>
      <p:sp>
        <p:nvSpPr>
          <p:cNvPr id="12" name="Text 10"/>
          <p:cNvSpPr/>
          <p:nvPr/>
        </p:nvSpPr>
        <p:spPr>
          <a:xfrm>
            <a:off x="5120640" y="1417320"/>
            <a:ext cx="3474720" cy="228600"/>
          </a:xfrm>
          <a:prstGeom prst="rect">
            <a:avLst/>
          </a:prstGeom>
          <a:noFill/>
          <a:ln/>
        </p:spPr>
        <p:txBody>
          <a:bodyPr wrap="square" lIns="0" tIns="0" rIns="0" bIns="0"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Check each when using non-US-GAAP data</a:t>
            </a:r>
            <a:endParaRPr lang="en-US" sz="900" dirty="0"/>
          </a:p>
        </p:txBody>
      </p:sp>
      <p:sp>
        <p:nvSpPr>
          <p:cNvPr id="13" name="Shape 11"/>
          <p:cNvSpPr/>
          <p:nvPr/>
        </p:nvSpPr>
        <p:spPr>
          <a:xfrm>
            <a:off x="5212080" y="1783080"/>
            <a:ext cx="201168" cy="201168"/>
          </a:xfrm>
          <a:prstGeom prst="rect">
            <a:avLst/>
          </a:prstGeom>
          <a:solidFill>
            <a:srgbClr val="FFFFFF"/>
          </a:solidFill>
          <a:ln w="19050">
            <a:solidFill>
              <a:srgbClr val="024731"/>
            </a:solidFill>
            <a:prstDash val="solid"/>
          </a:ln>
        </p:spPr>
        <p:txBody>
          <a:bodyPr/>
          <a:lstStyle/>
          <a:p>
            <a:endParaRPr lang="en-US"/>
          </a:p>
        </p:txBody>
      </p:sp>
      <p:sp>
        <p:nvSpPr>
          <p:cNvPr id="14" name="Text 12"/>
          <p:cNvSpPr/>
          <p:nvPr/>
        </p:nvSpPr>
        <p:spPr>
          <a:xfrm>
            <a:off x="5532120" y="176479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Inventory method (LIFO vs. FIFO)</a:t>
            </a:r>
            <a:endParaRPr lang="en-US" sz="1000" dirty="0"/>
          </a:p>
        </p:txBody>
      </p:sp>
      <p:sp>
        <p:nvSpPr>
          <p:cNvPr id="15" name="Shape 13"/>
          <p:cNvSpPr/>
          <p:nvPr/>
        </p:nvSpPr>
        <p:spPr>
          <a:xfrm>
            <a:off x="5212080" y="2130552"/>
            <a:ext cx="201168" cy="201168"/>
          </a:xfrm>
          <a:prstGeom prst="rect">
            <a:avLst/>
          </a:prstGeom>
          <a:solidFill>
            <a:srgbClr val="FFFFFF"/>
          </a:solidFill>
          <a:ln w="19050">
            <a:solidFill>
              <a:srgbClr val="024731"/>
            </a:solidFill>
            <a:prstDash val="solid"/>
          </a:ln>
        </p:spPr>
        <p:txBody>
          <a:bodyPr/>
          <a:lstStyle/>
          <a:p>
            <a:endParaRPr lang="en-US"/>
          </a:p>
        </p:txBody>
      </p:sp>
      <p:sp>
        <p:nvSpPr>
          <p:cNvPr id="16" name="Text 14"/>
          <p:cNvSpPr/>
          <p:nvPr/>
        </p:nvSpPr>
        <p:spPr>
          <a:xfrm>
            <a:off x="5532120" y="2112264"/>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Leases (IFRS 16 vs. VAS off-BS)</a:t>
            </a:r>
            <a:endParaRPr lang="en-US" sz="1000" dirty="0"/>
          </a:p>
        </p:txBody>
      </p:sp>
      <p:sp>
        <p:nvSpPr>
          <p:cNvPr id="17" name="Shape 15"/>
          <p:cNvSpPr/>
          <p:nvPr/>
        </p:nvSpPr>
        <p:spPr>
          <a:xfrm>
            <a:off x="5212080" y="2478024"/>
            <a:ext cx="201168" cy="201168"/>
          </a:xfrm>
          <a:prstGeom prst="rect">
            <a:avLst/>
          </a:prstGeom>
          <a:solidFill>
            <a:srgbClr val="FFFFFF"/>
          </a:solidFill>
          <a:ln w="19050">
            <a:solidFill>
              <a:srgbClr val="024731"/>
            </a:solidFill>
            <a:prstDash val="solid"/>
          </a:ln>
        </p:spPr>
        <p:txBody>
          <a:bodyPr/>
          <a:lstStyle/>
          <a:p>
            <a:endParaRPr lang="en-US"/>
          </a:p>
        </p:txBody>
      </p:sp>
      <p:sp>
        <p:nvSpPr>
          <p:cNvPr id="18" name="Text 16"/>
          <p:cNvSpPr/>
          <p:nvPr/>
        </p:nvSpPr>
        <p:spPr>
          <a:xfrm>
            <a:off x="5532120" y="2459736"/>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R&amp;D / development cost capitalization</a:t>
            </a:r>
            <a:endParaRPr lang="en-US" sz="1000" dirty="0"/>
          </a:p>
        </p:txBody>
      </p:sp>
      <p:sp>
        <p:nvSpPr>
          <p:cNvPr id="19" name="Shape 17"/>
          <p:cNvSpPr/>
          <p:nvPr/>
        </p:nvSpPr>
        <p:spPr>
          <a:xfrm>
            <a:off x="5212080" y="2825496"/>
            <a:ext cx="201168" cy="201168"/>
          </a:xfrm>
          <a:prstGeom prst="rect">
            <a:avLst/>
          </a:prstGeom>
          <a:solidFill>
            <a:srgbClr val="FFFFFF"/>
          </a:solidFill>
          <a:ln w="19050">
            <a:solidFill>
              <a:srgbClr val="024731"/>
            </a:solidFill>
            <a:prstDash val="solid"/>
          </a:ln>
        </p:spPr>
        <p:txBody>
          <a:bodyPr/>
          <a:lstStyle/>
          <a:p>
            <a:endParaRPr lang="en-US"/>
          </a:p>
        </p:txBody>
      </p:sp>
      <p:sp>
        <p:nvSpPr>
          <p:cNvPr id="20" name="Text 18"/>
          <p:cNvSpPr/>
          <p:nvPr/>
        </p:nvSpPr>
        <p:spPr>
          <a:xfrm>
            <a:off x="5532120" y="2807208"/>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Impairment reversals (IFRS allows)</a:t>
            </a:r>
            <a:endParaRPr lang="en-US" sz="1000" dirty="0"/>
          </a:p>
        </p:txBody>
      </p:sp>
      <p:sp>
        <p:nvSpPr>
          <p:cNvPr id="21" name="Shape 19"/>
          <p:cNvSpPr/>
          <p:nvPr/>
        </p:nvSpPr>
        <p:spPr>
          <a:xfrm>
            <a:off x="5212080" y="3172968"/>
            <a:ext cx="201168" cy="201168"/>
          </a:xfrm>
          <a:prstGeom prst="rect">
            <a:avLst/>
          </a:prstGeom>
          <a:solidFill>
            <a:srgbClr val="FFFFFF"/>
          </a:solidFill>
          <a:ln w="19050">
            <a:solidFill>
              <a:srgbClr val="024731"/>
            </a:solidFill>
            <a:prstDash val="solid"/>
          </a:ln>
        </p:spPr>
        <p:txBody>
          <a:bodyPr/>
          <a:lstStyle/>
          <a:p>
            <a:endParaRPr lang="en-US"/>
          </a:p>
        </p:txBody>
      </p:sp>
      <p:sp>
        <p:nvSpPr>
          <p:cNvPr id="22" name="Text 20"/>
          <p:cNvSpPr/>
          <p:nvPr/>
        </p:nvSpPr>
        <p:spPr>
          <a:xfrm>
            <a:off x="5532120" y="3154680"/>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Revenue recognition timing</a:t>
            </a:r>
            <a:endParaRPr lang="en-US" sz="1000" dirty="0"/>
          </a:p>
        </p:txBody>
      </p:sp>
      <p:sp>
        <p:nvSpPr>
          <p:cNvPr id="23" name="Shape 21"/>
          <p:cNvSpPr/>
          <p:nvPr/>
        </p:nvSpPr>
        <p:spPr>
          <a:xfrm>
            <a:off x="5212080" y="3520440"/>
            <a:ext cx="201168" cy="201168"/>
          </a:xfrm>
          <a:prstGeom prst="rect">
            <a:avLst/>
          </a:prstGeom>
          <a:solidFill>
            <a:srgbClr val="FFFFFF"/>
          </a:solidFill>
          <a:ln w="19050">
            <a:solidFill>
              <a:srgbClr val="024731"/>
            </a:solidFill>
            <a:prstDash val="solid"/>
          </a:ln>
        </p:spPr>
        <p:txBody>
          <a:bodyPr/>
          <a:lstStyle/>
          <a:p>
            <a:endParaRPr lang="en-US"/>
          </a:p>
        </p:txBody>
      </p:sp>
      <p:sp>
        <p:nvSpPr>
          <p:cNvPr id="24" name="Text 22"/>
          <p:cNvSpPr/>
          <p:nvPr/>
        </p:nvSpPr>
        <p:spPr>
          <a:xfrm>
            <a:off x="5532120" y="350215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GAAP Bridge tab completed</a:t>
            </a:r>
            <a:endParaRPr lang="en-US" sz="1000" dirty="0"/>
          </a:p>
        </p:txBody>
      </p:sp>
      <p:sp>
        <p:nvSpPr>
          <p:cNvPr id="29" name="Shape 27"/>
          <p:cNvSpPr/>
          <p:nvPr/>
        </p:nvSpPr>
        <p:spPr>
          <a:xfrm>
            <a:off x="548640" y="4434840"/>
            <a:ext cx="4114800" cy="457200"/>
          </a:xfrm>
          <a:prstGeom prst="rect">
            <a:avLst/>
          </a:prstGeom>
          <a:solidFill>
            <a:srgbClr val="024731"/>
          </a:solidFill>
          <a:ln/>
        </p:spPr>
        <p:txBody>
          <a:bodyPr/>
          <a:lstStyle/>
          <a:p>
            <a:endParaRPr lang="en-US"/>
          </a:p>
        </p:txBody>
      </p:sp>
      <p:sp>
        <p:nvSpPr>
          <p:cNvPr id="30" name="Text 28"/>
          <p:cNvSpPr/>
          <p:nvPr/>
        </p:nvSpPr>
        <p:spPr>
          <a:xfrm>
            <a:off x="685800" y="4453128"/>
            <a:ext cx="3840480" cy="4114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You are graded on quality of disclosure, not on performing a full conversion. Identify the standard, check the five areas, note what you found.</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What You Need to Do</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Appendix C  |  Four steps when your company reports under VAS, IFRS, CAS, or another non-US standard</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Four Steps</a:t>
            </a:r>
            <a:endParaRPr lang="en-US" sz="1400" dirty="0"/>
          </a:p>
        </p:txBody>
      </p:sp>
      <p:sp>
        <p:nvSpPr>
          <p:cNvPr id="6" name="Shape 4"/>
          <p:cNvSpPr/>
          <p:nvPr/>
        </p:nvSpPr>
        <p:spPr>
          <a:xfrm>
            <a:off x="548640" y="1417320"/>
            <a:ext cx="4114800" cy="502920"/>
          </a:xfrm>
          <a:prstGeom prst="rect">
            <a:avLst/>
          </a:prstGeom>
          <a:solidFill>
            <a:srgbClr val="E6F2EF"/>
          </a:solidFill>
          <a:ln/>
        </p:spPr>
        <p:txBody>
          <a:bodyPr/>
          <a:lstStyle/>
          <a:p>
            <a:endParaRPr lang="en-US"/>
          </a:p>
        </p:txBody>
      </p:sp>
      <p:sp>
        <p:nvSpPr>
          <p:cNvPr id="7" name="Text 5"/>
          <p:cNvSpPr/>
          <p:nvPr/>
        </p:nvSpPr>
        <p:spPr>
          <a:xfrm>
            <a:off x="685800" y="146304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1. Identify the reporting standard</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Record in Cover &amp; Instructions tab</a:t>
            </a:r>
            <a:endParaRPr lang="en-US" sz="1100" dirty="0"/>
          </a:p>
        </p:txBody>
      </p:sp>
      <p:sp>
        <p:nvSpPr>
          <p:cNvPr id="8" name="Shape 6"/>
          <p:cNvSpPr/>
          <p:nvPr/>
        </p:nvSpPr>
        <p:spPr>
          <a:xfrm>
            <a:off x="548640" y="2011680"/>
            <a:ext cx="4114800" cy="502920"/>
          </a:xfrm>
          <a:prstGeom prst="rect">
            <a:avLst/>
          </a:prstGeom>
          <a:solidFill>
            <a:srgbClr val="E6F2EF"/>
          </a:solidFill>
          <a:ln/>
        </p:spPr>
        <p:txBody>
          <a:bodyPr/>
          <a:lstStyle/>
          <a:p>
            <a:endParaRPr lang="en-US"/>
          </a:p>
        </p:txBody>
      </p:sp>
      <p:sp>
        <p:nvSpPr>
          <p:cNvPr id="9" name="Text 7"/>
          <p:cNvSpPr/>
          <p:nvPr/>
        </p:nvSpPr>
        <p:spPr>
          <a:xfrm>
            <a:off x="685800" y="205740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2. Check the five high-impact areas</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Use the quick-reference checklist</a:t>
            </a:r>
            <a:endParaRPr lang="en-US" sz="1100" dirty="0"/>
          </a:p>
        </p:txBody>
      </p:sp>
      <p:sp>
        <p:nvSpPr>
          <p:cNvPr id="10" name="Shape 8"/>
          <p:cNvSpPr/>
          <p:nvPr/>
        </p:nvSpPr>
        <p:spPr>
          <a:xfrm>
            <a:off x="4937760" y="1051560"/>
            <a:ext cx="3840480" cy="37490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Text 9"/>
          <p:cNvSpPr/>
          <p:nvPr/>
        </p:nvSpPr>
        <p:spPr>
          <a:xfrm>
            <a:off x="4946904" y="1143000"/>
            <a:ext cx="3822192"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Steps 3 &amp; 4</a:t>
            </a:r>
            <a:endParaRPr lang="en-US" sz="1400" dirty="0"/>
          </a:p>
        </p:txBody>
      </p:sp>
      <p:sp>
        <p:nvSpPr>
          <p:cNvPr id="12" name="Text 10"/>
          <p:cNvSpPr/>
          <p:nvPr/>
        </p:nvSpPr>
        <p:spPr>
          <a:xfrm>
            <a:off x="5120640" y="1417320"/>
            <a:ext cx="3474720" cy="228600"/>
          </a:xfrm>
          <a:prstGeom prst="rect">
            <a:avLst/>
          </a:prstGeom>
          <a:noFill/>
          <a:ln/>
        </p:spPr>
        <p:txBody>
          <a:bodyPr wrap="square" lIns="0" tIns="0" rIns="0" bIns="0"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Complete in your workbook</a:t>
            </a:r>
            <a:endParaRPr lang="en-US" sz="900" dirty="0"/>
          </a:p>
        </p:txBody>
      </p:sp>
      <p:sp>
        <p:nvSpPr>
          <p:cNvPr id="13" name="Shape 11"/>
          <p:cNvSpPr/>
          <p:nvPr/>
        </p:nvSpPr>
        <p:spPr>
          <a:xfrm>
            <a:off x="5212080" y="1783080"/>
            <a:ext cx="201168" cy="201168"/>
          </a:xfrm>
          <a:prstGeom prst="rect">
            <a:avLst/>
          </a:prstGeom>
          <a:solidFill>
            <a:srgbClr val="FFFFFF"/>
          </a:solidFill>
          <a:ln w="19050">
            <a:solidFill>
              <a:srgbClr val="024731"/>
            </a:solidFill>
            <a:prstDash val="solid"/>
          </a:ln>
        </p:spPr>
        <p:txBody>
          <a:bodyPr/>
          <a:lstStyle/>
          <a:p>
            <a:endParaRPr lang="en-US"/>
          </a:p>
        </p:txBody>
      </p:sp>
      <p:sp>
        <p:nvSpPr>
          <p:cNvPr id="14" name="Text 12"/>
          <p:cNvSpPr/>
          <p:nvPr/>
        </p:nvSpPr>
        <p:spPr>
          <a:xfrm>
            <a:off x="5532120" y="176479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3. Fill in the GAAP Bridge tab</a:t>
            </a:r>
            <a:endParaRPr lang="en-US" sz="1000" dirty="0"/>
          </a:p>
        </p:txBody>
      </p:sp>
      <p:sp>
        <p:nvSpPr>
          <p:cNvPr id="15" name="Shape 13"/>
          <p:cNvSpPr/>
          <p:nvPr/>
        </p:nvSpPr>
        <p:spPr>
          <a:xfrm>
            <a:off x="5212080" y="2130552"/>
            <a:ext cx="201168" cy="201168"/>
          </a:xfrm>
          <a:prstGeom prst="rect">
            <a:avLst/>
          </a:prstGeom>
          <a:solidFill>
            <a:srgbClr val="FFFFFF"/>
          </a:solidFill>
          <a:ln w="19050">
            <a:solidFill>
              <a:srgbClr val="024731"/>
            </a:solidFill>
            <a:prstDash val="solid"/>
          </a:ln>
        </p:spPr>
        <p:txBody>
          <a:bodyPr/>
          <a:lstStyle/>
          <a:p>
            <a:endParaRPr lang="en-US"/>
          </a:p>
        </p:txBody>
      </p:sp>
      <p:sp>
        <p:nvSpPr>
          <p:cNvPr id="16" name="Text 14"/>
          <p:cNvSpPr/>
          <p:nvPr/>
        </p:nvSpPr>
        <p:spPr>
          <a:xfrm>
            <a:off x="5532120" y="2112264"/>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Copy from models/templates/</a:t>
            </a:r>
            <a:endParaRPr lang="en-US" sz="1000" dirty="0"/>
          </a:p>
        </p:txBody>
      </p:sp>
      <p:sp>
        <p:nvSpPr>
          <p:cNvPr id="17" name="Shape 15"/>
          <p:cNvSpPr/>
          <p:nvPr/>
        </p:nvSpPr>
        <p:spPr>
          <a:xfrm>
            <a:off x="5212080" y="2478024"/>
            <a:ext cx="201168" cy="201168"/>
          </a:xfrm>
          <a:prstGeom prst="rect">
            <a:avLst/>
          </a:prstGeom>
          <a:solidFill>
            <a:srgbClr val="FFFFFF"/>
          </a:solidFill>
          <a:ln w="19050">
            <a:solidFill>
              <a:srgbClr val="024731"/>
            </a:solidFill>
            <a:prstDash val="solid"/>
          </a:ln>
        </p:spPr>
        <p:txBody>
          <a:bodyPr/>
          <a:lstStyle/>
          <a:p>
            <a:endParaRPr lang="en-US"/>
          </a:p>
        </p:txBody>
      </p:sp>
      <p:sp>
        <p:nvSpPr>
          <p:cNvPr id="18" name="Text 16"/>
          <p:cNvSpPr/>
          <p:nvPr/>
        </p:nvSpPr>
        <p:spPr>
          <a:xfrm>
            <a:off x="5532120" y="2459736"/>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gaap-bridge-template.xlsx</a:t>
            </a:r>
            <a:endParaRPr lang="en-US" sz="1000" dirty="0"/>
          </a:p>
        </p:txBody>
      </p:sp>
      <p:sp>
        <p:nvSpPr>
          <p:cNvPr id="19" name="Shape 17"/>
          <p:cNvSpPr/>
          <p:nvPr/>
        </p:nvSpPr>
        <p:spPr>
          <a:xfrm>
            <a:off x="5212080" y="2825496"/>
            <a:ext cx="201168" cy="201168"/>
          </a:xfrm>
          <a:prstGeom prst="rect">
            <a:avLst/>
          </a:prstGeom>
          <a:solidFill>
            <a:srgbClr val="FFFFFF"/>
          </a:solidFill>
          <a:ln w="19050">
            <a:solidFill>
              <a:srgbClr val="024731"/>
            </a:solidFill>
            <a:prstDash val="solid"/>
          </a:ln>
        </p:spPr>
        <p:txBody>
          <a:bodyPr/>
          <a:lstStyle/>
          <a:p>
            <a:endParaRPr lang="en-US"/>
          </a:p>
        </p:txBody>
      </p:sp>
      <p:sp>
        <p:nvSpPr>
          <p:cNvPr id="20" name="Text 18"/>
          <p:cNvSpPr/>
          <p:nvPr/>
        </p:nvSpPr>
        <p:spPr>
          <a:xfrm>
            <a:off x="5532120" y="2807208"/>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4. Flag affected ratios</a:t>
            </a:r>
            <a:endParaRPr lang="en-US" sz="1000" dirty="0"/>
          </a:p>
        </p:txBody>
      </p:sp>
      <p:sp>
        <p:nvSpPr>
          <p:cNvPr id="21" name="Shape 19"/>
          <p:cNvSpPr/>
          <p:nvPr/>
        </p:nvSpPr>
        <p:spPr>
          <a:xfrm>
            <a:off x="5212080" y="3172968"/>
            <a:ext cx="201168" cy="201168"/>
          </a:xfrm>
          <a:prstGeom prst="rect">
            <a:avLst/>
          </a:prstGeom>
          <a:solidFill>
            <a:srgbClr val="FFFFFF"/>
          </a:solidFill>
          <a:ln w="19050">
            <a:solidFill>
              <a:srgbClr val="024731"/>
            </a:solidFill>
            <a:prstDash val="solid"/>
          </a:ln>
        </p:spPr>
        <p:txBody>
          <a:bodyPr/>
          <a:lstStyle/>
          <a:p>
            <a:endParaRPr lang="en-US"/>
          </a:p>
        </p:txBody>
      </p:sp>
      <p:sp>
        <p:nvSpPr>
          <p:cNvPr id="22" name="Text 20"/>
          <p:cNvSpPr/>
          <p:nvPr/>
        </p:nvSpPr>
        <p:spPr>
          <a:xfrm>
            <a:off x="5532120" y="3154680"/>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Add cell comments referencing</a:t>
            </a:r>
            <a:endParaRPr lang="en-US" sz="1000" dirty="0"/>
          </a:p>
        </p:txBody>
      </p:sp>
      <p:sp>
        <p:nvSpPr>
          <p:cNvPr id="23" name="Shape 21"/>
          <p:cNvSpPr/>
          <p:nvPr/>
        </p:nvSpPr>
        <p:spPr>
          <a:xfrm>
            <a:off x="5212080" y="3520440"/>
            <a:ext cx="201168" cy="201168"/>
          </a:xfrm>
          <a:prstGeom prst="rect">
            <a:avLst/>
          </a:prstGeom>
          <a:solidFill>
            <a:srgbClr val="FFFFFF"/>
          </a:solidFill>
          <a:ln w="19050">
            <a:solidFill>
              <a:srgbClr val="024731"/>
            </a:solidFill>
            <a:prstDash val="solid"/>
          </a:ln>
        </p:spPr>
        <p:txBody>
          <a:bodyPr/>
          <a:lstStyle/>
          <a:p>
            <a:endParaRPr lang="en-US"/>
          </a:p>
        </p:txBody>
      </p:sp>
      <p:sp>
        <p:nvSpPr>
          <p:cNvPr id="24" name="Text 22"/>
          <p:cNvSpPr/>
          <p:nvPr/>
        </p:nvSpPr>
        <p:spPr>
          <a:xfrm>
            <a:off x="5532120" y="350215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GAAP Bridge rows on Ratios tab</a:t>
            </a:r>
            <a:endParaRPr lang="en-US" sz="1000" dirty="0"/>
          </a:p>
        </p:txBody>
      </p:sp>
      <p:sp>
        <p:nvSpPr>
          <p:cNvPr id="29" name="Shape 27"/>
          <p:cNvSpPr/>
          <p:nvPr/>
        </p:nvSpPr>
        <p:spPr>
          <a:xfrm>
            <a:off x="548640" y="4434840"/>
            <a:ext cx="4114800" cy="457200"/>
          </a:xfrm>
          <a:prstGeom prst="rect">
            <a:avLst/>
          </a:prstGeom>
          <a:solidFill>
            <a:srgbClr val="024731"/>
          </a:solidFill>
          <a:ln/>
        </p:spPr>
        <p:txBody>
          <a:bodyPr/>
          <a:lstStyle/>
          <a:p>
            <a:endParaRPr lang="en-US"/>
          </a:p>
        </p:txBody>
      </p:sp>
      <p:sp>
        <p:nvSpPr>
          <p:cNvPr id="30" name="Text 28"/>
          <p:cNvSpPr/>
          <p:nvPr/>
        </p:nvSpPr>
        <p:spPr>
          <a:xfrm>
            <a:off x="685800" y="4453128"/>
            <a:ext cx="3840480" cy="4114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Do NOT restate your financials. The GAAP Bridge is a disclosure exercise showing you understand the differences.</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Resources &amp; Where to Find Them</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Appendix C  |  Three documents in the course repo support your GAAP conversion work</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Documents in the Course Repo</a:t>
            </a:r>
            <a:endParaRPr lang="en-US" sz="1400" dirty="0"/>
          </a:p>
        </p:txBody>
      </p:sp>
      <p:sp>
        <p:nvSpPr>
          <p:cNvPr id="6" name="Shape 4"/>
          <p:cNvSpPr/>
          <p:nvPr/>
        </p:nvSpPr>
        <p:spPr>
          <a:xfrm>
            <a:off x="548640" y="1417320"/>
            <a:ext cx="4114800" cy="502920"/>
          </a:xfrm>
          <a:prstGeom prst="rect">
            <a:avLst/>
          </a:prstGeom>
          <a:solidFill>
            <a:srgbClr val="E6F2EF"/>
          </a:solidFill>
          <a:ln/>
        </p:spPr>
        <p:txBody>
          <a:bodyPr/>
          <a:lstStyle/>
          <a:p>
            <a:endParaRPr lang="en-US"/>
          </a:p>
        </p:txBody>
      </p:sp>
      <p:sp>
        <p:nvSpPr>
          <p:cNvPr id="7" name="Text 5"/>
          <p:cNvSpPr/>
          <p:nvPr/>
        </p:nvSpPr>
        <p:spPr>
          <a:xfrm>
            <a:off x="685800" y="146304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Quick-Reference (start here)</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docs/templates/gaap-conversion-quickref.md</a:t>
            </a:r>
            <a:endParaRPr lang="en-US" sz="1100" dirty="0"/>
          </a:p>
        </p:txBody>
      </p:sp>
      <p:sp>
        <p:nvSpPr>
          <p:cNvPr id="8" name="Shape 6"/>
          <p:cNvSpPr/>
          <p:nvPr/>
        </p:nvSpPr>
        <p:spPr>
          <a:xfrm>
            <a:off x="548640" y="2011680"/>
            <a:ext cx="4114800" cy="502920"/>
          </a:xfrm>
          <a:prstGeom prst="rect">
            <a:avLst/>
          </a:prstGeom>
          <a:solidFill>
            <a:srgbClr val="E6F2EF"/>
          </a:solidFill>
          <a:ln/>
        </p:spPr>
        <p:txBody>
          <a:bodyPr/>
          <a:lstStyle/>
          <a:p>
            <a:endParaRPr lang="en-US"/>
          </a:p>
        </p:txBody>
      </p:sp>
      <p:sp>
        <p:nvSpPr>
          <p:cNvPr id="9" name="Text 7"/>
          <p:cNvSpPr/>
          <p:nvPr/>
        </p:nvSpPr>
        <p:spPr>
          <a:xfrm>
            <a:off x="685800" y="205740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GAAP Bridge Template (.xlsx)</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models/templates/gaap-bridge-template.xlsx</a:t>
            </a:r>
            <a:endParaRPr lang="en-US" sz="1100" dirty="0"/>
          </a:p>
        </p:txBody>
      </p:sp>
      <p:sp>
        <p:nvSpPr>
          <p:cNvPr id="10" name="Shape 8"/>
          <p:cNvSpPr/>
          <p:nvPr/>
        </p:nvSpPr>
        <p:spPr>
          <a:xfrm>
            <a:off x="4937760" y="1051560"/>
            <a:ext cx="3840480" cy="37490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Text 9"/>
          <p:cNvSpPr/>
          <p:nvPr/>
        </p:nvSpPr>
        <p:spPr>
          <a:xfrm>
            <a:off x="4946904" y="1143000"/>
            <a:ext cx="3822192"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Full Decision Memo (optional)</a:t>
            </a:r>
            <a:endParaRPr lang="en-US" sz="1400" dirty="0"/>
          </a:p>
        </p:txBody>
      </p:sp>
      <p:sp>
        <p:nvSpPr>
          <p:cNvPr id="12" name="Text 10"/>
          <p:cNvSpPr/>
          <p:nvPr/>
        </p:nvSpPr>
        <p:spPr>
          <a:xfrm>
            <a:off x="5120640" y="1417320"/>
            <a:ext cx="3474720" cy="228600"/>
          </a:xfrm>
          <a:prstGeom prst="rect">
            <a:avLst/>
          </a:prstGeom>
          <a:noFill/>
          <a:ln/>
        </p:spPr>
        <p:txBody>
          <a:bodyPr wrap="square" lIns="0" tIns="0" rIns="0" bIns="0"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For deeper reading, not required</a:t>
            </a:r>
            <a:endParaRPr lang="en-US" sz="900" dirty="0"/>
          </a:p>
        </p:txBody>
      </p:sp>
      <p:sp>
        <p:nvSpPr>
          <p:cNvPr id="13" name="Shape 11"/>
          <p:cNvSpPr/>
          <p:nvPr/>
        </p:nvSpPr>
        <p:spPr>
          <a:xfrm>
            <a:off x="5212080" y="1783080"/>
            <a:ext cx="201168" cy="201168"/>
          </a:xfrm>
          <a:prstGeom prst="rect">
            <a:avLst/>
          </a:prstGeom>
          <a:solidFill>
            <a:srgbClr val="FFFFFF"/>
          </a:solidFill>
          <a:ln w="19050">
            <a:solidFill>
              <a:srgbClr val="024731"/>
            </a:solidFill>
            <a:prstDash val="solid"/>
          </a:ln>
        </p:spPr>
        <p:txBody>
          <a:bodyPr/>
          <a:lstStyle/>
          <a:p>
            <a:endParaRPr lang="en-US"/>
          </a:p>
        </p:txBody>
      </p:sp>
      <p:sp>
        <p:nvSpPr>
          <p:cNvPr id="14" name="Text 12"/>
          <p:cNvSpPr/>
          <p:nvPr/>
        </p:nvSpPr>
        <p:spPr>
          <a:xfrm>
            <a:off x="5532120" y="176479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7 frameworks surveyed (US GAAP,</a:t>
            </a:r>
            <a:endParaRPr lang="en-US" sz="1000" dirty="0"/>
          </a:p>
        </p:txBody>
      </p:sp>
      <p:sp>
        <p:nvSpPr>
          <p:cNvPr id="15" name="Shape 13"/>
          <p:cNvSpPr/>
          <p:nvPr/>
        </p:nvSpPr>
        <p:spPr>
          <a:xfrm>
            <a:off x="5212080" y="2130552"/>
            <a:ext cx="201168" cy="201168"/>
          </a:xfrm>
          <a:prstGeom prst="rect">
            <a:avLst/>
          </a:prstGeom>
          <a:solidFill>
            <a:srgbClr val="FFFFFF"/>
          </a:solidFill>
          <a:ln w="19050">
            <a:solidFill>
              <a:srgbClr val="024731"/>
            </a:solidFill>
            <a:prstDash val="solid"/>
          </a:ln>
        </p:spPr>
        <p:txBody>
          <a:bodyPr/>
          <a:lstStyle/>
          <a:p>
            <a:endParaRPr lang="en-US"/>
          </a:p>
        </p:txBody>
      </p:sp>
      <p:sp>
        <p:nvSpPr>
          <p:cNvPr id="16" name="Text 14"/>
          <p:cNvSpPr/>
          <p:nvPr/>
        </p:nvSpPr>
        <p:spPr>
          <a:xfrm>
            <a:off x="5532120" y="2112264"/>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IFRS, VAS, CAS, JGAAP, Ind AS, SFRS)</a:t>
            </a:r>
            <a:endParaRPr lang="en-US" sz="1000" dirty="0"/>
          </a:p>
        </p:txBody>
      </p:sp>
      <p:sp>
        <p:nvSpPr>
          <p:cNvPr id="17" name="Shape 15"/>
          <p:cNvSpPr/>
          <p:nvPr/>
        </p:nvSpPr>
        <p:spPr>
          <a:xfrm>
            <a:off x="5212080" y="2478024"/>
            <a:ext cx="201168" cy="201168"/>
          </a:xfrm>
          <a:prstGeom prst="rect">
            <a:avLst/>
          </a:prstGeom>
          <a:solidFill>
            <a:srgbClr val="FFFFFF"/>
          </a:solidFill>
          <a:ln w="19050">
            <a:solidFill>
              <a:srgbClr val="024731"/>
            </a:solidFill>
            <a:prstDash val="solid"/>
          </a:ln>
        </p:spPr>
        <p:txBody>
          <a:bodyPr/>
          <a:lstStyle/>
          <a:p>
            <a:endParaRPr lang="en-US"/>
          </a:p>
        </p:txBody>
      </p:sp>
      <p:sp>
        <p:nvSpPr>
          <p:cNvPr id="18" name="Text 16"/>
          <p:cNvSpPr/>
          <p:nvPr/>
        </p:nvSpPr>
        <p:spPr>
          <a:xfrm>
            <a:off x="5532120" y="2459736"/>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Conversion formulas for LIFO, R&amp;D,</a:t>
            </a:r>
            <a:endParaRPr lang="en-US" sz="1000" dirty="0"/>
          </a:p>
        </p:txBody>
      </p:sp>
      <p:sp>
        <p:nvSpPr>
          <p:cNvPr id="19" name="Shape 17"/>
          <p:cNvSpPr/>
          <p:nvPr/>
        </p:nvSpPr>
        <p:spPr>
          <a:xfrm>
            <a:off x="5212080" y="2825496"/>
            <a:ext cx="201168" cy="201168"/>
          </a:xfrm>
          <a:prstGeom prst="rect">
            <a:avLst/>
          </a:prstGeom>
          <a:solidFill>
            <a:srgbClr val="FFFFFF"/>
          </a:solidFill>
          <a:ln w="19050">
            <a:solidFill>
              <a:srgbClr val="024731"/>
            </a:solidFill>
            <a:prstDash val="solid"/>
          </a:ln>
        </p:spPr>
        <p:txBody>
          <a:bodyPr/>
          <a:lstStyle/>
          <a:p>
            <a:endParaRPr lang="en-US"/>
          </a:p>
        </p:txBody>
      </p:sp>
      <p:sp>
        <p:nvSpPr>
          <p:cNvPr id="20" name="Text 18"/>
          <p:cNvSpPr/>
          <p:nvPr/>
        </p:nvSpPr>
        <p:spPr>
          <a:xfrm>
            <a:off x="5532120" y="2807208"/>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leases, impairment, pensions</a:t>
            </a:r>
            <a:endParaRPr lang="en-US" sz="1000" dirty="0"/>
          </a:p>
        </p:txBody>
      </p:sp>
      <p:sp>
        <p:nvSpPr>
          <p:cNvPr id="21" name="Shape 19"/>
          <p:cNvSpPr/>
          <p:nvPr/>
        </p:nvSpPr>
        <p:spPr>
          <a:xfrm>
            <a:off x="5212080" y="3172968"/>
            <a:ext cx="201168" cy="201168"/>
          </a:xfrm>
          <a:prstGeom prst="rect">
            <a:avLst/>
          </a:prstGeom>
          <a:solidFill>
            <a:srgbClr val="FFFFFF"/>
          </a:solidFill>
          <a:ln w="19050">
            <a:solidFill>
              <a:srgbClr val="024731"/>
            </a:solidFill>
            <a:prstDash val="solid"/>
          </a:ln>
        </p:spPr>
        <p:txBody>
          <a:bodyPr/>
          <a:lstStyle/>
          <a:p>
            <a:endParaRPr lang="en-US"/>
          </a:p>
        </p:txBody>
      </p:sp>
      <p:sp>
        <p:nvSpPr>
          <p:cNvPr id="22" name="Text 20"/>
          <p:cNvSpPr/>
          <p:nvPr/>
        </p:nvSpPr>
        <p:spPr>
          <a:xfrm>
            <a:off x="5532120" y="3154680"/>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Global convergence status table</a:t>
            </a:r>
            <a:endParaRPr lang="en-US" sz="1000" dirty="0"/>
          </a:p>
        </p:txBody>
      </p:sp>
      <p:sp>
        <p:nvSpPr>
          <p:cNvPr id="23" name="Shape 21"/>
          <p:cNvSpPr/>
          <p:nvPr/>
        </p:nvSpPr>
        <p:spPr>
          <a:xfrm>
            <a:off x="5212080" y="3520440"/>
            <a:ext cx="201168" cy="201168"/>
          </a:xfrm>
          <a:prstGeom prst="rect">
            <a:avLst/>
          </a:prstGeom>
          <a:solidFill>
            <a:srgbClr val="FFFFFF"/>
          </a:solidFill>
          <a:ln w="19050">
            <a:solidFill>
              <a:srgbClr val="024731"/>
            </a:solidFill>
            <a:prstDash val="solid"/>
          </a:ln>
        </p:spPr>
        <p:txBody>
          <a:bodyPr/>
          <a:lstStyle/>
          <a:p>
            <a:endParaRPr lang="en-US"/>
          </a:p>
        </p:txBody>
      </p:sp>
      <p:sp>
        <p:nvSpPr>
          <p:cNvPr id="24" name="Text 22"/>
          <p:cNvSpPr/>
          <p:nvPr/>
        </p:nvSpPr>
        <p:spPr>
          <a:xfrm>
            <a:off x="5532120" y="350215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docs/decisions/2026-05-24-...-framework.md</a:t>
            </a:r>
            <a:endParaRPr lang="en-US" sz="1000" dirty="0"/>
          </a:p>
        </p:txBody>
      </p:sp>
      <p:sp>
        <p:nvSpPr>
          <p:cNvPr id="29" name="Shape 27"/>
          <p:cNvSpPr/>
          <p:nvPr/>
        </p:nvSpPr>
        <p:spPr>
          <a:xfrm>
            <a:off x="548640" y="4434840"/>
            <a:ext cx="4114800" cy="457200"/>
          </a:xfrm>
          <a:prstGeom prst="rect">
            <a:avLst/>
          </a:prstGeom>
          <a:solidFill>
            <a:srgbClr val="024731"/>
          </a:solidFill>
          <a:ln/>
        </p:spPr>
        <p:txBody>
          <a:bodyPr/>
          <a:lstStyle/>
          <a:p>
            <a:endParaRPr lang="en-US"/>
          </a:p>
        </p:txBody>
      </p:sp>
      <p:sp>
        <p:nvSpPr>
          <p:cNvPr id="30" name="Text 28"/>
          <p:cNvSpPr/>
          <p:nvPr/>
        </p:nvSpPr>
        <p:spPr>
          <a:xfrm>
            <a:off x="685800" y="4453128"/>
            <a:ext cx="3840480" cy="4114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Start with the quick-reference. Use the GAAP Bridge template in your workbook. Read the full memo only if you want the deep background.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FCB7AB8-9407-4B2C-9215-3CED18147A17}">
  <we:reference id="wa200010001" version="1.0.0.1" store="en-US" storeType="OMEX"/>
  <we:alternateReferences>
    <we:reference id="WA200010001" version="1.0.0.1" store="" storeType="OMEX"/>
  </we:alternateReferences>
  <we:properties>
    <we:property name="claude.fileId" value="&quot;5d340877-b20c-4673-bff6-ef7d73973d7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905</TotalTime>
  <Words>6602</Words>
  <Application>Microsoft Office PowerPoint</Application>
  <PresentationFormat>On-screen Show (16:9)</PresentationFormat>
  <Paragraphs>869</Paragraphs>
  <Slides>51</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Consolas</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BUS-629 Accounting &amp; Performance Ratios — Spec-Driven Design Project</dc:title>
  <dc:subject>PptxGenJS Presentation</dc:subject>
  <dc:creator>Adam W. Stauffer</dc:creator>
  <cp:lastModifiedBy>Adam Stauffer</cp:lastModifiedBy>
  <cp:revision>14</cp:revision>
  <dcterms:created xsi:type="dcterms:W3CDTF">2026-04-03T18:35:26Z</dcterms:created>
  <dcterms:modified xsi:type="dcterms:W3CDTF">2026-05-14T00:25:11Z</dcterms:modified>
</cp:coreProperties>
</file>
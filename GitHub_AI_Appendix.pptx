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APPENDIX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GitHub &amp; AI Tools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Setup Guide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3108960"/>
            <a:ext cx="1828800" cy="36576"/>
          </a:xfrm>
          <a:prstGeom prst="rect">
            <a:avLst/>
          </a:prstGeom>
          <a:solidFill>
            <a:srgbClr val="B8975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3375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Everything you need to create a GitHub account, install Git,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commit your work, and use AI tools for this project.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3200400"/>
            <a:ext cx="1097280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BUS-314  |  Shidler College of Business  |  University of Hawaiʻi at Mānoa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BUS-314  |  Appendix: GitHub &amp; AI Setup Guide  |  Shidler College of Business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Is GitHub &amp; Why Does It Matter?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8686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GitHub is a cloud platform for version control. Think of it as Google Docs for code and documents — every change is tracked, reversible, and visible to your instructor.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691640"/>
            <a:ext cx="237744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9202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2514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Version History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8680" y="28803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 save (commit) is permanent. You can always go back to a previous version if something breaks.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83280" y="1691640"/>
            <a:ext cx="237744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92024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0440" y="2514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Portfolio Artifact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520440" y="28803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GitHub profile becomes a professional portfolio. Employers and grad schools check GitHub.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35040" y="1691640"/>
            <a:ext cx="237744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92024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72200" y="2514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Submission &amp; Grading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172200" y="28803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 stage deliverables are submitted by committing to GitHub. Your commit history IS your audit trail.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BUS-314  |  Appendix: GitHub &amp; AI Setup Guide  |  Shidler College of Business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"/>
            <a:ext cx="1179576" cy="274320"/>
          </a:xfrm>
          <a:prstGeom prst="rect">
            <a:avLst>
              <a:gd name="adj" fmla="val 6667"/>
            </a:avLst>
          </a:prstGeom>
          <a:solidFill>
            <a:srgbClr val="36454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STEP 1 OF 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640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 a GitHub Account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1280160"/>
            <a:ext cx="365760" cy="365760"/>
          </a:xfrm>
          <a:prstGeom prst="oval">
            <a:avLst/>
          </a:prstGeom>
          <a:solidFill>
            <a:srgbClr val="B8975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1280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 to github.com and click Sign Up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1828800"/>
            <a:ext cx="365760" cy="365760"/>
          </a:xfrm>
          <a:prstGeom prst="oval">
            <a:avLst/>
          </a:prstGeom>
          <a:solidFill>
            <a:srgbClr val="B8975C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1828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your @hawaii.edu email (gets free GitHub Pro)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2377440"/>
            <a:ext cx="365760" cy="365760"/>
          </a:xfrm>
          <a:prstGeom prst="oval">
            <a:avLst/>
          </a:prstGeom>
          <a:solidFill>
            <a:srgbClr val="B8975C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2377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Choose a professional username (e.g., firstname-lastname)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2926080"/>
            <a:ext cx="365760" cy="365760"/>
          </a:xfrm>
          <a:prstGeom prst="oval">
            <a:avLst/>
          </a:prstGeom>
          <a:solidFill>
            <a:srgbClr val="B8975C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2926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Verify your email address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3474720"/>
            <a:ext cx="365760" cy="365760"/>
          </a:xfrm>
          <a:prstGeom prst="oval">
            <a:avLst/>
          </a:prstGeom>
          <a:solidFill>
            <a:srgbClr val="B8975C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3474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Share your GitHub username with the instructor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0" y="1280160"/>
            <a:ext cx="31089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1463040"/>
            <a:ext cx="320040" cy="32004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6126480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 Tips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5715000" y="1920240"/>
            <a:ext cx="2697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530"/>
                </a:solidFill>
              </a:rPr>
              <a:t>Username matters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</a:rPr>
              <a:t>Employers see it. Avoid gamer tags or joke names.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530"/>
                </a:solidFill>
              </a:rPr>
              <a:t>Student Developer Pack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</a:rPr>
              <a:t>education.github.com — free Pro features, Copilot access, and more with your .edu email.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530"/>
                </a:solidFill>
              </a:rPr>
              <a:t>Profile photo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</a:rPr>
              <a:t>Optional but professional. Headshot or avatar helps your instructor identify you.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BUS-314  |  Appendix: GitHub &amp; AI Setup Guide  |  Shidler College of Business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"/>
            <a:ext cx="1179576" cy="274320"/>
          </a:xfrm>
          <a:prstGeom prst="rect">
            <a:avLst>
              <a:gd name="adj" fmla="val 6667"/>
            </a:avLst>
          </a:prstGeom>
          <a:solidFill>
            <a:srgbClr val="36454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STEP 2 OF 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640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Install Git on Your Computer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1143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 is the software that tracks changes. GitHub is the website that hosts your repository. You need both.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1691640"/>
            <a:ext cx="3840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1783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Windows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2148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Download from git-scm.com/download/win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468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Run installer — accept all defaults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788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 Git Bash (installed automatically)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3108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Type:  git --version  to confirm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37760" y="1691640"/>
            <a:ext cx="3840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120640" y="1783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Mac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20640" y="2148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 Terminal (Applications → Utilities)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20640" y="2468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Type:  git --version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20640" y="2788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If not installed, macOS will prompt you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20640" y="3108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Click Install to add Xcode Command Line Tools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3703320"/>
            <a:ext cx="7680960" cy="822960"/>
          </a:xfrm>
          <a:prstGeom prst="rect">
            <a:avLst>
              <a:gd name="adj" fmla="val 4444"/>
            </a:avLst>
          </a:prstGeom>
          <a:solidFill>
            <a:srgbClr val="36454F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840480"/>
            <a:ext cx="365760" cy="36576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46304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First-Time Setup (run these two commands once):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463040" y="40233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user.name "Your Name"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user.email "your@hawaii.edu"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BUS-314  |  Appendix: GitHub &amp; AI Setup Guide  |  Shidler College of Business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"/>
            <a:ext cx="1179576" cy="274320"/>
          </a:xfrm>
          <a:prstGeom prst="rect">
            <a:avLst>
              <a:gd name="adj" fmla="val 6667"/>
            </a:avLst>
          </a:prstGeom>
          <a:solidFill>
            <a:srgbClr val="36454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STEP 3 OF 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640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Clone the Repository &amp; Open It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1143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Cloning downloads a full copy of the project to your computer. You only do this once.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1645920"/>
            <a:ext cx="320040" cy="320040"/>
          </a:xfrm>
          <a:prstGeom prst="oval">
            <a:avLst/>
          </a:prstGeom>
          <a:solidFill>
            <a:srgbClr val="B8975C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645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1627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Get the clone URL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34440" y="1874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 the repository page, click the green Code button → copy the HTTPS URL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331720"/>
            <a:ext cx="320040" cy="320040"/>
          </a:xfrm>
          <a:prstGeom prst="oval">
            <a:avLst/>
          </a:prstGeom>
          <a:solidFill>
            <a:srgbClr val="B8975C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331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3134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 your terminal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34440" y="2560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 Bash (Windows) or Terminal (Mac). Navigate to where you want the folder.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017520"/>
            <a:ext cx="320040" cy="320040"/>
          </a:xfrm>
          <a:prstGeom prst="oval">
            <a:avLst/>
          </a:prstGeom>
          <a:solidFill>
            <a:srgbClr val="B8975C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017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29992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Run the clone command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34440" y="3273552"/>
            <a:ext cx="6858000" cy="274320"/>
          </a:xfrm>
          <a:prstGeom prst="rect">
            <a:avLst/>
          </a:prstGeom>
          <a:solidFill>
            <a:srgbClr val="36454F"/>
          </a:solidFill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97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https://github.com/instructor/repo-name.git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3703320"/>
            <a:ext cx="320040" cy="320040"/>
          </a:xfrm>
          <a:prstGeom prst="oval">
            <a:avLst/>
          </a:prstGeom>
          <a:solidFill>
            <a:srgbClr val="B8975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703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3685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 in your editor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34440" y="3931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 the new folder in VS Code, or your preferred text editor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4160520"/>
            <a:ext cx="7680960" cy="411480"/>
          </a:xfrm>
          <a:prstGeom prst="rect">
            <a:avLst>
              <a:gd name="adj" fmla="val 8889"/>
            </a:avLst>
          </a:prstGeom>
          <a:solidFill>
            <a:srgbClr val="EBF5EE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206240"/>
            <a:ext cx="274320" cy="27432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325880" y="41605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4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After cloning, run  cd repo-name  to enter the project folder before doing anything else.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BUS-314  |  Appendix: GitHub &amp; AI Setup Guide  |  Shidler College of Business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"/>
            <a:ext cx="1179576" cy="274320"/>
          </a:xfrm>
          <a:prstGeom prst="rect">
            <a:avLst>
              <a:gd name="adj" fmla="val 6667"/>
            </a:avLst>
          </a:prstGeom>
          <a:solidFill>
            <a:srgbClr val="36454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STEP 4 OF 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640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Git Workflow: Add, Commit, Push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10972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These three commands are all you need. Run them every time you finish work on a deliverable.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246888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691640" y="1691640"/>
            <a:ext cx="365760" cy="365760"/>
          </a:xfrm>
          <a:prstGeom prst="oval">
            <a:avLst/>
          </a:prstGeom>
          <a:solidFill>
            <a:srgbClr val="B8975C"/>
          </a:solidFill>
          <a:ln/>
        </p:spPr>
      </p:sp>
      <p:sp>
        <p:nvSpPr>
          <p:cNvPr id="11" name="Text 9"/>
          <p:cNvSpPr/>
          <p:nvPr/>
        </p:nvSpPr>
        <p:spPr>
          <a:xfrm>
            <a:off x="169164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2148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Stage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8680" y="2514600"/>
            <a:ext cx="2194560" cy="365760"/>
          </a:xfrm>
          <a:prstGeom prst="rect">
            <a:avLst>
              <a:gd name="adj" fmla="val 7500"/>
            </a:avLst>
          </a:prstGeom>
          <a:solidFill>
            <a:srgbClr val="3645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97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29718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Tells Git which files to include in the next save. The dot means all changed files.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74720" y="1554480"/>
            <a:ext cx="246888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34840" y="1691640"/>
            <a:ext cx="365760" cy="365760"/>
          </a:xfrm>
          <a:prstGeom prst="oval">
            <a:avLst/>
          </a:prstGeom>
          <a:solidFill>
            <a:srgbClr val="B8975C"/>
          </a:solidFill>
          <a:ln/>
        </p:spPr>
      </p:sp>
      <p:sp>
        <p:nvSpPr>
          <p:cNvPr id="17" name="Text 15"/>
          <p:cNvSpPr/>
          <p:nvPr/>
        </p:nvSpPr>
        <p:spPr>
          <a:xfrm>
            <a:off x="443484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11880" y="2148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Commit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611880" y="2514600"/>
            <a:ext cx="2194560" cy="365760"/>
          </a:xfrm>
          <a:prstGeom prst="rect">
            <a:avLst>
              <a:gd name="adj" fmla="val 7500"/>
            </a:avLst>
          </a:prstGeom>
          <a:solidFill>
            <a:srgbClr val="3645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97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"Stage 1 memo"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11880" y="29718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Creates a permanent snapshot with a descriptive message. This is your save point.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1554480"/>
            <a:ext cx="246888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178040" y="1691640"/>
            <a:ext cx="365760" cy="365760"/>
          </a:xfrm>
          <a:prstGeom prst="oval">
            <a:avLst/>
          </a:prstGeom>
          <a:solidFill>
            <a:srgbClr val="B8975C"/>
          </a:solidFill>
          <a:ln/>
        </p:spPr>
      </p:sp>
      <p:sp>
        <p:nvSpPr>
          <p:cNvPr id="23" name="Text 21"/>
          <p:cNvSpPr/>
          <p:nvPr/>
        </p:nvSpPr>
        <p:spPr>
          <a:xfrm>
            <a:off x="717804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55080" y="2148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Push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355080" y="2514600"/>
            <a:ext cx="2194560" cy="365760"/>
          </a:xfrm>
          <a:prstGeom prst="rect">
            <a:avLst>
              <a:gd name="adj" fmla="val 7500"/>
            </a:avLst>
          </a:prstGeom>
          <a:solidFill>
            <a:srgbClr val="3645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97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55080" y="29718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Uploads your commits to GitHub so they are visible online and to your instructor.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4315968"/>
            <a:ext cx="7680960" cy="45720"/>
          </a:xfrm>
          <a:prstGeom prst="rect">
            <a:avLst/>
          </a:prstGeom>
          <a:solidFill>
            <a:srgbClr val="B8975C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BUS-314  |  Appendix: GitHub &amp; AI Setup Guide  |  Shidler College of Business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Prefer a Visual Interface? Use GitHub Desktop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GitHub Desktop is a free app that does the same thing as the command line but with buttons instead of typing. Either approach is fine for this course.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38404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1600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Install &amp; Connect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2057400"/>
            <a:ext cx="274320" cy="274320"/>
          </a:xfrm>
          <a:prstGeom prst="oval">
            <a:avLst/>
          </a:prstGeom>
          <a:solidFill>
            <a:srgbClr val="B8975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2057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Download from desktop.github.com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2560320"/>
            <a:ext cx="274320" cy="274320"/>
          </a:xfrm>
          <a:prstGeom prst="oval">
            <a:avLst/>
          </a:prstGeom>
          <a:solidFill>
            <a:srgbClr val="B8975C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2560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Sign in with your GitHub account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" y="3063240"/>
            <a:ext cx="274320" cy="274320"/>
          </a:xfrm>
          <a:prstGeom prst="oval">
            <a:avLst/>
          </a:prstGeom>
          <a:solidFill>
            <a:srgbClr val="B8975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25880" y="3063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File → Clone Repository → paste URL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4400" y="3566160"/>
            <a:ext cx="274320" cy="274320"/>
          </a:xfrm>
          <a:prstGeom prst="oval">
            <a:avLst/>
          </a:prstGeom>
          <a:solidFill>
            <a:srgbClr val="B8975C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25880" y="3566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Choose where to save on your computer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37760" y="1463040"/>
            <a:ext cx="34747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0" y="1600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Daily Workflow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120640" y="2057400"/>
            <a:ext cx="274320" cy="274320"/>
          </a:xfrm>
          <a:prstGeom prst="oval">
            <a:avLst/>
          </a:prstGeom>
          <a:solidFill>
            <a:srgbClr val="B8975C"/>
          </a:solidFill>
          <a:ln/>
        </p:spPr>
      </p:sp>
      <p:sp>
        <p:nvSpPr>
          <p:cNvPr id="24" name="Text 22"/>
          <p:cNvSpPr/>
          <p:nvPr/>
        </p:nvSpPr>
        <p:spPr>
          <a:xfrm>
            <a:off x="5120640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32120" y="2057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530"/>
                </a:solidFill>
              </a:rPr>
              <a:t>Changes tab  </a:t>
            </a:r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— shows modified files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120640" y="2560320"/>
            <a:ext cx="274320" cy="274320"/>
          </a:xfrm>
          <a:prstGeom prst="oval">
            <a:avLst/>
          </a:prstGeom>
          <a:solidFill>
            <a:srgbClr val="B8975C"/>
          </a:solidFill>
          <a:ln/>
        </p:spPr>
      </p:sp>
      <p:sp>
        <p:nvSpPr>
          <p:cNvPr id="27" name="Text 25"/>
          <p:cNvSpPr/>
          <p:nvPr/>
        </p:nvSpPr>
        <p:spPr>
          <a:xfrm>
            <a:off x="5120640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32120" y="2560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530"/>
                </a:solidFill>
              </a:rPr>
              <a:t>Summary box  </a:t>
            </a:r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— type your commit message (e.g., "Stage 2 Excel model")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120640" y="3063240"/>
            <a:ext cx="274320" cy="274320"/>
          </a:xfrm>
          <a:prstGeom prst="oval">
            <a:avLst/>
          </a:prstGeom>
          <a:solidFill>
            <a:srgbClr val="B8975C"/>
          </a:solidFill>
          <a:ln/>
        </p:spPr>
      </p:sp>
      <p:sp>
        <p:nvSpPr>
          <p:cNvPr id="30" name="Text 28"/>
          <p:cNvSpPr/>
          <p:nvPr/>
        </p:nvSpPr>
        <p:spPr>
          <a:xfrm>
            <a:off x="512064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532120" y="3063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530"/>
                </a:solidFill>
              </a:rPr>
              <a:t>Commit button  </a:t>
            </a:r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— saves the snapshot locally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120640" y="3566160"/>
            <a:ext cx="274320" cy="274320"/>
          </a:xfrm>
          <a:prstGeom prst="oval">
            <a:avLst/>
          </a:prstGeom>
          <a:solidFill>
            <a:srgbClr val="B8975C"/>
          </a:solidFill>
          <a:ln/>
        </p:spPr>
      </p:sp>
      <p:sp>
        <p:nvSpPr>
          <p:cNvPr id="33" name="Text 31"/>
          <p:cNvSpPr/>
          <p:nvPr/>
        </p:nvSpPr>
        <p:spPr>
          <a:xfrm>
            <a:off x="5120640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532120" y="3566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530"/>
                </a:solidFill>
              </a:rPr>
              <a:t>Push Origin  </a:t>
            </a:r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— uploads to GitHub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BUS-314  |  Appendix: GitHub &amp; AI Setup Guide  |  Shidler College of Business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Where to Save Each Deliverable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Save your files in the right directory, then commit and push. The file naming convention is shown below.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25880"/>
          <a:ext cx="768096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645920"/>
                <a:gridCol w="2743200"/>
                <a:gridCol w="25603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Stage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Deliverable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File Name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Directory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53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53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Executive Memo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97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lastname-stage1-memo.md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B7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docs/decisions/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53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53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Excel Model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97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lastname-stage2-model.xlsx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B7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docs/templates/excel/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53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53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Technical Spec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97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lastname-stage3-spec.md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B7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docs/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53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53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Final Analysis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97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lastname-stage4-final.md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B7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docs/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A9BAD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—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53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Prompt Log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97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prompt-log.md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B7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deliverables/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31520" y="3794760"/>
            <a:ext cx="7680960" cy="731520"/>
          </a:xfrm>
          <a:prstGeom prst="rect">
            <a:avLst>
              <a:gd name="adj" fmla="val 5000"/>
            </a:avLst>
          </a:prstGeom>
          <a:solidFill>
            <a:srgbClr val="36454F"/>
          </a:solidFill>
          <a:ln/>
        </p:spPr>
      </p:sp>
      <p:sp>
        <p:nvSpPr>
          <p:cNvPr id="9" name="Text 6"/>
          <p:cNvSpPr/>
          <p:nvPr/>
        </p:nvSpPr>
        <p:spPr>
          <a:xfrm>
            <a:off x="960120" y="3840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Example: submitting Stage 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60120" y="409651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docs/decisions/stauffer-stage1-memo.md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"Stage 1: executive memo for AAPL ratio analysis"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BUS-314  |  Appendix: GitHub &amp; AI Setup Guide  |  Shidler College of Business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Common Git Mistakes &amp; How to Fix Them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960120"/>
            <a:ext cx="768096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9784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"Everything up-to-date" but nothing pushed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2527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 forgot  git add  before committing.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89120" y="10058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Fix:  git add .  then  git commit  then  git push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1691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"fatal: not a git repository"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1965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terminal is not inside the project folder.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0" y="171907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Fix:  cd repo-name  to navigate into the cloned folder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386584"/>
            <a:ext cx="768096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4048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Accidentally edited the wrong file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26791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worries — Git tracks everything.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0" y="243230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Fix:  git checkout -- filename  reverts to last commit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31181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"rejected — failed to push"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33924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Someone (or you on another device) pushed first.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89120" y="314553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Fix:  git pull  then  git push  to sync and re-upload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3813048"/>
            <a:ext cx="768096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38313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Forgot to write a commit message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41056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text editor opened and you're stuck.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89120" y="385876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Fix:  Type your message, then press Esc, type  :wq  and press Enter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PART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Using AI Tools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with GitHub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3108960"/>
            <a:ext cx="1828800" cy="36576"/>
          </a:xfrm>
          <a:prstGeom prst="rect">
            <a:avLst/>
          </a:prstGeom>
          <a:solidFill>
            <a:srgbClr val="B8975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3375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How to use ChatGPT and Claude as analytical partners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 your ratio analysis project.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3017520"/>
            <a:ext cx="1097280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BUS-314  |  Shidler College of Business  |  University of Hawaiʻi at Mānoa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BUS-314  |  Appendix: GitHub &amp; AI Setup Guide  |  Shidler College of Business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Using ChatGPT for This Project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chatgpt.com  |  Free tier is sufficient. GPT-4o is recommended if you have Plus.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280160"/>
            <a:ext cx="384048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1732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417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4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ChatGPT Does Well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14400" y="1828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Explaining ratio formulas and what they mean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14400" y="2194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Drafting memo language and executive summaries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14400" y="2560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Generating Excel formulas from plain English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14400" y="2926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Reviewing your spec for clarity and completeness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14400" y="3291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Building structured AI prompts (Stage 4)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14400" y="3657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Brainstorming strategic recommendations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937760" y="1280160"/>
            <a:ext cx="347472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417320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48640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44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Watch Out For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5120640" y="1828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 can invent financial data that looks real but isn't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120640" y="2286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Ratio formulas may be subtly wrong — always verify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5120640" y="2743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 doesn't know YOUR company's specific numbers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5120640" y="3200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Named range conventions must be given to it explicitly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5120640" y="3657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Never paste sensitive personal data into prompts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BUS-314  |  Appendix: GitHub &amp; AI Setup Guide  |  Shidler College of Business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Using Claude for This Project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claude.ai  |  Free tier available. Pro gives extended thinking and longer conversations.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280160"/>
            <a:ext cx="3840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Claude Strengths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737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Longer context window — paste entire specs or data sets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0848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Strong at structured document generation (memos, specs)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243230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Careful reasoning for multi-step ratio calculations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77977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Can read uploaded files (PDF, Excel, images)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37760" y="1280160"/>
            <a:ext cx="34747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20640" y="1371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Using Claude with GitHub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20640" y="1737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Paste your GitHub file links as context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20640" y="20848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Ask Claude to generate Markdown for your memos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20640" y="243230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Upload your .xlsx and ask for ratio verification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20640" y="277977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Claude to draft your Stage 4 AI prompt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520440"/>
            <a:ext cx="7680960" cy="1005840"/>
          </a:xfrm>
          <a:prstGeom prst="rect">
            <a:avLst>
              <a:gd name="adj" fmla="val 3636"/>
            </a:avLst>
          </a:prstGeom>
          <a:solidFill>
            <a:srgbClr val="36454F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611880"/>
            <a:ext cx="320040" cy="32004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37160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Example Prompt for Stage 1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60120" y="3931920"/>
            <a:ext cx="7269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"I'm writing a 300-400 word executive memo for my CFO about Apple Inc. (AAPL). The memo should cover: why ratio analysis matters, the six ratio categories (Performance, Profitability, Efficiency, Leverage, Liquidity, Du Pont), and a preview of my analytical plan. Use professional finance language."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BUS-314  |  Appendix: GitHub &amp; AI Setup Guide  |  Shidler College of Business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Prompt Patterns That Work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these templates as starting points. Adapt them to your company and stage.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234440"/>
            <a:ext cx="54864" cy="731520"/>
          </a:xfrm>
          <a:prstGeom prst="rect">
            <a:avLst/>
          </a:prstGeom>
          <a:solidFill>
            <a:srgbClr val="B8975C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2618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Give It a Role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5819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4444"/>
                </a:solidFill>
              </a:rPr>
              <a:t>Vague:  </a:t>
            </a:r>
            <a:pPr indent="0" marL="0">
              <a:buNone/>
            </a:pPr>
            <a:r>
              <a:rPr lang="en-US" sz="1000" i="1" dirty="0">
                <a:solidFill>
                  <a:srgbClr val="8A9BAD"/>
                </a:solidFill>
              </a:rPr>
              <a:t>"Help me with ratios"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06240" y="12801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B5E40"/>
                </a:solidFill>
              </a:rPr>
              <a:t>Better:  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B7A"/>
                </a:solidFill>
              </a:rPr>
              <a:t>"You are an FP&amp;A analyst at Apple. Calculate the current ratio from these balance sheet figures..."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05740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057400"/>
            <a:ext cx="54864" cy="731520"/>
          </a:xfrm>
          <a:prstGeom prst="rect">
            <a:avLst/>
          </a:prstGeom>
          <a:solidFill>
            <a:srgbClr val="B8975C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20848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Provide the Data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24048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4444"/>
                </a:solidFill>
              </a:rPr>
              <a:t>Vague:  </a:t>
            </a:r>
            <a:pPr indent="0" marL="0">
              <a:buNone/>
            </a:pPr>
            <a:r>
              <a:rPr lang="en-US" sz="1000" i="1" dirty="0">
                <a:solidFill>
                  <a:srgbClr val="8A9BAD"/>
                </a:solidFill>
              </a:rPr>
              <a:t>"What is AAPL's ROE?"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06240" y="21031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B5E40"/>
                </a:solidFill>
              </a:rPr>
              <a:t>Better:  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B7A"/>
                </a:solidFill>
              </a:rPr>
              <a:t>"Net Income: $93.7B. Shareholder Equity: $56.9B. Calculate ROE and explain what it means for Apple."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288036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2880360"/>
            <a:ext cx="54864" cy="731520"/>
          </a:xfrm>
          <a:prstGeom prst="rect">
            <a:avLst/>
          </a:prstGeom>
          <a:solidFill>
            <a:srgbClr val="B8975C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29077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Specify the Output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32278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4444"/>
                </a:solidFill>
              </a:rPr>
              <a:t>Vague:  </a:t>
            </a:r>
            <a:pPr indent="0" marL="0">
              <a:buNone/>
            </a:pPr>
            <a:r>
              <a:rPr lang="en-US" sz="1000" i="1" dirty="0">
                <a:solidFill>
                  <a:srgbClr val="8A9BAD"/>
                </a:solidFill>
              </a:rPr>
              <a:t>"Analyze these ratios"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06240" y="29260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B5E40"/>
                </a:solidFill>
              </a:rPr>
              <a:t>Better:  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B7A"/>
                </a:solidFill>
              </a:rPr>
              <a:t>"Present results in a Markdown table with columns: Ratio Name, Formula, Value, Interpretation. Use 2 decimal places."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370332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" y="3703320"/>
            <a:ext cx="54864" cy="731520"/>
          </a:xfrm>
          <a:prstGeom prst="rect">
            <a:avLst/>
          </a:prstGeom>
          <a:solidFill>
            <a:srgbClr val="B8975C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" y="37307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Request Verification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60120" y="40507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4444"/>
                </a:solidFill>
              </a:rPr>
              <a:t>Vague:  </a:t>
            </a:r>
            <a:pPr indent="0" marL="0">
              <a:buNone/>
            </a:pPr>
            <a:r>
              <a:rPr lang="en-US" sz="1000" i="1" dirty="0">
                <a:solidFill>
                  <a:srgbClr val="8A9BAD"/>
                </a:solidFill>
              </a:rPr>
              <a:t>"Is this right?"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206240" y="37490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B5E40"/>
                </a:solidFill>
              </a:rPr>
              <a:t>Better:  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B7A"/>
                </a:solidFill>
              </a:rPr>
              <a:t>"Cross-check: ROE should equal Profit Margin × Asset Turnover × Equity Multiplier via Du Pont. Show the math."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BUS-314  |  Appendix: GitHub &amp; AI Setup Guide  |  Shidler College of Business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Putting It All Together: AI + GitHub Workflow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1463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1887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645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Draft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19659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AI to draft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memo or spec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920240" y="1645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2194560" y="1051560"/>
            <a:ext cx="1463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11887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286000" y="1645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Edit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286000" y="19659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Revise in your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text editor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657600" y="1645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3931920" y="1051560"/>
            <a:ext cx="1463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18872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023360" y="1645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Save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4023360" y="19659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Save the .md or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.xlsx file locally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394960" y="1645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6"/>
          <p:cNvSpPr/>
          <p:nvPr/>
        </p:nvSpPr>
        <p:spPr>
          <a:xfrm>
            <a:off x="5669280" y="1051560"/>
            <a:ext cx="1463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18872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760720" y="1645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Commit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760720" y="19659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 add + commit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with clear message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7132320" y="1645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0"/>
          <p:cNvSpPr/>
          <p:nvPr/>
        </p:nvSpPr>
        <p:spPr>
          <a:xfrm>
            <a:off x="7406640" y="1051560"/>
            <a:ext cx="1463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560" y="1188720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498080" y="1645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Push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7498080" y="19659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 push to upload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 GitHub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31520" y="3200400"/>
            <a:ext cx="76809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731520" y="3200400"/>
            <a:ext cx="54864" cy="1234440"/>
          </a:xfrm>
          <a:prstGeom prst="rect">
            <a:avLst/>
          </a:prstGeom>
          <a:solidFill>
            <a:srgbClr val="B8975C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3291840"/>
            <a:ext cx="320040" cy="32004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37160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Don’t Forget Your Prompt Log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960120" y="3657600"/>
            <a:ext cx="7269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B7A"/>
                </a:solidFill>
              </a:rPr>
              <a:t>Every meaningful AI interaction should be logged in </a:t>
            </a:r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B897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deliverables/prompt-log.md</a:t>
            </a:r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B7A"/>
                </a:solidFill>
              </a:rPr>
              <a:t>For each entry, record: 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E2530"/>
                </a:solidFill>
              </a:rPr>
              <a:t>the prompt you used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B7A"/>
                </a:solidFill>
              </a:rPr>
              <a:t>, </a:t>
            </a:r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E2530"/>
                </a:solidFill>
              </a:rPr>
              <a:t>the key output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B7A"/>
                </a:solidFill>
              </a:rPr>
              <a:t>, and </a:t>
            </a:r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E2530"/>
                </a:solidFill>
              </a:rPr>
              <a:t>whether you used/modified/rejected it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B7A"/>
                </a:solidFill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Quick Reference Cheat Sheet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 Commands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97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&lt;url&gt;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4813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Download repository for the first time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7190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97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See what files have changed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215798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97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3591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Stage all changes for commit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259689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97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"msg"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79806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Save a snapshot with a message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97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2369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Upload commits to GitHub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3474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97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67588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Download latest changes from GitHub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39136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97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--oneline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41148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View commit history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389120" y="868680"/>
            <a:ext cx="18288" cy="3474720"/>
          </a:xfrm>
          <a:prstGeom prst="rect">
            <a:avLst/>
          </a:prstGeom>
          <a:solidFill>
            <a:srgbClr val="5A6B7A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Useful Links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8FA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github.com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14813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 account &amp; view repositories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54880" y="17190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8FA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desktop.github.com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19202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GitHub Desktop (visual Git client)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54880" y="21579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8FA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chatgpt.com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23591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ChatGPT (OpenAI)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54880" y="259689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8FA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claude.ai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27980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Claude (Anthropic)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54880" y="30358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8FA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education.github.com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54880" y="323697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Student Developer Pack (free Pro)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54880" y="3474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8FA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code.visualstudio.com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54880" y="36758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VS Code (free text editor)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0" y="39136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8FA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git-scm.com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54880" y="41148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Official Git download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457200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BUS-314  |  Shidler College of Business  |  University of Hawaiʻi at Mānoa  |  adamstau@hawaii.edu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BUS-314 Appendix: GitHub &amp; AI Tools Setup Guide</dc:title>
  <dc:subject>PptxGenJS Presentation</dc:subject>
  <dc:creator>Adam W. Stauffer</dc:creator>
  <cp:lastModifiedBy>Adam W. Stauffer</cp:lastModifiedBy>
  <cp:revision>1</cp:revision>
  <dcterms:created xsi:type="dcterms:W3CDTF">2026-03-28T23:08:19Z</dcterms:created>
  <dcterms:modified xsi:type="dcterms:W3CDTF">2026-03-28T23:08:19Z</dcterms:modified>
</cp:coreProperties>
</file>
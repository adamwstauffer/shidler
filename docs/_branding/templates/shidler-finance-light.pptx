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7" r:id="rId4"/>
  </p:sldMasterIdLst>
  <p:notesMasterIdLst>
    <p:notesMasterId r:id="rId10"/>
  </p:notesMasterIdLst>
  <p:sldIdLst>
    <p:sldId id="295" r:id="rId5"/>
    <p:sldId id="290" r:id="rId6"/>
    <p:sldId id="291" r:id="rId7"/>
    <p:sldId id="292" r:id="rId8"/>
    <p:sldId id="29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72" d="100"/>
          <a:sy n="72" d="100"/>
        </p:scale>
        <p:origin x="64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72248F-1DB4-498D-8D76-9B40AC29D3F0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67012B-64EE-4534-A2F3-36A47104D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240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50800"/>
            <a:ext cx="10668000" cy="736600"/>
          </a:xfrm>
          <a:noFill/>
          <a:ln>
            <a:noFill/>
          </a:ln>
        </p:spPr>
        <p:txBody>
          <a:bodyPr anchor="ctr" anchorCtr="1"/>
          <a:lstStyle>
            <a:lvl1pPr marL="0" indent="0" algn="l">
              <a:defRPr lang="en-US" sz="2400" b="0">
                <a:solidFill>
                  <a:srgbClr val="FFFFFF"/>
                </a:solidFill>
                <a:latin typeface="Garamon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50800"/>
            <a:ext cx="10668000" cy="736600"/>
          </a:xfrm>
          <a:noFill/>
          <a:ln>
            <a:noFill/>
          </a:ln>
        </p:spPr>
        <p:txBody>
          <a:bodyPr anchor="ctr" anchorCtr="1"/>
          <a:lstStyle>
            <a:lvl1pPr marL="0" indent="0" algn="l">
              <a:defRPr lang="en-US" sz="2400" b="0">
                <a:solidFill>
                  <a:srgbClr val="FFFFFF"/>
                </a:solidFill>
                <a:latin typeface="Garamon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50800"/>
            <a:ext cx="10668000" cy="736600"/>
          </a:xfrm>
          <a:noFill/>
          <a:ln>
            <a:noFill/>
          </a:ln>
        </p:spPr>
        <p:txBody>
          <a:bodyPr anchor="ctr" anchorCtr="1"/>
          <a:lstStyle>
            <a:lvl1pPr marL="0" indent="0" algn="l">
              <a:defRPr lang="en-US" sz="2400" b="0">
                <a:solidFill>
                  <a:srgbClr val="FFFFFF"/>
                </a:solidFill>
                <a:latin typeface="Garamon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50800"/>
            <a:ext cx="10668000" cy="736600"/>
          </a:xfrm>
          <a:noFill/>
          <a:ln>
            <a:noFill/>
          </a:ln>
        </p:spPr>
        <p:txBody>
          <a:bodyPr anchor="ctr" anchorCtr="1"/>
          <a:lstStyle>
            <a:lvl1pPr marL="0" indent="0" algn="l">
              <a:defRPr lang="en-US" sz="2400" b="0">
                <a:solidFill>
                  <a:srgbClr val="FFFFFF"/>
                </a:solidFill>
                <a:latin typeface="Garamon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50800"/>
            <a:ext cx="10668000" cy="736600"/>
          </a:xfrm>
          <a:noFill/>
          <a:ln>
            <a:noFill/>
          </a:ln>
        </p:spPr>
        <p:txBody>
          <a:bodyPr anchor="ctr" anchorCtr="1"/>
          <a:lstStyle>
            <a:lvl1pPr marL="0" indent="0" algn="l">
              <a:defRPr lang="en-US" sz="2400" b="0">
                <a:solidFill>
                  <a:srgbClr val="FFFFFF"/>
                </a:solidFill>
                <a:latin typeface="Garamon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50800"/>
            <a:ext cx="10668000" cy="736600"/>
          </a:xfrm>
          <a:noFill/>
          <a:ln>
            <a:noFill/>
          </a:ln>
        </p:spPr>
        <p:txBody>
          <a:bodyPr anchor="ctr" anchorCtr="1"/>
          <a:lstStyle>
            <a:lvl1pPr marL="0" indent="0" algn="l">
              <a:defRPr lang="en-US" sz="2400" b="0">
                <a:solidFill>
                  <a:srgbClr val="FFFFFF"/>
                </a:solidFill>
                <a:latin typeface="Garamon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371600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50800"/>
            <a:ext cx="10668000" cy="736600"/>
          </a:xfrm>
          <a:noFill/>
          <a:ln>
            <a:noFill/>
          </a:ln>
        </p:spPr>
        <p:txBody>
          <a:bodyPr anchor="ctr" anchorCtr="1"/>
          <a:lstStyle>
            <a:lvl1pPr marL="0" indent="0" algn="l">
              <a:defRPr lang="en-US" sz="2400" b="0">
                <a:solidFill>
                  <a:srgbClr val="FFFFFF"/>
                </a:solidFill>
                <a:latin typeface="Garamon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50800"/>
            <a:ext cx="10668000" cy="736600"/>
          </a:xfrm>
          <a:noFill/>
          <a:ln>
            <a:noFill/>
          </a:ln>
        </p:spPr>
        <p:txBody>
          <a:bodyPr anchor="ctr" anchorCtr="1"/>
          <a:lstStyle>
            <a:lvl1pPr marL="0" indent="0" algn="l">
              <a:defRPr lang="en-US" sz="2400" b="0">
                <a:solidFill>
                  <a:srgbClr val="FFFFFF"/>
                </a:solidFill>
                <a:latin typeface="Garamon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16000" y="50800"/>
            <a:ext cx="10668000" cy="736600"/>
          </a:xfrm>
          <a:noFill/>
          <a:ln>
            <a:noFill/>
          </a:ln>
        </p:spPr>
        <p:txBody>
          <a:bodyPr vert="eaVert" anchor="ctr" anchorCtr="1"/>
          <a:lstStyle>
            <a:lvl1pPr marL="0" indent="0" algn="l">
              <a:defRPr lang="en-US" sz="2400" b="0">
                <a:solidFill>
                  <a:srgbClr val="FFFFFF"/>
                </a:solidFill>
                <a:latin typeface="Garamon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71600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UH Header Band"/>
          <p:cNvSpPr>
            <a:spLocks noGrp="1"/>
          </p:cNvSpPr>
          <p:nvPr userDrawn="1"/>
        </p:nvSpPr>
        <p:spPr>
          <a:xfrm>
            <a:off x="0" y="0"/>
            <a:ext cx="12192000" cy="831150"/>
          </a:xfrm>
          <a:prstGeom prst="rect">
            <a:avLst/>
          </a:prstGeom>
          <a:solidFill>
            <a:srgbClr val="02473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50800"/>
            <a:ext cx="10668000" cy="7366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 anchorCtr="1">
            <a:normAutofit/>
          </a:bodyPr>
          <a:lstStyle>
            <a:lvl1pPr marL="0" indent="0" algn="l">
              <a:defRPr lang="en-US" sz="2400" b="0">
                <a:solidFill>
                  <a:srgbClr val="FFFFFF"/>
                </a:solidFill>
                <a:latin typeface="Garamon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71600"/>
            <a:ext cx="10515600" cy="508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75600"/>
            <a:ext cx="2743200" cy="3693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75600"/>
            <a:ext cx="4114800" cy="3693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375600"/>
            <a:ext cx="2743200" cy="3693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912" name="Left Accent Strip"/>
          <p:cNvSpPr>
            <a:spLocks noGrp="1"/>
          </p:cNvSpPr>
          <p:nvPr userDrawn="1"/>
        </p:nvSpPr>
        <p:spPr>
          <a:xfrm>
            <a:off x="0" y="856550"/>
            <a:ext cx="50800" cy="6001450"/>
          </a:xfrm>
          <a:prstGeom prst="rect">
            <a:avLst/>
          </a:prstGeom>
          <a:gradFill>
            <a:gsLst>
              <a:gs pos="0">
                <a:srgbClr val="024731">
                  <a:alpha val="55000"/>
                </a:srgbClr>
              </a:gs>
              <a:gs pos="100000">
                <a:srgbClr val="024731">
                  <a:alpha val="8000"/>
                </a:srgbClr>
              </a:gs>
            </a:gsLst>
            <a:lin ang="5400000" scaled="1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3" name="Bottom Rule"/>
          <p:cNvSpPr>
            <a:spLocks noGrp="1"/>
          </p:cNvSpPr>
          <p:nvPr userDrawn="1"/>
        </p:nvSpPr>
        <p:spPr>
          <a:xfrm>
            <a:off x="457200" y="6553200"/>
            <a:ext cx="11277600" cy="25400"/>
          </a:xfrm>
          <a:prstGeom prst="rect">
            <a:avLst/>
          </a:prstGeom>
          <a:solidFill>
            <a:srgbClr val="024731">
              <a:alpha val="5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1" name="Gold Accent Line"/>
          <p:cNvSpPr>
            <a:spLocks noGrp="1"/>
          </p:cNvSpPr>
          <p:nvPr userDrawn="1"/>
        </p:nvSpPr>
        <p:spPr>
          <a:xfrm>
            <a:off x="0" y="831150"/>
            <a:ext cx="12192000" cy="25400"/>
          </a:xfrm>
          <a:prstGeom prst="rect">
            <a:avLst/>
          </a:prstGeom>
          <a:solidFill>
            <a:srgbClr val="8A6F3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1C2733"/>
          </a:solidFill>
          <a:latin typeface="Garamond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rgbClr val="2D3A47"/>
          </a:solidFill>
          <a:latin typeface="Source Sans Pro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D3A47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D3A47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A47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A47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A47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A47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A47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A47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4A5568"/>
          </a:solidFill>
        </a:defRPr>
      </a:defPPr>
      <a:lvl1pPr marL="0" algn="l" defTabSz="914400" rtl="0" eaLnBrk="1" latinLnBrk="0" hangingPunct="1">
        <a:defRPr sz="1800" kern="1200">
          <a:solidFill>
            <a:srgbClr val="4A556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4A5568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4A5568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4A5568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4A5568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4A5568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4A5568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4A5568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4A5568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urse Title"/>
          <p:cNvSpPr>
            <a:spLocks noGrp="1"/>
          </p:cNvSpPr>
          <p:nvPr userDrawn="1"/>
        </p:nvSpPr>
        <p:spPr>
          <a:xfrm>
            <a:off x="609600" y="1968500"/>
            <a:ext cx="10972800" cy="304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4400" b="1" dirty="0">
                <a:solidFill>
                  <a:srgbClr val="1C2733"/>
                </a:solidFill>
                <a:latin typeface="Garamond"/>
              </a:rPr>
              <a:t>Course Title</a:t>
            </a:r>
          </a:p>
          <a:p>
            <a:pPr algn="ctr">
              <a:spcBef>
                <a:spcPts val="400"/>
              </a:spcBef>
              <a:buNone/>
            </a:pPr>
            <a:r>
              <a:rPr lang="en-US" sz="2000" dirty="0">
                <a:solidFill>
                  <a:srgbClr val="8A6F3A"/>
                </a:solidFill>
                <a:latin typeface="Garamond"/>
              </a:rPr>
              <a:t>Course Code  •  Credits</a:t>
            </a:r>
          </a:p>
        </p:txBody>
      </p:sp>
      <p:sp>
        <p:nvSpPr>
          <p:cNvPr id="23" name="Center Divider"/>
          <p:cNvSpPr>
            <a:spLocks noGrp="1"/>
          </p:cNvSpPr>
          <p:nvPr userDrawn="1"/>
        </p:nvSpPr>
        <p:spPr>
          <a:xfrm>
            <a:off x="3048000" y="5181600"/>
            <a:ext cx="6096000" cy="25400"/>
          </a:xfrm>
          <a:prstGeom prst="rect">
            <a:avLst/>
          </a:prstGeom>
          <a:solidFill>
            <a:srgbClr val="02473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Professor Info"/>
          <p:cNvSpPr>
            <a:spLocks noGrp="1"/>
          </p:cNvSpPr>
          <p:nvPr userDrawn="1"/>
        </p:nvSpPr>
        <p:spPr>
          <a:xfrm>
            <a:off x="609600" y="5308600"/>
            <a:ext cx="10972800" cy="10795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ctr"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2D3A47"/>
                </a:solidFill>
                <a:latin typeface="Source Sans Pro"/>
              </a:rPr>
              <a:t>Professor Name</a:t>
            </a:r>
          </a:p>
          <a:p>
            <a:pPr algn="ctr">
              <a:spcBef>
                <a:spcPts val="150"/>
              </a:spcBef>
              <a:buNone/>
            </a:pPr>
            <a:r>
              <a:rPr lang="en-US" sz="1600" dirty="0">
                <a:solidFill>
                  <a:srgbClr val="4A5568"/>
                </a:solidFill>
                <a:latin typeface="Source Sans Pro"/>
              </a:rPr>
              <a:t>Semester Year</a:t>
            </a:r>
          </a:p>
        </p:txBody>
      </p:sp>
      <p:sp>
        <p:nvSpPr>
          <p:cNvPr id="25" name="Footer Bar"/>
          <p:cNvSpPr>
            <a:spLocks noGrp="1"/>
          </p:cNvSpPr>
          <p:nvPr userDrawn="1"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200" dirty="0">
                <a:solidFill>
                  <a:srgbClr val="4A5568"/>
                </a:solidFill>
                <a:latin typeface="Source Sans Pro"/>
              </a:rPr>
              <a:t>Confidential  •  For Educational Purposes Only</a:t>
            </a:r>
          </a:p>
        </p:txBody>
      </p:sp>
      <p:sp>
        <p:nvSpPr>
          <p:cNvPr id="26" name="UH Institution Text"/>
          <p:cNvSpPr>
            <a:spLocks noGrp="1"/>
          </p:cNvSpPr>
          <p:nvPr userDrawn="1"/>
        </p:nvSpPr>
        <p:spPr>
          <a:xfrm>
            <a:off x="1016000" y="50800"/>
            <a:ext cx="10159200" cy="7366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>
              <a:buNone/>
            </a:pPr>
            <a:r>
              <a:rPr lang="en-US" sz="1400" b="0" dirty="0">
                <a:solidFill>
                  <a:srgbClr val="C8E6C9"/>
                </a:solidFill>
                <a:latin typeface="Source Sans Pro"/>
              </a:rPr>
              <a:t>Adam W. Stauffer</a:t>
            </a:r>
          </a:p>
        </p:txBody>
      </p:sp>
    </p:spTree>
    <p:extLst>
      <p:ext uri="{BB962C8B-B14F-4D97-AF65-F5344CB8AC3E}">
        <p14:creationId xmlns:p14="http://schemas.microsoft.com/office/powerpoint/2010/main" val="1697526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AC97B-6DAB-17AD-7A4D-ABBBA983E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400" b="0" dirty="0">
                <a:solidFill>
                  <a:srgbClr val="FFFFFF"/>
                </a:solidFill>
                <a:latin typeface="Garamond"/>
              </a:rPr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51C8E-13B3-6C0F-C334-76119364F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lnSpc>
                <a:spcPts val="2800"/>
              </a:lnSpc>
              <a:spcBef>
                <a:spcPts val="200"/>
              </a:spcBef>
              <a:buFont typeface="Arial"/>
              <a:buChar char="▪"/>
            </a:pPr>
            <a:r>
              <a:rPr lang="en-US" sz="1800" dirty="0">
                <a:solidFill>
                  <a:srgbClr val="2D3A47"/>
                </a:solidFill>
                <a:latin typeface="Source Sans Pro"/>
              </a:rPr>
              <a:t>First key concept or point</a:t>
            </a:r>
          </a:p>
          <a:p>
            <a:pPr marL="228600" indent="-228600">
              <a:lnSpc>
                <a:spcPts val="2800"/>
              </a:lnSpc>
              <a:spcBef>
                <a:spcPts val="200"/>
              </a:spcBef>
              <a:buFont typeface="Arial"/>
              <a:buChar char="▪"/>
            </a:pPr>
            <a:r>
              <a:rPr lang="en-US" sz="1800" dirty="0">
                <a:solidFill>
                  <a:srgbClr val="2D3A47"/>
                </a:solidFill>
                <a:latin typeface="Source Sans Pro"/>
              </a:rPr>
              <a:t>Second key concept or supporting detail</a:t>
            </a:r>
          </a:p>
          <a:p>
            <a:pPr marL="457200" lvl="1" indent="-228600">
              <a:lnSpc>
                <a:spcPts val="2400"/>
              </a:lnSpc>
              <a:spcBef>
                <a:spcPts val="100"/>
              </a:spcBef>
              <a:buFont typeface="Arial"/>
              <a:buChar char="–"/>
            </a:pPr>
            <a:r>
              <a:rPr lang="en-US" sz="1600" dirty="0">
                <a:solidFill>
                  <a:srgbClr val="374151"/>
                </a:solidFill>
                <a:latin typeface="Source Sans Pro"/>
              </a:rPr>
              <a:t>Sub-point with additional context</a:t>
            </a:r>
          </a:p>
          <a:p>
            <a:pPr marL="228600" indent="-228600">
              <a:lnSpc>
                <a:spcPts val="2800"/>
              </a:lnSpc>
              <a:spcBef>
                <a:spcPts val="200"/>
              </a:spcBef>
              <a:buFont typeface="Arial"/>
              <a:buChar char="▪"/>
            </a:pPr>
            <a:r>
              <a:rPr lang="en-US" sz="1800" dirty="0">
                <a:solidFill>
                  <a:srgbClr val="2D3A47"/>
                </a:solidFill>
                <a:latin typeface="Source Sans Pro"/>
              </a:rPr>
              <a:t>Third key concept with </a:t>
            </a:r>
            <a:r>
              <a:rPr lang="en-US" sz="1800" b="1" dirty="0">
                <a:solidFill>
                  <a:srgbClr val="8A6F3A"/>
                </a:solidFill>
                <a:latin typeface="Source Sans Pro"/>
              </a:rPr>
              <a:t>highlighted emphasis</a:t>
            </a:r>
          </a:p>
          <a:p>
            <a:pPr marL="228600" indent="-228600">
              <a:lnSpc>
                <a:spcPts val="2800"/>
              </a:lnSpc>
              <a:spcBef>
                <a:spcPts val="200"/>
              </a:spcBef>
              <a:buFont typeface="Arial"/>
              <a:buChar char="▪"/>
            </a:pPr>
            <a:r>
              <a:rPr lang="en-US" sz="1800" dirty="0">
                <a:solidFill>
                  <a:srgbClr val="2D3A47"/>
                </a:solidFill>
                <a:latin typeface="Source Sans Pro"/>
              </a:rPr>
              <a:t>Formula example: NPV = Σ CFₜ / (1+r)ᵗ</a:t>
            </a:r>
          </a:p>
        </p:txBody>
      </p:sp>
    </p:spTree>
    <p:extLst>
      <p:ext uri="{BB962C8B-B14F-4D97-AF65-F5344CB8AC3E}">
        <p14:creationId xmlns:p14="http://schemas.microsoft.com/office/powerpoint/2010/main" val="1392165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BD0C0-B749-456C-5D8E-A070EED05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400" b="0" dirty="0">
                <a:solidFill>
                  <a:srgbClr val="FFFFFF"/>
                </a:solidFill>
                <a:latin typeface="Garamond"/>
              </a:rPr>
              <a:t>Comparison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AC67A-4F88-5735-5340-8A86C8A7AA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8A6F3A"/>
                </a:solidFill>
                <a:latin typeface="Garamond"/>
              </a:rPr>
              <a:t>Concept A</a:t>
            </a:r>
          </a:p>
          <a:p>
            <a:pPr marL="228600" indent="-228600">
              <a:lnSpc>
                <a:spcPts val="2600"/>
              </a:lnSpc>
              <a:spcBef>
                <a:spcPts val="100"/>
              </a:spcBef>
              <a:buFont typeface="Arial"/>
              <a:buChar char="▪"/>
            </a:pPr>
            <a:r>
              <a:rPr lang="en-US" sz="1600" dirty="0">
                <a:solidFill>
                  <a:srgbClr val="2D3A47"/>
                </a:solidFill>
                <a:latin typeface="Source Sans Pro"/>
              </a:rPr>
              <a:t>Key characteristic one</a:t>
            </a:r>
          </a:p>
          <a:p>
            <a:pPr marL="228600" indent="-228600">
              <a:lnSpc>
                <a:spcPts val="2600"/>
              </a:lnSpc>
              <a:spcBef>
                <a:spcPts val="100"/>
              </a:spcBef>
              <a:buFont typeface="Arial"/>
              <a:buChar char="▪"/>
            </a:pPr>
            <a:r>
              <a:rPr lang="en-US" sz="1600" dirty="0">
                <a:solidFill>
                  <a:srgbClr val="2D3A47"/>
                </a:solidFill>
                <a:latin typeface="Source Sans Pro"/>
              </a:rPr>
              <a:t>Key characteristic two</a:t>
            </a:r>
          </a:p>
          <a:p>
            <a:pPr marL="228600" indent="-228600">
              <a:lnSpc>
                <a:spcPts val="2600"/>
              </a:lnSpc>
              <a:spcBef>
                <a:spcPts val="100"/>
              </a:spcBef>
              <a:buFont typeface="Arial"/>
              <a:buChar char="▪"/>
            </a:pPr>
            <a:r>
              <a:rPr lang="en-US" sz="1600" dirty="0">
                <a:solidFill>
                  <a:srgbClr val="2D3A47"/>
                </a:solidFill>
                <a:latin typeface="Source Sans Pro"/>
              </a:rPr>
              <a:t>Key characteristic three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0FAB17-324D-18A7-FFB4-C0B3523639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8A6F3A"/>
                </a:solidFill>
                <a:latin typeface="Garamond"/>
              </a:rPr>
              <a:t>Concept B</a:t>
            </a:r>
          </a:p>
          <a:p>
            <a:pPr marL="228600" indent="-228600">
              <a:lnSpc>
                <a:spcPts val="2600"/>
              </a:lnSpc>
              <a:spcBef>
                <a:spcPts val="100"/>
              </a:spcBef>
              <a:buFont typeface="Arial"/>
              <a:buChar char="▪"/>
            </a:pPr>
            <a:r>
              <a:rPr lang="en-US" sz="1600" dirty="0">
                <a:solidFill>
                  <a:srgbClr val="2D3A47"/>
                </a:solidFill>
                <a:latin typeface="Source Sans Pro"/>
              </a:rPr>
              <a:t>Contrasting point one</a:t>
            </a:r>
          </a:p>
          <a:p>
            <a:pPr marL="228600" indent="-228600">
              <a:lnSpc>
                <a:spcPts val="2600"/>
              </a:lnSpc>
              <a:spcBef>
                <a:spcPts val="100"/>
              </a:spcBef>
              <a:buFont typeface="Arial"/>
              <a:buChar char="▪"/>
            </a:pPr>
            <a:r>
              <a:rPr lang="en-US" sz="1600" dirty="0">
                <a:solidFill>
                  <a:srgbClr val="2D3A47"/>
                </a:solidFill>
                <a:latin typeface="Source Sans Pro"/>
              </a:rPr>
              <a:t>Contrasting point two</a:t>
            </a:r>
          </a:p>
          <a:p>
            <a:pPr marL="228600" indent="-228600">
              <a:lnSpc>
                <a:spcPts val="2600"/>
              </a:lnSpc>
              <a:spcBef>
                <a:spcPts val="100"/>
              </a:spcBef>
              <a:buFont typeface="Arial"/>
              <a:buChar char="▪"/>
            </a:pPr>
            <a:r>
              <a:rPr lang="en-US" sz="1600" dirty="0">
                <a:solidFill>
                  <a:srgbClr val="2D3A47"/>
                </a:solidFill>
                <a:latin typeface="Source Sans Pro"/>
              </a:rPr>
              <a:t>Contrasting point three</a:t>
            </a:r>
          </a:p>
        </p:txBody>
      </p:sp>
      <p:sp>
        <p:nvSpPr>
          <p:cNvPr id="10" name="Column Divider"/>
          <p:cNvSpPr>
            <a:spLocks noGrp="1"/>
          </p:cNvSpPr>
          <p:nvPr userDrawn="1"/>
        </p:nvSpPr>
        <p:spPr>
          <a:xfrm>
            <a:off x="6019800" y="1371600"/>
            <a:ext cx="25400" cy="4445000"/>
          </a:xfrm>
          <a:prstGeom prst="rect">
            <a:avLst/>
          </a:prstGeom>
          <a:solidFill>
            <a:srgbClr val="02473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369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84238-448D-7EFF-7F67-50AFD2DF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400" b="0" dirty="0">
                <a:solidFill>
                  <a:srgbClr val="FFFFFF"/>
                </a:solidFill>
                <a:latin typeface="Garamond"/>
              </a:rPr>
              <a:t>Data Visualization</a:t>
            </a:r>
          </a:p>
        </p:txBody>
      </p:sp>
      <p:sp>
        <p:nvSpPr>
          <p:cNvPr id="10" name="Chart Placeholder"/>
          <p:cNvSpPr/>
          <p:nvPr/>
        </p:nvSpPr>
        <p:spPr>
          <a:xfrm>
            <a:off x="838200" y="1371600"/>
            <a:ext cx="10515600" cy="4699000"/>
          </a:xfrm>
          <a:prstGeom prst="roundRect">
            <a:avLst>
              <a:gd name="adj" fmla="val 8000"/>
            </a:avLst>
          </a:prstGeom>
          <a:solidFill>
            <a:srgbClr val="E8EAED">
              <a:alpha val="40000"/>
            </a:srgbClr>
          </a:solidFill>
          <a:ln w="12700">
            <a:solidFill>
              <a:srgbClr val="CBD5E1">
                <a:alpha val="50000"/>
              </a:srgbClr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600" dirty="0">
                <a:solidFill>
                  <a:srgbClr val="4A5568"/>
                </a:solidFill>
                <a:latin typeface="Source Sans Pro"/>
              </a:rPr>
              <a:t>Chart / Table / Data Visualization Area</a:t>
            </a:r>
          </a:p>
          <a:p>
            <a:pPr algn="ctr">
              <a:buNone/>
            </a:pPr>
            <a:r>
              <a:rPr lang="en-US" sz="1400" dirty="0">
                <a:solidFill>
                  <a:srgbClr val="4A5568">
                    <a:alpha val="70000"/>
                  </a:srgbClr>
                </a:solidFill>
                <a:latin typeface="Source Sans Pro"/>
              </a:rPr>
              <a:t>Insert chart, table, or diagram here</a:t>
            </a:r>
          </a:p>
        </p:txBody>
      </p:sp>
      <p:sp>
        <p:nvSpPr>
          <p:cNvPr id="11" name="Source"/>
          <p:cNvSpPr/>
          <p:nvPr/>
        </p:nvSpPr>
        <p:spPr>
          <a:xfrm>
            <a:off x="838200" y="6273800"/>
            <a:ext cx="10515600" cy="406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l">
              <a:buNone/>
            </a:pPr>
            <a:r>
              <a:rPr lang="en-US" sz="1400" i="1" dirty="0">
                <a:solidFill>
                  <a:srgbClr val="4A5568"/>
                </a:solidFill>
                <a:latin typeface="Source Sans Pro"/>
              </a:rPr>
              <a:t>Source: Data source citation</a:t>
            </a:r>
          </a:p>
        </p:txBody>
      </p:sp>
    </p:spTree>
    <p:extLst>
      <p:ext uri="{BB962C8B-B14F-4D97-AF65-F5344CB8AC3E}">
        <p14:creationId xmlns:p14="http://schemas.microsoft.com/office/powerpoint/2010/main" val="4260102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9B69D-BC8E-178E-5ED6-BE2E811D5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400" b="0" dirty="0">
                <a:solidFill>
                  <a:srgbClr val="FFFFFF"/>
                </a:solidFill>
                <a:latin typeface="Garamond"/>
              </a:rPr>
              <a:t>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C043A-988A-6759-6F46-E7B48CD9C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724400"/>
            <a:ext cx="10515600" cy="635000"/>
          </a:xfrm>
        </p:spPr>
        <p:txBody>
          <a:bodyPr/>
          <a:lstStyle/>
          <a:p>
            <a:pPr algn="ctr">
              <a:buNone/>
            </a:pPr>
            <a:r>
              <a:rPr lang="en-US" sz="1600" dirty="0">
                <a:solidFill>
                  <a:srgbClr val="2D6A4F"/>
                </a:solidFill>
                <a:latin typeface="Source Sans Pro"/>
              </a:rPr>
              <a:t>Brief section description or learning objective</a:t>
            </a:r>
          </a:p>
        </p:txBody>
      </p:sp>
      <p:sp>
        <p:nvSpPr>
          <p:cNvPr id="10" name="Divider Line"/>
          <p:cNvSpPr/>
          <p:nvPr userDrawn="1"/>
        </p:nvSpPr>
        <p:spPr>
          <a:xfrm>
            <a:off x="3048000" y="4572000"/>
            <a:ext cx="6096000" cy="25400"/>
          </a:xfrm>
          <a:prstGeom prst="rect">
            <a:avLst/>
          </a:prstGeom>
          <a:solidFill>
            <a:srgbClr val="02473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Section Badge"/>
          <p:cNvSpPr/>
          <p:nvPr userDrawn="1"/>
        </p:nvSpPr>
        <p:spPr>
          <a:xfrm>
            <a:off x="5715000" y="2006600"/>
            <a:ext cx="762000" cy="762000"/>
          </a:xfrm>
          <a:prstGeom prst="ellipse">
            <a:avLst/>
          </a:prstGeom>
          <a:solidFill>
            <a:srgbClr val="024731"/>
          </a:solidFill>
          <a:ln w="0">
            <a:noFill/>
          </a:ln>
        </p:spPr>
        <p:txBody>
          <a:bodyPr anchor="ctr" anchorCtr="1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ource Sans Pro"/>
              </a:rPr>
              <a:t>01</a:t>
            </a:r>
          </a:p>
        </p:txBody>
      </p:sp>
      <p:sp>
        <p:nvSpPr>
          <p:cNvPr id="30" name="Display Title"/>
          <p:cNvSpPr>
            <a:spLocks noGrp="1"/>
          </p:cNvSpPr>
          <p:nvPr userDrawn="1"/>
        </p:nvSpPr>
        <p:spPr>
          <a:xfrm>
            <a:off x="838200" y="2921000"/>
            <a:ext cx="10515600" cy="152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4400" b="1" dirty="0">
                <a:solidFill>
                  <a:srgbClr val="1C2733"/>
                </a:solidFill>
                <a:latin typeface="Garamond"/>
              </a:rPr>
              <a:t>Section Name</a:t>
            </a:r>
          </a:p>
        </p:txBody>
      </p:sp>
    </p:spTree>
    <p:extLst>
      <p:ext uri="{BB962C8B-B14F-4D97-AF65-F5344CB8AC3E}">
        <p14:creationId xmlns:p14="http://schemas.microsoft.com/office/powerpoint/2010/main" val="3120472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4733289259]">
  <a:themeElements>
    <a:clrScheme name="UH Manoa Finance">
      <a:dk1>
        <a:srgbClr val="1C2733"/>
      </a:dk1>
      <a:lt1>
        <a:srgbClr val="F0F2F5"/>
      </a:lt1>
      <a:dk2>
        <a:srgbClr val="2D3A47"/>
      </a:dk2>
      <a:lt2>
        <a:srgbClr val="E2E8F0"/>
      </a:lt2>
      <a:accent1>
        <a:srgbClr val="024731"/>
      </a:accent1>
      <a:accent2>
        <a:srgbClr val="8A6F3A"/>
      </a:accent2>
      <a:accent3>
        <a:srgbClr val="4A6274"/>
      </a:accent3>
      <a:accent4>
        <a:srgbClr val="6B7280"/>
      </a:accent4>
      <a:accent5>
        <a:srgbClr val="3D7A6E"/>
      </a:accent5>
      <a:accent6>
        <a:srgbClr val="7A3B3F"/>
      </a:accent6>
      <a:hlink>
        <a:srgbClr val="B39B5E"/>
      </a:hlink>
      <a:folHlink>
        <a:srgbClr val="7A7568"/>
      </a:folHlink>
    </a:clrScheme>
    <a:fontScheme name="UH Finance">
      <a:majorFont>
        <a:latin typeface="Garamond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Pro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idler-finance-light" id="{8D618AF9-F642-4FC7-ACE9-604634E8B935}" vid="{67471641-2B1C-4107-A8D1-061DDFA11A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816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390288d-dbb8-414b-bf5e-422b404fcbab}">
  <we:reference id="WA200010001" version="1.0.0.1" store="en-US" storeType="OMEX"/>
  <we:alternateReferences/>
  <we:properties>
    <we:property name="Microsoft.Office.CampaignId" value="&quot;non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1601</TotalTime>
  <Words>125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Garamond</vt:lpstr>
      <vt:lpstr>Source Sans Pro</vt:lpstr>
      <vt:lpstr>Office Theme [1774733289259]</vt:lpstr>
      <vt:lpstr>PowerPoint Presentation</vt:lpstr>
      <vt:lpstr>Slide Title</vt:lpstr>
      <vt:lpstr>Comparison Layout</vt:lpstr>
      <vt:lpstr>Data Visualization</vt:lpstr>
      <vt:lpstr>Section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Adam Stauffer</cp:lastModifiedBy>
  <cp:revision>15</cp:revision>
  <dcterms:created xsi:type="dcterms:W3CDTF">2018-06-07T21:39:02Z</dcterms:created>
  <dcterms:modified xsi:type="dcterms:W3CDTF">2026-03-28T21:32:50Z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
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69" r:id="rId3"/>
    <p:sldId id="257" r:id="rId4"/>
    <p:sldId id="258" r:id="rId5"/>
    <p:sldId id="259" r:id="rId6"/>
    <p:sldId id="260" r:id="rId7"/>
    <p:sldId id="261" r:id="rId8"/>
    <p:sldId id="262" r:id="rId9"/>
    <p:sldId id="264" r:id="rId10"/>
    <p:sldId id="263" r:id="rId1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83" d="100"/>
          <a:sy n="83" d="100"/>
        </p:scale>
        <p:origin x="88" y="5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214262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2473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02473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822960" y="155448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b="1" kern="0" spc="100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FURTHER STUDY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841248" y="260604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B3D9C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Recommended reads, videos &amp; repos — go deeper on your own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1074420" y="4160520"/>
            <a:ext cx="868680" cy="868680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12164" y="4398264"/>
            <a:ext cx="393192" cy="39319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457200" y="5138928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Good Reads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3360420" y="4160520"/>
            <a:ext cx="868680" cy="868680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98164" y="4398264"/>
            <a:ext cx="393192" cy="393192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2743200" y="5138928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Economics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5646420" y="4160520"/>
            <a:ext cx="868680" cy="868680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84164" y="4398264"/>
            <a:ext cx="393192" cy="393192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5029200" y="5138928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Econ &amp; Crypto</a:t>
            </a:r>
            <a:endParaRPr lang="en-US" sz="1250" dirty="0"/>
          </a:p>
        </p:txBody>
      </p:sp>
      <p:sp>
        <p:nvSpPr>
          <p:cNvPr id="14" name="Shape 9"/>
          <p:cNvSpPr/>
          <p:nvPr/>
        </p:nvSpPr>
        <p:spPr>
          <a:xfrm>
            <a:off x="7932420" y="4160520"/>
            <a:ext cx="868680" cy="868680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70164" y="4398264"/>
            <a:ext cx="393192" cy="393192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7315200" y="5138928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AI</a:t>
            </a:r>
            <a:endParaRPr lang="en-US" sz="1250" dirty="0"/>
          </a:p>
        </p:txBody>
      </p:sp>
      <p:sp>
        <p:nvSpPr>
          <p:cNvPr id="17" name="Shape 11"/>
          <p:cNvSpPr/>
          <p:nvPr/>
        </p:nvSpPr>
        <p:spPr>
          <a:xfrm>
            <a:off x="10218420" y="4160520"/>
            <a:ext cx="868680" cy="868680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8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456164" y="4398264"/>
            <a:ext cx="393192" cy="393192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9601200" y="5138928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Tools &amp; Process</a:t>
            </a:r>
            <a:endParaRPr lang="en-US" sz="1250" dirty="0"/>
          </a:p>
        </p:txBody>
      </p:sp>
      <p:sp>
        <p:nvSpPr>
          <p:cNvPr id="20" name="Text 13"/>
          <p:cNvSpPr/>
          <p:nvPr/>
        </p:nvSpPr>
        <p:spPr>
          <a:xfrm>
            <a:off x="822960" y="61722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4DA78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Shidler College of Business  ·  University of Hawaiʻi at Mānoa  ·  Adam W. Stauffer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2473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02473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TOC Title"/>
          <p:cNvSpPr>
            <a:spLocks noGrp="1"/>
          </p:cNvSpPr>
          <p:nvPr/>
        </p:nvSpPr>
        <p:spPr>
          <a:xfrm>
            <a:off x="825500" y="457200"/>
            <a:ext cx="10515600" cy="762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lang="en-US" sz="3600" b="1" kern="0" spc="100" dirty="0">
                <a:solidFill>
                  <a:srgbClr val="FFFFFF"/>
                </a:solidFill>
                <a:latin typeface="Open Sans" pitchFamily="34" charset="0"/>
              </a:rPr>
              <a:t>TABLE OF CONTENTS</a:t>
            </a:r>
          </a:p>
        </p:txBody>
      </p:sp>
      <p:sp>
        <p:nvSpPr>
          <p:cNvPr id="31" name="TOC Subtitle"/>
          <p:cNvSpPr>
            <a:spLocks noGrp="1"/>
          </p:cNvSpPr>
          <p:nvPr/>
        </p:nvSpPr>
        <p:spPr>
          <a:xfrm>
            <a:off x="825500" y="1270000"/>
            <a:ext cx="10515600" cy="381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B3D9CF"/>
                </a:solidFill>
                <a:latin typeface="Open Sans" pitchFamily="34" charset="0"/>
              </a:rPr>
              <a:t>Recommended reads, videos &amp; repos — go deeper on your own</a:t>
            </a:r>
          </a:p>
        </p:txBody>
      </p:sp>
      <p:sp>
        <p:nvSpPr>
          <p:cNvPr id="32" name="Divider"/>
          <p:cNvSpPr>
            <a:spLocks noGrp="1"/>
          </p:cNvSpPr>
          <p:nvPr/>
        </p:nvSpPr>
        <p:spPr>
          <a:xfrm>
            <a:off x="825500" y="1778000"/>
            <a:ext cx="10515600" cy="6350"/>
          </a:xfrm>
          <a:prstGeom prst="rect">
            <a:avLst/>
          </a:prstGeom>
          <a:solidFill>
            <a:srgbClr val="B3D9C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0" name="Badge 2"/>
          <p:cNvSpPr>
            <a:spLocks noGrp="1"/>
          </p:cNvSpPr>
          <p:nvPr/>
        </p:nvSpPr>
        <p:spPr>
          <a:xfrm>
            <a:off x="825500" y="2006600"/>
            <a:ext cx="279400" cy="279400"/>
          </a:xfrm>
          <a:prstGeom prst="ellipse">
            <a:avLst/>
          </a:prstGeom>
          <a:solidFill>
            <a:srgbClr val="B3D9CF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200" b="1" dirty="0">
                <a:solidFill>
                  <a:srgbClr val="1A2333"/>
                </a:solidFill>
                <a:latin typeface="Open Sans" pitchFamily="34" charset="0"/>
              </a:rPr>
              <a:t>2</a:t>
            </a:r>
          </a:p>
        </p:txBody>
      </p:sp>
      <p:sp>
        <p:nvSpPr>
          <p:cNvPr id="50" name="Entry Text 2"/>
          <p:cNvSpPr>
            <a:spLocks noGrp="1"/>
          </p:cNvSpPr>
          <p:nvPr/>
        </p:nvSpPr>
        <p:spPr>
          <a:xfrm>
            <a:off x="1181100" y="1955800"/>
            <a:ext cx="4914900" cy="1066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B3D9CF"/>
                </a:solidFill>
                <a:latin typeface="Open Sans" pitchFamily="34" charset="0"/>
              </a:rPr>
              <a:t>GOOD READS</a:t>
            </a:r>
          </a:p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Open Sans" pitchFamily="34" charset="0"/>
              </a:rPr>
              <a:t>Investment Biker</a:t>
            </a:r>
          </a:p>
          <a:p>
            <a:pPr marL="0" indent="0">
              <a:buNone/>
            </a:pPr>
            <a:r>
              <a:rPr lang="en-US" sz="1400" dirty="0">
                <a:solidFill>
                  <a:srgbClr val="A0B8C0"/>
                </a:solidFill>
                <a:latin typeface="Open Sans" pitchFamily="34" charset="0"/>
              </a:rPr>
              <a:t>Jim Rogers' world tour on motorcycle — global markets through an investor's eyes</a:t>
            </a:r>
          </a:p>
        </p:txBody>
      </p:sp>
      <p:sp>
        <p:nvSpPr>
          <p:cNvPr id="41" name="Badge 3"/>
          <p:cNvSpPr>
            <a:spLocks noGrp="1"/>
          </p:cNvSpPr>
          <p:nvPr/>
        </p:nvSpPr>
        <p:spPr>
          <a:xfrm>
            <a:off x="6413500" y="2006600"/>
            <a:ext cx="279400" cy="279400"/>
          </a:xfrm>
          <a:prstGeom prst="ellipse">
            <a:avLst/>
          </a:prstGeom>
          <a:solidFill>
            <a:srgbClr val="B3D9CF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200" b="1" dirty="0">
                <a:solidFill>
                  <a:srgbClr val="1A2333"/>
                </a:solidFill>
                <a:latin typeface="Open Sans" pitchFamily="34" charset="0"/>
              </a:rPr>
              <a:t>3</a:t>
            </a:r>
          </a:p>
        </p:txBody>
      </p:sp>
      <p:sp>
        <p:nvSpPr>
          <p:cNvPr id="51" name="Entry Text 3"/>
          <p:cNvSpPr>
            <a:spLocks noGrp="1"/>
          </p:cNvSpPr>
          <p:nvPr/>
        </p:nvSpPr>
        <p:spPr>
          <a:xfrm>
            <a:off x="6769100" y="1955800"/>
            <a:ext cx="4914900" cy="1066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B3D9CF"/>
                </a:solidFill>
                <a:latin typeface="Open Sans" pitchFamily="34" charset="0"/>
              </a:rPr>
              <a:t>GOOD READS</a:t>
            </a:r>
          </a:p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Open Sans" pitchFamily="34" charset="0"/>
              </a:rPr>
              <a:t>The Alchemy of Finance</a:t>
            </a:r>
          </a:p>
          <a:p>
            <a:pPr marL="0" indent="0">
              <a:buNone/>
            </a:pPr>
            <a:r>
              <a:rPr lang="en-US" sz="1400" dirty="0">
                <a:solidFill>
                  <a:srgbClr val="A0B8C0"/>
                </a:solidFill>
                <a:latin typeface="Open Sans" pitchFamily="34" charset="0"/>
              </a:rPr>
              <a:t>George Soros explains his theory of reflexivity and how markets actually move</a:t>
            </a:r>
          </a:p>
        </p:txBody>
      </p:sp>
      <p:sp>
        <p:nvSpPr>
          <p:cNvPr id="42" name="Badge 4"/>
          <p:cNvSpPr>
            <a:spLocks noGrp="1"/>
          </p:cNvSpPr>
          <p:nvPr/>
        </p:nvSpPr>
        <p:spPr>
          <a:xfrm>
            <a:off x="825500" y="3124200"/>
            <a:ext cx="279400" cy="279400"/>
          </a:xfrm>
          <a:prstGeom prst="ellipse">
            <a:avLst/>
          </a:prstGeom>
          <a:solidFill>
            <a:srgbClr val="B3D9CF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200" b="1" dirty="0">
                <a:solidFill>
                  <a:srgbClr val="1A2333"/>
                </a:solidFill>
                <a:latin typeface="Open Sans" pitchFamily="34" charset="0"/>
              </a:rPr>
              <a:t>4</a:t>
            </a:r>
          </a:p>
        </p:txBody>
      </p:sp>
      <p:sp>
        <p:nvSpPr>
          <p:cNvPr id="52" name="Entry Text 4"/>
          <p:cNvSpPr>
            <a:spLocks noGrp="1"/>
          </p:cNvSpPr>
          <p:nvPr/>
        </p:nvSpPr>
        <p:spPr>
          <a:xfrm>
            <a:off x="1181100" y="3073400"/>
            <a:ext cx="4914900" cy="1066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B3D9CF"/>
                </a:solidFill>
                <a:latin typeface="Open Sans" pitchFamily="34" charset="0"/>
              </a:rPr>
              <a:t>ECONOMICS VIDEO &amp; BOOK</a:t>
            </a:r>
          </a:p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Open Sans" pitchFamily="34" charset="0"/>
              </a:rPr>
              <a:t>How the Economic Machine Works</a:t>
            </a:r>
          </a:p>
          <a:p>
            <a:pPr marL="0" indent="0">
              <a:buNone/>
            </a:pPr>
            <a:r>
              <a:rPr lang="en-US" sz="1400" dirty="0">
                <a:solidFill>
                  <a:srgbClr val="A0B8C0"/>
                </a:solidFill>
                <a:latin typeface="Open Sans" pitchFamily="34" charset="0"/>
              </a:rPr>
              <a:t>Ray Dalio's 30-min video on credit cycles, debt, and how economies function</a:t>
            </a:r>
          </a:p>
        </p:txBody>
      </p:sp>
      <p:sp>
        <p:nvSpPr>
          <p:cNvPr id="43" name="Badge 5"/>
          <p:cNvSpPr>
            <a:spLocks noGrp="1"/>
          </p:cNvSpPr>
          <p:nvPr/>
        </p:nvSpPr>
        <p:spPr>
          <a:xfrm>
            <a:off x="6413500" y="3124200"/>
            <a:ext cx="279400" cy="279400"/>
          </a:xfrm>
          <a:prstGeom prst="ellipse">
            <a:avLst/>
          </a:prstGeom>
          <a:solidFill>
            <a:srgbClr val="B3D9CF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200" b="1" dirty="0">
                <a:solidFill>
                  <a:srgbClr val="1A2333"/>
                </a:solidFill>
                <a:latin typeface="Open Sans" pitchFamily="34" charset="0"/>
              </a:rPr>
              <a:t>5</a:t>
            </a:r>
          </a:p>
        </p:txBody>
      </p:sp>
      <p:sp>
        <p:nvSpPr>
          <p:cNvPr id="53" name="Entry Text 5"/>
          <p:cNvSpPr>
            <a:spLocks noGrp="1"/>
          </p:cNvSpPr>
          <p:nvPr/>
        </p:nvSpPr>
        <p:spPr>
          <a:xfrm>
            <a:off x="6769100" y="3073400"/>
            <a:ext cx="4914900" cy="1066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B3D9CF"/>
                </a:solidFill>
                <a:latin typeface="Open Sans" pitchFamily="34" charset="0"/>
              </a:rPr>
              <a:t>ECONOMICS VIDEO &amp; BOOK</a:t>
            </a:r>
          </a:p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Open Sans" pitchFamily="34" charset="0"/>
              </a:rPr>
              <a:t>The Changing World Order</a:t>
            </a:r>
          </a:p>
          <a:p>
            <a:pPr marL="0" indent="0">
              <a:buNone/>
            </a:pPr>
            <a:r>
              <a:rPr lang="en-US" sz="1400" dirty="0">
                <a:solidFill>
                  <a:srgbClr val="A0B8C0"/>
                </a:solidFill>
                <a:latin typeface="Open Sans" pitchFamily="34" charset="0"/>
              </a:rPr>
              <a:t>Ray Dalio on rising and falling empires — understanding long-term macro shifts</a:t>
            </a:r>
          </a:p>
        </p:txBody>
      </p:sp>
      <p:sp>
        <p:nvSpPr>
          <p:cNvPr id="44" name="Badge 6"/>
          <p:cNvSpPr>
            <a:spLocks noGrp="1"/>
          </p:cNvSpPr>
          <p:nvPr/>
        </p:nvSpPr>
        <p:spPr>
          <a:xfrm>
            <a:off x="825500" y="4241800"/>
            <a:ext cx="279400" cy="279400"/>
          </a:xfrm>
          <a:prstGeom prst="ellipse">
            <a:avLst/>
          </a:prstGeom>
          <a:solidFill>
            <a:srgbClr val="B3D9CF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200" b="1" dirty="0">
                <a:solidFill>
                  <a:srgbClr val="1A2333"/>
                </a:solidFill>
                <a:latin typeface="Open Sans" pitchFamily="34" charset="0"/>
              </a:rPr>
              <a:t>6</a:t>
            </a:r>
          </a:p>
        </p:txBody>
      </p:sp>
      <p:sp>
        <p:nvSpPr>
          <p:cNvPr id="54" name="Entry Text 6"/>
          <p:cNvSpPr>
            <a:spLocks noGrp="1"/>
          </p:cNvSpPr>
          <p:nvPr/>
        </p:nvSpPr>
        <p:spPr>
          <a:xfrm>
            <a:off x="1181100" y="4191000"/>
            <a:ext cx="4914900" cy="1066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B3D9CF"/>
                </a:solidFill>
                <a:latin typeface="Open Sans" pitchFamily="34" charset="0"/>
              </a:rPr>
              <a:t>ECONOMICS &amp; CRYPTO VIDEO</a:t>
            </a:r>
          </a:p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Open Sans" pitchFamily="34" charset="0"/>
              </a:rPr>
              <a:t>The Everything Code</a:t>
            </a:r>
          </a:p>
          <a:p>
            <a:pPr marL="0" indent="0">
              <a:buNone/>
            </a:pPr>
            <a:r>
              <a:rPr lang="en-US" sz="1400" dirty="0">
                <a:solidFill>
                  <a:srgbClr val="A0B8C0"/>
                </a:solidFill>
                <a:latin typeface="Open Sans" pitchFamily="34" charset="0"/>
              </a:rPr>
              <a:t>Macro framework linking liquidity cycles to crypto and risk assets</a:t>
            </a:r>
          </a:p>
        </p:txBody>
      </p:sp>
      <p:sp>
        <p:nvSpPr>
          <p:cNvPr id="45" name="Badge 7"/>
          <p:cNvSpPr>
            <a:spLocks noGrp="1"/>
          </p:cNvSpPr>
          <p:nvPr/>
        </p:nvSpPr>
        <p:spPr>
          <a:xfrm>
            <a:off x="6413500" y="4241800"/>
            <a:ext cx="279400" cy="279400"/>
          </a:xfrm>
          <a:prstGeom prst="ellipse">
            <a:avLst/>
          </a:prstGeom>
          <a:solidFill>
            <a:srgbClr val="B3D9CF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200" b="1" dirty="0">
                <a:solidFill>
                  <a:srgbClr val="1A2333"/>
                </a:solidFill>
                <a:latin typeface="Open Sans" pitchFamily="34" charset="0"/>
              </a:rPr>
              <a:t>7</a:t>
            </a:r>
          </a:p>
        </p:txBody>
      </p:sp>
      <p:sp>
        <p:nvSpPr>
          <p:cNvPr id="55" name="Entry Text 7"/>
          <p:cNvSpPr>
            <a:spLocks noGrp="1"/>
          </p:cNvSpPr>
          <p:nvPr/>
        </p:nvSpPr>
        <p:spPr>
          <a:xfrm>
            <a:off x="6769100" y="4191000"/>
            <a:ext cx="4914900" cy="1066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B3D9CF"/>
                </a:solidFill>
                <a:latin typeface="Open Sans" pitchFamily="34" charset="0"/>
              </a:rPr>
              <a:t>ARTIFICIAL INTELLIGENCE VIDEO</a:t>
            </a:r>
          </a:p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Open Sans" pitchFamily="34" charset="0"/>
              </a:rPr>
              <a:t>Build It With AI, Then Attack It</a:t>
            </a:r>
          </a:p>
          <a:p>
            <a:pPr marL="0" indent="0">
              <a:buNone/>
            </a:pPr>
            <a:r>
              <a:rPr lang="en-US" sz="1400" dirty="0">
                <a:solidFill>
                  <a:srgbClr val="A0B8C0"/>
                </a:solidFill>
                <a:latin typeface="Open Sans" pitchFamily="34" charset="0"/>
              </a:rPr>
              <a:t>Hands-on AI development workflow: build fast with LLMs, then stress-test your work</a:t>
            </a:r>
          </a:p>
        </p:txBody>
      </p:sp>
      <p:sp>
        <p:nvSpPr>
          <p:cNvPr id="46" name="Badge 8"/>
          <p:cNvSpPr>
            <a:spLocks noGrp="1"/>
          </p:cNvSpPr>
          <p:nvPr/>
        </p:nvSpPr>
        <p:spPr>
          <a:xfrm>
            <a:off x="825500" y="5359400"/>
            <a:ext cx="279400" cy="279400"/>
          </a:xfrm>
          <a:prstGeom prst="ellipse">
            <a:avLst/>
          </a:prstGeom>
          <a:solidFill>
            <a:srgbClr val="B3D9CF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200" b="1" dirty="0">
                <a:solidFill>
                  <a:srgbClr val="1A2333"/>
                </a:solidFill>
                <a:latin typeface="Open Sans" pitchFamily="34" charset="0"/>
              </a:rPr>
              <a:t>8</a:t>
            </a:r>
          </a:p>
        </p:txBody>
      </p:sp>
      <p:sp>
        <p:nvSpPr>
          <p:cNvPr id="56" name="Entry Text 8"/>
          <p:cNvSpPr>
            <a:spLocks noGrp="1"/>
          </p:cNvSpPr>
          <p:nvPr/>
        </p:nvSpPr>
        <p:spPr>
          <a:xfrm>
            <a:off x="1181100" y="5308600"/>
            <a:ext cx="4914900" cy="1066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B3D9CF"/>
                </a:solidFill>
                <a:latin typeface="Open Sans" pitchFamily="34" charset="0"/>
              </a:rPr>
              <a:t>TOOLS, PROCESSES, BEST PRACTICES</a:t>
            </a:r>
          </a:p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Open Sans" pitchFamily="34" charset="0"/>
              </a:rPr>
              <a:t>Karpathy's AI Skills &amp; CLAUDE.md</a:t>
            </a:r>
          </a:p>
          <a:p>
            <a:pPr marL="0" indent="0">
              <a:buNone/>
            </a:pPr>
            <a:r>
              <a:rPr lang="en-US" sz="1400" dirty="0">
                <a:solidFill>
                  <a:srgbClr val="A0B8C0"/>
                </a:solidFill>
                <a:latin typeface="Open Sans" pitchFamily="34" charset="0"/>
              </a:rPr>
              <a:t>Andrej Karpathy's curated resources for building deep understanding of AI systems</a:t>
            </a:r>
          </a:p>
        </p:txBody>
      </p:sp>
      <p:sp>
        <p:nvSpPr>
          <p:cNvPr id="47" name="Badge 9"/>
          <p:cNvSpPr>
            <a:spLocks noGrp="1"/>
          </p:cNvSpPr>
          <p:nvPr/>
        </p:nvSpPr>
        <p:spPr>
          <a:xfrm>
            <a:off x="6413500" y="5359400"/>
            <a:ext cx="279400" cy="279400"/>
          </a:xfrm>
          <a:prstGeom prst="ellipse">
            <a:avLst/>
          </a:prstGeom>
          <a:solidFill>
            <a:srgbClr val="B3D9CF"/>
          </a:solidFill>
          <a:ln>
            <a:noFill/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200" b="1" dirty="0">
                <a:solidFill>
                  <a:srgbClr val="1A2333"/>
                </a:solidFill>
                <a:latin typeface="Open Sans" pitchFamily="34" charset="0"/>
              </a:rPr>
              <a:t>9</a:t>
            </a:r>
          </a:p>
        </p:txBody>
      </p:sp>
      <p:sp>
        <p:nvSpPr>
          <p:cNvPr id="57" name="Entry Text 9"/>
          <p:cNvSpPr>
            <a:spLocks noGrp="1"/>
          </p:cNvSpPr>
          <p:nvPr/>
        </p:nvSpPr>
        <p:spPr>
          <a:xfrm>
            <a:off x="6769100" y="5308600"/>
            <a:ext cx="4914900" cy="1066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B3D9CF"/>
                </a:solidFill>
                <a:latin typeface="Open Sans" pitchFamily="34" charset="0"/>
              </a:rPr>
              <a:t>TOOLS, PROCESSES, BEST PRACTICES</a:t>
            </a:r>
          </a:p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Open Sans" pitchFamily="34" charset="0"/>
              </a:rPr>
              <a:t>gstack</a:t>
            </a:r>
          </a:p>
          <a:p>
            <a:pPr marL="0" indent="0">
              <a:buNone/>
            </a:pPr>
            <a:r>
              <a:rPr lang="en-US" sz="1400" dirty="0">
                <a:solidFill>
                  <a:srgbClr val="A0B8C0"/>
                </a:solidFill>
                <a:latin typeface="Open Sans" pitchFamily="34" charset="0"/>
              </a:rPr>
              <a:t>A modern developer toolstack optimised for AI-assisted software development that is adaptable to business management</a:t>
            </a:r>
          </a:p>
        </p:txBody>
      </p:sp>
    </p:spTree>
    <p:extLst>
      <p:ext uri="{BB962C8B-B14F-4D97-AF65-F5344CB8AC3E}">
        <p14:creationId xmlns:p14="http://schemas.microsoft.com/office/powerpoint/2010/main" val="79405498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rgbClr val="02473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269283" y="457200"/>
            <a:ext cx="1484793" cy="2240280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38100" dir="8100000" algn="bl" rotWithShape="0">
              <a:srgbClr val="000000">
                <a:alpha val="2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4" name="Image 0" descr="C:/GitHub/shidler/docs/presentations/assets/investment-bik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15003" y="502920"/>
            <a:ext cx="1393353" cy="21488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20040" y="278892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kern="0" spc="150" dirty="0">
                <a:solidFill>
                  <a:srgbClr val="B3D9C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GOOD READS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320040" y="3136392"/>
            <a:ext cx="3383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8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Investment Biker</a:t>
            </a:r>
            <a:endParaRPr lang="en-US" sz="2500" dirty="0"/>
          </a:p>
        </p:txBody>
      </p:sp>
      <p:sp>
        <p:nvSpPr>
          <p:cNvPr id="7" name="Text 4"/>
          <p:cNvSpPr/>
          <p:nvPr/>
        </p:nvSpPr>
        <p:spPr>
          <a:xfrm>
            <a:off x="320040" y="434340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B3D9C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Jim Rogers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914400" y="5897880"/>
            <a:ext cx="2194560" cy="420624"/>
          </a:xfrm>
          <a:prstGeom prst="roundRect">
            <a:avLst>
              <a:gd name="adj" fmla="val 50000"/>
            </a:avLst>
          </a:prstGeom>
          <a:solidFill>
            <a:srgbClr val="012E1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914400" y="5897880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kern="0" spc="150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BOOK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4434840" y="640080"/>
            <a:ext cx="7269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02473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OVERVIEW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4434840" y="950976"/>
            <a:ext cx="7269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Part travelogue, part macro masterclass: Jim Rogers rides 100,000+ miles across six continents, sizing up each country's economy from the ground — borders, black markets, currencies, and street-level commerce.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4434840" y="2212848"/>
            <a:ext cx="7269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02473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WHY IT MATTERS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4434840" y="2523744"/>
            <a:ext cx="7269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Teaches you to read a market from what you actually observe, not just headline statistics. A vivid first lesson in global macro, country risk, and contrarian thinking.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434840" y="3657600"/>
            <a:ext cx="7269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02473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ABOUT THE AUTHOR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4434840" y="3968496"/>
            <a:ext cx="7269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555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Co-founded the Quantum Fund with George Soros, retired at 37, and became a legendary commodities investor and global adventurer.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4434840" y="4892040"/>
            <a:ext cx="7269480" cy="1627632"/>
          </a:xfrm>
          <a:prstGeom prst="rect">
            <a:avLst/>
          </a:prstGeom>
          <a:solidFill>
            <a:srgbClr val="E6F2E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Shape 14"/>
          <p:cNvSpPr/>
          <p:nvPr/>
        </p:nvSpPr>
        <p:spPr>
          <a:xfrm>
            <a:off x="4434840" y="4892040"/>
            <a:ext cx="82296" cy="1627632"/>
          </a:xfrm>
          <a:prstGeom prst="rect">
            <a:avLst/>
          </a:prstGeom>
          <a:solidFill>
            <a:srgbClr val="02473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Shape 15"/>
          <p:cNvSpPr/>
          <p:nvPr/>
        </p:nvSpPr>
        <p:spPr>
          <a:xfrm>
            <a:off x="8069580" y="5120640"/>
            <a:ext cx="0" cy="1170432"/>
          </a:xfrm>
          <a:prstGeom prst="line">
            <a:avLst/>
          </a:prstGeom>
          <a:noFill/>
          <a:ln w="12700">
            <a:solidFill>
              <a:srgbClr val="B3D9C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6"/>
          <p:cNvSpPr/>
          <p:nvPr/>
        </p:nvSpPr>
        <p:spPr>
          <a:xfrm>
            <a:off x="4709160" y="5093208"/>
            <a:ext cx="32232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02473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READ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4709160" y="5404104"/>
            <a:ext cx="322326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012E1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Investment Biker — Jim Rogers (1994)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8161020" y="5093208"/>
            <a:ext cx="32689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02473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GO FURTHER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8161020" y="5404104"/>
            <a:ext cx="326898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Adventure Capitalist (the follow-up, by car)</a:t>
            </a:r>
            <a:endParaRPr lang="en-US" sz="1100" dirty="0"/>
          </a:p>
          <a:p>
            <a:pPr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Hot Commodities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320040" y="644652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DA78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 / 8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rgbClr val="02473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271885" y="457200"/>
            <a:ext cx="1479591" cy="2240280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38100" dir="8100000" algn="bl" rotWithShape="0">
              <a:srgbClr val="000000">
                <a:alpha val="2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4" name="Image 0" descr="C:/GitHub/shidler/docs/presentations/assets/soros-alchemy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17605" y="502920"/>
            <a:ext cx="1388151" cy="21488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20040" y="278892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kern="0" spc="150" dirty="0">
                <a:solidFill>
                  <a:srgbClr val="B3D9C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GOOD READS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320040" y="3136392"/>
            <a:ext cx="3383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8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The Alchemy of Finance</a:t>
            </a:r>
            <a:endParaRPr lang="en-US" sz="2500" dirty="0"/>
          </a:p>
        </p:txBody>
      </p:sp>
      <p:sp>
        <p:nvSpPr>
          <p:cNvPr id="7" name="Text 4"/>
          <p:cNvSpPr/>
          <p:nvPr/>
        </p:nvSpPr>
        <p:spPr>
          <a:xfrm>
            <a:off x="320040" y="434340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B3D9C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George Soros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914400" y="5897880"/>
            <a:ext cx="2194560" cy="420624"/>
          </a:xfrm>
          <a:prstGeom prst="roundRect">
            <a:avLst>
              <a:gd name="adj" fmla="val 50000"/>
            </a:avLst>
          </a:prstGeom>
          <a:solidFill>
            <a:srgbClr val="012E1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914400" y="5897880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kern="0" spc="150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BOOK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4434840" y="640080"/>
            <a:ext cx="7269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02473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OVERVIEW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4434840" y="950976"/>
            <a:ext cx="7269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Soros lays out his theory of reflexivity: market participants' biased perceptions feed back into and reshape the very fundamentals they are trying to predict, fueling self-reinforcing boom-and-bust cycles — illustrated with a real-time trading diary.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4434840" y="2212848"/>
            <a:ext cx="7269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02473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WHY IT MATTERS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4434840" y="2523744"/>
            <a:ext cx="7269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foundational challenge to efficient-market thinking. Prices are not passive reflections of value but active forces that bend reality — sharpening how you reason about bubbles, feedback loops, and reflexive risk.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434840" y="3657600"/>
            <a:ext cx="7269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02473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ABOUT THE AUTHOR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4434840" y="3968496"/>
            <a:ext cx="7269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555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Co-founded the Quantum Fund with Jim Rogers and became one of history's most successful speculators — famously "broke the Bank of England" in 1992 — and later a major philanthropist.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4434840" y="4892040"/>
            <a:ext cx="7269480" cy="1627632"/>
          </a:xfrm>
          <a:prstGeom prst="rect">
            <a:avLst/>
          </a:prstGeom>
          <a:solidFill>
            <a:srgbClr val="E6F2E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Shape 14"/>
          <p:cNvSpPr/>
          <p:nvPr/>
        </p:nvSpPr>
        <p:spPr>
          <a:xfrm>
            <a:off x="4434840" y="4892040"/>
            <a:ext cx="82296" cy="1627632"/>
          </a:xfrm>
          <a:prstGeom prst="rect">
            <a:avLst/>
          </a:prstGeom>
          <a:solidFill>
            <a:srgbClr val="02473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Shape 15"/>
          <p:cNvSpPr/>
          <p:nvPr/>
        </p:nvSpPr>
        <p:spPr>
          <a:xfrm>
            <a:off x="8069580" y="5120640"/>
            <a:ext cx="0" cy="1170432"/>
          </a:xfrm>
          <a:prstGeom prst="line">
            <a:avLst/>
          </a:prstGeom>
          <a:noFill/>
          <a:ln w="12700">
            <a:solidFill>
              <a:srgbClr val="B3D9C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6"/>
          <p:cNvSpPr/>
          <p:nvPr/>
        </p:nvSpPr>
        <p:spPr>
          <a:xfrm>
            <a:off x="4709160" y="5093208"/>
            <a:ext cx="32232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02473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READ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4709160" y="5404104"/>
            <a:ext cx="322326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012E1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The Alchemy of Finance — George Soros (1987)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8161020" y="5093208"/>
            <a:ext cx="32689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02473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GO FURTHER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8161020" y="5404104"/>
            <a:ext cx="326898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Foreword by Paul A. Volcker</a:t>
            </a:r>
            <a:endParaRPr lang="en-US" sz="1100" dirty="0"/>
          </a:p>
          <a:p>
            <a:pPr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Pairs with Investment Biker — same Quantum Fund founders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320040" y="644652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DA78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2 / 8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rgbClr val="02473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265176" y="448056"/>
            <a:ext cx="3493008" cy="2012823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38100" dir="8100000" algn="bl" rotWithShape="0">
              <a:srgbClr val="000000">
                <a:alpha val="2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4" name="Image 0" descr="C:/GitHub/shidler/docs/presentations/assets/PHe0bXAIuk0.jp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20040" y="502920"/>
            <a:ext cx="3383280" cy="1903095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609344" y="1052132"/>
            <a:ext cx="804672" cy="804672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1655064" y="1097852"/>
            <a:ext cx="713232" cy="713232"/>
          </a:xfrm>
          <a:prstGeom prst="ellipse">
            <a:avLst/>
          </a:prstGeom>
          <a:solidFill>
            <a:srgbClr val="02473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29384" y="1326452"/>
            <a:ext cx="219456" cy="256032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320040" y="2578608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kern="0" spc="150" dirty="0">
                <a:solidFill>
                  <a:srgbClr val="B3D9C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ECONOMICS</a:t>
            </a:r>
            <a:endParaRPr lang="en-US" sz="1200" dirty="0"/>
          </a:p>
        </p:txBody>
      </p:sp>
      <p:sp>
        <p:nvSpPr>
          <p:cNvPr id="9" name="Text 5"/>
          <p:cNvSpPr/>
          <p:nvPr/>
        </p:nvSpPr>
        <p:spPr>
          <a:xfrm>
            <a:off x="320040" y="2926080"/>
            <a:ext cx="3383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8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How the Economic Machine Works</a:t>
            </a:r>
            <a:endParaRPr lang="en-US" sz="2500" dirty="0"/>
          </a:p>
        </p:txBody>
      </p:sp>
      <p:sp>
        <p:nvSpPr>
          <p:cNvPr id="10" name="Text 6"/>
          <p:cNvSpPr/>
          <p:nvPr/>
        </p:nvSpPr>
        <p:spPr>
          <a:xfrm>
            <a:off x="320040" y="434340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B3D9C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Ray Dalio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914400" y="5897880"/>
            <a:ext cx="2194560" cy="420624"/>
          </a:xfrm>
          <a:prstGeom prst="roundRect">
            <a:avLst>
              <a:gd name="adj" fmla="val 50000"/>
            </a:avLst>
          </a:prstGeom>
          <a:solidFill>
            <a:srgbClr val="012E1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8"/>
          <p:cNvSpPr/>
          <p:nvPr/>
        </p:nvSpPr>
        <p:spPr>
          <a:xfrm>
            <a:off x="914400" y="5897880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kern="0" spc="150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VIDEO · ~30 MIN</a:t>
            </a:r>
            <a:endParaRPr lang="en-US" sz="1150" dirty="0"/>
          </a:p>
        </p:txBody>
      </p:sp>
      <p:sp>
        <p:nvSpPr>
          <p:cNvPr id="13" name="Text 9"/>
          <p:cNvSpPr/>
          <p:nvPr/>
        </p:nvSpPr>
        <p:spPr>
          <a:xfrm>
            <a:off x="4434840" y="640080"/>
            <a:ext cx="7269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02473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OVERVIEW</a:t>
            </a:r>
            <a:endParaRPr lang="en-US" sz="1300" dirty="0"/>
          </a:p>
        </p:txBody>
      </p:sp>
      <p:sp>
        <p:nvSpPr>
          <p:cNvPr id="14" name="Text 10"/>
          <p:cNvSpPr/>
          <p:nvPr/>
        </p:nvSpPr>
        <p:spPr>
          <a:xfrm>
            <a:off x="4434840" y="950976"/>
            <a:ext cx="7269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30-minute animated explainer that builds the whole economy up from a single transaction, then reduces it to three forces: productivity growth plus a short-term and a long-term debt cycle.</a:t>
            </a:r>
            <a:endParaRPr lang="en-US" sz="1200" dirty="0"/>
          </a:p>
        </p:txBody>
      </p:sp>
      <p:sp>
        <p:nvSpPr>
          <p:cNvPr id="15" name="Text 11"/>
          <p:cNvSpPr/>
          <p:nvPr/>
        </p:nvSpPr>
        <p:spPr>
          <a:xfrm>
            <a:off x="4434840" y="2212848"/>
            <a:ext cx="7269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02473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WHY IT MATTERS</a:t>
            </a:r>
            <a:endParaRPr lang="en-US" sz="1300" dirty="0"/>
          </a:p>
        </p:txBody>
      </p:sp>
      <p:sp>
        <p:nvSpPr>
          <p:cNvPr id="16" name="Text 12"/>
          <p:cNvSpPr/>
          <p:nvPr/>
        </p:nvSpPr>
        <p:spPr>
          <a:xfrm>
            <a:off x="4434840" y="2523744"/>
            <a:ext cx="7269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The clearest mental model for why economies expand, overheat, and deleverage — and a working vocabulary (credit, spending, deleveraging) for almost any macro headline.</a:t>
            </a:r>
            <a:endParaRPr lang="en-US" sz="1200" dirty="0"/>
          </a:p>
        </p:txBody>
      </p:sp>
      <p:sp>
        <p:nvSpPr>
          <p:cNvPr id="17" name="Text 13"/>
          <p:cNvSpPr/>
          <p:nvPr/>
        </p:nvSpPr>
        <p:spPr>
          <a:xfrm>
            <a:off x="4434840" y="3657600"/>
            <a:ext cx="7269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02473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ABOUT THE AUTHOR</a:t>
            </a:r>
            <a:endParaRPr lang="en-US" sz="1300" dirty="0"/>
          </a:p>
        </p:txBody>
      </p:sp>
      <p:sp>
        <p:nvSpPr>
          <p:cNvPr id="18" name="Text 14"/>
          <p:cNvSpPr/>
          <p:nvPr/>
        </p:nvSpPr>
        <p:spPr>
          <a:xfrm>
            <a:off x="4434840" y="3968496"/>
            <a:ext cx="7269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555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Founder of Bridgewater Associates, the world's largest hedge fund, and one of the most influential macro thinkers alive.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4434840" y="4892040"/>
            <a:ext cx="7269480" cy="1627632"/>
          </a:xfrm>
          <a:prstGeom prst="rect">
            <a:avLst/>
          </a:prstGeom>
          <a:solidFill>
            <a:srgbClr val="E6F2E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Shape 16"/>
          <p:cNvSpPr/>
          <p:nvPr/>
        </p:nvSpPr>
        <p:spPr>
          <a:xfrm>
            <a:off x="4434840" y="4892040"/>
            <a:ext cx="82296" cy="1627632"/>
          </a:xfrm>
          <a:prstGeom prst="rect">
            <a:avLst/>
          </a:prstGeom>
          <a:solidFill>
            <a:srgbClr val="02473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Shape 17"/>
          <p:cNvSpPr/>
          <p:nvPr/>
        </p:nvSpPr>
        <p:spPr>
          <a:xfrm>
            <a:off x="8069580" y="5120640"/>
            <a:ext cx="0" cy="1170432"/>
          </a:xfrm>
          <a:prstGeom prst="line">
            <a:avLst/>
          </a:prstGeom>
          <a:noFill/>
          <a:ln w="12700">
            <a:solidFill>
              <a:srgbClr val="B3D9C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18"/>
          <p:cNvSpPr/>
          <p:nvPr/>
        </p:nvSpPr>
        <p:spPr>
          <a:xfrm>
            <a:off x="4709160" y="5093208"/>
            <a:ext cx="32232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02473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WATCH</a:t>
            </a:r>
            <a:endParaRPr lang="en-US" sz="1100" dirty="0"/>
          </a:p>
        </p:txBody>
      </p:sp>
      <p:sp>
        <p:nvSpPr>
          <p:cNvPr id="23" name="Text 19"/>
          <p:cNvSpPr/>
          <p:nvPr/>
        </p:nvSpPr>
        <p:spPr>
          <a:xfrm>
            <a:off x="4709160" y="5404104"/>
            <a:ext cx="322326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012E1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youtu.be/PHe0bXAIuk0</a:t>
            </a:r>
            <a:endParaRPr lang="en-US" sz="1100" dirty="0"/>
          </a:p>
        </p:txBody>
      </p:sp>
      <p:sp>
        <p:nvSpPr>
          <p:cNvPr id="24" name="Text 20"/>
          <p:cNvSpPr/>
          <p:nvPr/>
        </p:nvSpPr>
        <p:spPr>
          <a:xfrm>
            <a:off x="8161020" y="5093208"/>
            <a:ext cx="32689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02473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GO FURTHER</a:t>
            </a:r>
            <a:endParaRPr lang="en-US" sz="1100" dirty="0"/>
          </a:p>
        </p:txBody>
      </p:sp>
      <p:sp>
        <p:nvSpPr>
          <p:cNvPr id="25" name="Text 21"/>
          <p:cNvSpPr/>
          <p:nvPr/>
        </p:nvSpPr>
        <p:spPr>
          <a:xfrm>
            <a:off x="8161020" y="5404104"/>
            <a:ext cx="326898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Book: Principles</a:t>
            </a:r>
            <a:endParaRPr lang="en-US" sz="1100" dirty="0"/>
          </a:p>
          <a:p>
            <a:pPr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Pairs with The Changing World Order (next)</a:t>
            </a:r>
            <a:endParaRPr lang="en-US" sz="1100" dirty="0"/>
          </a:p>
        </p:txBody>
      </p:sp>
      <p:sp>
        <p:nvSpPr>
          <p:cNvPr id="26" name="Text 22"/>
          <p:cNvSpPr/>
          <p:nvPr/>
        </p:nvSpPr>
        <p:spPr>
          <a:xfrm>
            <a:off x="320040" y="644652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DA78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3 / 8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rgbClr val="02473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265176" y="448056"/>
            <a:ext cx="3493008" cy="2012823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38100" dir="8100000" algn="bl" rotWithShape="0">
              <a:srgbClr val="000000">
                <a:alpha val="2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4" name="Image 0" descr="C:/GitHub/shidler/docs/presentations/assets/xguam0TKMw8.jp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20040" y="502920"/>
            <a:ext cx="3383280" cy="1903095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609344" y="1052132"/>
            <a:ext cx="804672" cy="804672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1655064" y="1097852"/>
            <a:ext cx="713232" cy="713232"/>
          </a:xfrm>
          <a:prstGeom prst="ellipse">
            <a:avLst/>
          </a:prstGeom>
          <a:solidFill>
            <a:srgbClr val="02473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29384" y="1326452"/>
            <a:ext cx="219456" cy="256032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320040" y="2578608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kern="0" spc="150" dirty="0">
                <a:solidFill>
                  <a:srgbClr val="B3D9C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ECONOMICS</a:t>
            </a:r>
            <a:endParaRPr lang="en-US" sz="1200" dirty="0"/>
          </a:p>
        </p:txBody>
      </p:sp>
      <p:sp>
        <p:nvSpPr>
          <p:cNvPr id="9" name="Text 5"/>
          <p:cNvSpPr/>
          <p:nvPr/>
        </p:nvSpPr>
        <p:spPr>
          <a:xfrm>
            <a:off x="320040" y="2926080"/>
            <a:ext cx="3383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8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The Changing World Order</a:t>
            </a:r>
            <a:endParaRPr lang="en-US" sz="2500" dirty="0"/>
          </a:p>
        </p:txBody>
      </p:sp>
      <p:sp>
        <p:nvSpPr>
          <p:cNvPr id="10" name="Text 6"/>
          <p:cNvSpPr/>
          <p:nvPr/>
        </p:nvSpPr>
        <p:spPr>
          <a:xfrm>
            <a:off x="320040" y="434340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B3D9C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Ray Dalio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914400" y="5897880"/>
            <a:ext cx="2194560" cy="420624"/>
          </a:xfrm>
          <a:prstGeom prst="roundRect">
            <a:avLst>
              <a:gd name="adj" fmla="val 50000"/>
            </a:avLst>
          </a:prstGeom>
          <a:solidFill>
            <a:srgbClr val="012E1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8"/>
          <p:cNvSpPr/>
          <p:nvPr/>
        </p:nvSpPr>
        <p:spPr>
          <a:xfrm>
            <a:off x="914400" y="5897880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kern="0" spc="150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VIDEO</a:t>
            </a:r>
            <a:endParaRPr lang="en-US" sz="1150" dirty="0"/>
          </a:p>
        </p:txBody>
      </p:sp>
      <p:sp>
        <p:nvSpPr>
          <p:cNvPr id="13" name="Text 9"/>
          <p:cNvSpPr/>
          <p:nvPr/>
        </p:nvSpPr>
        <p:spPr>
          <a:xfrm>
            <a:off x="4434840" y="640080"/>
            <a:ext cx="7269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02473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OVERVIEW</a:t>
            </a:r>
            <a:endParaRPr lang="en-US" sz="1300" dirty="0"/>
          </a:p>
        </p:txBody>
      </p:sp>
      <p:sp>
        <p:nvSpPr>
          <p:cNvPr id="14" name="Text 10"/>
          <p:cNvSpPr/>
          <p:nvPr/>
        </p:nvSpPr>
        <p:spPr>
          <a:xfrm>
            <a:off x="4434840" y="950976"/>
            <a:ext cx="7269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Dalio zooms out across 500 years to study how empires and reserve currencies rise and fall — the recurring pattern of debt, internal conflict, and shifting power — and where the US and China sit in that cycle today.</a:t>
            </a:r>
            <a:endParaRPr lang="en-US" sz="1200" dirty="0"/>
          </a:p>
        </p:txBody>
      </p:sp>
      <p:sp>
        <p:nvSpPr>
          <p:cNvPr id="15" name="Text 11"/>
          <p:cNvSpPr/>
          <p:nvPr/>
        </p:nvSpPr>
        <p:spPr>
          <a:xfrm>
            <a:off x="4434840" y="2212848"/>
            <a:ext cx="7269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02473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WHY IT MATTERS</a:t>
            </a:r>
            <a:endParaRPr lang="en-US" sz="1300" dirty="0"/>
          </a:p>
        </p:txBody>
      </p:sp>
      <p:sp>
        <p:nvSpPr>
          <p:cNvPr id="16" name="Text 12"/>
          <p:cNvSpPr/>
          <p:nvPr/>
        </p:nvSpPr>
        <p:spPr>
          <a:xfrm>
            <a:off x="4434840" y="2523744"/>
            <a:ext cx="7269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Frames today's events — debt, inflation, US–China rivalry — inside a repeatable historical arc, so you can read geopolitics as cycles rather than noise.</a:t>
            </a:r>
            <a:endParaRPr lang="en-US" sz="1200" dirty="0"/>
          </a:p>
        </p:txBody>
      </p:sp>
      <p:sp>
        <p:nvSpPr>
          <p:cNvPr id="17" name="Text 13"/>
          <p:cNvSpPr/>
          <p:nvPr/>
        </p:nvSpPr>
        <p:spPr>
          <a:xfrm>
            <a:off x="4434840" y="3657600"/>
            <a:ext cx="7269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02473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ABOUT THE AUTHOR</a:t>
            </a:r>
            <a:endParaRPr lang="en-US" sz="1300" dirty="0"/>
          </a:p>
        </p:txBody>
      </p:sp>
      <p:sp>
        <p:nvSpPr>
          <p:cNvPr id="18" name="Text 14"/>
          <p:cNvSpPr/>
          <p:nvPr/>
        </p:nvSpPr>
        <p:spPr>
          <a:xfrm>
            <a:off x="4434840" y="3968496"/>
            <a:ext cx="7269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555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Founder of Bridgewater Associates, the world's largest hedge fund, and one of the most influential macro thinkers alive.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4434840" y="4892040"/>
            <a:ext cx="7269480" cy="1627632"/>
          </a:xfrm>
          <a:prstGeom prst="rect">
            <a:avLst/>
          </a:prstGeom>
          <a:solidFill>
            <a:srgbClr val="E6F2E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Shape 16"/>
          <p:cNvSpPr/>
          <p:nvPr/>
        </p:nvSpPr>
        <p:spPr>
          <a:xfrm>
            <a:off x="4434840" y="4892040"/>
            <a:ext cx="82296" cy="1627632"/>
          </a:xfrm>
          <a:prstGeom prst="rect">
            <a:avLst/>
          </a:prstGeom>
          <a:solidFill>
            <a:srgbClr val="02473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Shape 17"/>
          <p:cNvSpPr/>
          <p:nvPr/>
        </p:nvSpPr>
        <p:spPr>
          <a:xfrm>
            <a:off x="8069580" y="5120640"/>
            <a:ext cx="0" cy="1170432"/>
          </a:xfrm>
          <a:prstGeom prst="line">
            <a:avLst/>
          </a:prstGeom>
          <a:noFill/>
          <a:ln w="12700">
            <a:solidFill>
              <a:srgbClr val="B3D9C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18"/>
          <p:cNvSpPr/>
          <p:nvPr/>
        </p:nvSpPr>
        <p:spPr>
          <a:xfrm>
            <a:off x="4709160" y="5093208"/>
            <a:ext cx="32232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02473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WATCH</a:t>
            </a:r>
            <a:endParaRPr lang="en-US" sz="1100" dirty="0"/>
          </a:p>
        </p:txBody>
      </p:sp>
      <p:sp>
        <p:nvSpPr>
          <p:cNvPr id="23" name="Text 19"/>
          <p:cNvSpPr/>
          <p:nvPr/>
        </p:nvSpPr>
        <p:spPr>
          <a:xfrm>
            <a:off x="4709160" y="5404104"/>
            <a:ext cx="322326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012E1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youtu.be/xguam0TKMw8</a:t>
            </a:r>
            <a:endParaRPr lang="en-US" sz="1100" dirty="0"/>
          </a:p>
        </p:txBody>
      </p:sp>
      <p:sp>
        <p:nvSpPr>
          <p:cNvPr id="24" name="Text 20"/>
          <p:cNvSpPr/>
          <p:nvPr/>
        </p:nvSpPr>
        <p:spPr>
          <a:xfrm>
            <a:off x="8161020" y="5093208"/>
            <a:ext cx="32689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02473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GO FURTHER</a:t>
            </a:r>
            <a:endParaRPr lang="en-US" sz="1100" dirty="0"/>
          </a:p>
        </p:txBody>
      </p:sp>
      <p:sp>
        <p:nvSpPr>
          <p:cNvPr id="25" name="Text 21"/>
          <p:cNvSpPr/>
          <p:nvPr/>
        </p:nvSpPr>
        <p:spPr>
          <a:xfrm>
            <a:off x="8161020" y="5404104"/>
            <a:ext cx="326898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Book: Principles for Dealing with the Changing World Order</a:t>
            </a:r>
            <a:endParaRPr lang="en-US" sz="1100" dirty="0"/>
          </a:p>
          <a:p>
            <a:pPr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Pairs with the Economic Machine (prev)</a:t>
            </a:r>
            <a:endParaRPr lang="en-US" sz="1100" dirty="0"/>
          </a:p>
        </p:txBody>
      </p:sp>
      <p:sp>
        <p:nvSpPr>
          <p:cNvPr id="26" name="Text 22"/>
          <p:cNvSpPr/>
          <p:nvPr/>
        </p:nvSpPr>
        <p:spPr>
          <a:xfrm>
            <a:off x="320040" y="644652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DA78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4 / 8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rgbClr val="02473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265176" y="448056"/>
            <a:ext cx="3493008" cy="2012823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38100" dir="8100000" algn="bl" rotWithShape="0">
              <a:srgbClr val="000000">
                <a:alpha val="2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4" name="Image 0" descr="C:/GitHub/shidler/docs/presentations/assets/I6IraYngzgo.jp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20040" y="502920"/>
            <a:ext cx="3383280" cy="1903095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609344" y="1052132"/>
            <a:ext cx="804672" cy="804672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1655064" y="1097852"/>
            <a:ext cx="713232" cy="713232"/>
          </a:xfrm>
          <a:prstGeom prst="ellipse">
            <a:avLst/>
          </a:prstGeom>
          <a:solidFill>
            <a:srgbClr val="02473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29384" y="1326452"/>
            <a:ext cx="219456" cy="256032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320040" y="2578608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kern="0" spc="150" dirty="0">
                <a:solidFill>
                  <a:srgbClr val="B3D9C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ECONOMICS &amp; CRYPTO</a:t>
            </a:r>
            <a:endParaRPr lang="en-US" sz="1200" dirty="0"/>
          </a:p>
        </p:txBody>
      </p:sp>
      <p:sp>
        <p:nvSpPr>
          <p:cNvPr id="9" name="Text 5"/>
          <p:cNvSpPr/>
          <p:nvPr/>
        </p:nvSpPr>
        <p:spPr>
          <a:xfrm>
            <a:off x="320040" y="2926080"/>
            <a:ext cx="3383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8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The Everything Code</a:t>
            </a:r>
            <a:endParaRPr lang="en-US" sz="2500" dirty="0"/>
          </a:p>
        </p:txBody>
      </p:sp>
      <p:sp>
        <p:nvSpPr>
          <p:cNvPr id="10" name="Text 6"/>
          <p:cNvSpPr/>
          <p:nvPr/>
        </p:nvSpPr>
        <p:spPr>
          <a:xfrm>
            <a:off x="320040" y="434340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B3D9C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Raoul Pal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914400" y="5897880"/>
            <a:ext cx="2194560" cy="420624"/>
          </a:xfrm>
          <a:prstGeom prst="roundRect">
            <a:avLst>
              <a:gd name="adj" fmla="val 50000"/>
            </a:avLst>
          </a:prstGeom>
          <a:solidFill>
            <a:srgbClr val="012E1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8"/>
          <p:cNvSpPr/>
          <p:nvPr/>
        </p:nvSpPr>
        <p:spPr>
          <a:xfrm>
            <a:off x="914400" y="5897880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kern="0" spc="150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VIDEO</a:t>
            </a:r>
            <a:endParaRPr lang="en-US" sz="1150" dirty="0"/>
          </a:p>
        </p:txBody>
      </p:sp>
      <p:sp>
        <p:nvSpPr>
          <p:cNvPr id="13" name="Text 9"/>
          <p:cNvSpPr/>
          <p:nvPr/>
        </p:nvSpPr>
        <p:spPr>
          <a:xfrm>
            <a:off x="4434840" y="640080"/>
            <a:ext cx="7269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02473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OVERVIEW</a:t>
            </a:r>
            <a:endParaRPr lang="en-US" sz="1300" dirty="0"/>
          </a:p>
        </p:txBody>
      </p:sp>
      <p:sp>
        <p:nvSpPr>
          <p:cNvPr id="14" name="Text 10"/>
          <p:cNvSpPr/>
          <p:nvPr/>
        </p:nvSpPr>
        <p:spPr>
          <a:xfrm>
            <a:off x="4434840" y="950976"/>
            <a:ext cx="7269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Raoul Pal and Julien Bittel lay out a framework tying global liquidity, demographics, and technology adoption to asset prices — a bridge between traditional macro and digital assets.</a:t>
            </a:r>
            <a:endParaRPr lang="en-US" sz="1200" dirty="0"/>
          </a:p>
        </p:txBody>
      </p:sp>
      <p:sp>
        <p:nvSpPr>
          <p:cNvPr id="15" name="Text 11"/>
          <p:cNvSpPr/>
          <p:nvPr/>
        </p:nvSpPr>
        <p:spPr>
          <a:xfrm>
            <a:off x="4434840" y="2212848"/>
            <a:ext cx="7269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02473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WHY IT MATTERS</a:t>
            </a:r>
            <a:endParaRPr lang="en-US" sz="1300" dirty="0"/>
          </a:p>
        </p:txBody>
      </p:sp>
      <p:sp>
        <p:nvSpPr>
          <p:cNvPr id="16" name="Text 12"/>
          <p:cNvSpPr/>
          <p:nvPr/>
        </p:nvSpPr>
        <p:spPr>
          <a:xfrm>
            <a:off x="4434840" y="2523744"/>
            <a:ext cx="7269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Explains why liquidity cycles drive risk markets and offers a lens for thinking about crypto alongside stocks and bonds rather than in isolation.</a:t>
            </a:r>
            <a:endParaRPr lang="en-US" sz="1200" dirty="0"/>
          </a:p>
        </p:txBody>
      </p:sp>
      <p:sp>
        <p:nvSpPr>
          <p:cNvPr id="17" name="Text 13"/>
          <p:cNvSpPr/>
          <p:nvPr/>
        </p:nvSpPr>
        <p:spPr>
          <a:xfrm>
            <a:off x="4434840" y="3657600"/>
            <a:ext cx="7269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02473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ABOUT THE AUTHOR</a:t>
            </a:r>
            <a:endParaRPr lang="en-US" sz="1300" dirty="0"/>
          </a:p>
        </p:txBody>
      </p:sp>
      <p:sp>
        <p:nvSpPr>
          <p:cNvPr id="18" name="Text 14"/>
          <p:cNvSpPr/>
          <p:nvPr/>
        </p:nvSpPr>
        <p:spPr>
          <a:xfrm>
            <a:off x="4434840" y="3968496"/>
            <a:ext cx="7269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555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Former Goldman Sachs and GLG hedge-fund manager; co-founder of Real Vision and CEO of Global Macro Investor.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4434840" y="4892040"/>
            <a:ext cx="7269480" cy="1627632"/>
          </a:xfrm>
          <a:prstGeom prst="rect">
            <a:avLst/>
          </a:prstGeom>
          <a:solidFill>
            <a:srgbClr val="E6F2E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Shape 16"/>
          <p:cNvSpPr/>
          <p:nvPr/>
        </p:nvSpPr>
        <p:spPr>
          <a:xfrm>
            <a:off x="4434840" y="4892040"/>
            <a:ext cx="82296" cy="1627632"/>
          </a:xfrm>
          <a:prstGeom prst="rect">
            <a:avLst/>
          </a:prstGeom>
          <a:solidFill>
            <a:srgbClr val="02473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Shape 17"/>
          <p:cNvSpPr/>
          <p:nvPr/>
        </p:nvSpPr>
        <p:spPr>
          <a:xfrm>
            <a:off x="8069580" y="5120640"/>
            <a:ext cx="0" cy="1170432"/>
          </a:xfrm>
          <a:prstGeom prst="line">
            <a:avLst/>
          </a:prstGeom>
          <a:noFill/>
          <a:ln w="12700">
            <a:solidFill>
              <a:srgbClr val="B3D9C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18"/>
          <p:cNvSpPr/>
          <p:nvPr/>
        </p:nvSpPr>
        <p:spPr>
          <a:xfrm>
            <a:off x="4709160" y="5093208"/>
            <a:ext cx="32232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02473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WATCH</a:t>
            </a:r>
            <a:endParaRPr lang="en-US" sz="1100" dirty="0"/>
          </a:p>
        </p:txBody>
      </p:sp>
      <p:sp>
        <p:nvSpPr>
          <p:cNvPr id="23" name="Text 19"/>
          <p:cNvSpPr/>
          <p:nvPr/>
        </p:nvSpPr>
        <p:spPr>
          <a:xfrm>
            <a:off x="4709160" y="5404104"/>
            <a:ext cx="322326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012E1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youtu.be/I6IraYngzgo</a:t>
            </a:r>
            <a:endParaRPr lang="en-US" sz="1100" dirty="0"/>
          </a:p>
        </p:txBody>
      </p:sp>
      <p:sp>
        <p:nvSpPr>
          <p:cNvPr id="24" name="Text 20"/>
          <p:cNvSpPr/>
          <p:nvPr/>
        </p:nvSpPr>
        <p:spPr>
          <a:xfrm>
            <a:off x="8161020" y="5093208"/>
            <a:ext cx="32689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02473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GO FURTHER</a:t>
            </a:r>
            <a:endParaRPr lang="en-US" sz="1100" dirty="0"/>
          </a:p>
        </p:txBody>
      </p:sp>
      <p:sp>
        <p:nvSpPr>
          <p:cNvPr id="25" name="Text 21"/>
          <p:cNvSpPr/>
          <p:nvPr/>
        </p:nvSpPr>
        <p:spPr>
          <a:xfrm>
            <a:off x="8161020" y="5404104"/>
            <a:ext cx="326898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Real Vision interviews</a:t>
            </a:r>
            <a:endParaRPr lang="en-US" sz="1100" dirty="0"/>
          </a:p>
          <a:p>
            <a:pPr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Global Macro Investor research</a:t>
            </a:r>
            <a:endParaRPr lang="en-US" sz="1100" dirty="0"/>
          </a:p>
        </p:txBody>
      </p:sp>
      <p:sp>
        <p:nvSpPr>
          <p:cNvPr id="26" name="Text 22"/>
          <p:cNvSpPr/>
          <p:nvPr/>
        </p:nvSpPr>
        <p:spPr>
          <a:xfrm>
            <a:off x="320040" y="644652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DA78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5 / 8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rgbClr val="02473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265176" y="448056"/>
            <a:ext cx="3493008" cy="2012823"/>
          </a:xfrm>
          <a:prstGeom prst="rect">
            <a:avLst/>
          </a:prstGeom>
          <a:solidFill>
            <a:srgbClr val="FFFFFF"/>
          </a:solidFill>
          <a:ln/>
          <a:effectLst>
            <a:outerShdw blurRad="114300" dist="38100" dir="8100000" algn="bl" rotWithShape="0">
              <a:srgbClr val="000000">
                <a:alpha val="2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4" name="Image 0" descr="C:/GitHub/shidler/docs/presentations/assets/MFzxIT88zfg.jp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20040" y="502920"/>
            <a:ext cx="3383280" cy="1903095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609344" y="1052132"/>
            <a:ext cx="804672" cy="804672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1655064" y="1097852"/>
            <a:ext cx="713232" cy="713232"/>
          </a:xfrm>
          <a:prstGeom prst="ellipse">
            <a:avLst/>
          </a:prstGeom>
          <a:solidFill>
            <a:srgbClr val="02473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29384" y="1326452"/>
            <a:ext cx="219456" cy="256032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320040" y="2578608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kern="0" spc="150" dirty="0">
                <a:solidFill>
                  <a:srgbClr val="B3D9C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ARTIFICIAL INTELLIGENCE</a:t>
            </a:r>
            <a:endParaRPr lang="en-US" sz="1200" dirty="0"/>
          </a:p>
        </p:txBody>
      </p:sp>
      <p:sp>
        <p:nvSpPr>
          <p:cNvPr id="9" name="Text 5"/>
          <p:cNvSpPr/>
          <p:nvPr/>
        </p:nvSpPr>
        <p:spPr>
          <a:xfrm>
            <a:off x="320040" y="2926080"/>
            <a:ext cx="3383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8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Build It With AI, Then Attack It</a:t>
            </a:r>
            <a:endParaRPr lang="en-US" sz="2500" dirty="0"/>
          </a:p>
        </p:txBody>
      </p:sp>
      <p:sp>
        <p:nvSpPr>
          <p:cNvPr id="10" name="Text 6"/>
          <p:cNvSpPr/>
          <p:nvPr/>
        </p:nvSpPr>
        <p:spPr>
          <a:xfrm>
            <a:off x="320040" y="434340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B3D9C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Nate Jones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914400" y="5897880"/>
            <a:ext cx="2194560" cy="420624"/>
          </a:xfrm>
          <a:prstGeom prst="roundRect">
            <a:avLst>
              <a:gd name="adj" fmla="val 50000"/>
            </a:avLst>
          </a:prstGeom>
          <a:solidFill>
            <a:srgbClr val="012E1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8"/>
          <p:cNvSpPr/>
          <p:nvPr/>
        </p:nvSpPr>
        <p:spPr>
          <a:xfrm>
            <a:off x="914400" y="5897880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kern="0" spc="150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VIDEO</a:t>
            </a:r>
            <a:endParaRPr lang="en-US" sz="1150" dirty="0"/>
          </a:p>
        </p:txBody>
      </p:sp>
      <p:sp>
        <p:nvSpPr>
          <p:cNvPr id="13" name="Text 9"/>
          <p:cNvSpPr/>
          <p:nvPr/>
        </p:nvSpPr>
        <p:spPr>
          <a:xfrm>
            <a:off x="4434840" y="640080"/>
            <a:ext cx="7269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02473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OVERVIEW</a:t>
            </a:r>
            <a:endParaRPr lang="en-US" sz="1300" dirty="0"/>
          </a:p>
        </p:txBody>
      </p:sp>
      <p:sp>
        <p:nvSpPr>
          <p:cNvPr id="14" name="Text 10"/>
          <p:cNvSpPr/>
          <p:nvPr/>
        </p:nvSpPr>
        <p:spPr>
          <a:xfrm>
            <a:off x="4434840" y="950976"/>
            <a:ext cx="7269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hands-on demo: Jones builds a slide deck with one AI, then sets a second AI to adversarially critique and "attack" it — surfacing weaknesses the first pass missed.</a:t>
            </a:r>
            <a:endParaRPr lang="en-US" sz="1200" dirty="0"/>
          </a:p>
        </p:txBody>
      </p:sp>
      <p:sp>
        <p:nvSpPr>
          <p:cNvPr id="15" name="Text 11"/>
          <p:cNvSpPr/>
          <p:nvPr/>
        </p:nvSpPr>
        <p:spPr>
          <a:xfrm>
            <a:off x="4434840" y="2212848"/>
            <a:ext cx="7269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02473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WHY IT MATTERS</a:t>
            </a:r>
            <a:endParaRPr lang="en-US" sz="1300" dirty="0"/>
          </a:p>
        </p:txBody>
      </p:sp>
      <p:sp>
        <p:nvSpPr>
          <p:cNvPr id="16" name="Text 12"/>
          <p:cNvSpPr/>
          <p:nvPr/>
        </p:nvSpPr>
        <p:spPr>
          <a:xfrm>
            <a:off x="4434840" y="2523744"/>
            <a:ext cx="7269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practical, repeatable template for raising the quality of any AI output: generate, then stress-test. Directly applicable to how you'll use AI on your own projects.</a:t>
            </a:r>
            <a:endParaRPr lang="en-US" sz="1200" dirty="0"/>
          </a:p>
        </p:txBody>
      </p:sp>
      <p:sp>
        <p:nvSpPr>
          <p:cNvPr id="17" name="Text 13"/>
          <p:cNvSpPr/>
          <p:nvPr/>
        </p:nvSpPr>
        <p:spPr>
          <a:xfrm>
            <a:off x="4434840" y="3657600"/>
            <a:ext cx="7269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02473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ABOUT THE AUTHOR</a:t>
            </a:r>
            <a:endParaRPr lang="en-US" sz="1300" dirty="0"/>
          </a:p>
        </p:txBody>
      </p:sp>
      <p:sp>
        <p:nvSpPr>
          <p:cNvPr id="18" name="Text 14"/>
          <p:cNvSpPr/>
          <p:nvPr/>
        </p:nvSpPr>
        <p:spPr>
          <a:xfrm>
            <a:off x="4434840" y="3968496"/>
            <a:ext cx="7269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555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AI product strategist and educator known for accessible, applied breakdowns of real AI workflows.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4434840" y="4892040"/>
            <a:ext cx="7269480" cy="1627632"/>
          </a:xfrm>
          <a:prstGeom prst="rect">
            <a:avLst/>
          </a:prstGeom>
          <a:solidFill>
            <a:srgbClr val="E6F2E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Shape 16"/>
          <p:cNvSpPr/>
          <p:nvPr/>
        </p:nvSpPr>
        <p:spPr>
          <a:xfrm>
            <a:off x="4434840" y="4892040"/>
            <a:ext cx="82296" cy="1627632"/>
          </a:xfrm>
          <a:prstGeom prst="rect">
            <a:avLst/>
          </a:prstGeom>
          <a:solidFill>
            <a:srgbClr val="02473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Shape 17"/>
          <p:cNvSpPr/>
          <p:nvPr/>
        </p:nvSpPr>
        <p:spPr>
          <a:xfrm>
            <a:off x="8069580" y="5120640"/>
            <a:ext cx="0" cy="1170432"/>
          </a:xfrm>
          <a:prstGeom prst="line">
            <a:avLst/>
          </a:prstGeom>
          <a:noFill/>
          <a:ln w="12700">
            <a:solidFill>
              <a:srgbClr val="B3D9C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18"/>
          <p:cNvSpPr/>
          <p:nvPr/>
        </p:nvSpPr>
        <p:spPr>
          <a:xfrm>
            <a:off x="4709160" y="5093208"/>
            <a:ext cx="32232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02473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WATCH</a:t>
            </a:r>
            <a:endParaRPr lang="en-US" sz="1100" dirty="0"/>
          </a:p>
        </p:txBody>
      </p:sp>
      <p:sp>
        <p:nvSpPr>
          <p:cNvPr id="23" name="Text 19"/>
          <p:cNvSpPr/>
          <p:nvPr/>
        </p:nvSpPr>
        <p:spPr>
          <a:xfrm>
            <a:off x="4709160" y="5404104"/>
            <a:ext cx="322326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012E1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youtu.be/MFzxIT88zfg</a:t>
            </a:r>
            <a:endParaRPr lang="en-US" sz="1100" dirty="0"/>
          </a:p>
        </p:txBody>
      </p:sp>
      <p:sp>
        <p:nvSpPr>
          <p:cNvPr id="24" name="Text 20"/>
          <p:cNvSpPr/>
          <p:nvPr/>
        </p:nvSpPr>
        <p:spPr>
          <a:xfrm>
            <a:off x="8161020" y="5093208"/>
            <a:ext cx="32689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02473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GO FURTHER</a:t>
            </a:r>
            <a:endParaRPr lang="en-US" sz="1100" dirty="0"/>
          </a:p>
        </p:txBody>
      </p:sp>
      <p:sp>
        <p:nvSpPr>
          <p:cNvPr id="25" name="Text 21"/>
          <p:cNvSpPr/>
          <p:nvPr/>
        </p:nvSpPr>
        <p:spPr>
          <a:xfrm>
            <a:off x="8161020" y="5404104"/>
            <a:ext cx="326898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Nate's channel &amp; newsletter on applied AI workflows</a:t>
            </a:r>
            <a:endParaRPr lang="en-US" sz="1100" dirty="0"/>
          </a:p>
        </p:txBody>
      </p:sp>
      <p:sp>
        <p:nvSpPr>
          <p:cNvPr id="26" name="Text 22"/>
          <p:cNvSpPr/>
          <p:nvPr/>
        </p:nvSpPr>
        <p:spPr>
          <a:xfrm>
            <a:off x="320040" y="644652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DA78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6 / 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rgbClr val="02473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056132" y="649224"/>
            <a:ext cx="1911096" cy="1911096"/>
          </a:xfrm>
          <a:prstGeom prst="ellipse">
            <a:avLst/>
          </a:prstGeom>
          <a:solidFill>
            <a:srgbClr val="FFFFFF"/>
          </a:solidFill>
          <a:ln/>
          <a:effectLst>
            <a:outerShdw blurRad="114300" dist="38100" dir="8100000" algn="bl" rotWithShape="0">
              <a:srgbClr val="000000">
                <a:alpha val="2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4" name="Image 0" descr="C:/GitHub/shidler/docs/presentations/assets/karpathy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0140" y="713232"/>
            <a:ext cx="1783080" cy="1783080"/>
          </a:xfrm>
          <a:prstGeom prst="ellipse">
            <a:avLst/>
          </a:prstGeom>
        </p:spPr>
      </p:pic>
      <p:sp>
        <p:nvSpPr>
          <p:cNvPr id="5" name="Text 2"/>
          <p:cNvSpPr/>
          <p:nvPr/>
        </p:nvSpPr>
        <p:spPr>
          <a:xfrm>
            <a:off x="320040" y="278892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kern="0" spc="150" dirty="0">
                <a:solidFill>
                  <a:srgbClr val="B3D9C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TOOLS &amp; PROCESS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320040" y="3136392"/>
            <a:ext cx="3383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8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Karpathy's AI Skills</a:t>
            </a:r>
            <a:endParaRPr lang="en-US" sz="2500" dirty="0"/>
          </a:p>
        </p:txBody>
      </p:sp>
      <p:sp>
        <p:nvSpPr>
          <p:cNvPr id="7" name="Text 4"/>
          <p:cNvSpPr/>
          <p:nvPr/>
        </p:nvSpPr>
        <p:spPr>
          <a:xfrm>
            <a:off x="320040" y="434340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B3D9C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Andrej Karpathy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914400" y="5897880"/>
            <a:ext cx="2194560" cy="420624"/>
          </a:xfrm>
          <a:prstGeom prst="roundRect">
            <a:avLst>
              <a:gd name="adj" fmla="val 50000"/>
            </a:avLst>
          </a:prstGeom>
          <a:solidFill>
            <a:srgbClr val="012E1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914400" y="5897880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kern="0" spc="150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GITHUB REPO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4434840" y="640080"/>
            <a:ext cx="7269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02473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OVERVIEW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4434840" y="950976"/>
            <a:ext cx="7269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set of reusable AI "skills" that distill disciplined working principles — think before editing, simplicity first, surgical changes, goal-driven verification — into instructions an AI agent follows. The same principles shape this course's own CLAUDE.md.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4434840" y="2212848"/>
            <a:ext cx="7269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02473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WHY IT MATTERS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4434840" y="2523744"/>
            <a:ext cx="7269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Process beats raw effort. Codifying how you work makes AI output more consistent, reviewable, and professional.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434840" y="3657600"/>
            <a:ext cx="7269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02473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ABOUT THE AUTHOR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4434840" y="3968496"/>
            <a:ext cx="7269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555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Andrej Karpathy — founding member of OpenAI, former Sr. Director of AI at Tesla, and a leading AI educator.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4434840" y="4892040"/>
            <a:ext cx="7269480" cy="1627632"/>
          </a:xfrm>
          <a:prstGeom prst="rect">
            <a:avLst/>
          </a:prstGeom>
          <a:solidFill>
            <a:srgbClr val="E6F2E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Shape 14"/>
          <p:cNvSpPr/>
          <p:nvPr/>
        </p:nvSpPr>
        <p:spPr>
          <a:xfrm>
            <a:off x="4434840" y="4892040"/>
            <a:ext cx="82296" cy="1627632"/>
          </a:xfrm>
          <a:prstGeom prst="rect">
            <a:avLst/>
          </a:prstGeom>
          <a:solidFill>
            <a:srgbClr val="02473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Shape 15"/>
          <p:cNvSpPr/>
          <p:nvPr/>
        </p:nvSpPr>
        <p:spPr>
          <a:xfrm>
            <a:off x="8069580" y="5120640"/>
            <a:ext cx="0" cy="1170432"/>
          </a:xfrm>
          <a:prstGeom prst="line">
            <a:avLst/>
          </a:prstGeom>
          <a:noFill/>
          <a:ln w="12700">
            <a:solidFill>
              <a:srgbClr val="B3D9C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6"/>
          <p:cNvSpPr/>
          <p:nvPr/>
        </p:nvSpPr>
        <p:spPr>
          <a:xfrm>
            <a:off x="4709160" y="5093208"/>
            <a:ext cx="32232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02473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EXPLORE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4709160" y="5404104"/>
            <a:ext cx="322326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012E1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github.com/multica-ai/andrej-karpathy-skills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8161020" y="5093208"/>
            <a:ext cx="32689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02473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GO FURTHER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8161020" y="5404104"/>
            <a:ext cx="326898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Read the CLAUDE.md guidelines</a:t>
            </a:r>
            <a:endParaRPr lang="en-US" sz="1100" dirty="0"/>
          </a:p>
          <a:p>
            <a:pPr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Apply the principles to your own repo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320040" y="644652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DA78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8 / 8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rgbClr val="02473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056132" y="649224"/>
            <a:ext cx="1911096" cy="1911096"/>
          </a:xfrm>
          <a:prstGeom prst="ellipse">
            <a:avLst/>
          </a:prstGeom>
          <a:solidFill>
            <a:srgbClr val="FFFFFF"/>
          </a:solidFill>
          <a:ln/>
          <a:effectLst>
            <a:outerShdw blurRad="114300" dist="38100" dir="8100000" algn="bl" rotWithShape="0">
              <a:srgbClr val="000000">
                <a:alpha val="2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4" name="Image 0" descr="C:/GitHub/shidler/docs/presentations/assets/garryta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0140" y="713232"/>
            <a:ext cx="1783080" cy="1783080"/>
          </a:xfrm>
          <a:prstGeom prst="ellipse">
            <a:avLst/>
          </a:prstGeom>
        </p:spPr>
      </p:pic>
      <p:sp>
        <p:nvSpPr>
          <p:cNvPr id="5" name="Text 2"/>
          <p:cNvSpPr/>
          <p:nvPr/>
        </p:nvSpPr>
        <p:spPr>
          <a:xfrm>
            <a:off x="320040" y="278892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kern="0" spc="150" dirty="0">
                <a:solidFill>
                  <a:srgbClr val="B3D9C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TOOLS &amp; PROCESS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320040" y="3136392"/>
            <a:ext cx="3383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8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gstack</a:t>
            </a:r>
            <a:endParaRPr lang="en-US" sz="2500" dirty="0"/>
          </a:p>
        </p:txBody>
      </p:sp>
      <p:sp>
        <p:nvSpPr>
          <p:cNvPr id="7" name="Text 4"/>
          <p:cNvSpPr/>
          <p:nvPr/>
        </p:nvSpPr>
        <p:spPr>
          <a:xfrm>
            <a:off x="320040" y="434340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B3D9C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Garry Tan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914400" y="5897880"/>
            <a:ext cx="2194560" cy="420624"/>
          </a:xfrm>
          <a:prstGeom prst="roundRect">
            <a:avLst>
              <a:gd name="adj" fmla="val 50000"/>
            </a:avLst>
          </a:prstGeom>
          <a:solidFill>
            <a:srgbClr val="012E1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914400" y="5897880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kern="0" spc="150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GITHUB REPO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4434840" y="640080"/>
            <a:ext cx="7269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02473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OVERVIEW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4434840" y="950976"/>
            <a:ext cx="7269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An open-source collection of ~23 specialized AI tools that turn Claude Code into a virtual engineering team — letting a solo builder ship at the pace of a much larger team.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4434840" y="2212848"/>
            <a:ext cx="7269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02473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WHY IT MATTERS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4434840" y="2523744"/>
            <a:ext cx="7269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Shows that structured tooling, not just raw prompting, multiplies what you can build with AI. A concrete starting point for your own workflow.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434840" y="3657600"/>
            <a:ext cx="7269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02473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ABOUT THE AUTHOR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4434840" y="3968496"/>
            <a:ext cx="7269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555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Garry Tan — President &amp; CEO of Y Combinator; early Palantir engineer and co-founder of Posterous (acquired by Twitter).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4434840" y="4892040"/>
            <a:ext cx="7269480" cy="1627632"/>
          </a:xfrm>
          <a:prstGeom prst="rect">
            <a:avLst/>
          </a:prstGeom>
          <a:solidFill>
            <a:srgbClr val="E6F2E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Shape 14"/>
          <p:cNvSpPr/>
          <p:nvPr/>
        </p:nvSpPr>
        <p:spPr>
          <a:xfrm>
            <a:off x="4434840" y="4892040"/>
            <a:ext cx="82296" cy="1627632"/>
          </a:xfrm>
          <a:prstGeom prst="rect">
            <a:avLst/>
          </a:prstGeom>
          <a:solidFill>
            <a:srgbClr val="02473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Shape 15"/>
          <p:cNvSpPr/>
          <p:nvPr/>
        </p:nvSpPr>
        <p:spPr>
          <a:xfrm>
            <a:off x="8069580" y="5120640"/>
            <a:ext cx="0" cy="1170432"/>
          </a:xfrm>
          <a:prstGeom prst="line">
            <a:avLst/>
          </a:prstGeom>
          <a:noFill/>
          <a:ln w="12700">
            <a:solidFill>
              <a:srgbClr val="B3D9C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6"/>
          <p:cNvSpPr/>
          <p:nvPr/>
        </p:nvSpPr>
        <p:spPr>
          <a:xfrm>
            <a:off x="4709160" y="5093208"/>
            <a:ext cx="32232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02473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EXPLORE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4709160" y="5404104"/>
            <a:ext cx="322326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012E1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github.com/garrytan/gstack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8161020" y="5093208"/>
            <a:ext cx="32689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02473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GO FURTHER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8161020" y="5404104"/>
            <a:ext cx="326898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Pair with Karpathy's skills (next)</a:t>
            </a:r>
            <a:endParaRPr lang="en-US" sz="1100" dirty="0"/>
          </a:p>
          <a:p>
            <a:pPr marL="342900" indent="-342900">
              <a:lnSpc>
                <a:spcPct val="110000"/>
              </a:lnSpc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Adapt the tools to your own projects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320040" y="644652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DA78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7 / 8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525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A4EC4EB-AB36-4883-B511-99E65AA6732C}">
  <we:reference id="wa200010001" version="1.0.0.1" store="en-US" storeType="OMEX"/>
  <we:alternateReferences>
    <we:reference id="WA200010001" version="1.0.0.1" store="" storeType="OMEX"/>
  </we:alternateReferences>
  <we:properties>
    <we:property name="claude.fileId" value="&quot;022f485a-23d0-4331-869d-843082c45fdd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20</TotalTime>
  <Words>1271</Words>
  <Application>Microsoft Office PowerPoint</Application>
  <PresentationFormat>Widescreen</PresentationFormat>
  <Paragraphs>179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Open Sans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Further Study — Recommended Resources</dc:title>
  <dc:subject>PptxGenJS Presentation</dc:subject>
  <dc:creator>Adam W. Stauffer</dc:creator>
  <cp:lastModifiedBy>Adam Stauffer</cp:lastModifiedBy>
  <cp:revision>2</cp:revision>
  <dcterms:created xsi:type="dcterms:W3CDTF">2026-05-29T10:28:51Z</dcterms:created>
  <dcterms:modified xsi:type="dcterms:W3CDTF">2026-05-30T06:00:44Z</dcterms:modified>
</cp:coreProperties>
</file>
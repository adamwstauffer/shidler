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426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FURTHER STUDY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41248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Recommended reads, videos &amp; repos — go deeper on your own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74420" y="41605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4" y="439826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138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 Reads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60420" y="41605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64" y="4398264"/>
            <a:ext cx="393192" cy="393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5138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646420" y="41605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4398264"/>
            <a:ext cx="393192" cy="3931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0" y="5138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 &amp; Crypto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932420" y="41605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164" y="4398264"/>
            <a:ext cx="393192" cy="3931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0" y="5138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10218420" y="41605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6164" y="4398264"/>
            <a:ext cx="393192" cy="3931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0" y="5138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&amp; Process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Shidler College of Business  ·  University of Hawaiʻi at Mānoa  ·  Adam W. Stauffer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OC Title"/>
          <p:cNvSpPr>
            <a:spLocks noGrp="1"/>
          </p:cNvSpPr>
          <p:nvPr/>
        </p:nvSpPr>
        <p:spPr>
          <a:xfrm>
            <a:off x="825500" y="457200"/>
            <a:ext cx="105156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rgbClr val="FFFFFF"/>
                </a:solidFill>
                <a:latin typeface="Open Sans" pitchFamily="34" charset="0"/>
              </a:rPr>
              <a:t>TABLE OF CONTENTS</a:t>
            </a:r>
          </a:p>
        </p:txBody>
      </p:sp>
      <p:sp>
        <p:nvSpPr>
          <p:cNvPr id="31" name="TOC Subtitle"/>
          <p:cNvSpPr>
            <a:spLocks noGrp="1"/>
          </p:cNvSpPr>
          <p:nvPr/>
        </p:nvSpPr>
        <p:spPr>
          <a:xfrm>
            <a:off x="825500" y="1270000"/>
            <a:ext cx="1051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3D9CF"/>
                </a:solidFill>
                <a:latin typeface="Open Sans" pitchFamily="34" charset="0"/>
              </a:rPr>
              <a:t>Recommended reads, videos &amp; repos — go deeper on your own</a:t>
            </a:r>
          </a:p>
        </p:txBody>
      </p:sp>
      <p:sp>
        <p:nvSpPr>
          <p:cNvPr id="32" name="Divider"/>
          <p:cNvSpPr>
            <a:spLocks noGrp="1"/>
          </p:cNvSpPr>
          <p:nvPr/>
        </p:nvSpPr>
        <p:spPr>
          <a:xfrm>
            <a:off x="825500" y="1778000"/>
            <a:ext cx="10515600" cy="6350"/>
          </a:xfrm>
          <a:prstGeom prst="rect">
            <a:avLst/>
          </a:prstGeom>
          <a:solidFill>
            <a:srgbClr val="B3D9C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Badge 2"/>
          <p:cNvSpPr>
            <a:spLocks noGrp="1"/>
          </p:cNvSpPr>
          <p:nvPr/>
        </p:nvSpPr>
        <p:spPr>
          <a:xfrm>
            <a:off x="825500" y="1850000"/>
            <a:ext cx="279400" cy="279400"/>
          </a:xfrm>
          <a:prstGeom prst="ellipse">
            <a:avLst/>
          </a:prstGeom>
          <a:solidFill>
            <a:srgbClr val="B3D9C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2333"/>
                </a:solidFill>
                <a:latin typeface="Open Sans" pitchFamily="34" charset="0"/>
              </a:rPr>
              <a:t>2</a:t>
            </a:r>
          </a:p>
        </p:txBody>
      </p:sp>
      <p:sp>
        <p:nvSpPr>
          <p:cNvPr id="50" name="Entry Text 2"/>
          <p:cNvSpPr>
            <a:spLocks noGrp="1"/>
          </p:cNvSpPr>
          <p:nvPr/>
        </p:nvSpPr>
        <p:spPr>
          <a:xfrm>
            <a:off x="1181100" y="1799200"/>
            <a:ext cx="4914900" cy="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</a:rPr>
              <a:t>GOOD READS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</a:rPr>
              <a:t>Investment Biker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Open Sans" pitchFamily="34" charset="0"/>
              </a:rPr>
              <a:t>Jim Rogers' world tour on motorcycle — global markets through an investor's eyes</a:t>
            </a:r>
          </a:p>
        </p:txBody>
      </p:sp>
      <p:sp>
        <p:nvSpPr>
          <p:cNvPr id="41" name="Badge 3"/>
          <p:cNvSpPr>
            <a:spLocks noGrp="1"/>
          </p:cNvSpPr>
          <p:nvPr/>
        </p:nvSpPr>
        <p:spPr>
          <a:xfrm>
            <a:off x="6413500" y="1850000"/>
            <a:ext cx="279400" cy="279400"/>
          </a:xfrm>
          <a:prstGeom prst="ellipse">
            <a:avLst/>
          </a:prstGeom>
          <a:solidFill>
            <a:srgbClr val="B3D9C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2333"/>
                </a:solidFill>
                <a:latin typeface="Open Sans" pitchFamily="34" charset="0"/>
              </a:rPr>
              <a:t>3</a:t>
            </a:r>
          </a:p>
        </p:txBody>
      </p:sp>
      <p:sp>
        <p:nvSpPr>
          <p:cNvPr id="51" name="Entry Text 3"/>
          <p:cNvSpPr>
            <a:spLocks noGrp="1"/>
          </p:cNvSpPr>
          <p:nvPr/>
        </p:nvSpPr>
        <p:spPr>
          <a:xfrm>
            <a:off x="6769100" y="1799200"/>
            <a:ext cx="4914900" cy="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</a:rPr>
              <a:t>GOOD READS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</a:rPr>
              <a:t>The Alchemy of Finance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Open Sans" pitchFamily="34" charset="0"/>
              </a:rPr>
              <a:t>George Soros explains his theory of reflexivity and how markets actually move</a:t>
            </a:r>
          </a:p>
        </p:txBody>
      </p:sp>
      <p:sp>
        <p:nvSpPr>
          <p:cNvPr id="42" name="Badge 4"/>
          <p:cNvSpPr>
            <a:spLocks noGrp="1"/>
          </p:cNvSpPr>
          <p:nvPr/>
        </p:nvSpPr>
        <p:spPr>
          <a:xfrm>
            <a:off x="825500" y="2830000"/>
            <a:ext cx="279400" cy="279400"/>
          </a:xfrm>
          <a:prstGeom prst="ellipse">
            <a:avLst/>
          </a:prstGeom>
          <a:solidFill>
            <a:srgbClr val="B3D9C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2333"/>
                </a:solidFill>
                <a:latin typeface="Open Sans" pitchFamily="34" charset="0"/>
              </a:rPr>
              <a:t>4</a:t>
            </a:r>
          </a:p>
        </p:txBody>
      </p:sp>
      <p:sp>
        <p:nvSpPr>
          <p:cNvPr id="52" name="Entry Text 4"/>
          <p:cNvSpPr>
            <a:spLocks noGrp="1"/>
          </p:cNvSpPr>
          <p:nvPr/>
        </p:nvSpPr>
        <p:spPr>
          <a:xfrm>
            <a:off x="1181100" y="2779200"/>
            <a:ext cx="4914900" cy="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</a:rPr>
              <a:t>ECONOMICS VIDEO &amp; BOOK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</a:rPr>
              <a:t>How the Economic Machine Works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Open Sans" pitchFamily="34" charset="0"/>
              </a:rPr>
              <a:t>Ray Dalio's 30-min video on credit cycles, debt, and how economies function</a:t>
            </a:r>
          </a:p>
        </p:txBody>
      </p:sp>
      <p:sp>
        <p:nvSpPr>
          <p:cNvPr id="43" name="Badge 5"/>
          <p:cNvSpPr>
            <a:spLocks noGrp="1"/>
          </p:cNvSpPr>
          <p:nvPr/>
        </p:nvSpPr>
        <p:spPr>
          <a:xfrm>
            <a:off x="6413500" y="2830000"/>
            <a:ext cx="279400" cy="279400"/>
          </a:xfrm>
          <a:prstGeom prst="ellipse">
            <a:avLst/>
          </a:prstGeom>
          <a:solidFill>
            <a:srgbClr val="B3D9C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2333"/>
                </a:solidFill>
                <a:latin typeface="Open Sans" pitchFamily="34" charset="0"/>
              </a:rPr>
              <a:t>5</a:t>
            </a:r>
          </a:p>
        </p:txBody>
      </p:sp>
      <p:sp>
        <p:nvSpPr>
          <p:cNvPr id="53" name="Entry Text 5"/>
          <p:cNvSpPr>
            <a:spLocks noGrp="1"/>
          </p:cNvSpPr>
          <p:nvPr/>
        </p:nvSpPr>
        <p:spPr>
          <a:xfrm>
            <a:off x="6769100" y="2779200"/>
            <a:ext cx="4914900" cy="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</a:rPr>
              <a:t>ECONOMICS VIDEO &amp; BOOK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</a:rPr>
              <a:t>The Changing World Order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Open Sans" pitchFamily="34" charset="0"/>
              </a:rPr>
              <a:t>Ray Dalio on rising and falling empires — understanding long-term macro shifts</a:t>
            </a:r>
          </a:p>
        </p:txBody>
      </p:sp>
      <p:sp>
        <p:nvSpPr>
          <p:cNvPr id="44" name="Badge 6"/>
          <p:cNvSpPr>
            <a:spLocks noGrp="1"/>
          </p:cNvSpPr>
          <p:nvPr/>
        </p:nvSpPr>
        <p:spPr>
          <a:xfrm>
            <a:off x="825500" y="3810000"/>
            <a:ext cx="279400" cy="279400"/>
          </a:xfrm>
          <a:prstGeom prst="ellipse">
            <a:avLst/>
          </a:prstGeom>
          <a:solidFill>
            <a:srgbClr val="B3D9C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2333"/>
                </a:solidFill>
                <a:latin typeface="Open Sans" pitchFamily="34" charset="0"/>
              </a:rPr>
              <a:t>6</a:t>
            </a:r>
          </a:p>
        </p:txBody>
      </p:sp>
      <p:sp>
        <p:nvSpPr>
          <p:cNvPr id="54" name="Entry Text 6"/>
          <p:cNvSpPr>
            <a:spLocks noGrp="1"/>
          </p:cNvSpPr>
          <p:nvPr/>
        </p:nvSpPr>
        <p:spPr>
          <a:xfrm>
            <a:off x="1181100" y="3759200"/>
            <a:ext cx="4914900" cy="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</a:rPr>
              <a:t>ECONOMICS &amp; CRYPTO VIDEO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</a:rPr>
              <a:t>The Everything Code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Open Sans" pitchFamily="34" charset="0"/>
              </a:rPr>
              <a:t>Macro framework linking liquidity cycles to crypto and risk assets</a:t>
            </a:r>
          </a:p>
        </p:txBody>
      </p:sp>
      <p:sp>
        <p:nvSpPr>
          <p:cNvPr id="45" name="Badge 7"/>
          <p:cNvSpPr>
            <a:spLocks noGrp="1"/>
          </p:cNvSpPr>
          <p:nvPr/>
        </p:nvSpPr>
        <p:spPr>
          <a:xfrm>
            <a:off x="6413500" y="3810000"/>
            <a:ext cx="279400" cy="279400"/>
          </a:xfrm>
          <a:prstGeom prst="ellipse">
            <a:avLst/>
          </a:prstGeom>
          <a:solidFill>
            <a:srgbClr val="B3D9C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2333"/>
                </a:solidFill>
                <a:latin typeface="Open Sans" pitchFamily="34" charset="0"/>
              </a:rPr>
              <a:t>7</a:t>
            </a:r>
          </a:p>
        </p:txBody>
      </p:sp>
      <p:sp>
        <p:nvSpPr>
          <p:cNvPr id="55" name="Entry Text 7"/>
          <p:cNvSpPr>
            <a:spLocks noGrp="1"/>
          </p:cNvSpPr>
          <p:nvPr/>
        </p:nvSpPr>
        <p:spPr>
          <a:xfrm>
            <a:off x="6769100" y="3759200"/>
            <a:ext cx="4914900" cy="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</a:rPr>
              <a:t>ARTIFICIAL INTELLIGENCE VIDEO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</a:rPr>
              <a:t>Build It With AI, Then Attack It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Open Sans" pitchFamily="34" charset="0"/>
              </a:rPr>
              <a:t>Hands-on AI development workflow: build fast with LLMs, then stress-test your work</a:t>
            </a:r>
          </a:p>
        </p:txBody>
      </p:sp>
      <p:sp>
        <p:nvSpPr>
          <p:cNvPr id="46" name="Badge 8"/>
          <p:cNvSpPr>
            <a:spLocks noGrp="1"/>
          </p:cNvSpPr>
          <p:nvPr/>
        </p:nvSpPr>
        <p:spPr>
          <a:xfrm>
            <a:off x="825500" y="4790000"/>
            <a:ext cx="279400" cy="279400"/>
          </a:xfrm>
          <a:prstGeom prst="ellipse">
            <a:avLst/>
          </a:prstGeom>
          <a:solidFill>
            <a:srgbClr val="B3D9C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2333"/>
                </a:solidFill>
                <a:latin typeface="Open Sans" pitchFamily="34" charset="0"/>
              </a:rPr>
              <a:t>8</a:t>
            </a:r>
          </a:p>
        </p:txBody>
      </p:sp>
      <p:sp>
        <p:nvSpPr>
          <p:cNvPr id="56" name="Entry Text 8"/>
          <p:cNvSpPr>
            <a:spLocks noGrp="1"/>
          </p:cNvSpPr>
          <p:nvPr/>
        </p:nvSpPr>
        <p:spPr>
          <a:xfrm>
            <a:off x="1181100" y="4739200"/>
            <a:ext cx="4914900" cy="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</a:rPr>
              <a:t>TOOLS, PROCESSES, BEST PRACTICES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</a:rPr>
              <a:t>Karpathy's AI Skills &amp; CLAUDE.md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Open Sans" pitchFamily="34" charset="0"/>
              </a:rPr>
              <a:t>Andrej Karpathy's curated resources for building deep understanding of AI systems</a:t>
            </a:r>
          </a:p>
        </p:txBody>
      </p:sp>
      <p:sp>
        <p:nvSpPr>
          <p:cNvPr id="47" name="Badge 9"/>
          <p:cNvSpPr>
            <a:spLocks noGrp="1"/>
          </p:cNvSpPr>
          <p:nvPr/>
        </p:nvSpPr>
        <p:spPr>
          <a:xfrm>
            <a:off x="6413500" y="4790000"/>
            <a:ext cx="279400" cy="279400"/>
          </a:xfrm>
          <a:prstGeom prst="ellipse">
            <a:avLst/>
          </a:prstGeom>
          <a:solidFill>
            <a:srgbClr val="B3D9C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2333"/>
                </a:solidFill>
                <a:latin typeface="Open Sans" pitchFamily="34" charset="0"/>
              </a:rPr>
              <a:t>9</a:t>
            </a:r>
          </a:p>
        </p:txBody>
      </p:sp>
      <p:sp>
        <p:nvSpPr>
          <p:cNvPr id="57" name="Entry Text 9"/>
          <p:cNvSpPr>
            <a:spLocks noGrp="1"/>
          </p:cNvSpPr>
          <p:nvPr/>
        </p:nvSpPr>
        <p:spPr>
          <a:xfrm>
            <a:off x="6769100" y="4739200"/>
            <a:ext cx="4914900" cy="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</a:rPr>
              <a:t>TOOLS, PROCESSES, BEST PRACTICES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</a:rPr>
              <a:t>gstack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Open Sans" pitchFamily="34" charset="0"/>
              </a:rPr>
              <a:t>A modern developer toolstack optimised for AI-assisted software development that is adaptable to business management</a:t>
            </a:r>
          </a:p>
        </p:txBody>
      </p:sp>
      <p:sp>
        <p:nvSpPr>
          <p:cNvPr id="60" name="Badge 10"/>
          <p:cNvSpPr>
            <a:spLocks noGrp="1"/>
          </p:cNvSpPr>
          <p:nvPr/>
        </p:nvSpPr>
        <p:spPr>
          <a:xfrm>
            <a:off x="825500" y="5770000"/>
            <a:ext cx="279400" cy="279400"/>
          </a:xfrm>
          <a:prstGeom prst="ellipse">
            <a:avLst/>
          </a:prstGeom>
          <a:solidFill>
            <a:srgbClr val="B3D9C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2333"/>
                </a:solidFill>
                <a:latin typeface="Open Sans" pitchFamily="34" charset="0"/>
              </a:rPr>
              <a:t>10</a:t>
            </a:r>
          </a:p>
        </p:txBody>
      </p:sp>
      <p:sp>
        <p:nvSpPr>
          <p:cNvPr id="61" name="Entry Text 10"/>
          <p:cNvSpPr>
            <a:spLocks noGrp="1"/>
          </p:cNvSpPr>
          <p:nvPr/>
        </p:nvSpPr>
        <p:spPr>
          <a:xfrm>
            <a:off x="1181100" y="5719200"/>
            <a:ext cx="4914900" cy="9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</a:rPr>
              <a:t>ECONOMICS &amp; AI ESSAY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</a:rPr>
              <a:t>The 2028 Global Intelligence Crisis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0B8C0"/>
                </a:solidFill>
                <a:latin typeface="Open Sans" pitchFamily="34" charset="0"/>
              </a:rPr>
              <a:t>A scenario in financial history from the future — how runaway AI could trigger a 2028 crisis</a:t>
            </a:r>
          </a:p>
        </p:txBody>
      </p:sp>
    </p:spTree>
    <p:extLst>
      <p:ext uri="{BB962C8B-B14F-4D97-AF65-F5344CB8AC3E}">
        <p14:creationId xmlns:p14="http://schemas.microsoft.com/office/powerpoint/2010/main" val="79405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69283" y="457200"/>
            <a:ext cx="1484793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C:/GitHub/shidler/docs/presentations/assets/investment-bik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003" y="502920"/>
            <a:ext cx="1393353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788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 READS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" y="31363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Investment Biker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32004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Jim Rogers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58978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012E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5897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34840" y="6400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950976"/>
            <a:ext cx="7269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travelogue, part macro masterclass: Jim Rogers rides 100,000+ miles across six continents, sizing up each country's economy from the ground — borders, black markets, currencies, and street-level commerce.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34840" y="2212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34840" y="2523744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Teaches you to read a market from what you actually observe, not just headline statistics. A vivid first lesson in global macro, country risk, and contrarian thinking.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34840" y="365760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THE AUTHOR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34840" y="3968496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Co-founded the Quantum Fund with George Soros, retired at 37, and became a legendary commodities investor and global adventurer.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4892040"/>
            <a:ext cx="7269480" cy="1627632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434840" y="4892040"/>
            <a:ext cx="82296" cy="1627632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69580" y="5120640"/>
            <a:ext cx="0" cy="1170432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09160" y="5093208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5404104"/>
            <a:ext cx="3223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2E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Investment Biker — Jim Rogers (1994)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61020" y="50932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FURTHER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61020" y="5404104"/>
            <a:ext cx="32689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Adventure Capitalist (the follow-up, by car)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Hot Commodities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" y="6446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71885" y="457200"/>
            <a:ext cx="1479591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C:/GitHub/shidler/docs/presentations/assets/soros-alch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05" y="502920"/>
            <a:ext cx="1388151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788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 READS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" y="31363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Alchemy of Finance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32004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George Soros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58978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012E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5897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34840" y="6400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950976"/>
            <a:ext cx="7269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Soros lays out his theory of reflexivity: market participants' biased perceptions feed back into and reshape the very fundamentals they are trying to predict, fueling self-reinforcing boom-and-bust cycles — illustrated with a real-time trading diary.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34840" y="2212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34840" y="2523744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foundational challenge to efficient-market thinking. Prices are not passive reflections of value but active forces that bend reality — sharpening how you reason about bubbles, feedback loops, and reflexive risk.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34840" y="365760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THE AUTHOR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34840" y="3968496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Co-founded the Quantum Fund with Jim Rogers and became one of history's most successful speculators — famously "broke the Bank of England" in 1992 — and later a major philanthropist.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4892040"/>
            <a:ext cx="7269480" cy="1627632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434840" y="4892040"/>
            <a:ext cx="82296" cy="1627632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69580" y="5120640"/>
            <a:ext cx="0" cy="1170432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09160" y="5093208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5404104"/>
            <a:ext cx="3223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2E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Alchemy of Finance — George Soros (1987)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61020" y="50932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FURTHER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61020" y="5404104"/>
            <a:ext cx="32689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Foreword by Paul A. Volcker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Pairs with Investment Biker — same Quantum Fund founders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" y="6446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65176" y="448056"/>
            <a:ext cx="3493008" cy="2012823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C:/GitHub/shidler/docs/presentations/assets/PHe0bXAIuk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02920"/>
            <a:ext cx="3383280" cy="19030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09344" y="1052132"/>
            <a:ext cx="804672" cy="8046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55064" y="1097852"/>
            <a:ext cx="713232" cy="713232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84" y="1326452"/>
            <a:ext cx="219456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2578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004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the Economic Machine Works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32004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Ray Dalio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14400" y="58978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012E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14400" y="5897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VIDEO · ~30 MIN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434840" y="6400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34840" y="950976"/>
            <a:ext cx="7269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30-minute animated explainer that builds the whole economy up from a single transaction, then reduces it to three forces: productivity growth plus a short-term and a long-term debt cycle.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34840" y="2212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34840" y="2523744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clearest mental model for why economies expand, overheat, and deleverage — and a working vocabulary (credit, spending, deleveraging) for almost any macro headline.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434840" y="365760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THE AUTHOR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434840" y="3968496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Founder of Bridgewater Associates, the world's largest hedge fund, and one of the most influential macro thinkers alive.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434840" y="4892040"/>
            <a:ext cx="7269480" cy="1627632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434840" y="4892040"/>
            <a:ext cx="82296" cy="1627632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069580" y="5120640"/>
            <a:ext cx="0" cy="1170432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09160" y="5093208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09160" y="5404104"/>
            <a:ext cx="3223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2E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youtu.be/PHe0bXAIuk0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161020" y="50932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FURTHER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161020" y="5404104"/>
            <a:ext cx="32689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Book: Principles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Pairs with The Changing World Order (next)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20040" y="6446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65176" y="448056"/>
            <a:ext cx="3493008" cy="2012823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C:/GitHub/shidler/docs/presentations/assets/xguam0TKMw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02920"/>
            <a:ext cx="3383280" cy="19030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09344" y="1052132"/>
            <a:ext cx="804672" cy="8046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55064" y="1097852"/>
            <a:ext cx="713232" cy="713232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84" y="1326452"/>
            <a:ext cx="219456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2578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004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Changing World Order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32004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Ray Dalio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14400" y="58978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012E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14400" y="5897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VIDEO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434840" y="6400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34840" y="950976"/>
            <a:ext cx="7269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Dalio zooms out across 500 years to study how empires and reserve currencies rise and fall — the recurring pattern of debt, internal conflict, and shifting power — and where the US and China sit in that cycle today.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34840" y="2212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34840" y="2523744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Frames today's events — debt, inflation, US–China rivalry — inside a repeatable historical arc, so you can read geopolitics as cycles rather than noise.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434840" y="365760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THE AUTHOR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434840" y="3968496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Founder of Bridgewater Associates, the world's largest hedge fund, and one of the most influential macro thinkers alive.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434840" y="4892040"/>
            <a:ext cx="7269480" cy="1627632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434840" y="4892040"/>
            <a:ext cx="82296" cy="1627632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069580" y="5120640"/>
            <a:ext cx="0" cy="1170432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09160" y="5093208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09160" y="5404104"/>
            <a:ext cx="3223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2E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youtu.be/xguam0TKMw8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161020" y="50932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FURTHER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161020" y="5404104"/>
            <a:ext cx="32689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Book: Principles for Dealing with the Changing World Order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Pairs with the Economic Machine (prev)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20040" y="6446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65176" y="448056"/>
            <a:ext cx="3493008" cy="2012823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C:/GitHub/shidler/docs/presentations/assets/I6IraYngzg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02920"/>
            <a:ext cx="3383280" cy="19030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09344" y="1052132"/>
            <a:ext cx="804672" cy="8046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55064" y="1097852"/>
            <a:ext cx="713232" cy="713232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84" y="1326452"/>
            <a:ext cx="219456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2578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ECONOMICS &amp; CRYPTO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004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Everything Code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32004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Raoul Pal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14400" y="58978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012E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14400" y="5897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VIDEO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434840" y="6400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34840" y="950976"/>
            <a:ext cx="7269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Raoul Pal and Julien Bittel lay out a framework tying global liquidity, demographics, and technology adoption to asset prices — a bridge between traditional macro and digital assets.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34840" y="2212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34840" y="2523744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Explains why liquidity cycles drive risk markets and offers a lens for thinking about crypto alongside stocks and bonds rather than in isolation.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434840" y="365760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THE AUTHOR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434840" y="3968496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Former Goldman Sachs and GLG hedge-fund manager; co-founder of Real Vision and CEO of Global Macro Investor.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434840" y="4892040"/>
            <a:ext cx="7269480" cy="1627632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434840" y="4892040"/>
            <a:ext cx="82296" cy="1627632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069580" y="5120640"/>
            <a:ext cx="0" cy="1170432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09160" y="5093208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09160" y="5404104"/>
            <a:ext cx="3223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2E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youtu.be/I6IraYngzgo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161020" y="50932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FURTHER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161020" y="5404104"/>
            <a:ext cx="32689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 Vision interviews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Macro Investor research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20040" y="6446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65176" y="448056"/>
            <a:ext cx="3493008" cy="2012823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C:/GitHub/shidler/docs/presentations/assets/MFzxIT88zf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02920"/>
            <a:ext cx="3383280" cy="19030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09344" y="1052132"/>
            <a:ext cx="804672" cy="8046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55064" y="1097852"/>
            <a:ext cx="713232" cy="713232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84" y="1326452"/>
            <a:ext cx="219456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2578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004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It With AI, Then Attack It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32004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Nate Jones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14400" y="58978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012E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14400" y="5897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VIDEO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434840" y="6400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34840" y="950976"/>
            <a:ext cx="7269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hands-on demo: Jones builds a slide deck with one AI, then sets a second AI to adversarially critique and "attack" it — surfacing weaknesses the first pass missed.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34840" y="2212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34840" y="2523744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practical, repeatable template for raising the quality of any AI output: generate, then stress-test. Directly applicable to how you'll use AI on your own projects.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434840" y="365760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THE AUTHOR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434840" y="3968496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product strategist and educator known for accessible, applied breakdowns of real AI workflows.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434840" y="4892040"/>
            <a:ext cx="7269480" cy="1627632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434840" y="4892040"/>
            <a:ext cx="82296" cy="1627632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069580" y="5120640"/>
            <a:ext cx="0" cy="1170432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09160" y="5093208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09160" y="5404104"/>
            <a:ext cx="3223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2E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youtu.be/MFzxIT88zfg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161020" y="50932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FURTHER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161020" y="5404104"/>
            <a:ext cx="32689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Nate's channel &amp; newsletter on applied AI workflows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20040" y="6446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6132" y="649224"/>
            <a:ext cx="1911096" cy="1911096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C:/GitHub/shidler/docs/presentations/assets/karpat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713232"/>
            <a:ext cx="1783080" cy="178308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788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&amp; PROCESS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" y="31363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Karpathy's AI Skills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32004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Andrej Karpathy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58978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012E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5897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REPO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34840" y="6400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950976"/>
            <a:ext cx="7269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set of reusable AI "skills" that distill disciplined working principles — think before editing, simplicity first, surgical changes, goal-driven verification — into instructions an AI agent follows. The same principles shape this course's own CLAUDE.md.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34840" y="2212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34840" y="2523744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beats raw effort. Codifying how you work makes AI output more consistent, reviewable, and professional.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34840" y="365760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THE AUTHOR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34840" y="3968496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Andrej Karpathy — founding member of OpenAI, former Sr. Director of AI at Tesla, and a leading AI educator.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4892040"/>
            <a:ext cx="7269480" cy="1627632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434840" y="4892040"/>
            <a:ext cx="82296" cy="1627632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69580" y="5120640"/>
            <a:ext cx="0" cy="1170432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09160" y="5093208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5404104"/>
            <a:ext cx="3223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2E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github.com/multica-ai/andrej-karpathy-skills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61020" y="50932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FURTHER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61020" y="5404104"/>
            <a:ext cx="32689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the CLAUDE.md guidelines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the principles to your own repo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" y="6446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6132" y="649224"/>
            <a:ext cx="1911096" cy="1911096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C:/GitHub/shidler/docs/presentations/assets/garryt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713232"/>
            <a:ext cx="1783080" cy="178308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788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&amp; PROCESS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" y="31363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gstack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32004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Garry Tan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58978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012E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5897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REPO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34840" y="6400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950976"/>
            <a:ext cx="7269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open-source collection of ~23 specialized AI tools that turn Claude Code into a virtual engineering team — letting a solo builder ship at the pace of a much larger team.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34840" y="2212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34840" y="2523744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Shows that structured tooling, not just raw prompting, multiplies what you can build with AI. A concrete starting point for your own workflow.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34840" y="365760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THE AUTHOR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34840" y="3968496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Garry Tan — President &amp; CEO of Y Combinator; early Palantir engineer and co-founder of Posterous (acquired by Twitter).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4892040"/>
            <a:ext cx="7269480" cy="1627632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434840" y="4892040"/>
            <a:ext cx="82296" cy="1627632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69580" y="5120640"/>
            <a:ext cx="0" cy="1170432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09160" y="5093208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5404104"/>
            <a:ext cx="3223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2E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github.com/garrytan/gstack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61020" y="50932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FURTHER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61020" y="5404104"/>
            <a:ext cx="32689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Pair with Karpathy's skills (next)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 the tools to your own projects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" y="6446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71885" y="457200"/>
            <a:ext cx="1479591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C:/GitHub/shidler/docs/presentations/assets/citrini-2028g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05" y="502920"/>
            <a:ext cx="1388151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788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ECONOMICS &amp; AI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" y="31363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2028 Global Intelligence Crisis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32004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Citrini &amp; Alap Shah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58978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012E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5897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34840" y="6400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950976"/>
            <a:ext cx="7269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speculative “financial history, from the future”: Citrini and Alap Shah imagine how relentless AI progress could tip into an economic crisis by 2028. As capable AI gets cheaper, firms swap white-collar workers for agents, displaced spending falls, and the loop feeds on itself.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34840" y="2212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34840" y="2523744"/>
            <a:ext cx="7269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Inverts the comforting “AI creates more jobs than it destroys” story by modeling AI as a substitute for labor — and traces how one shock could ripple through mortgages, private credit, and insurance. A disciplined way to reason about left-tail risk.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34840" y="365760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THE AUTHOR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34840" y="3968496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Citrini Research is a widely-read thematic-investing publication on Substack; this scenario was co-authored with Alap Shah, a public-markets investor and founder of LOTUS Investment Management, Littlebird.ai, and Sentieo.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4892040"/>
            <a:ext cx="7269480" cy="1627632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434840" y="4892040"/>
            <a:ext cx="82296" cy="1627632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69580" y="5120640"/>
            <a:ext cx="0" cy="1170432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09160" y="5093208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5404104"/>
            <a:ext cx="32232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2E1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2028 Global Intelligence Crisis — Citrini Research (2026)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61020" y="50932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FURTHER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61020" y="5404104"/>
            <a:ext cx="32689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citriniresearch.com/p/2028gic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Pairs with Dalio's debt cycles &amp; The Everything Code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" y="6446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A4EC4EB-AB36-4883-B511-99E65AA6732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22f485a-23d0-4331-869d-843082c45fd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1271</Words>
  <Application>Microsoft Office PowerPoint</Application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Further Study — Recommended Resources</dc:title>
  <dc:subject>PptxGenJS Presentation</dc:subject>
  <dc:creator>Adam W. Stauffer</dc:creator>
  <cp:lastModifiedBy>Adam Stauffer</cp:lastModifiedBy>
  <cp:revision>2</cp:revision>
  <dcterms:created xsi:type="dcterms:W3CDTF">2026-05-29T10:28:51Z</dcterms:created>
  <dcterms:modified xsi:type="dcterms:W3CDTF">2026-05-30T06:00:44Z</dcterms:modified>
</cp:coreProperties>
</file>
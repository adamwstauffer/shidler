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2" r:id="rId23"/>
    <p:sldId id="273" r:id="rId24"/>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1" d="100"/>
          <a:sy n="131" d="100"/>
        </p:scale>
        <p:origin x="428"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384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54864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APPENDIX</a:t>
            </a:r>
            <a:endParaRPr lang="en-US" sz="1400" dirty="0"/>
          </a:p>
        </p:txBody>
      </p:sp>
      <p:sp>
        <p:nvSpPr>
          <p:cNvPr id="4" name="Text 2"/>
          <p:cNvSpPr/>
          <p:nvPr/>
        </p:nvSpPr>
        <p:spPr>
          <a:xfrm>
            <a:off x="731520" y="109728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Using Claude</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for Your Project</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 standalone guide to Claude — on the web, in the app,</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in your terminal. No prior AI experience required.</a:t>
            </a:r>
            <a:endParaRPr lang="en-US" sz="1400" dirty="0"/>
          </a:p>
        </p:txBody>
      </p:sp>
      <p:pic>
        <p:nvPicPr>
          <p:cNvPr id="7" name="Image 0" descr="preencoded.png"/>
          <p:cNvPicPr>
            <a:picLocks noChangeAspect="1"/>
          </p:cNvPicPr>
          <p:nvPr/>
        </p:nvPicPr>
        <p:blipFill>
          <a:blip r:embed="rId3"/>
          <a:stretch>
            <a:fillRect/>
          </a:stretch>
        </p:blipFill>
        <p:spPr>
          <a:xfrm>
            <a:off x="7132320" y="320040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What Is Claude?</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is an AI assistant made by Anthropic. Like ChatGPT, it can help you write, analyze data, explain concepts, and review your work — but it has a few distinct strengths that make it especially useful for this course.</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0020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Long Documents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process very long inputs — paste your entire spec, memo, or data set and it keeps track of everything.</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5196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Careful Reasoning</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Particularly strong at multi-step calculations like ratio analysis, hedge math, and Du Pont decomposition.</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90372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File Uploads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Upload Excel workbooks, PDFs, and images directly. Claude reads the content and can verify your formulas.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Claude vs ChatGPT — Both Are Useful</a:t>
            </a:r>
            <a:endParaRPr lang="en-US" sz="2800" dirty="0"/>
          </a:p>
        </p:txBody>
      </p:sp>
      <p:sp>
        <p:nvSpPr>
          <p:cNvPr id="6" name="Text 4"/>
          <p:cNvSpPr/>
          <p:nvPr/>
        </p:nvSpPr>
        <p:spPr>
          <a:xfrm>
            <a:off x="731520" y="86868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You are welcome to use either tool (or both). Here’s when each one shines.</a:t>
            </a:r>
            <a:endParaRPr lang="en-US" sz="1300" dirty="0"/>
          </a:p>
        </p:txBody>
      </p:sp>
      <p:sp>
        <p:nvSpPr>
          <p:cNvPr id="7" name="Shape 5"/>
          <p:cNvSpPr/>
          <p:nvPr/>
        </p:nvSpPr>
        <p:spPr>
          <a:xfrm>
            <a:off x="7315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40"/>
            <a:ext cx="3566160" cy="457200"/>
          </a:xfrm>
          <a:prstGeom prst="rect">
            <a:avLst/>
          </a:prstGeom>
          <a:solidFill>
            <a:srgbClr val="1E2530"/>
          </a:solidFill>
          <a:ln/>
        </p:spPr>
        <p:txBody>
          <a:bodyPr/>
          <a:lstStyle/>
          <a:p>
            <a:endParaRPr lang="en-US"/>
          </a:p>
        </p:txBody>
      </p:sp>
      <p:sp>
        <p:nvSpPr>
          <p:cNvPr id="9" name="Text 7"/>
          <p:cNvSpPr/>
          <p:nvPr/>
        </p:nvSpPr>
        <p:spPr>
          <a:xfrm>
            <a:off x="7315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Long context window — paste entire specs or data sets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Strong structured output (memos, tables, Markdown)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File uploads: Excel, PDF, images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Careful multi-step reasoning and math</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Projects feature keeps course files as persistent context</a:t>
            </a:r>
            <a:endParaRPr lang="en-US" sz="1100" dirty="0"/>
          </a:p>
        </p:txBody>
      </p:sp>
      <p:sp>
        <p:nvSpPr>
          <p:cNvPr id="11" name="Shape 9"/>
          <p:cNvSpPr/>
          <p:nvPr/>
        </p:nvSpPr>
        <p:spPr>
          <a:xfrm>
            <a:off x="48463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40"/>
            <a:ext cx="3566160" cy="457200"/>
          </a:xfrm>
          <a:prstGeom prst="rect">
            <a:avLst/>
          </a:prstGeom>
          <a:solidFill>
            <a:srgbClr val="36454F"/>
          </a:solidFill>
          <a:ln/>
        </p:spPr>
        <p:txBody>
          <a:bodyPr/>
          <a:lstStyle/>
          <a:p>
            <a:endParaRPr lang="en-US"/>
          </a:p>
        </p:txBody>
      </p:sp>
      <p:sp>
        <p:nvSpPr>
          <p:cNvPr id="13" name="Text 11"/>
          <p:cNvSpPr/>
          <p:nvPr/>
        </p:nvSpPr>
        <p:spPr>
          <a:xfrm>
            <a:off x="48463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ChatGPT</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Web browsing and real-time search built in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DALL·E image generation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Code Interpreter runs Python in-browser</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Large plugin / GPT Store ecosystem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Widely used — more community tutorials available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000" b="1" dirty="0">
                <a:solidFill>
                  <a:srgbClr val="1E2530"/>
                </a:solidFill>
                <a:latin typeface="Open Sans" pitchFamily="34" charset="0"/>
                <a:ea typeface="Open Sans" pitchFamily="34" charset="-122"/>
                <a:cs typeface="Open Sans" pitchFamily="34" charset="-120"/>
              </a:rPr>
              <a:t>Chat vs Code — Why “Code” Versions Are a Superpower</a:t>
            </a:r>
            <a:endParaRPr lang="en-US" sz="2000" dirty="0"/>
          </a:p>
        </p:txBody>
      </p:sp>
      <p:sp>
        <p:nvSpPr>
          <p:cNvPr id="6" name="Text 4"/>
          <p:cNvSpPr/>
          <p:nvPr/>
        </p:nvSpPr>
        <p:spPr>
          <a:xfrm>
            <a:off x="731520" y="820000"/>
            <a:ext cx="7680960" cy="5486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Both Claude and ChatGPT have “code” variants that run in a harness — a program that wraps the AI, giving it tools to read files, run commands, and take action on your computer. Chat answers questions. Code does work.</a:t>
            </a:r>
            <a:endParaRPr lang="en-US" sz="1300" dirty="0"/>
          </a:p>
        </p:txBody>
      </p:sp>
      <p:sp>
        <p:nvSpPr>
          <p:cNvPr id="7" name="Shape 5"/>
          <p:cNvSpPr/>
          <p:nvPr/>
        </p:nvSpPr>
        <p:spPr>
          <a:xfrm>
            <a:off x="7315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40"/>
            <a:ext cx="3566160" cy="457200"/>
          </a:xfrm>
          <a:prstGeom prst="rect">
            <a:avLst/>
          </a:prstGeom>
          <a:solidFill>
            <a:srgbClr val="1E2530"/>
          </a:solidFill>
          <a:ln/>
        </p:spPr>
        <p:txBody>
          <a:bodyPr/>
          <a:lstStyle/>
          <a:p>
            <a:endParaRPr lang="en-US"/>
          </a:p>
        </p:txBody>
      </p:sp>
      <p:sp>
        <p:nvSpPr>
          <p:cNvPr id="9" name="Text 7"/>
          <p:cNvSpPr/>
          <p:nvPr/>
        </p:nvSpPr>
        <p:spPr>
          <a:xfrm>
            <a:off x="7315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 Code (Anthropic)</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Runs in your terminal — reads and writes files directly in your repo</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Executes Git commands, edits files, runs scripts — with your approval</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Sees your entire project: specs, Excel, memos, folder structure</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Free to use (requires Anthropic account); install via npm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building deliverables, verifying models, committing to GitHub</a:t>
            </a:r>
            <a:endParaRPr lang="en-US" sz="1100" dirty="0"/>
          </a:p>
        </p:txBody>
      </p:sp>
      <p:sp>
        <p:nvSpPr>
          <p:cNvPr id="11" name="Shape 9"/>
          <p:cNvSpPr/>
          <p:nvPr/>
        </p:nvSpPr>
        <p:spPr>
          <a:xfrm>
            <a:off x="48463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40"/>
            <a:ext cx="3566160" cy="457200"/>
          </a:xfrm>
          <a:prstGeom prst="rect">
            <a:avLst/>
          </a:prstGeom>
          <a:solidFill>
            <a:srgbClr val="36454F"/>
          </a:solidFill>
          <a:ln/>
        </p:spPr>
        <p:txBody>
          <a:bodyPr/>
          <a:lstStyle/>
          <a:p>
            <a:endParaRPr lang="en-US"/>
          </a:p>
        </p:txBody>
      </p:sp>
      <p:sp>
        <p:nvSpPr>
          <p:cNvPr id="13" name="Text 11"/>
          <p:cNvSpPr/>
          <p:nvPr/>
        </p:nvSpPr>
        <p:spPr>
          <a:xfrm>
            <a:off x="48463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Codex (OpenAI)</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OpenAI’s coding agent — runs tasks in a cloud sandbox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Connects to your GitHub repos and works asynchronously on tasks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Writes code, creates PRs, and runs tests in an isolated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Requires ChatGPT Pro ($200/mo); accessed via chatgpt.com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automated coding tasks, background work, PR creation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Key Concepts Before You Start</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Conversations</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Each chat is independent. Claude does not remember previous conversations unless you provide context.</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Context Is Everything</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The more specific your input, the better the output. Paste your spec, state your variables, name your company.</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Verify, Don’t Trust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AI can produce plausible-sounding errors. Always cross-check formulas, numbers, and ratio definitions against your textbook or SEC filing.</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Iterate</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Your first prompt rarely gives the final answer. Refine: “Make this more concise,” “Add the Du Pont breakdown,” “Format as Markdown table.”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1</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Claude on the Web</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&amp; Desktop App</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How to use claude.ai for drafting memos, verifying formulas,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building your Stage 4 AI prompt.</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Getting Started with claude.ai</a:t>
            </a:r>
            <a:endParaRPr lang="en-US" sz="2800" dirty="0"/>
          </a:p>
        </p:txBody>
      </p:sp>
      <p:sp>
        <p:nvSpPr>
          <p:cNvPr id="6" name="Text 4"/>
          <p:cNvSpPr/>
          <p:nvPr/>
        </p:nvSpPr>
        <p:spPr>
          <a:xfrm>
            <a:off x="731520" y="86868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claude.ai  |  Free tier is sufficient. Pro ($20/mo) gives extended thinking and longer conversations.</a:t>
            </a:r>
            <a:endParaRPr lang="en-US" sz="1300" dirty="0"/>
          </a:p>
        </p:txBody>
      </p:sp>
      <p:sp>
        <p:nvSpPr>
          <p:cNvPr id="7" name="Shape 5"/>
          <p:cNvSpPr/>
          <p:nvPr/>
        </p:nvSpPr>
        <p:spPr>
          <a:xfrm>
            <a:off x="731520" y="1417320"/>
            <a:ext cx="411480" cy="411480"/>
          </a:xfrm>
          <a:prstGeom prst="rect">
            <a:avLst/>
          </a:prstGeom>
          <a:solidFill>
            <a:srgbClr val="1E2530"/>
          </a:solidFill>
          <a:ln/>
        </p:spPr>
        <p:txBody>
          <a:bodyPr/>
          <a:lstStyle/>
          <a:p>
            <a:endParaRPr lang="en-US"/>
          </a:p>
        </p:txBody>
      </p:sp>
      <p:sp>
        <p:nvSpPr>
          <p:cNvPr id="8" name="Text 6"/>
          <p:cNvSpPr/>
          <p:nvPr/>
        </p:nvSpPr>
        <p:spPr>
          <a:xfrm>
            <a:off x="73152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9" name="Text 7"/>
          <p:cNvSpPr/>
          <p:nvPr/>
        </p:nvSpPr>
        <p:spPr>
          <a:xfrm>
            <a:off x="1325880" y="141732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Go to claude.ai and click Sign Up</a:t>
            </a:r>
            <a:endParaRPr lang="en-US" sz="1300" dirty="0"/>
          </a:p>
        </p:txBody>
      </p:sp>
      <p:sp>
        <p:nvSpPr>
          <p:cNvPr id="10" name="Shape 8"/>
          <p:cNvSpPr/>
          <p:nvPr/>
        </p:nvSpPr>
        <p:spPr>
          <a:xfrm>
            <a:off x="731520" y="1965960"/>
            <a:ext cx="411480" cy="411480"/>
          </a:xfrm>
          <a:prstGeom prst="rect">
            <a:avLst/>
          </a:prstGeom>
          <a:solidFill>
            <a:srgbClr val="1E2530"/>
          </a:solidFill>
          <a:ln/>
        </p:spPr>
        <p:txBody>
          <a:bodyPr/>
          <a:lstStyle/>
          <a:p>
            <a:endParaRPr lang="en-US"/>
          </a:p>
        </p:txBody>
      </p:sp>
      <p:sp>
        <p:nvSpPr>
          <p:cNvPr id="11" name="Text 9"/>
          <p:cNvSpPr/>
          <p:nvPr/>
        </p:nvSpPr>
        <p:spPr>
          <a:xfrm>
            <a:off x="731520" y="19659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2" name="Text 10"/>
          <p:cNvSpPr/>
          <p:nvPr/>
        </p:nvSpPr>
        <p:spPr>
          <a:xfrm>
            <a:off x="1325880" y="196596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Create a claude.ai account with any email you keep</a:t>
            </a:r>
            <a:endParaRPr lang="en-US" sz="1300" dirty="0"/>
          </a:p>
        </p:txBody>
      </p:sp>
      <p:sp>
        <p:nvSpPr>
          <p:cNvPr id="13" name="Shape 11"/>
          <p:cNvSpPr/>
          <p:nvPr/>
        </p:nvSpPr>
        <p:spPr>
          <a:xfrm>
            <a:off x="731520" y="2514600"/>
            <a:ext cx="411480" cy="411480"/>
          </a:xfrm>
          <a:prstGeom prst="rect">
            <a:avLst/>
          </a:prstGeom>
          <a:solidFill>
            <a:srgbClr val="1E2530"/>
          </a:solidFill>
          <a:ln/>
        </p:spPr>
        <p:txBody>
          <a:bodyPr/>
          <a:lstStyle/>
          <a:p>
            <a:endParaRPr lang="en-US"/>
          </a:p>
        </p:txBody>
      </p:sp>
      <p:sp>
        <p:nvSpPr>
          <p:cNvPr id="14" name="Text 12"/>
          <p:cNvSpPr/>
          <p:nvPr/>
        </p:nvSpPr>
        <p:spPr>
          <a:xfrm>
            <a:off x="731520" y="25146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5" name="Text 13"/>
          <p:cNvSpPr/>
          <p:nvPr/>
        </p:nvSpPr>
        <p:spPr>
          <a:xfrm>
            <a:off x="1325880" y="251460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Start a new conversation — type your question in the message box</a:t>
            </a:r>
            <a:endParaRPr lang="en-US" sz="1300" dirty="0"/>
          </a:p>
        </p:txBody>
      </p:sp>
      <p:sp>
        <p:nvSpPr>
          <p:cNvPr id="16" name="Shape 14"/>
          <p:cNvSpPr/>
          <p:nvPr/>
        </p:nvSpPr>
        <p:spPr>
          <a:xfrm>
            <a:off x="731520" y="3063240"/>
            <a:ext cx="411480" cy="411480"/>
          </a:xfrm>
          <a:prstGeom prst="rect">
            <a:avLst/>
          </a:prstGeom>
          <a:solidFill>
            <a:srgbClr val="1E2530"/>
          </a:solidFill>
          <a:ln/>
        </p:spPr>
        <p:txBody>
          <a:bodyPr/>
          <a:lstStyle/>
          <a:p>
            <a:endParaRPr lang="en-US"/>
          </a:p>
        </p:txBody>
      </p:sp>
      <p:sp>
        <p:nvSpPr>
          <p:cNvPr id="17" name="Text 15"/>
          <p:cNvSpPr/>
          <p:nvPr/>
        </p:nvSpPr>
        <p:spPr>
          <a:xfrm>
            <a:off x="73152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8" name="Text 16"/>
          <p:cNvSpPr/>
          <p:nvPr/>
        </p:nvSpPr>
        <p:spPr>
          <a:xfrm>
            <a:off x="1325880" y="306324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Upload files with the paperclip icon (Excel, PDF, images)</a:t>
            </a:r>
            <a:endParaRPr lang="en-US" sz="1300" dirty="0"/>
          </a:p>
        </p:txBody>
      </p:sp>
      <p:sp>
        <p:nvSpPr>
          <p:cNvPr id="19" name="Shape 17"/>
          <p:cNvSpPr/>
          <p:nvPr/>
        </p:nvSpPr>
        <p:spPr>
          <a:xfrm>
            <a:off x="731520" y="3611880"/>
            <a:ext cx="411480" cy="411480"/>
          </a:xfrm>
          <a:prstGeom prst="rect">
            <a:avLst/>
          </a:prstGeom>
          <a:solidFill>
            <a:srgbClr val="1E2530"/>
          </a:solidFill>
          <a:ln/>
        </p:spPr>
        <p:txBody>
          <a:bodyPr/>
          <a:lstStyle/>
          <a:p>
            <a:endParaRPr lang="en-US"/>
          </a:p>
        </p:txBody>
      </p:sp>
      <p:sp>
        <p:nvSpPr>
          <p:cNvPr id="20" name="Text 18"/>
          <p:cNvSpPr/>
          <p:nvPr/>
        </p:nvSpPr>
        <p:spPr>
          <a:xfrm>
            <a:off x="731520" y="3611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1" name="Text 19"/>
          <p:cNvSpPr/>
          <p:nvPr/>
        </p:nvSpPr>
        <p:spPr>
          <a:xfrm>
            <a:off x="1325880" y="361188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Download the desktop app for Mac or Windows (same account)</a:t>
            </a:r>
            <a:endParaRPr lang="en-US" sz="1300" dirty="0"/>
          </a:p>
        </p:txBody>
      </p:sp>
      <p:sp>
        <p:nvSpPr>
          <p:cNvPr id="22" name="Shape 20"/>
          <p:cNvSpPr/>
          <p:nvPr/>
        </p:nvSpPr>
        <p:spPr>
          <a:xfrm>
            <a:off x="5303520" y="1417320"/>
            <a:ext cx="320040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3" name="Image 0" descr="preencoded.png"/>
          <p:cNvPicPr>
            <a:picLocks noChangeAspect="1"/>
          </p:cNvPicPr>
          <p:nvPr/>
        </p:nvPicPr>
        <p:blipFill>
          <a:blip r:embed="rId3"/>
          <a:stretch>
            <a:fillRect/>
          </a:stretch>
        </p:blipFill>
        <p:spPr>
          <a:xfrm>
            <a:off x="5532120" y="1600200"/>
            <a:ext cx="320040" cy="320040"/>
          </a:xfrm>
          <a:prstGeom prst="rect">
            <a:avLst/>
          </a:prstGeom>
        </p:spPr>
      </p:pic>
      <p:sp>
        <p:nvSpPr>
          <p:cNvPr id="24" name="Text 21"/>
          <p:cNvSpPr/>
          <p:nvPr/>
        </p:nvSpPr>
        <p:spPr>
          <a:xfrm>
            <a:off x="5943600" y="1600200"/>
            <a:ext cx="23774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Pro Tips</a:t>
            </a:r>
            <a:endParaRPr lang="en-US" sz="1400" dirty="0"/>
          </a:p>
        </p:txBody>
      </p:sp>
      <p:sp>
        <p:nvSpPr>
          <p:cNvPr id="25" name="Text 22"/>
          <p:cNvSpPr/>
          <p:nvPr/>
        </p:nvSpPr>
        <p:spPr>
          <a:xfrm>
            <a:off x="5532120" y="210312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Desktop app</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Same as the website but runs in its own window. Great for split-screen with Excel.</a:t>
            </a:r>
            <a:endParaRPr lang="en-US" sz="1000" dirty="0"/>
          </a:p>
        </p:txBody>
      </p:sp>
      <p:sp>
        <p:nvSpPr>
          <p:cNvPr id="26" name="Text 23"/>
          <p:cNvSpPr/>
          <p:nvPr/>
        </p:nvSpPr>
        <p:spPr>
          <a:xfrm>
            <a:off x="5532120" y="283464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Free vs Pro</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Free tier has daily message limits. Pro gives higher limits, extended thinking, and priority access.</a:t>
            </a:r>
            <a:endParaRPr lang="en-US" sz="1000" dirty="0"/>
          </a:p>
        </p:txBody>
      </p:sp>
      <p:sp>
        <p:nvSpPr>
          <p:cNvPr id="27" name="Text 24"/>
          <p:cNvSpPr/>
          <p:nvPr/>
        </p:nvSpPr>
        <p:spPr>
          <a:xfrm>
            <a:off x="5532120" y="356616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Privacy</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Don’t paste sensitive personal data. Course materials and public financial data are fine.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Uploading Files &amp; Using Projects</a:t>
            </a:r>
            <a:endParaRPr lang="en-US" sz="2800" dirty="0"/>
          </a:p>
        </p:txBody>
      </p:sp>
      <p:sp>
        <p:nvSpPr>
          <p:cNvPr id="6" name="Shape 4"/>
          <p:cNvSpPr/>
          <p:nvPr/>
        </p:nvSpPr>
        <p:spPr>
          <a:xfrm>
            <a:off x="731520" y="100584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188720"/>
            <a:ext cx="365760" cy="365760"/>
          </a:xfrm>
          <a:prstGeom prst="rect">
            <a:avLst/>
          </a:prstGeom>
        </p:spPr>
      </p:pic>
      <p:sp>
        <p:nvSpPr>
          <p:cNvPr id="8" name="Text 5"/>
          <p:cNvSpPr/>
          <p:nvPr/>
        </p:nvSpPr>
        <p:spPr>
          <a:xfrm>
            <a:off x="137160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File Uploads</a:t>
            </a:r>
            <a:endParaRPr lang="en-US" sz="1600" dirty="0"/>
          </a:p>
        </p:txBody>
      </p:sp>
      <p:sp>
        <p:nvSpPr>
          <p:cNvPr id="9" name="Text 6"/>
          <p:cNvSpPr/>
          <p:nvPr/>
        </p:nvSpPr>
        <p:spPr>
          <a:xfrm>
            <a:off x="91440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Click the paperclip icon or drag and drop</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Supported: .xlsx, .pdf, .csv, .png, .jpg, .md</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Claude reads the actual content — not just the filename</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2 Excel to verify ratios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3 spec as context for Stage 4</a:t>
            </a:r>
            <a:endParaRPr lang="en-US" sz="1100" dirty="0"/>
          </a:p>
        </p:txBody>
      </p:sp>
      <p:sp>
        <p:nvSpPr>
          <p:cNvPr id="10" name="Shape 7"/>
          <p:cNvSpPr/>
          <p:nvPr/>
        </p:nvSpPr>
        <p:spPr>
          <a:xfrm>
            <a:off x="4663440" y="100584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846320" y="1188720"/>
            <a:ext cx="365760" cy="365760"/>
          </a:xfrm>
          <a:prstGeom prst="rect">
            <a:avLst/>
          </a:prstGeom>
        </p:spPr>
      </p:pic>
      <p:sp>
        <p:nvSpPr>
          <p:cNvPr id="12" name="Text 8"/>
          <p:cNvSpPr/>
          <p:nvPr/>
        </p:nvSpPr>
        <p:spPr>
          <a:xfrm>
            <a:off x="530352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Projects (Pro Feature)</a:t>
            </a:r>
            <a:endParaRPr lang="en-US" sz="1600" dirty="0"/>
          </a:p>
        </p:txBody>
      </p:sp>
      <p:sp>
        <p:nvSpPr>
          <p:cNvPr id="13" name="Text 9"/>
          <p:cNvSpPr/>
          <p:nvPr/>
        </p:nvSpPr>
        <p:spPr>
          <a:xfrm>
            <a:off x="484632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Create a project and attach your spec, rubric, and data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Every conversation in that project automatically sees those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No need to re-upload each session</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Add custom instructions: “Always use BUS-314 named range conventions”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Great for multi-session work across stages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Artifacts</a:t>
            </a:r>
            <a:endParaRPr lang="en-US" sz="2800" dirty="0"/>
          </a:p>
        </p:txBody>
      </p:sp>
      <p:sp>
        <p:nvSpPr>
          <p:cNvPr id="6" name="Text 4"/>
          <p:cNvSpPr/>
          <p:nvPr/>
        </p:nvSpPr>
        <p:spPr>
          <a:xfrm>
            <a:off x="731520" y="868680"/>
            <a:ext cx="7680960" cy="45720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When Claude generates a memo, table, or code block, it appears in an Artifact panel — a side-by-side document you can copy, edit, or download directly.</a:t>
            </a:r>
            <a:endParaRPr lang="en-US" sz="1300" dirty="0"/>
          </a:p>
        </p:txBody>
      </p:sp>
      <p:sp>
        <p:nvSpPr>
          <p:cNvPr id="7" name="Shape 5"/>
          <p:cNvSpPr/>
          <p:nvPr/>
        </p:nvSpPr>
        <p:spPr>
          <a:xfrm>
            <a:off x="73152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45920" y="1783080"/>
            <a:ext cx="457200" cy="457200"/>
          </a:xfrm>
          <a:prstGeom prst="rect">
            <a:avLst/>
          </a:prstGeom>
        </p:spPr>
      </p:pic>
      <p:sp>
        <p:nvSpPr>
          <p:cNvPr id="9" name="Text 6"/>
          <p:cNvSpPr/>
          <p:nvPr/>
        </p:nvSpPr>
        <p:spPr>
          <a:xfrm>
            <a:off x="86868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Markdown Memos</a:t>
            </a:r>
            <a:endParaRPr lang="en-US" sz="1400" dirty="0"/>
          </a:p>
        </p:txBody>
      </p:sp>
      <p:sp>
        <p:nvSpPr>
          <p:cNvPr id="10" name="Text 7"/>
          <p:cNvSpPr/>
          <p:nvPr/>
        </p:nvSpPr>
        <p:spPr>
          <a:xfrm>
            <a:off x="86868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Ask Claude to draft your Stage 1 or Stage 4 memo. It appears as an editable Artifact you can copy into your .md file.</a:t>
            </a:r>
            <a:endParaRPr lang="en-US" sz="1100" dirty="0"/>
          </a:p>
        </p:txBody>
      </p:sp>
      <p:sp>
        <p:nvSpPr>
          <p:cNvPr id="11" name="Shape 8"/>
          <p:cNvSpPr/>
          <p:nvPr/>
        </p:nvSpPr>
        <p:spPr>
          <a:xfrm>
            <a:off x="356616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480560" y="1783080"/>
            <a:ext cx="457200" cy="457200"/>
          </a:xfrm>
          <a:prstGeom prst="rect">
            <a:avLst/>
          </a:prstGeom>
        </p:spPr>
      </p:pic>
      <p:sp>
        <p:nvSpPr>
          <p:cNvPr id="13" name="Text 9"/>
          <p:cNvSpPr/>
          <p:nvPr/>
        </p:nvSpPr>
        <p:spPr>
          <a:xfrm>
            <a:off x="370332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Tables &amp; Charts</a:t>
            </a:r>
            <a:endParaRPr lang="en-US" sz="1400" dirty="0"/>
          </a:p>
        </p:txBody>
      </p:sp>
      <p:sp>
        <p:nvSpPr>
          <p:cNvPr id="14" name="Text 10"/>
          <p:cNvSpPr/>
          <p:nvPr/>
        </p:nvSpPr>
        <p:spPr>
          <a:xfrm>
            <a:off x="370332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generate Markdown tables, HTML previews, and structured data. Perfect for ratio summaries.</a:t>
            </a:r>
            <a:endParaRPr lang="en-US" sz="1100" dirty="0"/>
          </a:p>
        </p:txBody>
      </p:sp>
      <p:sp>
        <p:nvSpPr>
          <p:cNvPr id="15" name="Shape 11"/>
          <p:cNvSpPr/>
          <p:nvPr/>
        </p:nvSpPr>
        <p:spPr>
          <a:xfrm>
            <a:off x="640080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7315200" y="1783080"/>
            <a:ext cx="457200" cy="457200"/>
          </a:xfrm>
          <a:prstGeom prst="rect">
            <a:avLst/>
          </a:prstGeom>
        </p:spPr>
      </p:pic>
      <p:sp>
        <p:nvSpPr>
          <p:cNvPr id="17" name="Text 12"/>
          <p:cNvSpPr/>
          <p:nvPr/>
        </p:nvSpPr>
        <p:spPr>
          <a:xfrm>
            <a:off x="653796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Code &amp; Formulas</a:t>
            </a:r>
            <a:endParaRPr lang="en-US" sz="1400" dirty="0"/>
          </a:p>
        </p:txBody>
      </p:sp>
      <p:sp>
        <p:nvSpPr>
          <p:cNvPr id="18" name="Text 13"/>
          <p:cNvSpPr/>
          <p:nvPr/>
        </p:nvSpPr>
        <p:spPr>
          <a:xfrm>
            <a:off x="653796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Request Excel formulas or Python scripts. Artifacts let you preview and iterate without leaving the conversation.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Example: Using Claude for Stage 4</a:t>
            </a:r>
            <a:endParaRPr lang="en-US" sz="2800" dirty="0"/>
          </a:p>
        </p:txBody>
      </p:sp>
      <p:sp>
        <p:nvSpPr>
          <p:cNvPr id="6" name="Shape 4"/>
          <p:cNvSpPr/>
          <p:nvPr/>
        </p:nvSpPr>
        <p:spPr>
          <a:xfrm>
            <a:off x="731520" y="1005840"/>
            <a:ext cx="457200" cy="457200"/>
          </a:xfrm>
          <a:prstGeom prst="rect">
            <a:avLst/>
          </a:prstGeom>
          <a:solidFill>
            <a:srgbClr val="1E2530"/>
          </a:solidFill>
          <a:ln/>
        </p:spPr>
        <p:txBody>
          <a:bodyPr/>
          <a:lstStyle/>
          <a:p>
            <a:endParaRPr lang="en-US"/>
          </a:p>
        </p:txBody>
      </p:sp>
      <p:sp>
        <p:nvSpPr>
          <p:cNvPr id="7" name="Text 5"/>
          <p:cNvSpPr/>
          <p:nvPr/>
        </p:nvSpPr>
        <p:spPr>
          <a:xfrm>
            <a:off x="731520" y="1005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1</a:t>
            </a:r>
            <a:endParaRPr lang="en-US" sz="1600" dirty="0"/>
          </a:p>
        </p:txBody>
      </p:sp>
      <p:sp>
        <p:nvSpPr>
          <p:cNvPr id="8" name="Text 6"/>
          <p:cNvSpPr/>
          <p:nvPr/>
        </p:nvSpPr>
        <p:spPr>
          <a:xfrm>
            <a:off x="1371600" y="10058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Upload Context</a:t>
            </a:r>
            <a:endParaRPr lang="en-US" sz="1400" dirty="0"/>
          </a:p>
        </p:txBody>
      </p:sp>
      <p:sp>
        <p:nvSpPr>
          <p:cNvPr id="9" name="Text 7"/>
          <p:cNvSpPr/>
          <p:nvPr/>
        </p:nvSpPr>
        <p:spPr>
          <a:xfrm>
            <a:off x="3200400" y="10058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Upload your Stage 3 spec (.md) and Stage 2 Excel (.xlsx) to Claude.</a:t>
            </a:r>
            <a:endParaRPr lang="en-US" sz="1200" dirty="0"/>
          </a:p>
        </p:txBody>
      </p:sp>
      <p:sp>
        <p:nvSpPr>
          <p:cNvPr id="10" name="Shape 8"/>
          <p:cNvSpPr/>
          <p:nvPr/>
        </p:nvSpPr>
        <p:spPr>
          <a:xfrm>
            <a:off x="731520" y="1920240"/>
            <a:ext cx="457200" cy="457200"/>
          </a:xfrm>
          <a:prstGeom prst="rect">
            <a:avLst/>
          </a:prstGeom>
          <a:solidFill>
            <a:srgbClr val="1E2530"/>
          </a:solidFill>
          <a:ln/>
        </p:spPr>
        <p:txBody>
          <a:bodyPr/>
          <a:lstStyle/>
          <a:p>
            <a:endParaRPr lang="en-US"/>
          </a:p>
        </p:txBody>
      </p:sp>
      <p:sp>
        <p:nvSpPr>
          <p:cNvPr id="11" name="Text 9"/>
          <p:cNvSpPr/>
          <p:nvPr/>
        </p:nvSpPr>
        <p:spPr>
          <a:xfrm>
            <a:off x="731520" y="1920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2</a:t>
            </a:r>
            <a:endParaRPr lang="en-US" sz="1600" dirty="0"/>
          </a:p>
        </p:txBody>
      </p:sp>
      <p:sp>
        <p:nvSpPr>
          <p:cNvPr id="12" name="Text 10"/>
          <p:cNvSpPr/>
          <p:nvPr/>
        </p:nvSpPr>
        <p:spPr>
          <a:xfrm>
            <a:off x="1371600" y="19202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Give the Prompt</a:t>
            </a:r>
            <a:endParaRPr lang="en-US" sz="1400" dirty="0"/>
          </a:p>
        </p:txBody>
      </p:sp>
      <p:sp>
        <p:nvSpPr>
          <p:cNvPr id="13" name="Text 11"/>
          <p:cNvSpPr/>
          <p:nvPr/>
        </p:nvSpPr>
        <p:spPr>
          <a:xfrm>
            <a:off x="3200400" y="19202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“Using the attached spec, write a structured AI prompt that could regenerate my Excel model. Use # GOAL → # DATA → # RATIOS → # VERIFY headers.”</a:t>
            </a:r>
            <a:endParaRPr lang="en-US" sz="1200" dirty="0"/>
          </a:p>
        </p:txBody>
      </p:sp>
      <p:sp>
        <p:nvSpPr>
          <p:cNvPr id="14" name="Shape 12"/>
          <p:cNvSpPr/>
          <p:nvPr/>
        </p:nvSpPr>
        <p:spPr>
          <a:xfrm>
            <a:off x="731520" y="2834640"/>
            <a:ext cx="457200" cy="457200"/>
          </a:xfrm>
          <a:prstGeom prst="rect">
            <a:avLst/>
          </a:prstGeom>
          <a:solidFill>
            <a:srgbClr val="1E2530"/>
          </a:solidFill>
          <a:ln/>
        </p:spPr>
        <p:txBody>
          <a:bodyPr/>
          <a:lstStyle/>
          <a:p>
            <a:endParaRPr lang="en-US"/>
          </a:p>
        </p:txBody>
      </p:sp>
      <p:sp>
        <p:nvSpPr>
          <p:cNvPr id="15" name="Text 13"/>
          <p:cNvSpPr/>
          <p:nvPr/>
        </p:nvSpPr>
        <p:spPr>
          <a:xfrm>
            <a:off x="731520" y="2834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3</a:t>
            </a:r>
            <a:endParaRPr lang="en-US" sz="1600" dirty="0"/>
          </a:p>
        </p:txBody>
      </p:sp>
      <p:sp>
        <p:nvSpPr>
          <p:cNvPr id="16" name="Text 14"/>
          <p:cNvSpPr/>
          <p:nvPr/>
        </p:nvSpPr>
        <p:spPr>
          <a:xfrm>
            <a:off x="1371600" y="28346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Review &amp; Refine</a:t>
            </a:r>
            <a:endParaRPr lang="en-US" sz="1400" dirty="0"/>
          </a:p>
        </p:txBody>
      </p:sp>
      <p:sp>
        <p:nvSpPr>
          <p:cNvPr id="17" name="Text 15"/>
          <p:cNvSpPr/>
          <p:nvPr/>
        </p:nvSpPr>
        <p:spPr>
          <a:xfrm>
            <a:off x="3200400" y="28346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Check that every named range appears. Ask: “Add the Du Pont cross-check step” or “Include color-coding instructions.”</a:t>
            </a:r>
            <a:endParaRPr lang="en-US" sz="1200" dirty="0"/>
          </a:p>
        </p:txBody>
      </p:sp>
      <p:sp>
        <p:nvSpPr>
          <p:cNvPr id="18" name="Shape 16"/>
          <p:cNvSpPr/>
          <p:nvPr/>
        </p:nvSpPr>
        <p:spPr>
          <a:xfrm>
            <a:off x="731520" y="3749040"/>
            <a:ext cx="457200" cy="457200"/>
          </a:xfrm>
          <a:prstGeom prst="rect">
            <a:avLst/>
          </a:prstGeom>
          <a:solidFill>
            <a:srgbClr val="1E2530"/>
          </a:solidFill>
          <a:ln/>
        </p:spPr>
        <p:txBody>
          <a:bodyPr/>
          <a:lstStyle/>
          <a:p>
            <a:endParaRPr lang="en-US"/>
          </a:p>
        </p:txBody>
      </p:sp>
      <p:sp>
        <p:nvSpPr>
          <p:cNvPr id="19" name="Text 17"/>
          <p:cNvSpPr/>
          <p:nvPr/>
        </p:nvSpPr>
        <p:spPr>
          <a:xfrm>
            <a:off x="73152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4</a:t>
            </a:r>
            <a:endParaRPr lang="en-US" sz="1600" dirty="0"/>
          </a:p>
        </p:txBody>
      </p:sp>
      <p:sp>
        <p:nvSpPr>
          <p:cNvPr id="20" name="Text 18"/>
          <p:cNvSpPr/>
          <p:nvPr/>
        </p:nvSpPr>
        <p:spPr>
          <a:xfrm>
            <a:off x="1371600" y="37490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Export</a:t>
            </a:r>
            <a:endParaRPr lang="en-US" sz="1400" dirty="0"/>
          </a:p>
        </p:txBody>
      </p:sp>
      <p:sp>
        <p:nvSpPr>
          <p:cNvPr id="21" name="Text 19"/>
          <p:cNvSpPr/>
          <p:nvPr/>
        </p:nvSpPr>
        <p:spPr>
          <a:xfrm>
            <a:off x="3200400" y="37490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Copy the Artifact into your Stage 4 deliverable. Commit to GitHub.</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2</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Claude Code</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in Your Terminal</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Claude that lives in your terminal, reads your files,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works alongside Git. The power-user option.</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What Is Claude Code?</a:t>
            </a:r>
            <a:endParaRPr lang="en-US" sz="2800" dirty="0"/>
          </a:p>
        </p:txBody>
      </p:sp>
      <p:sp>
        <p:nvSpPr>
          <p:cNvPr id="6" name="Text 4"/>
          <p:cNvSpPr/>
          <p:nvPr/>
        </p:nvSpPr>
        <p:spPr>
          <a:xfrm>
            <a:off x="731520" y="868680"/>
            <a:ext cx="7680960" cy="50292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Code is a command-line tool that runs Claude directly in your terminal. It can read and write files in your repository, run Git commands, and help you build deliverables without leaving the command line.</a:t>
            </a:r>
            <a:endParaRPr lang="en-US" sz="1300" dirty="0"/>
          </a:p>
        </p:txBody>
      </p:sp>
      <p:sp>
        <p:nvSpPr>
          <p:cNvPr id="7" name="Shape 5"/>
          <p:cNvSpPr/>
          <p:nvPr/>
        </p:nvSpPr>
        <p:spPr>
          <a:xfrm>
            <a:off x="7315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1828800"/>
            <a:ext cx="365760" cy="365760"/>
          </a:xfrm>
          <a:prstGeom prst="rect">
            <a:avLst/>
          </a:prstGeom>
        </p:spPr>
      </p:pic>
      <p:sp>
        <p:nvSpPr>
          <p:cNvPr id="9" name="Text 6"/>
          <p:cNvSpPr/>
          <p:nvPr/>
        </p:nvSpPr>
        <p:spPr>
          <a:xfrm>
            <a:off x="14173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Reads Your Repo</a:t>
            </a:r>
            <a:endParaRPr lang="en-US" sz="1300" dirty="0"/>
          </a:p>
        </p:txBody>
      </p:sp>
      <p:sp>
        <p:nvSpPr>
          <p:cNvPr id="10" name="Text 7"/>
          <p:cNvSpPr/>
          <p:nvPr/>
        </p:nvSpPr>
        <p:spPr>
          <a:xfrm>
            <a:off x="14173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Claude Code sees every file in your project. Ask about your spec, your Excel, your memo — it reads them directly.</a:t>
            </a:r>
            <a:endParaRPr lang="en-US" sz="1050" dirty="0"/>
          </a:p>
        </p:txBody>
      </p:sp>
      <p:sp>
        <p:nvSpPr>
          <p:cNvPr id="11" name="Shape 8"/>
          <p:cNvSpPr/>
          <p:nvPr/>
        </p:nvSpPr>
        <p:spPr>
          <a:xfrm>
            <a:off x="48463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5029200" y="1828800"/>
            <a:ext cx="365760" cy="365760"/>
          </a:xfrm>
          <a:prstGeom prst="rect">
            <a:avLst/>
          </a:prstGeom>
        </p:spPr>
      </p:pic>
      <p:sp>
        <p:nvSpPr>
          <p:cNvPr id="13" name="Text 9"/>
          <p:cNvSpPr/>
          <p:nvPr/>
        </p:nvSpPr>
        <p:spPr>
          <a:xfrm>
            <a:off x="55321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Runs Commands</a:t>
            </a:r>
            <a:endParaRPr lang="en-US" sz="1300" dirty="0"/>
          </a:p>
        </p:txBody>
      </p:sp>
      <p:sp>
        <p:nvSpPr>
          <p:cNvPr id="14" name="Text 10"/>
          <p:cNvSpPr/>
          <p:nvPr/>
        </p:nvSpPr>
        <p:spPr>
          <a:xfrm>
            <a:off x="55321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It can execute Git commands, run scripts, and make file edits — all with your approval.</a:t>
            </a:r>
            <a:endParaRPr lang="en-US" sz="1050" dirty="0"/>
          </a:p>
        </p:txBody>
      </p:sp>
      <p:sp>
        <p:nvSpPr>
          <p:cNvPr id="15" name="Shape 11"/>
          <p:cNvSpPr/>
          <p:nvPr/>
        </p:nvSpPr>
        <p:spPr>
          <a:xfrm>
            <a:off x="7315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291840"/>
            <a:ext cx="365760" cy="365760"/>
          </a:xfrm>
          <a:prstGeom prst="rect">
            <a:avLst/>
          </a:prstGeom>
        </p:spPr>
      </p:pic>
      <p:sp>
        <p:nvSpPr>
          <p:cNvPr id="17" name="Text 12"/>
          <p:cNvSpPr/>
          <p:nvPr/>
        </p:nvSpPr>
        <p:spPr>
          <a:xfrm>
            <a:off x="14173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Integration</a:t>
            </a:r>
            <a:endParaRPr lang="en-US" sz="1300" dirty="0"/>
          </a:p>
        </p:txBody>
      </p:sp>
      <p:sp>
        <p:nvSpPr>
          <p:cNvPr id="18" name="Text 13"/>
          <p:cNvSpPr/>
          <p:nvPr/>
        </p:nvSpPr>
        <p:spPr>
          <a:xfrm>
            <a:off x="14173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Commit, push, create branches, and review diffs without switching tools.</a:t>
            </a:r>
            <a:endParaRPr lang="en-US" sz="1050" dirty="0"/>
          </a:p>
        </p:txBody>
      </p:sp>
      <p:sp>
        <p:nvSpPr>
          <p:cNvPr id="19" name="Shape 14"/>
          <p:cNvSpPr/>
          <p:nvPr/>
        </p:nvSpPr>
        <p:spPr>
          <a:xfrm>
            <a:off x="48463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5029200" y="3291840"/>
            <a:ext cx="365760" cy="365760"/>
          </a:xfrm>
          <a:prstGeom prst="rect">
            <a:avLst/>
          </a:prstGeom>
        </p:spPr>
      </p:pic>
      <p:sp>
        <p:nvSpPr>
          <p:cNvPr id="21" name="Text 15"/>
          <p:cNvSpPr/>
          <p:nvPr/>
        </p:nvSpPr>
        <p:spPr>
          <a:xfrm>
            <a:off x="55321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Project Context</a:t>
            </a:r>
            <a:endParaRPr lang="en-US" sz="1300" dirty="0"/>
          </a:p>
        </p:txBody>
      </p:sp>
      <p:sp>
        <p:nvSpPr>
          <p:cNvPr id="22" name="Text 16"/>
          <p:cNvSpPr/>
          <p:nvPr/>
        </p:nvSpPr>
        <p:spPr>
          <a:xfrm>
            <a:off x="55321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When you launch Claude Code from your repo folder, it automatically understands your project structure.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Installing Claude Code</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requires Node.js (v18+). If you already installed Git, you have a terminal ready.</a:t>
            </a:r>
            <a:endParaRPr lang="en-US" sz="1300" dirty="0"/>
          </a:p>
        </p:txBody>
      </p:sp>
      <p:sp>
        <p:nvSpPr>
          <p:cNvPr id="7" name="Shape 5"/>
          <p:cNvSpPr/>
          <p:nvPr/>
        </p:nvSpPr>
        <p:spPr>
          <a:xfrm>
            <a:off x="73152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3749040" cy="411480"/>
          </a:xfrm>
          <a:prstGeom prst="rect">
            <a:avLst/>
          </a:prstGeom>
          <a:solidFill>
            <a:srgbClr val="1E2530"/>
          </a:solidFill>
          <a:ln/>
        </p:spPr>
        <p:txBody>
          <a:bodyPr/>
          <a:lstStyle/>
          <a:p>
            <a:endParaRPr lang="en-US"/>
          </a:p>
        </p:txBody>
      </p:sp>
      <p:sp>
        <p:nvSpPr>
          <p:cNvPr id="9" name="Text 7"/>
          <p:cNvSpPr/>
          <p:nvPr/>
        </p:nvSpPr>
        <p:spPr>
          <a:xfrm>
            <a:off x="73152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Windows</a:t>
            </a:r>
            <a:endParaRPr lang="en-US" sz="1400" dirty="0"/>
          </a:p>
        </p:txBody>
      </p:sp>
      <p:sp>
        <p:nvSpPr>
          <p:cNvPr id="10" name="Text 8"/>
          <p:cNvSpPr/>
          <p:nvPr/>
        </p:nvSpPr>
        <p:spPr>
          <a:xfrm>
            <a:off x="91440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from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Git Bash or PowerShell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1" name="Shape 9"/>
          <p:cNvSpPr/>
          <p:nvPr/>
        </p:nvSpPr>
        <p:spPr>
          <a:xfrm>
            <a:off x="466344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663440" y="1417320"/>
            <a:ext cx="3749040" cy="411480"/>
          </a:xfrm>
          <a:prstGeom prst="rect">
            <a:avLst/>
          </a:prstGeom>
          <a:solidFill>
            <a:srgbClr val="36454F"/>
          </a:solidFill>
          <a:ln/>
        </p:spPr>
        <p:txBody>
          <a:bodyPr/>
          <a:lstStyle/>
          <a:p>
            <a:endParaRPr lang="en-US"/>
          </a:p>
        </p:txBody>
      </p:sp>
      <p:sp>
        <p:nvSpPr>
          <p:cNvPr id="13" name="Text 11"/>
          <p:cNvSpPr/>
          <p:nvPr/>
        </p:nvSpPr>
        <p:spPr>
          <a:xfrm>
            <a:off x="466344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Mac</a:t>
            </a:r>
            <a:endParaRPr lang="en-US" sz="1400" dirty="0"/>
          </a:p>
        </p:txBody>
      </p:sp>
      <p:sp>
        <p:nvSpPr>
          <p:cNvPr id="14" name="Text 12"/>
          <p:cNvSpPr/>
          <p:nvPr/>
        </p:nvSpPr>
        <p:spPr>
          <a:xfrm>
            <a:off x="484632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brew install node  (or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Terminal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5" name="Text 13"/>
          <p:cNvSpPr/>
          <p:nvPr/>
        </p:nvSpPr>
        <p:spPr>
          <a:xfrm>
            <a:off x="731520" y="3977640"/>
            <a:ext cx="7680960" cy="365760"/>
          </a:xfrm>
          <a:prstGeom prst="rect">
            <a:avLst/>
          </a:prstGeom>
          <a:noFill/>
          <a:ln/>
        </p:spPr>
        <p:txBody>
          <a:bodyPr wrap="square" lIns="0" tIns="0" rIns="0" bIns="0" rtlCol="0" anchor="ctr"/>
          <a:lstStyle/>
          <a:p>
            <a:pPr marL="0" indent="0">
              <a:buNone/>
            </a:pPr>
            <a:r>
              <a:rPr lang="en-US" sz="1200" i="1" dirty="0">
                <a:solidFill>
                  <a:srgbClr val="8A9BAD"/>
                </a:solidFill>
                <a:latin typeface="Open Sans" pitchFamily="34" charset="0"/>
                <a:ea typeface="Open Sans" pitchFamily="34" charset="-122"/>
                <a:cs typeface="Open Sans" pitchFamily="34" charset="-120"/>
              </a:rPr>
              <a:t>First-time setup:  Claude Code will prompt you to sign in with your Anthropic account (free tier works).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Claude Code Workflow</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Navigate to your repo, type claude, and ask for help in plain English.</a:t>
            </a:r>
            <a:endParaRPr lang="en-US" sz="1300" dirty="0"/>
          </a:p>
        </p:txBody>
      </p:sp>
      <p:sp>
        <p:nvSpPr>
          <p:cNvPr id="7" name="Shape 5"/>
          <p:cNvSpPr/>
          <p:nvPr/>
        </p:nvSpPr>
        <p:spPr>
          <a:xfrm>
            <a:off x="731520" y="141732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502920" cy="868680"/>
          </a:xfrm>
          <a:prstGeom prst="rect">
            <a:avLst/>
          </a:prstGeom>
          <a:solidFill>
            <a:srgbClr val="1E2530"/>
          </a:solidFill>
          <a:ln/>
        </p:spPr>
        <p:txBody>
          <a:bodyPr/>
          <a:lstStyle/>
          <a:p>
            <a:endParaRPr lang="en-US"/>
          </a:p>
        </p:txBody>
      </p:sp>
      <p:sp>
        <p:nvSpPr>
          <p:cNvPr id="9" name="Text 7"/>
          <p:cNvSpPr/>
          <p:nvPr/>
        </p:nvSpPr>
        <p:spPr>
          <a:xfrm>
            <a:off x="731520" y="141732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a:t>
            </a:r>
            <a:endParaRPr lang="en-US" sz="1800" dirty="0"/>
          </a:p>
        </p:txBody>
      </p:sp>
      <p:sp>
        <p:nvSpPr>
          <p:cNvPr id="10" name="Text 8"/>
          <p:cNvSpPr/>
          <p:nvPr/>
        </p:nvSpPr>
        <p:spPr>
          <a:xfrm>
            <a:off x="1417320" y="149047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Navigate</a:t>
            </a:r>
            <a:endParaRPr lang="en-US" sz="1400" dirty="0"/>
          </a:p>
        </p:txBody>
      </p:sp>
      <p:sp>
        <p:nvSpPr>
          <p:cNvPr id="11" name="Text 9"/>
          <p:cNvSpPr/>
          <p:nvPr/>
        </p:nvSpPr>
        <p:spPr>
          <a:xfrm>
            <a:off x="2606040" y="149047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cd ~/GitHub/shidler</a:t>
            </a:r>
            <a:endParaRPr lang="en-US" sz="1200" dirty="0"/>
          </a:p>
        </p:txBody>
      </p:sp>
      <p:sp>
        <p:nvSpPr>
          <p:cNvPr id="12" name="Text 10"/>
          <p:cNvSpPr/>
          <p:nvPr/>
        </p:nvSpPr>
        <p:spPr>
          <a:xfrm>
            <a:off x="1417320" y="185623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Open your terminal and navigate to the cloned repo folder.</a:t>
            </a:r>
            <a:endParaRPr lang="en-US" sz="1100" dirty="0"/>
          </a:p>
        </p:txBody>
      </p:sp>
      <p:sp>
        <p:nvSpPr>
          <p:cNvPr id="13" name="Shape 11"/>
          <p:cNvSpPr/>
          <p:nvPr/>
        </p:nvSpPr>
        <p:spPr>
          <a:xfrm>
            <a:off x="731520" y="260604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731520" y="2606040"/>
            <a:ext cx="502920" cy="868680"/>
          </a:xfrm>
          <a:prstGeom prst="rect">
            <a:avLst/>
          </a:prstGeom>
          <a:solidFill>
            <a:srgbClr val="1E2530"/>
          </a:solidFill>
          <a:ln/>
        </p:spPr>
        <p:txBody>
          <a:bodyPr/>
          <a:lstStyle/>
          <a:p>
            <a:endParaRPr lang="en-US"/>
          </a:p>
        </p:txBody>
      </p:sp>
      <p:sp>
        <p:nvSpPr>
          <p:cNvPr id="15" name="Text 13"/>
          <p:cNvSpPr/>
          <p:nvPr/>
        </p:nvSpPr>
        <p:spPr>
          <a:xfrm>
            <a:off x="731520" y="260604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2</a:t>
            </a:r>
            <a:endParaRPr lang="en-US" sz="1800" dirty="0"/>
          </a:p>
        </p:txBody>
      </p:sp>
      <p:sp>
        <p:nvSpPr>
          <p:cNvPr id="16" name="Text 14"/>
          <p:cNvSpPr/>
          <p:nvPr/>
        </p:nvSpPr>
        <p:spPr>
          <a:xfrm>
            <a:off x="1417320" y="267919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Launch</a:t>
            </a:r>
            <a:endParaRPr lang="en-US" sz="1400" dirty="0"/>
          </a:p>
        </p:txBody>
      </p:sp>
      <p:sp>
        <p:nvSpPr>
          <p:cNvPr id="17" name="Text 15"/>
          <p:cNvSpPr/>
          <p:nvPr/>
        </p:nvSpPr>
        <p:spPr>
          <a:xfrm>
            <a:off x="2606040" y="267919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claude</a:t>
            </a:r>
            <a:endParaRPr lang="en-US" sz="1200" dirty="0"/>
          </a:p>
        </p:txBody>
      </p:sp>
      <p:sp>
        <p:nvSpPr>
          <p:cNvPr id="18" name="Text 16"/>
          <p:cNvSpPr/>
          <p:nvPr/>
        </p:nvSpPr>
        <p:spPr>
          <a:xfrm>
            <a:off x="1417320" y="304495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Start Claude Code. It reads your project files and understands the structure.</a:t>
            </a:r>
            <a:endParaRPr lang="en-US" sz="1100" dirty="0"/>
          </a:p>
        </p:txBody>
      </p:sp>
      <p:sp>
        <p:nvSpPr>
          <p:cNvPr id="19" name="Shape 17"/>
          <p:cNvSpPr/>
          <p:nvPr/>
        </p:nvSpPr>
        <p:spPr>
          <a:xfrm>
            <a:off x="731520" y="379476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794760"/>
            <a:ext cx="502920" cy="868680"/>
          </a:xfrm>
          <a:prstGeom prst="rect">
            <a:avLst/>
          </a:prstGeom>
          <a:solidFill>
            <a:srgbClr val="1E2530"/>
          </a:solidFill>
          <a:ln/>
        </p:spPr>
        <p:txBody>
          <a:bodyPr/>
          <a:lstStyle/>
          <a:p>
            <a:endParaRPr lang="en-US"/>
          </a:p>
        </p:txBody>
      </p:sp>
      <p:sp>
        <p:nvSpPr>
          <p:cNvPr id="21" name="Text 19"/>
          <p:cNvSpPr/>
          <p:nvPr/>
        </p:nvSpPr>
        <p:spPr>
          <a:xfrm>
            <a:off x="731520" y="379476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3</a:t>
            </a:r>
            <a:endParaRPr lang="en-US" sz="1800" dirty="0"/>
          </a:p>
        </p:txBody>
      </p:sp>
      <p:sp>
        <p:nvSpPr>
          <p:cNvPr id="22" name="Text 20"/>
          <p:cNvSpPr/>
          <p:nvPr/>
        </p:nvSpPr>
        <p:spPr>
          <a:xfrm>
            <a:off x="1417320" y="386791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Ask</a:t>
            </a:r>
            <a:endParaRPr lang="en-US" sz="1400" dirty="0"/>
          </a:p>
        </p:txBody>
      </p:sp>
      <p:sp>
        <p:nvSpPr>
          <p:cNvPr id="23" name="Text 21"/>
          <p:cNvSpPr/>
          <p:nvPr/>
        </p:nvSpPr>
        <p:spPr>
          <a:xfrm>
            <a:off x="2606040" y="386791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“Review my Stage 3 spec for completeness”</a:t>
            </a:r>
            <a:endParaRPr lang="en-US" sz="1200" dirty="0"/>
          </a:p>
        </p:txBody>
      </p:sp>
      <p:sp>
        <p:nvSpPr>
          <p:cNvPr id="24" name="Text 22"/>
          <p:cNvSpPr/>
          <p:nvPr/>
        </p:nvSpPr>
        <p:spPr>
          <a:xfrm>
            <a:off x="1417320" y="423367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Type your request in natural language. Claude reads your files and responds.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Power Moves with Claude Code</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Once you’re comfortable with the basics, try these.</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Verify Your Model</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“Read my Stage 2 Excel and check if all 25 ratios are present.”</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Without Leaving</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“Draft a commit message for my Stage 3 spec and push to GitHub.”</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Rubric Check</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“Compare my Stage 1 memo to the rubric and suggest improvements.”</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Auto-Generate Prompt</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“Generate the Stage 4 AI prompt using my spec as the template.”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Skills &amp; Slash Commands</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supports custom skills and /commands that extend its capabilities for your project.</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What Are Skills?</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are reusable instruction sets in .claude/skills/. They teach Claude domain knowledge — like how to build Excel models or apply UH branding.”</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Using /Commands</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“Type /pptx, /xlsx, /docx, /brand-guidelines, or /pdf to activate a skill. Claude loads specialized instructions and produces higher-quality output.”</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Installing Skills</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live in .claude/skills/ folders. Clone the repo and they’re ready — no separate install. Claude Code detects them automatically.”</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Available in This Repo</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“brand-guidelines, bus314-accounting-ratios, docx, xlsx, pptx, pdf, internal-comms, skill-creator — type /help to see all.”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Design System</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design.json</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Machine-readable design tokens: colors, typography, spacing, components. Claude reads this file to apply UH branding to any artifact automatically.</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design-system.html</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Human-readable visual reference. Open in a browser to see the full color palette, typography scale, component examples, and spacing rules.</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How Claude Uses It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When you invoke /brand-guidelines or ask Claude to format a document, it reads design.json for exact hex codes, font names, and sizing rules.</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Where to Find Them</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Both files live at docs/_branding/. The JSON is the source of truth; the HTML is for your visual review. Keep them in sync.</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41148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Quick Reference</a:t>
            </a:r>
            <a:endParaRPr lang="en-US" sz="2800" dirty="0"/>
          </a:p>
        </p:txBody>
      </p:sp>
      <p:sp>
        <p:nvSpPr>
          <p:cNvPr id="4" name="Text 2"/>
          <p:cNvSpPr/>
          <p:nvPr/>
        </p:nvSpPr>
        <p:spPr>
          <a:xfrm>
            <a:off x="7315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Useful Links</a:t>
            </a:r>
            <a:endParaRPr lang="en-US" sz="1400" dirty="0"/>
          </a:p>
        </p:txBody>
      </p:sp>
      <p:sp>
        <p:nvSpPr>
          <p:cNvPr id="5" name="Text 3"/>
          <p:cNvSpPr/>
          <p:nvPr/>
        </p:nvSpPr>
        <p:spPr>
          <a:xfrm>
            <a:off x="731520" y="150876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a:t>
            </a:r>
            <a:endParaRPr lang="en-US" sz="1100" dirty="0"/>
          </a:p>
        </p:txBody>
      </p:sp>
      <p:sp>
        <p:nvSpPr>
          <p:cNvPr id="6" name="Text 4"/>
          <p:cNvSpPr/>
          <p:nvPr/>
        </p:nvSpPr>
        <p:spPr>
          <a:xfrm>
            <a:off x="7315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Web interface (free sign-up)</a:t>
            </a:r>
            <a:endParaRPr lang="en-US" sz="1000" dirty="0"/>
          </a:p>
        </p:txBody>
      </p:sp>
      <p:sp>
        <p:nvSpPr>
          <p:cNvPr id="7" name="Text 5"/>
          <p:cNvSpPr/>
          <p:nvPr/>
        </p:nvSpPr>
        <p:spPr>
          <a:xfrm>
            <a:off x="731520" y="192024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claude.ai/download</a:t>
            </a:r>
            <a:endParaRPr lang="en-US" sz="1100" dirty="0"/>
          </a:p>
        </p:txBody>
      </p:sp>
      <p:sp>
        <p:nvSpPr>
          <p:cNvPr id="8" name="Text 6"/>
          <p:cNvSpPr/>
          <p:nvPr/>
        </p:nvSpPr>
        <p:spPr>
          <a:xfrm>
            <a:off x="7315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Desktop app (Mac &amp; Windows)</a:t>
            </a:r>
            <a:endParaRPr lang="en-US" sz="1000" dirty="0"/>
          </a:p>
        </p:txBody>
      </p:sp>
      <p:sp>
        <p:nvSpPr>
          <p:cNvPr id="9" name="Text 7"/>
          <p:cNvSpPr/>
          <p:nvPr/>
        </p:nvSpPr>
        <p:spPr>
          <a:xfrm>
            <a:off x="731520" y="233172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docs.anthropic.com</a:t>
            </a:r>
            <a:endParaRPr lang="en-US" sz="1100" dirty="0"/>
          </a:p>
        </p:txBody>
      </p:sp>
      <p:sp>
        <p:nvSpPr>
          <p:cNvPr id="10" name="Text 8"/>
          <p:cNvSpPr/>
          <p:nvPr/>
        </p:nvSpPr>
        <p:spPr>
          <a:xfrm>
            <a:off x="7315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Official Claude documentation</a:t>
            </a:r>
            <a:endParaRPr lang="en-US" sz="1000" dirty="0"/>
          </a:p>
        </p:txBody>
      </p:sp>
      <p:sp>
        <p:nvSpPr>
          <p:cNvPr id="11" name="Text 9"/>
          <p:cNvSpPr/>
          <p:nvPr/>
        </p:nvSpPr>
        <p:spPr>
          <a:xfrm>
            <a:off x="731520" y="274320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claude.ai/code</a:t>
            </a:r>
            <a:endParaRPr lang="en-US" sz="1100" dirty="0"/>
          </a:p>
        </p:txBody>
      </p:sp>
      <p:sp>
        <p:nvSpPr>
          <p:cNvPr id="12" name="Text 10"/>
          <p:cNvSpPr/>
          <p:nvPr/>
        </p:nvSpPr>
        <p:spPr>
          <a:xfrm>
            <a:off x="7315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(CLI tool)</a:t>
            </a:r>
            <a:endParaRPr lang="en-US" sz="1000" dirty="0"/>
          </a:p>
        </p:txBody>
      </p:sp>
      <p:sp>
        <p:nvSpPr>
          <p:cNvPr id="13" name="Text 11"/>
          <p:cNvSpPr/>
          <p:nvPr/>
        </p:nvSpPr>
        <p:spPr>
          <a:xfrm>
            <a:off x="731520" y="315468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npmjs.com/package/@anthropic-ai/claude-code</a:t>
            </a:r>
            <a:endParaRPr lang="en-US" sz="1100" dirty="0"/>
          </a:p>
        </p:txBody>
      </p:sp>
      <p:sp>
        <p:nvSpPr>
          <p:cNvPr id="14" name="Text 12"/>
          <p:cNvSpPr/>
          <p:nvPr/>
        </p:nvSpPr>
        <p:spPr>
          <a:xfrm>
            <a:off x="7315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npm package</a:t>
            </a:r>
            <a:endParaRPr lang="en-US" sz="1000" dirty="0"/>
          </a:p>
        </p:txBody>
      </p:sp>
      <p:sp>
        <p:nvSpPr>
          <p:cNvPr id="15" name="Text 13"/>
          <p:cNvSpPr/>
          <p:nvPr/>
        </p:nvSpPr>
        <p:spPr>
          <a:xfrm>
            <a:off x="48463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Claude Code Commands</a:t>
            </a:r>
            <a:endParaRPr lang="en-US" sz="1400" dirty="0"/>
          </a:p>
        </p:txBody>
      </p:sp>
      <p:sp>
        <p:nvSpPr>
          <p:cNvPr id="16" name="Text 14"/>
          <p:cNvSpPr/>
          <p:nvPr/>
        </p:nvSpPr>
        <p:spPr>
          <a:xfrm>
            <a:off x="4846320" y="150876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t>
            </a:r>
            <a:endParaRPr lang="en-US" sz="1100" dirty="0"/>
          </a:p>
        </p:txBody>
      </p:sp>
      <p:sp>
        <p:nvSpPr>
          <p:cNvPr id="17" name="Text 15"/>
          <p:cNvSpPr/>
          <p:nvPr/>
        </p:nvSpPr>
        <p:spPr>
          <a:xfrm>
            <a:off x="48463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Start Claude Code in current directory</a:t>
            </a:r>
            <a:endParaRPr lang="en-US" sz="1000" dirty="0"/>
          </a:p>
        </p:txBody>
      </p:sp>
      <p:sp>
        <p:nvSpPr>
          <p:cNvPr id="18" name="Text 16"/>
          <p:cNvSpPr/>
          <p:nvPr/>
        </p:nvSpPr>
        <p:spPr>
          <a:xfrm>
            <a:off x="4846320" y="192024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/help</a:t>
            </a:r>
            <a:endParaRPr lang="en-US" sz="1100" dirty="0"/>
          </a:p>
        </p:txBody>
      </p:sp>
      <p:sp>
        <p:nvSpPr>
          <p:cNvPr id="19" name="Text 17"/>
          <p:cNvSpPr/>
          <p:nvPr/>
        </p:nvSpPr>
        <p:spPr>
          <a:xfrm>
            <a:off x="48463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Show available commands</a:t>
            </a:r>
            <a:endParaRPr lang="en-US" sz="1000" dirty="0"/>
          </a:p>
        </p:txBody>
      </p:sp>
      <p:sp>
        <p:nvSpPr>
          <p:cNvPr id="20" name="Text 18"/>
          <p:cNvSpPr/>
          <p:nvPr/>
        </p:nvSpPr>
        <p:spPr>
          <a:xfrm>
            <a:off x="4846320" y="233172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/clear</a:t>
            </a:r>
            <a:endParaRPr lang="en-US" sz="1100" dirty="0"/>
          </a:p>
        </p:txBody>
      </p:sp>
      <p:sp>
        <p:nvSpPr>
          <p:cNvPr id="21" name="Text 19"/>
          <p:cNvSpPr/>
          <p:nvPr/>
        </p:nvSpPr>
        <p:spPr>
          <a:xfrm>
            <a:off x="48463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Clear conversation context</a:t>
            </a:r>
            <a:endParaRPr lang="en-US" sz="1000" dirty="0"/>
          </a:p>
        </p:txBody>
      </p:sp>
      <p:sp>
        <p:nvSpPr>
          <p:cNvPr id="22" name="Text 20"/>
          <p:cNvSpPr/>
          <p:nvPr/>
        </p:nvSpPr>
        <p:spPr>
          <a:xfrm>
            <a:off x="4846320" y="274320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Ctrl+C</a:t>
            </a:r>
            <a:endParaRPr lang="en-US" sz="1100" dirty="0"/>
          </a:p>
        </p:txBody>
      </p:sp>
      <p:sp>
        <p:nvSpPr>
          <p:cNvPr id="23" name="Text 21"/>
          <p:cNvSpPr/>
          <p:nvPr/>
        </p:nvSpPr>
        <p:spPr>
          <a:xfrm>
            <a:off x="48463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Cancel current operation</a:t>
            </a:r>
            <a:endParaRPr lang="en-US" sz="1000" dirty="0"/>
          </a:p>
        </p:txBody>
      </p:sp>
      <p:sp>
        <p:nvSpPr>
          <p:cNvPr id="24" name="Text 22"/>
          <p:cNvSpPr/>
          <p:nvPr/>
        </p:nvSpPr>
        <p:spPr>
          <a:xfrm>
            <a:off x="4846320" y="315468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Type your request</a:t>
            </a:r>
            <a:endParaRPr lang="en-US" sz="1100" dirty="0"/>
          </a:p>
        </p:txBody>
      </p:sp>
      <p:sp>
        <p:nvSpPr>
          <p:cNvPr id="25" name="Text 23"/>
          <p:cNvSpPr/>
          <p:nvPr/>
        </p:nvSpPr>
        <p:spPr>
          <a:xfrm>
            <a:off x="48463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reads your files and responds</a:t>
            </a:r>
            <a:endParaRPr lang="en-US" sz="1000" dirty="0"/>
          </a:p>
        </p:txBody>
      </p:sp>
      <p:sp>
        <p:nvSpPr>
          <p:cNvPr id="26" name="Shape 24"/>
          <p:cNvSpPr/>
          <p:nvPr/>
        </p:nvSpPr>
        <p:spPr>
          <a:xfrm>
            <a:off x="731520" y="3931920"/>
            <a:ext cx="1828800" cy="36576"/>
          </a:xfrm>
          <a:prstGeom prst="rect">
            <a:avLst/>
          </a:prstGeom>
          <a:solidFill>
            <a:srgbClr val="B8975C"/>
          </a:solidFill>
          <a:ln/>
        </p:spPr>
        <p:txBody>
          <a:bodyPr/>
          <a:lstStyle/>
          <a:p>
            <a:endParaRPr lang="en-US"/>
          </a:p>
        </p:txBody>
      </p:sp>
      <p:sp>
        <p:nvSpPr>
          <p:cNvPr id="27" name="Text 25"/>
          <p:cNvSpPr/>
          <p:nvPr/>
        </p:nvSpPr>
        <p:spPr>
          <a:xfrm>
            <a:off x="731520" y="4114800"/>
            <a:ext cx="7680960" cy="274320"/>
          </a:xfrm>
          <a:prstGeom prst="rect">
            <a:avLst/>
          </a:prstGeom>
          <a:noFill/>
          <a:ln/>
        </p:spPr>
        <p:txBody>
          <a:bodyPr wrap="square" lIns="0" tIns="0" rIns="0" bIns="0" rtlCol="0" anchor="ctr"/>
          <a:lstStyle/>
          <a:p>
            <a:pPr marL="0" indent="0">
              <a:buNone/>
            </a:pPr>
            <a:r>
              <a:rPr lang="en-US" sz="1300" dirty="0">
                <a:solidFill>
                  <a:srgbClr val="8A9BAD"/>
                </a:solidFill>
                <a:latin typeface="Open Sans" pitchFamily="34" charset="0"/>
                <a:ea typeface="Open Sans" pitchFamily="34" charset="-122"/>
                <a:cs typeface="Open Sans" pitchFamily="34" charset="-120"/>
              </a:rPr>
              <a:t>Start with the web app. Graduate to Claude Code when you’re ready.</a:t>
            </a:r>
            <a:endParaRPr lang="en-US" sz="1300" dirty="0"/>
          </a:p>
        </p:txBody>
      </p:sp>
      <p:sp>
        <p:nvSpPr>
          <p:cNvPr id="28" name="Text 26"/>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  |  adamstau@hawaii.edu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1768</Words>
  <Application>Microsoft Office PowerPoint</Application>
  <PresentationFormat>On-screen Show (16:9)</PresentationFormat>
  <Paragraphs>215</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Consolas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Claude — Appendix</dc:title>
  <dc:subject>PptxGenJS Presentation</dc:subject>
  <dc:creator>Adam W. Stauffer</dc:creator>
  <cp:lastModifiedBy>Adam Stauffer</cp:lastModifiedBy>
  <cp:revision>2</cp:revision>
  <cp:lastPrinted>2026-04-02T22:40:21Z</cp:lastPrinted>
  <dcterms:created xsi:type="dcterms:W3CDTF">2026-04-01T18:51:51Z</dcterms:created>
  <dcterms:modified xsi:type="dcterms:W3CDTF">2026-04-02T22:40:26Z</dcterms:modified>
</cp:coreProperties>
</file>